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notesSlides/notesSlide8.xml" ContentType="application/vnd.openxmlformats-officedocument.presentationml.notesSlide+xml"/>
  <Override PartName="/ppt/tags/tag12.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3.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14.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15.xml" ContentType="application/vnd.openxmlformats-officedocument.presentationml.tags+xml"/>
  <Override PartName="/ppt/notesSlides/notesSlide28.xml" ContentType="application/vnd.openxmlformats-officedocument.presentationml.notesSlide+xml"/>
  <Override PartName="/ppt/tags/tag16.xml" ContentType="application/vnd.openxmlformats-officedocument.presentationml.tags+xml"/>
  <Override PartName="/ppt/notesSlides/notesSlide29.xml" ContentType="application/vnd.openxmlformats-officedocument.presentationml.notesSlide+xml"/>
  <Override PartName="/ppt/tags/tag17.xml" ContentType="application/vnd.openxmlformats-officedocument.presentationml.tags+xml"/>
  <Override PartName="/ppt/notesSlides/notesSlide30.xml" ContentType="application/vnd.openxmlformats-officedocument.presentationml.notesSlide+xml"/>
  <Override PartName="/ppt/tags/tag18.xml" ContentType="application/vnd.openxmlformats-officedocument.presentationml.tags+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35"/>
  </p:notesMasterIdLst>
  <p:sldIdLst>
    <p:sldId id="513" r:id="rId2"/>
    <p:sldId id="730" r:id="rId3"/>
    <p:sldId id="1070" r:id="rId4"/>
    <p:sldId id="1071" r:id="rId5"/>
    <p:sldId id="1053" r:id="rId6"/>
    <p:sldId id="763" r:id="rId7"/>
    <p:sldId id="1052" r:id="rId8"/>
    <p:sldId id="1069" r:id="rId9"/>
    <p:sldId id="876" r:id="rId10"/>
    <p:sldId id="860" r:id="rId11"/>
    <p:sldId id="759" r:id="rId12"/>
    <p:sldId id="1054" r:id="rId13"/>
    <p:sldId id="1090" r:id="rId14"/>
    <p:sldId id="1091" r:id="rId15"/>
    <p:sldId id="1092" r:id="rId16"/>
    <p:sldId id="1056" r:id="rId17"/>
    <p:sldId id="1057" r:id="rId18"/>
    <p:sldId id="1093" r:id="rId19"/>
    <p:sldId id="1094" r:id="rId20"/>
    <p:sldId id="1095" r:id="rId21"/>
    <p:sldId id="1096" r:id="rId22"/>
    <p:sldId id="1097" r:id="rId23"/>
    <p:sldId id="1098" r:id="rId24"/>
    <p:sldId id="1099" r:id="rId25"/>
    <p:sldId id="1063" r:id="rId26"/>
    <p:sldId id="1064" r:id="rId27"/>
    <p:sldId id="1100" r:id="rId28"/>
    <p:sldId id="1101" r:id="rId29"/>
    <p:sldId id="1102" r:id="rId30"/>
    <p:sldId id="957" r:id="rId31"/>
    <p:sldId id="958" r:id="rId32"/>
    <p:sldId id="874" r:id="rId33"/>
    <p:sldId id="291" r:id="rId34"/>
  </p:sldIdLst>
  <p:sldSz cx="9144000" cy="5143500" type="screen16x9"/>
  <p:notesSz cx="6858000" cy="9144000"/>
  <p:custDataLst>
    <p:tags r:id="rId36"/>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9"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32" autoAdjust="0"/>
    <p:restoredTop sz="77288" autoAdjust="0"/>
  </p:normalViewPr>
  <p:slideViewPr>
    <p:cSldViewPr snapToGrid="0" showGuides="1">
      <p:cViewPr varScale="1">
        <p:scale>
          <a:sx n="68" d="100"/>
          <a:sy n="68" d="100"/>
        </p:scale>
        <p:origin x="1244" y="60"/>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12/6/2019</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Programa da Cisco Networking Academy</a:t>
            </a:r>
          </a:p>
          <a:p>
            <a:pPr rtl="0"/>
            <a:r>
              <a:rPr lang="pt-BR"/>
              <a:t>Introdução às redes v7.0 (ITN)</a:t>
            </a:r>
          </a:p>
          <a:p>
            <a:pPr rtl="0"/>
            <a:r>
              <a:rPr lang="pt-BR"/>
              <a:t>Módulo 6: Camada de Link de Dados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a:t>
            </a:fld>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false"/>
              <a:pPr algn="r"/>
              <a:t>2</a:t>
            </a:fld>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866771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algn="r" rtl="0"/>
            <a:fld id="{ACE20BE7-F2F3-4E26-9454-50B18F790A4E}" type="slidenum">
              <a:rPr sz="800" b="false">
                <a:ea typeface="ＭＳ Ｐゴシック" pitchFamily="34" charset="-128"/>
              </a:rPr>
              <a:pPr algn="r"/>
              <a:t>5</a:t>
            </a:fld>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00274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0A313ED8-785B-4D16-9B17-4143385249B9}" type="slidenum">
              <a:rPr sz="800" b="false"/>
              <a:pPr algn="r"/>
              <a:t>6</a:t>
            </a:fld>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687453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false"/>
              <a:pPr algn="r"/>
              <a:t>7</a:t>
            </a:fld>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154600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false"/>
              <a:pPr algn="r"/>
              <a:t>8</a:t>
            </a:fld>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9149292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Programa da Cisco Networking Academy</a:t>
            </a:r>
          </a:p>
          <a:p>
            <a:pPr rtl="0"/>
            <a:r>
              <a:rPr lang="pt-BR"/>
              <a:t>Introdução às redes v7.0 (ITN)</a:t>
            </a:r>
          </a:p>
          <a:p>
            <a:pPr rtl="0"/>
            <a:r>
              <a:rPr lang="pt-BR"/>
              <a:t>Módulo 6: Camada de Link de Dados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9</a:t>
            </a:fld>
          </a:p>
        </p:txBody>
      </p:sp>
    </p:spTree>
    <p:extLst>
      <p:ext uri="{BB962C8B-B14F-4D97-AF65-F5344CB8AC3E}">
        <p14:creationId xmlns:p14="http://schemas.microsoft.com/office/powerpoint/2010/main" val="5081187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false">
                <a:solidFill>
                  <a:prstClr val="black"/>
                </a:solidFill>
              </a:rPr>
              <a:pPr algn="r"/>
              <a:t>10</a:t>
            </a:fld>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pt-BR"/>
              <a:t>6.0 - Camada de Link de Dados - Introdução</a:t>
            </a:r>
          </a:p>
          <a:p>
            <a:pPr rtl="0">
              <a:buFontTx/>
              <a:buNone/>
            </a:pPr>
            <a:r>
              <a:rPr lang="pt-BR"/>
              <a:t>6.0.2 - O que aprenderei a fazer neste módulo?</a:t>
            </a:r>
          </a:p>
        </p:txBody>
      </p:sp>
    </p:spTree>
    <p:extLst>
      <p:ext uri="{BB962C8B-B14F-4D97-AF65-F5344CB8AC3E}">
        <p14:creationId xmlns:p14="http://schemas.microsoft.com/office/powerpoint/2010/main" val="17344456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6 - Camada de Link de Dados</a:t>
            </a:r>
          </a:p>
          <a:p>
            <a:pPr rtl="0"/>
            <a:r>
              <a:rPr lang="pt-BR"/>
              <a:t>6.1 - Finalidade da camada de enlace de dados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11</a:t>
            </a:fld>
          </a:p>
        </p:txBody>
      </p:sp>
    </p:spTree>
    <p:extLst>
      <p:ext uri="{BB962C8B-B14F-4D97-AF65-F5344CB8AC3E}">
        <p14:creationId xmlns:p14="http://schemas.microsoft.com/office/powerpoint/2010/main" val="6255296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6 - Camada de Link de Dados</a:t>
            </a:r>
          </a:p>
          <a:p>
            <a:pPr rtl="0"/>
            <a:r>
              <a:rPr lang="pt-BR"/>
              <a:t>6.1 – Propósito da camada de enlace de dados</a:t>
            </a:r>
          </a:p>
          <a:p>
            <a:pPr rtl="0"/>
            <a:r>
              <a:rPr lang="pt-BR"/>
              <a:t>6.1.1 - A camada de enlace de dados</a:t>
            </a:r>
          </a:p>
        </p:txBody>
      </p:sp>
      <p:sp>
        <p:nvSpPr>
          <p:cNvPr id="4" name="Slide Number Placeholder 3"/>
          <p:cNvSpPr>
            <a:spLocks noGrp="1"/>
          </p:cNvSpPr>
          <p:nvPr>
            <p:ph type="sldNum" sz="quarter" idx="5"/>
          </p:nvPr>
        </p:nvSpPr>
        <p:spPr/>
        <p:txBody>
          <a:bodyPr/>
          <a:lstStyle/>
          <a:p>
            <a:pPr rtl="0"/>
            <a:fld id="{5641018C-6CAF-B84E-B92C-ECB119457FBA}" type="slidenum">
              <a:rPr/>
              <a:t>12</a:t>
            </a:fld>
          </a:p>
        </p:txBody>
      </p:sp>
    </p:spTree>
    <p:extLst>
      <p:ext uri="{BB962C8B-B14F-4D97-AF65-F5344CB8AC3E}">
        <p14:creationId xmlns:p14="http://schemas.microsoft.com/office/powerpoint/2010/main" val="30923122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6 - Camada de Link de Dados</a:t>
            </a:r>
          </a:p>
          <a:p>
            <a:pPr rtl="0"/>
            <a:r>
              <a:rPr lang="pt-BR"/>
              <a:t>6.1 – Propósito da camada de enlace de dados</a:t>
            </a:r>
          </a:p>
          <a:p>
            <a:pPr rtl="0"/>
            <a:r>
              <a:rPr lang="pt-BR"/>
              <a:t>6.1.2 — Sublcamadas de link de dados LAN/MAN IEEE 802</a:t>
            </a:r>
          </a:p>
        </p:txBody>
      </p:sp>
      <p:sp>
        <p:nvSpPr>
          <p:cNvPr id="4" name="Slide Number Placeholder 3"/>
          <p:cNvSpPr>
            <a:spLocks noGrp="1"/>
          </p:cNvSpPr>
          <p:nvPr>
            <p:ph type="sldNum" sz="quarter" idx="5"/>
          </p:nvPr>
        </p:nvSpPr>
        <p:spPr/>
        <p:txBody>
          <a:bodyPr/>
          <a:lstStyle/>
          <a:p>
            <a:pPr rtl="0"/>
            <a:fld id="{5641018C-6CAF-B84E-B92C-ECB119457FBA}" type="slidenum">
              <a:rPr/>
              <a:t>13</a:t>
            </a:fld>
          </a:p>
        </p:txBody>
      </p:sp>
    </p:spTree>
    <p:extLst>
      <p:ext uri="{BB962C8B-B14F-4D97-AF65-F5344CB8AC3E}">
        <p14:creationId xmlns:p14="http://schemas.microsoft.com/office/powerpoint/2010/main" val="14609283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6 - Camada de Link de Dados</a:t>
            </a:r>
          </a:p>
          <a:p>
            <a:pPr rtl="0"/>
            <a:r>
              <a:rPr lang="pt-BR"/>
              <a:t>6.1 – Propósito da camada de enlace de dados</a:t>
            </a:r>
          </a:p>
          <a:p>
            <a:pPr rtl="0"/>
            <a:r>
              <a:rPr lang="pt-BR"/>
              <a:t>6.1.3 – Fornecimento de acesso ao meio físico</a:t>
            </a:r>
          </a:p>
        </p:txBody>
      </p:sp>
      <p:sp>
        <p:nvSpPr>
          <p:cNvPr id="4" name="Slide Number Placeholder 3"/>
          <p:cNvSpPr>
            <a:spLocks noGrp="1"/>
          </p:cNvSpPr>
          <p:nvPr>
            <p:ph type="sldNum" sz="quarter" idx="5"/>
          </p:nvPr>
        </p:nvSpPr>
        <p:spPr/>
        <p:txBody>
          <a:bodyPr/>
          <a:lstStyle/>
          <a:p>
            <a:pPr rtl="0"/>
            <a:fld id="{5641018C-6CAF-B84E-B92C-ECB119457FBA}" type="slidenum">
              <a:rPr/>
              <a:t>14</a:t>
            </a:fld>
          </a:p>
        </p:txBody>
      </p:sp>
    </p:spTree>
    <p:extLst>
      <p:ext uri="{BB962C8B-B14F-4D97-AF65-F5344CB8AC3E}">
        <p14:creationId xmlns:p14="http://schemas.microsoft.com/office/powerpoint/2010/main" val="28581375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6 - Camada de Link de Dados</a:t>
            </a:r>
          </a:p>
          <a:p>
            <a:pPr rtl="0"/>
            <a:r>
              <a:rPr lang="pt-BR"/>
              <a:t>6.1 – Propósito da camada de enlace de dados</a:t>
            </a:r>
          </a:p>
          <a:p>
            <a:pPr rtl="0"/>
            <a:r>
              <a:rPr lang="pt-BR"/>
              <a:t>6.1.4 – Padrões de camada de enlace de dados</a:t>
            </a:r>
          </a:p>
          <a:p>
            <a:pPr rtl="0"/>
            <a:r>
              <a:rPr lang="pt-BR"/>
              <a:t>6.1.5 — Verifique seu entendimento — Finalidade da camada de link de dados</a:t>
            </a:r>
          </a:p>
        </p:txBody>
      </p:sp>
      <p:sp>
        <p:nvSpPr>
          <p:cNvPr id="4" name="Slide Number Placeholder 3"/>
          <p:cNvSpPr>
            <a:spLocks noGrp="1"/>
          </p:cNvSpPr>
          <p:nvPr>
            <p:ph type="sldNum" sz="quarter" idx="5"/>
          </p:nvPr>
        </p:nvSpPr>
        <p:spPr/>
        <p:txBody>
          <a:bodyPr/>
          <a:lstStyle/>
          <a:p>
            <a:pPr rtl="0"/>
            <a:fld id="{5641018C-6CAF-B84E-B92C-ECB119457FBA}" type="slidenum">
              <a:rPr/>
              <a:t>15</a:t>
            </a:fld>
          </a:p>
        </p:txBody>
      </p:sp>
    </p:spTree>
    <p:extLst>
      <p:ext uri="{BB962C8B-B14F-4D97-AF65-F5344CB8AC3E}">
        <p14:creationId xmlns:p14="http://schemas.microsoft.com/office/powerpoint/2010/main" val="38354598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6 - Camada de Link de Dados</a:t>
            </a:r>
          </a:p>
          <a:p>
            <a:pPr rtl="0"/>
            <a:r>
              <a:rPr lang="pt-BR"/>
              <a:t>6.2 - Topologias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16</a:t>
            </a:fld>
          </a:p>
        </p:txBody>
      </p:sp>
    </p:spTree>
    <p:extLst>
      <p:ext uri="{BB962C8B-B14F-4D97-AF65-F5344CB8AC3E}">
        <p14:creationId xmlns:p14="http://schemas.microsoft.com/office/powerpoint/2010/main" val="39632910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6 - Camada de Link de Dados</a:t>
            </a:r>
          </a:p>
          <a:p>
            <a:pPr rtl="0"/>
            <a:r>
              <a:rPr lang="pt-BR"/>
              <a:t>6.2 — Topologias</a:t>
            </a:r>
          </a:p>
          <a:p>
            <a:pPr rtl="0"/>
            <a:r>
              <a:rPr lang="pt-BR"/>
              <a:t>6.2.1 – Topologias físicas e lógicas</a:t>
            </a:r>
          </a:p>
        </p:txBody>
      </p:sp>
      <p:sp>
        <p:nvSpPr>
          <p:cNvPr id="4" name="Slide Number Placeholder 3"/>
          <p:cNvSpPr>
            <a:spLocks noGrp="1"/>
          </p:cNvSpPr>
          <p:nvPr>
            <p:ph type="sldNum" sz="quarter" idx="5"/>
          </p:nvPr>
        </p:nvSpPr>
        <p:spPr/>
        <p:txBody>
          <a:bodyPr/>
          <a:lstStyle/>
          <a:p>
            <a:pPr rtl="0"/>
            <a:fld id="{5641018C-6CAF-B84E-B92C-ECB119457FBA}" type="slidenum">
              <a:rPr/>
              <a:t>17</a:t>
            </a:fld>
          </a:p>
        </p:txBody>
      </p:sp>
    </p:spTree>
    <p:extLst>
      <p:ext uri="{BB962C8B-B14F-4D97-AF65-F5344CB8AC3E}">
        <p14:creationId xmlns:p14="http://schemas.microsoft.com/office/powerpoint/2010/main" val="25521254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6 - Camada de Link de Dados</a:t>
            </a:r>
          </a:p>
          <a:p>
            <a:pPr rtl="0"/>
            <a:r>
              <a:rPr lang="pt-BR"/>
              <a:t>6.2 — Topologias</a:t>
            </a:r>
          </a:p>
          <a:p>
            <a:pPr rtl="0"/>
            <a:r>
              <a:rPr lang="pt-BR"/>
              <a:t>6.2.2 - Topologias da WAN</a:t>
            </a:r>
          </a:p>
        </p:txBody>
      </p:sp>
      <p:sp>
        <p:nvSpPr>
          <p:cNvPr id="4" name="Slide Number Placeholder 3"/>
          <p:cNvSpPr>
            <a:spLocks noGrp="1"/>
          </p:cNvSpPr>
          <p:nvPr>
            <p:ph type="sldNum" sz="quarter" idx="5"/>
          </p:nvPr>
        </p:nvSpPr>
        <p:spPr/>
        <p:txBody>
          <a:bodyPr/>
          <a:lstStyle/>
          <a:p>
            <a:pPr rtl="0"/>
            <a:fld id="{5641018C-6CAF-B84E-B92C-ECB119457FBA}" type="slidenum">
              <a:rPr/>
              <a:t>18</a:t>
            </a:fld>
          </a:p>
        </p:txBody>
      </p:sp>
    </p:spTree>
    <p:extLst>
      <p:ext uri="{BB962C8B-B14F-4D97-AF65-F5344CB8AC3E}">
        <p14:creationId xmlns:p14="http://schemas.microsoft.com/office/powerpoint/2010/main" val="36943519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6 - Camada de Link de Dados</a:t>
            </a:r>
          </a:p>
          <a:p>
            <a:pPr rtl="0"/>
            <a:r>
              <a:rPr lang="pt-BR"/>
              <a:t>6.2 — Topologias</a:t>
            </a:r>
          </a:p>
          <a:p>
            <a:pPr rtl="0"/>
            <a:r>
              <a:rPr lang="pt-BR"/>
              <a:t>6.2.3 - Topologia de WAN ponto a ponto</a:t>
            </a:r>
          </a:p>
        </p:txBody>
      </p:sp>
      <p:sp>
        <p:nvSpPr>
          <p:cNvPr id="4" name="Slide Number Placeholder 3"/>
          <p:cNvSpPr>
            <a:spLocks noGrp="1"/>
          </p:cNvSpPr>
          <p:nvPr>
            <p:ph type="sldNum" sz="quarter" idx="5"/>
          </p:nvPr>
        </p:nvSpPr>
        <p:spPr/>
        <p:txBody>
          <a:bodyPr/>
          <a:lstStyle/>
          <a:p>
            <a:pPr rtl="0"/>
            <a:fld id="{5641018C-6CAF-B84E-B92C-ECB119457FBA}" type="slidenum">
              <a:rPr/>
              <a:t>19</a:t>
            </a:fld>
          </a:p>
        </p:txBody>
      </p:sp>
    </p:spTree>
    <p:extLst>
      <p:ext uri="{BB962C8B-B14F-4D97-AF65-F5344CB8AC3E}">
        <p14:creationId xmlns:p14="http://schemas.microsoft.com/office/powerpoint/2010/main" val="32963211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6 - Camada de Link de Dados</a:t>
            </a:r>
          </a:p>
          <a:p>
            <a:pPr rtl="0"/>
            <a:r>
              <a:rPr lang="pt-BR"/>
              <a:t>6.2 — Topologias</a:t>
            </a:r>
          </a:p>
          <a:p>
            <a:pPr rtl="0"/>
            <a:r>
              <a:rPr lang="pt-BR"/>
              <a:t>6.2.4 – Topologias LAN</a:t>
            </a:r>
          </a:p>
        </p:txBody>
      </p:sp>
      <p:sp>
        <p:nvSpPr>
          <p:cNvPr id="4" name="Slide Number Placeholder 3"/>
          <p:cNvSpPr>
            <a:spLocks noGrp="1"/>
          </p:cNvSpPr>
          <p:nvPr>
            <p:ph type="sldNum" sz="quarter" idx="5"/>
          </p:nvPr>
        </p:nvSpPr>
        <p:spPr/>
        <p:txBody>
          <a:bodyPr/>
          <a:lstStyle/>
          <a:p>
            <a:pPr rtl="0"/>
            <a:fld id="{5641018C-6CAF-B84E-B92C-ECB119457FBA}" type="slidenum">
              <a:rPr/>
              <a:t>20</a:t>
            </a:fld>
          </a:p>
        </p:txBody>
      </p:sp>
    </p:spTree>
    <p:extLst>
      <p:ext uri="{BB962C8B-B14F-4D97-AF65-F5344CB8AC3E}">
        <p14:creationId xmlns:p14="http://schemas.microsoft.com/office/powerpoint/2010/main" val="34379440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6 - Camada de Link de Dados</a:t>
            </a:r>
          </a:p>
          <a:p>
            <a:pPr rtl="0"/>
            <a:r>
              <a:rPr lang="pt-BR"/>
              <a:t>6.2 — Topologias</a:t>
            </a:r>
          </a:p>
          <a:p>
            <a:pPr rtl="0"/>
            <a:r>
              <a:rPr lang="pt-BR"/>
              <a:t>6.2.5 — Comunicação em meio e full duplex</a:t>
            </a:r>
          </a:p>
        </p:txBody>
      </p:sp>
      <p:sp>
        <p:nvSpPr>
          <p:cNvPr id="4" name="Slide Number Placeholder 3"/>
          <p:cNvSpPr>
            <a:spLocks noGrp="1"/>
          </p:cNvSpPr>
          <p:nvPr>
            <p:ph type="sldNum" sz="quarter" idx="5"/>
          </p:nvPr>
        </p:nvSpPr>
        <p:spPr/>
        <p:txBody>
          <a:bodyPr/>
          <a:lstStyle/>
          <a:p>
            <a:pPr rtl="0"/>
            <a:fld id="{5641018C-6CAF-B84E-B92C-ECB119457FBA}" type="slidenum">
              <a:rPr/>
              <a:t>21</a:t>
            </a:fld>
          </a:p>
        </p:txBody>
      </p:sp>
    </p:spTree>
    <p:extLst>
      <p:ext uri="{BB962C8B-B14F-4D97-AF65-F5344CB8AC3E}">
        <p14:creationId xmlns:p14="http://schemas.microsoft.com/office/powerpoint/2010/main" val="12490157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6 - Camada de Link de Dados</a:t>
            </a:r>
          </a:p>
          <a:p>
            <a:pPr rtl="0"/>
            <a:r>
              <a:rPr lang="pt-BR"/>
              <a:t>6.2 — Topologias</a:t>
            </a:r>
          </a:p>
          <a:p>
            <a:pPr rtl="0"/>
            <a:r>
              <a:rPr lang="pt-BR"/>
              <a:t>6.2.6 - Métodos de controle de acesso</a:t>
            </a:r>
          </a:p>
        </p:txBody>
      </p:sp>
      <p:sp>
        <p:nvSpPr>
          <p:cNvPr id="4" name="Slide Number Placeholder 3"/>
          <p:cNvSpPr>
            <a:spLocks noGrp="1"/>
          </p:cNvSpPr>
          <p:nvPr>
            <p:ph type="sldNum" sz="quarter" idx="5"/>
          </p:nvPr>
        </p:nvSpPr>
        <p:spPr/>
        <p:txBody>
          <a:bodyPr/>
          <a:lstStyle/>
          <a:p>
            <a:pPr rtl="0"/>
            <a:fld id="{5641018C-6CAF-B84E-B92C-ECB119457FBA}" type="slidenum">
              <a:rPr/>
              <a:t>22</a:t>
            </a:fld>
          </a:p>
        </p:txBody>
      </p:sp>
    </p:spTree>
    <p:extLst>
      <p:ext uri="{BB962C8B-B14F-4D97-AF65-F5344CB8AC3E}">
        <p14:creationId xmlns:p14="http://schemas.microsoft.com/office/powerpoint/2010/main" val="9450684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6 - Camada de Link de Dados</a:t>
            </a:r>
          </a:p>
          <a:p>
            <a:pPr rtl="0"/>
            <a:r>
              <a:rPr lang="pt-BR"/>
              <a:t>6.2 — Topologias</a:t>
            </a:r>
          </a:p>
          <a:p>
            <a:pPr rtl="0"/>
            <a:r>
              <a:rPr lang="pt-BR"/>
              <a:t>6.2.7 - Acesso baseado em contenção - CSMA / CD</a:t>
            </a:r>
          </a:p>
        </p:txBody>
      </p:sp>
      <p:sp>
        <p:nvSpPr>
          <p:cNvPr id="4" name="Slide Number Placeholder 3"/>
          <p:cNvSpPr>
            <a:spLocks noGrp="1"/>
          </p:cNvSpPr>
          <p:nvPr>
            <p:ph type="sldNum" sz="quarter" idx="5"/>
          </p:nvPr>
        </p:nvSpPr>
        <p:spPr/>
        <p:txBody>
          <a:bodyPr/>
          <a:lstStyle/>
          <a:p>
            <a:pPr rtl="0"/>
            <a:fld id="{5641018C-6CAF-B84E-B92C-ECB119457FBA}" type="slidenum">
              <a:rPr/>
              <a:t>23</a:t>
            </a:fld>
          </a:p>
        </p:txBody>
      </p:sp>
    </p:spTree>
    <p:extLst>
      <p:ext uri="{BB962C8B-B14F-4D97-AF65-F5344CB8AC3E}">
        <p14:creationId xmlns:p14="http://schemas.microsoft.com/office/powerpoint/2010/main" val="42337287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6 - Camada de Link de Dados</a:t>
            </a:r>
          </a:p>
          <a:p>
            <a:pPr rtl="0"/>
            <a:r>
              <a:rPr lang="pt-BR"/>
              <a:t>6.2 — Topologias</a:t>
            </a:r>
          </a:p>
          <a:p>
            <a:pPr rtl="0"/>
            <a:r>
              <a:rPr lang="pt-BR"/>
              <a:t>6.2.8 - Acesso baseado em contenção - CSMA / CA</a:t>
            </a:r>
          </a:p>
          <a:p>
            <a:pPr rtl="0"/>
            <a:r>
              <a:rPr lang="pt-BR"/>
              <a:t>6.2.9 — Verifique seu entendimento - Topologias</a:t>
            </a:r>
          </a:p>
        </p:txBody>
      </p:sp>
      <p:sp>
        <p:nvSpPr>
          <p:cNvPr id="4" name="Slide Number Placeholder 3"/>
          <p:cNvSpPr>
            <a:spLocks noGrp="1"/>
          </p:cNvSpPr>
          <p:nvPr>
            <p:ph type="sldNum" sz="quarter" idx="5"/>
          </p:nvPr>
        </p:nvSpPr>
        <p:spPr/>
        <p:txBody>
          <a:bodyPr/>
          <a:lstStyle/>
          <a:p>
            <a:pPr rtl="0"/>
            <a:fld id="{5641018C-6CAF-B84E-B92C-ECB119457FBA}" type="slidenum">
              <a:rPr/>
              <a:t>24</a:t>
            </a:fld>
          </a:p>
        </p:txBody>
      </p:sp>
    </p:spTree>
    <p:extLst>
      <p:ext uri="{BB962C8B-B14F-4D97-AF65-F5344CB8AC3E}">
        <p14:creationId xmlns:p14="http://schemas.microsoft.com/office/powerpoint/2010/main" val="23487640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6 - Camada de Link de Dados</a:t>
            </a:r>
          </a:p>
          <a:p>
            <a:pPr rtl="0"/>
            <a:r>
              <a:rPr lang="pt-BR"/>
              <a:t>6.3 - Quadro de link de dados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25</a:t>
            </a:fld>
          </a:p>
        </p:txBody>
      </p:sp>
    </p:spTree>
    <p:extLst>
      <p:ext uri="{BB962C8B-B14F-4D97-AF65-F5344CB8AC3E}">
        <p14:creationId xmlns:p14="http://schemas.microsoft.com/office/powerpoint/2010/main" val="9777554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6 - Camada de Link de Dados</a:t>
            </a:r>
          </a:p>
          <a:p>
            <a:pPr rtl="0"/>
            <a:r>
              <a:rPr lang="pt-BR"/>
              <a:t>6.3 – Quadro de enlace de dados</a:t>
            </a:r>
          </a:p>
          <a:p>
            <a:pPr rtl="0"/>
            <a:r>
              <a:rPr lang="pt-BR"/>
              <a:t>6.3.1 — O quadro</a:t>
            </a:r>
          </a:p>
        </p:txBody>
      </p:sp>
      <p:sp>
        <p:nvSpPr>
          <p:cNvPr id="4" name="Slide Number Placeholder 3"/>
          <p:cNvSpPr>
            <a:spLocks noGrp="1"/>
          </p:cNvSpPr>
          <p:nvPr>
            <p:ph type="sldNum" sz="quarter" idx="5"/>
          </p:nvPr>
        </p:nvSpPr>
        <p:spPr/>
        <p:txBody>
          <a:bodyPr/>
          <a:lstStyle/>
          <a:p>
            <a:pPr rtl="0"/>
            <a:fld id="{5641018C-6CAF-B84E-B92C-ECB119457FBA}" type="slidenum">
              <a:rPr/>
              <a:t>26</a:t>
            </a:fld>
          </a:p>
        </p:txBody>
      </p:sp>
    </p:spTree>
    <p:extLst>
      <p:ext uri="{BB962C8B-B14F-4D97-AF65-F5344CB8AC3E}">
        <p14:creationId xmlns:p14="http://schemas.microsoft.com/office/powerpoint/2010/main" val="33155708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6 - Camada de Link de Dados</a:t>
            </a:r>
          </a:p>
          <a:p>
            <a:pPr rtl="0"/>
            <a:r>
              <a:rPr lang="pt-BR"/>
              <a:t>6.3 – Quadro de enlace de dados</a:t>
            </a:r>
          </a:p>
          <a:p>
            <a:pPr rtl="0"/>
            <a:r>
              <a:rPr lang="pt-BR"/>
              <a:t>6.3.2 - Campos do quadro</a:t>
            </a:r>
          </a:p>
        </p:txBody>
      </p:sp>
      <p:sp>
        <p:nvSpPr>
          <p:cNvPr id="4" name="Slide Number Placeholder 3"/>
          <p:cNvSpPr>
            <a:spLocks noGrp="1"/>
          </p:cNvSpPr>
          <p:nvPr>
            <p:ph type="sldNum" sz="quarter" idx="5"/>
          </p:nvPr>
        </p:nvSpPr>
        <p:spPr/>
        <p:txBody>
          <a:bodyPr/>
          <a:lstStyle/>
          <a:p>
            <a:pPr rtl="0"/>
            <a:fld id="{5641018C-6CAF-B84E-B92C-ECB119457FBA}" type="slidenum">
              <a:rPr/>
              <a:t>27</a:t>
            </a:fld>
          </a:p>
        </p:txBody>
      </p:sp>
    </p:spTree>
    <p:extLst>
      <p:ext uri="{BB962C8B-B14F-4D97-AF65-F5344CB8AC3E}">
        <p14:creationId xmlns:p14="http://schemas.microsoft.com/office/powerpoint/2010/main" val="17411424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6 - Camada de Link de Dados</a:t>
            </a:r>
          </a:p>
          <a:p>
            <a:pPr rtl="0"/>
            <a:r>
              <a:rPr lang="pt-BR"/>
              <a:t>6.3 – Quadro de enlace de dados</a:t>
            </a:r>
          </a:p>
          <a:p>
            <a:pPr rtl="0"/>
            <a:r>
              <a:rPr lang="pt-BR"/>
              <a:t>6.3.3 - Endereço da camada 2</a:t>
            </a:r>
          </a:p>
        </p:txBody>
      </p:sp>
      <p:sp>
        <p:nvSpPr>
          <p:cNvPr id="4" name="Slide Number Placeholder 3"/>
          <p:cNvSpPr>
            <a:spLocks noGrp="1"/>
          </p:cNvSpPr>
          <p:nvPr>
            <p:ph type="sldNum" sz="quarter" idx="5"/>
          </p:nvPr>
        </p:nvSpPr>
        <p:spPr/>
        <p:txBody>
          <a:bodyPr/>
          <a:lstStyle/>
          <a:p>
            <a:pPr rtl="0"/>
            <a:fld id="{5641018C-6CAF-B84E-B92C-ECB119457FBA}" type="slidenum">
              <a:rPr/>
              <a:t>28</a:t>
            </a:fld>
          </a:p>
        </p:txBody>
      </p:sp>
    </p:spTree>
    <p:extLst>
      <p:ext uri="{BB962C8B-B14F-4D97-AF65-F5344CB8AC3E}">
        <p14:creationId xmlns:p14="http://schemas.microsoft.com/office/powerpoint/2010/main" val="8827210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6 - Camada de Link de Dados</a:t>
            </a:r>
          </a:p>
          <a:p>
            <a:pPr rtl="0"/>
            <a:r>
              <a:rPr lang="pt-BR"/>
              <a:t>6.3 – Quadro de enlace de dados</a:t>
            </a:r>
          </a:p>
          <a:p>
            <a:pPr rtl="0"/>
            <a:r>
              <a:rPr lang="pt-BR"/>
              <a:t>6.3.4 – Quadros de LAN e WAN</a:t>
            </a:r>
          </a:p>
          <a:p>
            <a:pPr rtl="0"/>
            <a:r>
              <a:rPr lang="pt-BR"/>
              <a:t>6.3.5 — Verifique seu entendimento — Quadro de link de dados</a:t>
            </a:r>
          </a:p>
        </p:txBody>
      </p:sp>
      <p:sp>
        <p:nvSpPr>
          <p:cNvPr id="4" name="Slide Number Placeholder 3"/>
          <p:cNvSpPr>
            <a:spLocks noGrp="1"/>
          </p:cNvSpPr>
          <p:nvPr>
            <p:ph type="sldNum" sz="quarter" idx="5"/>
          </p:nvPr>
        </p:nvSpPr>
        <p:spPr/>
        <p:txBody>
          <a:bodyPr/>
          <a:lstStyle/>
          <a:p>
            <a:pPr rtl="0"/>
            <a:fld id="{5641018C-6CAF-B84E-B92C-ECB119457FBA}" type="slidenum">
              <a:rPr/>
              <a:t>29</a:t>
            </a:fld>
          </a:p>
        </p:txBody>
      </p:sp>
    </p:spTree>
    <p:extLst>
      <p:ext uri="{BB962C8B-B14F-4D97-AF65-F5344CB8AC3E}">
        <p14:creationId xmlns:p14="http://schemas.microsoft.com/office/powerpoint/2010/main" val="38412898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6- Camada de Link de Dados</a:t>
            </a:r>
          </a:p>
          <a:p>
            <a:pPr rtl="0"/>
            <a:r>
              <a:rPr lang="pt-BR"/>
              <a:t>6.4 - Módulo Prática e Quiz</a:t>
            </a:r>
          </a:p>
          <a:p>
            <a:pPr>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30</a:t>
            </a:fld>
          </a:p>
        </p:txBody>
      </p:sp>
    </p:spTree>
    <p:extLst>
      <p:ext uri="{BB962C8B-B14F-4D97-AF65-F5344CB8AC3E}">
        <p14:creationId xmlns:p14="http://schemas.microsoft.com/office/powerpoint/2010/main" val="22171436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31</a:t>
            </a:fld>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pt-BR"/>
              <a:t>6 - Camada de Link de Dados</a:t>
            </a:r>
          </a:p>
          <a:p>
            <a:pPr rtl="0"/>
            <a:r>
              <a:rPr lang="pt-BR"/>
              <a:t>6.4 - Módulo Prática e Quiz</a:t>
            </a:r>
          </a:p>
          <a:p>
            <a:pPr rtl="0"/>
            <a:r>
              <a:rPr lang="pt-BR"/>
              <a:t>6.4.1 - O que aprendi neste módulo?</a:t>
            </a:r>
          </a:p>
          <a:p>
            <a:pPr rtl="0"/>
            <a:r>
              <a:rPr lang="pt-BR"/>
              <a:t>6.4.2 — Teste de Módulo — Camada de Link de Dados</a:t>
            </a:r>
          </a:p>
        </p:txBody>
      </p:sp>
    </p:spTree>
    <p:extLst>
      <p:ext uri="{BB962C8B-B14F-4D97-AF65-F5344CB8AC3E}">
        <p14:creationId xmlns:p14="http://schemas.microsoft.com/office/powerpoint/2010/main" val="14768241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6C92755B-29FD-8743-9094-C0E3A734D22E}" type="slidenum">
              <a:rPr sz="800">
                <a:solidFill>
                  <a:prstClr val="black"/>
                </a:solidFill>
              </a:rPr>
              <a:pPr/>
              <a:t>32</a:t>
            </a:fld>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33</a:t>
            </a:fld>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rtl="0">
              <a:spcBef>
                <a:spcPts val="0"/>
              </a:spcBef>
              <a:spcAft>
                <a:spcPts val="0"/>
              </a:spcAft>
              <a:defRPr/>
            </a:pPr>
            <a:fld id="{6A1E46DC-7EF6-4EA2-B285-14272867D133}" type="slidenum">
              <a:rPr sz="600">
                <a:solidFill>
                  <a:schemeClr val="accent5">
                    <a:lumMod val="50000"/>
                  </a:schemeClr>
                </a:solidFill>
                <a:latin typeface="+mn-lt"/>
                <a:ea typeface="+mn-ea"/>
                <a:cs typeface="CiscoSans Thin"/>
              </a:rPr>
              <a:pPr algn="r" defTabSz="610744" fontAlgn="auto">
                <a:spcBef>
                  <a:spcPts val="0"/>
                </a:spcBef>
                <a:spcAft>
                  <a:spcPts val="0"/>
                </a:spcAft>
                <a:defRPr/>
              </a:pPr>
              <a:t>‹#›</a:t>
            </a:fld>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rtl="0">
              <a:spcBef>
                <a:spcPts val="0"/>
              </a:spcBef>
              <a:spcAft>
                <a:spcPts val="0"/>
              </a:spcAft>
              <a:defRPr/>
            </a:pPr>
            <a:r>
              <a:rPr sz="600" lang="pt-BR">
                <a:solidFill>
                  <a:schemeClr val="accent5">
                    <a:lumMod val="50000"/>
                  </a:schemeClr>
                </a:solidFill>
                <a:latin typeface="+mn-lt"/>
                <a:ea typeface="+mn-ea"/>
                <a:cs typeface="CiscoSans Thin"/>
              </a:rPr>
              <a:t>© 2016 Cisco e/ou suas afiliadas. Todos os direitos reservados.   Confidencial da Cisco</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rtl="0">
              <a:spcBef>
                <a:spcPts val="0"/>
              </a:spcBef>
              <a:spcAft>
                <a:spcPts val="0"/>
              </a:spcAft>
              <a:defRPr/>
            </a:pPr>
            <a:fld id="{6A1E46DC-7EF6-4EA2-B285-14272867D133}" type="slidenum">
              <a:rPr sz="600">
                <a:solidFill>
                  <a:schemeClr val="accent3">
                    <a:lumMod val="85000"/>
                  </a:schemeClr>
                </a:solidFill>
                <a:latin typeface="+mn-lt"/>
                <a:ea typeface="+mn-ea"/>
                <a:cs typeface="CiscoSans Thin"/>
              </a:rPr>
              <a:pPr algn="r" defTabSz="610744" fontAlgn="auto">
                <a:spcBef>
                  <a:spcPts val="0"/>
                </a:spcBef>
                <a:spcAft>
                  <a:spcPts val="0"/>
                </a:spcAft>
                <a:defRPr/>
              </a:pPr>
              <a:t>‹#›</a:t>
            </a:fld>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rtl="0">
              <a:spcBef>
                <a:spcPts val="0"/>
              </a:spcBef>
              <a:spcAft>
                <a:spcPts val="0"/>
              </a:spcAft>
              <a:defRPr/>
            </a:pPr>
            <a:r>
              <a:rPr sz="600" lang="pt-BR">
                <a:solidFill>
                  <a:schemeClr val="accent3">
                    <a:lumMod val="85000"/>
                  </a:schemeClr>
                </a:solidFill>
                <a:latin typeface="+mn-lt"/>
                <a:ea typeface="+mn-ea"/>
                <a:cs typeface="CiscoSans Thin"/>
              </a:rPr>
              <a:t>© 2016 Cisco e/ou suas afiliadas. Todos os direitos reservados.   Confidencial da Cisco</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8.xml.rels><?xml version="1.0" encoding="utf-8"?>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9.xml.rels><?xml version="1.0" encoding="utf-8"?>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10.xml.rels><?xml version="1.0" encoding="utf-8"?>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11.xml.rels><?xml version="1.0" encoding="utf-8"?>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12.xml.rels><?xml version="1.0" encoding="utf-8"?>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3.xml.rels><?xml version="1.0" encoding="utf-8"?>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5.xml.rels><?xml version="1.0" encoding="utf-8"?>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17.xml.rels><?xml version="1.0" encoding="utf-8"?>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9.xml.rels><?xml version="1.0" encoding="utf-8"?>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1.xml.rels><?xml version="1.0" encoding="utf-8"?>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2.xml.rels><?xml version="1.0" encoding="utf-8"?>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3.xml.rels><?xml version="1.0" encoding="utf-8"?>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4.xml.rels><?xml version="1.0" encoding="utf-8"?>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5.xml.rels><?xml version="1.0" encoding="utf-8"?>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xml"/><Relationship Id="rId1" Type="http://schemas.openxmlformats.org/officeDocument/2006/relationships/tags" Target="../tags/tag14.xml"/></Relationships>
</file>

<file path=ppt/slides/_rels/slide26.xml.rels><?xml version="1.0" encoding="utf-8"?>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7.xml.rels><?xml version="1.0" encoding="utf-8"?>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8.xml.rels><?xml version="1.0" encoding="utf-8"?>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9.xml.rels><?xml version="1.0" encoding="utf-8"?>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0.xml.rels><?xml version="1.0" encoding="utf-8"?>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31.xml.rels><?xml version="1.0" encoding="utf-8"?>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3.xml"/><Relationship Id="rId1" Type="http://schemas.openxmlformats.org/officeDocument/2006/relationships/tags" Target="../tags/tag16.xml"/></Relationships>
</file>

<file path=ppt/slides/_rels/slide32.xml.rels><?xml version="1.0" encoding="utf-8"?>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3.xml"/><Relationship Id="rId1" Type="http://schemas.openxmlformats.org/officeDocument/2006/relationships/tags" Target="../tags/tag17.xml"/></Relationships>
</file>

<file path=ppt/slides/_rels/slide33.xml.rels><?xml version="1.0" encoding="utf-8"?>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0.xml"/><Relationship Id="rId1" Type="http://schemas.openxmlformats.org/officeDocument/2006/relationships/tags" Target="../tags/tag18.xml"/></Relationships>
</file>

<file path=ppt/slides/slide1.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pPr rtl="0"/>
            <a:r>
              <a:rPr lang="pt-BR">
                <a:solidFill>
                  <a:schemeClr val="accent5">
                    <a:lumMod val="40000"/>
                    <a:lumOff val="60000"/>
                  </a:schemeClr>
                </a:solidFill>
              </a:rPr>
              <a:t>Módulo 6: Camada de link de dados</a:t>
            </a:r>
          </a:p>
        </p:txBody>
      </p:sp>
      <p:sp>
        <p:nvSpPr>
          <p:cNvPr id="5" name="Text Placeholder 4"/>
          <p:cNvSpPr>
            <a:spLocks noGrp="1"/>
          </p:cNvSpPr>
          <p:nvPr>
            <p:ph type="body" sz="quarter" idx="13"/>
          </p:nvPr>
        </p:nvSpPr>
        <p:spPr>
          <a:xfrm>
            <a:off x="469497" y="3127609"/>
            <a:ext cx="5925246" cy="299001"/>
          </a:xfrm>
        </p:spPr>
        <p:txBody>
          <a:bodyPr/>
          <a:lstStyle/>
          <a:p>
            <a:pPr rtl="0"/>
            <a:r>
              <a:rPr lang="pt-BR">
                <a:solidFill>
                  <a:schemeClr val="bg2">
                    <a:lumMod val="40000"/>
                    <a:lumOff val="60000"/>
                  </a:schemeClr>
                </a:solidFill>
              </a:rPr>
              <a:t>Material do instrutor</a:t>
            </a:r>
          </a:p>
        </p:txBody>
      </p:sp>
      <p:sp>
        <p:nvSpPr>
          <p:cNvPr id="7" name="Subtitle 6"/>
          <p:cNvSpPr>
            <a:spLocks noGrp="1"/>
          </p:cNvSpPr>
          <p:nvPr>
            <p:ph type="subTitle" idx="1"/>
          </p:nvPr>
        </p:nvSpPr>
        <p:spPr>
          <a:xfrm>
            <a:off x="469497" y="3809526"/>
            <a:ext cx="2368954" cy="902174"/>
          </a:xfrm>
        </p:spPr>
        <p:txBody>
          <a:bodyPr/>
          <a:lstStyle/>
          <a:p>
            <a:pPr rtl="0"/>
            <a:r>
              <a:rPr lang="pt-BR">
                <a:solidFill>
                  <a:schemeClr val="accent5">
                    <a:lumMod val="40000"/>
                    <a:lumOff val="60000"/>
                  </a:schemeClr>
                </a:solidFill>
              </a:rPr>
              <a:t>Introdução às redes v7.0 (ITN)</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0">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50629"/>
            <a:ext cx="9144000" cy="757551"/>
          </a:xfrm>
        </p:spPr>
        <p:txBody>
          <a:bodyPr/>
          <a:lstStyle/>
          <a:p>
            <a:pPr rtl="0"/>
            <a:r>
              <a:rPr lang="pt-BR"/>
              <a:t>Instructor Materials – Module 6 Planning Guide</a:t>
            </a:r>
          </a:p>
        </p:txBody>
      </p:sp>
      <p:sp>
        <p:nvSpPr>
          <p:cNvPr id="4099" name="Rectangle 34"/>
          <p:cNvSpPr>
            <a:spLocks noGrp="1" noChangeArrowheads="1"/>
          </p:cNvSpPr>
          <p:nvPr>
            <p:ph idx="1"/>
          </p:nvPr>
        </p:nvSpPr>
        <p:spPr>
          <a:xfrm>
            <a:off x="145357" y="808180"/>
            <a:ext cx="8461315" cy="3818904"/>
          </a:xfrm>
        </p:spPr>
        <p:txBody>
          <a:bodyPr/>
          <a:lstStyle/>
          <a:p>
            <a:pPr marL="0" indent="0" rtl="0">
              <a:buNone/>
            </a:pPr>
            <a:r>
              <a:rPr lang="pt-BR"/>
              <a:t>This PowerPoint deck is divided in two parts:</a:t>
            </a:r>
          </a:p>
          <a:p>
            <a:pPr rtl="0">
              <a:buFont typeface="Arial" panose="020B0604020202020204" pitchFamily="34" charset="0"/>
              <a:buChar char="•"/>
            </a:pPr>
            <a:r>
              <a:rPr lang="pt-BR"/>
              <a:t>Instructor Planning Guide</a:t>
            </a:r>
          </a:p>
          <a:p>
            <a:pPr lvl="1" rtl="0">
              <a:buFont typeface="Arial" panose="020B0604020202020204" pitchFamily="34" charset="0"/>
              <a:buChar char="•"/>
            </a:pPr>
            <a:r>
              <a:rPr lang="pt-BR"/>
              <a:t>Information to help you become familiar with the module</a:t>
            </a:r>
          </a:p>
          <a:p>
            <a:pPr lvl="1" rtl="0">
              <a:buFont typeface="Arial" panose="020B0604020202020204" pitchFamily="34" charset="0"/>
              <a:buChar char="•"/>
            </a:pPr>
            <a:r>
              <a:rPr lang="pt-BR"/>
              <a:t>Teaching aids</a:t>
            </a:r>
          </a:p>
          <a:p>
            <a:pPr rtl="0">
              <a:buFont typeface="Arial" panose="020B0604020202020204" pitchFamily="34" charset="0"/>
              <a:buChar char="•"/>
            </a:pPr>
            <a:r>
              <a:rPr lang="pt-BR"/>
              <a:t>Instructor Class Presentation</a:t>
            </a:r>
          </a:p>
          <a:p>
            <a:pPr lvl="1" rtl="0"/>
            <a:r>
              <a:rPr lang="pt-BR"/>
              <a:t>Optional slides that you can use in the classroom</a:t>
            </a:r>
          </a:p>
          <a:p>
            <a:pPr lvl="1" rtl="0"/>
            <a:r>
              <a:rPr lang="pt-BR"/>
              <a:t>Begins on slide # 9</a:t>
            </a:r>
          </a:p>
          <a:p>
            <a:pPr marL="142875" lvl="1" indent="0" algn="ctr" rtl="0">
              <a:buNone/>
            </a:pPr>
            <a:r>
              <a:rPr sz="1600" b="true" lang="pt-BR"/>
              <a:t>Note</a:t>
            </a:r>
            <a:r>
              <a:rPr sz="1600" lang="pt-BR"/>
              <a:t>: Remove the Planning Guide from this presentation before sharing with anyone.</a:t>
            </a:r>
          </a:p>
          <a:p>
            <a:pPr marL="0" indent="0" rtl="0">
              <a:buNone/>
            </a:pPr>
            <a:r>
              <a:rPr sz="1600" b="true" lang="pt-BR">
                <a:solidFill>
                  <a:schemeClr val="accent4"/>
                </a:solidFill>
              </a:rPr>
              <a:t>For additional help and resources go to the Instructor Home Page and Course Resources for this course. You also can visit the professional development site on netacad.com, the official Cisco Networking Academy Facebook page, or Instructor Only FB group.</a:t>
            </a:r>
          </a:p>
        </p:txBody>
      </p:sp>
    </p:spTree>
    <p:custDataLst>
      <p:tags r:id="rId1"/>
    </p:custDataLst>
    <p:extLst>
      <p:ext uri="{BB962C8B-B14F-4D97-AF65-F5344CB8AC3E}">
        <p14:creationId xmlns:p14="http://schemas.microsoft.com/office/powerpoint/2010/main" val="3599581950"/>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pPr rtl="0"/>
            <a:r>
              <a:rPr lang="pt-BR"/>
              <a:t>Para facilitar o aprendizado, os seguintes recursos da GUI podem ser incluídos neste módulo:</a:t>
            </a:r>
          </a:p>
          <a:p>
            <a:endParaRPr lang="en-US" dirty="0"/>
          </a:p>
          <a:p>
            <a:endParaRPr lang="en-US" dirty="0"/>
          </a:p>
          <a:p>
            <a:pPr marL="0" indent="0">
              <a:buNone/>
            </a:pPr>
            <a:endParaRPr lang="en-US" dirty="0"/>
          </a:p>
        </p:txBody>
      </p:sp>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pPr rtl="0"/>
            <a:r>
              <a:rPr lang="pt-BR"/>
              <a:t>O que esperar neste módulo</a:t>
            </a:r>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extLst/>
          </p:nvPr>
        </p:nvGraphicFramePr>
        <p:xfrm>
          <a:off x="301658" y="1145310"/>
          <a:ext cx="8557528" cy="300649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p>
                      <a:pPr rtl="0"/>
                      <a:r>
                        <a:rPr lang="pt-BR"/>
                        <a:t>Recurso</a:t>
                      </a:r>
                    </a:p>
                  </a:txBody>
                  <a:tcPr/>
                </a:tc>
                <a:tc>
                  <a:txBody>
                    <a:bodyPr/>
                    <a:lstStyle/>
                    <a:p>
                      <a:pPr rtl="0"/>
                      <a:r>
                        <a:rPr lang="pt-BR"/>
                        <a:t>Descrição</a:t>
                      </a:r>
                    </a:p>
                  </a:txBody>
                  <a:tcPr/>
                </a:tc>
                <a:extLst>
                  <a:ext uri="{0D108BD9-81ED-4DB2-BD59-A6C34878D82A}">
                    <a16:rowId xmlns:a16="http://schemas.microsoft.com/office/drawing/2014/main" val="367710602"/>
                  </a:ext>
                </a:extLst>
              </a:tr>
              <a:tr h="331556">
                <a:tc>
                  <a:txBody>
                    <a:bodyPr/>
                    <a:lstStyle/>
                    <a:p>
                      <a:pPr algn="l" fontAlgn="b" rtl="0"/>
                      <a:r>
                        <a:rPr sz="1400" b="false" i="false" u="none" strike="noStrike" lang="pt-BR">
                          <a:solidFill>
                            <a:srgbClr val="000000"/>
                          </a:solidFill>
                          <a:effectLst/>
                          <a:latin typeface="+mn-lt"/>
                        </a:rPr>
                        <a:t>Animações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a:t>Exponha os alunos a novas habilidades e conceitos.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sz="1400" b="false" i="false" u="none" strike="noStrike" lang="pt-BR">
                          <a:solidFill>
                            <a:srgbClr val="000000"/>
                          </a:solidFill>
                          <a:effectLst/>
                          <a:latin typeface="+mn-lt"/>
                        </a:rPr>
                        <a:t>Vídeos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a:t>Exponha os alunos a novas habilidades e conceitos.</a:t>
                      </a:r>
                    </a:p>
                  </a:txBody>
                  <a:tcP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sz="1400" b="false" i="false" u="none" strike="noStrike" lang="pt-BR">
                          <a:solidFill>
                            <a:srgbClr val="000000"/>
                          </a:solidFill>
                          <a:effectLst/>
                          <a:latin typeface="+mn-lt"/>
                        </a:rPr>
                        <a:t>Verifique sua compreensão (CYU)</a:t>
                      </a:r>
                    </a:p>
                    <a:p>
                      <a:pPr algn="l" fontAlgn="b"/>
                      <a:endParaRPr lang="en-US" sz="1400" b="0" i="0" u="none" strike="noStrike" dirty="0">
                        <a:solidFill>
                          <a:srgbClr val="000000"/>
                        </a:solidFill>
                        <a:effectLst/>
                        <a:latin typeface="+mn-lt"/>
                      </a:endParaRPr>
                    </a:p>
                  </a:txBody>
                  <a:tcPr marL="9525" marR="9525" marT="9525" marB="0" anchor="b"/>
                </a:tc>
                <a:tc>
                  <a:txBody>
                    <a:bodyPr/>
                    <a:lstStyle/>
                    <a:p>
                      <a:pPr rtl="0"/>
                      <a:r>
                        <a:rPr lang="pt-BR"/>
                        <a:t>Questionário on-line por tópico para ajudar os alunos a avaliar a compreensão do conteúdo. </a:t>
                      </a: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sz="1400" b="false" i="false" u="none" strike="noStrike" lang="pt-BR">
                          <a:solidFill>
                            <a:srgbClr val="000000"/>
                          </a:solidFill>
                          <a:effectLst/>
                          <a:latin typeface="+mn-lt"/>
                        </a:rPr>
                        <a:t>Atividades Interativas</a:t>
                      </a:r>
                    </a:p>
                  </a:txBody>
                  <a:tcPr marL="9525" marR="9525" marT="9525" marB="0" anchor="b"/>
                </a:tc>
                <a:tc>
                  <a:txBody>
                    <a:bodyPr/>
                    <a:lstStyle/>
                    <a:p>
                      <a:pPr rtl="0"/>
                      <a:r>
                        <a:rPr lang="pt-BR"/>
                        <a:t>Uma variedade de formatos para ajudar os alunos a avaliar a compreensão do conteúdo.</a:t>
                      </a:r>
                    </a:p>
                  </a:txBody>
                  <a:tcPr/>
                </a:tc>
                <a:extLst>
                  <a:ext uri="{0D108BD9-81ED-4DB2-BD59-A6C34878D82A}">
                    <a16:rowId xmlns:a16="http://schemas.microsoft.com/office/drawing/2014/main" val="3454703549"/>
                  </a:ext>
                </a:extLst>
              </a:tr>
              <a:tr h="215293">
                <a:tc>
                  <a:txBody>
                    <a:bodyPr/>
                    <a:lstStyle/>
                    <a:p>
                      <a:pPr algn="l" fontAlgn="b" rtl="0"/>
                      <a:r>
                        <a:rPr sz="1400" b="false" i="false" u="none" strike="noStrike" lang="pt-BR">
                          <a:solidFill>
                            <a:srgbClr val="000000"/>
                          </a:solidFill>
                          <a:effectLst/>
                          <a:latin typeface="+mn-lt"/>
                        </a:rPr>
                        <a:t>Verificador de sintaxe</a:t>
                      </a:r>
                    </a:p>
                  </a:txBody>
                  <a:tcPr marL="9525" marR="9525" marT="9525" marB="0" anchor="b"/>
                </a:tc>
                <a:tc>
                  <a:txBody>
                    <a:bodyPr/>
                    <a:lstStyle/>
                    <a:p>
                      <a:pPr rtl="0"/>
                      <a:r>
                        <a:rPr lang="pt-BR"/>
                        <a:t>Pequenas simulações que expõem os alunos à linha de comando da Cisco para praticar habilidades de configuração.</a:t>
                      </a:r>
                    </a:p>
                  </a:txBody>
                  <a:tcPr/>
                </a:tc>
                <a:extLst>
                  <a:ext uri="{0D108BD9-81ED-4DB2-BD59-A6C34878D82A}">
                    <a16:rowId xmlns:a16="http://schemas.microsoft.com/office/drawing/2014/main" val="2195331658"/>
                  </a:ext>
                </a:extLst>
              </a:tr>
              <a:tr h="265091">
                <a:tc>
                  <a:txBody>
                    <a:bodyPr/>
                    <a:lstStyle/>
                    <a:p>
                      <a:pPr algn="l" fontAlgn="b" rtl="0"/>
                      <a:r>
                        <a:rPr sz="1400" b="false" i="false" u="none" strike="noStrike" lang="pt-BR">
                          <a:solidFill>
                            <a:srgbClr val="000000"/>
                          </a:solidFill>
                          <a:effectLst/>
                          <a:latin typeface="+mn-lt"/>
                        </a:rPr>
                        <a:t>Atividade do PT</a:t>
                      </a:r>
                    </a:p>
                  </a:txBody>
                  <a:tcPr marL="9525" marR="9525" marT="9525" marB="0" anchor="b"/>
                </a:tc>
                <a:tc>
                  <a:txBody>
                    <a:bodyPr/>
                    <a:lstStyle/>
                    <a:p>
                      <a:pPr rtl="0"/>
                      <a:r>
                        <a:rPr lang="pt-BR"/>
                        <a:t>Atividades de simulação e modelagem projetadas para explorar, adquirir, reforçar e expandir habilidades.</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12215396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extLst/>
          </p:nvPr>
        </p:nvGraphicFramePr>
        <p:xfrm>
          <a:off x="106756" y="1279280"/>
          <a:ext cx="8595235" cy="195072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fontAlgn="b" rtl="0"/>
                      <a:r>
                        <a:rPr sz="1400" b="true" i="false" u="none" strike="noStrike" lang="pt-BR">
                          <a:solidFill>
                            <a:schemeClr val="bg1"/>
                          </a:solidFill>
                          <a:effectLst/>
                          <a:latin typeface="+mn-lt"/>
                        </a:rPr>
                        <a:t>Recurso</a:t>
                      </a:r>
                    </a:p>
                  </a:txBody>
                  <a:tcPr marL="9525" marR="9525" marT="9525" marB="0" anchor="b"/>
                </a:tc>
                <a:tc>
                  <a:txBody>
                    <a:bodyPr/>
                    <a:lstStyle/>
                    <a:p>
                      <a:pPr rtl="0"/>
                      <a:r>
                        <a:rPr lang="pt-BR"/>
                        <a:t>Descrição</a:t>
                      </a:r>
                    </a:p>
                  </a:txBody>
                  <a:tcPr/>
                </a:tc>
                <a:extLst>
                  <a:ext uri="{0D108BD9-81ED-4DB2-BD59-A6C34878D82A}">
                    <a16:rowId xmlns:a16="http://schemas.microsoft.com/office/drawing/2014/main" val="3768427975"/>
                  </a:ext>
                </a:extLst>
              </a:tr>
              <a:tr h="265091">
                <a:tc>
                  <a:txBody>
                    <a:bodyPr/>
                    <a:lstStyle/>
                    <a:p>
                      <a:pPr algn="l" fontAlgn="b" rtl="0"/>
                      <a:r>
                        <a:rPr sz="1400" b="false" i="false" u="none" strike="noStrike" lang="pt-BR">
                          <a:solidFill>
                            <a:srgbClr val="000000"/>
                          </a:solidFill>
                          <a:effectLst/>
                          <a:latin typeface="+mn-lt"/>
                        </a:rPr>
                        <a:t>Laboratórios práticos</a:t>
                      </a:r>
                    </a:p>
                  </a:txBody>
                  <a:tcPr marL="9525" marR="9525" marT="9525" marB="0" anchor="b"/>
                </a:tc>
                <a:tc>
                  <a:txBody>
                    <a:bodyPr/>
                    <a:lstStyle/>
                    <a:p>
                      <a:pPr rtl="0"/>
                      <a:r>
                        <a:rPr lang="pt-BR"/>
                        <a:t>Laboratórios projetados para trabalhar com equipamentos físicos.</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sz="1400" b="false" i="false" u="none" strike="noStrike" lang="pt-BR">
                          <a:solidFill>
                            <a:srgbClr val="000000"/>
                          </a:solidFill>
                          <a:effectLst/>
                          <a:latin typeface="+mn-lt"/>
                        </a:rPr>
                        <a:t>Atividades em sala de aula</a:t>
                      </a:r>
                    </a:p>
                    <a:p>
                      <a:pPr algn="l" fontAlgn="b"/>
                      <a:endParaRPr lang="en-US" sz="1400" b="0" i="0" u="none" strike="noStrike" dirty="0">
                        <a:solidFill>
                          <a:srgbClr val="000000"/>
                        </a:solidFill>
                        <a:effectLst/>
                        <a:latin typeface="+mn-lt"/>
                      </a:endParaRPr>
                    </a:p>
                  </a:txBody>
                  <a:tcPr marL="9525" marR="9525" marT="9525" marB="0" anchor="b"/>
                </a:tc>
                <a:tc>
                  <a:txBody>
                    <a:bodyPr/>
                    <a:lstStyle/>
                    <a:p>
                      <a:pPr rtl="0"/>
                      <a:r>
                        <a:rPr lang="pt-BR"/>
                        <a:t>Estes são encontrados na página Recursos do instrutor. As atividades em classe são projetadas para facilitar o aprendizado, a discussão em classe e a colaboração.</a:t>
                      </a:r>
                    </a:p>
                  </a:txBody>
                  <a:tcPr/>
                </a:tc>
                <a:extLst>
                  <a:ext uri="{0D108BD9-81ED-4DB2-BD59-A6C34878D82A}">
                    <a16:rowId xmlns:a16="http://schemas.microsoft.com/office/drawing/2014/main" val="1125566603"/>
                  </a:ext>
                </a:extLst>
              </a:tr>
              <a:tr h="265091">
                <a:tc>
                  <a:txBody>
                    <a:bodyPr/>
                    <a:lstStyle/>
                    <a:p>
                      <a:pPr algn="l" fontAlgn="b" rtl="0"/>
                      <a:r>
                        <a:rPr sz="1400" b="false" i="false" u="none" strike="noStrike" lang="pt-BR">
                          <a:solidFill>
                            <a:srgbClr val="000000"/>
                          </a:solidFill>
                          <a:effectLst/>
                          <a:latin typeface="+mn-lt"/>
                        </a:rPr>
                        <a:t>Testes de módulo</a:t>
                      </a:r>
                    </a:p>
                  </a:txBody>
                  <a:tcPr marL="9525" marR="9525" marT="9525" marB="0" anchor="b"/>
                </a:tc>
                <a:tc>
                  <a:txBody>
                    <a:bodyPr/>
                    <a:lstStyle/>
                    <a:p>
                      <a:pPr rtl="0"/>
                      <a:r>
                        <a:rPr lang="pt-BR"/>
                        <a:t>Autoavaliações que integram conceitos e habilidades aprendidas ao longo da série de tópicos apresentados no módulo.</a:t>
                      </a:r>
                    </a:p>
                  </a:txBody>
                  <a:tcPr/>
                </a:tc>
                <a:extLst>
                  <a:ext uri="{0D108BD9-81ED-4DB2-BD59-A6C34878D82A}">
                    <a16:rowId xmlns:a16="http://schemas.microsoft.com/office/drawing/2014/main" val="831502776"/>
                  </a:ext>
                </a:extLst>
              </a:tr>
              <a:tr h="265091">
                <a:tc>
                  <a:txBody>
                    <a:bodyPr/>
                    <a:lstStyle/>
                    <a:p>
                      <a:pPr algn="l" fontAlgn="b" rtl="0"/>
                      <a:r>
                        <a:rPr sz="1400" b="false" i="false" u="none" strike="noStrike" lang="pt-BR">
                          <a:solidFill>
                            <a:srgbClr val="000000"/>
                          </a:solidFill>
                          <a:effectLst/>
                          <a:latin typeface="+mn-lt"/>
                        </a:rPr>
                        <a:t>Resumo do módulo</a:t>
                      </a:r>
                    </a:p>
                  </a:txBody>
                  <a:tcPr marL="9525" marR="9525" marT="9525" marB="0" anchor="b"/>
                </a:tc>
                <a:tc>
                  <a:txBody>
                    <a:bodyPr/>
                    <a:lstStyle/>
                    <a:p>
                      <a:pPr rtl="0"/>
                      <a:r>
                        <a:rPr lang="pt-BR"/>
                        <a:t>Recapitule brevemente o conteúdo do módulo.</a:t>
                      </a:r>
                    </a:p>
                  </a:txBody>
                  <a:tcPr/>
                </a:tc>
                <a:extLst>
                  <a:ext uri="{0D108BD9-81ED-4DB2-BD59-A6C34878D82A}">
                    <a16:rowId xmlns:a16="http://schemas.microsoft.com/office/drawing/2014/main" val="2267046280"/>
                  </a:ext>
                </a:extLst>
              </a:tr>
            </a:tbl>
          </a:graphicData>
        </a:graphic>
      </p:graphicFrame>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pPr rtl="0"/>
            <a:r>
              <a:rPr lang="pt-BR"/>
              <a:t>O que esperar deste módulo (cont.)</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rtl="0"/>
            <a:r>
              <a:rPr lang="pt-BR"/>
              <a:t>Para facilitar o aprendizado, os seguintes recursos podem ser incluídos neste módulo:</a:t>
            </a:r>
          </a:p>
          <a:p>
            <a:pPr marL="0" indent="0">
              <a:buNone/>
            </a:pPr>
            <a:endParaRPr lang="en-US" dirty="0"/>
          </a:p>
          <a:p>
            <a:pPr marL="0" indent="0">
              <a:buFont typeface="Wingdings" panose="05000000000000000000" pitchFamily="2" charset="2"/>
              <a:buNone/>
            </a:pPr>
            <a:endParaRPr lang="en-US" dirty="0"/>
          </a:p>
        </p:txBody>
      </p:sp>
    </p:spTree>
    <p:custDataLst>
      <p:tags r:id="rId1"/>
    </p:custDataLst>
    <p:extLst>
      <p:ext uri="{BB962C8B-B14F-4D97-AF65-F5344CB8AC3E}">
        <p14:creationId xmlns:p14="http://schemas.microsoft.com/office/powerpoint/2010/main" val="173605805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pPr eaLnBrk="1" hangingPunct="1" rtl="0"/>
            <a:r>
              <a:rPr lang="pt-BR"/>
              <a:t>Check Your Understanding</a:t>
            </a:r>
          </a:p>
        </p:txBody>
      </p:sp>
      <p:sp>
        <p:nvSpPr>
          <p:cNvPr id="7171" name="Rectangle 34"/>
          <p:cNvSpPr>
            <a:spLocks noGrp="1" noChangeArrowheads="1"/>
          </p:cNvSpPr>
          <p:nvPr>
            <p:ph idx="1"/>
          </p:nvPr>
        </p:nvSpPr>
        <p:spPr>
          <a:xfrm>
            <a:off x="145357" y="965201"/>
            <a:ext cx="8878570" cy="3643747"/>
          </a:xfrm>
        </p:spPr>
        <p:txBody>
          <a:bodyPr/>
          <a:lstStyle/>
          <a:p>
            <a:pPr rtl="0">
              <a:spcBef>
                <a:spcPct val="30000"/>
              </a:spcBef>
              <a:buFont typeface="Arial" panose="020B0604020202020204" pitchFamily="34" charset="0"/>
              <a:buChar char="•"/>
            </a:pPr>
            <a:r>
              <a:rPr lang="pt-BR"/>
              <a:t>Check Your Understanding activities are designed to let students quickly determine if they understand the content and can proceed, or if they need to review. </a:t>
            </a:r>
          </a:p>
          <a:p>
            <a:pPr rtl="0">
              <a:spcBef>
                <a:spcPct val="30000"/>
              </a:spcBef>
              <a:buFont typeface="Arial" panose="020B0604020202020204" pitchFamily="34" charset="0"/>
              <a:buChar char="•"/>
            </a:pPr>
            <a:r>
              <a:rPr lang="pt-BR"/>
              <a:t>Check Your Understanding activities </a:t>
            </a:r>
            <a:r>
              <a:rPr b="true" i="true" lang="pt-BR"/>
              <a:t>do not </a:t>
            </a:r>
            <a:r>
              <a:rPr lang="pt-BR"/>
              <a:t>affect student grades.</a:t>
            </a:r>
          </a:p>
          <a:p>
            <a:pPr rtl="0">
              <a:spcBef>
                <a:spcPct val="30000"/>
              </a:spcBef>
              <a:buFont typeface="Arial" panose="020B0604020202020204" pitchFamily="34" charset="0"/>
              <a:buChar char="•"/>
            </a:pPr>
            <a:r>
              <a:rPr lang="pt-BR"/>
              <a:t>There are no separate slides for these activities in the PPT. They are listed in the notes area of the slide that appears before these activities.</a:t>
            </a:r>
          </a:p>
          <a:p>
            <a:pPr marL="0" indent="0">
              <a:spcBef>
                <a:spcPct val="30000"/>
              </a:spcBef>
              <a:buNone/>
            </a:pPr>
            <a:endParaRPr lang="en-US" dirty="0"/>
          </a:p>
          <a:p>
            <a:pPr marL="0" indent="0" eaLnBrk="1" hangingPunct="1">
              <a:spcBef>
                <a:spcPct val="30000"/>
              </a:spcBef>
              <a:buNone/>
            </a:pPr>
            <a:endParaRPr lang="en-US" dirty="0"/>
          </a:p>
          <a:p>
            <a:pPr eaLnBrk="1" hangingPunct="1">
              <a:spcBef>
                <a:spcPct val="30000"/>
              </a:spcBef>
            </a:pPr>
            <a:endParaRPr lang="en-US" dirty="0"/>
          </a:p>
        </p:txBody>
      </p:sp>
    </p:spTree>
    <p:custDataLst>
      <p:tags r:id="rId1"/>
    </p:custDataLst>
    <p:extLst>
      <p:ext uri="{BB962C8B-B14F-4D97-AF65-F5344CB8AC3E}">
        <p14:creationId xmlns:p14="http://schemas.microsoft.com/office/powerpoint/2010/main" val="3447270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pPr eaLnBrk="1" hangingPunct="1" rtl="0"/>
            <a:r>
              <a:rPr lang="pt-BR"/>
              <a:t>Module 6: Activities</a:t>
            </a:r>
          </a:p>
        </p:txBody>
      </p:sp>
      <p:sp>
        <p:nvSpPr>
          <p:cNvPr id="6147" name="Rectangle 34"/>
          <p:cNvSpPr>
            <a:spLocks noGrp="1" noChangeArrowheads="1"/>
          </p:cNvSpPr>
          <p:nvPr>
            <p:ph idx="1"/>
          </p:nvPr>
        </p:nvSpPr>
        <p:spPr>
          <a:xfrm>
            <a:off x="144065" y="798945"/>
            <a:ext cx="8695135" cy="348414"/>
          </a:xfrm>
        </p:spPr>
        <p:txBody>
          <a:bodyPr/>
          <a:lstStyle/>
          <a:p>
            <a:pPr marL="0" indent="0" rtl="0">
              <a:spcBef>
                <a:spcPct val="30000"/>
              </a:spcBef>
              <a:buNone/>
            </a:pPr>
            <a:r>
              <a:rPr sz="1600" lang="pt-BR"/>
              <a:t>What activities are associated with this module?</a:t>
            </a:r>
          </a:p>
          <a:p>
            <a:pPr marL="0" indent="0">
              <a:spcBef>
                <a:spcPct val="30000"/>
              </a:spcBef>
              <a:buNone/>
            </a:pPr>
            <a:endParaRPr lang="en-US" sz="1600"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1588753179"/>
              </p:ext>
            </p:extLst>
          </p:nvPr>
        </p:nvGraphicFramePr>
        <p:xfrm>
          <a:off x="427595" y="1333040"/>
          <a:ext cx="8288809" cy="1421490"/>
        </p:xfrm>
        <a:graphic>
          <a:graphicData uri="http://schemas.openxmlformats.org/drawingml/2006/table">
            <a:tbl>
              <a:tblPr firstRow="1" bandRow="1">
                <a:tableStyleId>{5C22544A-7EE6-4342-B048-85BDC9FD1C3A}</a:tableStyleId>
              </a:tblPr>
              <a:tblGrid>
                <a:gridCol w="1137886">
                  <a:extLst>
                    <a:ext uri="{9D8B030D-6E8A-4147-A177-3AD203B41FA5}">
                      <a16:colId xmlns:a16="http://schemas.microsoft.com/office/drawing/2014/main" val="20001"/>
                    </a:ext>
                  </a:extLst>
                </a:gridCol>
                <a:gridCol w="1871143">
                  <a:extLst>
                    <a:ext uri="{9D8B030D-6E8A-4147-A177-3AD203B41FA5}">
                      <a16:colId xmlns:a16="http://schemas.microsoft.com/office/drawing/2014/main" val="3156509146"/>
                    </a:ext>
                  </a:extLst>
                </a:gridCol>
                <a:gridCol w="4109522">
                  <a:extLst>
                    <a:ext uri="{9D8B030D-6E8A-4147-A177-3AD203B41FA5}">
                      <a16:colId xmlns:a16="http://schemas.microsoft.com/office/drawing/2014/main" val="20002"/>
                    </a:ext>
                  </a:extLst>
                </a:gridCol>
                <a:gridCol w="1170258">
                  <a:extLst>
                    <a:ext uri="{9D8B030D-6E8A-4147-A177-3AD203B41FA5}">
                      <a16:colId xmlns:a16="http://schemas.microsoft.com/office/drawing/2014/main" val="20003"/>
                    </a:ext>
                  </a:extLst>
                </a:gridCol>
              </a:tblGrid>
              <a:tr h="316509">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sz="1200" lang="pt-BR"/>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200" lang="pt-BR"/>
                        <a:t>Activity Type</a:t>
                      </a:r>
                    </a:p>
                  </a:txBody>
                  <a:tcPr marL="68580" marR="68580" marT="34290" marB="34290" anchor="ctr"/>
                </a:tc>
                <a:tc>
                  <a:txBody>
                    <a:bodyPr/>
                    <a:lstStyle/>
                    <a:p>
                      <a:pPr rtl="0"/>
                      <a:r>
                        <a:rPr sz="1200" lang="pt-BR"/>
                        <a:t>Activity Name</a:t>
                      </a:r>
                    </a:p>
                  </a:txBody>
                  <a:tcPr marL="68580" marR="68580" marT="34290" marB="34290" anchor="ctr"/>
                </a:tc>
                <a:tc>
                  <a:txBody>
                    <a:bodyPr/>
                    <a:lstStyle/>
                    <a:p>
                      <a:pPr rtl="0"/>
                      <a:r>
                        <a:rPr sz="1200" lang="pt-BR"/>
                        <a:t>Optional?</a:t>
                      </a:r>
                    </a:p>
                  </a:txBody>
                  <a:tcPr marL="68580" marR="68580" marT="34290" marB="34290" anchor="ctr"/>
                </a:tc>
                <a:extLst>
                  <a:ext uri="{0D108BD9-81ED-4DB2-BD59-A6C34878D82A}">
                    <a16:rowId xmlns:a16="http://schemas.microsoft.com/office/drawing/2014/main" val="10000"/>
                  </a:ext>
                </a:extLst>
              </a:tr>
              <a:tr h="368327">
                <a:tc>
                  <a:txBody>
                    <a:bodyPr/>
                    <a:lstStyle/>
                    <a:p>
                      <a:pPr algn="ctr" rtl="0"/>
                      <a:r>
                        <a:rPr sz="1100" lang="pt-BR"/>
                        <a:t>6.1.5</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sz="1100" lang="pt-BR"/>
                        <a:t>Check Your Understanding</a:t>
                      </a:r>
                    </a:p>
                  </a:txBody>
                  <a:tcPr marL="68580" marR="68580" marT="34290" marB="34290" anchor="ctr"/>
                </a:tc>
                <a:tc>
                  <a:txBody>
                    <a:bodyPr/>
                    <a:lstStyle/>
                    <a:p>
                      <a:pPr rtl="0"/>
                      <a:r>
                        <a:rPr sz="1100" lang="pt-BR"/>
                        <a:t>Purpose of the Data Link Layer</a:t>
                      </a:r>
                    </a:p>
                  </a:txBody>
                  <a:tcPr marL="68580" marR="68580" marT="34290" marB="34290" anchor="ctr"/>
                </a:tc>
                <a:tc>
                  <a:txBody>
                    <a:bodyPr/>
                    <a:lstStyle/>
                    <a:p>
                      <a:pPr rtl="0"/>
                      <a:r>
                        <a:rPr sz="1100" lang="pt-BR"/>
                        <a:t>Recommended</a:t>
                      </a:r>
                    </a:p>
                  </a:txBody>
                  <a:tcPr marL="68580" marR="68580" marT="34290" marB="34290" anchor="ctr"/>
                </a:tc>
                <a:extLst>
                  <a:ext uri="{0D108BD9-81ED-4DB2-BD59-A6C34878D82A}">
                    <a16:rowId xmlns:a16="http://schemas.microsoft.com/office/drawing/2014/main" val="10001"/>
                  </a:ext>
                </a:extLst>
              </a:tr>
              <a:tr h="368327">
                <a:tc>
                  <a:txBody>
                    <a:bodyPr/>
                    <a:lstStyle/>
                    <a:p>
                      <a:pPr algn="ctr" rtl="0"/>
                      <a:r>
                        <a:rPr sz="1100" lang="pt-BR"/>
                        <a:t>6.2.9</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sz="1100" lang="pt-BR"/>
                        <a:t>Check Your Understanding</a:t>
                      </a:r>
                    </a:p>
                  </a:txBody>
                  <a:tcPr marL="68580" marR="68580" marT="34290" marB="34290" anchor="ctr"/>
                </a:tc>
                <a:tc>
                  <a:txBody>
                    <a:bodyPr/>
                    <a:lstStyle/>
                    <a:p>
                      <a:pPr rtl="0"/>
                      <a:r>
                        <a:rPr sz="1100" lang="pt-BR"/>
                        <a:t>Topologies</a:t>
                      </a:r>
                    </a:p>
                  </a:txBody>
                  <a:tcPr marL="68580" marR="68580" marT="34290" marB="34290" anchor="ctr"/>
                </a:tc>
                <a:tc>
                  <a:txBody>
                    <a:bodyPr/>
                    <a:lstStyle/>
                    <a:p>
                      <a:pPr rtl="0"/>
                      <a:r>
                        <a:rPr sz="1100" lang="pt-BR"/>
                        <a:t>Recommended</a:t>
                      </a:r>
                    </a:p>
                  </a:txBody>
                  <a:tcPr marL="68580" marR="68580" marT="34290" marB="34290" anchor="ctr"/>
                </a:tc>
                <a:extLst>
                  <a:ext uri="{0D108BD9-81ED-4DB2-BD59-A6C34878D82A}">
                    <a16:rowId xmlns:a16="http://schemas.microsoft.com/office/drawing/2014/main" val="10006"/>
                  </a:ext>
                </a:extLst>
              </a:tr>
              <a:tr h="368327">
                <a:tc>
                  <a:txBody>
                    <a:bodyPr/>
                    <a:lstStyle/>
                    <a:p>
                      <a:pPr algn="ctr" rtl="0"/>
                      <a:r>
                        <a:rPr sz="1100" lang="pt-BR"/>
                        <a:t>6.3.5</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pt-BR"/>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pt-BR"/>
                        <a:t>Data Link Frame</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false" sz="1100" u="none" strike="noStrike" kern="1200" cap="none" spc="0" normalizeH="false" baseline="0" lang="pt-BR">
                          <a:ln>
                            <a:noFill/>
                          </a:ln>
                          <a:effectLst/>
                          <a:uLnTx/>
                          <a:uFillTx/>
                        </a:rPr>
                        <a:t>Recommended</a:t>
                      </a:r>
                    </a:p>
                  </a:txBody>
                  <a:tcPr marL="68580" marR="68580" marT="34290" marB="34290" anchor="ctr"/>
                </a:tc>
                <a:extLst>
                  <a:ext uri="{0D108BD9-81ED-4DB2-BD59-A6C34878D82A}">
                    <a16:rowId xmlns:a16="http://schemas.microsoft.com/office/drawing/2014/main" val="10008"/>
                  </a:ext>
                </a:extLst>
              </a:tr>
            </a:tbl>
          </a:graphicData>
        </a:graphic>
      </p:graphicFrame>
    </p:spTree>
    <p:custDataLst>
      <p:tags r:id="rId1"/>
    </p:custDataLst>
    <p:extLst>
      <p:ext uri="{BB962C8B-B14F-4D97-AF65-F5344CB8AC3E}">
        <p14:creationId xmlns:p14="http://schemas.microsoft.com/office/powerpoint/2010/main" val="2145273728"/>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pt-BR"/>
              <a:t>Module 6: Best Practices</a:t>
            </a:r>
          </a:p>
        </p:txBody>
      </p:sp>
      <p:sp>
        <p:nvSpPr>
          <p:cNvPr id="11266" name="Rectangle 34"/>
          <p:cNvSpPr>
            <a:spLocks noGrp="1" noChangeArrowheads="1"/>
          </p:cNvSpPr>
          <p:nvPr>
            <p:ph idx="1"/>
          </p:nvPr>
        </p:nvSpPr>
        <p:spPr>
          <a:xfrm>
            <a:off x="145357" y="798944"/>
            <a:ext cx="8853286" cy="4041019"/>
          </a:xfrm>
        </p:spPr>
        <p:txBody>
          <a:bodyPr/>
          <a:lstStyle/>
          <a:p>
            <a:pPr marL="0" indent="0" rtl="0">
              <a:lnSpc>
                <a:spcPct val="85000"/>
              </a:lnSpc>
              <a:spcBef>
                <a:spcPct val="30000"/>
              </a:spcBef>
              <a:buNone/>
            </a:pPr>
            <a:r>
              <a:rPr sz="1600" lang="pt-BR"/>
              <a:t>Prior to teaching Module 6, the instructor should:</a:t>
            </a:r>
          </a:p>
          <a:p>
            <a:pPr rtl="0">
              <a:lnSpc>
                <a:spcPct val="85000"/>
              </a:lnSpc>
              <a:spcBef>
                <a:spcPct val="30000"/>
              </a:spcBef>
              <a:buFont typeface="Arial" panose="020B0604020202020204" pitchFamily="34" charset="0"/>
              <a:buChar char="•"/>
            </a:pPr>
            <a:r>
              <a:rPr sz="1600" lang="pt-BR"/>
              <a:t>Review the activities and assessments for this module.</a:t>
            </a:r>
          </a:p>
          <a:p>
            <a:pPr rtl="0">
              <a:lnSpc>
                <a:spcPct val="85000"/>
              </a:lnSpc>
              <a:spcBef>
                <a:spcPct val="30000"/>
              </a:spcBef>
              <a:buFont typeface="Arial" panose="020B0604020202020204" pitchFamily="34" charset="0"/>
              <a:buChar char="•"/>
            </a:pPr>
            <a:r>
              <a:rPr sz="1600" lang="pt-BR"/>
              <a:t>Try to include as many questions as possible to keep students engaged during classroom presentation.</a:t>
            </a:r>
          </a:p>
          <a:p>
            <a:pPr marL="0" indent="0" eaLnBrk="1" hangingPunct="1" rtl="0">
              <a:lnSpc>
                <a:spcPct val="85000"/>
              </a:lnSpc>
              <a:spcBef>
                <a:spcPct val="30000"/>
              </a:spcBef>
              <a:buNone/>
            </a:pPr>
            <a:r>
              <a:rPr sz="1600" lang="pt-BR"/>
              <a:t>Topic 6.1</a:t>
            </a:r>
          </a:p>
          <a:p>
            <a:pPr lvl="1" rtl="0">
              <a:lnSpc>
                <a:spcPct val="85000"/>
              </a:lnSpc>
              <a:spcBef>
                <a:spcPct val="30000"/>
              </a:spcBef>
            </a:pPr>
            <a:r>
              <a:rPr sz="1600" lang="pt-BR"/>
              <a:t>Ask the students or have a class discussion</a:t>
            </a:r>
          </a:p>
          <a:p>
            <a:pPr lvl="2" rtl="0">
              <a:lnSpc>
                <a:spcPct val="85000"/>
              </a:lnSpc>
              <a:spcBef>
                <a:spcPct val="30000"/>
              </a:spcBef>
            </a:pPr>
            <a:r>
              <a:rPr sz="1600" lang="pt-BR"/>
              <a:t>Discuss the functions of the data link layer.</a:t>
            </a:r>
          </a:p>
          <a:p>
            <a:pPr lvl="2" rtl="0">
              <a:lnSpc>
                <a:spcPct val="85000"/>
              </a:lnSpc>
              <a:spcBef>
                <a:spcPct val="30000"/>
              </a:spcBef>
            </a:pPr>
            <a:r>
              <a:rPr sz="1600" lang="pt-BR"/>
              <a:t>What would be the consequences on upper layer protocols if there was no data link layer?</a:t>
            </a:r>
          </a:p>
          <a:p>
            <a:pPr marL="0" indent="0" rtl="0">
              <a:lnSpc>
                <a:spcPct val="85000"/>
              </a:lnSpc>
              <a:spcBef>
                <a:spcPct val="30000"/>
              </a:spcBef>
              <a:buNone/>
            </a:pPr>
            <a:r>
              <a:rPr sz="1600" lang="pt-BR"/>
              <a:t>Topic 6.2</a:t>
            </a:r>
          </a:p>
          <a:p>
            <a:pPr lvl="1" rtl="0">
              <a:lnSpc>
                <a:spcPct val="85000"/>
              </a:lnSpc>
              <a:spcBef>
                <a:spcPct val="30000"/>
              </a:spcBef>
            </a:pPr>
            <a:r>
              <a:rPr sz="1600" lang="pt-BR"/>
              <a:t>Ask the students or have a class discussion</a:t>
            </a:r>
          </a:p>
          <a:p>
            <a:pPr lvl="2" rtl="0">
              <a:lnSpc>
                <a:spcPct val="85000"/>
              </a:lnSpc>
              <a:spcBef>
                <a:spcPct val="30000"/>
              </a:spcBef>
            </a:pPr>
            <a:r>
              <a:rPr sz="1600" lang="pt-BR"/>
              <a:t>What type of logical topology do they use on their home network?</a:t>
            </a:r>
          </a:p>
          <a:p>
            <a:pPr lvl="2" rtl="0">
              <a:lnSpc>
                <a:spcPct val="85000"/>
              </a:lnSpc>
              <a:spcBef>
                <a:spcPct val="30000"/>
              </a:spcBef>
            </a:pPr>
            <a:r>
              <a:rPr sz="1600" lang="pt-BR"/>
              <a:t>Why is CSMA/CA more appropriate than CSMA/CD for wireless networks?</a:t>
            </a:r>
          </a:p>
          <a:p>
            <a:pPr eaLnBrk="1" hangingPunct="1">
              <a:lnSpc>
                <a:spcPct val="85000"/>
              </a:lnSpc>
              <a:spcBef>
                <a:spcPct val="30000"/>
              </a:spcBef>
            </a:pPr>
            <a:endParaRPr lang="en-US" dirty="0"/>
          </a:p>
          <a:p>
            <a:pPr lvl="1">
              <a:lnSpc>
                <a:spcPct val="85000"/>
              </a:lnSpc>
              <a:spcBef>
                <a:spcPct val="30000"/>
              </a:spcBef>
            </a:pPr>
            <a:endParaRPr lang="en-US" dirty="0"/>
          </a:p>
          <a:p>
            <a:pPr lvl="1">
              <a:lnSpc>
                <a:spcPct val="85000"/>
              </a:lnSpc>
              <a:spcBef>
                <a:spcPct val="30000"/>
              </a:spcBef>
            </a:pPr>
            <a:endParaRPr lang="en-US" dirty="0"/>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custDataLst>
      <p:tags r:id="rId1"/>
    </p:custDataLst>
    <p:extLst>
      <p:ext uri="{BB962C8B-B14F-4D97-AF65-F5344CB8AC3E}">
        <p14:creationId xmlns:p14="http://schemas.microsoft.com/office/powerpoint/2010/main" val="210931760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pt-BR"/>
              <a:t>Module 6: Best Practices (Cont.)</a:t>
            </a:r>
          </a:p>
        </p:txBody>
      </p:sp>
      <p:sp>
        <p:nvSpPr>
          <p:cNvPr id="11266" name="Rectangle 34"/>
          <p:cNvSpPr>
            <a:spLocks noGrp="1" noChangeArrowheads="1"/>
          </p:cNvSpPr>
          <p:nvPr>
            <p:ph idx="1"/>
          </p:nvPr>
        </p:nvSpPr>
        <p:spPr>
          <a:xfrm>
            <a:off x="145357" y="946788"/>
            <a:ext cx="8853286" cy="4155319"/>
          </a:xfrm>
        </p:spPr>
        <p:txBody>
          <a:bodyPr/>
          <a:lstStyle/>
          <a:p>
            <a:pPr marL="0" indent="0" eaLnBrk="1" hangingPunct="1" rtl="0">
              <a:lnSpc>
                <a:spcPct val="85000"/>
              </a:lnSpc>
              <a:spcBef>
                <a:spcPct val="30000"/>
              </a:spcBef>
              <a:buNone/>
            </a:pPr>
            <a:r>
              <a:rPr sz="1400" lang="pt-BR"/>
              <a:t> </a:t>
            </a:r>
            <a:r>
              <a:rPr sz="1600" lang="pt-BR"/>
              <a:t>Topic 6.3</a:t>
            </a:r>
          </a:p>
          <a:p>
            <a:pPr lvl="1" rtl="0">
              <a:lnSpc>
                <a:spcPct val="85000"/>
              </a:lnSpc>
              <a:spcBef>
                <a:spcPct val="30000"/>
              </a:spcBef>
            </a:pPr>
            <a:r>
              <a:rPr sz="1600" lang="pt-BR"/>
              <a:t>Ask the students or have a class discussion</a:t>
            </a:r>
          </a:p>
          <a:p>
            <a:pPr lvl="2" rtl="0">
              <a:lnSpc>
                <a:spcPct val="85000"/>
              </a:lnSpc>
              <a:spcBef>
                <a:spcPct val="30000"/>
              </a:spcBef>
            </a:pPr>
            <a:r>
              <a:rPr sz="1600" lang="pt-BR"/>
              <a:t>Discuss the function of the six frame fields.</a:t>
            </a:r>
          </a:p>
          <a:p>
            <a:pPr lvl="2" rtl="0">
              <a:lnSpc>
                <a:spcPct val="85000"/>
              </a:lnSpc>
              <a:spcBef>
                <a:spcPct val="30000"/>
              </a:spcBef>
            </a:pPr>
            <a:r>
              <a:rPr sz="1600" lang="pt-BR"/>
              <a:t>What is the Layer 2 address of their personal computer or laptop?</a:t>
            </a:r>
          </a:p>
          <a:p>
            <a:pPr>
              <a:lnSpc>
                <a:spcPct val="85000"/>
              </a:lnSpc>
              <a:spcBef>
                <a:spcPct val="30000"/>
              </a:spcBef>
            </a:pPr>
            <a:endParaRPr lang="en-US" sz="1400" dirty="0"/>
          </a:p>
          <a:p>
            <a:pPr lvl="1">
              <a:lnSpc>
                <a:spcPct val="85000"/>
              </a:lnSpc>
              <a:spcBef>
                <a:spcPct val="30000"/>
              </a:spcBef>
            </a:pPr>
            <a:endParaRPr lang="en-US" sz="1200" dirty="0"/>
          </a:p>
          <a:p>
            <a:pPr eaLnBrk="1" hangingPunct="1">
              <a:lnSpc>
                <a:spcPct val="85000"/>
              </a:lnSpc>
              <a:spcBef>
                <a:spcPct val="30000"/>
              </a:spcBef>
            </a:pPr>
            <a:endParaRPr lang="en-US" sz="1400" dirty="0"/>
          </a:p>
          <a:p>
            <a:pPr lvl="1">
              <a:lnSpc>
                <a:spcPct val="85000"/>
              </a:lnSpc>
              <a:spcBef>
                <a:spcPct val="30000"/>
              </a:spcBef>
            </a:pPr>
            <a:endParaRPr lang="en-US" sz="1200" dirty="0"/>
          </a:p>
          <a:p>
            <a:pPr lvl="1">
              <a:lnSpc>
                <a:spcPct val="85000"/>
              </a:lnSpc>
              <a:spcBef>
                <a:spcPct val="30000"/>
              </a:spcBef>
            </a:pPr>
            <a:endParaRPr lang="en-US" sz="1200" dirty="0"/>
          </a:p>
          <a:p>
            <a:pPr lvl="1">
              <a:lnSpc>
                <a:spcPct val="85000"/>
              </a:lnSpc>
              <a:spcBef>
                <a:spcPct val="30000"/>
              </a:spcBef>
            </a:pPr>
            <a:endParaRPr lang="en-US" sz="1200" dirty="0"/>
          </a:p>
          <a:p>
            <a:pPr eaLnBrk="1" hangingPunct="1">
              <a:lnSpc>
                <a:spcPct val="85000"/>
              </a:lnSpc>
              <a:spcBef>
                <a:spcPct val="30000"/>
              </a:spcBef>
            </a:pPr>
            <a:endParaRPr lang="en-US" sz="1400" dirty="0"/>
          </a:p>
          <a:p>
            <a:pPr marL="630238" lvl="2" indent="-214313">
              <a:buFont typeface="Arial" panose="020B0604020202020204" pitchFamily="34" charset="0"/>
              <a:buChar char="•"/>
            </a:pPr>
            <a:endParaRPr lang="en-US" sz="1100" dirty="0"/>
          </a:p>
          <a:p>
            <a:pPr marL="630238" lvl="2" indent="-214313">
              <a:buFont typeface="Arial" panose="020B0604020202020204" pitchFamily="34" charset="0"/>
              <a:buChar char="•"/>
            </a:pPr>
            <a:endParaRPr lang="en-US" sz="1400" dirty="0"/>
          </a:p>
          <a:p>
            <a:pPr eaLnBrk="1" hangingPunct="1">
              <a:lnSpc>
                <a:spcPct val="85000"/>
              </a:lnSpc>
              <a:spcBef>
                <a:spcPct val="30000"/>
              </a:spcBef>
            </a:pPr>
            <a:endParaRPr lang="en-US" sz="1400" b="1" dirty="0">
              <a:solidFill>
                <a:srgbClr val="FF0000"/>
              </a:solidFill>
            </a:endParaRPr>
          </a:p>
          <a:p>
            <a:pPr eaLnBrk="1" hangingPunct="1">
              <a:lnSpc>
                <a:spcPct val="85000"/>
              </a:lnSpc>
              <a:spcBef>
                <a:spcPct val="30000"/>
              </a:spcBef>
            </a:pPr>
            <a:endParaRPr lang="en-US" sz="1400" dirty="0"/>
          </a:p>
        </p:txBody>
      </p:sp>
    </p:spTree>
    <p:custDataLst>
      <p:tags r:id="rId1"/>
    </p:custDataLst>
    <p:extLst>
      <p:ext uri="{BB962C8B-B14F-4D97-AF65-F5344CB8AC3E}">
        <p14:creationId xmlns:p14="http://schemas.microsoft.com/office/powerpoint/2010/main" val="1129576059"/>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pPr rtl="0"/>
            <a:r>
              <a:rPr lang="pt-BR">
                <a:solidFill>
                  <a:schemeClr val="accent5">
                    <a:lumMod val="40000"/>
                    <a:lumOff val="60000"/>
                  </a:schemeClr>
                </a:solidFill>
              </a:rPr>
              <a:t>Módulo 6: Camada de Link de Dados</a:t>
            </a:r>
          </a:p>
        </p:txBody>
      </p:sp>
      <p:sp>
        <p:nvSpPr>
          <p:cNvPr id="7" name="Subtitle 6"/>
          <p:cNvSpPr>
            <a:spLocks noGrp="1"/>
          </p:cNvSpPr>
          <p:nvPr>
            <p:ph type="subTitle" idx="1"/>
          </p:nvPr>
        </p:nvSpPr>
        <p:spPr>
          <a:xfrm>
            <a:off x="469497" y="3809526"/>
            <a:ext cx="2368954" cy="902174"/>
          </a:xfrm>
        </p:spPr>
        <p:txBody>
          <a:bodyPr/>
          <a:lstStyle/>
          <a:p>
            <a:pPr rtl="0"/>
            <a:r>
              <a:rPr lang="pt-BR">
                <a:solidFill>
                  <a:schemeClr val="accent5">
                    <a:lumMod val="40000"/>
                    <a:lumOff val="60000"/>
                  </a:schemeClr>
                </a:solidFill>
              </a:rPr>
              <a:t>Introdução às redes v7.0 (ITN)</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rtl="0"/>
            <a:r>
              <a:rPr lang="pt-BR"/>
              <a:t>Objetivos do módulo</a:t>
            </a:r>
          </a:p>
        </p:txBody>
      </p:sp>
      <p:sp>
        <p:nvSpPr>
          <p:cNvPr id="3" name="Rectangle 1">
            <a:extLst>
              <a:ext uri="{FF2B5EF4-FFF2-40B4-BE49-F238E27FC236}">
                <a16:creationId xmlns:a16="http://schemas.microsoft.com/office/drawing/2014/main" id="{B5758CB9-E7D6-4639-ACDC-3F86DC2D2F72}"/>
              </a:ext>
            </a:extLst>
          </p:cNvPr>
          <p:cNvSpPr>
            <a:spLocks noChangeArrowheads="1"/>
          </p:cNvSpPr>
          <p:nvPr/>
        </p:nvSpPr>
        <p:spPr bwMode="auto">
          <a:xfrm>
            <a:off x="364511" y="698645"/>
            <a:ext cx="8012573" cy="1354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false" sz="1600" b="true" i="false" u="none" strike="noStrike" cap="none" normalizeH="false" baseline="0" lang="pt-BR">
                <a:ln>
                  <a:noFill/>
                </a:ln>
                <a:solidFill>
                  <a:schemeClr val="tx1"/>
                </a:solidFill>
                <a:effectLst/>
                <a:latin typeface="+mn-lt"/>
                <a:ea typeface="Calibri" panose="020F0502020204030204" pitchFamily="34" charset="0"/>
                <a:cs typeface="Calibri" panose="020F0502020204030204" pitchFamily="34" charset="0"/>
              </a:rPr>
              <a:t>Título do Módulo: </a:t>
            </a:r>
            <a:r>
              <a:rPr kumimoji="false" sz="1600" b="false" i="false" u="none" strike="noStrike" cap="none" normalizeH="false" baseline="0" lang="pt-BR">
                <a:ln>
                  <a:noFill/>
                </a:ln>
                <a:solidFill>
                  <a:schemeClr val="tx1"/>
                </a:solidFill>
                <a:effectLst/>
                <a:latin typeface="+mn-lt"/>
                <a:ea typeface="Calibri" panose="020F0502020204030204" pitchFamily="34" charset="0"/>
                <a:cs typeface="Calibri" panose="020F0502020204030204" pitchFamily="34" charset="0"/>
              </a:rPr>
              <a:t>Camada de Link de Dados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false" sz="1600" b="true" i="false" u="none" strike="noStrike" cap="none" normalizeH="false" baseline="0" lang="pt-BR">
                <a:ln>
                  <a:noFill/>
                </a:ln>
                <a:solidFill>
                  <a:schemeClr val="tx1"/>
                </a:solidFill>
                <a:effectLst/>
                <a:latin typeface="+mn-lt"/>
                <a:ea typeface="Calibri" panose="020F0502020204030204" pitchFamily="34" charset="0"/>
                <a:cs typeface="Calibri" panose="020F0502020204030204" pitchFamily="34" charset="0"/>
              </a:rPr>
              <a:t>Objetivo do módulo</a:t>
            </a:r>
            <a:r>
              <a:rPr kumimoji="false" sz="1600" b="false" i="false" u="none" strike="noStrike" cap="none" normalizeH="false" baseline="0" lang="pt-BR">
                <a:ln>
                  <a:noFill/>
                </a:ln>
                <a:solidFill>
                  <a:schemeClr val="tx1"/>
                </a:solidFill>
                <a:effectLst/>
                <a:latin typeface="+mn-lt"/>
                <a:ea typeface="Calibri" panose="020F0502020204030204" pitchFamily="34" charset="0"/>
                <a:cs typeface="Calibri" panose="020F0502020204030204" pitchFamily="34" charset="0"/>
              </a:rPr>
              <a:t>: Explique como o controle de acesso à mídia na camada de enlace suporta a comunicação entre redes</a:t>
            </a:r>
            <a:r>
              <a:rPr kumimoji="false" sz="1200" b="false" i="false" u="none" strike="noStrike" cap="none" normalizeH="false" baseline="0" lang="pt-BR">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 name="Table 1">
            <a:extLst>
              <a:ext uri="{FF2B5EF4-FFF2-40B4-BE49-F238E27FC236}">
                <a16:creationId xmlns:a16="http://schemas.microsoft.com/office/drawing/2014/main" id="{E974E1EB-2DBE-496F-B0B0-6C44227DA401}"/>
              </a:ext>
            </a:extLst>
          </p:cNvPr>
          <p:cNvGraphicFramePr>
            <a:graphicFrameLocks noGrp="1"/>
          </p:cNvGraphicFramePr>
          <p:nvPr>
            <p:extLst>
              <p:ext uri="{D42A27DB-BD31-4B8C-83A1-F6EECF244321}">
                <p14:modId xmlns:p14="http://schemas.microsoft.com/office/powerpoint/2010/main" val="2728653368"/>
              </p:ext>
            </p:extLst>
          </p:nvPr>
        </p:nvGraphicFramePr>
        <p:xfrm>
          <a:off x="457677" y="2152014"/>
          <a:ext cx="7826240" cy="2192357"/>
        </p:xfrm>
        <a:graphic>
          <a:graphicData uri="http://schemas.openxmlformats.org/drawingml/2006/table">
            <a:tbl>
              <a:tblPr firstRow="1" firstCol="1" bandRow="1">
                <a:tableStyleId>{5C22544A-7EE6-4342-B048-85BDC9FD1C3A}</a:tableStyleId>
              </a:tblPr>
              <a:tblGrid>
                <a:gridCol w="3913120">
                  <a:extLst>
                    <a:ext uri="{9D8B030D-6E8A-4147-A177-3AD203B41FA5}">
                      <a16:colId xmlns:a16="http://schemas.microsoft.com/office/drawing/2014/main" val="1523797708"/>
                    </a:ext>
                  </a:extLst>
                </a:gridCol>
                <a:gridCol w="3913120">
                  <a:extLst>
                    <a:ext uri="{9D8B030D-6E8A-4147-A177-3AD203B41FA5}">
                      <a16:colId xmlns:a16="http://schemas.microsoft.com/office/drawing/2014/main" val="2750207184"/>
                    </a:ext>
                  </a:extLst>
                </a:gridCol>
              </a:tblGrid>
              <a:tr h="293684">
                <a:tc>
                  <a:txBody>
                    <a:bodyPr/>
                    <a:lstStyle/>
                    <a:p>
                      <a:pPr marL="0" marR="0" rtl="0">
                        <a:lnSpc>
                          <a:spcPct val="107000"/>
                        </a:lnSpc>
                        <a:spcBef>
                          <a:spcPts val="0"/>
                        </a:spcBef>
                        <a:spcAft>
                          <a:spcPts val="0"/>
                        </a:spcAft>
                      </a:pPr>
                      <a:r>
                        <a:rPr sz="1200" lang="pt-BR">
                          <a:effectLst/>
                        </a:rPr>
                        <a:t>Título do Tópico</a:t>
                      </a:r>
                    </a:p>
                  </a:txBody>
                  <a:tcPr marL="68580" marR="68580" marT="0" marB="0"/>
                </a:tc>
                <a:tc>
                  <a:txBody>
                    <a:bodyPr/>
                    <a:lstStyle/>
                    <a:p>
                      <a:pPr marL="0" marR="0" rtl="0">
                        <a:lnSpc>
                          <a:spcPct val="107000"/>
                        </a:lnSpc>
                        <a:spcBef>
                          <a:spcPts val="0"/>
                        </a:spcBef>
                        <a:spcAft>
                          <a:spcPts val="0"/>
                        </a:spcAft>
                      </a:pPr>
                      <a:r>
                        <a:rPr sz="1200" lang="pt-BR">
                          <a:effectLst/>
                        </a:rPr>
                        <a:t>Objetivo do Tópico</a:t>
                      </a:r>
                    </a:p>
                  </a:txBody>
                  <a:tcPr marL="68580" marR="68580" marT="0" marB="0"/>
                </a:tc>
                <a:extLst>
                  <a:ext uri="{0D108BD9-81ED-4DB2-BD59-A6C34878D82A}">
                    <a16:rowId xmlns:a16="http://schemas.microsoft.com/office/drawing/2014/main" val="1874061904"/>
                  </a:ext>
                </a:extLst>
              </a:tr>
              <a:tr h="783639">
                <a:tc>
                  <a:txBody>
                    <a:bodyPr/>
                    <a:lstStyle/>
                    <a:p>
                      <a:pPr marL="0" marR="0" rtl="0">
                        <a:lnSpc>
                          <a:spcPct val="107000"/>
                        </a:lnSpc>
                        <a:spcBef>
                          <a:spcPts val="0"/>
                        </a:spcBef>
                        <a:spcAft>
                          <a:spcPts val="0"/>
                        </a:spcAft>
                      </a:pPr>
                      <a:r>
                        <a:rPr sz="1200" lang="pt-BR">
                          <a:effectLst/>
                        </a:rPr>
                        <a:t>Finalidade da camada de link de dados</a:t>
                      </a:r>
                    </a:p>
                  </a:txBody>
                  <a:tcPr marL="68580" marR="68580" marT="0" marB="0"/>
                </a:tc>
                <a:tc>
                  <a:txBody>
                    <a:bodyPr/>
                    <a:lstStyle/>
                    <a:p>
                      <a:pPr marL="0" marR="0" rtl="0">
                        <a:lnSpc>
                          <a:spcPct val="107000"/>
                        </a:lnSpc>
                        <a:spcBef>
                          <a:spcPts val="0"/>
                        </a:spcBef>
                        <a:spcAft>
                          <a:spcPts val="0"/>
                        </a:spcAft>
                      </a:pPr>
                      <a:r>
                        <a:rPr sz="1200" kern="1200" lang="pt-BR">
                          <a:solidFill>
                            <a:schemeClr val="dk1"/>
                          </a:solidFill>
                          <a:effectLst/>
                          <a:latin typeface="+mn-lt"/>
                          <a:ea typeface="+mn-ea"/>
                          <a:cs typeface="+mn-cs"/>
                        </a:rPr>
                        <a:t>Descrever o objetivo e a função da camada de link de dados na preparação da comunicação para transmissão em determinado meio físico.</a:t>
                      </a:r>
                    </a:p>
                  </a:txBody>
                  <a:tcPr marL="68580" marR="68580" marT="0" marB="0"/>
                </a:tc>
                <a:extLst>
                  <a:ext uri="{0D108BD9-81ED-4DB2-BD59-A6C34878D82A}">
                    <a16:rowId xmlns:a16="http://schemas.microsoft.com/office/drawing/2014/main" val="1646858405"/>
                  </a:ext>
                </a:extLst>
              </a:tr>
              <a:tr h="512112">
                <a:tc>
                  <a:txBody>
                    <a:bodyPr/>
                    <a:lstStyle/>
                    <a:p>
                      <a:pPr marL="0" marR="0" rtl="0">
                        <a:lnSpc>
                          <a:spcPct val="107000"/>
                        </a:lnSpc>
                        <a:spcBef>
                          <a:spcPts val="0"/>
                        </a:spcBef>
                        <a:spcAft>
                          <a:spcPts val="0"/>
                        </a:spcAft>
                      </a:pPr>
                      <a:r>
                        <a:rPr sz="1200" lang="pt-BR">
                          <a:effectLst/>
                        </a:rPr>
                        <a:t>Topologias</a:t>
                      </a:r>
                    </a:p>
                  </a:txBody>
                  <a:tcPr marL="68580" marR="68580" marT="0" marB="0"/>
                </a:tc>
                <a:tc>
                  <a:txBody>
                    <a:bodyPr/>
                    <a:lstStyle/>
                    <a:p>
                      <a:pPr marL="0" marR="0" rtl="0">
                        <a:lnSpc>
                          <a:spcPct val="107000"/>
                        </a:lnSpc>
                        <a:spcBef>
                          <a:spcPts val="0"/>
                        </a:spcBef>
                        <a:spcAft>
                          <a:spcPts val="0"/>
                        </a:spcAft>
                      </a:pPr>
                      <a:r>
                        <a:rPr sz="1200" kern="1200" lang="pt-BR">
                          <a:solidFill>
                            <a:schemeClr val="dk1"/>
                          </a:solidFill>
                          <a:effectLst/>
                          <a:latin typeface="+mn-lt"/>
                          <a:ea typeface="+mn-ea"/>
                          <a:cs typeface="+mn-cs"/>
                        </a:rPr>
                        <a:t>Comparar as características de métodos de controle de acesso ao meio físico nas topologias WAN e LAN.</a:t>
                      </a:r>
                    </a:p>
                  </a:txBody>
                  <a:tcPr marL="68580" marR="68580" marT="0" marB="0"/>
                </a:tc>
                <a:extLst>
                  <a:ext uri="{0D108BD9-81ED-4DB2-BD59-A6C34878D82A}">
                    <a16:rowId xmlns:a16="http://schemas.microsoft.com/office/drawing/2014/main" val="1435904258"/>
                  </a:ext>
                </a:extLst>
              </a:tr>
              <a:tr h="602922">
                <a:tc>
                  <a:txBody>
                    <a:bodyPr/>
                    <a:lstStyle/>
                    <a:p>
                      <a:pPr marL="0" marR="0" rtl="0">
                        <a:lnSpc>
                          <a:spcPct val="107000"/>
                        </a:lnSpc>
                        <a:spcBef>
                          <a:spcPts val="0"/>
                        </a:spcBef>
                        <a:spcAft>
                          <a:spcPts val="0"/>
                        </a:spcAft>
                      </a:pPr>
                      <a:r>
                        <a:rPr sz="1200" lang="pt-BR">
                          <a:effectLst/>
                        </a:rPr>
                        <a:t>Quadro de link de dados</a:t>
                      </a:r>
                    </a:p>
                  </a:txBody>
                  <a:tcPr marL="68580" marR="68580" marT="0" marB="0"/>
                </a:tc>
                <a:tc>
                  <a:txBody>
                    <a:bodyPr/>
                    <a:lstStyle/>
                    <a:p>
                      <a:pPr marL="0" marR="0" rtl="0">
                        <a:lnSpc>
                          <a:spcPct val="107000"/>
                        </a:lnSpc>
                        <a:spcBef>
                          <a:spcPts val="0"/>
                        </a:spcBef>
                        <a:spcAft>
                          <a:spcPts val="0"/>
                        </a:spcAft>
                      </a:pPr>
                      <a:r>
                        <a:rPr sz="1200" lang="pt-BR">
                          <a:effectLst/>
                          <a:latin typeface="+mn-lt"/>
                          <a:ea typeface="Calibri" panose="020F0502020204030204" pitchFamily="34" charset="0"/>
                          <a:cs typeface="Calibri" panose="020F0502020204030204" pitchFamily="34" charset="0"/>
                        </a:rPr>
                        <a:t>Descrever as características e as funções do quadro de link de dados.</a:t>
                      </a:r>
                    </a:p>
                  </a:txBody>
                  <a:tcPr marL="68580" marR="68580" marT="0" marB="0"/>
                </a:tc>
                <a:extLst>
                  <a:ext uri="{0D108BD9-81ED-4DB2-BD59-A6C34878D82A}">
                    <a16:rowId xmlns:a16="http://schemas.microsoft.com/office/drawing/2014/main" val="131737215"/>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244338"/>
            <a:ext cx="7598042" cy="1473462"/>
          </a:xfrm>
        </p:spPr>
        <p:txBody>
          <a:bodyPr/>
          <a:lstStyle/>
          <a:p>
            <a:pPr rtl="0"/>
            <a:r>
              <a:rPr lang="pt-BR">
                <a:solidFill>
                  <a:schemeClr val="accent5">
                    <a:lumMod val="40000"/>
                    <a:lumOff val="60000"/>
                  </a:schemeClr>
                </a:solidFill>
              </a:rPr>
              <a:t>6.1 Finalidade da camada de enlace de dados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Objetivo da camada de vínculo de dados </a:t>
            </a:r>
            <a:br>
              <a:rPr lang="en-US" dirty="0"/>
            </a:br>
            <a:r>
              <a:rPr sz="2400" lang="pt-BR"/>
              <a:t>A camada de vínculo de dados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4140028" cy="3073946"/>
          </a:xfrm>
        </p:spPr>
        <p:txBody>
          <a:bodyPr/>
          <a:lstStyle/>
          <a:p>
            <a:pPr marL="342900" indent="-342900" algn="l" rtl="0">
              <a:buFont typeface="Arial" panose="020B0604020202020204" pitchFamily="34" charset="0"/>
              <a:buChar char="•"/>
            </a:pPr>
            <a:r>
              <a:rPr sz="1600" lang="pt-BR">
                <a:solidFill>
                  <a:srgbClr val="000000"/>
                </a:solidFill>
              </a:rPr>
              <a:t>A camada Data Link é responsável pelas comunicações entre placas de interface de rede do dispositivo final.</a:t>
            </a:r>
          </a:p>
          <a:p>
            <a:pPr marL="342900" indent="-342900" algn="l" rtl="0">
              <a:buFont typeface="Arial" panose="020B0604020202020204" pitchFamily="34" charset="0"/>
              <a:buChar char="•"/>
            </a:pPr>
            <a:r>
              <a:rPr sz="1600" lang="pt-BR">
                <a:solidFill>
                  <a:srgbClr val="000000"/>
                </a:solidFill>
              </a:rPr>
              <a:t>Ele permite que os protocolos de camada superior acessem a mídia da camada física e encapsula pacotes da Camada 3 (IPv4 e IPv6) em Frames da Camada 2.</a:t>
            </a:r>
          </a:p>
          <a:p>
            <a:pPr marL="342900" indent="-342900" algn="l" rtl="0">
              <a:buFont typeface="Arial" panose="020B0604020202020204" pitchFamily="34" charset="0"/>
              <a:buChar char="•"/>
            </a:pPr>
            <a:r>
              <a:rPr sz="1600" lang="pt-BR">
                <a:solidFill>
                  <a:srgbClr val="000000"/>
                </a:solidFill>
              </a:rPr>
              <a:t>Ele também executa a detecção de erros e rejeita quadros corrompidos.</a:t>
            </a: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6" name="Picture 5">
            <a:extLst>
              <a:ext uri="{FF2B5EF4-FFF2-40B4-BE49-F238E27FC236}">
                <a16:creationId xmlns:a16="http://schemas.microsoft.com/office/drawing/2014/main" id="{D6A2775E-EEA2-B340-AC65-D029824E8F00}"/>
              </a:ext>
            </a:extLst>
          </p:cNvPr>
          <p:cNvPicPr>
            <a:picLocks noChangeAspect="1"/>
          </p:cNvPicPr>
          <p:nvPr/>
        </p:nvPicPr>
        <p:blipFill>
          <a:blip r:embed="rId3"/>
          <a:stretch>
            <a:fillRect/>
          </a:stretch>
        </p:blipFill>
        <p:spPr>
          <a:xfrm>
            <a:off x="4769746" y="1046747"/>
            <a:ext cx="3823810" cy="2016626"/>
          </a:xfrm>
          <a:prstGeom prst="rect">
            <a:avLst/>
          </a:prstGeom>
        </p:spPr>
      </p:pic>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Objetivo da camada de enlace de dados</a:t>
            </a:r>
            <a:br>
              <a:rPr lang="en-US" dirty="0"/>
            </a:br>
            <a:r>
              <a:rPr sz="2400" lang="pt-BR"/>
              <a:t>IEEE 802 LAN/MAN Data Link Sublayers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97964" y="855419"/>
            <a:ext cx="4305820" cy="3683530"/>
          </a:xfrm>
        </p:spPr>
        <p:txBody>
          <a:bodyPr/>
          <a:lstStyle/>
          <a:p>
            <a:pPr marL="0" indent="0" algn="l" rtl="0"/>
            <a:r>
              <a:rPr sz="1600" lang="pt-BR">
                <a:solidFill>
                  <a:srgbClr val="000000"/>
                </a:solidFill>
              </a:rPr>
              <a:t>Os padrões IEEE 802 LAN/MAN são específicos para o tipo de rede (Ethernet, WLAN, WPAN, etc).</a:t>
            </a:r>
          </a:p>
          <a:p>
            <a:pPr marL="0" indent="0" algn="l"/>
            <a:endParaRPr lang="en-US" sz="1600" dirty="0">
              <a:solidFill>
                <a:srgbClr val="000000"/>
              </a:solidFill>
            </a:endParaRPr>
          </a:p>
          <a:p>
            <a:pPr marL="0" indent="0" algn="l" rtl="0"/>
            <a:r>
              <a:rPr sz="1600" lang="pt-BR">
                <a:solidFill>
                  <a:srgbClr val="000000"/>
                </a:solidFill>
              </a:rPr>
              <a:t>A Camada de Link de Dados consiste em duas subcamadas. </a:t>
            </a:r>
            <a:r>
              <a:rPr sz="1600" b="true" lang="pt-BR">
                <a:solidFill>
                  <a:srgbClr val="000000"/>
                </a:solidFill>
              </a:rPr>
              <a:t>Controle de Link Lógico (LLC)</a:t>
            </a:r>
            <a:r>
              <a:rPr sz="1600" lang="pt-BR">
                <a:solidFill>
                  <a:srgbClr val="000000"/>
                </a:solidFill>
              </a:rPr>
              <a:t> e </a:t>
            </a:r>
            <a:r>
              <a:rPr sz="1600" b="true" lang="pt-BR">
                <a:solidFill>
                  <a:srgbClr val="000000"/>
                </a:solidFill>
              </a:rPr>
              <a:t>Controle de Acesso a Mídia (MAC). </a:t>
            </a:r>
          </a:p>
          <a:p>
            <a:pPr marL="489010" lvl="2" indent="-342900" rtl="0">
              <a:buFont typeface="Arial" panose="020B0604020202020204" pitchFamily="34" charset="0"/>
              <a:buChar char="•"/>
            </a:pPr>
            <a:r>
              <a:rPr sz="1600" lang="pt-BR">
                <a:solidFill>
                  <a:srgbClr val="000000"/>
                </a:solidFill>
              </a:rPr>
              <a:t>A subcamada LLC se comunica entre o software de rede nas camadas superiores e o hardware do dispositivo nas camadas inferiores.</a:t>
            </a:r>
          </a:p>
          <a:p>
            <a:pPr marL="489010" lvl="2" indent="-342900" rtl="0">
              <a:buFont typeface="Arial" panose="020B0604020202020204" pitchFamily="34" charset="0"/>
              <a:buChar char="•"/>
            </a:pPr>
            <a:r>
              <a:rPr sz="1600" lang="pt-BR">
                <a:solidFill>
                  <a:srgbClr val="000000"/>
                </a:solidFill>
              </a:rPr>
              <a:t>A subcamada MAC é responsável pelo encapsulamento de dados e controle de acesso à mídia.</a:t>
            </a:r>
          </a:p>
          <a:p>
            <a:pPr marL="489010" lvl="2" indent="-342900">
              <a:buFont typeface="Arial" panose="020B0604020202020204" pitchFamily="34" charset="0"/>
              <a:buChar char="•"/>
            </a:pPr>
            <a:endParaRPr lang="en-US" sz="2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6" name="Picture 5">
            <a:extLst>
              <a:ext uri="{FF2B5EF4-FFF2-40B4-BE49-F238E27FC236}">
                <a16:creationId xmlns:a16="http://schemas.microsoft.com/office/drawing/2014/main" id="{34482E20-85AC-4A71-B6F1-35D714F52EA3}"/>
              </a:ext>
            </a:extLst>
          </p:cNvPr>
          <p:cNvPicPr>
            <a:picLocks noChangeAspect="1"/>
          </p:cNvPicPr>
          <p:nvPr/>
        </p:nvPicPr>
        <p:blipFill>
          <a:blip r:embed="rId3"/>
          <a:stretch>
            <a:fillRect/>
          </a:stretch>
        </p:blipFill>
        <p:spPr>
          <a:xfrm>
            <a:off x="4503783" y="855419"/>
            <a:ext cx="4640217" cy="3683530"/>
          </a:xfrm>
          <a:prstGeom prst="rect">
            <a:avLst/>
          </a:prstGeom>
        </p:spPr>
      </p:pic>
    </p:spTree>
    <p:extLst>
      <p:ext uri="{BB962C8B-B14F-4D97-AF65-F5344CB8AC3E}">
        <p14:creationId xmlns:p14="http://schemas.microsoft.com/office/powerpoint/2010/main" val="2622335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Objetivo da camada de enlace de dadosr</a:t>
            </a:r>
            <a:br>
              <a:rPr lang="en-US" dirty="0"/>
            </a:br>
            <a:r>
              <a:rPr sz="2400" lang="pt-BR"/>
              <a:t>Fornecendo acesso à mídia</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7913516" cy="3073946"/>
          </a:xfrm>
        </p:spPr>
        <p:txBody>
          <a:bodyPr/>
          <a:lstStyle/>
          <a:p>
            <a:pPr marL="0" indent="0" algn="l" rtl="0"/>
            <a:r>
              <a:rPr lang="pt-BR">
                <a:solidFill>
                  <a:srgbClr val="000000"/>
                </a:solidFill>
              </a:rPr>
              <a:t>Pacotes trocados entre nós podem enfrentar várias camadas de link de dados e transições de mídia.</a:t>
            </a:r>
          </a:p>
          <a:p>
            <a:pPr marL="0" indent="0" algn="l"/>
            <a:endParaRPr lang="en-US" dirty="0">
              <a:solidFill>
                <a:srgbClr val="000000"/>
              </a:solidFill>
            </a:endParaRPr>
          </a:p>
          <a:p>
            <a:pPr marL="0" indent="0" algn="l" rtl="0"/>
            <a:r>
              <a:rPr lang="pt-BR">
                <a:solidFill>
                  <a:srgbClr val="000000"/>
                </a:solidFill>
              </a:rPr>
              <a:t>Em cada salto ao longo do caminho, um roteador executa quatro funções básicas da Camada 2:</a:t>
            </a:r>
          </a:p>
          <a:p>
            <a:pPr marL="415985" lvl="1" indent="-342900" rtl="0">
              <a:buFont typeface="Arial" panose="020B0604020202020204" pitchFamily="34" charset="0"/>
              <a:buChar char="•"/>
            </a:pPr>
            <a:r>
              <a:rPr sz="1600" lang="pt-BR">
                <a:solidFill>
                  <a:srgbClr val="000000"/>
                </a:solidFill>
              </a:rPr>
              <a:t>Aceita um quadro da mídia de rede.</a:t>
            </a:r>
          </a:p>
          <a:p>
            <a:pPr marL="415985" lvl="1" indent="-342900" rtl="0">
              <a:buFont typeface="Arial" panose="020B0604020202020204" pitchFamily="34" charset="0"/>
              <a:buChar char="•"/>
            </a:pPr>
            <a:r>
              <a:rPr sz="1600" lang="pt-BR">
                <a:solidFill>
                  <a:srgbClr val="000000"/>
                </a:solidFill>
              </a:rPr>
              <a:t>Desencapsula o quadro para expor o pacote encapsulado.</a:t>
            </a:r>
          </a:p>
          <a:p>
            <a:pPr marL="415985" lvl="1" indent="-342900" rtl="0"/>
            <a:r>
              <a:rPr sz="1600" lang="pt-BR">
                <a:solidFill>
                  <a:srgbClr val="000000"/>
                </a:solidFill>
              </a:rPr>
              <a:t>Encapsula novamente o pacote em um novo quadro.</a:t>
            </a:r>
          </a:p>
          <a:p>
            <a:pPr marL="415985" lvl="1" indent="-342900" rtl="0"/>
            <a:r>
              <a:rPr sz="1600" lang="pt-BR">
                <a:solidFill>
                  <a:srgbClr val="000000"/>
                </a:solidFill>
              </a:rPr>
              <a:t>Encaminha o novo quadro no meio do próximo segmento de rede.</a:t>
            </a:r>
          </a:p>
          <a:p>
            <a:pPr marL="415985" lvl="1" indent="-342900">
              <a:buFont typeface="Arial" panose="020B0604020202020204" pitchFamily="34" charset="0"/>
              <a:buChar char="•"/>
            </a:pPr>
            <a:endParaRPr lang="en-US" dirty="0">
              <a:solidFill>
                <a:srgbClr val="000000"/>
              </a:solidFill>
            </a:endParaRPr>
          </a:p>
          <a:p>
            <a:pPr marL="489010" lvl="2" indent="-342900">
              <a:buFont typeface="Arial" panose="020B0604020202020204" pitchFamily="34" charset="0"/>
              <a:buChar char="•"/>
            </a:pPr>
            <a:endParaRPr lang="en-US" sz="2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060275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3E1FC63F-1738-4F20-B656-0C076A42FFC9}"/>
              </a:ext>
            </a:extLst>
          </p:cNvPr>
          <p:cNvSpPr>
            <a:spLocks noGrp="1"/>
          </p:cNvSpPr>
          <p:nvPr>
            <p:ph type="title"/>
          </p:nvPr>
        </p:nvSpPr>
        <p:spPr>
          <a:xfrm>
            <a:off x="0" y="0"/>
            <a:ext cx="8345488" cy="731838"/>
          </a:xfrm>
        </p:spPr>
        <p:txBody>
          <a:bodyPr/>
          <a:lstStyle/>
          <a:p>
            <a:pPr rtl="0"/>
            <a:r>
              <a:rPr sz="1600" lang="pt-BR"/>
              <a:t>Objetivo da camada de enlace de dados</a:t>
            </a:r>
            <a:br>
              <a:rPr lang="en-US" dirty="0"/>
            </a:br>
            <a:r>
              <a:rPr sz="2400" lang="pt-BR"/>
              <a:t>Padrões da camada de enlace de dados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3746328" cy="3073946"/>
          </a:xfrm>
        </p:spPr>
        <p:txBody>
          <a:bodyPr/>
          <a:lstStyle/>
          <a:p>
            <a:pPr marL="0" indent="0" algn="l" rtl="0"/>
            <a:r>
              <a:rPr lang="pt-BR">
                <a:solidFill>
                  <a:srgbClr val="000000"/>
                </a:solidFill>
              </a:rPr>
              <a:t>Os protocolos de camada de link de dados são definidos por organizações de engenharia:</a:t>
            </a:r>
          </a:p>
          <a:p>
            <a:pPr marL="415985" lvl="1" indent="-342900" rtl="0">
              <a:buFont typeface="Arial" panose="020B0604020202020204" pitchFamily="34" charset="0"/>
              <a:buChar char="•"/>
            </a:pPr>
            <a:r>
              <a:rPr sz="1600" lang="pt-BR">
                <a:solidFill>
                  <a:srgbClr val="000000"/>
                </a:solidFill>
              </a:rPr>
              <a:t>Instituto de Engenheiros Elétricos e Eletrônicos (IEEE).</a:t>
            </a:r>
          </a:p>
          <a:p>
            <a:pPr marL="415985" lvl="1" indent="-342900" rtl="0">
              <a:buFont typeface="Arial" panose="020B0604020202020204" pitchFamily="34" charset="0"/>
              <a:buChar char="•"/>
            </a:pPr>
            <a:r>
              <a:rPr sz="1600" lang="pt-BR">
                <a:solidFill>
                  <a:srgbClr val="000000"/>
                </a:solidFill>
              </a:rPr>
              <a:t>União Internacional de Telecomunicações (UIT).</a:t>
            </a:r>
          </a:p>
          <a:p>
            <a:pPr marL="415985" lvl="1" indent="-342900" rtl="0">
              <a:buFont typeface="Arial" panose="020B0604020202020204" pitchFamily="34" charset="0"/>
              <a:buChar char="•"/>
            </a:pPr>
            <a:r>
              <a:rPr sz="1600" lang="pt-BR">
                <a:solidFill>
                  <a:srgbClr val="000000"/>
                </a:solidFill>
              </a:rPr>
              <a:t>Organizações Internacionais de Normalização (ISO).</a:t>
            </a:r>
          </a:p>
          <a:p>
            <a:pPr marL="415985" lvl="1" indent="-342900" rtl="0">
              <a:buFont typeface="Arial" panose="020B0604020202020204" pitchFamily="34" charset="0"/>
              <a:buChar char="•"/>
            </a:pPr>
            <a:r>
              <a:rPr sz="1600" lang="pt-BR">
                <a:solidFill>
                  <a:srgbClr val="000000"/>
                </a:solidFill>
              </a:rPr>
              <a:t>Instituto Nacional Americano de Padrões (ANSI).</a:t>
            </a:r>
          </a:p>
          <a:p>
            <a:pPr marL="342900" indent="-342900" algn="l">
              <a:buFont typeface="Arial" panose="020B0604020202020204" pitchFamily="34" charset="0"/>
              <a:buChar char="•"/>
            </a:pPr>
            <a:endParaRPr lang="en-US" sz="1600" dirty="0">
              <a:solidFill>
                <a:srgbClr val="000000"/>
              </a:solidFill>
            </a:endParaRPr>
          </a:p>
          <a:p>
            <a:pPr marL="489010" lvl="2" indent="-342900">
              <a:buFont typeface="Arial" panose="020B0604020202020204" pitchFamily="34" charset="0"/>
              <a:buChar char="•"/>
            </a:pPr>
            <a:endParaRPr lang="en-US" sz="2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81E48A9C-7AC9-4385-99A6-E88DD132E6DB}"/>
              </a:ext>
            </a:extLst>
          </p:cNvPr>
          <p:cNvPicPr>
            <a:picLocks noChangeAspect="1"/>
          </p:cNvPicPr>
          <p:nvPr/>
        </p:nvPicPr>
        <p:blipFill>
          <a:blip r:embed="rId3"/>
          <a:stretch>
            <a:fillRect/>
          </a:stretch>
        </p:blipFill>
        <p:spPr>
          <a:xfrm>
            <a:off x="4572000" y="855419"/>
            <a:ext cx="4055062" cy="2768600"/>
          </a:xfrm>
          <a:prstGeom prst="rect">
            <a:avLst/>
          </a:prstGeom>
        </p:spPr>
      </p:pic>
    </p:spTree>
    <p:extLst>
      <p:ext uri="{BB962C8B-B14F-4D97-AF65-F5344CB8AC3E}">
        <p14:creationId xmlns:p14="http://schemas.microsoft.com/office/powerpoint/2010/main" val="122100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pt-BR">
                <a:solidFill>
                  <a:schemeClr val="accent5">
                    <a:lumMod val="40000"/>
                    <a:lumOff val="60000"/>
                  </a:schemeClr>
                </a:solidFill>
              </a:rPr>
              <a:t>6.2 Topologias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Topologias </a:t>
            </a:r>
            <a:br>
              <a:rPr lang="en-US" dirty="0"/>
            </a:br>
            <a:r>
              <a:rPr sz="2400" lang="pt-BR"/>
              <a:t>Topologias físicas e lógicas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8280400" cy="3073400"/>
          </a:xfrm>
        </p:spPr>
        <p:txBody>
          <a:bodyPr/>
          <a:lstStyle/>
          <a:p>
            <a:pPr marL="0" indent="0" algn="l" rtl="0"/>
            <a:r>
              <a:rPr sz="1800" lang="pt-BR">
                <a:solidFill>
                  <a:srgbClr val="000000"/>
                </a:solidFill>
              </a:rPr>
              <a:t>A topologia de uma rede é o arranjo e o relacionamento dos dispositivos de rede e as interconexões entre eles.</a:t>
            </a:r>
          </a:p>
          <a:p>
            <a:pPr marL="0" indent="0" algn="l"/>
            <a:endParaRPr lang="en-US" sz="1800" dirty="0">
              <a:solidFill>
                <a:srgbClr val="000000"/>
              </a:solidFill>
            </a:endParaRPr>
          </a:p>
          <a:p>
            <a:pPr marL="0" indent="0" algn="l" rtl="0"/>
            <a:r>
              <a:rPr sz="1800" lang="pt-BR">
                <a:solidFill>
                  <a:srgbClr val="000000"/>
                </a:solidFill>
              </a:rPr>
              <a:t>Existem dois tipos de topologias usadas ao descrever redes:</a:t>
            </a:r>
          </a:p>
          <a:p>
            <a:pPr marL="415985" lvl="1" indent="-342900" rtl="0">
              <a:buFont typeface="Arial" panose="020B0604020202020204" pitchFamily="34" charset="0"/>
              <a:buChar char="•"/>
            </a:pPr>
            <a:r>
              <a:rPr sz="1800" b="true" lang="pt-BR">
                <a:solidFill>
                  <a:srgbClr val="000000"/>
                </a:solidFill>
              </a:rPr>
              <a:t>Topologia física </a:t>
            </a:r>
            <a:r>
              <a:rPr sz="1800" lang="pt-BR">
                <a:solidFill>
                  <a:srgbClr val="000000"/>
                </a:solidFill>
              </a:rPr>
              <a:t>— mostra as conexões físicas e como os dispositivos estão interligados. </a:t>
            </a:r>
          </a:p>
          <a:p>
            <a:pPr marL="415985" lvl="1" indent="-342900" rtl="0">
              <a:buFont typeface="Arial" panose="020B0604020202020204" pitchFamily="34" charset="0"/>
              <a:buChar char="•"/>
            </a:pPr>
            <a:r>
              <a:rPr sz="1800" b="true" lang="pt-BR">
                <a:solidFill>
                  <a:srgbClr val="000000"/>
                </a:solidFill>
              </a:rPr>
              <a:t>Topologia lógica </a:t>
            </a:r>
            <a:r>
              <a:rPr sz="1800" lang="pt-BR">
                <a:solidFill>
                  <a:srgbClr val="000000"/>
                </a:solidFill>
              </a:rPr>
              <a:t>— identifica as conexões virtuais entre dispositivos usando interfaces de dispositivo e esquemas de endereçamento IP. </a:t>
            </a:r>
          </a:p>
          <a:p>
            <a:pPr marL="342900" indent="-342900" algn="l">
              <a:buFont typeface="Arial" panose="020B0604020202020204" pitchFamily="34" charset="0"/>
              <a:buChar char="•"/>
            </a:pPr>
            <a:endParaRPr lang="en-US" sz="1600" dirty="0">
              <a:solidFill>
                <a:srgbClr val="000000"/>
              </a:solidFill>
            </a:endParaRPr>
          </a:p>
          <a:p>
            <a:pPr marL="489010" lvl="2" indent="-342900">
              <a:buFont typeface="Arial" panose="020B0604020202020204" pitchFamily="34" charset="0"/>
              <a:buChar char="•"/>
            </a:pPr>
            <a:endParaRPr lang="en-US" sz="2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2569503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Topologias</a:t>
            </a:r>
            <a:br>
              <a:rPr lang="en-US" dirty="0"/>
            </a:br>
            <a:r>
              <a:rPr sz="2400" lang="pt-BR"/>
              <a:t>WAN Topologias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943508"/>
            <a:ext cx="8280400" cy="2804664"/>
          </a:xfrm>
        </p:spPr>
        <p:txBody>
          <a:bodyPr/>
          <a:lstStyle/>
          <a:p>
            <a:pPr marL="0" indent="0" algn="l" rtl="0"/>
            <a:r>
              <a:rPr sz="1800" lang="pt-BR">
                <a:solidFill>
                  <a:srgbClr val="000000"/>
                </a:solidFill>
              </a:rPr>
              <a:t>Existem três topologias físicas comuns da WAN: </a:t>
            </a:r>
          </a:p>
          <a:p>
            <a:pPr marL="415985" lvl="1" indent="-342900" rtl="0">
              <a:buFont typeface="Arial" panose="020B0604020202020204" pitchFamily="34" charset="0"/>
              <a:buChar char="•"/>
            </a:pPr>
            <a:r>
              <a:rPr sz="1800" b="true" lang="pt-BR">
                <a:solidFill>
                  <a:srgbClr val="000000"/>
                </a:solidFill>
              </a:rPr>
              <a:t>Ponto a ponto</a:t>
            </a:r>
            <a:r>
              <a:rPr sz="1800" lang="pt-BR">
                <a:solidFill>
                  <a:srgbClr val="000000"/>
                </a:solidFill>
              </a:rPr>
              <a:t> — a topologia WAN mais simples e comum. Consiste em uma ligação permanente entre dois pontos finais. </a:t>
            </a:r>
          </a:p>
          <a:p>
            <a:pPr marL="415985" lvl="1" indent="-342900" rtl="0">
              <a:buFont typeface="Arial" panose="020B0604020202020204" pitchFamily="34" charset="0"/>
              <a:buChar char="•"/>
            </a:pPr>
            <a:r>
              <a:rPr sz="1800" b="true" lang="pt-BR">
                <a:solidFill>
                  <a:srgbClr val="000000"/>
                </a:solidFill>
              </a:rPr>
              <a:t>Hub e spoke </a:t>
            </a:r>
            <a:r>
              <a:rPr sz="1800" lang="pt-BR">
                <a:solidFill>
                  <a:srgbClr val="000000"/>
                </a:solidFill>
              </a:rPr>
              <a:t>- semelhante a uma topologia em estrela, na qual um site central interconecta sites de filial por meio de links ponto a ponto.</a:t>
            </a:r>
          </a:p>
          <a:p>
            <a:pPr marL="415985" lvl="1" indent="-342900" rtl="0">
              <a:buFont typeface="Arial" panose="020B0604020202020204" pitchFamily="34" charset="0"/>
              <a:buChar char="•"/>
            </a:pPr>
            <a:r>
              <a:rPr sz="1800" b="true" lang="pt-BR">
                <a:solidFill>
                  <a:srgbClr val="000000"/>
                </a:solidFill>
              </a:rPr>
              <a:t>Malha</a:t>
            </a:r>
            <a:r>
              <a:rPr sz="1800" lang="pt-BR">
                <a:solidFill>
                  <a:srgbClr val="000000"/>
                </a:solidFill>
              </a:rPr>
              <a:t> - fornece alta disponibilidade, mas requer que todos os sistemas finais estejam conectados a todos os outros sistemas finais.</a:t>
            </a:r>
          </a:p>
          <a:p>
            <a:pPr marL="342900" indent="-342900" algn="l">
              <a:buFont typeface="Arial" panose="020B0604020202020204" pitchFamily="34" charset="0"/>
              <a:buChar char="•"/>
            </a:pPr>
            <a:endParaRPr lang="en-US" sz="1600" dirty="0">
              <a:solidFill>
                <a:srgbClr val="000000"/>
              </a:solidFill>
            </a:endParaRPr>
          </a:p>
          <a:p>
            <a:pPr marL="489010" lvl="2" indent="-342900">
              <a:buFont typeface="Arial" panose="020B0604020202020204" pitchFamily="34" charset="0"/>
              <a:buChar char="•"/>
            </a:pPr>
            <a:endParaRPr lang="en-US" sz="2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4106652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Topologias </a:t>
            </a:r>
            <a:br>
              <a:rPr lang="en-US" dirty="0"/>
            </a:br>
            <a:r>
              <a:rPr sz="2400" lang="pt-BR"/>
              <a:t>Topologia de WAN ponto a ponto</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8280400" cy="1536700"/>
          </a:xfrm>
        </p:spPr>
        <p:txBody>
          <a:bodyPr/>
          <a:lstStyle/>
          <a:p>
            <a:pPr marL="342900" indent="-342900" algn="l" rtl="0">
              <a:buFont typeface="Arial" panose="020B0604020202020204" pitchFamily="34" charset="0"/>
              <a:buChar char="•"/>
            </a:pPr>
            <a:r>
              <a:rPr lang="pt-BR">
                <a:solidFill>
                  <a:srgbClr val="000000"/>
                </a:solidFill>
              </a:rPr>
              <a:t>As topologias ponto a ponto físicas conectam diretamente dois nós.</a:t>
            </a:r>
          </a:p>
          <a:p>
            <a:pPr marL="342900" indent="-342900" algn="l" rtl="0">
              <a:buFont typeface="Arial" panose="020B0604020202020204" pitchFamily="34" charset="0"/>
              <a:buChar char="•"/>
            </a:pPr>
            <a:r>
              <a:rPr lang="pt-BR">
                <a:solidFill>
                  <a:srgbClr val="000000"/>
                </a:solidFill>
              </a:rPr>
              <a:t>Os nós não podem compartilhar a mídia com outros hosts.</a:t>
            </a:r>
          </a:p>
          <a:p>
            <a:pPr marL="342900" indent="-342900" algn="l" rtl="0">
              <a:buFont typeface="Arial" panose="020B0604020202020204" pitchFamily="34" charset="0"/>
              <a:buChar char="•"/>
            </a:pPr>
            <a:r>
              <a:rPr lang="pt-BR">
                <a:solidFill>
                  <a:srgbClr val="000000"/>
                </a:solidFill>
              </a:rPr>
              <a:t>Como todos os quadros na mídia só podem viajar de ou para os dois nós, os protocolos WAN Ponto a Ponto podem ser muito simples.</a:t>
            </a:r>
          </a:p>
          <a:p>
            <a:pPr marL="342900" indent="-342900" algn="l">
              <a:buFont typeface="Arial" panose="020B0604020202020204" pitchFamily="34" charset="0"/>
              <a:buChar char="•"/>
            </a:pPr>
            <a:endParaRPr lang="en-US" sz="1600" dirty="0">
              <a:solidFill>
                <a:srgbClr val="000000"/>
              </a:solidFill>
            </a:endParaRPr>
          </a:p>
          <a:p>
            <a:pPr marL="489010" lvl="2" indent="-342900">
              <a:buFont typeface="Arial" panose="020B0604020202020204" pitchFamily="34" charset="0"/>
              <a:buChar char="•"/>
            </a:pPr>
            <a:endParaRPr lang="en-US" sz="2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0" indent="0" algn="l"/>
            <a:endParaRPr lang="en-US" sz="1600" dirty="0">
              <a:solidFill>
                <a:srgbClr val="000000"/>
              </a:solidFill>
            </a:endParaRPr>
          </a:p>
        </p:txBody>
      </p:sp>
      <p:pic>
        <p:nvPicPr>
          <p:cNvPr id="4" name="Picture 3">
            <a:extLst>
              <a:ext uri="{FF2B5EF4-FFF2-40B4-BE49-F238E27FC236}">
                <a16:creationId xmlns:a16="http://schemas.microsoft.com/office/drawing/2014/main" id="{5238DFB8-7E4C-49CD-931F-4C4AC96133F5}"/>
              </a:ext>
            </a:extLst>
          </p:cNvPr>
          <p:cNvPicPr>
            <a:picLocks noChangeAspect="1"/>
          </p:cNvPicPr>
          <p:nvPr/>
        </p:nvPicPr>
        <p:blipFill>
          <a:blip r:embed="rId3"/>
          <a:stretch>
            <a:fillRect/>
          </a:stretch>
        </p:blipFill>
        <p:spPr>
          <a:xfrm>
            <a:off x="839410" y="2874963"/>
            <a:ext cx="6666667" cy="1590476"/>
          </a:xfrm>
          <a:prstGeom prst="rect">
            <a:avLst/>
          </a:prstGeom>
        </p:spPr>
      </p:pic>
    </p:spTree>
    <p:extLst>
      <p:ext uri="{BB962C8B-B14F-4D97-AF65-F5344CB8AC3E}">
        <p14:creationId xmlns:p14="http://schemas.microsoft.com/office/powerpoint/2010/main" val="1876099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Topologias</a:t>
            </a:r>
            <a:br>
              <a:rPr lang="en-US" dirty="0"/>
            </a:br>
            <a:r>
              <a:rPr sz="2400" lang="pt-BR"/>
              <a:t>LAN Topologias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138440" y="826265"/>
            <a:ext cx="4047061" cy="3613533"/>
          </a:xfrm>
        </p:spPr>
        <p:txBody>
          <a:bodyPr/>
          <a:lstStyle/>
          <a:p>
            <a:pPr marL="0" indent="0" algn="l" rtl="0"/>
            <a:r>
              <a:rPr sz="1600" lang="pt-BR">
                <a:solidFill>
                  <a:srgbClr val="000000"/>
                </a:solidFill>
              </a:rPr>
              <a:t>Os dispositivos finais em LANs são normalmente interconectados usando uma topologia estrela ou estelar estendida. Topologias estrelas e estrelas estendidas são fáceis de instalar, muito escaláveis e fáceis de solucionar problemas.</a:t>
            </a:r>
          </a:p>
          <a:p>
            <a:pPr marL="0" indent="0" algn="l"/>
            <a:endParaRPr lang="en-US" sz="1600" dirty="0">
              <a:solidFill>
                <a:srgbClr val="000000"/>
              </a:solidFill>
            </a:endParaRPr>
          </a:p>
          <a:p>
            <a:pPr marL="0" indent="0" algn="l" rtl="0"/>
            <a:r>
              <a:rPr sz="1600" lang="pt-BR">
                <a:solidFill>
                  <a:srgbClr val="000000"/>
                </a:solidFill>
              </a:rPr>
              <a:t>As tecnologias Early Ethernet e Token Ring Legacy fornecem duas topologias adicionais:</a:t>
            </a:r>
          </a:p>
          <a:p>
            <a:pPr marL="415985" lvl="1" indent="-342900" rtl="0">
              <a:buFont typeface="Arial" panose="020B0604020202020204" pitchFamily="34" charset="0"/>
              <a:buChar char="•"/>
            </a:pPr>
            <a:r>
              <a:rPr sz="1600" b="true" lang="pt-BR">
                <a:solidFill>
                  <a:srgbClr val="000000"/>
                </a:solidFill>
              </a:rPr>
              <a:t>Barramento</a:t>
            </a:r>
            <a:r>
              <a:rPr sz="1600" lang="pt-BR">
                <a:solidFill>
                  <a:srgbClr val="000000"/>
                </a:solidFill>
              </a:rPr>
              <a:t> - Todos os sistemas finais encadeados e terminados em cada extremidade.</a:t>
            </a:r>
          </a:p>
          <a:p>
            <a:pPr marL="415985" lvl="1" indent="-342900" rtl="0">
              <a:buFont typeface="Arial" panose="020B0604020202020204" pitchFamily="34" charset="0"/>
              <a:buChar char="•"/>
            </a:pPr>
            <a:r>
              <a:rPr sz="1600" b="true" lang="pt-BR">
                <a:solidFill>
                  <a:srgbClr val="000000"/>
                </a:solidFill>
              </a:rPr>
              <a:t>Anel </a:t>
            </a:r>
            <a:r>
              <a:rPr sz="1600" lang="pt-BR">
                <a:solidFill>
                  <a:srgbClr val="000000"/>
                </a:solidFill>
              </a:rPr>
              <a:t>— Cada sistema final é conectado aos seus respectivos vizinhos para formar um anel. </a:t>
            </a:r>
          </a:p>
          <a:p>
            <a:pPr marL="342900" indent="-342900" algn="l">
              <a:buFont typeface="Arial" panose="020B0604020202020204" pitchFamily="34" charset="0"/>
              <a:buChar char="•"/>
            </a:pPr>
            <a:endParaRPr lang="en-US" sz="1600" dirty="0">
              <a:solidFill>
                <a:srgbClr val="000000"/>
              </a:solidFill>
            </a:endParaRPr>
          </a:p>
          <a:p>
            <a:pPr marL="489010" lvl="2" indent="-342900">
              <a:buFont typeface="Arial" panose="020B0604020202020204" pitchFamily="34" charset="0"/>
              <a:buChar char="•"/>
            </a:pPr>
            <a:endParaRPr lang="en-US" sz="2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4" name="Content Placeholder 3">
            <a:extLst>
              <a:ext uri="{FF2B5EF4-FFF2-40B4-BE49-F238E27FC236}">
                <a16:creationId xmlns:a16="http://schemas.microsoft.com/office/drawing/2014/main" id="{FF75D65E-B72F-4095-958C-B321F7C577A5}"/>
              </a:ext>
            </a:extLst>
          </p:cNvPr>
          <p:cNvPicPr>
            <a:picLocks noGrp="1" noChangeAspect="1"/>
          </p:cNvPicPr>
          <p:nvPr/>
        </p:nvPicPr>
        <p:blipFill>
          <a:blip r:embed="rId3"/>
          <a:stretch>
            <a:fillRect/>
          </a:stretch>
        </p:blipFill>
        <p:spPr>
          <a:xfrm>
            <a:off x="4185501" y="681400"/>
            <a:ext cx="4820059" cy="3781980"/>
          </a:xfrm>
          <a:prstGeom prst="rect">
            <a:avLst/>
          </a:prstGeom>
        </p:spPr>
      </p:pic>
    </p:spTree>
    <p:extLst>
      <p:ext uri="{BB962C8B-B14F-4D97-AF65-F5344CB8AC3E}">
        <p14:creationId xmlns:p14="http://schemas.microsoft.com/office/powerpoint/2010/main" val="3383700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B8166C4A-518E-4846-A274-363AAE5FF01D}"/>
              </a:ext>
            </a:extLst>
          </p:cNvPr>
          <p:cNvSpPr txBox="1">
            <a:spLocks/>
          </p:cNvSpPr>
          <p:nvPr/>
        </p:nvSpPr>
        <p:spPr bwMode="auto">
          <a:xfrm>
            <a:off x="0" y="0"/>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lvl1pPr algn="l" defTabSz="684213" rtl="0" eaLnBrk="1" fontAlgn="base" hangingPunct="1">
              <a:lnSpc>
                <a:spcPct val="80000"/>
              </a:lnSpc>
              <a:spcBef>
                <a:spcPct val="0"/>
              </a:spcBef>
              <a:spcAft>
                <a:spcPct val="0"/>
              </a:spcAft>
              <a:defRPr lang="en-US" sz="3200" kern="1200">
                <a:solidFill>
                  <a:srgbClr val="004C69"/>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pPr rtl="0"/>
            <a:r>
              <a:rPr sz="1600" lang="pt-BR"/>
              <a:t>Topologias</a:t>
            </a:r>
            <a:br>
              <a:rPr lang="en-US" dirty="0"/>
            </a:br>
            <a:r>
              <a:rPr sz="2400" lang="pt-BR"/>
              <a:t>Half e Full Duplex Comunicação</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8280400" cy="3073400"/>
          </a:xfrm>
        </p:spPr>
        <p:txBody>
          <a:bodyPr/>
          <a:lstStyle/>
          <a:p>
            <a:pPr marL="0" indent="0" algn="l" rtl="0"/>
            <a:r>
              <a:rPr sz="1600" b="true" lang="pt-BR">
                <a:solidFill>
                  <a:srgbClr val="000000"/>
                </a:solidFill>
              </a:rPr>
              <a:t>Comunicação half-duplex</a:t>
            </a:r>
          </a:p>
          <a:p>
            <a:pPr marL="415985" lvl="1" indent="-342900" rtl="0">
              <a:buFont typeface="Arial" panose="020B0604020202020204" pitchFamily="34" charset="0"/>
              <a:buChar char="•"/>
            </a:pPr>
            <a:r>
              <a:rPr sz="1600" lang="pt-BR">
                <a:solidFill>
                  <a:srgbClr val="000000"/>
                </a:solidFill>
              </a:rPr>
              <a:t>Só permite que um dispositivo envie ou receba de cada vez em uma mídia compartilhada.</a:t>
            </a:r>
          </a:p>
          <a:p>
            <a:pPr marL="415985" lvl="1" indent="-342900" rtl="0">
              <a:buFont typeface="Arial" panose="020B0604020202020204" pitchFamily="34" charset="0"/>
              <a:buChar char="•"/>
            </a:pPr>
            <a:r>
              <a:rPr sz="1600" lang="pt-BR">
                <a:solidFill>
                  <a:srgbClr val="000000"/>
                </a:solidFill>
              </a:rPr>
              <a:t>Usado em WLANs e topologias de barramento herdadas com hubs Ethernet.</a:t>
            </a:r>
          </a:p>
          <a:p>
            <a:pPr marL="0" indent="0" algn="l"/>
            <a:endParaRPr lang="en-US" sz="1600" b="1" dirty="0">
              <a:solidFill>
                <a:srgbClr val="000000"/>
              </a:solidFill>
            </a:endParaRPr>
          </a:p>
          <a:p>
            <a:pPr marL="0" indent="0" algn="l" rtl="0"/>
            <a:r>
              <a:rPr sz="1600" b="true" lang="pt-BR">
                <a:solidFill>
                  <a:srgbClr val="000000"/>
                </a:solidFill>
              </a:rPr>
              <a:t>Comunicação full-duplex</a:t>
            </a:r>
          </a:p>
          <a:p>
            <a:pPr marL="415985" lvl="1" indent="-342900" rtl="0">
              <a:buFont typeface="Arial" panose="020B0604020202020204" pitchFamily="34" charset="0"/>
              <a:buChar char="•"/>
            </a:pPr>
            <a:r>
              <a:rPr sz="1600" lang="pt-BR">
                <a:solidFill>
                  <a:srgbClr val="000000"/>
                </a:solidFill>
              </a:rPr>
              <a:t>Permite que ambos os dispositivos transmitam e recebam simultaneamente em uma mídia compartilhada.</a:t>
            </a:r>
          </a:p>
          <a:p>
            <a:pPr marL="415985" lvl="1" indent="-342900" rtl="0">
              <a:buFont typeface="Arial" panose="020B0604020202020204" pitchFamily="34" charset="0"/>
              <a:buChar char="•"/>
            </a:pPr>
            <a:r>
              <a:rPr sz="1600" lang="pt-BR">
                <a:solidFill>
                  <a:srgbClr val="000000"/>
                </a:solidFill>
              </a:rPr>
              <a:t>Os comutadores Ethernet operam no modo full-duplex.</a:t>
            </a:r>
          </a:p>
          <a:p>
            <a:pPr marL="342900" indent="-342900" algn="l">
              <a:buFont typeface="Arial" panose="020B0604020202020204" pitchFamily="34" charset="0"/>
              <a:buChar char="•"/>
            </a:pPr>
            <a:endParaRPr lang="en-US" sz="1600" dirty="0">
              <a:solidFill>
                <a:srgbClr val="000000"/>
              </a:solidFill>
            </a:endParaRPr>
          </a:p>
          <a:p>
            <a:pPr marL="489010" lvl="2" indent="-342900">
              <a:buFont typeface="Arial" panose="020B0604020202020204" pitchFamily="34" charset="0"/>
              <a:buChar char="•"/>
            </a:pPr>
            <a:endParaRPr lang="en-US" sz="2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535034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B8166C4A-518E-4846-A274-363AAE5FF01D}"/>
              </a:ext>
            </a:extLst>
          </p:cNvPr>
          <p:cNvSpPr txBox="1">
            <a:spLocks/>
          </p:cNvSpPr>
          <p:nvPr/>
        </p:nvSpPr>
        <p:spPr bwMode="auto">
          <a:xfrm>
            <a:off x="0" y="0"/>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lvl1pPr algn="l" defTabSz="684213" rtl="0" eaLnBrk="1" fontAlgn="base" hangingPunct="1">
              <a:lnSpc>
                <a:spcPct val="80000"/>
              </a:lnSpc>
              <a:spcBef>
                <a:spcPct val="0"/>
              </a:spcBef>
              <a:spcAft>
                <a:spcPct val="0"/>
              </a:spcAft>
              <a:defRPr lang="en-US" sz="3200" kern="1200">
                <a:solidFill>
                  <a:srgbClr val="004C69"/>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pPr rtl="0"/>
            <a:r>
              <a:rPr sz="1600" lang="pt-BR"/>
              <a:t>Topologias</a:t>
            </a:r>
            <a:br>
              <a:rPr lang="en-US" dirty="0"/>
            </a:br>
            <a:r>
              <a:rPr sz="2400" lang="pt-BR"/>
              <a:t>Métodos de controle de acesso</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8280400" cy="3073400"/>
          </a:xfrm>
        </p:spPr>
        <p:txBody>
          <a:bodyPr/>
          <a:lstStyle/>
          <a:p>
            <a:pPr marL="0" indent="0" algn="l" rtl="0"/>
            <a:r>
              <a:rPr sz="1600" b="true" lang="pt-BR">
                <a:solidFill>
                  <a:srgbClr val="000000"/>
                </a:solidFill>
              </a:rPr>
              <a:t>Acesso baseado em contenção</a:t>
            </a:r>
          </a:p>
          <a:p>
            <a:pPr marL="73085" lvl="1" indent="0" rtl="0">
              <a:buNone/>
            </a:pPr>
            <a:r>
              <a:rPr sz="1600" lang="pt-BR">
                <a:solidFill>
                  <a:srgbClr val="000000"/>
                </a:solidFill>
              </a:rPr>
              <a:t>Todos os nós operando em half-duplex, competindo pelo uso do meio. Os exemplos são:</a:t>
            </a:r>
          </a:p>
          <a:p>
            <a:pPr marL="489010" lvl="2" indent="-342900" rtl="0">
              <a:buFont typeface="Arial" panose="020B0604020202020204" pitchFamily="34" charset="0"/>
              <a:buChar char="•"/>
            </a:pPr>
            <a:r>
              <a:rPr sz="1600" lang="pt-BR">
                <a:solidFill>
                  <a:srgbClr val="000000"/>
                </a:solidFill>
              </a:rPr>
              <a:t>A operadora detecta o acesso múltiplo com detecção de colisão (CSMA / CD) conforme usado na Ethernet de topologia de barramento herdada.</a:t>
            </a:r>
          </a:p>
          <a:p>
            <a:pPr marL="489010" lvl="2" indent="-342900" rtl="0">
              <a:buFont typeface="Arial" panose="020B0604020202020204" pitchFamily="34" charset="0"/>
              <a:buChar char="•"/>
            </a:pPr>
            <a:r>
              <a:rPr sz="1600" lang="pt-BR">
                <a:solidFill>
                  <a:srgbClr val="000000"/>
                </a:solidFill>
              </a:rPr>
              <a:t>A operadora detecta o acesso múltiplo com prevenção de colisão (CSMA / CA), conforme usado nas LANs sem fio.</a:t>
            </a:r>
          </a:p>
          <a:p>
            <a:pPr marL="146110" lvl="2" indent="0">
              <a:buNone/>
            </a:pPr>
            <a:endParaRPr lang="en-US" sz="1600" dirty="0">
              <a:solidFill>
                <a:srgbClr val="000000"/>
              </a:solidFill>
            </a:endParaRPr>
          </a:p>
          <a:p>
            <a:pPr marL="0" indent="0" algn="l" rtl="0"/>
            <a:r>
              <a:rPr sz="1600" b="true" lang="pt-BR">
                <a:solidFill>
                  <a:srgbClr val="000000"/>
                </a:solidFill>
              </a:rPr>
              <a:t>Acesso controlado</a:t>
            </a:r>
          </a:p>
          <a:p>
            <a:pPr marL="415985" lvl="1" indent="-342900" rtl="0">
              <a:buFont typeface="Arial" panose="020B0604020202020204" pitchFamily="34" charset="0"/>
              <a:buChar char="•"/>
            </a:pPr>
            <a:r>
              <a:rPr sz="1600" lang="pt-BR">
                <a:solidFill>
                  <a:srgbClr val="000000"/>
                </a:solidFill>
              </a:rPr>
              <a:t>Acesso determinístico onde cada nó tem seu próprio tempo no meio.</a:t>
            </a:r>
          </a:p>
          <a:p>
            <a:pPr marL="415985" lvl="1" indent="-342900" rtl="0">
              <a:buFont typeface="Arial" panose="020B0604020202020204" pitchFamily="34" charset="0"/>
              <a:buChar char="•"/>
            </a:pPr>
            <a:r>
              <a:rPr sz="1600" lang="pt-BR">
                <a:solidFill>
                  <a:srgbClr val="000000"/>
                </a:solidFill>
              </a:rPr>
              <a:t>Usado em redes herdadas, como Token Ring e ARCNET.</a:t>
            </a:r>
          </a:p>
          <a:p>
            <a:pPr marL="342900" indent="-342900" algn="l">
              <a:buFont typeface="Arial" panose="020B0604020202020204" pitchFamily="34" charset="0"/>
              <a:buChar char="•"/>
            </a:pPr>
            <a:endParaRPr lang="en-US" sz="1600" dirty="0">
              <a:solidFill>
                <a:srgbClr val="000000"/>
              </a:solidFill>
            </a:endParaRPr>
          </a:p>
          <a:p>
            <a:pPr marL="489010" lvl="2" indent="-342900">
              <a:buFont typeface="Arial" panose="020B0604020202020204" pitchFamily="34" charset="0"/>
              <a:buChar char="•"/>
            </a:pPr>
            <a:endParaRPr lang="en-US" sz="2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599561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B8166C4A-518E-4846-A274-363AAE5FF01D}"/>
              </a:ext>
            </a:extLst>
          </p:cNvPr>
          <p:cNvSpPr txBox="1">
            <a:spLocks/>
          </p:cNvSpPr>
          <p:nvPr/>
        </p:nvSpPr>
        <p:spPr bwMode="auto">
          <a:xfrm>
            <a:off x="0" y="0"/>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lvl1pPr algn="l" defTabSz="684213" rtl="0" eaLnBrk="1" fontAlgn="base" hangingPunct="1">
              <a:lnSpc>
                <a:spcPct val="80000"/>
              </a:lnSpc>
              <a:spcBef>
                <a:spcPct val="0"/>
              </a:spcBef>
              <a:spcAft>
                <a:spcPct val="0"/>
              </a:spcAft>
              <a:defRPr lang="en-US" sz="3200" kern="1200">
                <a:solidFill>
                  <a:srgbClr val="004C69"/>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pPr rtl="0"/>
            <a:r>
              <a:rPr sz="1600" lang="pt-BR"/>
              <a:t>Topologias</a:t>
            </a:r>
            <a:br>
              <a:rPr lang="en-US" dirty="0"/>
            </a:br>
            <a:r>
              <a:rPr sz="2400" lang="pt-BR"/>
              <a:t> - Acesso baseado em conteúdo - CSMA/CD</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49"/>
            <a:ext cx="8280400" cy="3393731"/>
          </a:xfrm>
        </p:spPr>
        <p:txBody>
          <a:bodyPr/>
          <a:lstStyle/>
          <a:p>
            <a:pPr marL="0" indent="0" algn="l" rtl="0"/>
            <a:r>
              <a:rPr sz="1600" b="true" lang="pt-BR">
                <a:solidFill>
                  <a:srgbClr val="000000"/>
                </a:solidFill>
              </a:rPr>
              <a:t>CSMA/CD</a:t>
            </a:r>
          </a:p>
          <a:p>
            <a:pPr marL="415985" lvl="1" indent="-342900" rtl="0">
              <a:buFont typeface="Arial" panose="020B0604020202020204" pitchFamily="34" charset="0"/>
              <a:buChar char="•"/>
            </a:pPr>
            <a:r>
              <a:rPr sz="1600" lang="pt-BR">
                <a:solidFill>
                  <a:srgbClr val="000000"/>
                </a:solidFill>
              </a:rPr>
              <a:t>Usado por LANs Ethernet herdadas.</a:t>
            </a:r>
          </a:p>
          <a:p>
            <a:pPr marL="415985" lvl="1" indent="-342900" rtl="0">
              <a:buFont typeface="Arial" panose="020B0604020202020204" pitchFamily="34" charset="0"/>
              <a:buChar char="•"/>
            </a:pPr>
            <a:r>
              <a:rPr sz="1600" lang="pt-BR">
                <a:solidFill>
                  <a:srgbClr val="000000"/>
                </a:solidFill>
              </a:rPr>
              <a:t>Funciona no modo half-duplex onde apenas um dispositivo envia ou recebe de cada vez.</a:t>
            </a:r>
          </a:p>
          <a:p>
            <a:pPr marL="415985" lvl="1" indent="-342900" rtl="0">
              <a:buFont typeface="Arial" panose="020B0604020202020204" pitchFamily="34" charset="0"/>
              <a:buChar char="•"/>
            </a:pPr>
            <a:r>
              <a:rPr sz="1600" lang="pt-BR">
                <a:solidFill>
                  <a:srgbClr val="000000"/>
                </a:solidFill>
              </a:rPr>
              <a:t>Usa um processo de detecção de colisão para controlar quando um dispositivo pode enviar e o que acontece se vários dispositivos enviarem ao mesmo tempo.</a:t>
            </a:r>
          </a:p>
          <a:p>
            <a:pPr marL="73085" lvl="1" indent="0">
              <a:buNone/>
            </a:pPr>
            <a:endParaRPr lang="en-US" sz="1600" dirty="0">
              <a:solidFill>
                <a:srgbClr val="000000"/>
              </a:solidFill>
            </a:endParaRPr>
          </a:p>
          <a:p>
            <a:pPr marL="73085" lvl="1" indent="0" rtl="0">
              <a:buNone/>
            </a:pPr>
            <a:r>
              <a:rPr sz="1600" b="true" lang="pt-BR">
                <a:solidFill>
                  <a:srgbClr val="000000"/>
                </a:solidFill>
              </a:rPr>
              <a:t>Processo de detecção de colisão CSMA/CD</a:t>
            </a:r>
            <a:r>
              <a:rPr sz="1600" lang="pt-BR">
                <a:solidFill>
                  <a:srgbClr val="000000"/>
                </a:solidFill>
              </a:rPr>
              <a:t>:</a:t>
            </a:r>
          </a:p>
          <a:p>
            <a:pPr marL="489010" lvl="2" indent="-342900" rtl="0">
              <a:buFont typeface="Arial" panose="020B0604020202020204" pitchFamily="34" charset="0"/>
              <a:buChar char="•"/>
            </a:pPr>
            <a:r>
              <a:rPr sz="1600" lang="pt-BR">
                <a:solidFill>
                  <a:srgbClr val="000000"/>
                </a:solidFill>
              </a:rPr>
              <a:t>Dispositivos que transmitem simultaneamente resultarão em uma colisão de sinal na mídia compartilhada.</a:t>
            </a:r>
          </a:p>
          <a:p>
            <a:pPr marL="489010" lvl="2" indent="-342900" rtl="0">
              <a:buFont typeface="Arial" panose="020B0604020202020204" pitchFamily="34" charset="0"/>
              <a:buChar char="•"/>
            </a:pPr>
            <a:r>
              <a:rPr sz="1600" lang="pt-BR">
                <a:solidFill>
                  <a:srgbClr val="000000"/>
                </a:solidFill>
              </a:rPr>
              <a:t>Dispositivos detectam a colisão.</a:t>
            </a:r>
          </a:p>
          <a:p>
            <a:pPr marL="489010" lvl="2" indent="-342900" rtl="0">
              <a:buFont typeface="Arial" panose="020B0604020202020204" pitchFamily="34" charset="0"/>
              <a:buChar char="•"/>
            </a:pPr>
            <a:r>
              <a:rPr sz="1600" lang="pt-BR">
                <a:solidFill>
                  <a:srgbClr val="000000"/>
                </a:solidFill>
              </a:rPr>
              <a:t>Os dispositivos aguardam um período aleatório de tempo e retransmitem dados.</a:t>
            </a:r>
          </a:p>
          <a:p>
            <a:pPr marL="146110" lvl="2" indent="0">
              <a:buNone/>
            </a:pPr>
            <a:endParaRPr lang="en-US" dirty="0">
              <a:solidFill>
                <a:srgbClr val="000000"/>
              </a:solidFill>
            </a:endParaRPr>
          </a:p>
          <a:p>
            <a:pPr marL="0" indent="0" algn="l"/>
            <a:endParaRPr lang="en-US" sz="1600" dirty="0">
              <a:solidFill>
                <a:srgbClr val="000000"/>
              </a:solidFill>
            </a:endParaRPr>
          </a:p>
          <a:p>
            <a:pPr marL="489010" lvl="2" indent="-342900">
              <a:buFont typeface="Arial" panose="020B0604020202020204" pitchFamily="34" charset="0"/>
              <a:buChar char="•"/>
            </a:pPr>
            <a:endParaRPr lang="en-US" sz="2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059020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B8166C4A-518E-4846-A274-363AAE5FF01D}"/>
              </a:ext>
            </a:extLst>
          </p:cNvPr>
          <p:cNvSpPr txBox="1">
            <a:spLocks/>
          </p:cNvSpPr>
          <p:nvPr/>
        </p:nvSpPr>
        <p:spPr bwMode="auto">
          <a:xfrm>
            <a:off x="0" y="0"/>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lvl1pPr algn="l" defTabSz="684213" rtl="0" eaLnBrk="1" fontAlgn="base" hangingPunct="1">
              <a:lnSpc>
                <a:spcPct val="80000"/>
              </a:lnSpc>
              <a:spcBef>
                <a:spcPct val="0"/>
              </a:spcBef>
              <a:spcAft>
                <a:spcPct val="0"/>
              </a:spcAft>
              <a:defRPr lang="en-US" sz="3200" kern="1200">
                <a:solidFill>
                  <a:srgbClr val="004C69"/>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pPr rtl="0"/>
            <a:r>
              <a:rPr sz="1600" lang="pt-BR"/>
              <a:t>Topologias</a:t>
            </a:r>
            <a:br>
              <a:rPr lang="en-US" dirty="0"/>
            </a:br>
            <a:r>
              <a:rPr sz="2400" lang="pt-BR"/>
              <a:t>Acesso baseado em conteúdo - CSMA/CA</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8280400" cy="3073400"/>
          </a:xfrm>
        </p:spPr>
        <p:txBody>
          <a:bodyPr/>
          <a:lstStyle/>
          <a:p>
            <a:pPr marL="0" indent="0" algn="l" rtl="0"/>
            <a:r>
              <a:rPr sz="1600" b="true" lang="pt-BR">
                <a:solidFill>
                  <a:srgbClr val="000000"/>
                </a:solidFill>
              </a:rPr>
              <a:t>CSMA/CA</a:t>
            </a:r>
          </a:p>
          <a:p>
            <a:pPr marL="415985" lvl="1" indent="-342900" rtl="0">
              <a:buFont typeface="Arial" panose="020B0604020202020204" pitchFamily="34" charset="0"/>
              <a:buChar char="•"/>
            </a:pPr>
            <a:r>
              <a:rPr sz="1600" lang="pt-BR">
                <a:solidFill>
                  <a:srgbClr val="000000"/>
                </a:solidFill>
              </a:rPr>
              <a:t>Usado por WLANs IEEE 802.11.</a:t>
            </a:r>
          </a:p>
          <a:p>
            <a:pPr marL="415985" lvl="1" indent="-342900" rtl="0">
              <a:buFont typeface="Arial" panose="020B0604020202020204" pitchFamily="34" charset="0"/>
              <a:buChar char="•"/>
            </a:pPr>
            <a:r>
              <a:rPr sz="1600" lang="pt-BR">
                <a:solidFill>
                  <a:srgbClr val="000000"/>
                </a:solidFill>
              </a:rPr>
              <a:t>Funciona no modo half-duplex onde apenas um dispositivo envia ou recebe de cada vez.</a:t>
            </a:r>
          </a:p>
          <a:p>
            <a:pPr marL="415985" lvl="1" indent="-342900" rtl="0">
              <a:buFont typeface="Arial" panose="020B0604020202020204" pitchFamily="34" charset="0"/>
              <a:buChar char="•"/>
            </a:pPr>
            <a:r>
              <a:rPr sz="1600" lang="pt-BR">
                <a:solidFill>
                  <a:srgbClr val="000000"/>
                </a:solidFill>
              </a:rPr>
              <a:t>Usa um processo de prevenção de colisão para controlar quando um dispositivo pode enviar e o que acontece se vários dispositivos enviarem ao mesmo tempo.</a:t>
            </a:r>
          </a:p>
          <a:p>
            <a:pPr marL="73085" lvl="1" indent="0">
              <a:buNone/>
            </a:pPr>
            <a:endParaRPr lang="en-US" sz="1600" dirty="0">
              <a:solidFill>
                <a:srgbClr val="000000"/>
              </a:solidFill>
            </a:endParaRPr>
          </a:p>
          <a:p>
            <a:pPr marL="0" lvl="1" indent="0" defTabSz="457105" fontAlgn="auto" rtl="0">
              <a:lnSpc>
                <a:spcPct val="100000"/>
              </a:lnSpc>
              <a:spcBef>
                <a:spcPct val="20000"/>
              </a:spcBef>
              <a:spcAft>
                <a:spcPts val="0"/>
              </a:spcAft>
              <a:buClrTx/>
              <a:buNone/>
            </a:pPr>
            <a:r>
              <a:rPr sz="1600" b="true" lang="pt-BR">
                <a:solidFill>
                  <a:srgbClr val="000000"/>
                </a:solidFill>
              </a:rPr>
              <a:t>Processo de prevenção de colisão CSMA/CA</a:t>
            </a:r>
            <a:r>
              <a:rPr sz="1600" lang="pt-BR">
                <a:solidFill>
                  <a:srgbClr val="000000"/>
                </a:solidFill>
              </a:rPr>
              <a:t>:</a:t>
            </a:r>
          </a:p>
          <a:p>
            <a:pPr marL="415985" lvl="1" indent="-342900" rtl="0">
              <a:buFont typeface="Arial" panose="020B0604020202020204" pitchFamily="34" charset="0"/>
              <a:buChar char="•"/>
            </a:pPr>
            <a:r>
              <a:rPr sz="1600" lang="pt-BR">
                <a:solidFill>
                  <a:srgbClr val="000000"/>
                </a:solidFill>
              </a:rPr>
              <a:t>Ao transmitir, os dispositivos também incluem a duração de tempo necessária para a transmissão.</a:t>
            </a:r>
          </a:p>
          <a:p>
            <a:pPr marL="415985" lvl="1" indent="-342900" rtl="0">
              <a:buFont typeface="Arial" panose="020B0604020202020204" pitchFamily="34" charset="0"/>
              <a:buChar char="•"/>
            </a:pPr>
            <a:r>
              <a:rPr sz="1600" lang="pt-BR">
                <a:solidFill>
                  <a:srgbClr val="000000"/>
                </a:solidFill>
              </a:rPr>
              <a:t>Outros dispositivos na mídia compartilhada recebem as informações de duração do tempo e sabem por quanto tempo a mídia ficará indisponível.</a:t>
            </a:r>
          </a:p>
          <a:p>
            <a:pPr marL="489010" lvl="2" indent="-342900">
              <a:buFont typeface="Arial" panose="020B0604020202020204" pitchFamily="34" charset="0"/>
              <a:buChar char="•"/>
            </a:pPr>
            <a:endParaRPr lang="en-US" dirty="0">
              <a:solidFill>
                <a:srgbClr val="000000"/>
              </a:solidFill>
            </a:endParaRPr>
          </a:p>
          <a:p>
            <a:pPr marL="0" indent="0" algn="l"/>
            <a:endParaRPr lang="en-US" sz="1600" dirty="0">
              <a:solidFill>
                <a:srgbClr val="000000"/>
              </a:solidFill>
            </a:endParaRPr>
          </a:p>
          <a:p>
            <a:pPr marL="489010" lvl="2" indent="-342900">
              <a:buFont typeface="Arial" panose="020B0604020202020204" pitchFamily="34" charset="0"/>
              <a:buChar char="•"/>
            </a:pPr>
            <a:endParaRPr lang="en-US" sz="2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594353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pt-BR">
                <a:solidFill>
                  <a:schemeClr val="accent5">
                    <a:lumMod val="40000"/>
                    <a:lumOff val="60000"/>
                  </a:schemeClr>
                </a:solidFill>
              </a:rPr>
              <a:t>6.3 Quadro de link de dados</a:t>
            </a:r>
          </a:p>
        </p:txBody>
      </p:sp>
    </p:spTree>
    <p:custDataLst>
      <p:tags r:id="rId1"/>
    </p:custDataLst>
    <p:extLst>
      <p:ext uri="{BB962C8B-B14F-4D97-AF65-F5344CB8AC3E}">
        <p14:creationId xmlns:p14="http://schemas.microsoft.com/office/powerpoint/2010/main" val="473391011"/>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Quadro de enlace de dados </a:t>
            </a:r>
            <a:br>
              <a:rPr lang="en-US" dirty="0"/>
            </a:br>
            <a:r>
              <a:rPr sz="2400" lang="pt-BR"/>
              <a:t>O quadro</a:t>
            </a:r>
          </a:p>
        </p:txBody>
      </p:sp>
      <p:sp>
        <p:nvSpPr>
          <p:cNvPr id="5" name="Content Placeholder 4">
            <a:extLst>
              <a:ext uri="{FF2B5EF4-FFF2-40B4-BE49-F238E27FC236}">
                <a16:creationId xmlns:a16="http://schemas.microsoft.com/office/drawing/2014/main" id="{CC4F0493-B526-DE4A-B220-F79C82C4F124}"/>
              </a:ext>
            </a:extLst>
          </p:cNvPr>
          <p:cNvSpPr>
            <a:spLocks noGrp="1"/>
          </p:cNvSpPr>
          <p:nvPr>
            <p:ph idx="1"/>
          </p:nvPr>
        </p:nvSpPr>
        <p:spPr>
          <a:xfrm>
            <a:off x="431971" y="902311"/>
            <a:ext cx="8280057" cy="3505566"/>
          </a:xfrm>
        </p:spPr>
        <p:txBody>
          <a:bodyPr/>
          <a:lstStyle/>
          <a:p>
            <a:pPr marL="0" indent="0" algn="l" rtl="0"/>
            <a:r>
              <a:rPr sz="1600" lang="pt-BR">
                <a:solidFill>
                  <a:srgbClr val="000000"/>
                </a:solidFill>
              </a:rPr>
              <a:t>Os dados são encapsulados pela camada de link de dados com um cabeçalho e um trailer para formar um quadro.</a:t>
            </a:r>
          </a:p>
          <a:p>
            <a:pPr marL="0" indent="0" algn="l" rtl="0"/>
            <a:r>
              <a:rPr sz="1600" lang="pt-BR">
                <a:solidFill>
                  <a:srgbClr val="000000"/>
                </a:solidFill>
              </a:rPr>
              <a:t>Um quadro de link de dados tem três partes:</a:t>
            </a:r>
          </a:p>
          <a:p>
            <a:pPr marL="415985" lvl="1" indent="-342900" rtl="0">
              <a:buFont typeface="Arial" panose="020B0604020202020204" pitchFamily="34" charset="0"/>
              <a:buChar char="•"/>
            </a:pPr>
            <a:r>
              <a:rPr sz="1600" lang="pt-BR">
                <a:solidFill>
                  <a:srgbClr val="000000"/>
                </a:solidFill>
              </a:rPr>
              <a:t>Cabeçalho</a:t>
            </a:r>
          </a:p>
          <a:p>
            <a:pPr marL="415985" lvl="1" indent="-342900" rtl="0">
              <a:buFont typeface="Arial" panose="020B0604020202020204" pitchFamily="34" charset="0"/>
              <a:buChar char="•"/>
            </a:pPr>
            <a:r>
              <a:rPr sz="1600" lang="pt-BR">
                <a:solidFill>
                  <a:srgbClr val="000000"/>
                </a:solidFill>
              </a:rPr>
              <a:t>Dados</a:t>
            </a:r>
          </a:p>
          <a:p>
            <a:pPr marL="415985" lvl="1" indent="-342900" rtl="0">
              <a:buFont typeface="Arial" panose="020B0604020202020204" pitchFamily="34" charset="0"/>
              <a:buChar char="•"/>
            </a:pPr>
            <a:r>
              <a:rPr sz="1600" lang="pt-BR">
                <a:solidFill>
                  <a:srgbClr val="000000"/>
                </a:solidFill>
              </a:rPr>
              <a:t>Trailer</a:t>
            </a:r>
          </a:p>
          <a:p>
            <a:pPr marL="0" lvl="1" indent="0" defTabSz="457105" fontAlgn="auto" rtl="0">
              <a:lnSpc>
                <a:spcPct val="100000"/>
              </a:lnSpc>
              <a:spcBef>
                <a:spcPct val="20000"/>
              </a:spcBef>
              <a:spcAft>
                <a:spcPts val="0"/>
              </a:spcAft>
              <a:buClrTx/>
              <a:buNone/>
            </a:pPr>
            <a:r>
              <a:rPr sz="1600" lang="pt-BR">
                <a:solidFill>
                  <a:srgbClr val="000000"/>
                </a:solidFill>
              </a:rPr>
              <a:t>Os campos do cabeçalho e do trailer variam de acordo com o protocolo da camada de link de dados.</a:t>
            </a:r>
          </a:p>
          <a:p>
            <a:pPr marL="0" lvl="1" indent="0" defTabSz="457105" fontAlgn="auto">
              <a:lnSpc>
                <a:spcPct val="100000"/>
              </a:lnSpc>
              <a:spcBef>
                <a:spcPct val="20000"/>
              </a:spcBef>
              <a:spcAft>
                <a:spcPts val="0"/>
              </a:spcAft>
              <a:buClrTx/>
              <a:buNone/>
            </a:pPr>
            <a:endParaRPr lang="en-US" sz="1600" dirty="0">
              <a:solidFill>
                <a:srgbClr val="000000"/>
              </a:solidFill>
            </a:endParaRPr>
          </a:p>
          <a:p>
            <a:pPr marL="0" lvl="1" indent="0" defTabSz="457105" fontAlgn="auto" rtl="0">
              <a:lnSpc>
                <a:spcPct val="100000"/>
              </a:lnSpc>
              <a:spcBef>
                <a:spcPct val="20000"/>
              </a:spcBef>
              <a:spcAft>
                <a:spcPts val="0"/>
              </a:spcAft>
              <a:buClrTx/>
              <a:buNone/>
            </a:pPr>
            <a:r>
              <a:rPr sz="1600" lang="pt-BR">
                <a:solidFill>
                  <a:srgbClr val="000000"/>
                </a:solidFill>
              </a:rPr>
              <a:t>A quantidade de informações de controle transportadas no quadro varia de acordo com as informações de controle de acesso e a topologia lógica.</a:t>
            </a:r>
          </a:p>
        </p:txBody>
      </p:sp>
    </p:spTree>
    <p:extLst>
      <p:ext uri="{BB962C8B-B14F-4D97-AF65-F5344CB8AC3E}">
        <p14:creationId xmlns:p14="http://schemas.microsoft.com/office/powerpoint/2010/main" val="394579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Quadro de enlace de dados </a:t>
            </a:r>
            <a:br>
              <a:rPr lang="en-US" dirty="0"/>
            </a:br>
            <a:r>
              <a:rPr sz="2400" lang="pt-BR"/>
              <a:t>Campos do quadro</a:t>
            </a:r>
          </a:p>
        </p:txBody>
      </p:sp>
      <p:graphicFrame>
        <p:nvGraphicFramePr>
          <p:cNvPr id="6" name="Content Placeholder 6">
            <a:extLst>
              <a:ext uri="{FF2B5EF4-FFF2-40B4-BE49-F238E27FC236}">
                <a16:creationId xmlns:a16="http://schemas.microsoft.com/office/drawing/2014/main" id="{D7B87715-3E1C-4D1E-9428-D7A3628B1901}"/>
              </a:ext>
            </a:extLst>
          </p:cNvPr>
          <p:cNvGraphicFramePr>
            <a:graphicFrameLocks/>
          </p:cNvGraphicFramePr>
          <p:nvPr>
            <p:extLst>
              <p:ext uri="{D42A27DB-BD31-4B8C-83A1-F6EECF244321}">
                <p14:modId xmlns:p14="http://schemas.microsoft.com/office/powerpoint/2010/main" val="700472035"/>
              </p:ext>
            </p:extLst>
          </p:nvPr>
        </p:nvGraphicFramePr>
        <p:xfrm>
          <a:off x="474662" y="2749860"/>
          <a:ext cx="8237366" cy="1828491"/>
        </p:xfrm>
        <a:graphic>
          <a:graphicData uri="http://schemas.openxmlformats.org/drawingml/2006/table">
            <a:tbl>
              <a:tblPr firstRow="1" bandRow="1">
                <a:tableStyleId>{5C22544A-7EE6-4342-B048-85BDC9FD1C3A}</a:tableStyleId>
              </a:tblPr>
              <a:tblGrid>
                <a:gridCol w="2501847">
                  <a:extLst>
                    <a:ext uri="{9D8B030D-6E8A-4147-A177-3AD203B41FA5}">
                      <a16:colId xmlns:a16="http://schemas.microsoft.com/office/drawing/2014/main" val="3729139006"/>
                    </a:ext>
                  </a:extLst>
                </a:gridCol>
                <a:gridCol w="5735519">
                  <a:extLst>
                    <a:ext uri="{9D8B030D-6E8A-4147-A177-3AD203B41FA5}">
                      <a16:colId xmlns:a16="http://schemas.microsoft.com/office/drawing/2014/main" val="1988913492"/>
                    </a:ext>
                  </a:extLst>
                </a:gridCol>
              </a:tblGrid>
              <a:tr h="0">
                <a:tc>
                  <a:txBody>
                    <a:bodyPr/>
                    <a:lstStyle/>
                    <a:p>
                      <a:pPr rtl="0"/>
                      <a:r>
                        <a:rPr sz="1100" lang="pt-BR"/>
                        <a:t>Campo</a:t>
                      </a:r>
                    </a:p>
                  </a:txBody>
                  <a:tcPr/>
                </a:tc>
                <a:tc>
                  <a:txBody>
                    <a:bodyPr/>
                    <a:lstStyle/>
                    <a:p>
                      <a:pPr rtl="0"/>
                      <a:r>
                        <a:rPr sz="1100" lang="pt-BR"/>
                        <a:t>Descrição</a:t>
                      </a:r>
                    </a:p>
                  </a:txBody>
                  <a:tcPr/>
                </a:tc>
                <a:extLst>
                  <a:ext uri="{0D108BD9-81ED-4DB2-BD59-A6C34878D82A}">
                    <a16:rowId xmlns:a16="http://schemas.microsoft.com/office/drawing/2014/main" val="2583676789"/>
                  </a:ext>
                </a:extLst>
              </a:tr>
              <a:tr h="0">
                <a:tc>
                  <a:txBody>
                    <a:bodyPr/>
                    <a:lstStyle/>
                    <a:p>
                      <a:pPr rtl="0"/>
                      <a:r>
                        <a:rPr sz="1100" lang="pt-BR">
                          <a:solidFill>
                            <a:srgbClr val="000000"/>
                          </a:solidFill>
                        </a:rPr>
                        <a:t>Frame Start e Stop</a:t>
                      </a:r>
                    </a:p>
                  </a:txBody>
                  <a:tcPr/>
                </a:tc>
                <a:tc>
                  <a:txBody>
                    <a:bodyPr/>
                    <a:lstStyle/>
                    <a:p>
                      <a:pPr rtl="0"/>
                      <a:r>
                        <a:rPr sz="1100" lang="pt-BR">
                          <a:solidFill>
                            <a:srgbClr val="000000"/>
                          </a:solidFill>
                        </a:rPr>
                        <a:t>Identifica o início e o fim do quadro</a:t>
                      </a:r>
                    </a:p>
                  </a:txBody>
                  <a:tcPr/>
                </a:tc>
                <a:extLst>
                  <a:ext uri="{0D108BD9-81ED-4DB2-BD59-A6C34878D82A}">
                    <a16:rowId xmlns:a16="http://schemas.microsoft.com/office/drawing/2014/main" val="3849654457"/>
                  </a:ext>
                </a:extLst>
              </a:tr>
              <a:tr h="170900">
                <a:tc>
                  <a:txBody>
                    <a:bodyPr/>
                    <a:lstStyle/>
                    <a:p>
                      <a:pPr rtl="0"/>
                      <a:r>
                        <a:rPr sz="1100" lang="pt-BR">
                          <a:solidFill>
                            <a:srgbClr val="000000"/>
                          </a:solidFill>
                        </a:rPr>
                        <a:t>Endereçamento</a:t>
                      </a:r>
                    </a:p>
                  </a:txBody>
                  <a:tcPr/>
                </a:tc>
                <a:tc>
                  <a:txBody>
                    <a:bodyPr/>
                    <a:lstStyle/>
                    <a:p>
                      <a:pPr rtl="0"/>
                      <a:r>
                        <a:rPr sz="1100" lang="pt-BR">
                          <a:solidFill>
                            <a:srgbClr val="000000"/>
                          </a:solidFill>
                        </a:rPr>
                        <a:t>Indica nós de origem e destino</a:t>
                      </a:r>
                    </a:p>
                  </a:txBody>
                  <a:tcPr/>
                </a:tc>
                <a:extLst>
                  <a:ext uri="{0D108BD9-81ED-4DB2-BD59-A6C34878D82A}">
                    <a16:rowId xmlns:a16="http://schemas.microsoft.com/office/drawing/2014/main" val="235735172"/>
                  </a:ext>
                </a:extLst>
              </a:tr>
              <a:tr h="201380">
                <a:tc>
                  <a:txBody>
                    <a:bodyPr/>
                    <a:lstStyle/>
                    <a:p>
                      <a:pPr rtl="0"/>
                      <a:r>
                        <a:rPr sz="1100" lang="pt-BR">
                          <a:solidFill>
                            <a:srgbClr val="000000"/>
                          </a:solidFill>
                        </a:rPr>
                        <a:t>Tipo</a:t>
                      </a:r>
                    </a:p>
                  </a:txBody>
                  <a:tcPr/>
                </a:tc>
                <a:tc>
                  <a:txBody>
                    <a:bodyPr/>
                    <a:lstStyle/>
                    <a:p>
                      <a:pPr rtl="0"/>
                      <a:r>
                        <a:rPr sz="1100" lang="pt-BR">
                          <a:solidFill>
                            <a:srgbClr val="000000"/>
                          </a:solidFill>
                        </a:rPr>
                        <a:t>Identifica o protocolo encapsulado da Camada 3</a:t>
                      </a:r>
                    </a:p>
                  </a:txBody>
                  <a:tcPr/>
                </a:tc>
                <a:extLst>
                  <a:ext uri="{0D108BD9-81ED-4DB2-BD59-A6C34878D82A}">
                    <a16:rowId xmlns:a16="http://schemas.microsoft.com/office/drawing/2014/main" val="354468046"/>
                  </a:ext>
                </a:extLst>
              </a:tr>
              <a:tr h="174195">
                <a:tc>
                  <a:txBody>
                    <a:bodyPr/>
                    <a:lstStyle/>
                    <a:p>
                      <a:pPr rtl="0"/>
                      <a:r>
                        <a:rPr sz="1100" lang="pt-BR">
                          <a:solidFill>
                            <a:srgbClr val="000000"/>
                          </a:solidFill>
                        </a:rPr>
                        <a:t>Controle</a:t>
                      </a:r>
                    </a:p>
                  </a:txBody>
                  <a:tcPr/>
                </a:tc>
                <a:tc>
                  <a:txBody>
                    <a:bodyPr/>
                    <a:lstStyle/>
                    <a:p>
                      <a:pPr rtl="0"/>
                      <a:r>
                        <a:rPr sz="1100" lang="pt-BR">
                          <a:solidFill>
                            <a:srgbClr val="000000"/>
                          </a:solidFill>
                        </a:rPr>
                        <a:t>Identifica serviços de controle de fluxo </a:t>
                      </a:r>
                    </a:p>
                  </a:txBody>
                  <a:tcPr/>
                </a:tc>
                <a:extLst>
                  <a:ext uri="{0D108BD9-81ED-4DB2-BD59-A6C34878D82A}">
                    <a16:rowId xmlns:a16="http://schemas.microsoft.com/office/drawing/2014/main" val="1458107787"/>
                  </a:ext>
                </a:extLst>
              </a:tr>
              <a:tr h="274011">
                <a:tc>
                  <a:txBody>
                    <a:bodyPr/>
                    <a:lstStyle/>
                    <a:p>
                      <a:pPr rtl="0"/>
                      <a:r>
                        <a:rPr sz="1100" lang="pt-BR">
                          <a:solidFill>
                            <a:srgbClr val="000000"/>
                          </a:solidFill>
                        </a:rPr>
                        <a:t>Dados</a:t>
                      </a:r>
                    </a:p>
                  </a:txBody>
                  <a:tcPr/>
                </a:tc>
                <a:tc>
                  <a:txBody>
                    <a:bodyPr/>
                    <a:lstStyle/>
                    <a:p>
                      <a:pPr rtl="0"/>
                      <a:r>
                        <a:rPr sz="1100" lang="pt-BR">
                          <a:solidFill>
                            <a:srgbClr val="000000"/>
                          </a:solidFill>
                        </a:rPr>
                        <a:t>Contém a carga útil do quadro</a:t>
                      </a:r>
                    </a:p>
                  </a:txBody>
                  <a:tcPr/>
                </a:tc>
                <a:extLst>
                  <a:ext uri="{0D108BD9-81ED-4DB2-BD59-A6C34878D82A}">
                    <a16:rowId xmlns:a16="http://schemas.microsoft.com/office/drawing/2014/main" val="2495454272"/>
                  </a:ext>
                </a:extLst>
              </a:tr>
              <a:tr h="185728">
                <a:tc>
                  <a:txBody>
                    <a:bodyPr/>
                    <a:lstStyle/>
                    <a:p>
                      <a:pPr rtl="0"/>
                      <a:r>
                        <a:rPr sz="1100" lang="pt-BR">
                          <a:solidFill>
                            <a:srgbClr val="000000"/>
                          </a:solidFill>
                        </a:rPr>
                        <a:t>Detecção de erros</a:t>
                      </a:r>
                    </a:p>
                  </a:txBody>
                  <a:tcPr/>
                </a:tc>
                <a:tc>
                  <a:txBody>
                    <a:bodyPr/>
                    <a:lstStyle/>
                    <a:p>
                      <a:pPr rtl="0"/>
                      <a:r>
                        <a:rPr sz="1100" lang="pt-BR">
                          <a:solidFill>
                            <a:srgbClr val="000000"/>
                          </a:solidFill>
                        </a:rPr>
                        <a:t>Usado para determinar erros de transmissão</a:t>
                      </a:r>
                    </a:p>
                  </a:txBody>
                  <a:tcPr/>
                </a:tc>
                <a:extLst>
                  <a:ext uri="{0D108BD9-81ED-4DB2-BD59-A6C34878D82A}">
                    <a16:rowId xmlns:a16="http://schemas.microsoft.com/office/drawing/2014/main" val="256317317"/>
                  </a:ext>
                </a:extLst>
              </a:tr>
            </a:tbl>
          </a:graphicData>
        </a:graphic>
      </p:graphicFrame>
      <p:pic>
        <p:nvPicPr>
          <p:cNvPr id="5" name="Picture 4">
            <a:extLst>
              <a:ext uri="{FF2B5EF4-FFF2-40B4-BE49-F238E27FC236}">
                <a16:creationId xmlns:a16="http://schemas.microsoft.com/office/drawing/2014/main" id="{698841DA-AE58-B547-A619-19487295985D}"/>
              </a:ext>
            </a:extLst>
          </p:cNvPr>
          <p:cNvPicPr>
            <a:picLocks noChangeAspect="1"/>
          </p:cNvPicPr>
          <p:nvPr/>
        </p:nvPicPr>
        <p:blipFill>
          <a:blip r:embed="rId3"/>
          <a:stretch>
            <a:fillRect/>
          </a:stretch>
        </p:blipFill>
        <p:spPr>
          <a:xfrm>
            <a:off x="1621925" y="565149"/>
            <a:ext cx="5524833" cy="2012184"/>
          </a:xfrm>
          <a:prstGeom prst="rect">
            <a:avLst/>
          </a:prstGeom>
        </p:spPr>
      </p:pic>
    </p:spTree>
    <p:extLst>
      <p:ext uri="{BB962C8B-B14F-4D97-AF65-F5344CB8AC3E}">
        <p14:creationId xmlns:p14="http://schemas.microsoft.com/office/powerpoint/2010/main" val="179417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Quadro de enlace de dados </a:t>
            </a:r>
            <a:br>
              <a:rPr lang="en-US" dirty="0"/>
            </a:br>
            <a:r>
              <a:rPr sz="2400" lang="pt-BR"/>
              <a:t>Endereço da Camada 2</a:t>
            </a:r>
          </a:p>
        </p:txBody>
      </p:sp>
      <p:sp>
        <p:nvSpPr>
          <p:cNvPr id="5" name="Content Placeholder 4">
            <a:extLst>
              <a:ext uri="{FF2B5EF4-FFF2-40B4-BE49-F238E27FC236}">
                <a16:creationId xmlns:a16="http://schemas.microsoft.com/office/drawing/2014/main" id="{CC4F0493-B526-DE4A-B220-F79C82C4F124}"/>
              </a:ext>
            </a:extLst>
          </p:cNvPr>
          <p:cNvSpPr>
            <a:spLocks noGrp="1"/>
          </p:cNvSpPr>
          <p:nvPr>
            <p:ph idx="1"/>
          </p:nvPr>
        </p:nvSpPr>
        <p:spPr>
          <a:xfrm>
            <a:off x="431971" y="902311"/>
            <a:ext cx="8280057" cy="1247000"/>
          </a:xfrm>
        </p:spPr>
        <p:txBody>
          <a:bodyPr/>
          <a:lstStyle/>
          <a:p>
            <a:pPr marL="342900" indent="-342900" algn="l" rtl="0">
              <a:buFont typeface="Arial" panose="020B0604020202020204" pitchFamily="34" charset="0"/>
              <a:buChar char="•"/>
            </a:pPr>
            <a:r>
              <a:rPr sz="1600" lang="pt-BR">
                <a:solidFill>
                  <a:srgbClr val="000000"/>
                </a:solidFill>
              </a:rPr>
              <a:t>Também referido como um endereço físico.</a:t>
            </a:r>
          </a:p>
          <a:p>
            <a:pPr marL="342900" indent="-342900" algn="l" rtl="0">
              <a:buFont typeface="Arial" panose="020B0604020202020204" pitchFamily="34" charset="0"/>
              <a:buChar char="•"/>
            </a:pPr>
            <a:r>
              <a:rPr sz="1600" lang="pt-BR">
                <a:solidFill>
                  <a:srgbClr val="000000"/>
                </a:solidFill>
              </a:rPr>
              <a:t>Contido no cabeçalho do quadro.</a:t>
            </a:r>
          </a:p>
          <a:p>
            <a:pPr marL="342900" indent="-342900" algn="l" rtl="0">
              <a:buFont typeface="Arial" panose="020B0604020202020204" pitchFamily="34" charset="0"/>
              <a:buChar char="•"/>
            </a:pPr>
            <a:r>
              <a:rPr sz="1600" lang="pt-BR">
                <a:solidFill>
                  <a:srgbClr val="000000"/>
                </a:solidFill>
              </a:rPr>
              <a:t>Usado apenas para entrega local de um quadro no link.</a:t>
            </a:r>
          </a:p>
          <a:p>
            <a:pPr marL="342900" indent="-342900" algn="l" rtl="0">
              <a:buFont typeface="Arial" panose="020B0604020202020204" pitchFamily="34" charset="0"/>
              <a:buChar char="•"/>
            </a:pPr>
            <a:r>
              <a:rPr sz="1600" lang="pt-BR">
                <a:solidFill>
                  <a:srgbClr val="000000"/>
                </a:solidFill>
              </a:rPr>
              <a:t>Atualizado por cada dispositivo que encaminha o quadro.</a:t>
            </a:r>
          </a:p>
          <a:p>
            <a:pPr marL="342900" indent="-342900" algn="l">
              <a:buFont typeface="Arial" panose="020B0604020202020204" pitchFamily="34" charset="0"/>
              <a:buChar char="•"/>
            </a:pPr>
            <a:endParaRPr lang="en-US" sz="1600" dirty="0">
              <a:solidFill>
                <a:srgbClr val="000000"/>
              </a:solidFill>
            </a:endParaRPr>
          </a:p>
        </p:txBody>
      </p:sp>
      <p:pic>
        <p:nvPicPr>
          <p:cNvPr id="4" name="Picture 3">
            <a:extLst>
              <a:ext uri="{FF2B5EF4-FFF2-40B4-BE49-F238E27FC236}">
                <a16:creationId xmlns:a16="http://schemas.microsoft.com/office/drawing/2014/main" id="{04C11CB4-FB7A-A44D-8693-5CADB4E74147}"/>
              </a:ext>
            </a:extLst>
          </p:cNvPr>
          <p:cNvPicPr>
            <a:picLocks noChangeAspect="1"/>
          </p:cNvPicPr>
          <p:nvPr/>
        </p:nvPicPr>
        <p:blipFill>
          <a:blip r:embed="rId3"/>
          <a:stretch>
            <a:fillRect/>
          </a:stretch>
        </p:blipFill>
        <p:spPr>
          <a:xfrm>
            <a:off x="2182644" y="2149311"/>
            <a:ext cx="4778709" cy="2296455"/>
          </a:xfrm>
          <a:prstGeom prst="rect">
            <a:avLst/>
          </a:prstGeom>
        </p:spPr>
      </p:pic>
    </p:spTree>
    <p:extLst>
      <p:ext uri="{BB962C8B-B14F-4D97-AF65-F5344CB8AC3E}">
        <p14:creationId xmlns:p14="http://schemas.microsoft.com/office/powerpoint/2010/main" val="2758091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pt-BR"/>
              <a:t>Quadro de Link de Dados </a:t>
            </a:r>
            <a:br>
              <a:rPr lang="en-US" dirty="0"/>
            </a:br>
            <a:r>
              <a:rPr sz="2400" lang="pt-BR"/>
              <a:t>LAN e WAN Frames</a:t>
            </a:r>
          </a:p>
        </p:txBody>
      </p:sp>
      <p:sp>
        <p:nvSpPr>
          <p:cNvPr id="5" name="Content Placeholder 4">
            <a:extLst>
              <a:ext uri="{FF2B5EF4-FFF2-40B4-BE49-F238E27FC236}">
                <a16:creationId xmlns:a16="http://schemas.microsoft.com/office/drawing/2014/main" id="{CC4F0493-B526-DE4A-B220-F79C82C4F124}"/>
              </a:ext>
            </a:extLst>
          </p:cNvPr>
          <p:cNvSpPr>
            <a:spLocks noGrp="1"/>
          </p:cNvSpPr>
          <p:nvPr>
            <p:ph idx="1"/>
          </p:nvPr>
        </p:nvSpPr>
        <p:spPr>
          <a:xfrm>
            <a:off x="431971" y="902311"/>
            <a:ext cx="8280057" cy="3505566"/>
          </a:xfrm>
        </p:spPr>
        <p:txBody>
          <a:bodyPr/>
          <a:lstStyle/>
          <a:p>
            <a:pPr marL="0" indent="0" algn="l" rtl="0"/>
            <a:r>
              <a:rPr lang="pt-BR">
                <a:solidFill>
                  <a:srgbClr val="000000"/>
                </a:solidFill>
              </a:rPr>
              <a:t>A topologia lógica e a mídia física determinam o protocolo de link de dados usado:</a:t>
            </a:r>
          </a:p>
          <a:p>
            <a:pPr marL="415985" lvl="1" indent="-342900" rtl="0">
              <a:buFont typeface="Arial" panose="020B0604020202020204" pitchFamily="34" charset="0"/>
              <a:buChar char="•"/>
            </a:pPr>
            <a:r>
              <a:rPr sz="1600" lang="pt-BR">
                <a:solidFill>
                  <a:srgbClr val="000000"/>
                </a:solidFill>
              </a:rPr>
              <a:t>Ethernet</a:t>
            </a:r>
          </a:p>
          <a:p>
            <a:pPr marL="415985" lvl="1" indent="-342900" rtl="0">
              <a:buFont typeface="Arial" panose="020B0604020202020204" pitchFamily="34" charset="0"/>
              <a:buChar char="•"/>
            </a:pPr>
            <a:r>
              <a:rPr sz="1600" lang="pt-BR">
                <a:solidFill>
                  <a:srgbClr val="000000"/>
                </a:solidFill>
              </a:rPr>
              <a:t>802.11 sem fio</a:t>
            </a:r>
          </a:p>
          <a:p>
            <a:pPr marL="415985" lvl="1" indent="-342900" rtl="0">
              <a:buFont typeface="Arial" panose="020B0604020202020204" pitchFamily="34" charset="0"/>
              <a:buChar char="•"/>
            </a:pPr>
            <a:r>
              <a:rPr sz="1600" lang="pt-BR">
                <a:solidFill>
                  <a:srgbClr val="000000"/>
                </a:solidFill>
              </a:rPr>
              <a:t>Ponto a ponto (PPP)</a:t>
            </a:r>
          </a:p>
          <a:p>
            <a:pPr marL="415985" lvl="1" indent="-342900" rtl="0">
              <a:buFont typeface="Arial" panose="020B0604020202020204" pitchFamily="34" charset="0"/>
              <a:buChar char="•"/>
            </a:pPr>
            <a:r>
              <a:rPr sz="1600" lang="pt-BR">
                <a:solidFill>
                  <a:srgbClr val="000000"/>
                </a:solidFill>
              </a:rPr>
              <a:t>Controle de Enlace de Dados de Alto Nível (HDLC)</a:t>
            </a:r>
          </a:p>
          <a:p>
            <a:pPr marL="415985" lvl="1" indent="-342900" rtl="0">
              <a:buFont typeface="Arial" panose="020B0604020202020204" pitchFamily="34" charset="0"/>
              <a:buChar char="•"/>
            </a:pPr>
            <a:r>
              <a:rPr sz="1600" lang="pt-BR">
                <a:solidFill>
                  <a:srgbClr val="000000"/>
                </a:solidFill>
              </a:rPr>
              <a:t>Frame-Relay</a:t>
            </a:r>
          </a:p>
          <a:p>
            <a:pPr marL="0" indent="0" algn="l"/>
            <a:endParaRPr lang="en-US" dirty="0">
              <a:solidFill>
                <a:srgbClr val="000000"/>
              </a:solidFill>
            </a:endParaRPr>
          </a:p>
          <a:p>
            <a:pPr marL="0" indent="0" algn="l" rtl="0"/>
            <a:r>
              <a:rPr lang="pt-BR">
                <a:solidFill>
                  <a:srgbClr val="000000"/>
                </a:solidFill>
              </a:rPr>
              <a:t>Cada protocolo executa o controle de acesso à mídia para topologias lógicas especificadas.</a:t>
            </a:r>
          </a:p>
          <a:p>
            <a:pPr marL="0" indent="0" algn="l"/>
            <a:endParaRPr lang="en-US" dirty="0">
              <a:solidFill>
                <a:srgbClr val="000000"/>
              </a:solidFill>
            </a:endParaRPr>
          </a:p>
          <a:p>
            <a:pPr marL="0" indent="0" algn="l"/>
            <a:endParaRPr lang="en-US"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0434342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pPr rtl="0"/>
            <a:r>
              <a:rPr lang="pt-BR">
                <a:solidFill>
                  <a:schemeClr val="accent5">
                    <a:lumMod val="40000"/>
                    <a:lumOff val="60000"/>
                  </a:schemeClr>
                </a:solidFill>
              </a:rPr>
              <a:t>6.4 - Módulo Prática e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sz="1400" lang="pt-BR">
                <a:latin typeface="Arial" charset="0"/>
              </a:rPr>
              <a:t>Módulo Prática e Quiz</a:t>
            </a:r>
            <a:br>
              <a:rPr lang="en-US" dirty="0">
                <a:latin typeface="Arial" charset="0"/>
              </a:rPr>
            </a:br>
            <a:r>
              <a:rPr lang="pt-BR">
                <a:latin typeface="Arial" charset="0"/>
              </a:rPr>
              <a:t>O que aprendi neste módulo?</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marL="115887" indent="-285750" rtl="0">
              <a:spcBef>
                <a:spcPts val="0"/>
              </a:spcBef>
              <a:spcAft>
                <a:spcPts val="0"/>
              </a:spcAft>
              <a:buFont typeface="Arial" panose="020B0604020202020204" pitchFamily="34" charset="0"/>
              <a:buChar char="•"/>
            </a:pPr>
            <a:r>
              <a:rPr lang="pt-BR"/>
              <a:t>A camada de enlace de dados do modelo OSI (Camada 2) prepara dados de rede para a rede física. </a:t>
            </a:r>
          </a:p>
          <a:p>
            <a:pPr marL="115887" indent="-285750" rtl="0">
              <a:spcBef>
                <a:spcPts val="0"/>
              </a:spcBef>
              <a:spcAft>
                <a:spcPts val="0"/>
              </a:spcAft>
              <a:buFont typeface="Arial" panose="020B0604020202020204" pitchFamily="34" charset="0"/>
              <a:buChar char="•"/>
            </a:pPr>
            <a:r>
              <a:rPr lang="pt-BR"/>
              <a:t>A camada de link de dados é responsável pela placa de interface de rede (NIC) para comunicações de placa de interface de rede.</a:t>
            </a:r>
          </a:p>
          <a:p>
            <a:pPr marL="115887" indent="-285750" rtl="0">
              <a:spcBef>
                <a:spcPts val="0"/>
              </a:spcBef>
              <a:spcAft>
                <a:spcPts val="0"/>
              </a:spcAft>
              <a:buFont typeface="Arial" panose="020B0604020202020204" pitchFamily="34" charset="0"/>
              <a:buChar char="•"/>
            </a:pPr>
            <a:r>
              <a:rPr lang="pt-BR"/>
              <a:t>A camada de link de dados IEEE 802 LAN/MAN consiste nas seguintes duas subcamadas: LLC e MAC. </a:t>
            </a:r>
          </a:p>
          <a:p>
            <a:pPr marL="115887" indent="-285750" rtl="0">
              <a:spcBef>
                <a:spcPts val="0"/>
              </a:spcBef>
              <a:spcAft>
                <a:spcPts val="0"/>
              </a:spcAft>
              <a:buFont typeface="Arial" panose="020B0604020202020204" pitchFamily="34" charset="0"/>
              <a:buChar char="•"/>
            </a:pPr>
            <a:r>
              <a:rPr lang="pt-BR"/>
              <a:t>Os dois tipos de topologias usados em redes LAN e WAN são físicos e lógicos. </a:t>
            </a:r>
          </a:p>
          <a:p>
            <a:pPr marL="115887" indent="-285750" rtl="0">
              <a:spcBef>
                <a:spcPts val="0"/>
              </a:spcBef>
              <a:spcAft>
                <a:spcPts val="0"/>
              </a:spcAft>
              <a:buFont typeface="Arial" panose="020B0604020202020204" pitchFamily="34" charset="0"/>
              <a:buChar char="•"/>
            </a:pPr>
            <a:r>
              <a:rPr lang="pt-BR"/>
              <a:t>Três tipos comuns de topologias WAN físicas são: ponto a ponto, hub e spoke e malha. </a:t>
            </a:r>
          </a:p>
          <a:p>
            <a:pPr marL="115887" indent="-285750" rtl="0">
              <a:spcBef>
                <a:spcPts val="0"/>
              </a:spcBef>
              <a:spcAft>
                <a:spcPts val="0"/>
              </a:spcAft>
              <a:buFont typeface="Arial" panose="020B0604020202020204" pitchFamily="34" charset="0"/>
              <a:buChar char="•"/>
            </a:pPr>
            <a:r>
              <a:rPr lang="pt-BR"/>
              <a:t>As comunicações semi-duplex trocam dados em uma direção de cada vez. Full-duplex envia e recebe dados simultaneamente.</a:t>
            </a:r>
          </a:p>
          <a:p>
            <a:pPr marL="115887" indent="-285750" rtl="0">
              <a:spcBef>
                <a:spcPts val="0"/>
              </a:spcBef>
              <a:spcAft>
                <a:spcPts val="0"/>
              </a:spcAft>
              <a:buFont typeface="Arial" panose="020B0604020202020204" pitchFamily="34" charset="0"/>
              <a:buChar char="•"/>
            </a:pPr>
            <a:r>
              <a:rPr lang="pt-BR"/>
              <a:t>Em redes multiacesso baseadas em contenção, todos os nós estão operando em half-duplex.</a:t>
            </a:r>
          </a:p>
          <a:p>
            <a:pPr marL="115887" indent="-285750" rtl="0">
              <a:spcBef>
                <a:spcPts val="0"/>
              </a:spcBef>
              <a:spcAft>
                <a:spcPts val="0"/>
              </a:spcAft>
              <a:buFont typeface="Arial" panose="020B0604020202020204" pitchFamily="34" charset="0"/>
              <a:buChar char="•"/>
            </a:pPr>
            <a:r>
              <a:rPr lang="pt-BR"/>
              <a:t>Exemplos de métodos de acesso baseados em contenção incluem: CSMA/CD para LANs Ethernet de topologia barramento e CSMA/CA para WLANs.</a:t>
            </a:r>
          </a:p>
          <a:p>
            <a:pPr marL="115887" indent="-285750" rtl="0">
              <a:spcBef>
                <a:spcPts val="0"/>
              </a:spcBef>
              <a:spcAft>
                <a:spcPts val="0"/>
              </a:spcAft>
              <a:buFont typeface="Arial" panose="020B0604020202020204" pitchFamily="34" charset="0"/>
              <a:buChar char="•"/>
            </a:pPr>
            <a:r>
              <a:rPr lang="pt-BR"/>
              <a:t>O quadro do link de dados tem três partes básicas: cabeçalho, dados e reboque.</a:t>
            </a:r>
          </a:p>
          <a:p>
            <a:pPr marL="115887" indent="-285750" rtl="0">
              <a:spcBef>
                <a:spcPts val="0"/>
              </a:spcBef>
              <a:spcAft>
                <a:spcPts val="0"/>
              </a:spcAft>
              <a:buFont typeface="Arial" panose="020B0604020202020204" pitchFamily="34" charset="0"/>
              <a:buChar char="•"/>
            </a:pPr>
            <a:r>
              <a:rPr lang="pt-BR"/>
              <a:t>Os campos de quadro incluem: sinalizadores de indicador de início e parada de quadros, endereçamento, tipo, controle, dados e detecção de erros.</a:t>
            </a:r>
          </a:p>
          <a:p>
            <a:pPr marL="115887" indent="-285750" rtl="0">
              <a:spcBef>
                <a:spcPts val="0"/>
              </a:spcBef>
              <a:spcAft>
                <a:spcPts val="0"/>
              </a:spcAft>
              <a:buFont typeface="Arial" panose="020B0604020202020204" pitchFamily="34" charset="0"/>
              <a:buChar char="•"/>
            </a:pPr>
            <a:r>
              <a:rPr lang="pt-BR"/>
              <a:t>Endereços de links de dados também são conhecidos como endereços físicos.</a:t>
            </a:r>
          </a:p>
          <a:p>
            <a:pPr marL="115887" indent="-285750" rtl="0">
              <a:spcBef>
                <a:spcPts val="0"/>
              </a:spcBef>
              <a:spcAft>
                <a:spcPts val="0"/>
              </a:spcAft>
              <a:buFont typeface="Arial" panose="020B0604020202020204" pitchFamily="34" charset="0"/>
              <a:buChar char="•"/>
            </a:pPr>
            <a:r>
              <a:rPr lang="pt-BR"/>
              <a:t>Endereços de links de dados são usados somente para a entrega local de links de quadros.</a:t>
            </a:r>
          </a:p>
        </p:txBody>
      </p:sp>
    </p:spTree>
    <p:custDataLst>
      <p:tags r:id="rId1"/>
    </p:custDataLst>
    <p:extLst>
      <p:ext uri="{BB962C8B-B14F-4D97-AF65-F5344CB8AC3E}">
        <p14:creationId xmlns:p14="http://schemas.microsoft.com/office/powerpoint/2010/main" val="2548999575"/>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rtl="0"/>
            <a:r>
              <a:rPr sz="1400" lang="pt-BR">
                <a:latin typeface="Arial" charset="0"/>
              </a:rPr>
              <a:t>Module 6: Data Link Layer</a:t>
            </a:r>
            <a:br>
              <a:rPr lang="en-US" dirty="0">
                <a:latin typeface="Arial" charset="0"/>
              </a:rPr>
            </a:br>
            <a:r>
              <a:rPr lang="pt-BR">
                <a:latin typeface="Arial" charset="0"/>
              </a:rPr>
              <a:t>New Terms and Commands</a:t>
            </a:r>
          </a:p>
        </p:txBody>
      </p:sp>
      <p:graphicFrame>
        <p:nvGraphicFramePr>
          <p:cNvPr id="9" name="Table 9">
            <a:extLst>
              <a:ext uri="{FF2B5EF4-FFF2-40B4-BE49-F238E27FC236}">
                <a16:creationId xmlns:a16="http://schemas.microsoft.com/office/drawing/2014/main" id="{F2480B83-AF5E-4A70-B69B-F1E3A8FAC758}"/>
              </a:ext>
            </a:extLst>
          </p:cNvPr>
          <p:cNvGraphicFramePr>
            <a:graphicFrameLocks noGrp="1"/>
          </p:cNvGraphicFramePr>
          <p:nvPr>
            <p:ph idx="1"/>
            <p:extLst>
              <p:ext uri="{D42A27DB-BD31-4B8C-83A1-F6EECF244321}">
                <p14:modId xmlns:p14="http://schemas.microsoft.com/office/powerpoint/2010/main" val="119178757"/>
              </p:ext>
            </p:extLst>
          </p:nvPr>
        </p:nvGraphicFramePr>
        <p:xfrm>
          <a:off x="99152" y="798513"/>
          <a:ext cx="8898797" cy="3992880"/>
        </p:xfrm>
        <a:graphic>
          <a:graphicData uri="http://schemas.openxmlformats.org/drawingml/2006/table">
            <a:tbl>
              <a:tblPr firstRow="1" bandRow="1">
                <a:tableStyleId>{F5AB1C69-6EDB-4FF4-983F-18BD219EF322}</a:tableStyleId>
              </a:tblPr>
              <a:tblGrid>
                <a:gridCol w="4472054">
                  <a:extLst>
                    <a:ext uri="{9D8B030D-6E8A-4147-A177-3AD203B41FA5}">
                      <a16:colId xmlns:a16="http://schemas.microsoft.com/office/drawing/2014/main" val="3270854437"/>
                    </a:ext>
                  </a:extLst>
                </a:gridCol>
                <a:gridCol w="4426743">
                  <a:extLst>
                    <a:ext uri="{9D8B030D-6E8A-4147-A177-3AD203B41FA5}">
                      <a16:colId xmlns:a16="http://schemas.microsoft.com/office/drawing/2014/main" val="1988644124"/>
                    </a:ext>
                  </a:extLst>
                </a:gridCol>
              </a:tblGrid>
              <a:tr h="370840">
                <a:tc>
                  <a:txBody>
                    <a:bodyPr/>
                    <a:lstStyle/>
                    <a:p>
                      <a:pPr marL="285750" indent="-285750" rtl="0">
                        <a:buFont typeface="Arial" panose="020B0604020202020204" pitchFamily="34" charset="0"/>
                        <a:buChar char="•"/>
                      </a:pPr>
                      <a:r>
                        <a:rPr sz="1600" b="false" lang="pt-BR">
                          <a:solidFill>
                            <a:srgbClr val="000000"/>
                          </a:solidFill>
                        </a:rPr>
                        <a:t>Logical Link Control (LLC)</a:t>
                      </a:r>
                    </a:p>
                    <a:p>
                      <a:pPr marL="285750" indent="-285750" rtl="0">
                        <a:buFont typeface="Arial" panose="020B0604020202020204" pitchFamily="34" charset="0"/>
                        <a:buChar char="•"/>
                      </a:pPr>
                      <a:r>
                        <a:rPr sz="1600" b="false" lang="pt-BR">
                          <a:solidFill>
                            <a:srgbClr val="000000"/>
                          </a:solidFill>
                        </a:rPr>
                        <a:t>Medial Access Control (MAC)</a:t>
                      </a:r>
                    </a:p>
                    <a:p>
                      <a:pPr marL="285750" indent="-285750" rtl="0">
                        <a:buFont typeface="Arial" panose="020B0604020202020204" pitchFamily="34" charset="0"/>
                        <a:buChar char="•"/>
                      </a:pPr>
                      <a:r>
                        <a:rPr sz="1600" b="false" lang="pt-BR">
                          <a:solidFill>
                            <a:srgbClr val="000000"/>
                          </a:solidFill>
                        </a:rPr>
                        <a:t>Institute of Electrical and Electronic Engineers (IEEE)</a:t>
                      </a:r>
                    </a:p>
                    <a:p>
                      <a:pPr marL="285750" indent="-285750" rtl="0">
                        <a:buFont typeface="Arial" panose="020B0604020202020204" pitchFamily="34" charset="0"/>
                        <a:buChar char="•"/>
                      </a:pPr>
                      <a:r>
                        <a:rPr sz="1600" b="false" lang="pt-BR">
                          <a:solidFill>
                            <a:srgbClr val="000000"/>
                          </a:solidFill>
                        </a:rPr>
                        <a:t>International Telecommunications Union (ITU)</a:t>
                      </a:r>
                    </a:p>
                    <a:p>
                      <a:pPr marL="285750" indent="-285750" rtl="0">
                        <a:buFont typeface="Arial" panose="020B0604020202020204" pitchFamily="34" charset="0"/>
                        <a:buChar char="•"/>
                      </a:pPr>
                      <a:r>
                        <a:rPr sz="1600" b="false" lang="pt-BR">
                          <a:solidFill>
                            <a:srgbClr val="000000"/>
                          </a:solidFill>
                        </a:rPr>
                        <a:t>International Organization for Standardization (ISO)</a:t>
                      </a:r>
                    </a:p>
                    <a:p>
                      <a:pPr marL="285750" indent="-285750" rtl="0">
                        <a:buFont typeface="Arial" panose="020B0604020202020204" pitchFamily="34" charset="0"/>
                        <a:buChar char="•"/>
                      </a:pPr>
                      <a:r>
                        <a:rPr sz="1600" b="false" lang="pt-BR">
                          <a:solidFill>
                            <a:srgbClr val="000000"/>
                          </a:solidFill>
                        </a:rPr>
                        <a:t>American National Standards Institute (ANSI)</a:t>
                      </a:r>
                    </a:p>
                    <a:p>
                      <a:pPr marL="285750" indent="-285750" rtl="0">
                        <a:buFont typeface="Arial" panose="020B0604020202020204" pitchFamily="34" charset="0"/>
                        <a:buChar char="•"/>
                      </a:pPr>
                      <a:r>
                        <a:rPr sz="1600" b="false" lang="pt-BR">
                          <a:solidFill>
                            <a:srgbClr val="000000"/>
                          </a:solidFill>
                        </a:rPr>
                        <a:t>Physical Topology</a:t>
                      </a:r>
                    </a:p>
                    <a:p>
                      <a:pPr marL="285750" indent="-285750" rtl="0">
                        <a:buFont typeface="Arial" panose="020B0604020202020204" pitchFamily="34" charset="0"/>
                        <a:buChar char="•"/>
                      </a:pPr>
                      <a:r>
                        <a:rPr sz="1600" b="false" lang="pt-BR">
                          <a:solidFill>
                            <a:srgbClr val="000000"/>
                          </a:solidFill>
                        </a:rPr>
                        <a:t>Logical Topology</a:t>
                      </a:r>
                    </a:p>
                    <a:p>
                      <a:pPr marL="285750" indent="-285750" rtl="0">
                        <a:buFont typeface="Arial" panose="020B0604020202020204" pitchFamily="34" charset="0"/>
                        <a:buChar char="•"/>
                      </a:pPr>
                      <a:r>
                        <a:rPr sz="1600" b="false" lang="pt-BR">
                          <a:solidFill>
                            <a:srgbClr val="000000"/>
                          </a:solidFill>
                        </a:rPr>
                        <a:t>Half-duplex</a:t>
                      </a:r>
                    </a:p>
                    <a:p>
                      <a:pPr marL="285750" indent="-285750" rtl="0">
                        <a:buFont typeface="Arial" panose="020B0604020202020204" pitchFamily="34" charset="0"/>
                        <a:buChar char="•"/>
                      </a:pPr>
                      <a:r>
                        <a:rPr sz="1600" b="false" lang="pt-BR">
                          <a:solidFill>
                            <a:srgbClr val="000000"/>
                          </a:solidFill>
                        </a:rPr>
                        <a:t>Full-duplex</a:t>
                      </a:r>
                    </a:p>
                    <a:p>
                      <a:pPr marL="285750" indent="-285750" rtl="0">
                        <a:buFont typeface="Arial" panose="020B0604020202020204" pitchFamily="34" charset="0"/>
                        <a:buChar char="•"/>
                      </a:pPr>
                      <a:r>
                        <a:rPr sz="1600" b="false" lang="pt-BR">
                          <a:solidFill>
                            <a:srgbClr val="000000"/>
                          </a:solidFill>
                        </a:rPr>
                        <a:t>CSMA/CD</a:t>
                      </a:r>
                    </a:p>
                    <a:p>
                      <a:pPr marL="285750" indent="-285750" rtl="0">
                        <a:buFont typeface="Arial" panose="020B0604020202020204" pitchFamily="34" charset="0"/>
                        <a:buChar char="•"/>
                      </a:pPr>
                      <a:r>
                        <a:rPr sz="1600" b="false" lang="pt-BR">
                          <a:solidFill>
                            <a:srgbClr val="000000"/>
                          </a:solidFill>
                        </a:rPr>
                        <a:t>CSMA/CA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sz="1600" b="false" lang="pt-BR">
                          <a:solidFill>
                            <a:srgbClr val="000000"/>
                          </a:solidFill>
                        </a:rPr>
                        <a:t>Cyclic Redundancy Check (CRC)</a:t>
                      </a:r>
                    </a:p>
                    <a:p>
                      <a:pPr marL="285750" indent="-285750" rtl="0">
                        <a:buFont typeface="Arial" panose="020B0604020202020204" pitchFamily="34" charset="0"/>
                        <a:buChar char="•"/>
                      </a:pPr>
                      <a:r>
                        <a:rPr sz="1600" b="false" lang="pt-BR">
                          <a:solidFill>
                            <a:srgbClr val="000000"/>
                          </a:solidFill>
                        </a:rPr>
                        <a:t>Contention-based access</a:t>
                      </a:r>
                    </a:p>
                    <a:p>
                      <a:pPr marL="285750" indent="-285750" rtl="0">
                        <a:buFont typeface="Arial" panose="020B0604020202020204" pitchFamily="34" charset="0"/>
                        <a:buChar char="•"/>
                      </a:pPr>
                      <a:r>
                        <a:rPr sz="1600" b="false" lang="pt-BR">
                          <a:solidFill>
                            <a:srgbClr val="000000"/>
                          </a:solidFill>
                        </a:rPr>
                        <a:t>Controlled access</a:t>
                      </a:r>
                    </a:p>
                    <a:p>
                      <a:endParaRPr lang="en-US" sz="1600" b="0" dirty="0">
                        <a:solidFill>
                          <a:srgbClr val="000000"/>
                        </a:solidFill>
                      </a:endParaRPr>
                    </a:p>
                    <a:p>
                      <a:endParaRPr lang="en-US" sz="1600"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8796709"/>
                  </a:ext>
                </a:extLst>
              </a:tr>
            </a:tbl>
          </a:graphicData>
        </a:graphic>
      </p:graphicFrame>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8613</TotalTime>
  <Words>2268</Words>
  <Application>Microsoft Office PowerPoint</Application>
  <PresentationFormat>On-screen Show (16:9)</PresentationFormat>
  <Paragraphs>403</Paragraphs>
  <Slides>33</Slides>
  <Notes>31</Notes>
  <HiddenSlides>6</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CiscoSans ExtraLight</vt:lpstr>
      <vt:lpstr>Wingdings</vt:lpstr>
      <vt:lpstr>Default Theme</vt:lpstr>
      <vt:lpstr>Module 6: Data Link Layer</vt:lpstr>
      <vt:lpstr>Instructor Materials – Module 6 Planning Guide</vt:lpstr>
      <vt:lpstr>What to Expect in this Module</vt:lpstr>
      <vt:lpstr>What to Expect in this Module (Cont.)</vt:lpstr>
      <vt:lpstr>Check Your Understanding</vt:lpstr>
      <vt:lpstr>Module 6: Activities</vt:lpstr>
      <vt:lpstr>Module 6: Best Practices</vt:lpstr>
      <vt:lpstr>Module 6: Best Practices (Cont.)</vt:lpstr>
      <vt:lpstr>Module 6: Data Link Layer</vt:lpstr>
      <vt:lpstr>Module Objectives</vt:lpstr>
      <vt:lpstr>6.1 Purpose of the Data Link Layer</vt:lpstr>
      <vt:lpstr>Purpose of the Data Link Layer The Data Link Layer</vt:lpstr>
      <vt:lpstr>Purpose of the Data Link Layer IEEE 802 LAN/MAN Data Link Sublayers</vt:lpstr>
      <vt:lpstr>Purpose of the Data Link Layer Providing Access to Media</vt:lpstr>
      <vt:lpstr>Purpose of the Data Link Layer Data Link Layer Standards</vt:lpstr>
      <vt:lpstr>6.2 Topologies</vt:lpstr>
      <vt:lpstr>Topologies Physical and Logical Topologies</vt:lpstr>
      <vt:lpstr>Topologies WAN Topologies</vt:lpstr>
      <vt:lpstr>Topologies Point-to-Point WAN Topology</vt:lpstr>
      <vt:lpstr>Topologies LAN Topologies</vt:lpstr>
      <vt:lpstr>PowerPoint Presentation</vt:lpstr>
      <vt:lpstr>PowerPoint Presentation</vt:lpstr>
      <vt:lpstr>PowerPoint Presentation</vt:lpstr>
      <vt:lpstr>PowerPoint Presentation</vt:lpstr>
      <vt:lpstr>6.3 Data Link Frame</vt:lpstr>
      <vt:lpstr>Data Link Frame The Frame</vt:lpstr>
      <vt:lpstr>Data Link Frame Frame Fields</vt:lpstr>
      <vt:lpstr>Data Link Frame Layer 2 Addresses</vt:lpstr>
      <vt:lpstr>Data Link Frame LAN and WAN Frames</vt:lpstr>
      <vt:lpstr>6.4 Module Practice and Quiz</vt:lpstr>
      <vt:lpstr>Module Practice and Quiz What did I learn in this module?</vt:lpstr>
      <vt:lpstr>Module 6: Data Link Layer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Sue Livingston -X (suliving - UNICON INC at Cisco)</cp:lastModifiedBy>
  <cp:revision>246</cp:revision>
  <dcterms:created xsi:type="dcterms:W3CDTF">2019-10-18T06:21:22Z</dcterms:created>
  <dcterms:modified xsi:type="dcterms:W3CDTF">2019-12-06T15:49:07Z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