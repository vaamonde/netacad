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3.xml" ContentType="application/vnd.openxmlformats-officedocument.presentationml.notesSlide+xml"/>
  <Override PartName="/ppt/tags/tag7.xml" ContentType="application/vnd.openxmlformats-officedocument.presentationml.tags+xml"/>
  <Override PartName="/ppt/notesSlides/notesSlide4.xml" ContentType="application/vnd.openxmlformats-officedocument.presentationml.notesSlide+xml"/>
  <Override PartName="/ppt/tags/tag8.xml" ContentType="application/vnd.openxmlformats-officedocument.presentationml.tags+xml"/>
  <Override PartName="/ppt/notesSlides/notesSlide5.xml" ContentType="application/vnd.openxmlformats-officedocument.presentationml.notesSlide+xml"/>
  <Override PartName="/ppt/tags/tag9.xml" ContentType="application/vnd.openxmlformats-officedocument.presentationml.tags+xml"/>
  <Override PartName="/ppt/notesSlides/notesSlide6.xml" ContentType="application/vnd.openxmlformats-officedocument.presentationml.notesSlide+xml"/>
  <Override PartName="/ppt/tags/tag10.xml" ContentType="application/vnd.openxmlformats-officedocument.presentationml.tags+xml"/>
  <Override PartName="/ppt/notesSlides/notesSlide7.xml" ContentType="application/vnd.openxmlformats-officedocument.presentationml.notesSlide+xml"/>
  <Override PartName="/ppt/tags/tag11.xml" ContentType="application/vnd.openxmlformats-officedocument.presentationml.tags+xml"/>
  <Override PartName="/ppt/notesSlides/notesSlide8.xml" ContentType="application/vnd.openxmlformats-officedocument.presentationml.notesSlide+xml"/>
  <Override PartName="/ppt/tags/tag12.xml" ContentType="application/vnd.openxmlformats-officedocument.presentationml.tags+xml"/>
  <Override PartName="/ppt/notesSlides/notesSlide9.xml" ContentType="application/vnd.openxmlformats-officedocument.presentationml.notesSlide+xml"/>
  <Override PartName="/ppt/tags/tag13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ags/tag14.xml" ContentType="application/vnd.openxmlformats-officedocument.presentationml.tag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tags/tag15.xml" ContentType="application/vnd.openxmlformats-officedocument.presentationml.tags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tags/tag16.xml" ContentType="application/vnd.openxmlformats-officedocument.presentationml.tags+xml"/>
  <Override PartName="/ppt/notesSlides/notesSlide30.xml" ContentType="application/vnd.openxmlformats-officedocument.presentationml.notesSlide+xml"/>
  <Override PartName="/ppt/tags/tag17.xml" ContentType="application/vnd.openxmlformats-officedocument.presentationml.tags+xml"/>
  <Override PartName="/ppt/notesSlides/notesSlide31.xml" ContentType="application/vnd.openxmlformats-officedocument.presentationml.notesSlide+xml"/>
  <Override PartName="/ppt/tags/tag18.xml" ContentType="application/vnd.openxmlformats-officedocument.presentationml.tags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tags/tag19.xml" ContentType="application/vnd.openxmlformats-officedocument.presentationml.tags+xml"/>
  <Override PartName="/ppt/notesSlides/notesSlide35.xml" ContentType="application/vnd.openxmlformats-officedocument.presentationml.notesSlide+xml"/>
  <Override PartName="/ppt/tags/tag20.xml" ContentType="application/vnd.openxmlformats-officedocument.presentationml.tags+xml"/>
  <Override PartName="/ppt/notesSlides/notesSlide36.xml" ContentType="application/vnd.openxmlformats-officedocument.presentationml.notesSlide+xml"/>
  <Override PartName="/ppt/tags/tag21.xml" ContentType="application/vnd.openxmlformats-officedocument.presentationml.tags+xml"/>
  <Override PartName="/ppt/notesSlides/notesSlide37.xml" ContentType="application/vnd.openxmlformats-officedocument.presentationml.notesSlide+xml"/>
  <Override PartName="/ppt/tags/tag22.xml" ContentType="application/vnd.openxmlformats-officedocument.presentationml.tags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?>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0" r:id="rId1"/>
  </p:sldMasterIdLst>
  <p:notesMasterIdLst>
    <p:notesMasterId r:id="rId42"/>
  </p:notesMasterIdLst>
  <p:sldIdLst>
    <p:sldId id="513" r:id="rId2"/>
    <p:sldId id="730" r:id="rId3"/>
    <p:sldId id="1070" r:id="rId4"/>
    <p:sldId id="1071" r:id="rId5"/>
    <p:sldId id="1053" r:id="rId6"/>
    <p:sldId id="1072" r:id="rId7"/>
    <p:sldId id="763" r:id="rId8"/>
    <p:sldId id="1052" r:id="rId9"/>
    <p:sldId id="1069" r:id="rId10"/>
    <p:sldId id="876" r:id="rId11"/>
    <p:sldId id="1090" r:id="rId12"/>
    <p:sldId id="759" r:id="rId13"/>
    <p:sldId id="1054" r:id="rId14"/>
    <p:sldId id="1091" r:id="rId15"/>
    <p:sldId id="1103" r:id="rId16"/>
    <p:sldId id="1056" r:id="rId17"/>
    <p:sldId id="1058" r:id="rId18"/>
    <p:sldId id="1092" r:id="rId19"/>
    <p:sldId id="1093" r:id="rId20"/>
    <p:sldId id="1094" r:id="rId21"/>
    <p:sldId id="1061" r:id="rId22"/>
    <p:sldId id="1095" r:id="rId23"/>
    <p:sldId id="1096" r:id="rId24"/>
    <p:sldId id="1097" r:id="rId25"/>
    <p:sldId id="1098" r:id="rId26"/>
    <p:sldId id="1099" r:id="rId27"/>
    <p:sldId id="1063" r:id="rId28"/>
    <p:sldId id="1064" r:id="rId29"/>
    <p:sldId id="1100" r:id="rId30"/>
    <p:sldId id="1104" r:id="rId31"/>
    <p:sldId id="1105" r:id="rId32"/>
    <p:sldId id="957" r:id="rId33"/>
    <p:sldId id="958" r:id="rId34"/>
    <p:sldId id="1102" r:id="rId35"/>
    <p:sldId id="1106" r:id="rId36"/>
    <p:sldId id="1107" r:id="rId37"/>
    <p:sldId id="1101" r:id="rId38"/>
    <p:sldId id="1089" r:id="rId39"/>
    <p:sldId id="874" r:id="rId40"/>
    <p:sldId id="291" r:id="rId41"/>
  </p:sldIdLst>
  <p:sldSz cx="9144000" cy="5143500" type="screen16x9"/>
  <p:notesSz cx="6858000" cy="9144000"/>
  <p:custDataLst>
    <p:tags r:id="rId43"/>
  </p:custDataLst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336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arbara Reif" initials="BR" lastIdx="3" clrIdx="0"/>
  <p:cmAuthor id="1" name="Jane Gibbons -X (jagibbon - DEL ORO CONSULTING INC at Cisco)" initials="JG-(-DOCIaC" lastIdx="28" clrIdx="1">
    <p:extLst>
      <p:ext uri="{19B8F6BF-5375-455C-9EA6-DF929625EA0E}">
        <p15:presenceInfo xmlns:p15="http://schemas.microsoft.com/office/powerpoint/2012/main" userId="S-1-5-21-1708537768-1303643608-725345543-200204" providerId="AD"/>
      </p:ext>
    </p:extLst>
  </p:cmAuthor>
  <p:cmAuthor id="2" name="Bob Vachon" initials="BV" lastIdx="24" clrIdx="2">
    <p:extLst>
      <p:ext uri="{19B8F6BF-5375-455C-9EA6-DF929625EA0E}">
        <p15:presenceInfo xmlns:p15="http://schemas.microsoft.com/office/powerpoint/2012/main" userId="c7abe87968a0b633" providerId="Windows Live"/>
      </p:ext>
    </p:extLst>
  </p:cmAuthor>
  <p:cmAuthor id="3" name="Sue Livingston -X (suliving - UNICON INC at Cisco)" initials="SL-(-UIaC" lastIdx="29" clrIdx="3">
    <p:extLst>
      <p:ext uri="{19B8F6BF-5375-455C-9EA6-DF929625EA0E}">
        <p15:presenceInfo xmlns:p15="http://schemas.microsoft.com/office/powerpoint/2012/main" userId="S::suliving@cisco.com::dc701d48-dd51-411a-9041-b7f1328f1486" providerId="AD"/>
      </p:ext>
    </p:extLst>
  </p:cmAuthor>
  <p:cmAuthor id="4" name="jagibbon" initials="jmg" lastIdx="8" clrIdx="4">
    <p:extLst>
      <p:ext uri="{19B8F6BF-5375-455C-9EA6-DF929625EA0E}">
        <p15:presenceInfo xmlns:p15="http://schemas.microsoft.com/office/powerpoint/2012/main" userId="jagibbo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00CC"/>
    <a:srgbClr val="000099"/>
    <a:srgbClr val="CC99FF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 autoAdjust="0"/>
    <p:restoredTop sz="70340" autoAdjust="0"/>
  </p:normalViewPr>
  <p:slideViewPr>
    <p:cSldViewPr snapToGrid="0" showGuides="1">
      <p:cViewPr varScale="1">
        <p:scale>
          <a:sx n="63" d="100"/>
          <a:sy n="63" d="100"/>
        </p:scale>
        <p:origin x="1380" y="52"/>
      </p:cViewPr>
      <p:guideLst>
        <p:guide orient="horz" pos="1620"/>
        <p:guide pos="336"/>
      </p:guideLst>
    </p:cSldViewPr>
  </p:slideViewPr>
  <p:outlineViewPr>
    <p:cViewPr>
      <p:scale>
        <a:sx n="33" d="100"/>
        <a:sy n="33" d="100"/>
      </p:scale>
      <p:origin x="0" y="-22670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11" d="100"/>
        <a:sy n="111" d="100"/>
      </p:scale>
      <p:origin x="0" y="-5120"/>
    </p:cViewPr>
  </p:sorterViewPr>
  <p:gridSpacing cx="76200" cy="76200"/>
</p:viewPr>
</file>

<file path=ppt/_rels/presentation.xml.rels><?xml version="1.0" encoding="utf-8"?>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gs" Target="tags/tag1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6337D9-3022-3D41-8D8A-BDF2F3B0DD8E}" type="datetimeFigureOut">
              <a:rPr lang="en-US" smtClean="0"/>
              <a:t>2/3/2021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41018C-6CAF-B84E-B92C-ECB119457F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564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?>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?>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?>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?>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?>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?>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?>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?>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?>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?>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?>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?>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?>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?>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?>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?>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?>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?>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?>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?>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?>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?>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?>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?>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?>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?>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?>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?>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?>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?>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?>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1</a:t>
            </a:fld>
          </a:p>
        </p:txBody>
      </p:sp>
    </p:spTree>
    <p:extLst>
      <p:ext uri="{BB962C8B-B14F-4D97-AF65-F5344CB8AC3E}">
        <p14:creationId xmlns:p14="http://schemas.microsoft.com/office/powerpoint/2010/main" val="30255421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9" tIns="0" rIns="18819" bIns="0" anchor="b"/>
          <a:lstStyle>
            <a:lvl1pPr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7C839C26-801B-42B6-A101-60F37FE2B0A8}" type="slidenum">
              <a:rPr sz="800" b="false"/>
              <a:pPr algn="r"/>
              <a:t>2</a:t>
            </a:fld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667713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7" tIns="0" rIns="18817" bIns="0" anchor="b"/>
          <a:lstStyle>
            <a:lvl1pPr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ACE20BE7-F2F3-4E26-9454-50B18F790A4E}" type="slidenum">
              <a:rPr sz="800" b="false">
                <a:ea typeface="ＭＳ Ｐゴシック" pitchFamily="34" charset="-128"/>
              </a:rPr>
              <a:pPr algn="r"/>
              <a:t>5</a:t>
            </a:fld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00274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7" tIns="0" rIns="18817" bIns="0" anchor="b"/>
          <a:lstStyle>
            <a:lvl1pPr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ACE20BE7-F2F3-4E26-9454-50B18F790A4E}" type="slidenum">
              <a:rPr sz="800" b="false">
                <a:ea typeface="ＭＳ Ｐゴシック" pitchFamily="34" charset="-128"/>
              </a:rPr>
              <a:pPr algn="r"/>
              <a:t>6</a:t>
            </a:fld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977174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9" tIns="0" rIns="18819" bIns="0" anchor="b"/>
          <a:lstStyle>
            <a:lvl1pPr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0A313ED8-785B-4D16-9B17-4143385249B9}" type="slidenum">
              <a:rPr sz="800" b="false"/>
              <a:pPr algn="r"/>
              <a:t>7</a:t>
            </a:fld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874538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9" tIns="0" rIns="18819" bIns="0" anchor="b"/>
          <a:lstStyle>
            <a:lvl1pPr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7391C207-9349-46D5-9D89-8ADDA5014D1F}" type="slidenum">
              <a:rPr sz="800" b="false"/>
              <a:pPr algn="r"/>
              <a:t>8</a:t>
            </a:fld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546002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9" tIns="0" rIns="18819" bIns="0" anchor="b"/>
          <a:lstStyle>
            <a:lvl1pPr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7391C207-9349-46D5-9D89-8ADDA5014D1F}" type="slidenum">
              <a:rPr sz="800" b="false"/>
              <a:pPr algn="r"/>
              <a:t>9</a:t>
            </a:fld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149292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b="false" lang="pt-BR"/>
              <a:t>Programa da Cisco Networking Academy</a:t>
            </a:r>
          </a:p>
          <a:p>
            <a:pPr rtl="0">
              <a:buFontTx/>
              <a:buNone/>
            </a:pPr>
            <a:r>
              <a:rPr b="false" baseline="0" lang="pt-BR"/>
              <a:t>Introdução às redes v</a:t>
            </a:r>
            <a:r>
              <a:rPr b="false" lang="pt-BR"/>
              <a:t>7.0 (ITN)</a:t>
            </a:r>
          </a:p>
          <a:p>
            <a:pPr rtl="0"/>
            <a:r>
              <a:rPr lang="pt-BR"/>
              <a:t>Módulo 10: Configuração básica do roteador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10</a:t>
            </a:fld>
          </a:p>
        </p:txBody>
      </p:sp>
    </p:spTree>
    <p:extLst>
      <p:ext uri="{BB962C8B-B14F-4D97-AF65-F5344CB8AC3E}">
        <p14:creationId xmlns:p14="http://schemas.microsoft.com/office/powerpoint/2010/main" val="5081187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9" tIns="0" rIns="18819" bIns="0" anchor="b"/>
          <a:lstStyle>
            <a:lvl1pPr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7C839C26-801B-42B6-A101-60F37FE2B0A8}" type="slidenum">
              <a:rPr sz="800" b="false">
                <a:solidFill>
                  <a:prstClr val="black"/>
                </a:solidFill>
              </a:rPr>
              <a:pPr algn="r"/>
              <a:t>11</a:t>
            </a:fld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buFontTx/>
              <a:buNone/>
            </a:pPr>
            <a:r>
              <a:rPr lang="pt-BR"/>
              <a:t>10 - Configuração básica do roteador</a:t>
            </a:r>
          </a:p>
          <a:p>
            <a:pPr rtl="0">
              <a:buFontTx/>
              <a:buNone/>
            </a:pPr>
            <a:r>
              <a:rPr lang="pt-BR"/>
              <a:t>10.0.2- O que vou aprender neste módulo?</a:t>
            </a:r>
          </a:p>
          <a:p>
            <a:pPr>
              <a:buFontTx/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44456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10 - Configuração básica do roteador</a:t>
            </a:r>
          </a:p>
          <a:p>
            <a:pPr rtl="0"/>
            <a:r>
              <a:rPr lang="pt-BR"/>
              <a:t>10.1 Definir configurações iniciais do roteador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12</a:t>
            </a:fld>
          </a:p>
        </p:txBody>
      </p:sp>
    </p:spTree>
    <p:extLst>
      <p:ext uri="{BB962C8B-B14F-4D97-AF65-F5344CB8AC3E}">
        <p14:creationId xmlns:p14="http://schemas.microsoft.com/office/powerpoint/2010/main" val="6255296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10 - Configuração básica do roteador</a:t>
            </a:r>
          </a:p>
          <a:p>
            <a:pPr rtl="0"/>
            <a:r>
              <a:rPr lang="pt-BR"/>
              <a:t>10.1 - Definir configurações iniciais do roteador</a:t>
            </a:r>
          </a:p>
          <a:p>
            <a:pPr rtl="0"/>
            <a:r>
              <a:rPr lang="pt-BR"/>
              <a:t>10.1.1 - Etapas básicas da configuração de roteamento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13</a:t>
            </a:fld>
          </a:p>
        </p:txBody>
      </p:sp>
    </p:spTree>
    <p:extLst>
      <p:ext uri="{BB962C8B-B14F-4D97-AF65-F5344CB8AC3E}">
        <p14:creationId xmlns:p14="http://schemas.microsoft.com/office/powerpoint/2010/main" val="30923122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10 - Configuração básica do roteador</a:t>
            </a:r>
          </a:p>
          <a:p>
            <a:pPr rtl="0"/>
            <a:r>
              <a:rPr lang="pt-BR"/>
              <a:t>10.1 - Definir configurações iniciais do roteador</a:t>
            </a:r>
          </a:p>
          <a:p>
            <a:pPr rtl="0"/>
            <a:r>
              <a:rPr lang="pt-BR"/>
              <a:t>10.1.2 — Exemplo de Configuração de Roteamento Básico</a:t>
            </a:r>
          </a:p>
          <a:p>
            <a:pPr rtl="0"/>
            <a:r>
              <a:rPr lang="pt-BR"/>
              <a:t>10.1.3 - Verificador de Sintaxe — Configurar Definições Iniciais do Roteador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14</a:t>
            </a:fld>
          </a:p>
        </p:txBody>
      </p:sp>
    </p:spTree>
    <p:extLst>
      <p:ext uri="{BB962C8B-B14F-4D97-AF65-F5344CB8AC3E}">
        <p14:creationId xmlns:p14="http://schemas.microsoft.com/office/powerpoint/2010/main" val="39816579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10 - Configuração básica do roteador</a:t>
            </a:r>
          </a:p>
          <a:p>
            <a:pPr rtl="0"/>
            <a:r>
              <a:rPr lang="pt-BR"/>
              <a:t>10.1 - Definir configurações iniciais do roteador</a:t>
            </a:r>
          </a:p>
          <a:p>
            <a:pPr rtl="0"/>
            <a:r>
              <a:rPr lang="pt-BR"/>
              <a:t>10.1.4 – Packet Tracer – Definição das configurações iniciais do roteador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15</a:t>
            </a:fld>
          </a:p>
        </p:txBody>
      </p:sp>
    </p:spTree>
    <p:extLst>
      <p:ext uri="{BB962C8B-B14F-4D97-AF65-F5344CB8AC3E}">
        <p14:creationId xmlns:p14="http://schemas.microsoft.com/office/powerpoint/2010/main" val="35213041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10 - Configuração básica do roteador</a:t>
            </a:r>
          </a:p>
          <a:p>
            <a:pPr rtl="0"/>
            <a:r>
              <a:rPr lang="pt-BR"/>
              <a:t>10.2 Configurar interfaces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16</a:t>
            </a:fld>
          </a:p>
        </p:txBody>
      </p:sp>
    </p:spTree>
    <p:extLst>
      <p:ext uri="{BB962C8B-B14F-4D97-AF65-F5344CB8AC3E}">
        <p14:creationId xmlns:p14="http://schemas.microsoft.com/office/powerpoint/2010/main" val="39632910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10 - Configuração básica do roteador</a:t>
            </a:r>
          </a:p>
          <a:p>
            <a:pPr rtl="0"/>
            <a:r>
              <a:rPr lang="pt-BR"/>
              <a:t>10.2 — Configurar interfaces</a:t>
            </a:r>
          </a:p>
          <a:p>
            <a:pPr rtl="0"/>
            <a:r>
              <a:rPr lang="pt-BR"/>
              <a:t>10.2.1 Configurar interfaces do roteador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17</a:t>
            </a:fld>
          </a:p>
        </p:txBody>
      </p:sp>
    </p:spTree>
    <p:extLst>
      <p:ext uri="{BB962C8B-B14F-4D97-AF65-F5344CB8AC3E}">
        <p14:creationId xmlns:p14="http://schemas.microsoft.com/office/powerpoint/2010/main" val="417303988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10 - Configuração básica do roteador</a:t>
            </a:r>
          </a:p>
          <a:p>
            <a:pPr rtl="0"/>
            <a:r>
              <a:rPr lang="pt-BR"/>
              <a:t>10.2 — Configurar interfaces</a:t>
            </a:r>
          </a:p>
          <a:p>
            <a:pPr rtl="0"/>
            <a:r>
              <a:rPr lang="pt-BR"/>
              <a:t>10.2.2 — Exemplo de Configuração de Interfaces de Roteador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18</a:t>
            </a:fld>
          </a:p>
        </p:txBody>
      </p:sp>
    </p:spTree>
    <p:extLst>
      <p:ext uri="{BB962C8B-B14F-4D97-AF65-F5344CB8AC3E}">
        <p14:creationId xmlns:p14="http://schemas.microsoft.com/office/powerpoint/2010/main" val="3379030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10 - Configuração básica do roteador</a:t>
            </a:r>
          </a:p>
          <a:p>
            <a:pPr rtl="0"/>
            <a:r>
              <a:rPr lang="pt-BR"/>
              <a:t>10.2 — Configurar interfaces</a:t>
            </a:r>
          </a:p>
          <a:p>
            <a:pPr rtl="0"/>
            <a:r>
              <a:rPr lang="pt-BR"/>
              <a:t>10.2.2 — Exemplo de Configuração de Interfaces de Roteador (Cont.)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19</a:t>
            </a:fld>
          </a:p>
        </p:txBody>
      </p:sp>
    </p:spTree>
    <p:extLst>
      <p:ext uri="{BB962C8B-B14F-4D97-AF65-F5344CB8AC3E}">
        <p14:creationId xmlns:p14="http://schemas.microsoft.com/office/powerpoint/2010/main" val="18311269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10 - Configuração básica do roteador</a:t>
            </a:r>
          </a:p>
          <a:p>
            <a:pPr rtl="0"/>
            <a:r>
              <a:rPr lang="pt-BR"/>
              <a:t>10.2 — Configurar interfaces</a:t>
            </a:r>
          </a:p>
          <a:p>
            <a:pPr rtl="0"/>
            <a:r>
              <a:rPr lang="pt-BR"/>
              <a:t>10.2.3 – Verificar a configuração da Interface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20</a:t>
            </a:fld>
          </a:p>
        </p:txBody>
      </p:sp>
    </p:spTree>
    <p:extLst>
      <p:ext uri="{BB962C8B-B14F-4D97-AF65-F5344CB8AC3E}">
        <p14:creationId xmlns:p14="http://schemas.microsoft.com/office/powerpoint/2010/main" val="49288336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10 - Configuração básica do roteador</a:t>
            </a:r>
          </a:p>
          <a:p>
            <a:pPr rtl="0"/>
            <a:r>
              <a:rPr lang="pt-BR"/>
              <a:t>10.2 — Configurar interfaces</a:t>
            </a:r>
          </a:p>
          <a:p>
            <a:pPr rtl="0"/>
            <a:r>
              <a:rPr lang="pt-BR"/>
              <a:t>10.2.4 — Comandos de Verificação de Configuração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21</a:t>
            </a:fld>
          </a:p>
        </p:txBody>
      </p:sp>
    </p:spTree>
    <p:extLst>
      <p:ext uri="{BB962C8B-B14F-4D97-AF65-F5344CB8AC3E}">
        <p14:creationId xmlns:p14="http://schemas.microsoft.com/office/powerpoint/2010/main" val="204506282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10 - Configuração básica do roteador</a:t>
            </a:r>
          </a:p>
          <a:p>
            <a:pPr rtl="0"/>
            <a:r>
              <a:rPr lang="pt-BR"/>
              <a:t>10.2 — Configurar interfaces</a:t>
            </a:r>
          </a:p>
          <a:p>
            <a:pPr rtl="0"/>
            <a:r>
              <a:rPr lang="pt-BR"/>
              <a:t>10.2.4 — Comandos de Verificação de Configuração (Cont.)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22</a:t>
            </a:fld>
          </a:p>
        </p:txBody>
      </p:sp>
    </p:spTree>
    <p:extLst>
      <p:ext uri="{BB962C8B-B14F-4D97-AF65-F5344CB8AC3E}">
        <p14:creationId xmlns:p14="http://schemas.microsoft.com/office/powerpoint/2010/main" val="60444293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10 - Configuração básica do roteador</a:t>
            </a:r>
          </a:p>
          <a:p>
            <a:pPr rtl="0"/>
            <a:r>
              <a:rPr lang="pt-BR"/>
              <a:t>10.2 — Configurar interfaces</a:t>
            </a:r>
          </a:p>
          <a:p>
            <a:pPr rtl="0"/>
            <a:r>
              <a:rPr lang="pt-BR"/>
              <a:t>10.2.4 — Comandos de Verificação de Configuração (Cont.)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23</a:t>
            </a:fld>
          </a:p>
        </p:txBody>
      </p:sp>
    </p:spTree>
    <p:extLst>
      <p:ext uri="{BB962C8B-B14F-4D97-AF65-F5344CB8AC3E}">
        <p14:creationId xmlns:p14="http://schemas.microsoft.com/office/powerpoint/2010/main" val="2395699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10 - Configuração básica do roteador</a:t>
            </a:r>
          </a:p>
          <a:p>
            <a:pPr rtl="0"/>
            <a:r>
              <a:rPr lang="pt-BR"/>
              <a:t>10.2 — Configurar interfaces</a:t>
            </a:r>
          </a:p>
          <a:p>
            <a:pPr rtl="0"/>
            <a:r>
              <a:rPr lang="pt-BR"/>
              <a:t>10.2.4 — Comandos de Verificação de Configuração (Cont.)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24</a:t>
            </a:fld>
          </a:p>
        </p:txBody>
      </p:sp>
    </p:spTree>
    <p:extLst>
      <p:ext uri="{BB962C8B-B14F-4D97-AF65-F5344CB8AC3E}">
        <p14:creationId xmlns:p14="http://schemas.microsoft.com/office/powerpoint/2010/main" val="90779049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10 - Configuração básica do roteador</a:t>
            </a:r>
          </a:p>
          <a:p>
            <a:pPr rtl="0"/>
            <a:r>
              <a:rPr lang="pt-BR"/>
              <a:t>10.2 — Configurar interfaces</a:t>
            </a:r>
          </a:p>
          <a:p>
            <a:pPr rtl="0"/>
            <a:r>
              <a:rPr lang="pt-BR"/>
              <a:t>10.2.4 — Comandos de Verificação de Configuração (Cont.)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25</a:t>
            </a:fld>
          </a:p>
        </p:txBody>
      </p:sp>
    </p:spTree>
    <p:extLst>
      <p:ext uri="{BB962C8B-B14F-4D97-AF65-F5344CB8AC3E}">
        <p14:creationId xmlns:p14="http://schemas.microsoft.com/office/powerpoint/2010/main" val="44157949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10 - Configuração básica do roteador</a:t>
            </a:r>
          </a:p>
          <a:p>
            <a:pPr rtl="0"/>
            <a:r>
              <a:rPr lang="pt-BR"/>
              <a:t>10.2 — Configurar interfaces</a:t>
            </a:r>
          </a:p>
          <a:p>
            <a:pPr rtl="0"/>
            <a:r>
              <a:rPr lang="pt-BR"/>
              <a:t>10.2.4 — Comandos de Verificação de Configuração (Cont.)</a:t>
            </a:r>
          </a:p>
          <a:p>
            <a:pPr rtl="0"/>
            <a:r>
              <a:rPr lang="pt-BR"/>
              <a:t>10.2.5 Verificador de Sintaxe — Configurar Interfaces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26</a:t>
            </a:fld>
          </a:p>
        </p:txBody>
      </p:sp>
    </p:spTree>
    <p:extLst>
      <p:ext uri="{BB962C8B-B14F-4D97-AF65-F5344CB8AC3E}">
        <p14:creationId xmlns:p14="http://schemas.microsoft.com/office/powerpoint/2010/main" val="189407441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10 - Configuração básica do roteador</a:t>
            </a:r>
          </a:p>
          <a:p>
            <a:pPr rtl="0"/>
            <a:r>
              <a:rPr lang="pt-BR"/>
              <a:t>10.3 Configurar o Gateway Padrão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27</a:t>
            </a:fld>
          </a:p>
        </p:txBody>
      </p:sp>
    </p:spTree>
    <p:extLst>
      <p:ext uri="{BB962C8B-B14F-4D97-AF65-F5344CB8AC3E}">
        <p14:creationId xmlns:p14="http://schemas.microsoft.com/office/powerpoint/2010/main" val="97775541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10 - Configuração básica do roteador</a:t>
            </a:r>
          </a:p>
          <a:p>
            <a:pPr rtl="0"/>
            <a:r>
              <a:rPr lang="pt-BR"/>
              <a:t>10.3 – Configurar o gateway padrão</a:t>
            </a:r>
          </a:p>
          <a:p>
            <a:pPr rtl="0"/>
            <a:r>
              <a:rPr lang="pt-BR"/>
              <a:t>10.3.1 - Gateway padrão em um host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28</a:t>
            </a:fld>
          </a:p>
        </p:txBody>
      </p:sp>
    </p:spTree>
    <p:extLst>
      <p:ext uri="{BB962C8B-B14F-4D97-AF65-F5344CB8AC3E}">
        <p14:creationId xmlns:p14="http://schemas.microsoft.com/office/powerpoint/2010/main" val="331557088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10 - Configuração básica do roteador</a:t>
            </a:r>
          </a:p>
          <a:p>
            <a:pPr rtl="0"/>
            <a:r>
              <a:rPr lang="pt-BR"/>
              <a:t>10.3 – Configurar o gateway padrão</a:t>
            </a:r>
          </a:p>
          <a:p>
            <a:pPr rtl="0"/>
            <a:r>
              <a:rPr lang="pt-BR"/>
              <a:t>10.3.2 - Gateway padrão em um switch</a:t>
            </a:r>
          </a:p>
          <a:p>
            <a:pPr rtl="0"/>
            <a:r>
              <a:rPr lang="pt-BR"/>
              <a:t>10.3.3 — Verificador de Sintaxe — Configurar o Gateway Padrão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29</a:t>
            </a:fld>
          </a:p>
        </p:txBody>
      </p:sp>
    </p:spTree>
    <p:extLst>
      <p:ext uri="{BB962C8B-B14F-4D97-AF65-F5344CB8AC3E}">
        <p14:creationId xmlns:p14="http://schemas.microsoft.com/office/powerpoint/2010/main" val="213031034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10 - Configuração básica do roteador</a:t>
            </a:r>
          </a:p>
          <a:p>
            <a:pPr rtl="0"/>
            <a:r>
              <a:rPr lang="pt-BR"/>
              <a:t>10.3 - Configurar o gateway padrão</a:t>
            </a:r>
          </a:p>
          <a:p>
            <a:pPr rtl="0"/>
            <a:r>
              <a:rPr lang="pt-BR"/>
              <a:t>10.3.4 – Packet Tracer – Conectar um roteador a uma LAN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30</a:t>
            </a:fld>
          </a:p>
        </p:txBody>
      </p:sp>
    </p:spTree>
    <p:extLst>
      <p:ext uri="{BB962C8B-B14F-4D97-AF65-F5344CB8AC3E}">
        <p14:creationId xmlns:p14="http://schemas.microsoft.com/office/powerpoint/2010/main" val="309366494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10 - Configuração básica do roteador</a:t>
            </a:r>
          </a:p>
          <a:p>
            <a:pPr rtl="0"/>
            <a:r>
              <a:rPr lang="pt-BR"/>
              <a:t>10.3 - Configurar o gateway padrão</a:t>
            </a:r>
          </a:p>
          <a:p>
            <a:pPr rtl="0"/>
            <a:r>
              <a:rPr lang="pt-BR"/>
              <a:t>10.3.5 - Packet Tracer - Solucionar problemas de gateway padrão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31</a:t>
            </a:fld>
          </a:p>
        </p:txBody>
      </p:sp>
    </p:spTree>
    <p:extLst>
      <p:ext uri="{BB962C8B-B14F-4D97-AF65-F5344CB8AC3E}">
        <p14:creationId xmlns:p14="http://schemas.microsoft.com/office/powerpoint/2010/main" val="62365198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10 - Configuração básica do roteador</a:t>
            </a:r>
          </a:p>
          <a:p>
            <a:pPr rtl="0"/>
            <a:r>
              <a:rPr lang="pt-BR"/>
              <a:t>10.4 - Módulo Prática e Quiz</a:t>
            </a:r>
          </a:p>
          <a:p>
            <a:pPr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32</a:t>
            </a:fld>
          </a:p>
        </p:txBody>
      </p:sp>
    </p:spTree>
    <p:extLst>
      <p:ext uri="{BB962C8B-B14F-4D97-AF65-F5344CB8AC3E}">
        <p14:creationId xmlns:p14="http://schemas.microsoft.com/office/powerpoint/2010/main" val="221714368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rtl="0"/>
            <a:fld id="{3997A419-355F-A04A-96E0-21643AF8E9FF}" type="slidenum">
              <a:rPr sz="800">
                <a:solidFill>
                  <a:prstClr val="black"/>
                </a:solidFill>
              </a:rPr>
              <a:pPr/>
              <a:t>33</a:t>
            </a:fld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t-BR"/>
              <a:t>10 - Configuração básica do roteador</a:t>
            </a:r>
          </a:p>
          <a:p>
            <a:pPr rtl="0"/>
            <a:r>
              <a:rPr lang="pt-BR"/>
              <a:t>10.4 - Módulo Prática e Quiz</a:t>
            </a:r>
          </a:p>
          <a:p>
            <a:pPr rtl="0"/>
            <a:r>
              <a:rPr lang="pt-BR"/>
              <a:t>10.4.1 — Vídeo — Diferenças de Dispositivos de Rede: Parte 1</a:t>
            </a:r>
          </a:p>
        </p:txBody>
      </p:sp>
    </p:spTree>
    <p:extLst>
      <p:ext uri="{BB962C8B-B14F-4D97-AF65-F5344CB8AC3E}">
        <p14:creationId xmlns:p14="http://schemas.microsoft.com/office/powerpoint/2010/main" val="147682419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rtl="0"/>
            <a:fld id="{3997A419-355F-A04A-96E0-21643AF8E9FF}" type="slidenum">
              <a:rPr sz="800">
                <a:solidFill>
                  <a:prstClr val="black"/>
                </a:solidFill>
              </a:rPr>
              <a:pPr/>
              <a:t>34</a:t>
            </a:fld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t-BR"/>
              <a:t>10 - Configuração básica do roteador</a:t>
            </a:r>
          </a:p>
          <a:p>
            <a:pPr rtl="0"/>
            <a:r>
              <a:rPr lang="pt-BR"/>
              <a:t>10.4 - Módulo Prática e Quiz</a:t>
            </a:r>
          </a:p>
          <a:p>
            <a:pPr rtl="0"/>
            <a:r>
              <a:rPr lang="pt-BR"/>
              <a:t>10.4.2 — Vídeo — Diferenças de Dispositivos de Rede: Parte 2</a:t>
            </a:r>
          </a:p>
        </p:txBody>
      </p:sp>
    </p:spTree>
    <p:extLst>
      <p:ext uri="{BB962C8B-B14F-4D97-AF65-F5344CB8AC3E}">
        <p14:creationId xmlns:p14="http://schemas.microsoft.com/office/powerpoint/2010/main" val="253370498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10 - Configuração básica do roteador</a:t>
            </a:r>
          </a:p>
          <a:p>
            <a:pPr rtl="0"/>
            <a:r>
              <a:rPr lang="pt-BR"/>
              <a:t>10.4 - Configurar o gateway padrão</a:t>
            </a:r>
          </a:p>
          <a:p>
            <a:pPr rtl="0"/>
            <a:r>
              <a:rPr lang="pt-BR"/>
              <a:t>10.4.3 — Tracer de Pacotes — Configuração Básica do Dispositivo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35</a:t>
            </a:fld>
          </a:p>
        </p:txBody>
      </p:sp>
    </p:spTree>
    <p:extLst>
      <p:ext uri="{BB962C8B-B14F-4D97-AF65-F5344CB8AC3E}">
        <p14:creationId xmlns:p14="http://schemas.microsoft.com/office/powerpoint/2010/main" val="324797333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10 - Configuração básica do roteador</a:t>
            </a:r>
          </a:p>
          <a:p>
            <a:pPr rtl="0"/>
            <a:r>
              <a:rPr lang="pt-BR"/>
              <a:t>10.4 - Configurar o gateway padrão</a:t>
            </a:r>
          </a:p>
          <a:p>
            <a:pPr rtl="0"/>
            <a:r>
              <a:rPr lang="pt-BR"/>
              <a:t>10.4.4 – PTPM e Laboratório – Construa uma rede de switches e roteador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36</a:t>
            </a:fld>
          </a:p>
        </p:txBody>
      </p:sp>
    </p:spTree>
    <p:extLst>
      <p:ext uri="{BB962C8B-B14F-4D97-AF65-F5344CB8AC3E}">
        <p14:creationId xmlns:p14="http://schemas.microsoft.com/office/powerpoint/2010/main" val="214921642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rtl="0"/>
            <a:fld id="{3997A419-355F-A04A-96E0-21643AF8E9FF}" type="slidenum">
              <a:rPr sz="800">
                <a:solidFill>
                  <a:prstClr val="black"/>
                </a:solidFill>
              </a:rPr>
              <a:pPr/>
              <a:t>37</a:t>
            </a:fld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t-BR"/>
              <a:t>10 - Configuração básica do roteador</a:t>
            </a:r>
          </a:p>
          <a:p>
            <a:pPr rtl="0"/>
            <a:r>
              <a:rPr lang="pt-BR"/>
              <a:t>10.4 - Módulo Prática e Quiz</a:t>
            </a:r>
          </a:p>
          <a:p>
            <a:pPr rtl="0"/>
            <a:r>
              <a:rPr lang="pt-BR"/>
              <a:t>10.4.5 - O que eu aprendi neste módulo?</a:t>
            </a:r>
          </a:p>
        </p:txBody>
      </p:sp>
    </p:spTree>
    <p:extLst>
      <p:ext uri="{BB962C8B-B14F-4D97-AF65-F5344CB8AC3E}">
        <p14:creationId xmlns:p14="http://schemas.microsoft.com/office/powerpoint/2010/main" val="260616807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rtl="0"/>
            <a:fld id="{3997A419-355F-A04A-96E0-21643AF8E9FF}" type="slidenum">
              <a:rPr sz="800">
                <a:solidFill>
                  <a:prstClr val="black"/>
                </a:solidFill>
              </a:rPr>
              <a:pPr/>
              <a:t>38</a:t>
            </a:fld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t-BR"/>
              <a:t>10 - Configuração básica do roteador</a:t>
            </a:r>
          </a:p>
          <a:p>
            <a:pPr rtl="0"/>
            <a:r>
              <a:rPr lang="pt-BR"/>
              <a:t>10.4 - Módulo Prática e Quiz</a:t>
            </a:r>
          </a:p>
          <a:p>
            <a:pPr rtl="0"/>
            <a:r>
              <a:rPr lang="pt-BR"/>
              <a:t>10.4.5 - O que aprendi neste módulo (cont.)?</a:t>
            </a:r>
          </a:p>
        </p:txBody>
      </p:sp>
    </p:spTree>
    <p:extLst>
      <p:ext uri="{BB962C8B-B14F-4D97-AF65-F5344CB8AC3E}">
        <p14:creationId xmlns:p14="http://schemas.microsoft.com/office/powerpoint/2010/main" val="270743468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rtl="0"/>
            <a:fld id="{6C92755B-29FD-8743-9094-C0E3A734D22E}" type="slidenum">
              <a:rPr sz="800">
                <a:solidFill>
                  <a:prstClr val="black"/>
                </a:solidFill>
              </a:rPr>
              <a:pPr/>
              <a:t>39</a:t>
            </a:fld>
          </a:p>
        </p:txBody>
      </p:sp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674291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40</a:t>
            </a:fld>
          </a:p>
        </p:txBody>
      </p:sp>
    </p:spTree>
    <p:extLst>
      <p:ext uri="{BB962C8B-B14F-4D97-AF65-F5344CB8AC3E}">
        <p14:creationId xmlns:p14="http://schemas.microsoft.com/office/powerpoint/2010/main" val="1591394284"/>
      </p:ext>
    </p:extLst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 showMasterSp="0" preserve="1">
  <p:cSld name="3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086725553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 showMasterSp="0" preserve="1" userDrawn="1">
  <p:cSld name="5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1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rgbClr val="004C69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accent1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chemeClr val="accent1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3042546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 showMasterSp="0" preserve="1" userDrawn="1">
  <p:cSld name="6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4617842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 showMasterSp="0" preserve="1">
  <p:cSld name="3_Seg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2569946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4600" b="0" i="0" spc="0" baseline="0">
                <a:solidFill>
                  <a:schemeClr val="accent5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fontAlgn="auto" rtl="0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sz="60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</a:p>
        </p:txBody>
      </p:sp>
      <p:sp>
        <p:nvSpPr>
          <p:cNvPr id="9" name="Rectangle 4"/>
          <p:cNvSpPr>
            <a:spLocks noChangeArrowheads="1"/>
          </p:cNvSpPr>
          <p:nvPr userDrawn="1"/>
        </p:nvSpPr>
        <p:spPr bwMode="ltGray">
          <a:xfrm>
            <a:off x="5867508" y="4741653"/>
            <a:ext cx="2658018" cy="1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1586" tIns="30792" rIns="61586" bIns="30792" anchor="b">
            <a:spAutoFit/>
          </a:bodyPr>
          <a:lstStyle/>
          <a:p>
            <a:pPr defTabSz="610744" fontAlgn="auto" rtl="0">
              <a:spcBef>
                <a:spcPts val="0"/>
              </a:spcBef>
              <a:spcAft>
                <a:spcPts val="0"/>
              </a:spcAft>
              <a:defRPr/>
            </a:pPr>
            <a:r>
              <a:rPr sz="600" lang="pt-BR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t>© 2016 Cisco e/ou suas afiliadas. Todos os direitos reservados.   Documento confidencial da Cisco</a:t>
            </a:r>
          </a:p>
        </p:txBody>
      </p:sp>
      <p:grpSp>
        <p:nvGrpSpPr>
          <p:cNvPr id="11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rgbClr val="086D8E"/>
          </a:solidFill>
        </p:grpSpPr>
        <p:sp>
          <p:nvSpPr>
            <p:cNvPr id="12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90854121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 preserve="1">
  <p:cSld name="Multi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74662" y="1347788"/>
            <a:ext cx="8280057" cy="3073946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 b="0" i="0" baseline="0">
                <a:solidFill>
                  <a:schemeClr val="bg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Placeholder 5"/>
          <p:cNvSpPr>
            <a:spLocks noGrp="1"/>
          </p:cNvSpPr>
          <p:nvPr>
            <p:ph type="title"/>
          </p:nvPr>
        </p:nvSpPr>
        <p:spPr bwMode="auto">
          <a:xfrm>
            <a:off x="437766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2967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29121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 preserve="1">
  <p:cSld name="2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75610" y="2552550"/>
            <a:ext cx="698624" cy="698624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FFFFFF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426607"/>
            <a:ext cx="698624" cy="698624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bg1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0" y="3653093"/>
            <a:ext cx="698624" cy="698624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049FD9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365250" y="1432522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365250" y="25577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365250" y="36530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0" y="2552550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1" y="3651140"/>
            <a:ext cx="698624" cy="693381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Text Placeholder 17"/>
          <p:cNvSpPr>
            <a:spLocks noGrp="1"/>
          </p:cNvSpPr>
          <p:nvPr>
            <p:ph type="body" sz="quarter" idx="19" hasCustomPrompt="1"/>
          </p:nvPr>
        </p:nvSpPr>
        <p:spPr>
          <a:xfrm>
            <a:off x="575610" y="1427248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053872667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 preserve="1">
  <p:cSld name="5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Oval 12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17" name="Oval 16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962125011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 preserve="1">
  <p:cSld name="6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rgbClr val="FFFFFF"/>
              </a:solidFill>
              <a:cs typeface="Arial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5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49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50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51" name="Oval 50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2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54" name="Oval 53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5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  <p:sp>
        <p:nvSpPr>
          <p:cNvPr id="57" name="Oval 56"/>
          <p:cNvSpPr/>
          <p:nvPr/>
        </p:nvSpPr>
        <p:spPr>
          <a:xfrm>
            <a:off x="4414576" y="1983084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4414575" y="1332693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4414576" y="2631212"/>
            <a:ext cx="464815" cy="464815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0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5011349" y="1338608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17"/>
          <p:cNvSpPr>
            <a:spLocks noGrp="1"/>
          </p:cNvSpPr>
          <p:nvPr>
            <p:ph type="body" sz="quarter" idx="24"/>
          </p:nvPr>
        </p:nvSpPr>
        <p:spPr>
          <a:xfrm>
            <a:off x="5011350" y="198832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17"/>
          <p:cNvSpPr>
            <a:spLocks noGrp="1"/>
          </p:cNvSpPr>
          <p:nvPr>
            <p:ph type="body" sz="quarter" idx="25"/>
          </p:nvPr>
        </p:nvSpPr>
        <p:spPr>
          <a:xfrm>
            <a:off x="5011350" y="263121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3" name="Text Placeholder 17"/>
          <p:cNvSpPr>
            <a:spLocks noGrp="1"/>
          </p:cNvSpPr>
          <p:nvPr>
            <p:ph type="body" sz="quarter" idx="26" hasCustomPrompt="1"/>
          </p:nvPr>
        </p:nvSpPr>
        <p:spPr>
          <a:xfrm>
            <a:off x="4414576" y="1331287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6</a:t>
            </a:r>
          </a:p>
        </p:txBody>
      </p:sp>
      <p:sp>
        <p:nvSpPr>
          <p:cNvPr id="64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4414576" y="198308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7</a:t>
            </a:r>
          </a:p>
        </p:txBody>
      </p:sp>
      <p:sp>
        <p:nvSpPr>
          <p:cNvPr id="65" name="Text Placeholder 17"/>
          <p:cNvSpPr>
            <a:spLocks noGrp="1"/>
          </p:cNvSpPr>
          <p:nvPr>
            <p:ph type="body" sz="quarter" idx="28" hasCustomPrompt="1"/>
          </p:nvPr>
        </p:nvSpPr>
        <p:spPr>
          <a:xfrm>
            <a:off x="4414577" y="262925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8</a:t>
            </a:r>
          </a:p>
        </p:txBody>
      </p:sp>
      <p:sp>
        <p:nvSpPr>
          <p:cNvPr id="66" name="Oval 65"/>
          <p:cNvSpPr/>
          <p:nvPr/>
        </p:nvSpPr>
        <p:spPr>
          <a:xfrm>
            <a:off x="4414577" y="3278347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7" name="Text Placeholder 17"/>
          <p:cNvSpPr>
            <a:spLocks noGrp="1"/>
          </p:cNvSpPr>
          <p:nvPr>
            <p:ph type="body" sz="quarter" idx="29"/>
          </p:nvPr>
        </p:nvSpPr>
        <p:spPr>
          <a:xfrm>
            <a:off x="5011351" y="327834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Text Placeholder 17"/>
          <p:cNvSpPr>
            <a:spLocks noGrp="1"/>
          </p:cNvSpPr>
          <p:nvPr>
            <p:ph type="body" sz="quarter" idx="30" hasCustomPrompt="1"/>
          </p:nvPr>
        </p:nvSpPr>
        <p:spPr>
          <a:xfrm>
            <a:off x="4414578" y="327639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9</a:t>
            </a:r>
          </a:p>
        </p:txBody>
      </p:sp>
      <p:sp>
        <p:nvSpPr>
          <p:cNvPr id="69" name="Oval 68"/>
          <p:cNvSpPr/>
          <p:nvPr/>
        </p:nvSpPr>
        <p:spPr>
          <a:xfrm>
            <a:off x="4414578" y="3925482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70" name="Text Placeholder 17"/>
          <p:cNvSpPr>
            <a:spLocks noGrp="1"/>
          </p:cNvSpPr>
          <p:nvPr>
            <p:ph type="body" sz="quarter" idx="31"/>
          </p:nvPr>
        </p:nvSpPr>
        <p:spPr>
          <a:xfrm>
            <a:off x="5011352" y="392548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1" name="Text Placeholder 17"/>
          <p:cNvSpPr>
            <a:spLocks noGrp="1"/>
          </p:cNvSpPr>
          <p:nvPr>
            <p:ph type="body" sz="quarter" idx="32" hasCustomPrompt="1"/>
          </p:nvPr>
        </p:nvSpPr>
        <p:spPr>
          <a:xfrm>
            <a:off x="4414579" y="392352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643099958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 showMasterSp="0" preserve="1">
  <p:cSld name="1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"/>
            <a:ext cx="9143999" cy="5165874"/>
          </a:xfrm>
          <a:prstGeom prst="rect">
            <a:avLst/>
          </a:prstGeom>
        </p:spPr>
      </p:pic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98843304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 showMasterSp="0" preserve="1">
  <p:cSld name="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47974899"/>
      </p:ext>
    </p:extLst>
  </p:cSld>
  <p:clrMapOvr>
    <a:masterClrMapping/>
  </p:clrMapOvr>
  <p:transition spd="slow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 showMasterSp="0" preserve="1">
  <p:cSld name="3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1">
              <a:lumMod val="75000"/>
            </a:schemeClr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51544963"/>
      </p:ext>
    </p:extLst>
  </p:cSld>
  <p:clrMapOvr>
    <a:masterClrMapping/>
  </p:clrMapOvr>
  <p:transition spd="slow">
    <p:wip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473441" y="4954263"/>
            <a:ext cx="676910" cy="1892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25">
                <a:solidFill>
                  <a:schemeClr val="tx2"/>
                </a:solidFill>
              </a:defRPr>
            </a:lvl1pPr>
          </a:lstStyle>
          <a:p>
            <a:pPr defTabSz="385763">
              <a:defRPr/>
            </a:pPr>
            <a:fld id="{2F5CCB13-0A32-4557-88E9-079F0C330695}" type="slidenum">
              <a:rPr lang="en-US" kern="0" smtClean="0">
                <a:solidFill>
                  <a:srgbClr val="595959"/>
                </a:solidFill>
              </a:rPr>
              <a:pPr defTabSz="385763">
                <a:defRPr/>
              </a:pPr>
              <a:t>‹#›</a:t>
            </a:fld>
            <a:endParaRPr lang="en-US" kern="0" dirty="0">
              <a:solidFill>
                <a:srgbClr val="595959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44065" y="798944"/>
            <a:ext cx="8853286" cy="4155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>
            <a:prstTxWarp prst="textNoShape">
              <a:avLst/>
            </a:prstTxWarp>
          </a:bodyPr>
          <a:lstStyle>
            <a:lvl1pPr marL="169863" indent="-169863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>
                <a:solidFill>
                  <a:srgbClr val="000000"/>
                </a:solidFill>
              </a:defRPr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4pPr>
          </a:lstStyle>
          <a:p>
            <a:pPr lvl="0"/>
            <a:r>
              <a:rPr lang="en-US">
                <a:sym typeface="Arial" pitchFamily="34" charset="0"/>
              </a:rPr>
              <a:t>Click to edit Master text styles</a:t>
            </a:r>
          </a:p>
          <a:p>
            <a:pPr lvl="1"/>
            <a:r>
              <a:rPr lang="en-US">
                <a:sym typeface="Arial" pitchFamily="34" charset="0"/>
              </a:rPr>
              <a:t>Second level</a:t>
            </a:r>
          </a:p>
          <a:p>
            <a:pPr lvl="2"/>
            <a:r>
              <a:rPr lang="en-US">
                <a:sym typeface="Arial" pitchFamily="34" charset="0"/>
              </a:rPr>
              <a:t>Third level</a:t>
            </a:r>
          </a:p>
          <a:p>
            <a:pPr lvl="3"/>
            <a:r>
              <a:rPr lang="en-US">
                <a:sym typeface="Arial" pitchFamily="34" charset="0"/>
              </a:rPr>
              <a:t>Fourth level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" y="41393"/>
            <a:ext cx="9144000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sz="2400"/>
            </a:lvl1pPr>
          </a:lstStyle>
          <a:p>
            <a:pPr lvl="0"/>
            <a:r>
              <a:rPr lang="en-US">
                <a:sym typeface="Arial" pitchFamily="34" charset="0"/>
              </a:rPr>
              <a:t>Click to edit Master title style</a:t>
            </a:r>
            <a:endParaRPr lang="en-US" dirty="0">
              <a:sym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7996623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9250104"/>
      </p:ext>
    </p:extLst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5"/>
          <p:cNvSpPr>
            <a:spLocks noGrp="1"/>
          </p:cNvSpPr>
          <p:nvPr>
            <p:ph type="title"/>
          </p:nvPr>
        </p:nvSpPr>
        <p:spPr bwMode="auto">
          <a:xfrm>
            <a:off x="438150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Title Goes Here</a:t>
            </a:r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fontAlgn="auto" rtl="0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sz="60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ltGray">
          <a:xfrm>
            <a:off x="5676473" y="4741653"/>
            <a:ext cx="2849053" cy="1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61586" tIns="30792" rIns="61586" bIns="30792" anchor="b">
            <a:spAutoFit/>
          </a:bodyPr>
          <a:lstStyle/>
          <a:p>
            <a:pPr defTabSz="610744" fontAlgn="auto" rtl="0">
              <a:spcBef>
                <a:spcPts val="0"/>
              </a:spcBef>
              <a:spcAft>
                <a:spcPts val="0"/>
              </a:spcAft>
              <a:defRPr/>
            </a:pPr>
            <a:r>
              <a:rPr sz="600" lang="pt-BR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t>© 2019, 2021 Cisco e/ou suas afiliadas. Todos os direitos reservados.   Documento confidencial da Cisco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chemeClr val="accent5"/>
          </a:solidFill>
        </p:grpSpPr>
        <p:sp>
          <p:nvSpPr>
            <p:cNvPr id="7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2" r:id="rId1"/>
    <p:sldLayoutId id="2147484013" r:id="rId2"/>
    <p:sldLayoutId id="2147484014" r:id="rId3"/>
    <p:sldLayoutId id="2147483965" r:id="rId4"/>
    <p:sldLayoutId id="2147483967" r:id="rId5"/>
    <p:sldLayoutId id="2147483995" r:id="rId6"/>
    <p:sldLayoutId id="2147484007" r:id="rId7"/>
    <p:sldLayoutId id="2147484010" r:id="rId8"/>
    <p:sldLayoutId id="2147484011" r:id="rId9"/>
    <p:sldLayoutId id="2147484015" r:id="rId10"/>
    <p:sldLayoutId id="2147483998" r:id="rId11"/>
    <p:sldLayoutId id="2147484027" r:id="rId12"/>
    <p:sldLayoutId id="2147484029" r:id="rId13"/>
    <p:sldLayoutId id="2147484031" r:id="rId14"/>
  </p:sldLayoutIdLst>
  <p:transition spd="slow">
    <p:wipe/>
  </p:transition>
  <p:txStyles>
    <p:titleStyle>
      <a:lvl1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lang="en-US" sz="3200" kern="1200" dirty="0">
          <a:solidFill>
            <a:schemeClr val="accent4"/>
          </a:solidFill>
          <a:latin typeface="+mj-lt"/>
          <a:ea typeface="ＭＳ Ｐゴシック" charset="0"/>
          <a:cs typeface="CiscoSans"/>
        </a:defRPr>
      </a:lvl1pPr>
      <a:lvl2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2pPr>
      <a:lvl3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3pPr>
      <a:lvl4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4pPr>
      <a:lvl5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5pPr>
      <a:lvl6pPr marL="4572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6pPr>
      <a:lvl7pPr marL="9144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7pPr>
      <a:lvl8pPr marL="13716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8pPr>
      <a:lvl9pPr marL="18288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9pPr>
    </p:titleStyle>
    <p:bodyStyle>
      <a:lvl1pPr marL="169863" indent="-169863" algn="l" defTabSz="684213" rtl="0" eaLnBrk="1" fontAlgn="base" hangingPunct="1">
        <a:lnSpc>
          <a:spcPct val="95000"/>
        </a:lnSpc>
        <a:spcBef>
          <a:spcPts val="1075"/>
        </a:spcBef>
        <a:spcAft>
          <a:spcPct val="0"/>
        </a:spcAft>
        <a:buClr>
          <a:schemeClr val="tx2"/>
        </a:buClr>
        <a:buSzPct val="90000"/>
        <a:buFont typeface="Arial" charset="0"/>
        <a:buChar char="•"/>
        <a:defRPr lang="en-US" sz="15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1pPr>
      <a:lvl2pPr marL="358775" indent="-215900" algn="l" defTabSz="684213" rtl="0" eaLnBrk="1" fontAlgn="base" hangingPunct="1">
        <a:lnSpc>
          <a:spcPct val="95000"/>
        </a:lnSpc>
        <a:spcBef>
          <a:spcPts val="600"/>
        </a:spcBef>
        <a:spcAft>
          <a:spcPct val="0"/>
        </a:spcAft>
        <a:buClr>
          <a:schemeClr val="tx2"/>
        </a:buClr>
        <a:buFont typeface="Arial" charset="0"/>
        <a:buChar char="•"/>
        <a:defRPr lang="en-US" sz="14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2pPr>
      <a:lvl3pPr marL="431800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2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3pPr>
      <a:lvl4pPr marL="503238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4pPr>
      <a:lvl5pPr marL="574675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5pPr>
      <a:lvl6pPr marL="863856" indent="-171445" algn="l" defTabSz="685777" rtl="0" eaLnBrk="1" latinLnBrk="0" hangingPunct="1">
        <a:spcBef>
          <a:spcPts val="600"/>
        </a:spcBef>
        <a:buFont typeface="Arial" pitchFamily="34" charset="0"/>
        <a:buChar char="•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935844" indent="-171422" algn="l" defTabSz="685777" rtl="0" eaLnBrk="1" latinLnBrk="0" hangingPunct="1">
        <a:spcBef>
          <a:spcPts val="600"/>
        </a:spcBef>
        <a:buFont typeface="Arial" pitchFamily="34" charset="0"/>
        <a:buChar char="•"/>
        <a:defRPr sz="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400220" indent="0" algn="l" defTabSz="685777" rtl="0" eaLnBrk="1" latinLnBrk="0" hangingPunct="1">
        <a:spcBef>
          <a:spcPct val="20000"/>
        </a:spcBef>
        <a:buFont typeface="Arial" pitchFamily="34" charset="0"/>
        <a:buNone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53" indent="-171445" algn="l" defTabSz="685777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6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777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6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5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41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32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2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1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336" userDrawn="1">
          <p15:clr>
            <a:srgbClr val="F26B43"/>
          </p15:clr>
        </p15:guide>
      </p15:sldGuideLst>
    </p:ext>
  </p:extLst>
</p:sldMaster>
</file>

<file path=ppt/slides/_rels/slide1.xml.rels><?xml version="1.0" encoding="utf-8"?>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?>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.xml"/></Relationships>
</file>

<file path=ppt/slides/_rels/slide3.xml.rels><?xml version="1.0" encoding="utf-8"?>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.xml"/></Relationships>
</file>

<file path=ppt/slides/_rels/slide4.xml.rels><?xml version="1.0" encoding="utf-8"?>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5.xml"/></Relationships>
</file>

<file path=ppt/slides/_rels/slide5.xml.rels><?xml version="1.0" encoding="utf-8"?>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6.xml"/></Relationships>
</file>

<file path=ppt/slides/_rels/slide6.xml.rels><?xml version="1.0" encoding="utf-8"?>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7.xml"/></Relationships>
</file>

<file path=ppt/slides/_rels/slide7.xml.rels><?xml version="1.0" encoding="utf-8"?>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8.xml"/></Relationships>
</file>

<file path=ppt/slides/_rels/slide8.xml.rels><?xml version="1.0" encoding="utf-8"?>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9.xml"/></Relationships>
</file>

<file path=ppt/slides/_rels/slide9.xml.rels><?xml version="1.0" encoding="utf-8"?>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0.xml"/></Relationships>
</file>

<file path=ppt/slides/_rels/slide10.xml.rels><?xml version="1.0" encoding="utf-8"?>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/Relationships>
</file>

<file path=ppt/slides/_rels/slide11.xml.rels><?xml version="1.0" encoding="utf-8"?>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2.xml"/></Relationships>
</file>

<file path=ppt/slides/_rels/slide12.xml.rels><?xml version="1.0" encoding="utf-8"?>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3.xml"/></Relationships>
</file>

<file path=ppt/slides/_rels/slide13.xml.rels><?xml version="1.0" encoding="utf-8"?>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4.xml.rels><?xml version="1.0" encoding="utf-8"?>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5.xml.rels><?xml version="1.0" encoding="utf-8"?>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6.xml.rels><?xml version="1.0" encoding="utf-8"?>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4.xml"/></Relationships>
</file>

<file path=ppt/slides/_rels/slide17.xml.rels><?xml version="1.0" encoding="utf-8"?>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8.xml.rels><?xml version="1.0" encoding="utf-8"?>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9.xml.rels><?xml version="1.0" encoding="utf-8"?>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20.xml.rels><?xml version="1.0" encoding="utf-8"?>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21.xml.rels><?xml version="1.0" encoding="utf-8"?>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2.xml.rels><?xml version="1.0" encoding="utf-8"?>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3.xml.rels><?xml version="1.0" encoding="utf-8"?>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4.xml.rels><?xml version="1.0" encoding="utf-8"?>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5.xml.rels><?xml version="1.0" encoding="utf-8"?>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6.xml.rels><?xml version="1.0" encoding="utf-8"?>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7.xml.rels><?xml version="1.0" encoding="utf-8"?>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5.xml"/></Relationships>
</file>

<file path=ppt/slides/_rels/slide28.xml.rels><?xml version="1.0" encoding="utf-8"?>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9.xml.rels><?xml version="1.0" encoding="utf-8"?>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30.xml.rels><?xml version="1.0" encoding="utf-8"?>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31.xml.rels><?xml version="1.0" encoding="utf-8"?>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2.xml.rels><?xml version="1.0" encoding="utf-8"?>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6.xml"/></Relationships>
</file>

<file path=ppt/slides/_rels/slide33.xml.rels><?xml version="1.0" encoding="utf-8"?>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7.xml"/></Relationships>
</file>

<file path=ppt/slides/_rels/slide34.xml.rels><?xml version="1.0" encoding="utf-8"?>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8.xml"/></Relationships>
</file>

<file path=ppt/slides/_rels/slide35.xml.rels><?xml version="1.0" encoding="utf-8"?>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36.xml.rels><?xml version="1.0" encoding="utf-8"?>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37.xml.rels><?xml version="1.0" encoding="utf-8"?>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9.xml"/></Relationships>
</file>

<file path=ppt/slides/_rels/slide38.xml.rels><?xml version="1.0" encoding="utf-8"?>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0.xml"/></Relationships>
</file>

<file path=ppt/slides/_rels/slide39.xml.rels><?xml version="1.0" encoding="utf-8"?>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1.xml"/></Relationships>
</file>

<file path=ppt/slides/_rels/slide40.xml.rels><?xml version="1.0" encoding="utf-8"?>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469497" y="1219200"/>
            <a:ext cx="6557379" cy="1666626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Módulo 10: Configuração básica do roteador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69497" y="3127609"/>
            <a:ext cx="5925246" cy="299001"/>
          </a:xfrm>
        </p:spPr>
        <p:txBody>
          <a:bodyPr/>
          <a:lstStyle/>
          <a:p>
            <a:pPr rtl="0"/>
            <a:r>
              <a:rPr lang="pt-BR">
                <a:solidFill>
                  <a:schemeClr val="bg2">
                    <a:lumMod val="40000"/>
                    <a:lumOff val="60000"/>
                  </a:schemeClr>
                </a:solidFill>
              </a:rPr>
              <a:t>Material do instrutor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469497" y="3809526"/>
            <a:ext cx="2368954" cy="902174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Introdução às redes v7.0 (ITN)</a:t>
            </a:r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3650477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3"/>
          <p:cNvSpPr>
            <a:spLocks noGrp="1" noChangeArrowheads="1"/>
          </p:cNvSpPr>
          <p:nvPr>
            <p:ph type="title"/>
          </p:nvPr>
        </p:nvSpPr>
        <p:spPr>
          <a:xfrm>
            <a:off x="1" y="50629"/>
            <a:ext cx="9144000" cy="757551"/>
          </a:xfrm>
        </p:spPr>
        <p:txBody>
          <a:bodyPr/>
          <a:lstStyle/>
          <a:p>
            <a:pPr rtl="0"/>
            <a:r>
              <a:rPr lang="pt-BR"/>
              <a:t>Materiais do instrutor - Guia de planejamento do módulo 10</a:t>
            </a:r>
          </a:p>
        </p:txBody>
      </p:sp>
      <p:sp>
        <p:nvSpPr>
          <p:cNvPr id="4099" name="Rectangle 34"/>
          <p:cNvSpPr>
            <a:spLocks noGrp="1" noChangeArrowheads="1"/>
          </p:cNvSpPr>
          <p:nvPr>
            <p:ph idx="1"/>
          </p:nvPr>
        </p:nvSpPr>
        <p:spPr>
          <a:xfrm>
            <a:off x="145357" y="808180"/>
            <a:ext cx="8774199" cy="3805384"/>
          </a:xfrm>
        </p:spPr>
        <p:txBody>
          <a:bodyPr/>
          <a:lstStyle/>
          <a:p>
            <a:pPr marL="0" indent="0" rtl="0">
              <a:buNone/>
            </a:pPr>
            <a:r>
              <a:rPr lang="pt-BR"/>
              <a:t>Esta apresentação de PowerPoint é dividida em duas partes: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pt-BR"/>
              <a:t>Guia de planejamento do Instrutor</a:t>
            </a:r>
          </a:p>
          <a:p>
            <a:pPr lvl="1" rtl="0"/>
            <a:r>
              <a:rPr lang="pt-BR"/>
              <a:t>Informações para ajudá-lo a se familiarizar com o módulo</a:t>
            </a:r>
          </a:p>
          <a:p>
            <a:pPr lvl="1" rtl="0"/>
            <a:r>
              <a:rPr lang="pt-BR"/>
              <a:t>Material didático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pt-BR"/>
              <a:t>Apresentação para aulas</a:t>
            </a:r>
          </a:p>
          <a:p>
            <a:pPr lvl="1" rtl="0"/>
            <a:r>
              <a:rPr lang="pt-BR"/>
              <a:t>Slides opcionais que você pode usar em sala de aula</a:t>
            </a:r>
          </a:p>
          <a:p>
            <a:pPr lvl="1" rtl="0"/>
            <a:r>
              <a:rPr lang="pt-BR"/>
              <a:t>Começa no slide  #</a:t>
            </a:r>
            <a:r>
              <a:rPr lang="pt-BR">
                <a:solidFill>
                  <a:schemeClr val="tx1"/>
                </a:solidFill>
              </a:rPr>
              <a:t>10</a:t>
            </a:r>
          </a:p>
          <a:p>
            <a:pPr marL="142875" lvl="1" indent="0" algn="ctr" rtl="0">
              <a:buNone/>
            </a:pPr>
            <a:r>
              <a:rPr sz="1600" b="true" lang="pt-BR"/>
              <a:t>Observação</a:t>
            </a:r>
            <a:r>
              <a:rPr sz="1600" lang="pt-BR"/>
              <a:t>: Remova o Guia de planejamento desta apresentação antes de compartilhar com outra pessoa.</a:t>
            </a:r>
          </a:p>
          <a:p>
            <a:pPr marL="0" indent="0" rtl="0">
              <a:buNone/>
            </a:pPr>
            <a:r>
              <a:rPr sz="1600" b="true" lang="pt-BR">
                <a:solidFill>
                  <a:schemeClr val="accent4"/>
                </a:solidFill>
              </a:rPr>
              <a:t>Para obter ajuda e recursos adicionais,  vá para a página inicial do instrutor e os recursos do curso para este curso. Você também pode visitar o site de desenvolvimento profissional na NetAcad.com, a página oficial do Facebook da Academia de Networking da Cisco ou instrutor apenas FB Group.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99581950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2EDE137-350D-6D47-BD51-750CD19838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065" y="798945"/>
            <a:ext cx="8853286" cy="346366"/>
          </a:xfrm>
        </p:spPr>
        <p:txBody>
          <a:bodyPr/>
          <a:lstStyle/>
          <a:p>
            <a:pPr rtl="0"/>
            <a:r>
              <a:rPr lang="pt-BR"/>
              <a:t>Para facilitar a aprendizagem, os seguintes recursos dentro da GUI podem ser incluídos neste módulo: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0DBD329-AB20-664C-9697-486FE5CED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9238"/>
            <a:ext cx="9144000" cy="609708"/>
          </a:xfrm>
        </p:spPr>
        <p:txBody>
          <a:bodyPr/>
          <a:lstStyle/>
          <a:p>
            <a:pPr rtl="0"/>
            <a:r>
              <a:rPr lang="pt-BR"/>
              <a:t>O que esperar neste módulo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4EE699F-A87C-2246-9235-C1DFDF6B2651}"/>
              </a:ext>
            </a:extLst>
          </p:cNvPr>
          <p:cNvGraphicFramePr>
            <a:graphicFrameLocks noGrp="1"/>
          </p:cNvGraphicFramePr>
          <p:nvPr/>
        </p:nvGraphicFramePr>
        <p:xfrm>
          <a:off x="301658" y="1145310"/>
          <a:ext cx="8557528" cy="30064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0558">
                  <a:extLst>
                    <a:ext uri="{9D8B030D-6E8A-4147-A177-3AD203B41FA5}">
                      <a16:colId xmlns:a16="http://schemas.microsoft.com/office/drawing/2014/main" val="200107645"/>
                    </a:ext>
                  </a:extLst>
                </a:gridCol>
                <a:gridCol w="6416970">
                  <a:extLst>
                    <a:ext uri="{9D8B030D-6E8A-4147-A177-3AD203B41FA5}">
                      <a16:colId xmlns:a16="http://schemas.microsoft.com/office/drawing/2014/main" val="2648404099"/>
                    </a:ext>
                  </a:extLst>
                </a:gridCol>
              </a:tblGrid>
              <a:tr h="265091"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Recurso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Descrição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710602"/>
                  </a:ext>
                </a:extLst>
              </a:tr>
              <a:tr h="331556">
                <a:tc>
                  <a:txBody>
                    <a:bodyPr/>
                    <a:lstStyle/>
                    <a:p>
                      <a:pPr algn="l" fontAlgn="b" rtl="0"/>
                      <a:r>
                        <a:rPr sz="1400" b="false" i="false" u="none" strike="noStrike" lang="pt-BR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Animations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/>
                        <a:t>Expor os alunos a novas competências e conceitos.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8835149"/>
                  </a:ext>
                </a:extLst>
              </a:tr>
              <a:tr h="379411">
                <a:tc>
                  <a:txBody>
                    <a:bodyPr/>
                    <a:lstStyle/>
                    <a:p>
                      <a:pPr marL="0" marR="0" lvl="0" indent="0" algn="l" defTabSz="685777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400" b="false" i="false" u="none" strike="noStrike" lang="pt-BR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Vídeos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/>
                        <a:t>Exponha os alunos a novas habilidades e conceitos.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4576505"/>
                  </a:ext>
                </a:extLst>
              </a:tr>
              <a:tr h="265091">
                <a:tc>
                  <a:txBody>
                    <a:bodyPr/>
                    <a:lstStyle/>
                    <a:p>
                      <a:pPr marL="0" marR="0" lvl="0" indent="0" algn="l" defTabSz="685777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400" b="false" i="false" u="none" strike="noStrike" lang="pt-BR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Verifique seu entendimento (CYU)</a:t>
                      </a:r>
                    </a:p>
                    <a:p>
                      <a:pPr algn="l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Questionário online por tópico para ajudar os alunos a avaliar a compreensão do conteúdo.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6586054"/>
                  </a:ext>
                </a:extLst>
              </a:tr>
              <a:tr h="178145">
                <a:tc>
                  <a:txBody>
                    <a:bodyPr/>
                    <a:lstStyle/>
                    <a:p>
                      <a:pPr marL="0" marR="0" lvl="0" indent="0" algn="l" defTabSz="685777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400" b="false" i="false" u="none" strike="noStrike" lang="pt-BR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Atividades Interativas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Uma variedade de formatos para ajudar os alunos a avaliar a compreensão do conteúdo.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4703549"/>
                  </a:ext>
                </a:extLst>
              </a:tr>
              <a:tr h="215293">
                <a:tc>
                  <a:txBody>
                    <a:bodyPr/>
                    <a:lstStyle/>
                    <a:p>
                      <a:pPr algn="l" fontAlgn="b" rtl="0"/>
                      <a:r>
                        <a:rPr sz="1400" b="false" i="false" u="none" strike="noStrike" lang="pt-BR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Verificador de Sintaxe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Pequenas simulações que expõem os alunos à linha de comando da Cisco para praticar habilidades de configuração.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5331658"/>
                  </a:ext>
                </a:extLst>
              </a:tr>
              <a:tr h="265091">
                <a:tc>
                  <a:txBody>
                    <a:bodyPr/>
                    <a:lstStyle/>
                    <a:p>
                      <a:pPr algn="l" fontAlgn="b" rtl="0"/>
                      <a:r>
                        <a:rPr sz="1400" b="false" i="false" u="none" strike="noStrike" lang="pt-BR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Atividade do PT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Atividades de simulação e modelagem projetadas para explorar, adquirir, reforçar e expandir habilidades.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7131555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22153960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2D10C50B-ED86-4E5D-BD0F-658911DFE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5285"/>
            <a:ext cx="9144000" cy="757238"/>
          </a:xfrm>
        </p:spPr>
        <p:txBody>
          <a:bodyPr/>
          <a:lstStyle/>
          <a:p>
            <a:pPr rtl="0"/>
            <a:r>
              <a:rPr lang="pt-BR"/>
              <a:t>O que esperar neste módulo (Cont.)</a:t>
            </a:r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031D3D35-BC84-421A-A5F0-48081A310F8E}"/>
              </a:ext>
            </a:extLst>
          </p:cNvPr>
          <p:cNvSpPr txBox="1">
            <a:spLocks/>
          </p:cNvSpPr>
          <p:nvPr/>
        </p:nvSpPr>
        <p:spPr bwMode="auto">
          <a:xfrm>
            <a:off x="106756" y="668963"/>
            <a:ext cx="8853286" cy="346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>
            <a:prstTxWarp prst="textNoShape">
              <a:avLst/>
            </a:prstTxWarp>
          </a:bodyPr>
          <a:lstStyle>
            <a:lvl1pPr marL="169863" indent="-169863" algn="l" defTabSz="684213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§"/>
              <a:defRPr lang="en-US" sz="15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1pPr>
            <a:lvl2pPr marL="358775" indent="-215900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charset="0"/>
              <a:buChar char="•"/>
              <a:defRPr lang="en-US" sz="14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1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r>
              <a:rPr lang="pt-BR"/>
              <a:t>Para facilitar a aprendizagem, os seguintes recursos podem ser incluídos neste módulo: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Font typeface="Wingdings" panose="05000000000000000000" pitchFamily="2" charset="2"/>
              <a:buNone/>
            </a:pP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55940-FD94-41F4-9281-A84AF78255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065" y="1191491"/>
            <a:ext cx="8853286" cy="3762772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39B78F4A-8B1F-4E11-B57F-2036926164A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35446048"/>
              </p:ext>
            </p:extLst>
          </p:nvPr>
        </p:nvGraphicFramePr>
        <p:xfrm>
          <a:off x="106756" y="1279280"/>
          <a:ext cx="8595235" cy="23869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8265">
                  <a:extLst>
                    <a:ext uri="{9D8B030D-6E8A-4147-A177-3AD203B41FA5}">
                      <a16:colId xmlns:a16="http://schemas.microsoft.com/office/drawing/2014/main" val="3215831619"/>
                    </a:ext>
                  </a:extLst>
                </a:gridCol>
                <a:gridCol w="6416970">
                  <a:extLst>
                    <a:ext uri="{9D8B030D-6E8A-4147-A177-3AD203B41FA5}">
                      <a16:colId xmlns:a16="http://schemas.microsoft.com/office/drawing/2014/main" val="276475465"/>
                    </a:ext>
                  </a:extLst>
                </a:gridCol>
              </a:tblGrid>
              <a:tr h="265091">
                <a:tc>
                  <a:txBody>
                    <a:bodyPr/>
                    <a:lstStyle/>
                    <a:p>
                      <a:pPr algn="l" fontAlgn="b" rtl="0"/>
                      <a:r>
                        <a:rPr sz="1400" b="true" i="false" u="none" strike="noStrike" lang="pt-BR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Recurso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Descrição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8427975"/>
                  </a:ext>
                </a:extLst>
              </a:tr>
              <a:tr h="265091">
                <a:tc>
                  <a:txBody>
                    <a:bodyPr/>
                    <a:lstStyle/>
                    <a:p>
                      <a:pPr algn="l" fontAlgn="b" rtl="0"/>
                      <a:r>
                        <a:rPr sz="1400" b="false" i="false" u="none" strike="noStrike" lang="pt-BR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Atividade do modo físico do Packet Tracer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Estas atividades são concluídas usando o Packet Tracer no Modo Físico.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0995017"/>
                  </a:ext>
                </a:extLst>
              </a:tr>
              <a:tr h="265091">
                <a:tc>
                  <a:txBody>
                    <a:bodyPr/>
                    <a:lstStyle/>
                    <a:p>
                      <a:pPr algn="l" fontAlgn="b" rtl="0"/>
                      <a:r>
                        <a:rPr sz="1400" b="false" i="false" u="none" strike="noStrike" lang="pt-BR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Laboratórios práticos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Laboratórios projetados para trabalhar com equipamentos físicos.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8594367"/>
                  </a:ext>
                </a:extLst>
              </a:tr>
              <a:tr h="265091">
                <a:tc>
                  <a:txBody>
                    <a:bodyPr/>
                    <a:lstStyle/>
                    <a:p>
                      <a:pPr marL="0" marR="0" lvl="0" indent="0" algn="l" defTabSz="685777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400" b="false" i="false" u="none" strike="noStrike" lang="pt-BR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Atividades em sala de aula</a:t>
                      </a:r>
                    </a:p>
                    <a:p>
                      <a:pPr algn="l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Estes são encontrados na página Recursos do instrutor. As atividades de aula são projetadas para facilitar o aprendizado, a discussão em aula e a colaboração.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5566603"/>
                  </a:ext>
                </a:extLst>
              </a:tr>
              <a:tr h="265091">
                <a:tc>
                  <a:txBody>
                    <a:bodyPr/>
                    <a:lstStyle/>
                    <a:p>
                      <a:pPr algn="l" fontAlgn="b" rtl="0"/>
                      <a:r>
                        <a:rPr sz="1400" b="false" i="false" u="none" strike="noStrike" lang="pt-BR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Testes de módulo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Autoavaliações que integram conceitos e habilidades aprendidas ao longo da série de tópicos apresentados no módulo.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1502776"/>
                  </a:ext>
                </a:extLst>
              </a:tr>
              <a:tr h="265091">
                <a:tc>
                  <a:txBody>
                    <a:bodyPr/>
                    <a:lstStyle/>
                    <a:p>
                      <a:pPr algn="l" fontAlgn="b" rtl="0"/>
                      <a:r>
                        <a:rPr sz="1400" b="false" i="false" u="none" strike="noStrike" lang="pt-BR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Resumo do módulo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Recapitula brevemente o conteúdo do módulo.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7046280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736058053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 rtl="0"/>
            <a:r>
              <a:rPr lang="pt-BR"/>
              <a:t>Verifique seu entendimento</a:t>
            </a:r>
          </a:p>
        </p:txBody>
      </p:sp>
      <p:sp>
        <p:nvSpPr>
          <p:cNvPr id="7171" name="Rectangle 34"/>
          <p:cNvSpPr>
            <a:spLocks noGrp="1" noChangeArrowheads="1"/>
          </p:cNvSpPr>
          <p:nvPr>
            <p:ph idx="1"/>
          </p:nvPr>
        </p:nvSpPr>
        <p:spPr>
          <a:xfrm>
            <a:off x="145357" y="965201"/>
            <a:ext cx="8878570" cy="3643747"/>
          </a:xfrm>
        </p:spPr>
        <p:txBody>
          <a:bodyPr/>
          <a:lstStyle/>
          <a:p>
            <a:pPr rtl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sz="1600" lang="pt-BR"/>
              <a:t>As atividades "Verifique sua compreensão" são projetadas para permitir que os alunos determinem rapidamente se entendem o conteúdo e podem prosseguir ou se precisam revisar. </a:t>
            </a:r>
          </a:p>
          <a:p>
            <a:pPr rtl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sz="1600" lang="pt-BR"/>
              <a:t>Verifique se suas atividades de compreensão </a:t>
            </a:r>
            <a:r>
              <a:rPr sz="1600" b="true" i="true" lang="pt-BR"/>
              <a:t>não </a:t>
            </a:r>
            <a:r>
              <a:rPr sz="1600" lang="pt-BR"/>
              <a:t>afetam as notas do aluno.</a:t>
            </a:r>
          </a:p>
          <a:p>
            <a:pPr rtl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sz="1600" lang="pt-BR"/>
              <a:t>Não há slides separados para essas atividades no PPT. Elas estão listadas na área de anotações do slide que aparece antes dessas atividades.</a:t>
            </a:r>
          </a:p>
          <a:p>
            <a:pPr marL="0" indent="0" eaLnBrk="1" hangingPunct="1">
              <a:spcBef>
                <a:spcPct val="30000"/>
              </a:spcBef>
              <a:buNone/>
            </a:pPr>
            <a:endParaRPr lang="en-US" dirty="0"/>
          </a:p>
          <a:p>
            <a:pPr eaLnBrk="1" hangingPunct="1">
              <a:spcBef>
                <a:spcPct val="30000"/>
              </a:spcBef>
            </a:pP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472702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 rtl="0"/>
            <a:r>
              <a:rPr lang="pt-BR"/>
              <a:t>Packet Tracer - Atividades do Modo Físico</a:t>
            </a:r>
          </a:p>
        </p:txBody>
      </p:sp>
      <p:sp>
        <p:nvSpPr>
          <p:cNvPr id="4" name="Rectangle 34">
            <a:extLst>
              <a:ext uri="{FF2B5EF4-FFF2-40B4-BE49-F238E27FC236}">
                <a16:creationId xmlns:a16="http://schemas.microsoft.com/office/drawing/2014/main" id="{08FDDB5E-A0F2-A445-A3E2-506D151576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715" y="982690"/>
            <a:ext cx="8878570" cy="36437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>
            <a:prstTxWarp prst="textNoShape">
              <a:avLst/>
            </a:prstTxWarp>
          </a:bodyPr>
          <a:lstStyle>
            <a:lvl1pPr marL="169863" indent="-169863" algn="l" defTabSz="684213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§"/>
              <a:defRPr lang="en-US" sz="15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1pPr>
            <a:lvl2pPr marL="358775" indent="-215900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charset="0"/>
              <a:buChar char="•"/>
              <a:defRPr lang="en-US" sz="14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1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pt-BR"/>
              <a:t>Estas atividades são concluídas usando o Packet Tracer no Modo Físico. </a:t>
            </a:r>
          </a:p>
          <a:p>
            <a:pPr rtl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pt-BR"/>
              <a:t>Eles são projetados para emular os laboratórios correspondentes. </a:t>
            </a:r>
          </a:p>
          <a:p>
            <a:pPr rtl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pt-BR"/>
              <a:t>Eles podem ser usados em vez do laboratório quando o acesso ao equipamento físico não é possível. </a:t>
            </a:r>
          </a:p>
          <a:p>
            <a:pPr rtl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pt-BR"/>
              <a:t>Essas atividades geralmente não têm o nível de andaimes que estão presentes nas atividades do PT que precedem imediatamente essas atividades.</a:t>
            </a:r>
          </a:p>
          <a:p>
            <a:pPr marL="0" indent="0">
              <a:spcBef>
                <a:spcPct val="30000"/>
              </a:spcBef>
              <a:buFont typeface="Wingdings" panose="05000000000000000000" pitchFamily="2" charset="2"/>
              <a:buNone/>
            </a:pPr>
            <a:endParaRPr lang="en-US" dirty="0"/>
          </a:p>
          <a:p>
            <a:pPr>
              <a:spcBef>
                <a:spcPct val="30000"/>
              </a:spcBef>
            </a:pP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78866781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 rtl="0"/>
            <a:r>
              <a:rPr lang="pt-BR"/>
              <a:t>Módulo 10: Atividades</a:t>
            </a:r>
          </a:p>
        </p:txBody>
      </p:sp>
      <p:sp>
        <p:nvSpPr>
          <p:cNvPr id="6147" name="Rectangle 34"/>
          <p:cNvSpPr>
            <a:spLocks noGrp="1" noChangeArrowheads="1"/>
          </p:cNvSpPr>
          <p:nvPr>
            <p:ph idx="1"/>
          </p:nvPr>
        </p:nvSpPr>
        <p:spPr>
          <a:xfrm>
            <a:off x="153590" y="631882"/>
            <a:ext cx="8695135" cy="348414"/>
          </a:xfrm>
        </p:spPr>
        <p:txBody>
          <a:bodyPr/>
          <a:lstStyle/>
          <a:p>
            <a:pPr marL="0" indent="0" rtl="0">
              <a:spcBef>
                <a:spcPct val="30000"/>
              </a:spcBef>
              <a:buNone/>
            </a:pPr>
            <a:r>
              <a:rPr sz="1600" lang="pt-BR"/>
              <a:t>Quais atividades estão associadas a este módulo?</a:t>
            </a:r>
          </a:p>
          <a:p>
            <a:pPr marL="0" indent="0">
              <a:spcBef>
                <a:spcPct val="30000"/>
              </a:spcBef>
              <a:buNone/>
            </a:pPr>
            <a:endParaRPr lang="en-US" dirty="0"/>
          </a:p>
          <a:p>
            <a:pPr marL="89297" indent="0">
              <a:spcBef>
                <a:spcPct val="30000"/>
              </a:spcBef>
              <a:buNone/>
            </a:pPr>
            <a:endParaRPr lang="en-US" dirty="0"/>
          </a:p>
          <a:p>
            <a:pPr marL="89297" indent="0">
              <a:spcBef>
                <a:spcPct val="30000"/>
              </a:spcBef>
              <a:buNone/>
            </a:pPr>
            <a:endParaRPr lang="en-US" dirty="0"/>
          </a:p>
        </p:txBody>
      </p:sp>
      <p:graphicFrame>
        <p:nvGraphicFramePr>
          <p:cNvPr id="7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65773321"/>
              </p:ext>
            </p:extLst>
          </p:nvPr>
        </p:nvGraphicFramePr>
        <p:xfrm>
          <a:off x="457291" y="980296"/>
          <a:ext cx="8229418" cy="37528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97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7736">
                  <a:extLst>
                    <a:ext uri="{9D8B030D-6E8A-4147-A177-3AD203B41FA5}">
                      <a16:colId xmlns:a16="http://schemas.microsoft.com/office/drawing/2014/main" val="3156509146"/>
                    </a:ext>
                  </a:extLst>
                </a:gridCol>
                <a:gridCol w="40800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18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6219">
                <a:tc>
                  <a:txBody>
                    <a:bodyPr/>
                    <a:lstStyle/>
                    <a:p>
                      <a:pPr marL="0" marR="0" lvl="0" indent="0" algn="ctr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200" lang="pt-BR"/>
                        <a:t>Nº da página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200" lang="pt-BR"/>
                        <a:t>Tipo de atividade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sz="1200" lang="pt-BR"/>
                        <a:t>Nome da atividade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sz="1200" lang="pt-BR"/>
                        <a:t>Opcional?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804">
                <a:tc>
                  <a:txBody>
                    <a:bodyPr/>
                    <a:lstStyle/>
                    <a:p>
                      <a:pPr algn="ctr" rtl="0"/>
                      <a:r>
                        <a:rPr sz="1050" lang="pt-BR"/>
                        <a:t>10.1.3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050" lang="pt-BR"/>
                        <a:t>Verificador de Sintaxe 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sz="1050" lang="pt-BR"/>
                        <a:t>Configurar definições iniciais do roteador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sz="1050" lang="pt-BR"/>
                        <a:t>Recomendada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804">
                <a:tc>
                  <a:txBody>
                    <a:bodyPr/>
                    <a:lstStyle/>
                    <a:p>
                      <a:pPr algn="ctr" rtl="0"/>
                      <a:r>
                        <a:rPr sz="1050" lang="pt-BR"/>
                        <a:t>10.1.4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050" lang="pt-BR"/>
                        <a:t>Packet Tracer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sz="1050" lang="pt-BR"/>
                        <a:t>Configurar definições iniciais do roteador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sz="1050" lang="pt-BR"/>
                        <a:t>Recomendada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9804">
                <a:tc>
                  <a:txBody>
                    <a:bodyPr/>
                    <a:lstStyle/>
                    <a:p>
                      <a:pPr algn="ctr" rtl="0"/>
                      <a:r>
                        <a:rPr sz="1050" lang="pt-BR"/>
                        <a:t>10.2.5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050" lang="pt-BR"/>
                        <a:t>Verificador de Sintaxe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050" lang="pt-BR"/>
                        <a:t>Configurar interfaces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false" sz="1050" u="none" strike="noStrike" kern="1200" cap="none" spc="0" normalizeH="false" baseline="0" lang="pt-BR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Recomendado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9804">
                <a:tc>
                  <a:txBody>
                    <a:bodyPr/>
                    <a:lstStyle/>
                    <a:p>
                      <a:pPr algn="ctr" rtl="0"/>
                      <a:r>
                        <a:rPr sz="1050" lang="pt-BR"/>
                        <a:t>10.3.3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050" lang="pt-BR"/>
                        <a:t>Verificador de Sintaxe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050" lang="pt-BR"/>
                        <a:t>Configurar o gateway padrão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false" sz="1050" u="none" strike="noStrike" kern="1200" cap="none" spc="0" normalizeH="false" baseline="0" lang="pt-BR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Recomendado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2582900979"/>
                  </a:ext>
                </a:extLst>
              </a:tr>
              <a:tr h="309804">
                <a:tc>
                  <a:txBody>
                    <a:bodyPr/>
                    <a:lstStyle/>
                    <a:p>
                      <a:pPr algn="ctr" rtl="0"/>
                      <a:r>
                        <a:rPr sz="1050" lang="pt-BR"/>
                        <a:t>10.3.4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050" lang="pt-BR"/>
                        <a:t>Packet Tracer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050" lang="pt-BR"/>
                        <a:t>Conexão de um Roteador a uma LAN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false" sz="1050" u="none" strike="noStrike" kern="1200" cap="none" spc="0" normalizeH="false" baseline="0" lang="pt-BR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Recomendada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3522544737"/>
                  </a:ext>
                </a:extLst>
              </a:tr>
              <a:tr h="309804">
                <a:tc>
                  <a:txBody>
                    <a:bodyPr/>
                    <a:lstStyle/>
                    <a:p>
                      <a:pPr algn="ctr" rtl="0"/>
                      <a:r>
                        <a:rPr sz="1050" lang="pt-BR"/>
                        <a:t>10.3.5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050" lang="pt-BR"/>
                        <a:t>Packet Tracer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050" lang="pt-BR"/>
                        <a:t>Solução de Problemas de Gateway Padrão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false" sz="1050" u="none" strike="noStrike" kern="1200" cap="none" spc="0" normalizeH="false" baseline="0" lang="pt-BR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Recomendado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3001172460"/>
                  </a:ext>
                </a:extLst>
              </a:tr>
              <a:tr h="309804">
                <a:tc>
                  <a:txBody>
                    <a:bodyPr/>
                    <a:lstStyle/>
                    <a:p>
                      <a:pPr algn="ctr" rtl="0"/>
                      <a:r>
                        <a:rPr sz="1050" lang="pt-BR"/>
                        <a:t>10.4.1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050" lang="pt-BR"/>
                        <a:t>Vídeo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050" lang="pt-BR"/>
                        <a:t>Diferenças de Dispositivos de Rede: Parte 1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false" sz="1050" b="false" i="false" u="none" strike="noStrike" kern="1200" cap="none" spc="0" normalizeH="false" baseline="0" lang="pt-BR">
                          <a:ln>
                            <a:noFill/>
                          </a:ln>
                          <a:solidFill>
                            <a:srgbClr val="58585B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Recomendado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660973199"/>
                  </a:ext>
                </a:extLst>
              </a:tr>
              <a:tr h="309804">
                <a:tc>
                  <a:txBody>
                    <a:bodyPr/>
                    <a:lstStyle/>
                    <a:p>
                      <a:pPr algn="ctr" rtl="0"/>
                      <a:r>
                        <a:rPr sz="1050" lang="pt-BR"/>
                        <a:t>10.4.1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050" lang="pt-BR"/>
                        <a:t>Vídeo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050" lang="pt-BR"/>
                        <a:t>Diferenças de Dispositivos de Rede: Parte 2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false" sz="1050" b="false" i="false" u="none" strike="noStrike" kern="1200" cap="none" spc="0" normalizeH="false" baseline="0" lang="pt-BR">
                          <a:ln>
                            <a:noFill/>
                          </a:ln>
                          <a:solidFill>
                            <a:srgbClr val="58585B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Recomendado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3700861496"/>
                  </a:ext>
                </a:extLst>
              </a:tr>
              <a:tr h="309804">
                <a:tc>
                  <a:txBody>
                    <a:bodyPr/>
                    <a:lstStyle/>
                    <a:p>
                      <a:pPr algn="ctr" rtl="0"/>
                      <a:r>
                        <a:rPr sz="1050" lang="pt-BR"/>
                        <a:t>10.4.3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050" lang="pt-BR"/>
                        <a:t>Packet Tracer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050" lang="pt-BR"/>
                        <a:t>Configuração básica de dispositivos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false" sz="1050" u="none" strike="noStrike" kern="1200" cap="none" spc="0" normalizeH="false" baseline="0" lang="pt-BR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Recomendado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322206681"/>
                  </a:ext>
                </a:extLst>
              </a:tr>
              <a:tr h="309804">
                <a:tc>
                  <a:txBody>
                    <a:bodyPr/>
                    <a:lstStyle/>
                    <a:p>
                      <a:pPr algn="ctr" rtl="0"/>
                      <a:r>
                        <a:rPr sz="1050" lang="pt-BR"/>
                        <a:t>10.4.4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050" lang="pt-BR"/>
                        <a:t>Packet Tracer - Modo Físico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050" lang="pt-BR"/>
                        <a:t>Packet Tracer - Construa uma rede com Switch e Roteador - Modo Físico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false" sz="1050" b="false" i="false" u="none" strike="noStrike" kern="1200" cap="none" spc="0" normalizeH="false" baseline="0" lang="pt-BR">
                          <a:ln>
                            <a:noFill/>
                          </a:ln>
                          <a:solidFill>
                            <a:srgbClr val="58585B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Recomendado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933890282"/>
                  </a:ext>
                </a:extLst>
              </a:tr>
              <a:tr h="309804">
                <a:tc>
                  <a:txBody>
                    <a:bodyPr/>
                    <a:lstStyle/>
                    <a:p>
                      <a:pPr algn="ctr" rtl="0"/>
                      <a:r>
                        <a:rPr sz="1050" lang="pt-BR"/>
                        <a:t>10.4.4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050" lang="pt-BR"/>
                        <a:t>Laboratório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050" lang="pt-BR"/>
                        <a:t>Criar Rede de Switch e Roteador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false" sz="1050" u="none" strike="noStrike" kern="1200" cap="none" spc="0" normalizeH="false" baseline="0" lang="pt-BR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Recomendado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3406068602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145273728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/>
              <a:t>Módulo 10: Práticas recomendadas</a:t>
            </a:r>
          </a:p>
        </p:txBody>
      </p:sp>
      <p:sp>
        <p:nvSpPr>
          <p:cNvPr id="11266" name="Rectangle 34"/>
          <p:cNvSpPr>
            <a:spLocks noGrp="1" noChangeArrowheads="1"/>
          </p:cNvSpPr>
          <p:nvPr>
            <p:ph idx="1"/>
          </p:nvPr>
        </p:nvSpPr>
        <p:spPr>
          <a:xfrm>
            <a:off x="145357" y="684644"/>
            <a:ext cx="8853286" cy="4155319"/>
          </a:xfrm>
        </p:spPr>
        <p:txBody>
          <a:bodyPr/>
          <a:lstStyle/>
          <a:p>
            <a:pPr marL="0" indent="0" rtl="0">
              <a:lnSpc>
                <a:spcPct val="85000"/>
              </a:lnSpc>
              <a:spcBef>
                <a:spcPct val="30000"/>
              </a:spcBef>
              <a:buNone/>
            </a:pPr>
            <a:r>
              <a:rPr sz="1600" lang="pt-BR"/>
              <a:t>Antes de ensinar o Módulo 10, o instrutor deve:</a:t>
            </a:r>
          </a:p>
          <a:p>
            <a:pPr rtl="0">
              <a:lnSpc>
                <a:spcPct val="85000"/>
              </a:lnSpc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sz="1600" lang="pt-BR"/>
              <a:t>Revise as atividades e avaliações para este módulo.</a:t>
            </a:r>
          </a:p>
          <a:p>
            <a:pPr rtl="0">
              <a:lnSpc>
                <a:spcPct val="85000"/>
              </a:lnSpc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sz="1600" lang="pt-BR"/>
              <a:t>Tente incluir o máximo de perguntas possível para manter os alunos envolvidos durante a apresentação em sala de aula.</a:t>
            </a:r>
          </a:p>
          <a:p>
            <a:pPr marL="0" indent="0" eaLnBrk="1" hangingPunct="1" rtl="0">
              <a:lnSpc>
                <a:spcPct val="85000"/>
              </a:lnSpc>
              <a:spcBef>
                <a:spcPct val="30000"/>
              </a:spcBef>
              <a:buNone/>
            </a:pPr>
            <a:r>
              <a:rPr sz="1600" lang="pt-BR"/>
              <a:t>Tópico 10.1</a:t>
            </a:r>
          </a:p>
          <a:p>
            <a:pPr lvl="1" rtl="0">
              <a:lnSpc>
                <a:spcPct val="85000"/>
              </a:lnSpc>
              <a:spcBef>
                <a:spcPct val="30000"/>
              </a:spcBef>
            </a:pPr>
            <a:r>
              <a:rPr sz="1600" lang="pt-BR"/>
              <a:t>Pergunte aos alunos ou faça uma discussão em aula</a:t>
            </a:r>
          </a:p>
          <a:p>
            <a:pPr lvl="2" rtl="0">
              <a:lnSpc>
                <a:spcPct val="85000"/>
              </a:lnSpc>
              <a:spcBef>
                <a:spcPct val="30000"/>
              </a:spcBef>
            </a:pPr>
            <a:r>
              <a:rPr sz="1600" lang="pt-BR"/>
              <a:t>Quais tarefas devem ser concluídas ao configurar inicialmente um roteador?</a:t>
            </a:r>
          </a:p>
          <a:p>
            <a:pPr lvl="2" rtl="0">
              <a:lnSpc>
                <a:spcPct val="85000"/>
              </a:lnSpc>
              <a:spcBef>
                <a:spcPct val="30000"/>
              </a:spcBef>
            </a:pPr>
            <a:r>
              <a:rPr sz="1600" lang="pt-BR"/>
              <a:t>Qual é a finalidade de configurar uma mensagem de banner em um roteador?</a:t>
            </a:r>
          </a:p>
          <a:p>
            <a:pPr marL="0" indent="0" rtl="0">
              <a:lnSpc>
                <a:spcPct val="85000"/>
              </a:lnSpc>
              <a:spcBef>
                <a:spcPct val="30000"/>
              </a:spcBef>
              <a:buNone/>
            </a:pPr>
            <a:r>
              <a:rPr sz="1600" lang="pt-BR"/>
              <a:t>Tópico 10.2</a:t>
            </a:r>
          </a:p>
          <a:p>
            <a:pPr lvl="1" rtl="0">
              <a:lnSpc>
                <a:spcPct val="85000"/>
              </a:lnSpc>
              <a:spcBef>
                <a:spcPct val="30000"/>
              </a:spcBef>
            </a:pPr>
            <a:r>
              <a:rPr sz="1600" lang="pt-BR"/>
              <a:t>Pergunte aos alunos ou faça uma discussão em aula</a:t>
            </a:r>
          </a:p>
          <a:p>
            <a:pPr lvl="2" rtl="0">
              <a:lnSpc>
                <a:spcPct val="85000"/>
              </a:lnSpc>
              <a:spcBef>
                <a:spcPct val="30000"/>
              </a:spcBef>
            </a:pPr>
            <a:r>
              <a:rPr sz="1600" lang="pt-BR"/>
              <a:t>Qual é o benefício de configurar uma descrição em uma interface de roteador?</a:t>
            </a:r>
          </a:p>
          <a:p>
            <a:pPr lvl="2" rtl="0">
              <a:lnSpc>
                <a:spcPct val="85000"/>
              </a:lnSpc>
              <a:spcBef>
                <a:spcPct val="30000"/>
              </a:spcBef>
            </a:pPr>
            <a:r>
              <a:rPr sz="1600" lang="pt-BR"/>
              <a:t>Quais são alguns comandos de show populares usados para verificar a configuração da interface do roteador?</a:t>
            </a:r>
          </a:p>
          <a:p>
            <a:pPr eaLnBrk="1" hangingPunct="1">
              <a:lnSpc>
                <a:spcPct val="85000"/>
              </a:lnSpc>
              <a:spcBef>
                <a:spcPct val="30000"/>
              </a:spcBef>
            </a:pPr>
            <a:endParaRPr lang="en-US" dirty="0"/>
          </a:p>
          <a:p>
            <a:pPr lvl="1">
              <a:lnSpc>
                <a:spcPct val="85000"/>
              </a:lnSpc>
              <a:spcBef>
                <a:spcPct val="30000"/>
              </a:spcBef>
            </a:pPr>
            <a:endParaRPr lang="en-US" dirty="0"/>
          </a:p>
          <a:p>
            <a:pPr lvl="1">
              <a:lnSpc>
                <a:spcPct val="85000"/>
              </a:lnSpc>
              <a:spcBef>
                <a:spcPct val="30000"/>
              </a:spcBef>
            </a:pPr>
            <a:endParaRPr lang="en-US" dirty="0"/>
          </a:p>
          <a:p>
            <a:pPr lvl="1">
              <a:lnSpc>
                <a:spcPct val="85000"/>
              </a:lnSpc>
              <a:spcBef>
                <a:spcPct val="30000"/>
              </a:spcBef>
            </a:pPr>
            <a:endParaRPr lang="en-US" dirty="0"/>
          </a:p>
          <a:p>
            <a:pPr eaLnBrk="1" hangingPunct="1">
              <a:lnSpc>
                <a:spcPct val="85000"/>
              </a:lnSpc>
              <a:spcBef>
                <a:spcPct val="30000"/>
              </a:spcBef>
            </a:pPr>
            <a:endParaRPr lang="en-US" dirty="0"/>
          </a:p>
          <a:p>
            <a:pPr marL="630238" lvl="2" indent="-214313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630238" lvl="2" indent="-214313">
              <a:buFont typeface="Arial" panose="020B0604020202020204" pitchFamily="34" charset="0"/>
              <a:buChar char="•"/>
            </a:pPr>
            <a:endParaRPr lang="en-US" sz="1500" dirty="0"/>
          </a:p>
          <a:p>
            <a:pPr eaLnBrk="1" hangingPunct="1">
              <a:lnSpc>
                <a:spcPct val="85000"/>
              </a:lnSpc>
              <a:spcBef>
                <a:spcPct val="30000"/>
              </a:spcBef>
            </a:pPr>
            <a:endParaRPr lang="en-US" b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85000"/>
              </a:lnSpc>
              <a:spcBef>
                <a:spcPct val="30000"/>
              </a:spcBef>
            </a:pP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09317603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/>
              <a:t>Módulo 10: Melhores práticas (cont.)</a:t>
            </a:r>
          </a:p>
        </p:txBody>
      </p:sp>
      <p:sp>
        <p:nvSpPr>
          <p:cNvPr id="11266" name="Rectangle 34"/>
          <p:cNvSpPr>
            <a:spLocks noGrp="1" noChangeArrowheads="1"/>
          </p:cNvSpPr>
          <p:nvPr>
            <p:ph idx="1"/>
          </p:nvPr>
        </p:nvSpPr>
        <p:spPr>
          <a:xfrm>
            <a:off x="145357" y="684644"/>
            <a:ext cx="8853286" cy="4155319"/>
          </a:xfrm>
        </p:spPr>
        <p:txBody>
          <a:bodyPr/>
          <a:lstStyle/>
          <a:p>
            <a:pPr marL="0" indent="0" eaLnBrk="1" hangingPunct="1" rtl="0">
              <a:lnSpc>
                <a:spcPct val="85000"/>
              </a:lnSpc>
              <a:spcBef>
                <a:spcPct val="30000"/>
              </a:spcBef>
              <a:buNone/>
            </a:pPr>
            <a:r>
              <a:rPr sz="1600" lang="pt-BR"/>
              <a:t>Tópico 10.3</a:t>
            </a:r>
          </a:p>
          <a:p>
            <a:pPr lvl="1" rtl="0">
              <a:lnSpc>
                <a:spcPct val="85000"/>
              </a:lnSpc>
              <a:spcBef>
                <a:spcPct val="30000"/>
              </a:spcBef>
            </a:pPr>
            <a:r>
              <a:rPr sz="1600" lang="pt-BR"/>
              <a:t>Pergunte aos alunos ou faça uma discussão em aula</a:t>
            </a:r>
          </a:p>
          <a:p>
            <a:pPr lvl="2" rtl="0">
              <a:lnSpc>
                <a:spcPct val="85000"/>
              </a:lnSpc>
              <a:spcBef>
                <a:spcPct val="30000"/>
              </a:spcBef>
            </a:pPr>
            <a:r>
              <a:rPr sz="1600" lang="pt-BR"/>
              <a:t>Quais informações um dispositivo final precisa ter para se comunicar com redes remotas?</a:t>
            </a:r>
          </a:p>
          <a:p>
            <a:pPr lvl="2" rtl="0">
              <a:lnSpc>
                <a:spcPct val="85000"/>
              </a:lnSpc>
              <a:spcBef>
                <a:spcPct val="30000"/>
              </a:spcBef>
            </a:pPr>
            <a:r>
              <a:rPr sz="1600" lang="pt-BR"/>
              <a:t>Por que um switch precisaria ser configurado com um gateway padrão?</a:t>
            </a:r>
          </a:p>
          <a:p>
            <a:pPr>
              <a:lnSpc>
                <a:spcPct val="85000"/>
              </a:lnSpc>
              <a:spcBef>
                <a:spcPct val="30000"/>
              </a:spcBef>
            </a:pPr>
            <a:endParaRPr lang="en-US" sz="1400" dirty="0"/>
          </a:p>
          <a:p>
            <a:pPr lvl="1">
              <a:lnSpc>
                <a:spcPct val="85000"/>
              </a:lnSpc>
              <a:spcBef>
                <a:spcPct val="30000"/>
              </a:spcBef>
            </a:pPr>
            <a:endParaRPr lang="en-US" sz="1200" dirty="0"/>
          </a:p>
          <a:p>
            <a:pPr eaLnBrk="1" hangingPunct="1">
              <a:lnSpc>
                <a:spcPct val="85000"/>
              </a:lnSpc>
              <a:spcBef>
                <a:spcPct val="30000"/>
              </a:spcBef>
            </a:pPr>
            <a:endParaRPr lang="en-US" sz="1400" dirty="0"/>
          </a:p>
          <a:p>
            <a:pPr lvl="1">
              <a:lnSpc>
                <a:spcPct val="85000"/>
              </a:lnSpc>
              <a:spcBef>
                <a:spcPct val="30000"/>
              </a:spcBef>
            </a:pPr>
            <a:endParaRPr lang="en-US" sz="1200" dirty="0"/>
          </a:p>
          <a:p>
            <a:pPr lvl="1">
              <a:lnSpc>
                <a:spcPct val="85000"/>
              </a:lnSpc>
              <a:spcBef>
                <a:spcPct val="30000"/>
              </a:spcBef>
            </a:pPr>
            <a:endParaRPr lang="en-US" sz="1200" dirty="0"/>
          </a:p>
          <a:p>
            <a:pPr lvl="1">
              <a:lnSpc>
                <a:spcPct val="85000"/>
              </a:lnSpc>
              <a:spcBef>
                <a:spcPct val="30000"/>
              </a:spcBef>
            </a:pPr>
            <a:endParaRPr lang="en-US" sz="1200" dirty="0"/>
          </a:p>
          <a:p>
            <a:pPr eaLnBrk="1" hangingPunct="1">
              <a:lnSpc>
                <a:spcPct val="85000"/>
              </a:lnSpc>
              <a:spcBef>
                <a:spcPct val="30000"/>
              </a:spcBef>
            </a:pPr>
            <a:endParaRPr lang="en-US" sz="1400" dirty="0"/>
          </a:p>
          <a:p>
            <a:pPr marL="630238" lvl="2" indent="-214313">
              <a:buFont typeface="Arial" panose="020B0604020202020204" pitchFamily="34" charset="0"/>
              <a:buChar char="•"/>
            </a:pPr>
            <a:endParaRPr lang="en-US" sz="1100" dirty="0"/>
          </a:p>
          <a:p>
            <a:pPr marL="630238" lvl="2" indent="-214313">
              <a:buFont typeface="Arial" panose="020B0604020202020204" pitchFamily="34" charset="0"/>
              <a:buChar char="•"/>
            </a:pPr>
            <a:endParaRPr lang="en-US" sz="1400" dirty="0"/>
          </a:p>
          <a:p>
            <a:pPr eaLnBrk="1" hangingPunct="1">
              <a:lnSpc>
                <a:spcPct val="85000"/>
              </a:lnSpc>
              <a:spcBef>
                <a:spcPct val="30000"/>
              </a:spcBef>
            </a:pPr>
            <a:endParaRPr lang="en-US" sz="1400" b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85000"/>
              </a:lnSpc>
              <a:spcBef>
                <a:spcPct val="30000"/>
              </a:spcBef>
            </a:pPr>
            <a:endParaRPr lang="en-US" sz="14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29576059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469497" y="3809526"/>
            <a:ext cx="2368954" cy="902174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Introdução às redes v7.0 (ITN)</a:t>
            </a:r>
          </a:p>
          <a:p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469497" y="2316480"/>
            <a:ext cx="6672708" cy="1080143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Módulo 10: Configuração básica do roteador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89389863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 rtl="0"/>
            <a:r>
              <a:rPr lang="pt-BR"/>
              <a:t>Objetivos do módulo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5758CB9-E7D6-4639-ACDC-3F86DC2D2F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511" y="821755"/>
            <a:ext cx="8012573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false" sz="1600" b="true" i="false" u="none" strike="noStrike" cap="none" normalizeH="false" baseline="0" lang="pt-BR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Título do módulo: </a:t>
            </a:r>
            <a:r>
              <a:rPr kumimoji="false" sz="1600" b="false" i="false" u="none" strike="noStrike" cap="none" normalizeH="false" baseline="0" lang="pt-BR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Configuração básica do roteador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lvl="0" defTabSz="914400" eaLnBrk="0" hangingPunct="0" rtl="0"/>
            <a:r>
              <a:rPr kumimoji="false" sz="1600" b="true" i="false" u="none" strike="noStrike" cap="none" normalizeH="false" baseline="0" lang="pt-BR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Objetivo do módulo</a:t>
            </a:r>
            <a:r>
              <a:rPr kumimoji="false" sz="1600" b="false" i="false" u="none" strike="noStrike" cap="none" normalizeH="false" baseline="0" lang="pt-BR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sz="1600" lang="pt-BR"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Implementar configurações iniciais em um roteador e dispositivos finais.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974E1EB-2DBE-496F-B0B0-6C44227DA4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5932762"/>
              </p:ext>
            </p:extLst>
          </p:nvPr>
        </p:nvGraphicFramePr>
        <p:xfrm>
          <a:off x="880345" y="2118939"/>
          <a:ext cx="6980904" cy="148622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490452">
                  <a:extLst>
                    <a:ext uri="{9D8B030D-6E8A-4147-A177-3AD203B41FA5}">
                      <a16:colId xmlns:a16="http://schemas.microsoft.com/office/drawing/2014/main" val="1523797708"/>
                    </a:ext>
                  </a:extLst>
                </a:gridCol>
                <a:gridCol w="3490452">
                  <a:extLst>
                    <a:ext uri="{9D8B030D-6E8A-4147-A177-3AD203B41FA5}">
                      <a16:colId xmlns:a16="http://schemas.microsoft.com/office/drawing/2014/main" val="2750207184"/>
                    </a:ext>
                  </a:extLst>
                </a:gridCol>
              </a:tblGrid>
              <a:tr h="216347">
                <a:tc>
                  <a:txBody>
                    <a:bodyPr/>
                    <a:lstStyle/>
                    <a:p>
                      <a:pPr marL="0" marR="0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lang="pt-BR">
                          <a:effectLst/>
                        </a:rPr>
                        <a:t>Título do Tópico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lang="pt-BR">
                          <a:effectLst/>
                        </a:rPr>
                        <a:t>Objetivo do Tópico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74061904"/>
                  </a:ext>
                </a:extLst>
              </a:tr>
              <a:tr h="444151">
                <a:tc>
                  <a:txBody>
                    <a:bodyPr/>
                    <a:lstStyle/>
                    <a:p>
                      <a:pPr marL="0" marR="0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lang="pt-BR">
                          <a:effectLst/>
                        </a:rPr>
                        <a:t>Configurar definições iniciais do roteador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lang="pt-BR">
                          <a:effectLst/>
                        </a:rPr>
                        <a:t>Definir as configurações iniciais em um roteador Cisco IOS.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46858405"/>
                  </a:ext>
                </a:extLst>
              </a:tr>
              <a:tr h="315930">
                <a:tc>
                  <a:txBody>
                    <a:bodyPr/>
                    <a:lstStyle/>
                    <a:p>
                      <a:pPr marL="0" marR="0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lang="pt-BR">
                          <a:effectLst/>
                        </a:rPr>
                        <a:t>Configurar interfaces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lang="pt-BR">
                          <a:effectLst/>
                        </a:rPr>
                        <a:t>Configurar duas interfaces ativas em um roteador Cisco IOS.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35904258"/>
                  </a:ext>
                </a:extLst>
              </a:tr>
              <a:tr h="444151">
                <a:tc>
                  <a:txBody>
                    <a:bodyPr/>
                    <a:lstStyle/>
                    <a:p>
                      <a:pPr marL="0" marR="0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lang="pt-BR">
                          <a:effectLst/>
                        </a:rPr>
                        <a:t>Configurar o gateway padrão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lang="pt-BR">
                          <a:effectLst/>
                        </a:rPr>
                        <a:t>Configurar dispositivos para que usem o gateway padrão.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1737215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499389571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598042" cy="929640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10.1 Definir configurações iniciais do roteador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73099643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sz="1600" lang="pt-BR"/>
              <a:t>Configurar ajustes iniciais </a:t>
            </a:r>
            <a:br>
              <a:rPr lang="en-US" dirty="0"/>
            </a:br>
            <a:r>
              <a:rPr sz="2400" lang="pt-BR"/>
              <a:t>Etapas de configuração básica do roteador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367" y="855419"/>
            <a:ext cx="3265419" cy="3517076"/>
          </a:xfrm>
        </p:spPr>
        <p:txBody>
          <a:bodyPr/>
          <a:lstStyle/>
          <a:p>
            <a:pPr marL="285750" indent="-285750" algn="l" defTabSz="684213" fontAlgn="base" rtl="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Configurar o nome do dispositivo.</a:t>
            </a:r>
          </a:p>
          <a:p>
            <a:pPr marL="285750" indent="-285750" algn="l" defTabSz="684213" fontAlgn="base" rtl="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Proteger o modo EXEC privilegiado.</a:t>
            </a:r>
          </a:p>
          <a:p>
            <a:pPr marL="285750" indent="-285750" algn="l" defTabSz="684213" fontAlgn="base" rtl="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Proteger o modo EXEC usuário.</a:t>
            </a:r>
          </a:p>
          <a:p>
            <a:pPr marL="285750" indent="-285750" algn="l" defTabSz="684213" fontAlgn="base" rtl="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Proteger o acesso remoto Telnet/SSH</a:t>
            </a:r>
          </a:p>
          <a:p>
            <a:pPr marL="285750" indent="-285750" algn="l" defTabSz="684213" fontAlgn="base" rtl="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Criptografe todas as senhas em texto simples.</a:t>
            </a:r>
          </a:p>
          <a:p>
            <a:pPr marL="285750" indent="-285750" algn="l" defTabSz="684213" fontAlgn="base" rtl="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Forneça notificação legal e salve a configuração.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C2C7B6-BFA0-4414-A9FD-310FB45A4012}"/>
              </a:ext>
            </a:extLst>
          </p:cNvPr>
          <p:cNvSpPr txBox="1"/>
          <p:nvPr/>
        </p:nvSpPr>
        <p:spPr>
          <a:xfrm>
            <a:off x="3798284" y="855419"/>
            <a:ext cx="4913744" cy="276999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pPr rtl="0"/>
            <a:r>
              <a:rPr sz="12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Router(config)# </a:t>
            </a:r>
            <a:r>
              <a:rPr sz="1200" b="true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hostname </a:t>
            </a:r>
            <a:r>
              <a:rPr sz="1200" i="true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hostname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E8BC38-AC68-4E30-A757-4BD5691E2755}"/>
              </a:ext>
            </a:extLst>
          </p:cNvPr>
          <p:cNvSpPr txBox="1"/>
          <p:nvPr/>
        </p:nvSpPr>
        <p:spPr>
          <a:xfrm>
            <a:off x="3798284" y="1256000"/>
            <a:ext cx="4913744" cy="276999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pPr rtl="0"/>
            <a:r>
              <a:rPr sz="12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Router(config)# </a:t>
            </a:r>
            <a:r>
              <a:rPr sz="1200" b="true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enable secret </a:t>
            </a:r>
            <a:r>
              <a:rPr sz="1200" i="true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password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C42215-AFFA-4B80-8518-0228983486B9}"/>
              </a:ext>
            </a:extLst>
          </p:cNvPr>
          <p:cNvSpPr txBox="1"/>
          <p:nvPr/>
        </p:nvSpPr>
        <p:spPr>
          <a:xfrm>
            <a:off x="3798284" y="1656581"/>
            <a:ext cx="4913744" cy="646331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pPr rtl="0"/>
            <a:r>
              <a:rPr sz="12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Router(config)# </a:t>
            </a:r>
            <a:r>
              <a:rPr sz="1200" b="true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line console 0</a:t>
            </a:r>
          </a:p>
          <a:p>
            <a:pPr rtl="0"/>
            <a:r>
              <a:rPr sz="12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Router(config-line)# password </a:t>
            </a:r>
            <a:r>
              <a:rPr sz="1200" i="true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password</a:t>
            </a:r>
          </a:p>
          <a:p>
            <a:pPr rtl="0"/>
            <a:r>
              <a:rPr sz="12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Router(config-line)# login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2CA5BC-EB52-4F1C-9E7F-0082B26780ED}"/>
              </a:ext>
            </a:extLst>
          </p:cNvPr>
          <p:cNvSpPr txBox="1"/>
          <p:nvPr/>
        </p:nvSpPr>
        <p:spPr>
          <a:xfrm>
            <a:off x="3798284" y="2413242"/>
            <a:ext cx="4926349" cy="830997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rtl="0"/>
            <a:r>
              <a:rPr sz="12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Router(config)# </a:t>
            </a:r>
            <a:r>
              <a:rPr sz="1200" b="true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line vty 0 4</a:t>
            </a:r>
          </a:p>
          <a:p>
            <a:pPr rtl="0"/>
            <a:r>
              <a:rPr sz="12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Router(config-line)# password </a:t>
            </a:r>
            <a:r>
              <a:rPr sz="1200" i="true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password</a:t>
            </a:r>
          </a:p>
          <a:p>
            <a:pPr rtl="0"/>
            <a:r>
              <a:rPr sz="12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Router(config-line)# login</a:t>
            </a:r>
          </a:p>
          <a:p>
            <a:pPr rtl="0"/>
            <a:r>
              <a:rPr sz="12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Router(config-line)# transport input {ssh | telnet}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17E84C-919C-4F49-B88F-D6C32C285E08}"/>
              </a:ext>
            </a:extLst>
          </p:cNvPr>
          <p:cNvSpPr txBox="1"/>
          <p:nvPr/>
        </p:nvSpPr>
        <p:spPr>
          <a:xfrm>
            <a:off x="3798284" y="3352472"/>
            <a:ext cx="4913744" cy="276999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pPr rtl="0"/>
            <a:r>
              <a:rPr sz="12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Router(config)# </a:t>
            </a:r>
            <a:r>
              <a:rPr sz="1200" b="true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service password encryption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CA1035-A981-4284-92B3-0FB302E7DAF6}"/>
              </a:ext>
            </a:extLst>
          </p:cNvPr>
          <p:cNvSpPr txBox="1"/>
          <p:nvPr/>
        </p:nvSpPr>
        <p:spPr>
          <a:xfrm>
            <a:off x="3798284" y="3737302"/>
            <a:ext cx="4913744" cy="646331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pPr rtl="0"/>
            <a:r>
              <a:rPr sz="12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Router(config)# </a:t>
            </a:r>
            <a:r>
              <a:rPr sz="1200" b="true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banner motd </a:t>
            </a:r>
            <a:r>
              <a:rPr sz="1200" b="true" i="true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message #</a:t>
            </a:r>
          </a:p>
          <a:p>
            <a:pPr rtl="0"/>
            <a:r>
              <a:rPr sz="12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Router(config)# end</a:t>
            </a:r>
          </a:p>
          <a:p>
            <a:pPr rtl="0"/>
            <a:r>
              <a:rPr sz="12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Router# copy running-config startup-config</a:t>
            </a:r>
          </a:p>
        </p:txBody>
      </p:sp>
    </p:spTree>
    <p:extLst>
      <p:ext uri="{BB962C8B-B14F-4D97-AF65-F5344CB8AC3E}">
        <p14:creationId xmlns:p14="http://schemas.microsoft.com/office/powerpoint/2010/main" val="16710648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sz="1600" lang="pt-BR"/>
              <a:t>Definir configurações iniciais do roteador </a:t>
            </a:r>
            <a:br>
              <a:rPr lang="en-US" dirty="0"/>
            </a:br>
            <a:r>
              <a:rPr sz="2400" lang="pt-BR"/>
              <a:t>Exemplo de configuração básica do roteador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246" y="855419"/>
            <a:ext cx="3135194" cy="611640"/>
          </a:xfrm>
        </p:spPr>
        <p:txBody>
          <a:bodyPr/>
          <a:lstStyle/>
          <a:p>
            <a:pPr marL="285750" indent="-285750" algn="l" defTabSz="684213" fontAlgn="base" rtl="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sz="1500" lang="pt-BR">
                <a:solidFill>
                  <a:srgbClr val="000000"/>
                </a:solidFill>
              </a:rPr>
              <a:t>Comandos para configuração básica do roteador no R1.</a:t>
            </a:r>
          </a:p>
          <a:p>
            <a:pPr marL="285750" indent="-285750" algn="l" defTabSz="684213" fontAlgn="base" rtl="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sz="1500" lang="pt-BR">
                <a:solidFill>
                  <a:srgbClr val="000000"/>
                </a:solidFill>
              </a:rPr>
              <a:t>A configuração é salva na NVRAM.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C2C7B6-BFA0-4414-A9FD-310FB45A4012}"/>
              </a:ext>
            </a:extLst>
          </p:cNvPr>
          <p:cNvSpPr txBox="1"/>
          <p:nvPr/>
        </p:nvSpPr>
        <p:spPr>
          <a:xfrm>
            <a:off x="3818374" y="855419"/>
            <a:ext cx="4893654" cy="3600986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pPr rtl="0"/>
            <a:r>
              <a:rPr sz="12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R1(config)# </a:t>
            </a:r>
            <a:r>
              <a:rPr sz="1200" b="true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hostname R1</a:t>
            </a:r>
          </a:p>
          <a:p>
            <a:pPr rtl="0"/>
            <a:r>
              <a:rPr sz="12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R1(config)# </a:t>
            </a:r>
            <a:r>
              <a:rPr sz="1200" b="true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enable secret class</a:t>
            </a:r>
          </a:p>
          <a:p>
            <a:pPr rtl="0"/>
            <a:r>
              <a:rPr sz="12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R1(config)#</a:t>
            </a:r>
            <a:r>
              <a:rPr sz="1200" b="true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line console 0</a:t>
            </a:r>
          </a:p>
          <a:p>
            <a:pPr rtl="0"/>
            <a:r>
              <a:rPr sz="12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R1(config-line)# </a:t>
            </a:r>
            <a:r>
              <a:rPr sz="1200" b="true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password cisco</a:t>
            </a:r>
          </a:p>
          <a:p>
            <a:pPr rtl="0"/>
            <a:r>
              <a:rPr sz="12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R1(config-line)#</a:t>
            </a:r>
            <a:r>
              <a:rPr sz="1200" b="true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login</a:t>
            </a:r>
          </a:p>
          <a:p>
            <a:pPr rtl="0"/>
            <a:r>
              <a:rPr sz="12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</a:t>
            </a:r>
            <a:r>
              <a:rPr sz="1200" b="true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sz="12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config-line)# </a:t>
            </a:r>
            <a:r>
              <a:rPr sz="1200" b="true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line vty 0 4</a:t>
            </a:r>
          </a:p>
          <a:p>
            <a:pPr rtl="0"/>
            <a:r>
              <a:rPr sz="12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R1(config-line)# </a:t>
            </a:r>
            <a:r>
              <a:rPr sz="1200" b="true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password cisco</a:t>
            </a:r>
          </a:p>
          <a:p>
            <a:pPr rtl="0"/>
            <a:r>
              <a:rPr sz="12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R1(config-line)#</a:t>
            </a:r>
            <a:r>
              <a:rPr sz="1200" b="true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login</a:t>
            </a:r>
          </a:p>
          <a:p>
            <a:pPr rtl="0"/>
            <a:r>
              <a:rPr sz="12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R1(config-line)# </a:t>
            </a:r>
            <a:r>
              <a:rPr sz="1200" b="true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transport input ssh telnet</a:t>
            </a:r>
          </a:p>
          <a:p>
            <a:pPr rtl="0"/>
            <a:r>
              <a:rPr sz="12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R1(config-line)# </a:t>
            </a:r>
            <a:r>
              <a:rPr sz="1200" b="true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exit</a:t>
            </a:r>
          </a:p>
          <a:p>
            <a:pPr rtl="0"/>
            <a:r>
              <a:rPr sz="12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R1(config)# </a:t>
            </a:r>
            <a:r>
              <a:rPr sz="1200" b="true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service password encryption</a:t>
            </a:r>
          </a:p>
          <a:p>
            <a:pPr rtl="0"/>
            <a:r>
              <a:rPr sz="12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R1(config)# </a:t>
            </a:r>
            <a:r>
              <a:rPr sz="1200" b="true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banner motd #</a:t>
            </a:r>
          </a:p>
          <a:p>
            <a:pPr rtl="0"/>
            <a:r>
              <a:rPr sz="12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Digite a mensagem TEXT. Termine com uma nova linha e o #</a:t>
            </a:r>
          </a:p>
          <a:p>
            <a:pPr rtl="0"/>
            <a:r>
              <a:rPr sz="12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*************************************************** </a:t>
            </a:r>
          </a:p>
          <a:p>
            <a:pPr rtl="0"/>
            <a:r>
              <a:rPr sz="12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AVISO: O acesso não autorizado é proibido!</a:t>
            </a:r>
          </a:p>
          <a:p>
            <a:pPr rtl="0"/>
            <a:r>
              <a:rPr sz="12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**********************************************</a:t>
            </a:r>
          </a:p>
          <a:p>
            <a:pPr rtl="0"/>
            <a:r>
              <a:rPr sz="12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R1(config)# </a:t>
            </a:r>
            <a:r>
              <a:rPr sz="1200" b="true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exit</a:t>
            </a:r>
          </a:p>
          <a:p>
            <a:pPr rtl="0"/>
            <a:r>
              <a:rPr sz="12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 </a:t>
            </a:r>
            <a:r>
              <a:rPr sz="1200" b="true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copy running-config startup-config</a:t>
            </a:r>
          </a:p>
          <a:p>
            <a:endParaRPr 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33286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sz="1600" lang="pt-BR"/>
              <a:t>Configurações iniciais do roteador</a:t>
            </a:r>
            <a:br>
              <a:rPr lang="en-US" dirty="0"/>
            </a:br>
            <a:r>
              <a:rPr sz="2400" lang="pt-BR"/>
              <a:t>Packet Tracer - Definir configurações iniciais do roteador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246" y="855418"/>
            <a:ext cx="7815004" cy="2478331"/>
          </a:xfrm>
        </p:spPr>
        <p:txBody>
          <a:bodyPr/>
          <a:lstStyle/>
          <a:p>
            <a:pPr marL="0" indent="0" algn="l" defTabSz="684213" fontAlgn="base" rtl="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sz="1800" lang="pt-BR">
                <a:solidFill>
                  <a:srgbClr val="000000"/>
                </a:solidFill>
              </a:rPr>
              <a:t>Neste Packet Tracer, você fará o seguinte:</a:t>
            </a:r>
          </a:p>
          <a:p>
            <a:pPr marL="285750" indent="-285750" algn="l" defTabSz="684213" fontAlgn="base" rtl="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sz="1800" lang="pt-BR">
                <a:solidFill>
                  <a:srgbClr val="000000"/>
                </a:solidFill>
              </a:rPr>
              <a:t>Verifique a configuração padrão do roteador.</a:t>
            </a:r>
          </a:p>
          <a:p>
            <a:pPr marL="285750" indent="-285750" algn="l" defTabSz="684213" fontAlgn="base" rtl="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sz="1800" lang="pt-BR">
                <a:solidFill>
                  <a:srgbClr val="000000"/>
                </a:solidFill>
              </a:rPr>
              <a:t>Configure e verifique a configuração inicial do roteador.</a:t>
            </a:r>
          </a:p>
          <a:p>
            <a:pPr marL="285750" indent="-285750" algn="l" defTabSz="684213" fontAlgn="base" rtl="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sz="1800" lang="pt-BR">
                <a:solidFill>
                  <a:srgbClr val="000000"/>
                </a:solidFill>
              </a:rPr>
              <a:t>Salve o arquivo de configuração em execução.</a:t>
            </a:r>
          </a:p>
        </p:txBody>
      </p:sp>
    </p:spTree>
    <p:extLst>
      <p:ext uri="{BB962C8B-B14F-4D97-AF65-F5344CB8AC3E}">
        <p14:creationId xmlns:p14="http://schemas.microsoft.com/office/powerpoint/2010/main" val="10901958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848344" cy="929640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10.2 Configurar interfaces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19359580"/>
      </p:ext>
    </p:ext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sz="1600" lang="pt-BR"/>
              <a:t>Configuração de interfaces</a:t>
            </a:r>
            <a:br>
              <a:rPr lang="en-US" dirty="0"/>
            </a:br>
            <a:r>
              <a:rPr sz="2400" lang="pt-BR"/>
              <a:t>Configurar interfaces de roteador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E9E597-CDF1-0047-B112-C9FD7F790C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258" y="806335"/>
            <a:ext cx="8455461" cy="590204"/>
          </a:xfrm>
        </p:spPr>
        <p:txBody>
          <a:bodyPr/>
          <a:lstStyle/>
          <a:p>
            <a:pPr marL="0" indent="0" algn="l" rtl="0"/>
            <a:r>
              <a:rPr lang="pt-BR">
                <a:solidFill>
                  <a:srgbClr val="000000"/>
                </a:solidFill>
              </a:rPr>
              <a:t>A configuração de uma interface de roteador inclui a emissão dos seguintes comandos: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FED6C1-89E0-4375-8477-F0EBA769203F}"/>
              </a:ext>
            </a:extLst>
          </p:cNvPr>
          <p:cNvSpPr txBox="1"/>
          <p:nvPr/>
        </p:nvSpPr>
        <p:spPr>
          <a:xfrm>
            <a:off x="2823587" y="557620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3E17110-55CB-48EF-A414-A5E9B16174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2972" y="1571547"/>
            <a:ext cx="6578056" cy="10156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false" sz="1200" b="false" i="false" u="none" strike="noStrike" cap="none" normalizeH="false" baseline="0" lang="pt-BR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Router(config)# </a:t>
            </a:r>
            <a:r>
              <a:rPr kumimoji="false" sz="1200" b="true" i="false" u="none" strike="noStrike" cap="none" normalizeH="false" baseline="0" lang="pt-BR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interface</a:t>
            </a:r>
            <a:r>
              <a:rPr kumimoji="false" sz="1200" b="false" i="false" u="none" strike="noStrike" cap="none" normalizeH="false" baseline="0" lang="pt-BR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false" sz="1200" b="false" i="true" u="none" strike="noStrike" cap="none" normalizeH="false" baseline="0" lang="pt-BR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type-and-number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false" sz="1200" b="false" i="false" u="none" strike="noStrike" cap="none" normalizeH="false" baseline="0" lang="pt-BR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Router(config-if)# </a:t>
            </a:r>
            <a:r>
              <a:rPr kumimoji="false" sz="1200" b="true" i="false" u="none" strike="noStrike" cap="none" normalizeH="false" baseline="0" lang="pt-BR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description</a:t>
            </a:r>
            <a:r>
              <a:rPr kumimoji="false" sz="1200" b="false" i="false" u="none" strike="noStrike" cap="none" normalizeH="false" baseline="0" lang="pt-BR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false" sz="1200" b="false" i="true" u="none" strike="noStrike" cap="none" normalizeH="false" baseline="0" lang="pt-BR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description-text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false" sz="1200" b="false" i="false" u="none" strike="noStrike" cap="none" normalizeH="false" baseline="0" lang="pt-BR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Router(config-if)# </a:t>
            </a:r>
            <a:r>
              <a:rPr kumimoji="false" sz="1200" b="true" i="false" u="none" strike="noStrike" cap="none" normalizeH="false" baseline="0" lang="pt-BR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ip address</a:t>
            </a:r>
            <a:r>
              <a:rPr kumimoji="false" sz="1200" b="false" i="false" u="none" strike="noStrike" cap="none" normalizeH="false" baseline="0" lang="pt-BR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false" sz="1200" b="false" i="true" u="none" strike="noStrike" cap="none" normalizeH="false" baseline="0" lang="pt-BR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ipv4-address subnet-mask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false" sz="1200" b="false" i="false" u="none" strike="noStrike" cap="none" normalizeH="false" baseline="0" lang="pt-BR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Router(config-if)# </a:t>
            </a:r>
            <a:r>
              <a:rPr kumimoji="false" sz="1200" b="true" i="false" u="none" strike="noStrike" cap="none" normalizeH="false" baseline="0" lang="pt-BR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ipv6 address</a:t>
            </a:r>
            <a:r>
              <a:rPr kumimoji="false" sz="1200" b="false" i="false" u="none" strike="noStrike" cap="none" normalizeH="false" baseline="0" lang="pt-BR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false" sz="1200" b="false" i="true" u="none" strike="noStrike" cap="none" normalizeH="false" baseline="0" lang="pt-BR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ipv6-address/prefix-length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false" sz="1200" b="false" i="false" u="none" strike="noStrike" cap="none" normalizeH="false" baseline="0" lang="pt-BR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Router(config-if)# </a:t>
            </a:r>
            <a:r>
              <a:rPr kumimoji="false" sz="1200" b="true" i="false" u="none" strike="noStrike" cap="none" normalizeH="false" baseline="0" lang="pt-BR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no shutdown </a:t>
            </a:r>
            <a:r>
              <a:rPr kumimoji="false" sz="900" b="false" i="false" u="none" strike="noStrike" cap="none" normalizeH="false" baseline="0" lang="pt-BR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694B5632-F1A8-4FC1-AA4C-612027B45A69}"/>
              </a:ext>
            </a:extLst>
          </p:cNvPr>
          <p:cNvSpPr txBox="1">
            <a:spLocks/>
          </p:cNvSpPr>
          <p:nvPr/>
        </p:nvSpPr>
        <p:spPr>
          <a:xfrm>
            <a:off x="474661" y="2932333"/>
            <a:ext cx="8280057" cy="1175657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n-US" sz="2000" b="0" i="0" kern="1200" baseline="0">
                <a:solidFill>
                  <a:schemeClr val="bg1"/>
                </a:solidFill>
                <a:latin typeface="+mn-lt"/>
                <a:ea typeface="ＭＳ Ｐゴシック" charset="0"/>
                <a:cs typeface="CiscoSans ExtraLight"/>
              </a:defRPr>
            </a:lvl1pPr>
            <a:lvl2pPr marL="358775" indent="-215900" algn="l" defTabSz="684213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>
                <a:solidFill>
                  <a:srgbClr val="000000"/>
                </a:solidFill>
              </a:rPr>
              <a:t>É uma boa prática usar o comando </a:t>
            </a:r>
            <a:r>
              <a:rPr b="true" lang="pt-BR">
                <a:solidFill>
                  <a:srgbClr val="000000"/>
                </a:solidFill>
              </a:rPr>
              <a:t>description</a:t>
            </a:r>
            <a:r>
              <a:rPr lang="pt-BR">
                <a:solidFill>
                  <a:srgbClr val="000000"/>
                </a:solidFill>
              </a:rPr>
              <a:t> para adicionar informações sobre a rede conectada à interface.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>
                <a:solidFill>
                  <a:srgbClr val="000000"/>
                </a:solidFill>
              </a:rPr>
              <a:t>O comando </a:t>
            </a:r>
            <a:r>
              <a:rPr b="true" lang="pt-BR">
                <a:solidFill>
                  <a:srgbClr val="000000"/>
                </a:solidFill>
              </a:rPr>
              <a:t>no</a:t>
            </a:r>
            <a:r>
              <a:rPr lang="pt-BR">
                <a:solidFill>
                  <a:srgbClr val="000000"/>
                </a:solidFill>
              </a:rPr>
              <a:t> </a:t>
            </a:r>
            <a:r>
              <a:rPr b="true" lang="pt-BR">
                <a:solidFill>
                  <a:srgbClr val="000000"/>
                </a:solidFill>
              </a:rPr>
              <a:t>shutdown</a:t>
            </a:r>
            <a:r>
              <a:rPr lang="pt-BR">
                <a:solidFill>
                  <a:srgbClr val="000000"/>
                </a:solidFill>
              </a:rPr>
              <a:t> ativa a interface.</a:t>
            </a:r>
          </a:p>
        </p:txBody>
      </p:sp>
    </p:spTree>
    <p:extLst>
      <p:ext uri="{BB962C8B-B14F-4D97-AF65-F5344CB8AC3E}">
        <p14:creationId xmlns:p14="http://schemas.microsoft.com/office/powerpoint/2010/main" val="25236907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sz="1600" lang="pt-BR"/>
              <a:t>Configurar interfaces</a:t>
            </a:r>
            <a:br>
              <a:rPr lang="en-US" dirty="0"/>
            </a:br>
            <a:r>
              <a:rPr sz="2400" lang="pt-BR"/>
              <a:t>Exemplo de configuração de interfaces de roteador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E9E597-CDF1-0047-B112-C9FD7F790C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662" y="844062"/>
            <a:ext cx="7870825" cy="409279"/>
          </a:xfrm>
        </p:spPr>
        <p:txBody>
          <a:bodyPr/>
          <a:lstStyle/>
          <a:p>
            <a:pPr marL="0" indent="0" algn="l" rtl="0"/>
            <a:r>
              <a:rPr lang="pt-BR">
                <a:solidFill>
                  <a:srgbClr val="000000"/>
                </a:solidFill>
              </a:rPr>
              <a:t>Os comandos para configurar a interface G0/0/0 em R1 são mostrados aqui: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FED6C1-89E0-4375-8477-F0EBA769203F}"/>
              </a:ext>
            </a:extLst>
          </p:cNvPr>
          <p:cNvSpPr txBox="1"/>
          <p:nvPr/>
        </p:nvSpPr>
        <p:spPr>
          <a:xfrm>
            <a:off x="2823587" y="557620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C10989-3D4F-45C9-BEEB-776028CA19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0307" y="1338851"/>
            <a:ext cx="4998966" cy="150594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7B97E3D-C6EF-4A93-B49A-A6755E6AE1C3}"/>
              </a:ext>
            </a:extLst>
          </p:cNvPr>
          <p:cNvSpPr txBox="1"/>
          <p:nvPr/>
        </p:nvSpPr>
        <p:spPr>
          <a:xfrm>
            <a:off x="958200" y="2930310"/>
            <a:ext cx="6903747" cy="1615827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pPr rtl="0"/>
            <a:r>
              <a:rPr sz="9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R1(config)# </a:t>
            </a:r>
            <a:r>
              <a:rPr sz="900" b="true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interface gigabitEthernet 0/0/0</a:t>
            </a:r>
          </a:p>
          <a:p>
            <a:pPr rtl="0"/>
            <a:r>
              <a:rPr sz="9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R1(config-if)# </a:t>
            </a:r>
            <a:r>
              <a:rPr sz="900" b="true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description Link to LAN</a:t>
            </a:r>
          </a:p>
          <a:p>
            <a:pPr rtl="0"/>
            <a:r>
              <a:rPr sz="9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R1(config-if)# </a:t>
            </a:r>
            <a:r>
              <a:rPr sz="900" b="true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ip address 192.168.10.1 255.255.255.0</a:t>
            </a:r>
          </a:p>
          <a:p>
            <a:pPr rtl="0"/>
            <a:r>
              <a:rPr sz="9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R1(config-if)# </a:t>
            </a:r>
            <a:r>
              <a:rPr sz="900" b="true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ipv6 address 2001:db8:acad:10::1/64</a:t>
            </a:r>
          </a:p>
          <a:p>
            <a:pPr rtl="0"/>
            <a:r>
              <a:rPr sz="9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R1(config-if)# </a:t>
            </a:r>
            <a:r>
              <a:rPr sz="900" b="true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 shutdown</a:t>
            </a:r>
          </a:p>
          <a:p>
            <a:pPr rtl="0"/>
            <a:r>
              <a:rPr sz="9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R1(config-if)# </a:t>
            </a:r>
            <a:r>
              <a:rPr sz="900" b="true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exit</a:t>
            </a:r>
          </a:p>
          <a:p>
            <a:pPr rtl="0"/>
            <a:r>
              <a:rPr sz="9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R1(config)#</a:t>
            </a:r>
          </a:p>
          <a:p>
            <a:pPr rtl="0"/>
            <a:r>
              <a:rPr sz="9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*Aug 1 01:43:53.435: %LINK-3-UPDOWN: Interface GigabitEthernet0/0/0, changed state to down</a:t>
            </a:r>
          </a:p>
          <a:p>
            <a:pPr rtl="0"/>
            <a:r>
              <a:rPr sz="9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*Aug 1 01:43:56.447: %LINK-3-UPDOWN: Interface GigabitEthernet0/0/0, changed state to up</a:t>
            </a:r>
          </a:p>
          <a:p>
            <a:pPr rtl="0"/>
            <a:r>
              <a:rPr sz="9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*Aug 1 01:43:57.447: %LINEPROTO-5-UPDOWN: Line protocol on Interface GigabitEthernet0/0/0, changed state to up</a:t>
            </a:r>
          </a:p>
        </p:txBody>
      </p:sp>
    </p:spTree>
    <p:extLst>
      <p:ext uri="{BB962C8B-B14F-4D97-AF65-F5344CB8AC3E}">
        <p14:creationId xmlns:p14="http://schemas.microsoft.com/office/powerpoint/2010/main" val="1816787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sz="1600" lang="pt-BR"/>
              <a:t>Configurar interfaces </a:t>
            </a:r>
            <a:br>
              <a:rPr lang="en-US" dirty="0"/>
            </a:br>
            <a:r>
              <a:rPr sz="2400" lang="pt-BR"/>
              <a:t>Exemplo de configuração de interfaces de roteador (cont)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E9E597-CDF1-0047-B112-C9FD7F790C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662" y="844062"/>
            <a:ext cx="7870825" cy="409279"/>
          </a:xfrm>
        </p:spPr>
        <p:txBody>
          <a:bodyPr/>
          <a:lstStyle/>
          <a:p>
            <a:pPr marL="0" indent="0" algn="l" rtl="0"/>
            <a:r>
              <a:rPr lang="pt-BR">
                <a:solidFill>
                  <a:srgbClr val="000000"/>
                </a:solidFill>
              </a:rPr>
              <a:t>Os comandos para configurar a interface G0/0/1 em R1 são mostrados aqui: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FED6C1-89E0-4375-8477-F0EBA769203F}"/>
              </a:ext>
            </a:extLst>
          </p:cNvPr>
          <p:cNvSpPr txBox="1"/>
          <p:nvPr/>
        </p:nvSpPr>
        <p:spPr>
          <a:xfrm>
            <a:off x="2823587" y="557620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C10989-3D4F-45C9-BEEB-776028CA19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0307" y="1338851"/>
            <a:ext cx="4998966" cy="150594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7B97E3D-C6EF-4A93-B49A-A6755E6AE1C3}"/>
              </a:ext>
            </a:extLst>
          </p:cNvPr>
          <p:cNvSpPr txBox="1"/>
          <p:nvPr/>
        </p:nvSpPr>
        <p:spPr>
          <a:xfrm>
            <a:off x="958200" y="2930310"/>
            <a:ext cx="6903747" cy="1615827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pPr rtl="0"/>
            <a:r>
              <a:rPr sz="9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R1(config)# </a:t>
            </a:r>
            <a:r>
              <a:rPr sz="900" b="true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interface gigabitEthernet 0/0/1</a:t>
            </a:r>
          </a:p>
          <a:p>
            <a:pPr rtl="0"/>
            <a:r>
              <a:rPr sz="9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R1(config-if)# </a:t>
            </a:r>
            <a:r>
              <a:rPr sz="900" b="true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description Link to R2</a:t>
            </a:r>
          </a:p>
          <a:p>
            <a:pPr rtl="0"/>
            <a:r>
              <a:rPr sz="9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R1(config-if)# </a:t>
            </a:r>
            <a:r>
              <a:rPr sz="900" b="true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ip address 209.165.200.225 255.255.255.252</a:t>
            </a:r>
          </a:p>
          <a:p>
            <a:pPr rtl="0"/>
            <a:r>
              <a:rPr sz="9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R1(config-if)# </a:t>
            </a:r>
            <a:r>
              <a:rPr sz="900" b="true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ipv6 address 2001:db8:feed:224::1/64</a:t>
            </a:r>
          </a:p>
          <a:p>
            <a:pPr rtl="0"/>
            <a:r>
              <a:rPr sz="9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R1(config-if)# </a:t>
            </a:r>
            <a:r>
              <a:rPr sz="900" b="true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 shutdown</a:t>
            </a:r>
          </a:p>
          <a:p>
            <a:pPr rtl="0"/>
            <a:r>
              <a:rPr sz="9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R1(config-if)# </a:t>
            </a:r>
            <a:r>
              <a:rPr sz="900" b="true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exit</a:t>
            </a:r>
          </a:p>
          <a:p>
            <a:pPr rtl="0"/>
            <a:r>
              <a:rPr sz="9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R1(config)#</a:t>
            </a:r>
          </a:p>
          <a:p>
            <a:pPr rtl="0"/>
            <a:r>
              <a:rPr sz="9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*Aug 1 01:46:29.170: %LINK-3-UPDOWN: Interface GigabitEthernet0/0/1, changed state to down</a:t>
            </a:r>
          </a:p>
          <a:p>
            <a:pPr rtl="0"/>
            <a:r>
              <a:rPr sz="9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*Aug 1 01:46:32.171: %LINK-3-UPDOWN: Interface GigabitEthernet0/0/1, changed state to up</a:t>
            </a:r>
          </a:p>
          <a:p>
            <a:pPr rtl="0"/>
            <a:r>
              <a:rPr sz="9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*Aug 1 01:46:33.171: %LINEPROTO-5-UPDOWN: Line protocol on Interface GigabitEthernet0/0/1, changed state to up</a:t>
            </a:r>
          </a:p>
        </p:txBody>
      </p:sp>
    </p:spTree>
    <p:extLst>
      <p:ext uri="{BB962C8B-B14F-4D97-AF65-F5344CB8AC3E}">
        <p14:creationId xmlns:p14="http://schemas.microsoft.com/office/powerpoint/2010/main" val="38276097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sz="1600" lang="pt-BR"/>
              <a:t>Configurar interfaces </a:t>
            </a:r>
            <a:br>
              <a:rPr lang="en-US" dirty="0"/>
            </a:br>
            <a:r>
              <a:rPr sz="2400" lang="pt-BR"/>
              <a:t>Verificar a configuração da interface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E9E597-CDF1-0047-B112-C9FD7F790C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662" y="844062"/>
            <a:ext cx="7870825" cy="884985"/>
          </a:xfrm>
        </p:spPr>
        <p:txBody>
          <a:bodyPr/>
          <a:lstStyle/>
          <a:p>
            <a:pPr marL="0" indent="0" algn="l" rtl="0"/>
            <a:r>
              <a:rPr lang="pt-BR">
                <a:solidFill>
                  <a:srgbClr val="000000"/>
                </a:solidFill>
              </a:rPr>
              <a:t>Para verificar a configuração da interface, use os comandos </a:t>
            </a:r>
            <a:r>
              <a:rPr b="true" lang="pt-BR">
                <a:solidFill>
                  <a:srgbClr val="000000"/>
                </a:solidFill>
              </a:rPr>
              <a:t>show ip interface brief </a:t>
            </a:r>
            <a:r>
              <a:rPr lang="pt-BR">
                <a:solidFill>
                  <a:srgbClr val="000000"/>
                </a:solidFill>
              </a:rPr>
              <a:t>e </a:t>
            </a:r>
            <a:r>
              <a:rPr b="true" lang="pt-BR">
                <a:solidFill>
                  <a:srgbClr val="000000"/>
                </a:solidFill>
              </a:rPr>
              <a:t>show ipv6 interface brief </a:t>
            </a:r>
            <a:r>
              <a:rPr lang="pt-BR">
                <a:solidFill>
                  <a:srgbClr val="000000"/>
                </a:solidFill>
              </a:rPr>
              <a:t>mostrados aqui: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FED6C1-89E0-4375-8477-F0EBA769203F}"/>
              </a:ext>
            </a:extLst>
          </p:cNvPr>
          <p:cNvSpPr txBox="1"/>
          <p:nvPr/>
        </p:nvSpPr>
        <p:spPr>
          <a:xfrm>
            <a:off x="2823587" y="557620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B97E3D-C6EF-4A93-B49A-A6755E6AE1C3}"/>
              </a:ext>
            </a:extLst>
          </p:cNvPr>
          <p:cNvSpPr txBox="1"/>
          <p:nvPr/>
        </p:nvSpPr>
        <p:spPr>
          <a:xfrm>
            <a:off x="1721391" y="1940923"/>
            <a:ext cx="5701218" cy="784830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pPr rtl="0"/>
            <a:r>
              <a:rPr sz="9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 </a:t>
            </a:r>
            <a:r>
              <a:rPr sz="900" b="true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show ip interface brief</a:t>
            </a:r>
          </a:p>
          <a:p>
            <a:pPr rtl="0"/>
            <a:r>
              <a:rPr sz="9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Interface IP-Address OK? Method Status Protocol </a:t>
            </a:r>
          </a:p>
          <a:p>
            <a:pPr rtl="0"/>
            <a:r>
              <a:rPr sz="9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GigabitEthernet0/0/0 192.168.10.1 YES manual up up </a:t>
            </a:r>
          </a:p>
          <a:p>
            <a:pPr rtl="0"/>
            <a:r>
              <a:rPr sz="9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Gigabitethernet0/0/1 209.165.200.225 SIM manual up </a:t>
            </a:r>
          </a:p>
          <a:p>
            <a:pPr rtl="0"/>
            <a:r>
              <a:rPr sz="9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Vlan1 unassigned YES unset administratively down down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9205F4-B6F7-4CBB-9733-95EEED388FC7}"/>
              </a:ext>
            </a:extLst>
          </p:cNvPr>
          <p:cNvSpPr txBox="1"/>
          <p:nvPr/>
        </p:nvSpPr>
        <p:spPr>
          <a:xfrm>
            <a:off x="1721391" y="2907887"/>
            <a:ext cx="5701218" cy="1477328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pPr rtl="0"/>
            <a:r>
              <a:rPr sz="9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</a:t>
            </a:r>
            <a:r>
              <a:rPr sz="900" b="true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show ipv6 interface brief</a:t>
            </a:r>
          </a:p>
          <a:p>
            <a:pPr rtl="0"/>
            <a:r>
              <a:rPr sz="9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GigabitEthernet0/0/0 [up/up]</a:t>
            </a:r>
          </a:p>
          <a:p>
            <a:pPr rtl="0"/>
            <a:r>
              <a:rPr sz="9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FE80::201:C9FF:FE89:4501</a:t>
            </a:r>
          </a:p>
          <a:p>
            <a:pPr rtl="0"/>
            <a:r>
              <a:rPr sz="9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2001:DB8:ACAD:10::1</a:t>
            </a:r>
          </a:p>
          <a:p>
            <a:pPr rtl="0"/>
            <a:r>
              <a:rPr sz="9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GigabitEthernet0/0/1 [up/up]</a:t>
            </a:r>
          </a:p>
          <a:p>
            <a:pPr rtl="0"/>
            <a:r>
              <a:rPr sz="9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FE80::201:C9FF:FE89:4502</a:t>
            </a:r>
          </a:p>
          <a:p>
            <a:pPr rtl="0"/>
            <a:r>
              <a:rPr sz="9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2001:DB8:FEED:224። 1</a:t>
            </a:r>
          </a:p>
          <a:p>
            <a:pPr rtl="0"/>
            <a:r>
              <a:rPr sz="9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Vlan1 [administratively down/down]</a:t>
            </a:r>
          </a:p>
          <a:p>
            <a:pPr rtl="0"/>
            <a:r>
              <a:rPr sz="9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unassigned </a:t>
            </a:r>
          </a:p>
          <a:p>
            <a:pPr rtl="0"/>
            <a:r>
              <a:rPr sz="9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</a:t>
            </a:r>
          </a:p>
        </p:txBody>
      </p:sp>
    </p:spTree>
    <p:extLst>
      <p:ext uri="{BB962C8B-B14F-4D97-AF65-F5344CB8AC3E}">
        <p14:creationId xmlns:p14="http://schemas.microsoft.com/office/powerpoint/2010/main" val="30253490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sz="1600" lang="pt-BR"/>
              <a:t>Configurar interfaces</a:t>
            </a:r>
            <a:br>
              <a:rPr lang="en-US" dirty="0"/>
            </a:br>
            <a:r>
              <a:rPr sz="2400" lang="pt-BR"/>
              <a:t>Configurar comandos de verificação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57A863-7491-0041-AF26-F779D70A7E36}"/>
              </a:ext>
            </a:extLst>
          </p:cNvPr>
          <p:cNvSpPr txBox="1"/>
          <p:nvPr/>
        </p:nvSpPr>
        <p:spPr>
          <a:xfrm>
            <a:off x="474662" y="890954"/>
            <a:ext cx="8094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pt-BR">
                <a:solidFill>
                  <a:srgbClr val="000000"/>
                </a:solidFill>
              </a:rPr>
              <a:t>A tabela resume os comandos show usados para verificar a configuração da interface</a:t>
            </a:r>
            <a:r>
              <a:rPr sz="1600" lang="pt-BR">
                <a:solidFill>
                  <a:srgbClr val="000000"/>
                </a:solidFill>
              </a:rPr>
              <a:t>.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73BB6E86-62EB-2348-9F73-08093BACDA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56366291"/>
              </p:ext>
            </p:extLst>
          </p:nvPr>
        </p:nvGraphicFramePr>
        <p:xfrm>
          <a:off x="675861" y="1419402"/>
          <a:ext cx="7893708" cy="2921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56215">
                  <a:extLst>
                    <a:ext uri="{9D8B030D-6E8A-4147-A177-3AD203B41FA5}">
                      <a16:colId xmlns:a16="http://schemas.microsoft.com/office/drawing/2014/main" val="3729139006"/>
                    </a:ext>
                  </a:extLst>
                </a:gridCol>
                <a:gridCol w="4837493">
                  <a:extLst>
                    <a:ext uri="{9D8B030D-6E8A-4147-A177-3AD203B41FA5}">
                      <a16:colId xmlns:a16="http://schemas.microsoft.com/office/drawing/2014/main" val="1988913492"/>
                    </a:ext>
                  </a:extLst>
                </a:gridCol>
              </a:tblGrid>
              <a:tr h="455550">
                <a:tc>
                  <a:txBody>
                    <a:bodyPr/>
                    <a:lstStyle/>
                    <a:p>
                      <a:pPr rtl="0"/>
                      <a:r>
                        <a:rPr sz="1400" lang="pt-BR"/>
                        <a:t>Comandos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sz="1400" lang="pt-BR"/>
                        <a:t>Descrição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3676789"/>
                  </a:ext>
                </a:extLst>
              </a:tr>
              <a:tr h="505472">
                <a:tc>
                  <a:txBody>
                    <a:bodyPr/>
                    <a:lstStyle/>
                    <a:p>
                      <a:pPr rtl="0"/>
                      <a:r>
                        <a:rPr sz="1400" b="true" lang="pt-BR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show ip interface brief</a:t>
                      </a:r>
                    </a:p>
                    <a:p>
                      <a:pPr rtl="0"/>
                      <a:r>
                        <a:rPr sz="1400" b="true" lang="pt-BR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show ipv6 interface brief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sz="1400" lang="pt-BR"/>
                        <a:t>Exibe todas as interfaces, seus endereços IP e seu status atual.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9654457"/>
                  </a:ext>
                </a:extLst>
              </a:tr>
              <a:tr h="505472">
                <a:tc>
                  <a:txBody>
                    <a:bodyPr/>
                    <a:lstStyle/>
                    <a:p>
                      <a:pPr rtl="0"/>
                      <a:r>
                        <a:rPr sz="1400" b="true" lang="pt-BR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show ip route</a:t>
                      </a:r>
                    </a:p>
                    <a:p>
                      <a:pPr rtl="0"/>
                      <a:r>
                        <a:rPr sz="1400" b="true" lang="pt-BR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show ipv6 route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sz="1400" lang="pt-BR"/>
                        <a:t>Exibe o conteúdo das tabelas de roteamento IP armazenadas na RAM.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735172"/>
                  </a:ext>
                </a:extLst>
              </a:tr>
              <a:tr h="455550">
                <a:tc>
                  <a:txBody>
                    <a:bodyPr/>
                    <a:lstStyle/>
                    <a:p>
                      <a:pPr rtl="0"/>
                      <a:r>
                        <a:rPr sz="1400" b="true" lang="pt-BR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show interfaces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sz="1400" lang="pt-BR"/>
                        <a:t>Exibe estatísticas para todas as interfaces no dispositivo. Exibe somente as informações de endereçamento IPv4.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468046"/>
                  </a:ext>
                </a:extLst>
              </a:tr>
              <a:tr h="455550">
                <a:tc>
                  <a:txBody>
                    <a:bodyPr/>
                    <a:lstStyle/>
                    <a:p>
                      <a:pPr rtl="0"/>
                      <a:r>
                        <a:rPr sz="1400" b="true" lang="pt-BR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show ip interfaces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sz="1400" lang="pt-BR"/>
                        <a:t>Exibe as estatísticas do IPv4 para todas as interfaces em um roteador.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8107787"/>
                  </a:ext>
                </a:extLst>
              </a:tr>
              <a:tr h="455550">
                <a:tc>
                  <a:txBody>
                    <a:bodyPr/>
                    <a:lstStyle/>
                    <a:p>
                      <a:pPr rtl="0"/>
                      <a:r>
                        <a:rPr sz="1400" b="true" lang="pt-BR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show ipv6 interfaces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sz="1400" lang="pt-BR"/>
                        <a:t>Exibe as estatísticas do IPv6 para todas as interfaces em um roteador.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54542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75225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sz="1600" lang="pt-BR"/>
              <a:t>Configurar Interfaces</a:t>
            </a:r>
            <a:br>
              <a:rPr lang="en-US" dirty="0"/>
            </a:br>
            <a:r>
              <a:rPr sz="2400" lang="pt-BR"/>
              <a:t>Configurar Comandos de Verificação (Cont.)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57A863-7491-0041-AF26-F779D70A7E36}"/>
              </a:ext>
            </a:extLst>
          </p:cNvPr>
          <p:cNvSpPr txBox="1"/>
          <p:nvPr/>
        </p:nvSpPr>
        <p:spPr>
          <a:xfrm>
            <a:off x="474662" y="890954"/>
            <a:ext cx="80949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sz="1600" lang="pt-BR">
                <a:solidFill>
                  <a:srgbClr val="000000"/>
                </a:solidFill>
              </a:rPr>
              <a:t>Veja o status de todas as interfaces com os comandos </a:t>
            </a:r>
            <a:r>
              <a:rPr sz="1600" b="true" lang="pt-BR">
                <a:solidFill>
                  <a:srgbClr val="000000"/>
                </a:solidFill>
              </a:rPr>
              <a:t>show ip interface brief </a:t>
            </a:r>
            <a:r>
              <a:rPr sz="1600" lang="pt-BR">
                <a:solidFill>
                  <a:srgbClr val="000000"/>
                </a:solidFill>
              </a:rPr>
              <a:t>e </a:t>
            </a:r>
            <a:r>
              <a:rPr sz="1600" b="true" lang="pt-BR">
                <a:solidFill>
                  <a:srgbClr val="000000"/>
                </a:solidFill>
              </a:rPr>
              <a:t>show ipv6 interface brief </a:t>
            </a:r>
            <a:r>
              <a:rPr sz="1600" lang="pt-BR">
                <a:solidFill>
                  <a:srgbClr val="000000"/>
                </a:solidFill>
              </a:rPr>
              <a:t>, mostrados aqui: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07EA06-7465-4C52-AE81-CBACEDBD6441}"/>
              </a:ext>
            </a:extLst>
          </p:cNvPr>
          <p:cNvSpPr txBox="1"/>
          <p:nvPr/>
        </p:nvSpPr>
        <p:spPr>
          <a:xfrm>
            <a:off x="1721391" y="1785521"/>
            <a:ext cx="5701218" cy="923330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pPr rtl="0"/>
            <a:r>
              <a:rPr sz="9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 </a:t>
            </a:r>
            <a:r>
              <a:rPr sz="900" b="true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show ip interface brief</a:t>
            </a:r>
          </a:p>
          <a:p>
            <a:pPr rtl="0"/>
            <a:r>
              <a:rPr sz="9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Interface IP-Address OK? Method Status Protocol </a:t>
            </a:r>
          </a:p>
          <a:p>
            <a:pPr rtl="0"/>
            <a:r>
              <a:rPr sz="9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GigabitEthernet0/0/0 192.168.10.1 YES manual up up </a:t>
            </a:r>
          </a:p>
          <a:p>
            <a:pPr rtl="0"/>
            <a:r>
              <a:rPr sz="9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Gigabitethernet0/0/1 209.165.200.225 SIM manual up </a:t>
            </a:r>
          </a:p>
          <a:p>
            <a:pPr rtl="0"/>
            <a:r>
              <a:rPr sz="9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Vlan1 unassigned YES unset administratively down down </a:t>
            </a:r>
          </a:p>
          <a:p>
            <a:pPr rtl="0"/>
            <a:r>
              <a:rPr sz="9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345167-82FC-49E7-B10D-34FE13887791}"/>
              </a:ext>
            </a:extLst>
          </p:cNvPr>
          <p:cNvSpPr txBox="1"/>
          <p:nvPr/>
        </p:nvSpPr>
        <p:spPr>
          <a:xfrm>
            <a:off x="1721391" y="2929108"/>
            <a:ext cx="5701218" cy="1477328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pPr rtl="0"/>
            <a:r>
              <a:rPr sz="9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</a:t>
            </a:r>
            <a:r>
              <a:rPr sz="900" b="true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show ipv6 interface brief</a:t>
            </a:r>
          </a:p>
          <a:p>
            <a:pPr rtl="0"/>
            <a:r>
              <a:rPr sz="9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GigabitEthernet0/0/0 [up/up]</a:t>
            </a:r>
          </a:p>
          <a:p>
            <a:pPr rtl="0"/>
            <a:r>
              <a:rPr sz="9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FE80::201:C9FF:FE89:4501</a:t>
            </a:r>
          </a:p>
          <a:p>
            <a:pPr rtl="0"/>
            <a:r>
              <a:rPr sz="9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2001:DB8:ACAD:10::1</a:t>
            </a:r>
          </a:p>
          <a:p>
            <a:pPr rtl="0"/>
            <a:r>
              <a:rPr sz="9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GigabitEthernet0/0/1 [up/up]</a:t>
            </a:r>
          </a:p>
          <a:p>
            <a:pPr rtl="0"/>
            <a:r>
              <a:rPr sz="9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FE80::201:C9FF:FE89:4502</a:t>
            </a:r>
          </a:p>
          <a:p>
            <a:pPr rtl="0"/>
            <a:r>
              <a:rPr sz="9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2001:DB8:FEED:224። 1</a:t>
            </a:r>
          </a:p>
          <a:p>
            <a:pPr rtl="0"/>
            <a:r>
              <a:rPr sz="9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Vlan1 [administratively down/down]</a:t>
            </a:r>
          </a:p>
          <a:p>
            <a:pPr rtl="0"/>
            <a:r>
              <a:rPr sz="9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unassigned </a:t>
            </a:r>
          </a:p>
          <a:p>
            <a:pPr rtl="0"/>
            <a:r>
              <a:rPr sz="9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</a:t>
            </a:r>
          </a:p>
        </p:txBody>
      </p:sp>
    </p:spTree>
    <p:extLst>
      <p:ext uri="{BB962C8B-B14F-4D97-AF65-F5344CB8AC3E}">
        <p14:creationId xmlns:p14="http://schemas.microsoft.com/office/powerpoint/2010/main" val="30488213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sz="1600" lang="pt-BR"/>
              <a:t>Configurar Interfaces</a:t>
            </a:r>
            <a:br>
              <a:rPr lang="en-US" dirty="0"/>
            </a:br>
            <a:r>
              <a:rPr sz="2400" lang="pt-BR"/>
              <a:t>Configurar Comandos de Verificação (Cont.)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57A863-7491-0041-AF26-F779D70A7E36}"/>
              </a:ext>
            </a:extLst>
          </p:cNvPr>
          <p:cNvSpPr txBox="1"/>
          <p:nvPr/>
        </p:nvSpPr>
        <p:spPr>
          <a:xfrm>
            <a:off x="474662" y="890954"/>
            <a:ext cx="80949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sz="1600" lang="pt-BR">
                <a:solidFill>
                  <a:srgbClr val="000000"/>
                </a:solidFill>
              </a:rPr>
              <a:t>Exiba o conteúdo das tabelas de roteamento IP com os comandos </a:t>
            </a:r>
            <a:r>
              <a:rPr sz="1600" b="true" lang="pt-BR">
                <a:solidFill>
                  <a:srgbClr val="000000"/>
                </a:solidFill>
              </a:rPr>
              <a:t>show ip route </a:t>
            </a:r>
            <a:r>
              <a:rPr sz="1600" lang="pt-BR">
                <a:solidFill>
                  <a:srgbClr val="000000"/>
                </a:solidFill>
              </a:rPr>
              <a:t>e </a:t>
            </a:r>
            <a:r>
              <a:rPr sz="1600" b="true" lang="pt-BR">
                <a:solidFill>
                  <a:srgbClr val="000000"/>
                </a:solidFill>
              </a:rPr>
              <a:t>show ipv6 route </a:t>
            </a:r>
            <a:r>
              <a:rPr sz="1600" lang="pt-BR">
                <a:solidFill>
                  <a:srgbClr val="000000"/>
                </a:solidFill>
              </a:rPr>
              <a:t>, conforme mostrado aqui: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07EA06-7465-4C52-AE81-CBACEDBD6441}"/>
              </a:ext>
            </a:extLst>
          </p:cNvPr>
          <p:cNvSpPr txBox="1"/>
          <p:nvPr/>
        </p:nvSpPr>
        <p:spPr>
          <a:xfrm>
            <a:off x="1701233" y="1475729"/>
            <a:ext cx="5701218" cy="1477328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pPr rtl="0"/>
            <a:r>
              <a:rPr sz="9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 </a:t>
            </a:r>
            <a:r>
              <a:rPr sz="900" b="true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show ip route</a:t>
            </a:r>
          </a:p>
          <a:p>
            <a:pPr rtl="0"/>
            <a:r>
              <a:rPr sz="9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 output omitted&gt;</a:t>
            </a:r>
          </a:p>
          <a:p>
            <a:pPr rtl="0"/>
            <a:r>
              <a:rPr sz="9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Gateway of last resort is not set.</a:t>
            </a:r>
          </a:p>
          <a:p>
            <a:pPr rtl="0"/>
            <a:r>
              <a:rPr sz="9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192.168.10.0/24 is variably subnetted, 2 subnets, 2 masks</a:t>
            </a:r>
          </a:p>
          <a:p>
            <a:pPr rtl="0"/>
            <a:r>
              <a:rPr sz="9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 192.168.10.0/24 is directly connected, GigabitEthernet0/0/0</a:t>
            </a:r>
          </a:p>
          <a:p>
            <a:pPr rtl="0"/>
            <a:r>
              <a:rPr sz="9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 192.168.10.1/32 is directly connected, GigabitEthernet0/0/0</a:t>
            </a:r>
          </a:p>
          <a:p>
            <a:pPr rtl="0"/>
            <a:r>
              <a:rPr sz="9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209.165.200.0/24 is variably subnetted, 2 subnets, 2 masks</a:t>
            </a:r>
          </a:p>
          <a:p>
            <a:pPr rtl="0"/>
            <a:r>
              <a:rPr sz="9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 209.165.200.224/30 está conectado diretamente, GigabitEthernet0 / 0/1</a:t>
            </a:r>
          </a:p>
          <a:p>
            <a:pPr rtl="0"/>
            <a:r>
              <a:rPr sz="9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 209.165.200.225/32 está conectado diretamente, GigabitEthernet0 / 0/1</a:t>
            </a:r>
          </a:p>
          <a:p>
            <a:pPr rtl="0"/>
            <a:r>
              <a:rPr sz="9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345167-82FC-49E7-B10D-34FE13887791}"/>
              </a:ext>
            </a:extLst>
          </p:cNvPr>
          <p:cNvSpPr txBox="1"/>
          <p:nvPr/>
        </p:nvSpPr>
        <p:spPr>
          <a:xfrm>
            <a:off x="1721391" y="3035889"/>
            <a:ext cx="5701218" cy="1892826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pPr rtl="0"/>
            <a:r>
              <a:rPr sz="9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 show ipv6 route</a:t>
            </a:r>
          </a:p>
          <a:p>
            <a:pPr rtl="0"/>
            <a:r>
              <a:rPr sz="9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&lt;output omitted&gt;</a:t>
            </a:r>
          </a:p>
          <a:p>
            <a:pPr rtl="0"/>
            <a:r>
              <a:rPr sz="9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 2001:DB8:ACAD:10::/64 [0/0]</a:t>
            </a:r>
          </a:p>
          <a:p>
            <a:pPr rtl="0"/>
            <a:r>
              <a:rPr sz="9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via GigabitEthernet0/0/0, directly connected</a:t>
            </a:r>
          </a:p>
          <a:p>
            <a:pPr rtl="0"/>
            <a:r>
              <a:rPr sz="9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 2001:DB8:ACAD:10::1/128 [0/0]</a:t>
            </a:r>
          </a:p>
          <a:p>
            <a:pPr rtl="0"/>
            <a:r>
              <a:rPr sz="9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via GigabitEthernet0/0/0, receive</a:t>
            </a:r>
          </a:p>
          <a:p>
            <a:pPr rtl="0"/>
            <a:r>
              <a:rPr sz="9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 2001:DB8:FEED:224::/64 [0/0]</a:t>
            </a:r>
          </a:p>
          <a:p>
            <a:pPr rtl="0"/>
            <a:r>
              <a:rPr sz="9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via GigabitEthernet0/0/1, directly connected</a:t>
            </a:r>
          </a:p>
          <a:p>
            <a:pPr rtl="0"/>
            <a:r>
              <a:rPr sz="9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 2001:DB8:FEED:224: :1/128 [0/0]</a:t>
            </a:r>
          </a:p>
          <a:p>
            <a:pPr rtl="0"/>
            <a:r>
              <a:rPr sz="9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via Gigabitethernet0/0/1, receba</a:t>
            </a:r>
          </a:p>
          <a:p>
            <a:pPr rtl="0"/>
            <a:r>
              <a:rPr sz="9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 FF00::/8 [0/0]</a:t>
            </a:r>
          </a:p>
          <a:p>
            <a:pPr rtl="0"/>
            <a:r>
              <a:rPr sz="9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via Null0, receive</a:t>
            </a:r>
          </a:p>
          <a:p>
            <a:pPr rtl="0"/>
            <a:r>
              <a:rPr sz="9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</a:t>
            </a:r>
          </a:p>
        </p:txBody>
      </p:sp>
    </p:spTree>
    <p:extLst>
      <p:ext uri="{BB962C8B-B14F-4D97-AF65-F5344CB8AC3E}">
        <p14:creationId xmlns:p14="http://schemas.microsoft.com/office/powerpoint/2010/main" val="2468843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sz="1600" lang="pt-BR"/>
              <a:t>Configurar Interfaces</a:t>
            </a:r>
            <a:br>
              <a:rPr lang="en-US" dirty="0"/>
            </a:br>
            <a:r>
              <a:rPr sz="2400" lang="pt-BR"/>
              <a:t>Configurar Comandos de Verificação (Cont.)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57A863-7491-0041-AF26-F779D70A7E36}"/>
              </a:ext>
            </a:extLst>
          </p:cNvPr>
          <p:cNvSpPr txBox="1"/>
          <p:nvPr/>
        </p:nvSpPr>
        <p:spPr>
          <a:xfrm>
            <a:off x="474662" y="890954"/>
            <a:ext cx="263865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sz="1600" lang="pt-BR">
                <a:solidFill>
                  <a:srgbClr val="000000"/>
                </a:solidFill>
              </a:rPr>
              <a:t>Exibe estatísticas para todas as interfaces com o comando </a:t>
            </a:r>
            <a:r>
              <a:rPr sz="1600" b="true" lang="pt-BR">
                <a:solidFill>
                  <a:srgbClr val="000000"/>
                </a:solidFill>
              </a:rPr>
              <a:t>show interfaces </a:t>
            </a:r>
            <a:r>
              <a:rPr sz="1600" lang="pt-BR">
                <a:solidFill>
                  <a:srgbClr val="000000"/>
                </a:solidFill>
              </a:rPr>
              <a:t>, conforme mostrado aqui: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07EA06-7465-4C52-AE81-CBACEDBD6441}"/>
              </a:ext>
            </a:extLst>
          </p:cNvPr>
          <p:cNvSpPr txBox="1"/>
          <p:nvPr/>
        </p:nvSpPr>
        <p:spPr>
          <a:xfrm>
            <a:off x="3320968" y="890954"/>
            <a:ext cx="5419440" cy="3693319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pPr rtl="0"/>
            <a:r>
              <a:rPr sz="9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 </a:t>
            </a:r>
            <a:r>
              <a:rPr sz="900" b="true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show interfaces gig0/0/0</a:t>
            </a:r>
          </a:p>
          <a:p>
            <a:pPr rtl="0"/>
            <a:r>
              <a:rPr sz="9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GigabitEthernet0/0/0 está ativo, protocolo de linha está ativo </a:t>
            </a:r>
          </a:p>
          <a:p>
            <a:pPr rtl="0"/>
            <a:r>
              <a:rPr sz="9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O hardware é ISR4321-2x1ge, o endereço é a0e0.af0d.e140 (bia a0e0.af0d.e140)</a:t>
            </a:r>
          </a:p>
          <a:p>
            <a:pPr rtl="0"/>
            <a:r>
              <a:rPr sz="9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Description: Link to LAN</a:t>
            </a:r>
          </a:p>
          <a:p>
            <a:pPr rtl="0"/>
            <a:r>
              <a:rPr sz="9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Internet address is 192.168.10.1/24</a:t>
            </a:r>
          </a:p>
          <a:p>
            <a:pPr rtl="0"/>
            <a:r>
              <a:rPr sz="9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MTU 1500 bytes, BW 100000 Kbit/sec, DLY 100 usec, </a:t>
            </a:r>
          </a:p>
          <a:p>
            <a:pPr rtl="0"/>
            <a:r>
              <a:rPr sz="9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reliability 255/255, txload 1/255, rxload 1/255</a:t>
            </a:r>
          </a:p>
          <a:p>
            <a:pPr rtl="0"/>
            <a:r>
              <a:rPr sz="9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Encapsulation ARPA, loopback not set</a:t>
            </a:r>
          </a:p>
          <a:p>
            <a:pPr rtl="0"/>
            <a:r>
              <a:rPr sz="9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Keepalive not supported </a:t>
            </a:r>
          </a:p>
          <a:p>
            <a:pPr rtl="0"/>
            <a:r>
              <a:rPr sz="9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Full Duplex, 100 Mbps, o tipo de link é automático, o tipo de mídia é RJ45</a:t>
            </a:r>
          </a:p>
          <a:p>
            <a:pPr rtl="0"/>
            <a:r>
              <a:rPr sz="9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o controle de fluxo de saída está desativado, o controle de fluxo de entrada está desativado</a:t>
            </a:r>
          </a:p>
          <a:p>
            <a:pPr rtl="0"/>
            <a:r>
              <a:rPr sz="9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ARP type: ARPA, ARP Timeout 04:00:00</a:t>
            </a:r>
          </a:p>
          <a:p>
            <a:pPr rtl="0"/>
            <a:r>
              <a:rPr sz="9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Last input 00:00:01, output 00:00:35, output hang never</a:t>
            </a:r>
          </a:p>
          <a:p>
            <a:pPr rtl="0"/>
            <a:r>
              <a:rPr sz="9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Last clearing of "show interface" counters never</a:t>
            </a:r>
          </a:p>
          <a:p>
            <a:pPr rtl="0"/>
            <a:r>
              <a:rPr sz="9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Fila de entrada: 0/375/0/0 (tamanho/máx/quedas/descargas); Quedas na produção total: 0</a:t>
            </a:r>
          </a:p>
          <a:p>
            <a:pPr rtl="0"/>
            <a:r>
              <a:rPr sz="9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Queueing strategy: fifo</a:t>
            </a:r>
          </a:p>
          <a:p>
            <a:pPr rtl="0"/>
            <a:r>
              <a:rPr sz="9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Output queue: 0/40 (size/max)</a:t>
            </a:r>
          </a:p>
          <a:p>
            <a:pPr rtl="0"/>
            <a:r>
              <a:rPr sz="9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5 minute input rate 0 bits/sec, 0 packets/sec</a:t>
            </a:r>
          </a:p>
          <a:p>
            <a:pPr rtl="0"/>
            <a:r>
              <a:rPr sz="9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5 minute output rate 0 bits/sec, 0 packets/sec</a:t>
            </a:r>
          </a:p>
          <a:p>
            <a:pPr rtl="0"/>
            <a:r>
              <a:rPr sz="9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1180 packets input, 109486 bytes, 0 no buffer</a:t>
            </a:r>
          </a:p>
          <a:p>
            <a:pPr rtl="0"/>
            <a:r>
              <a:rPr sz="9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Received 84 broadcasts (0 IP multicasts)</a:t>
            </a:r>
          </a:p>
          <a:p>
            <a:pPr rtl="0"/>
            <a:r>
              <a:rPr sz="9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0 runts, 0 giants, 0 throttles </a:t>
            </a:r>
          </a:p>
          <a:p>
            <a:endParaRPr lang="en-US" sz="9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sz="9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&lt;saída omitida&gt;</a:t>
            </a:r>
          </a:p>
          <a:p>
            <a:endParaRPr lang="en-US" sz="9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sz="9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</a:t>
            </a:r>
          </a:p>
        </p:txBody>
      </p:sp>
    </p:spTree>
    <p:extLst>
      <p:ext uri="{BB962C8B-B14F-4D97-AF65-F5344CB8AC3E}">
        <p14:creationId xmlns:p14="http://schemas.microsoft.com/office/powerpoint/2010/main" val="4299976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sz="1600" lang="pt-BR"/>
              <a:t>Configurar Interfaces</a:t>
            </a:r>
            <a:br>
              <a:rPr lang="en-US" dirty="0"/>
            </a:br>
            <a:r>
              <a:rPr sz="2400" lang="pt-BR"/>
              <a:t>Configurar Comandos de Verificação (Cont.)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57A863-7491-0041-AF26-F779D70A7E36}"/>
              </a:ext>
            </a:extLst>
          </p:cNvPr>
          <p:cNvSpPr txBox="1"/>
          <p:nvPr/>
        </p:nvSpPr>
        <p:spPr>
          <a:xfrm>
            <a:off x="474662" y="890954"/>
            <a:ext cx="263865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sz="1600" lang="pt-BR">
                <a:solidFill>
                  <a:srgbClr val="000000"/>
                </a:solidFill>
              </a:rPr>
              <a:t>Exiba estatísticas IPv4 para interfaces de roteador com o comando </a:t>
            </a:r>
            <a:r>
              <a:rPr sz="1600" b="true" lang="pt-BR">
                <a:solidFill>
                  <a:srgbClr val="000000"/>
                </a:solidFill>
              </a:rPr>
              <a:t>show ip interface </a:t>
            </a:r>
            <a:r>
              <a:rPr sz="1600" lang="pt-BR">
                <a:solidFill>
                  <a:srgbClr val="000000"/>
                </a:solidFill>
              </a:rPr>
              <a:t>, conforme mostrado aqui: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07EA06-7465-4C52-AE81-CBACEDBD6441}"/>
              </a:ext>
            </a:extLst>
          </p:cNvPr>
          <p:cNvSpPr txBox="1"/>
          <p:nvPr/>
        </p:nvSpPr>
        <p:spPr>
          <a:xfrm>
            <a:off x="3553110" y="890954"/>
            <a:ext cx="4955156" cy="3939540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pPr rtl="0"/>
            <a:r>
              <a:rPr sz="10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 </a:t>
            </a:r>
            <a:r>
              <a:rPr sz="1000" b="true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show ip interface g0/0/0</a:t>
            </a:r>
          </a:p>
          <a:p>
            <a:pPr rtl="0"/>
            <a:r>
              <a:rPr sz="10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GigabitEthernet0/0/0 is up, line protocol is up</a:t>
            </a:r>
          </a:p>
          <a:p>
            <a:pPr rtl="0"/>
            <a:r>
              <a:rPr sz="10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Internet address is 192.168.10.1/24</a:t>
            </a:r>
          </a:p>
          <a:p>
            <a:pPr rtl="0"/>
            <a:r>
              <a:rPr sz="10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Broadcast address is 255.255.255.255</a:t>
            </a:r>
          </a:p>
          <a:p>
            <a:pPr rtl="0"/>
            <a:r>
              <a:rPr sz="10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Address determined by setup command</a:t>
            </a:r>
          </a:p>
          <a:p>
            <a:pPr rtl="0"/>
            <a:r>
              <a:rPr sz="10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MTU is 1500 bytes</a:t>
            </a:r>
          </a:p>
          <a:p>
            <a:pPr rtl="0"/>
            <a:r>
              <a:rPr sz="10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Helper address is not set</a:t>
            </a:r>
          </a:p>
          <a:p>
            <a:pPr rtl="0"/>
            <a:r>
              <a:rPr sz="10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Directed broadcast forwarding is disabled</a:t>
            </a:r>
          </a:p>
          <a:p>
            <a:pPr rtl="0"/>
            <a:r>
              <a:rPr sz="10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Outgoing Common access list is not set </a:t>
            </a:r>
          </a:p>
          <a:p>
            <a:pPr rtl="0"/>
            <a:r>
              <a:rPr sz="10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Outgoing access list is not set</a:t>
            </a:r>
          </a:p>
          <a:p>
            <a:pPr rtl="0"/>
            <a:r>
              <a:rPr sz="10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Inbound Common access list is not set </a:t>
            </a:r>
          </a:p>
          <a:p>
            <a:pPr rtl="0"/>
            <a:r>
              <a:rPr sz="10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A lista de acesso de entrada não está definida</a:t>
            </a:r>
          </a:p>
          <a:p>
            <a:pPr rtl="0"/>
            <a:r>
              <a:rPr sz="10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O proxy ARP está ativado</a:t>
            </a:r>
          </a:p>
          <a:p>
            <a:pPr rtl="0"/>
            <a:r>
              <a:rPr sz="10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O ARP de Proxy Local está desativado</a:t>
            </a:r>
          </a:p>
          <a:p>
            <a:pPr rtl="0"/>
            <a:r>
              <a:rPr sz="10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O nível de segurança é padrão</a:t>
            </a:r>
          </a:p>
          <a:p>
            <a:pPr rtl="0"/>
            <a:r>
              <a:rPr sz="10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Dividir horizonte está ativado</a:t>
            </a:r>
          </a:p>
          <a:p>
            <a:pPr rtl="0"/>
            <a:r>
              <a:rPr sz="10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Os redirecionamentos ICMP são sempre enviados</a:t>
            </a:r>
          </a:p>
          <a:p>
            <a:pPr rtl="0"/>
            <a:r>
              <a:rPr sz="10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O ICMP inacessível é sempre enviado</a:t>
            </a:r>
          </a:p>
          <a:p>
            <a:pPr rtl="0"/>
            <a:r>
              <a:rPr sz="10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As respostas da máscara ICMP nunca são enviadas</a:t>
            </a:r>
          </a:p>
          <a:p>
            <a:pPr rtl="0"/>
            <a:r>
              <a:rPr sz="10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A comutação rápida de IP está habilitada</a:t>
            </a:r>
          </a:p>
          <a:p>
            <a:pPr rtl="0"/>
            <a:r>
              <a:rPr sz="10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A comutação de fluxo de IP está desativada</a:t>
            </a:r>
          </a:p>
          <a:p>
            <a:endParaRPr lang="en-US" sz="10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sz="10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&lt;saída omitida&gt;</a:t>
            </a:r>
          </a:p>
          <a:p>
            <a:endParaRPr lang="en-US" sz="10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sz="10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</a:t>
            </a:r>
          </a:p>
        </p:txBody>
      </p:sp>
    </p:spTree>
    <p:extLst>
      <p:ext uri="{BB962C8B-B14F-4D97-AF65-F5344CB8AC3E}">
        <p14:creationId xmlns:p14="http://schemas.microsoft.com/office/powerpoint/2010/main" val="7147070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sz="1600" lang="pt-BR"/>
              <a:t>Configurar Interfaces</a:t>
            </a:r>
            <a:br>
              <a:rPr lang="en-US" dirty="0"/>
            </a:br>
            <a:r>
              <a:rPr sz="2400" lang="pt-BR"/>
              <a:t>Configurar Comandos de Verificação (Cont.)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57A863-7491-0041-AF26-F779D70A7E36}"/>
              </a:ext>
            </a:extLst>
          </p:cNvPr>
          <p:cNvSpPr txBox="1"/>
          <p:nvPr/>
        </p:nvSpPr>
        <p:spPr>
          <a:xfrm>
            <a:off x="474662" y="890954"/>
            <a:ext cx="263865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sz="1600" lang="pt-BR">
                <a:solidFill>
                  <a:srgbClr val="000000"/>
                </a:solidFill>
              </a:rPr>
              <a:t>Exiba estatísticas IPv6 para interfaces de roteador com o comando </a:t>
            </a:r>
            <a:r>
              <a:rPr sz="1600" b="true" lang="pt-BR">
                <a:solidFill>
                  <a:srgbClr val="000000"/>
                </a:solidFill>
              </a:rPr>
              <a:t>show ipv6 interface </a:t>
            </a:r>
            <a:r>
              <a:rPr sz="1600" lang="pt-BR">
                <a:solidFill>
                  <a:srgbClr val="000000"/>
                </a:solidFill>
              </a:rPr>
              <a:t>mostrado aqui: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07EA06-7465-4C52-AE81-CBACEDBD6441}"/>
              </a:ext>
            </a:extLst>
          </p:cNvPr>
          <p:cNvSpPr txBox="1"/>
          <p:nvPr/>
        </p:nvSpPr>
        <p:spPr>
          <a:xfrm>
            <a:off x="3553110" y="890954"/>
            <a:ext cx="4955156" cy="3323987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pPr rtl="0"/>
            <a:r>
              <a:rPr sz="10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 </a:t>
            </a:r>
            <a:r>
              <a:rPr sz="1000" b="true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show ipv6 interface g0/0/0</a:t>
            </a:r>
          </a:p>
          <a:p>
            <a:pPr rtl="0"/>
            <a:r>
              <a:rPr sz="10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GigabitEthernet0/0/0 is up, line protocol is up</a:t>
            </a:r>
          </a:p>
          <a:p>
            <a:pPr rtl="0"/>
            <a:r>
              <a:rPr sz="10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IPv6 is enabled, link-local address is FE80::868A:8DFF:FE44:49B0</a:t>
            </a:r>
          </a:p>
          <a:p>
            <a:pPr rtl="0"/>
            <a:r>
              <a:rPr sz="10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No Virtual link-local address(es):</a:t>
            </a:r>
          </a:p>
          <a:p>
            <a:pPr rtl="0"/>
            <a:r>
              <a:rPr sz="10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Description: Link to LAN</a:t>
            </a:r>
          </a:p>
          <a:p>
            <a:pPr rtl="0"/>
            <a:r>
              <a:rPr sz="10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Global unicast address(es):</a:t>
            </a:r>
          </a:p>
          <a:p>
            <a:pPr rtl="0"/>
            <a:r>
              <a:rPr sz="10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2001:DB8:ACAD:10::1, subnet is 2001:DB8:ACAD:10::/64</a:t>
            </a:r>
          </a:p>
          <a:p>
            <a:pPr rtl="0"/>
            <a:r>
              <a:rPr sz="10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Joined group address(es):</a:t>
            </a:r>
          </a:p>
          <a:p>
            <a:pPr rtl="0"/>
            <a:r>
              <a:rPr sz="10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FF02::1</a:t>
            </a:r>
          </a:p>
          <a:p>
            <a:pPr rtl="0"/>
            <a:r>
              <a:rPr sz="10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FF02::1:FF00:1</a:t>
            </a:r>
          </a:p>
          <a:p>
            <a:pPr rtl="0"/>
            <a:r>
              <a:rPr sz="10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FF02::1:FF44:49B0</a:t>
            </a:r>
          </a:p>
          <a:p>
            <a:pPr rtl="0"/>
            <a:r>
              <a:rPr sz="10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MTU is 1500 bytes</a:t>
            </a:r>
          </a:p>
          <a:p>
            <a:pPr rtl="0"/>
            <a:r>
              <a:rPr sz="10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ICMP error messages limited to one every 100 milliseconds</a:t>
            </a:r>
          </a:p>
          <a:p>
            <a:pPr rtl="0"/>
            <a:r>
              <a:rPr sz="10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ICMP redirects are enabled</a:t>
            </a:r>
          </a:p>
          <a:p>
            <a:pPr rtl="0"/>
            <a:r>
              <a:rPr sz="10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ICMP unreachables are sent</a:t>
            </a:r>
          </a:p>
          <a:p>
            <a:pPr rtl="0"/>
            <a:r>
              <a:rPr sz="10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ND DAD is enabled, number of DAD attempts: 1</a:t>
            </a:r>
          </a:p>
          <a:p>
            <a:pPr rtl="0"/>
            <a:r>
              <a:rPr sz="10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ND reachable time is 30000 milliseconds (using 30000)</a:t>
            </a:r>
          </a:p>
          <a:p>
            <a:pPr rtl="0"/>
            <a:r>
              <a:rPr sz="10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ND NS retransmit interval is 1000 milliseconds</a:t>
            </a:r>
          </a:p>
          <a:p>
            <a:endParaRPr lang="en-US" sz="10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sz="1000" lang="pt-BR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</a:t>
            </a:r>
          </a:p>
        </p:txBody>
      </p:sp>
    </p:spTree>
    <p:extLst>
      <p:ext uri="{BB962C8B-B14F-4D97-AF65-F5344CB8AC3E}">
        <p14:creationId xmlns:p14="http://schemas.microsoft.com/office/powerpoint/2010/main" val="1661866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848344" cy="929640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10.3 Configurar o Gateway Padrão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3391011"/>
      </p:ext>
    </p:extLst>
  </p:cSld>
  <p:clrMapOvr>
    <a:masterClrMapping/>
  </p:clrMapOvr>
  <p:transition spd="slow">
    <p:wip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sz="1600" lang="pt-BR"/>
              <a:t>Configurar o gateway padrão</a:t>
            </a:r>
            <a:br>
              <a:rPr lang="en-US" dirty="0"/>
            </a:br>
            <a:r>
              <a:rPr sz="2400" lang="pt-BR"/>
              <a:t>Gateway padrão em um host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718114-4447-471E-989F-8789EBF19550}"/>
              </a:ext>
            </a:extLst>
          </p:cNvPr>
          <p:cNvSpPr txBox="1"/>
          <p:nvPr/>
        </p:nvSpPr>
        <p:spPr>
          <a:xfrm>
            <a:off x="474662" y="890954"/>
            <a:ext cx="339248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O gateway padrão é usado quando um host envia um pacote para um dispositivo em outra rede.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O endereço do gateway padrão geralmente é o endereço da interface do roteador associado à rede local do host.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Para alcançar o PC3, o PC1 aborda um pacote com o endereço IPv4 do PC3, mas encaminha o pacote para seu gateway padrão, a interface G0/0/0 de R1.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6866AA-E301-488D-96AD-D9CEE8D1E785}"/>
              </a:ext>
            </a:extLst>
          </p:cNvPr>
          <p:cNvSpPr txBox="1"/>
          <p:nvPr/>
        </p:nvSpPr>
        <p:spPr>
          <a:xfrm>
            <a:off x="4258469" y="3770924"/>
            <a:ext cx="44436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sz="1600" b="true" lang="pt-BR">
                <a:solidFill>
                  <a:srgbClr val="000000"/>
                </a:solidFill>
              </a:rPr>
              <a:t>Nota</a:t>
            </a:r>
            <a:r>
              <a:rPr sz="1600" lang="pt-BR">
                <a:solidFill>
                  <a:srgbClr val="000000"/>
                </a:solidFill>
              </a:rPr>
              <a:t>: O endereço IP do host e a interface do roteador devem estar na mesma rede.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54100A-4BDC-504D-85D6-01A2B41EE3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4522" y="715554"/>
            <a:ext cx="3021496" cy="2938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797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sz="1600" lang="pt-BR"/>
              <a:t>Configurar o gateway padrão</a:t>
            </a:r>
            <a:br>
              <a:rPr lang="en-US" dirty="0"/>
            </a:br>
            <a:r>
              <a:rPr sz="2400" lang="pt-BR"/>
              <a:t>Gateway padrão em um switch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718114-4447-471E-989F-8789EBF19550}"/>
              </a:ext>
            </a:extLst>
          </p:cNvPr>
          <p:cNvSpPr txBox="1"/>
          <p:nvPr/>
        </p:nvSpPr>
        <p:spPr>
          <a:xfrm>
            <a:off x="474662" y="890954"/>
            <a:ext cx="314483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pt-BR">
                <a:solidFill>
                  <a:srgbClr val="000000"/>
                </a:solidFill>
              </a:rPr>
              <a:t>Um switch deve ter um endereço de gateway padrão configurado para gerenciar remotamente o switch de outra rede.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pt-BR">
                <a:solidFill>
                  <a:srgbClr val="000000"/>
                </a:solidFill>
              </a:rPr>
              <a:t>Para configurar um gateway padrão IPv4 em um switch, use o comando de configuração global </a:t>
            </a:r>
            <a:r>
              <a:rPr b="true" lang="pt-BR">
                <a:solidFill>
                  <a:srgbClr val="000000"/>
                </a:solidFill>
              </a:rPr>
              <a:t>ip default-gateway</a:t>
            </a:r>
            <a:r>
              <a:rPr lang="pt-BR">
                <a:solidFill>
                  <a:srgbClr val="000000"/>
                </a:solidFill>
              </a:rPr>
              <a:t> </a:t>
            </a:r>
            <a:r>
              <a:rPr i="true" lang="pt-BR">
                <a:solidFill>
                  <a:srgbClr val="000000"/>
                </a:solidFill>
              </a:rPr>
              <a:t>ip-address </a:t>
            </a:r>
            <a:r>
              <a:rPr lang="pt-BR"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A1D5D00-3D9F-3E4A-B62C-66D13E5CE20B}"/>
              </a:ext>
            </a:extLst>
          </p:cNvPr>
          <p:cNvSpPr txBox="1"/>
          <p:nvPr/>
        </p:nvSpPr>
        <p:spPr>
          <a:xfrm>
            <a:off x="3829878" y="731837"/>
            <a:ext cx="440213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/>
            <a:r>
              <a:rPr lang="pt-BR">
                <a:solidFill>
                  <a:srgbClr val="C00000"/>
                </a:solidFill>
              </a:rPr>
              <a:t>A MÍDIA ESTÁ TRABALHANDO EM UMA VERSÃO CORRIGIDA DO GRÁFICO DE 10.3.2.</a:t>
            </a:r>
          </a:p>
          <a:p>
            <a:pPr algn="ctr" rtl="0"/>
            <a:r>
              <a:rPr lang="pt-BR">
                <a:solidFill>
                  <a:srgbClr val="C00000"/>
                </a:solidFill>
              </a:rPr>
              <a:t>ESTÁ ERRADO NO AR, E NA LISTA GLOBAL DE ERROS</a:t>
            </a:r>
          </a:p>
        </p:txBody>
      </p:sp>
      <p:sp>
        <p:nvSpPr>
          <p:cNvPr id="4" name="Octagon 3">
            <a:extLst>
              <a:ext uri="{FF2B5EF4-FFF2-40B4-BE49-F238E27FC236}">
                <a16:creationId xmlns:a16="http://schemas.microsoft.com/office/drawing/2014/main" id="{F983A9E2-6668-F24E-8A3A-4D0990AAC601}"/>
              </a:ext>
            </a:extLst>
          </p:cNvPr>
          <p:cNvSpPr/>
          <p:nvPr/>
        </p:nvSpPr>
        <p:spPr>
          <a:xfrm>
            <a:off x="5116546" y="2355952"/>
            <a:ext cx="1828800" cy="1830983"/>
          </a:xfrm>
          <a:prstGeom prst="octagon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sz="3200" lang="pt-BR"/>
              <a:t>STOP</a:t>
            </a:r>
          </a:p>
        </p:txBody>
      </p:sp>
    </p:spTree>
    <p:extLst>
      <p:ext uri="{BB962C8B-B14F-4D97-AF65-F5344CB8AC3E}">
        <p14:creationId xmlns:p14="http://schemas.microsoft.com/office/powerpoint/2010/main" val="35567508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sz="1600" lang="pt-BR"/>
              <a:t>Configurações iniciais do roteador </a:t>
            </a:r>
            <a:br>
              <a:rPr lang="en-US" dirty="0"/>
            </a:br>
            <a:r>
              <a:rPr sz="2400" lang="pt-BR"/>
              <a:t>Packet Tracer – Conecte um roteador a uma LAN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246" y="855418"/>
            <a:ext cx="7815004" cy="2478331"/>
          </a:xfrm>
        </p:spPr>
        <p:txBody>
          <a:bodyPr/>
          <a:lstStyle/>
          <a:p>
            <a:pPr marL="0" indent="0" algn="l" defTabSz="684213" fontAlgn="base" rtl="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sz="1800" lang="pt-BR">
                <a:solidFill>
                  <a:srgbClr val="000000"/>
                </a:solidFill>
              </a:rPr>
              <a:t>Neste Packet Tracer, você fará o seguinte:</a:t>
            </a:r>
          </a:p>
          <a:p>
            <a:pPr marL="285750" indent="-285750" algn="l" defTabSz="684213" fontAlgn="base" rtl="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sz="1800" lang="pt-BR">
                <a:solidFill>
                  <a:srgbClr val="000000"/>
                </a:solidFill>
              </a:rPr>
              <a:t>Exibe as informações do roteador.</a:t>
            </a:r>
          </a:p>
          <a:p>
            <a:pPr marL="285750" indent="-285750" algn="l" defTabSz="684213" fontAlgn="base" rtl="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sz="1800" lang="pt-BR">
                <a:solidFill>
                  <a:srgbClr val="000000"/>
                </a:solidFill>
              </a:rPr>
              <a:t>Configure interfaces do roteador. </a:t>
            </a:r>
          </a:p>
          <a:p>
            <a:pPr marL="285750" indent="-285750" algn="l" defTabSz="684213" fontAlgn="base" rtl="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sz="1800" lang="pt-BR">
                <a:solidFill>
                  <a:srgbClr val="000000"/>
                </a:solidFill>
              </a:rPr>
              <a:t>Verifique a configuração.</a:t>
            </a:r>
          </a:p>
        </p:txBody>
      </p:sp>
    </p:spTree>
    <p:extLst>
      <p:ext uri="{BB962C8B-B14F-4D97-AF65-F5344CB8AC3E}">
        <p14:creationId xmlns:p14="http://schemas.microsoft.com/office/powerpoint/2010/main" val="3358851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sz="1600" lang="pt-BR"/>
              <a:t>Configurações iniciais do roteador</a:t>
            </a:r>
            <a:br>
              <a:rPr lang="en-US" dirty="0"/>
            </a:br>
            <a:r>
              <a:rPr sz="2400" lang="pt-BR"/>
              <a:t>Packet Tracer – Solucionar problemas de gateway padrão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246" y="855418"/>
            <a:ext cx="7815004" cy="2478331"/>
          </a:xfrm>
        </p:spPr>
        <p:txBody>
          <a:bodyPr/>
          <a:lstStyle/>
          <a:p>
            <a:pPr marL="0" indent="0" algn="l" defTabSz="684213" fontAlgn="base" rtl="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sz="1800" lang="pt-BR">
                <a:solidFill>
                  <a:srgbClr val="000000"/>
                </a:solidFill>
              </a:rPr>
              <a:t>Neste Packet Tracer, você fará o seguinte:</a:t>
            </a:r>
          </a:p>
          <a:p>
            <a:pPr marL="285750" indent="-285750" algn="l" defTabSz="684213" fontAlgn="base" rtl="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sz="1800" lang="pt-BR">
                <a:solidFill>
                  <a:srgbClr val="000000"/>
                </a:solidFill>
              </a:rPr>
              <a:t>Verificar a documentação de rede e usar testes para isolar problemas.</a:t>
            </a:r>
          </a:p>
          <a:p>
            <a:pPr marL="285750" indent="-285750" algn="l" defTabSz="684213" fontAlgn="base" rtl="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sz="1800" lang="pt-BR">
                <a:solidFill>
                  <a:srgbClr val="000000"/>
                </a:solidFill>
              </a:rPr>
              <a:t>Determinar uma solução apropriada para um problema específico.</a:t>
            </a:r>
          </a:p>
          <a:p>
            <a:pPr marL="285750" indent="-285750" algn="l" defTabSz="684213" fontAlgn="base" rtl="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sz="1800" lang="pt-BR">
                <a:solidFill>
                  <a:srgbClr val="000000"/>
                </a:solidFill>
              </a:rPr>
              <a:t>Implementar a solução.</a:t>
            </a:r>
          </a:p>
          <a:p>
            <a:pPr marL="285750" indent="-285750" algn="l" defTabSz="684213" fontAlgn="base" rtl="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sz="1800" lang="pt-BR">
                <a:solidFill>
                  <a:srgbClr val="000000"/>
                </a:solidFill>
              </a:rPr>
              <a:t>Testar para verificar se o problema foi resolvido.</a:t>
            </a:r>
          </a:p>
          <a:p>
            <a:pPr marL="285750" indent="-285750" algn="l" defTabSz="684213" fontAlgn="base" rtl="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sz="1800" lang="pt-BR">
                <a:solidFill>
                  <a:srgbClr val="000000"/>
                </a:solidFill>
              </a:rPr>
              <a:t>Documentar a solução.</a:t>
            </a:r>
          </a:p>
        </p:txBody>
      </p:sp>
    </p:spTree>
    <p:extLst>
      <p:ext uri="{BB962C8B-B14F-4D97-AF65-F5344CB8AC3E}">
        <p14:creationId xmlns:p14="http://schemas.microsoft.com/office/powerpoint/2010/main" val="3848178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47520"/>
            <a:ext cx="8280314" cy="970280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10.4 - Módulo Prática e Quiz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0599242"/>
      </p:ext>
    </p:extLst>
  </p:cSld>
  <p:clrMapOvr>
    <a:masterClrMapping/>
  </p:clrMapOvr>
  <p:transition spd="slow">
    <p:wip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sz="1400" lang="pt-BR">
                <a:latin typeface="Arial" charset="0"/>
              </a:rPr>
              <a:t>Prática do Módulo e Quiz </a:t>
            </a:r>
            <a:br>
              <a:rPr lang="en-US" dirty="0">
                <a:latin typeface="Arial" charset="0"/>
              </a:rPr>
            </a:br>
            <a:r>
              <a:rPr lang="pt-BR">
                <a:latin typeface="Arial" charset="0"/>
              </a:rPr>
              <a:t>Vídeo - Diferenças de Dispositivos de Rede: Parte 1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AC22E0C-A8B9-7D4B-BC8E-95F5947642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sz="1800" lang="pt-BR"/>
              <a:t>Este vídeo abordará as diferentes características físicas do seguinte:</a:t>
            </a:r>
          </a:p>
          <a:p>
            <a:pPr marL="261937" lvl="2" rtl="0">
              <a:spcBef>
                <a:spcPts val="0"/>
              </a:spcBef>
              <a:spcAft>
                <a:spcPts val="0"/>
              </a:spcAft>
            </a:pPr>
            <a:r>
              <a:rPr sz="1800" lang="pt-BR"/>
              <a:t>Roteador Cisco 4000 Series.</a:t>
            </a:r>
          </a:p>
          <a:p>
            <a:pPr marL="261937" lvl="2" rtl="0">
              <a:spcBef>
                <a:spcPts val="0"/>
              </a:spcBef>
              <a:spcAft>
                <a:spcPts val="0"/>
              </a:spcAft>
            </a:pPr>
            <a:r>
              <a:rPr sz="1800" lang="pt-BR"/>
              <a:t>Roteador Cisco 2900 Series.</a:t>
            </a:r>
          </a:p>
          <a:p>
            <a:pPr marL="261937" lvl="2" rtl="0">
              <a:spcBef>
                <a:spcPts val="0"/>
              </a:spcBef>
              <a:spcAft>
                <a:spcPts val="0"/>
              </a:spcAft>
            </a:pPr>
            <a:r>
              <a:rPr sz="1800" lang="pt-BR"/>
              <a:t>Roteador Cisco 1900 Series.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48999575"/>
      </p:ext>
    </p:extLst>
  </p:cSld>
  <p:clrMapOvr>
    <a:masterClrMapping/>
  </p:clrMapOvr>
  <p:transition spd="slow">
    <p:wip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sz="1400" lang="pt-BR">
                <a:latin typeface="Arial" charset="0"/>
              </a:rPr>
              <a:t>Prática do Módulo e Quiz </a:t>
            </a:r>
            <a:br>
              <a:rPr lang="en-US" dirty="0">
                <a:latin typeface="Arial" charset="0"/>
              </a:rPr>
            </a:br>
            <a:r>
              <a:rPr lang="pt-BR">
                <a:latin typeface="Arial" charset="0"/>
              </a:rPr>
              <a:t>Vídeo - Diferenças de Dispositivos de Rede: Parte 2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AC22E0C-A8B9-7D4B-BC8E-95F5947642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sz="1800" lang="pt-BR"/>
              <a:t>Este vídeo abordará as diferentes configurações do seguinte:</a:t>
            </a:r>
          </a:p>
          <a:p>
            <a:pPr marL="261937" lvl="2" rtl="0">
              <a:spcBef>
                <a:spcPts val="0"/>
              </a:spcBef>
              <a:spcAft>
                <a:spcPts val="0"/>
              </a:spcAft>
            </a:pPr>
            <a:r>
              <a:rPr sz="1800" lang="pt-BR"/>
              <a:t>Roteador Cisco 4000 Series.</a:t>
            </a:r>
          </a:p>
          <a:p>
            <a:pPr marL="261937" lvl="2" rtl="0">
              <a:spcBef>
                <a:spcPts val="0"/>
              </a:spcBef>
              <a:spcAft>
                <a:spcPts val="0"/>
              </a:spcAft>
            </a:pPr>
            <a:r>
              <a:rPr sz="1800" lang="pt-BR"/>
              <a:t>Roteador Cisco 2900 Series.</a:t>
            </a:r>
          </a:p>
          <a:p>
            <a:pPr marL="261937" lvl="2" rtl="0">
              <a:spcBef>
                <a:spcPts val="0"/>
              </a:spcBef>
              <a:spcAft>
                <a:spcPts val="0"/>
              </a:spcAft>
            </a:pPr>
            <a:r>
              <a:rPr sz="1800" lang="pt-BR"/>
              <a:t>Roteador Cisco 1900 Series.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18875856"/>
      </p:ext>
    </p:extLst>
  </p:cSld>
  <p:clrMapOvr>
    <a:masterClrMapping/>
  </p:clrMapOvr>
  <p:transition spd="slow">
    <p:wip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sz="1600" lang="pt-BR"/>
              <a:t>Configurações iniciais do roteador</a:t>
            </a:r>
            <a:br>
              <a:rPr lang="en-US" dirty="0"/>
            </a:br>
            <a:r>
              <a:rPr sz="2400" lang="pt-BR"/>
              <a:t>Packet Tracer – Configuração básica do dispositivo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246" y="855418"/>
            <a:ext cx="7815004" cy="2478331"/>
          </a:xfrm>
        </p:spPr>
        <p:txBody>
          <a:bodyPr/>
          <a:lstStyle/>
          <a:p>
            <a:pPr marL="0" indent="0" algn="l" defTabSz="684213" fontAlgn="base" rtl="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sz="1800" lang="pt-BR">
                <a:solidFill>
                  <a:srgbClr val="000000"/>
                </a:solidFill>
              </a:rPr>
              <a:t>Neste Packet Tracer, você fará o seguinte:</a:t>
            </a:r>
          </a:p>
          <a:p>
            <a:pPr marL="285750" indent="-285750" algn="l" defTabSz="684213" fontAlgn="base" rtl="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sz="1800" lang="pt-BR">
                <a:solidFill>
                  <a:srgbClr val="000000"/>
                </a:solidFill>
              </a:rPr>
              <a:t>Complete a documentação da rede.</a:t>
            </a:r>
          </a:p>
          <a:p>
            <a:pPr marL="285750" indent="-285750" algn="l" defTabSz="684213" fontAlgn="base" rtl="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sz="1800" lang="pt-BR">
                <a:solidFill>
                  <a:srgbClr val="000000"/>
                </a:solidFill>
              </a:rPr>
              <a:t>Executar as configurações básicas de dispositivo em um roteador e em um switch.</a:t>
            </a:r>
          </a:p>
          <a:p>
            <a:pPr marL="285750" indent="-285750" algn="l" defTabSz="684213" fontAlgn="base" rtl="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sz="1800" lang="pt-BR">
                <a:solidFill>
                  <a:srgbClr val="000000"/>
                </a:solidFill>
              </a:rPr>
              <a:t>Verificar a conectividade e solucionar problemas.</a:t>
            </a:r>
          </a:p>
        </p:txBody>
      </p:sp>
    </p:spTree>
    <p:extLst>
      <p:ext uri="{BB962C8B-B14F-4D97-AF65-F5344CB8AC3E}">
        <p14:creationId xmlns:p14="http://schemas.microsoft.com/office/powerpoint/2010/main" val="11220091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242" y="1654450"/>
            <a:ext cx="7815004" cy="2478331"/>
          </a:xfrm>
        </p:spPr>
        <p:txBody>
          <a:bodyPr/>
          <a:lstStyle/>
          <a:p>
            <a:pPr marL="0" indent="0" algn="l" defTabSz="684213" fontAlgn="base" rtl="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sz="1800" lang="pt-BR">
                <a:solidFill>
                  <a:srgbClr val="000000"/>
                </a:solidFill>
              </a:rPr>
              <a:t>Na atividade do modo físico do Packet Tracer e no laboratório, você completará os seguintes objetivos:</a:t>
            </a:r>
          </a:p>
          <a:p>
            <a:pPr marL="285750" indent="-285750" algn="l" defTabSz="684213" fontAlgn="base" rtl="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sz="1800" lang="pt-BR">
                <a:solidFill>
                  <a:srgbClr val="000000"/>
                </a:solidFill>
              </a:rPr>
              <a:t>Configure a topologia e inicialize os dispositivos.</a:t>
            </a:r>
          </a:p>
          <a:p>
            <a:pPr marL="285750" indent="-285750" algn="l" defTabSz="684213" fontAlgn="base" rtl="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sz="1800" lang="pt-BR">
                <a:solidFill>
                  <a:srgbClr val="000000"/>
                </a:solidFill>
              </a:rPr>
              <a:t>Configure dispositivos e verifique a conectividade.</a:t>
            </a:r>
          </a:p>
          <a:p>
            <a:pPr marL="285750" indent="-285750" algn="l" defTabSz="684213" fontAlgn="base" rtl="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sz="1800" lang="pt-BR">
                <a:solidFill>
                  <a:srgbClr val="000000"/>
                </a:solidFill>
              </a:rPr>
              <a:t>Exibir informações do dispositivo.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1487055"/>
          </a:xfrm>
        </p:spPr>
        <p:txBody>
          <a:bodyPr/>
          <a:lstStyle/>
          <a:p>
            <a:pPr rtl="0"/>
            <a:r>
              <a:rPr sz="1600" lang="pt-BR"/>
              <a:t>Configure configurações iniciais do roteador</a:t>
            </a:r>
            <a:br>
              <a:rPr lang="en-US" dirty="0"/>
            </a:br>
            <a:r>
              <a:rPr sz="2400" lang="pt-BR"/>
              <a:t>Packet Tracer – Construa uma rede de switches e roteador – Laboratório </a:t>
            </a:r>
            <a:br>
              <a:rPr lang="en-US" sz="2400" dirty="0"/>
            </a:br>
            <a:r>
              <a:rPr sz="2400" lang="pt-BR"/>
              <a:t>Modo Físico – Construa uma rede de switch e roteador</a:t>
            </a:r>
          </a:p>
        </p:txBody>
      </p:sp>
    </p:spTree>
    <p:extLst>
      <p:ext uri="{BB962C8B-B14F-4D97-AF65-F5344CB8AC3E}">
        <p14:creationId xmlns:p14="http://schemas.microsoft.com/office/powerpoint/2010/main" val="42365279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sz="1400" lang="pt-BR">
                <a:latin typeface="Arial" charset="0"/>
              </a:rPr>
              <a:t>Módulo Prática e Quiz</a:t>
            </a:r>
            <a:br>
              <a:rPr lang="en-US" dirty="0">
                <a:latin typeface="Arial" charset="0"/>
              </a:rPr>
            </a:br>
            <a:r>
              <a:rPr lang="pt-BR">
                <a:latin typeface="Arial" charset="0"/>
              </a:rPr>
              <a:t>O que aprendi neste módulo?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AC22E0C-A8B9-7D4B-BC8E-95F5947642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600" lang="pt-BR"/>
              <a:t>As tarefas que devem ser concluídas ao definir as configurações iniciais em um roteador.</a:t>
            </a:r>
          </a:p>
          <a:p>
            <a:pPr lvl="1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600" lang="pt-BR"/>
              <a:t>Configurar o nome do dispositivo.</a:t>
            </a:r>
          </a:p>
          <a:p>
            <a:pPr lvl="1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600" lang="pt-BR"/>
              <a:t>Proteger o modo EXEC privilegiado.</a:t>
            </a:r>
          </a:p>
          <a:p>
            <a:pPr lvl="1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600" lang="pt-BR"/>
              <a:t>Proteger o modo EXEC usuário.</a:t>
            </a:r>
          </a:p>
          <a:p>
            <a:pPr lvl="1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600" lang="pt-BR"/>
              <a:t>Proteger o acesso remoto Telnet/SSH</a:t>
            </a:r>
          </a:p>
          <a:p>
            <a:pPr lvl="1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600" lang="pt-BR"/>
              <a:t>Proteger todas as senhas do arquivo de configuração.</a:t>
            </a:r>
          </a:p>
          <a:p>
            <a:pPr lvl="1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600" lang="pt-BR"/>
              <a:t>Apresentar a notificação legal.</a:t>
            </a:r>
          </a:p>
          <a:p>
            <a:pPr lvl="1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600" lang="pt-BR"/>
              <a:t>Salvar a configuração.</a:t>
            </a:r>
          </a:p>
          <a:p>
            <a:pPr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600" lang="pt-BR"/>
              <a:t>Para que os roteadores estejam acessíveis, as interfaces do roteador devem estar configuradas.</a:t>
            </a:r>
          </a:p>
          <a:p>
            <a:pPr lvl="1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600" lang="pt-BR"/>
              <a:t>O uso do comando </a:t>
            </a:r>
            <a:r>
              <a:rPr sz="1600" b="true" lang="pt-BR"/>
              <a:t>no shutdown</a:t>
            </a:r>
            <a:r>
              <a:rPr sz="1600" lang="pt-BR"/>
              <a:t> ativa a interface. A interface também deve ser conectada a outro dispositivo, como switch ou roteador, para que a camada física esteja ativa. </a:t>
            </a:r>
            <a:r>
              <a:rPr sz="1600" b="true" lang="pt-BR"/>
              <a:t>Existem vários comandos que podem ser usados para verificar a configuração da interface, incluindo o show ip interface brief e show ipv6 interface brief , o show ip route e show ipv6 route , bem como show interfaces , show ip interface</a:t>
            </a:r>
            <a:r>
              <a:rPr sz="1600" lang="pt-BR"/>
              <a:t> e </a:t>
            </a:r>
            <a:r>
              <a:rPr sz="1600" b="true" lang="pt-BR"/>
              <a:t>show ipv6 interface.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55352519"/>
      </p:ext>
    </p:extLst>
  </p:cSld>
  <p:clrMapOvr>
    <a:masterClrMapping/>
  </p:clrMapOvr>
  <p:transition spd="slow">
    <p:wip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sz="1400" lang="pt-BR">
                <a:latin typeface="Arial" charset="0"/>
              </a:rPr>
              <a:t>Módulo Prática e Quiz</a:t>
            </a:r>
            <a:br>
              <a:rPr lang="en-US" dirty="0">
                <a:latin typeface="Arial" charset="0"/>
              </a:rPr>
            </a:br>
            <a:r>
              <a:rPr lang="pt-BR">
                <a:latin typeface="Arial" charset="0"/>
              </a:rPr>
              <a:t>O que eu aprendi neste módulo (Cont.)?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AC22E0C-A8B9-7D4B-BC8E-95F5947642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800" lang="pt-BR"/>
              <a:t>Para que um dispositivo final alcance outras redes, um gateway padrão deve ser configurado.</a:t>
            </a:r>
          </a:p>
          <a:p>
            <a:pPr lvl="1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800" lang="pt-BR"/>
              <a:t>O endereço IP do dispositivo host e o endereço da interface do roteador devem estar na mesma rede.</a:t>
            </a:r>
          </a:p>
          <a:p>
            <a:pPr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800" lang="pt-BR"/>
              <a:t>Um switch deve ter um endereço de gateway padrão configurado para gerenciar remotamente o switch de outra rede.</a:t>
            </a:r>
          </a:p>
          <a:p>
            <a:pPr lvl="1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800" lang="pt-BR"/>
              <a:t>Para configurar um gateway padrão IPv4 em um switch, use o comando de configuração global </a:t>
            </a:r>
            <a:r>
              <a:rPr sz="1800" b="true" lang="pt-BR"/>
              <a:t>ip default-gateway</a:t>
            </a:r>
            <a:r>
              <a:rPr sz="1800" lang="pt-BR"/>
              <a:t> </a:t>
            </a:r>
            <a:r>
              <a:rPr sz="1800" i="true" lang="pt-BR"/>
              <a:t>ip-address</a:t>
            </a:r>
            <a:r>
              <a:rPr sz="1800" lang="pt-BR"/>
              <a:t>.</a:t>
            </a:r>
          </a:p>
          <a:p>
            <a:endParaRPr lang="en-US" sz="12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9109726"/>
      </p:ext>
    </p:extLst>
  </p:cSld>
  <p:clrMapOvr>
    <a:masterClrMapping/>
  </p:clrMapOvr>
  <p:transition spd="slow">
    <p:wip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/>
          <p:cNvSpPr>
            <a:spLocks noGrp="1" noChangeArrowheads="1"/>
          </p:cNvSpPr>
          <p:nvPr>
            <p:ph type="title"/>
          </p:nvPr>
        </p:nvSpPr>
        <p:spPr>
          <a:xfrm>
            <a:off x="1" y="41394"/>
            <a:ext cx="9144000" cy="609056"/>
          </a:xfrm>
        </p:spPr>
        <p:txBody>
          <a:bodyPr/>
          <a:lstStyle/>
          <a:p>
            <a:pPr eaLnBrk="1" hangingPunct="1" rtl="0"/>
            <a:r>
              <a:rPr sz="1400" lang="pt-BR">
                <a:latin typeface="Arial" charset="0"/>
              </a:rPr>
              <a:t>Módulo 10: Configuração básica do roteador </a:t>
            </a:r>
            <a:br>
              <a:rPr lang="en-US" dirty="0">
                <a:latin typeface="Arial" charset="0"/>
              </a:rPr>
            </a:br>
            <a:r>
              <a:rPr lang="pt-BR">
                <a:latin typeface="Arial" charset="0"/>
              </a:rPr>
              <a:t>Novos Termos e Comandos</a:t>
            </a:r>
          </a:p>
        </p:txBody>
      </p:sp>
      <p:graphicFrame>
        <p:nvGraphicFramePr>
          <p:cNvPr id="6" name="Table 9">
            <a:extLst>
              <a:ext uri="{FF2B5EF4-FFF2-40B4-BE49-F238E27FC236}">
                <a16:creationId xmlns:a16="http://schemas.microsoft.com/office/drawing/2014/main" id="{C2187D21-D66C-4895-A65D-7270601A28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52989341"/>
              </p:ext>
            </p:extLst>
          </p:nvPr>
        </p:nvGraphicFramePr>
        <p:xfrm>
          <a:off x="144463" y="798513"/>
          <a:ext cx="8853486" cy="28651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853486">
                  <a:extLst>
                    <a:ext uri="{9D8B030D-6E8A-4147-A177-3AD203B41FA5}">
                      <a16:colId xmlns:a16="http://schemas.microsoft.com/office/drawing/2014/main" val="32708544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b="true" lang="pt-BR">
                          <a:solidFill>
                            <a:srgbClr val="000000"/>
                          </a:solidFill>
                        </a:rPr>
                        <a:t>show ip interface brief</a:t>
                      </a:r>
                    </a:p>
                    <a:p>
                      <a:pPr marL="285750" marR="0" lvl="0" indent="-28575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b="true" lang="pt-BR">
                          <a:solidFill>
                            <a:srgbClr val="000000"/>
                          </a:solidFill>
                        </a:rPr>
                        <a:t>show ipv6 interface brief</a:t>
                      </a:r>
                    </a:p>
                    <a:p>
                      <a:pPr marL="285750" marR="0" lvl="0" indent="-28575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b="true" lang="pt-BR">
                          <a:solidFill>
                            <a:srgbClr val="000000"/>
                          </a:solidFill>
                        </a:rPr>
                        <a:t>show ip route</a:t>
                      </a:r>
                    </a:p>
                    <a:p>
                      <a:pPr marL="285750" marR="0" lvl="0" indent="-28575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b="true" lang="pt-BR">
                          <a:solidFill>
                            <a:srgbClr val="000000"/>
                          </a:solidFill>
                        </a:rPr>
                        <a:t>show ipv6 route</a:t>
                      </a:r>
                    </a:p>
                    <a:p>
                      <a:pPr marL="285750" marR="0" lvl="0" indent="-28575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b="true" lang="pt-BR">
                          <a:solidFill>
                            <a:srgbClr val="000000"/>
                          </a:solidFill>
                        </a:rPr>
                        <a:t>show interfaces</a:t>
                      </a:r>
                    </a:p>
                    <a:p>
                      <a:pPr marL="285750" marR="0" lvl="0" indent="-28575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b="true" lang="pt-BR">
                          <a:solidFill>
                            <a:srgbClr val="000000"/>
                          </a:solidFill>
                        </a:rPr>
                        <a:t>show ip interface</a:t>
                      </a:r>
                    </a:p>
                    <a:p>
                      <a:pPr marL="285750" marR="0" lvl="0" indent="-28575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b="true" lang="pt-BR">
                          <a:solidFill>
                            <a:srgbClr val="000000"/>
                          </a:solidFill>
                        </a:rPr>
                        <a:t>show ipv6 interface</a:t>
                      </a:r>
                    </a:p>
                    <a:p>
                      <a:pPr marL="285750" marR="0" lvl="0" indent="-28575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b="true" lang="pt-BR">
                          <a:solidFill>
                            <a:srgbClr val="000000"/>
                          </a:solidFill>
                        </a:rPr>
                        <a:t>ip default-gateway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b="0" dirty="0">
                        <a:solidFill>
                          <a:srgbClr val="000000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b="0" dirty="0">
                        <a:solidFill>
                          <a:srgbClr val="000000"/>
                        </a:solidFill>
                      </a:endParaRPr>
                    </a:p>
                    <a:p>
                      <a:endParaRPr lang="en-US" dirty="0">
                        <a:solidFill>
                          <a:srgbClr val="000000"/>
                        </a:solidFill>
                      </a:endParaRPr>
                    </a:p>
                    <a:p>
                      <a:endParaRPr lang="en-US" dirty="0">
                        <a:solidFill>
                          <a:srgbClr val="000000"/>
                        </a:solidFill>
                      </a:endParaRPr>
                    </a:p>
                    <a:p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8796709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271745509"/>
      </p:ext>
    </p:extLst>
  </p:cSld>
  <p:clrMapOvr>
    <a:masterClrMapping/>
  </p:clrMapOvr>
  <p:transition spd="slow">
    <p:wip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4190828277"/>
      </p:ext>
    </p:extLst>
  </p:cSld>
  <p:clrMapOvr>
    <a:masterClrMapping/>
  </p:clrMapOvr>
  <p:transition spd="slow">
    <p:wip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65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Default Theme">
  <a:themeElements>
    <a:clrScheme name="Custom 6">
      <a:dk1>
        <a:srgbClr val="58585B"/>
      </a:dk1>
      <a:lt1>
        <a:srgbClr val="FFFFFF"/>
      </a:lt1>
      <a:dk2>
        <a:srgbClr val="58585B"/>
      </a:dk2>
      <a:lt2>
        <a:srgbClr val="81C569"/>
      </a:lt2>
      <a:accent1>
        <a:srgbClr val="004C69"/>
      </a:accent1>
      <a:accent2>
        <a:srgbClr val="9E0B0F"/>
      </a:accent2>
      <a:accent3>
        <a:srgbClr val="FFFFFF"/>
      </a:accent3>
      <a:accent4>
        <a:srgbClr val="367187"/>
      </a:accent4>
      <a:accent5>
        <a:srgbClr val="38C6F4"/>
      </a:accent5>
      <a:accent6>
        <a:srgbClr val="FBAB18"/>
      </a:accent6>
      <a:hlink>
        <a:srgbClr val="38C6F4"/>
      </a:hlink>
      <a:folHlink>
        <a:srgbClr val="81C569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6A4D7"/>
        </a:solidFill>
        <a:ln>
          <a:noFill/>
        </a:ln>
        <a:effectLst/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ITE7_Chp1_Example-1" id="{4A20ED44-3835-F149-9AE4-C332C230E09E}" vid="{AFB5BC48-58F8-AD45-912F-AE2AD65EB6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5229</TotalTime>
  <Words>3894</Words>
  <Application>Microsoft Office PowerPoint</Application>
  <PresentationFormat>On-screen Show (16:9)</PresentationFormat>
  <Paragraphs>577</Paragraphs>
  <Slides>40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6" baseType="lpstr">
      <vt:lpstr>CiscoSans ExtraLight</vt:lpstr>
      <vt:lpstr>Arial</vt:lpstr>
      <vt:lpstr>Calibri</vt:lpstr>
      <vt:lpstr>Courier New</vt:lpstr>
      <vt:lpstr>Wingdings</vt:lpstr>
      <vt:lpstr>Default Theme</vt:lpstr>
      <vt:lpstr>Module 10: Basic Router Configuration</vt:lpstr>
      <vt:lpstr>Instructor Materials – Module 10 Planning Guide</vt:lpstr>
      <vt:lpstr>What to Expect in this Module</vt:lpstr>
      <vt:lpstr>What to Expect in this Module (Cont.)</vt:lpstr>
      <vt:lpstr>Check Your Understanding</vt:lpstr>
      <vt:lpstr>Packet Tracer Physical Mode Activities</vt:lpstr>
      <vt:lpstr>Module 10: Activities</vt:lpstr>
      <vt:lpstr>Module 10: Best Practices</vt:lpstr>
      <vt:lpstr>Module 10: Best Practices (Cont.)</vt:lpstr>
      <vt:lpstr>Module 10: Basic Router Configuration</vt:lpstr>
      <vt:lpstr>Module Objectives</vt:lpstr>
      <vt:lpstr>10.1 Configure Initial Router Settings</vt:lpstr>
      <vt:lpstr>Configure Initial Router Settings Basic Router Configuration Steps</vt:lpstr>
      <vt:lpstr>Configure Initial Router Settings Basic Router Configuration Example</vt:lpstr>
      <vt:lpstr>Configure Initial Router Settings Packet Tracer – Configure Initial Router Settings</vt:lpstr>
      <vt:lpstr>10.2 Configure Interfaces</vt:lpstr>
      <vt:lpstr>Configure Interfaces Configure Router Interfaces</vt:lpstr>
      <vt:lpstr>Configure Interfaces Configure Router Interfaces Example</vt:lpstr>
      <vt:lpstr>Configure Interfaces Configure Router Interfaces Example (Cont.)</vt:lpstr>
      <vt:lpstr>Configure Interfaces Verify Interface Configuration</vt:lpstr>
      <vt:lpstr>Configure Interfaces Configure Verification Commands</vt:lpstr>
      <vt:lpstr>Configure Interfaces Configure Verification Commands (Cont.)</vt:lpstr>
      <vt:lpstr>Configure Interfaces Configure Verification Commands (Cont.)</vt:lpstr>
      <vt:lpstr>Configure Interfaces Configure Verification Commands (Cont.)</vt:lpstr>
      <vt:lpstr>Configure Interfaces Configure Verification Commands (Cont.)</vt:lpstr>
      <vt:lpstr>Configure Interfaces Configure Verification Commands (Cont.)</vt:lpstr>
      <vt:lpstr>10.3 Configure the Default Gateway</vt:lpstr>
      <vt:lpstr>Configure the Default Gateway Default Gateway on a Host</vt:lpstr>
      <vt:lpstr>Configure the Default Gateway Default Gateway on a Switch</vt:lpstr>
      <vt:lpstr>Configure Initial Router Settings Packet Tracer – Connect a Router to a LAN</vt:lpstr>
      <vt:lpstr>Configure Initial Router Settings Packet Tracer – Troubleshoot Default Gateway Issues</vt:lpstr>
      <vt:lpstr>10.4 Module Practice and Quiz</vt:lpstr>
      <vt:lpstr>Module Practice and Quiz Video – Network Device Differences: Part 1</vt:lpstr>
      <vt:lpstr>Module Practice and Quiz Video – Network Device Differences: Part 2</vt:lpstr>
      <vt:lpstr>Configure Initial Router Settings Packet Tracer – Basic Device Configuration</vt:lpstr>
      <vt:lpstr>Configure Initial Router Settings Packet Tracer – Build a Switch and Router Network – Physical Mode Lab – Build a Switch and Router Network</vt:lpstr>
      <vt:lpstr>Module Practice and Quiz What did I learn in this module?</vt:lpstr>
      <vt:lpstr>Module Practice and Quiz What did I learn in this module (Cont.)?</vt:lpstr>
      <vt:lpstr>Module 10: Basic Router Configuration New Terms and Commands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2: Basic Switch and End Device Configuration</dc:title>
  <dc:creator>Stephanie Harvey</dc:creator>
  <cp:lastModifiedBy>Jeff Luman -X (jluman - UNICON INC at Cisco)</cp:lastModifiedBy>
  <cp:revision>228</cp:revision>
  <dcterms:created xsi:type="dcterms:W3CDTF">2019-10-18T06:21:22Z</dcterms:created>
  <dcterms:modified xsi:type="dcterms:W3CDTF">2021-02-03T18:29:02Z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sync_ProviderInitializationData">
    <vt:lpwstr>https://cisco.jiveon.com</vt:lpwstr>
  </property>
  <property fmtid="{D5CDD505-2E9C-101B-9397-08002B2CF9AE}" pid="3" name="Offisync_UpdateToken">
    <vt:lpwstr>1</vt:lpwstr>
  </property>
  <property fmtid="{D5CDD505-2E9C-101B-9397-08002B2CF9AE}" pid="4" name="Offisync_ServerID">
    <vt:lpwstr>07841bbc-cd3c-4a76-827f-75a2226890f4</vt:lpwstr>
  </property>
  <property fmtid="{D5CDD505-2E9C-101B-9397-08002B2CF9AE}" pid="5" name="Offisync_UniqueId">
    <vt:lpwstr>1702406</vt:lpwstr>
  </property>
  <property fmtid="{D5CDD505-2E9C-101B-9397-08002B2CF9AE}" pid="6" name="Jive_VersionGuid">
    <vt:lpwstr>fd96a0b3-f68d-4727-8e4f-2128d37ed30a</vt:lpwstr>
  </property>
  <property fmtid="{D5CDD505-2E9C-101B-9397-08002B2CF9AE}" pid="7" name="Jive_LatestUserAccountName">
    <vt:lpwstr>alljohns</vt:lpwstr>
  </property>
  <property fmtid="{D5CDD505-2E9C-101B-9397-08002B2CF9AE}" pid="8" name="ArticulateGUID">
    <vt:lpwstr>F9A496F7-57D7-4028-9572-D40DFDF3715A</vt:lpwstr>
  </property>
  <property fmtid="{D5CDD505-2E9C-101B-9397-08002B2CF9AE}" pid="9" name="ArticulatePath">
    <vt:lpwstr>ITE7_Chp9_by_jg</vt:lpwstr>
  </property>
</Properties>
</file>