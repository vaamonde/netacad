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8.xml" ContentType="application/vnd.openxmlformats-officedocument.presentationml.tags+xml"/>
  <Override PartName="/ppt/notesSlides/notesSlide10.xml" ContentType="application/vnd.openxmlformats-officedocument.presentationml.notesSlide+xml"/>
  <Override PartName="/ppt/tags/tag9.xml" ContentType="application/vnd.openxmlformats-officedocument.presentationml.tags+xml"/>
  <Override PartName="/ppt/notesSlides/notesSlide11.xml" ContentType="application/vnd.openxmlformats-officedocument.presentationml.notesSlide+xml"/>
  <Override PartName="/ppt/tags/tag10.xml" ContentType="application/vnd.openxmlformats-officedocument.presentationml.tags+xml"/>
  <Override PartName="/ppt/notesSlides/notesSlide12.xml" ContentType="application/vnd.openxmlformats-officedocument.presentationml.notesSlide+xml"/>
  <Override PartName="/ppt/tags/tag11.xml" ContentType="application/vnd.openxmlformats-officedocument.presentationml.tags+xml"/>
  <Override PartName="/ppt/notesSlides/notesSlide13.xml" ContentType="application/vnd.openxmlformats-officedocument.presentationml.notesSlide+xml"/>
  <Override PartName="/ppt/tags/tag12.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13.xml" ContentType="application/vnd.openxmlformats-officedocument.presentationml.tags+xml"/>
  <Override PartName="/ppt/notesSlides/notesSlide26.xml" ContentType="application/vnd.openxmlformats-officedocument.presentationml.notesSlide+xml"/>
  <Override PartName="/ppt/tags/tag14.xml" ContentType="application/vnd.openxmlformats-officedocument.presentationml.tags+xml"/>
  <Override PartName="/ppt/notesSlides/notesSlide27.xml" ContentType="application/vnd.openxmlformats-officedocument.presentationml.notesSlide+xml"/>
  <Override PartName="/ppt/tags/tag15.xml" ContentType="application/vnd.openxmlformats-officedocument.presentationml.tags+xml"/>
  <Override PartName="/ppt/notesSlides/notesSlide28.xml" ContentType="application/vnd.openxmlformats-officedocument.presentationml.notesSlide+xml"/>
  <Override PartName="/ppt/tags/tag16.xml" ContentType="application/vnd.openxmlformats-officedocument.presentationml.tags+xml"/>
  <Override PartName="/ppt/notesSlides/notesSlide29.xml" ContentType="application/vnd.openxmlformats-officedocument.presentationml.notesSlide+xml"/>
  <Override PartName="/ppt/tags/tag17.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18.xml" ContentType="application/vnd.openxmlformats-officedocument.presentationml.tag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ags/tag19.xml" ContentType="application/vnd.openxmlformats-officedocument.presentationml.tags+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tags/tag20.xml" ContentType="application/vnd.openxmlformats-officedocument.presentationml.tags+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tags/tag21.xml" ContentType="application/vnd.openxmlformats-officedocument.presentationml.tags+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tags/tag22.xml" ContentType="application/vnd.openxmlformats-officedocument.presentationml.tags+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80"/>
  </p:notesMasterIdLst>
  <p:sldIdLst>
    <p:sldId id="513" r:id="rId2"/>
    <p:sldId id="1123" r:id="rId3"/>
    <p:sldId id="1130" r:id="rId4"/>
    <p:sldId id="1131" r:id="rId5"/>
    <p:sldId id="1053" r:id="rId6"/>
    <p:sldId id="924" r:id="rId7"/>
    <p:sldId id="1054" r:id="rId8"/>
    <p:sldId id="1124" r:id="rId9"/>
    <p:sldId id="1055" r:id="rId10"/>
    <p:sldId id="1120" r:id="rId11"/>
    <p:sldId id="1126" r:id="rId12"/>
    <p:sldId id="876" r:id="rId13"/>
    <p:sldId id="925" r:id="rId14"/>
    <p:sldId id="1058" r:id="rId15"/>
    <p:sldId id="759" r:id="rId16"/>
    <p:sldId id="628" r:id="rId17"/>
    <p:sldId id="926" r:id="rId18"/>
    <p:sldId id="1059" r:id="rId19"/>
    <p:sldId id="1060" r:id="rId20"/>
    <p:sldId id="1061" r:id="rId21"/>
    <p:sldId id="1062" r:id="rId22"/>
    <p:sldId id="1063" r:id="rId23"/>
    <p:sldId id="1064" r:id="rId24"/>
    <p:sldId id="1065" r:id="rId25"/>
    <p:sldId id="1067" r:id="rId26"/>
    <p:sldId id="1068" r:id="rId27"/>
    <p:sldId id="1069" r:id="rId28"/>
    <p:sldId id="927" r:id="rId29"/>
    <p:sldId id="788" r:id="rId30"/>
    <p:sldId id="1070" r:id="rId31"/>
    <p:sldId id="1071" r:id="rId32"/>
    <p:sldId id="886" r:id="rId33"/>
    <p:sldId id="936" r:id="rId34"/>
    <p:sldId id="1072" r:id="rId35"/>
    <p:sldId id="1074" r:id="rId36"/>
    <p:sldId id="1075" r:id="rId37"/>
    <p:sldId id="1076" r:id="rId38"/>
    <p:sldId id="942" r:id="rId39"/>
    <p:sldId id="957" r:id="rId40"/>
    <p:sldId id="1078" r:id="rId41"/>
    <p:sldId id="1080" r:id="rId42"/>
    <p:sldId id="1079" r:id="rId43"/>
    <p:sldId id="1081" r:id="rId44"/>
    <p:sldId id="952" r:id="rId45"/>
    <p:sldId id="966" r:id="rId46"/>
    <p:sldId id="1082" r:id="rId47"/>
    <p:sldId id="1083" r:id="rId48"/>
    <p:sldId id="1085" r:id="rId49"/>
    <p:sldId id="1086" r:id="rId50"/>
    <p:sldId id="1087" r:id="rId51"/>
    <p:sldId id="980" r:id="rId52"/>
    <p:sldId id="981" r:id="rId53"/>
    <p:sldId id="1088" r:id="rId54"/>
    <p:sldId id="1090" r:id="rId55"/>
    <p:sldId id="1091" r:id="rId56"/>
    <p:sldId id="1092" r:id="rId57"/>
    <p:sldId id="995" r:id="rId58"/>
    <p:sldId id="996" r:id="rId59"/>
    <p:sldId id="1095" r:id="rId60"/>
    <p:sldId id="1096" r:id="rId61"/>
    <p:sldId id="1097" r:id="rId62"/>
    <p:sldId id="1102" r:id="rId63"/>
    <p:sldId id="1098" r:id="rId64"/>
    <p:sldId id="1099" r:id="rId65"/>
    <p:sldId id="1100" r:id="rId66"/>
    <p:sldId id="1105" r:id="rId67"/>
    <p:sldId id="1101" r:id="rId68"/>
    <p:sldId id="1128" r:id="rId69"/>
    <p:sldId id="1127" r:id="rId70"/>
    <p:sldId id="1129" r:id="rId71"/>
    <p:sldId id="1103" r:id="rId72"/>
    <p:sldId id="1104" r:id="rId73"/>
    <p:sldId id="1021" r:id="rId74"/>
    <p:sldId id="1107" r:id="rId75"/>
    <p:sldId id="1108" r:id="rId76"/>
    <p:sldId id="1111" r:id="rId77"/>
    <p:sldId id="1122" r:id="rId78"/>
    <p:sldId id="1121" r:id="rId79"/>
  </p:sldIdLst>
  <p:sldSz cx="9144000" cy="5143500" type="screen16x9"/>
  <p:notesSz cx="6858000" cy="9144000"/>
  <p:custDataLst>
    <p:tags r:id="rId81"/>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cmAuthor id="2" name="Bob Vachon" initials="BV" lastIdx="24" clrIdx="2"/>
  <p:cmAuthor id="3" name="Sue Livingston -X (suliving - UNICON INC at Cisco)" initials="SL-(-UIaC" lastIdx="34"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79A1FC-B56C-5DCF-F67A-F7447A3D4A9F}" v="13" dt="2020-06-28T23:32:55.2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913" autoAdjust="0"/>
    <p:restoredTop sz="84965" autoAdjust="0"/>
  </p:normalViewPr>
  <p:slideViewPr>
    <p:cSldViewPr snapToGrid="0" showGuides="1">
      <p:cViewPr varScale="1">
        <p:scale>
          <a:sx n="75" d="100"/>
          <a:sy n="75" d="100"/>
        </p:scale>
        <p:origin x="1316" y="48"/>
      </p:cViewPr>
      <p:guideLst>
        <p:guide orient="horz" pos="1620"/>
        <p:guide pos="336"/>
      </p:guideLst>
    </p:cSldViewPr>
  </p:slid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88"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tags" Target="tags/tag1.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microsoft.com/office/2016/11/relationships/changesInfo" Target="changesInfos/changesInfo1.xml"/><Relationship Id="rId61" Type="http://schemas.openxmlformats.org/officeDocument/2006/relationships/slide" Target="slides/slide60.xml"/><Relationship Id="rId82"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lberto Neves Sudre Filho" userId="S::gilberto.neves@faesa.br::d3375f58-c24b-48d7-baef-871d87266953" providerId="AD" clId="Web-{E579A1FC-B56C-5DCF-F67A-F7447A3D4A9F}"/>
    <pc:docChg chg="modSld">
      <pc:chgData name="Gilberto Neves Sudre Filho" userId="S::gilberto.neves@faesa.br::d3375f58-c24b-48d7-baef-871d87266953" providerId="AD" clId="Web-{E579A1FC-B56C-5DCF-F67A-F7447A3D4A9F}" dt="2020-06-28T23:32:55.270" v="12" actId="14100"/>
      <pc:docMkLst>
        <pc:docMk/>
      </pc:docMkLst>
      <pc:sldChg chg="modSp">
        <pc:chgData name="Gilberto Neves Sudre Filho" userId="S::gilberto.neves@faesa.br::d3375f58-c24b-48d7-baef-871d87266953" providerId="AD" clId="Web-{E579A1FC-B56C-5DCF-F67A-F7447A3D4A9F}" dt="2020-06-28T23:31:20.877" v="3" actId="20577"/>
        <pc:sldMkLst>
          <pc:docMk/>
          <pc:sldMk cId="1047103102" sldId="936"/>
        </pc:sldMkLst>
        <pc:spChg chg="mod">
          <ac:chgData name="Gilberto Neves Sudre Filho" userId="S::gilberto.neves@faesa.br::d3375f58-c24b-48d7-baef-871d87266953" providerId="AD" clId="Web-{E579A1FC-B56C-5DCF-F67A-F7447A3D4A9F}" dt="2020-06-28T23:31:20.877" v="3" actId="20577"/>
          <ac:spMkLst>
            <pc:docMk/>
            <pc:sldMk cId="1047103102" sldId="936"/>
            <ac:spMk id="13315" creationId="{00000000-0000-0000-0000-000000000000}"/>
          </ac:spMkLst>
        </pc:spChg>
      </pc:sldChg>
      <pc:sldChg chg="modSp">
        <pc:chgData name="Gilberto Neves Sudre Filho" userId="S::gilberto.neves@faesa.br::d3375f58-c24b-48d7-baef-871d87266953" providerId="AD" clId="Web-{E579A1FC-B56C-5DCF-F67A-F7447A3D4A9F}" dt="2020-06-28T23:30:54.501" v="1" actId="1076"/>
        <pc:sldMkLst>
          <pc:docMk/>
          <pc:sldMk cId="2652058414" sldId="1064"/>
        </pc:sldMkLst>
        <pc:picChg chg="mod">
          <ac:chgData name="Gilberto Neves Sudre Filho" userId="S::gilberto.neves@faesa.br::d3375f58-c24b-48d7-baef-871d87266953" providerId="AD" clId="Web-{E579A1FC-B56C-5DCF-F67A-F7447A3D4A9F}" dt="2020-06-28T23:30:54.501" v="1" actId="1076"/>
          <ac:picMkLst>
            <pc:docMk/>
            <pc:sldMk cId="2652058414" sldId="1064"/>
            <ac:picMk id="5122" creationId="{00000000-0000-0000-0000-000000000000}"/>
          </ac:picMkLst>
        </pc:picChg>
        <pc:picChg chg="mod">
          <ac:chgData name="Gilberto Neves Sudre Filho" userId="S::gilberto.neves@faesa.br::d3375f58-c24b-48d7-baef-871d87266953" providerId="AD" clId="Web-{E579A1FC-B56C-5DCF-F67A-F7447A3D4A9F}" dt="2020-06-28T23:30:52.189" v="0" actId="1076"/>
          <ac:picMkLst>
            <pc:docMk/>
            <pc:sldMk cId="2652058414" sldId="1064"/>
            <ac:picMk id="5123" creationId="{00000000-0000-0000-0000-000000000000}"/>
          </ac:picMkLst>
        </pc:picChg>
      </pc:sldChg>
      <pc:sldChg chg="modSp">
        <pc:chgData name="Gilberto Neves Sudre Filho" userId="S::gilberto.neves@faesa.br::d3375f58-c24b-48d7-baef-871d87266953" providerId="AD" clId="Web-{E579A1FC-B56C-5DCF-F67A-F7447A3D4A9F}" dt="2020-06-28T23:31:07.939" v="2" actId="1076"/>
        <pc:sldMkLst>
          <pc:docMk/>
          <pc:sldMk cId="703112685" sldId="1070"/>
        </pc:sldMkLst>
        <pc:spChg chg="mod">
          <ac:chgData name="Gilberto Neves Sudre Filho" userId="S::gilberto.neves@faesa.br::d3375f58-c24b-48d7-baef-871d87266953" providerId="AD" clId="Web-{E579A1FC-B56C-5DCF-F67A-F7447A3D4A9F}" dt="2020-06-28T23:31:07.939" v="2" actId="1076"/>
          <ac:spMkLst>
            <pc:docMk/>
            <pc:sldMk cId="703112685" sldId="1070"/>
            <ac:spMk id="8195" creationId="{00000000-0000-0000-0000-000000000000}"/>
          </ac:spMkLst>
        </pc:spChg>
      </pc:sldChg>
      <pc:sldChg chg="modSp">
        <pc:chgData name="Gilberto Neves Sudre Filho" userId="S::gilberto.neves@faesa.br::d3375f58-c24b-48d7-baef-871d87266953" providerId="AD" clId="Web-{E579A1FC-B56C-5DCF-F67A-F7447A3D4A9F}" dt="2020-06-28T23:32:27.459" v="8" actId="1076"/>
        <pc:sldMkLst>
          <pc:docMk/>
          <pc:sldMk cId="1923931806" sldId="1100"/>
        </pc:sldMkLst>
        <pc:spChg chg="mod">
          <ac:chgData name="Gilberto Neves Sudre Filho" userId="S::gilberto.neves@faesa.br::d3375f58-c24b-48d7-baef-871d87266953" providerId="AD" clId="Web-{E579A1FC-B56C-5DCF-F67A-F7447A3D4A9F}" dt="2020-06-28T23:32:16.613" v="5" actId="1076"/>
          <ac:spMkLst>
            <pc:docMk/>
            <pc:sldMk cId="1923931806" sldId="1100"/>
            <ac:spMk id="13314" creationId="{00000000-0000-0000-0000-000000000000}"/>
          </ac:spMkLst>
        </pc:spChg>
        <pc:spChg chg="mod">
          <ac:chgData name="Gilberto Neves Sudre Filho" userId="S::gilberto.neves@faesa.br::d3375f58-c24b-48d7-baef-871d87266953" providerId="AD" clId="Web-{E579A1FC-B56C-5DCF-F67A-F7447A3D4A9F}" dt="2020-06-28T23:32:27.459" v="8" actId="1076"/>
          <ac:spMkLst>
            <pc:docMk/>
            <pc:sldMk cId="1923931806" sldId="1100"/>
            <ac:spMk id="13315" creationId="{00000000-0000-0000-0000-000000000000}"/>
          </ac:spMkLst>
        </pc:spChg>
      </pc:sldChg>
      <pc:sldChg chg="modSp">
        <pc:chgData name="Gilberto Neves Sudre Filho" userId="S::gilberto.neves@faesa.br::d3375f58-c24b-48d7-baef-871d87266953" providerId="AD" clId="Web-{E579A1FC-B56C-5DCF-F67A-F7447A3D4A9F}" dt="2020-06-28T23:32:44.442" v="10" actId="14100"/>
        <pc:sldMkLst>
          <pc:docMk/>
          <pc:sldMk cId="214585817" sldId="1101"/>
        </pc:sldMkLst>
        <pc:spChg chg="mod">
          <ac:chgData name="Gilberto Neves Sudre Filho" userId="S::gilberto.neves@faesa.br::d3375f58-c24b-48d7-baef-871d87266953" providerId="AD" clId="Web-{E579A1FC-B56C-5DCF-F67A-F7447A3D4A9F}" dt="2020-06-28T23:32:44.442" v="10" actId="14100"/>
          <ac:spMkLst>
            <pc:docMk/>
            <pc:sldMk cId="214585817" sldId="1101"/>
            <ac:spMk id="13314" creationId="{00000000-0000-0000-0000-000000000000}"/>
          </ac:spMkLst>
        </pc:spChg>
      </pc:sldChg>
      <pc:sldChg chg="modSp">
        <pc:chgData name="Gilberto Neves Sudre Filho" userId="S::gilberto.neves@faesa.br::d3375f58-c24b-48d7-baef-871d87266953" providerId="AD" clId="Web-{E579A1FC-B56C-5DCF-F67A-F7447A3D4A9F}" dt="2020-06-28T23:32:05.331" v="4" actId="1076"/>
        <pc:sldMkLst>
          <pc:docMk/>
          <pc:sldMk cId="1711889927" sldId="1102"/>
        </pc:sldMkLst>
        <pc:spChg chg="mod">
          <ac:chgData name="Gilberto Neves Sudre Filho" userId="S::gilberto.neves@faesa.br::d3375f58-c24b-48d7-baef-871d87266953" providerId="AD" clId="Web-{E579A1FC-B56C-5DCF-F67A-F7447A3D4A9F}" dt="2020-06-28T23:32:05.331" v="4" actId="1076"/>
          <ac:spMkLst>
            <pc:docMk/>
            <pc:sldMk cId="1711889927" sldId="1102"/>
            <ac:spMk id="13315" creationId="{00000000-0000-0000-0000-000000000000}"/>
          </ac:spMkLst>
        </pc:spChg>
      </pc:sldChg>
      <pc:sldChg chg="modSp">
        <pc:chgData name="Gilberto Neves Sudre Filho" userId="S::gilberto.neves@faesa.br::d3375f58-c24b-48d7-baef-871d87266953" providerId="AD" clId="Web-{E579A1FC-B56C-5DCF-F67A-F7447A3D4A9F}" dt="2020-06-28T23:32:36.270" v="9" actId="20577"/>
        <pc:sldMkLst>
          <pc:docMk/>
          <pc:sldMk cId="3086869489" sldId="1105"/>
        </pc:sldMkLst>
        <pc:spChg chg="mod">
          <ac:chgData name="Gilberto Neves Sudre Filho" userId="S::gilberto.neves@faesa.br::d3375f58-c24b-48d7-baef-871d87266953" providerId="AD" clId="Web-{E579A1FC-B56C-5DCF-F67A-F7447A3D4A9F}" dt="2020-06-28T23:32:36.270" v="9" actId="20577"/>
          <ac:spMkLst>
            <pc:docMk/>
            <pc:sldMk cId="3086869489" sldId="1105"/>
            <ac:spMk id="13315" creationId="{00000000-0000-0000-0000-000000000000}"/>
          </ac:spMkLst>
        </pc:spChg>
      </pc:sldChg>
      <pc:sldChg chg="modSp">
        <pc:chgData name="Gilberto Neves Sudre Filho" userId="S::gilberto.neves@faesa.br::d3375f58-c24b-48d7-baef-871d87266953" providerId="AD" clId="Web-{E579A1FC-B56C-5DCF-F67A-F7447A3D4A9F}" dt="2020-06-28T23:32:50.739" v="11" actId="14100"/>
        <pc:sldMkLst>
          <pc:docMk/>
          <pc:sldMk cId="2396523163" sldId="1127"/>
        </pc:sldMkLst>
        <pc:spChg chg="mod">
          <ac:chgData name="Gilberto Neves Sudre Filho" userId="S::gilberto.neves@faesa.br::d3375f58-c24b-48d7-baef-871d87266953" providerId="AD" clId="Web-{E579A1FC-B56C-5DCF-F67A-F7447A3D4A9F}" dt="2020-06-28T23:32:50.739" v="11" actId="14100"/>
          <ac:spMkLst>
            <pc:docMk/>
            <pc:sldMk cId="2396523163" sldId="1127"/>
            <ac:spMk id="13314" creationId="{00000000-0000-0000-0000-000000000000}"/>
          </ac:spMkLst>
        </pc:spChg>
      </pc:sldChg>
      <pc:sldChg chg="modSp">
        <pc:chgData name="Gilberto Neves Sudre Filho" userId="S::gilberto.neves@faesa.br::d3375f58-c24b-48d7-baef-871d87266953" providerId="AD" clId="Web-{E579A1FC-B56C-5DCF-F67A-F7447A3D4A9F}" dt="2020-06-28T23:32:55.270" v="12" actId="14100"/>
        <pc:sldMkLst>
          <pc:docMk/>
          <pc:sldMk cId="4144697813" sldId="1129"/>
        </pc:sldMkLst>
        <pc:spChg chg="mod">
          <ac:chgData name="Gilberto Neves Sudre Filho" userId="S::gilberto.neves@faesa.br::d3375f58-c24b-48d7-baef-871d87266953" providerId="AD" clId="Web-{E579A1FC-B56C-5DCF-F67A-F7447A3D4A9F}" dt="2020-06-28T23:32:55.270" v="12" actId="14100"/>
          <ac:spMkLst>
            <pc:docMk/>
            <pc:sldMk cId="4144697813" sldId="1129"/>
            <ac:spMk id="1331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6/28/2020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b="0"/>
              <a:t>Programa da Cisco Networking Academy</a:t>
            </a:r>
          </a:p>
          <a:p>
            <a:pPr rtl="0">
              <a:buFontTx/>
              <a:buNone/>
            </a:pPr>
            <a:r>
              <a:rPr lang="pt-BR" b="0"/>
              <a:t>Introdução às redes v7.0 (ITN)</a:t>
            </a:r>
          </a:p>
          <a:p>
            <a:pPr rtl="0">
              <a:buFontTx/>
              <a:buNone/>
            </a:pPr>
            <a:r>
              <a:rPr lang="pt-BR" sz="1200" b="0"/>
              <a:t>Módulo 3: Protocolos e Módulos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a:t>
            </a:fld>
            <a:endParaRPr/>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pPr algn="r"/>
              <a:t>2</a:t>
            </a:fld>
            <a:endParaRPr sz="800" b="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6677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rtl="0"/>
            <a:fld id="{ACE20BE7-F2F3-4E26-9454-50B18F790A4E}" type="slidenum">
              <a:rPr sz="800" b="0">
                <a:ea typeface="ＭＳ Ｐゴシック" pitchFamily="34" charset="-128"/>
              </a:rPr>
              <a:pPr algn="r"/>
              <a:t>5</a:t>
            </a:fld>
            <a:endParaRPr sz="800" b="0">
              <a:ea typeface="ＭＳ Ｐゴシック" pitchFamily="34" charset="-128"/>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0A313ED8-785B-4D16-9B17-4143385249B9}" type="slidenum">
              <a:rPr sz="800" b="0"/>
              <a:pPr algn="r"/>
              <a:t>6</a:t>
            </a:fld>
            <a:endParaRPr sz="800" b="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87453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solidFill>
                  <a:prstClr val="black"/>
                </a:solidFill>
              </a:rPr>
              <a:pPr algn="r"/>
              <a:t>7</a:t>
            </a:fld>
            <a:endParaRPr sz="800" b="0">
              <a:solidFill>
                <a:prstClr val="black"/>
              </a:solidFill>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8381961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solidFill>
                  <a:prstClr val="black"/>
                </a:solidFill>
              </a:rPr>
              <a:pPr algn="r"/>
              <a:t>8</a:t>
            </a:fld>
            <a:endParaRPr sz="800" b="0">
              <a:solidFill>
                <a:prstClr val="black"/>
              </a:solidFill>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8381961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solidFill>
                  <a:prstClr val="black"/>
                </a:solidFill>
              </a:rPr>
              <a:pPr algn="r"/>
              <a:t>9</a:t>
            </a:fld>
            <a:endParaRPr sz="800" b="0">
              <a:solidFill>
                <a:prstClr val="black"/>
              </a:solidFill>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9560440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solidFill>
                  <a:prstClr val="black"/>
                </a:solidFill>
              </a:rPr>
              <a:pPr algn="r"/>
              <a:t>10</a:t>
            </a:fld>
            <a:endParaRPr sz="800" b="0">
              <a:solidFill>
                <a:prstClr val="black"/>
              </a:solidFill>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9560440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0">
                <a:solidFill>
                  <a:prstClr val="black"/>
                </a:solidFill>
              </a:rPr>
              <a:pPr algn="r"/>
              <a:t>11</a:t>
            </a:fld>
            <a:endParaRPr sz="800" b="0">
              <a:solidFill>
                <a:prstClr val="black"/>
              </a:solidFill>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9560440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b="0"/>
              <a:t>Programa da Cisco Networking Academy</a:t>
            </a:r>
          </a:p>
          <a:p>
            <a:pPr rtl="0">
              <a:buFontTx/>
              <a:buNone/>
            </a:pPr>
            <a:r>
              <a:rPr lang="pt-BR" b="0"/>
              <a:t>Introdução às redes v7.0 (ITN)</a:t>
            </a:r>
          </a:p>
          <a:p>
            <a:pPr rtl="0">
              <a:buFontTx/>
              <a:buNone/>
            </a:pPr>
            <a:r>
              <a:rPr lang="pt-BR" sz="1200" b="0"/>
              <a:t>Módulo 3: </a:t>
            </a:r>
            <a:r>
              <a:rPr lang="pt-BR" sz="1200">
                <a:solidFill>
                  <a:schemeClr val="accent5">
                    <a:lumMod val="40000"/>
                    <a:lumOff val="60000"/>
                  </a:schemeClr>
                </a:solidFill>
              </a:rPr>
              <a:t>Protocolos e Modelos</a:t>
            </a:r>
          </a:p>
        </p:txBody>
      </p:sp>
      <p:sp>
        <p:nvSpPr>
          <p:cNvPr id="4" name="Slide Number Placeholder 3"/>
          <p:cNvSpPr>
            <a:spLocks noGrp="1"/>
          </p:cNvSpPr>
          <p:nvPr>
            <p:ph type="sldNum" sz="quarter" idx="10"/>
          </p:nvPr>
        </p:nvSpPr>
        <p:spPr/>
        <p:txBody>
          <a:bodyPr/>
          <a:lstStyle/>
          <a:p>
            <a:pPr rtl="0"/>
            <a:fld id="{5641018C-6CAF-B84E-B92C-ECB119457FBA}" type="slidenum">
              <a:rPr/>
              <a:t>12</a:t>
            </a:fld>
            <a:endParaRPr/>
          </a:p>
        </p:txBody>
      </p:sp>
    </p:spTree>
    <p:extLst>
      <p:ext uri="{BB962C8B-B14F-4D97-AF65-F5344CB8AC3E}">
        <p14:creationId xmlns:p14="http://schemas.microsoft.com/office/powerpoint/2010/main" val="5081187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0A313ED8-785B-4D16-9B17-4143385249B9}" type="slidenum">
              <a:rPr sz="800" b="0"/>
              <a:pPr algn="r"/>
              <a:t>13</a:t>
            </a:fld>
            <a:endParaRPr sz="800" b="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3.0 - Introdução</a:t>
            </a:r>
          </a:p>
          <a:p>
            <a:pPr rtl="0">
              <a:lnSpc>
                <a:spcPct val="80000"/>
              </a:lnSpc>
              <a:buFontTx/>
              <a:buNone/>
            </a:pPr>
            <a:r>
              <a:rPr lang="pt-BR" sz="1200" kern="1200">
                <a:solidFill>
                  <a:schemeClr val="tx1"/>
                </a:solidFill>
                <a:latin typeface="Arial" charset="0"/>
                <a:ea typeface="ＭＳ Ｐゴシック" charset="0"/>
                <a:cs typeface="ＭＳ Ｐゴシック" charset="0"/>
              </a:rPr>
              <a:t>3.0.2 - </a:t>
            </a:r>
            <a:r>
              <a:rPr lang="pt-BR" sz="1200" kern="1200">
                <a:solidFill>
                  <a:schemeClr val="tx1"/>
                </a:solidFill>
                <a:latin typeface="+mn-lt"/>
                <a:ea typeface="+mn-ea"/>
                <a:cs typeface="+mn-cs"/>
              </a:rPr>
              <a:t>O que</a:t>
            </a:r>
            <a:r>
              <a:rPr lang="pt-BR" sz="1200" kern="1200" baseline="0">
                <a:solidFill>
                  <a:schemeClr val="tx1"/>
                </a:solidFill>
                <a:latin typeface="+mn-lt"/>
                <a:ea typeface="+mn-ea"/>
                <a:cs typeface="+mn-cs"/>
              </a:rPr>
              <a:t> aprenderei a fazer neste módulo?</a:t>
            </a:r>
          </a:p>
          <a:p>
            <a:endParaRPr lang="en-GB" dirty="0"/>
          </a:p>
        </p:txBody>
      </p:sp>
    </p:spTree>
    <p:extLst>
      <p:ext uri="{BB962C8B-B14F-4D97-AF65-F5344CB8AC3E}">
        <p14:creationId xmlns:p14="http://schemas.microsoft.com/office/powerpoint/2010/main" val="15879240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0A313ED8-785B-4D16-9B17-4143385249B9}" type="slidenum">
              <a:rPr sz="800" b="0"/>
              <a:pPr algn="r"/>
              <a:t>14</a:t>
            </a:fld>
            <a:endParaRPr sz="800" b="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3.0 - Introdução</a:t>
            </a:r>
          </a:p>
          <a:p>
            <a:pPr rtl="0">
              <a:lnSpc>
                <a:spcPct val="80000"/>
              </a:lnSpc>
              <a:buFontTx/>
              <a:buNone/>
            </a:pPr>
            <a:r>
              <a:rPr lang="pt-BR" sz="1200" kern="1200">
                <a:solidFill>
                  <a:schemeClr val="tx1"/>
                </a:solidFill>
                <a:latin typeface="Arial" charset="0"/>
                <a:ea typeface="ＭＳ Ｐゴシック" charset="0"/>
                <a:cs typeface="ＭＳ Ｐゴシック" charset="0"/>
              </a:rPr>
              <a:t>3.0.3 - </a:t>
            </a:r>
            <a:r>
              <a:rPr lang="pt-BR"/>
              <a:t>Atividade de classe - Projetar um sistema de comunicações</a:t>
            </a:r>
          </a:p>
        </p:txBody>
      </p:sp>
    </p:spTree>
    <p:extLst>
      <p:ext uri="{BB962C8B-B14F-4D97-AF65-F5344CB8AC3E}">
        <p14:creationId xmlns:p14="http://schemas.microsoft.com/office/powerpoint/2010/main" val="15879240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3.1 — Regras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15</a:t>
            </a:fld>
            <a:endParaRPr/>
          </a:p>
        </p:txBody>
      </p:sp>
    </p:spTree>
    <p:extLst>
      <p:ext uri="{BB962C8B-B14F-4D97-AF65-F5344CB8AC3E}">
        <p14:creationId xmlns:p14="http://schemas.microsoft.com/office/powerpoint/2010/main" val="6255296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pPr/>
              <a:t>16</a:t>
            </a:fld>
            <a:endParaRPr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3.1 — Regras</a:t>
            </a:r>
          </a:p>
          <a:p>
            <a:pPr rtl="0">
              <a:lnSpc>
                <a:spcPct val="80000"/>
              </a:lnSpc>
              <a:buFontTx/>
              <a:buNone/>
            </a:pPr>
            <a:r>
              <a:rPr lang="pt-BR" sz="1200" kern="1200">
                <a:solidFill>
                  <a:schemeClr val="tx1"/>
                </a:solidFill>
                <a:latin typeface="Arial" charset="0"/>
                <a:ea typeface="ＭＳ Ｐゴシック" charset="0"/>
                <a:cs typeface="ＭＳ Ｐゴシック" charset="0"/>
              </a:rPr>
              <a:t>3.1.1 — </a:t>
            </a:r>
            <a:r>
              <a:rPr lang="pt-BR"/>
              <a:t>Vídeo — Dispositivos em uma bolha</a:t>
            </a:r>
          </a:p>
        </p:txBody>
      </p:sp>
    </p:spTree>
    <p:extLst>
      <p:ext uri="{BB962C8B-B14F-4D97-AF65-F5344CB8AC3E}">
        <p14:creationId xmlns:p14="http://schemas.microsoft.com/office/powerpoint/2010/main" val="35251901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17</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3.1 — Regras</a:t>
            </a:r>
          </a:p>
          <a:p>
            <a:pPr rtl="0">
              <a:lnSpc>
                <a:spcPct val="80000"/>
              </a:lnSpc>
              <a:buFontTx/>
              <a:buNone/>
            </a:pPr>
            <a:r>
              <a:rPr lang="pt-BR">
                <a:latin typeface="Arial" charset="0"/>
              </a:rPr>
              <a:t>3.1.2</a:t>
            </a:r>
            <a:r>
              <a:rPr lang="pt-BR" baseline="0">
                <a:latin typeface="Arial" charset="0"/>
              </a:rPr>
              <a:t> </a:t>
            </a:r>
            <a:r>
              <a:rPr lang="pt-BR" sz="1200" b="0"/>
              <a:t>–</a:t>
            </a:r>
            <a:r>
              <a:rPr lang="pt-BR"/>
              <a:t>Fundamentos das comunicações</a:t>
            </a:r>
          </a:p>
          <a:p>
            <a:pPr>
              <a:lnSpc>
                <a:spcPct val="80000"/>
              </a:lnSpc>
              <a:buFontTx/>
              <a:buNone/>
            </a:pP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18</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3.1 — Regras</a:t>
            </a:r>
          </a:p>
          <a:p>
            <a:pPr rtl="0">
              <a:lnSpc>
                <a:spcPct val="80000"/>
              </a:lnSpc>
              <a:buFontTx/>
              <a:buNone/>
            </a:pPr>
            <a:r>
              <a:rPr lang="pt-BR">
                <a:latin typeface="Arial" charset="0"/>
              </a:rPr>
              <a:t>3.1.3 </a:t>
            </a:r>
            <a:r>
              <a:rPr lang="pt-BR" baseline="0">
                <a:latin typeface="Arial" charset="0"/>
              </a:rPr>
              <a:t> </a:t>
            </a:r>
            <a:r>
              <a:rPr lang="pt-BR" sz="1200" b="0"/>
              <a:t>-</a:t>
            </a:r>
            <a:r>
              <a:rPr lang="pt-BR"/>
              <a:t>Protocolos de comunicação</a:t>
            </a:r>
          </a:p>
        </p:txBody>
      </p:sp>
    </p:spTree>
    <p:extLst>
      <p:ext uri="{BB962C8B-B14F-4D97-AF65-F5344CB8AC3E}">
        <p14:creationId xmlns:p14="http://schemas.microsoft.com/office/powerpoint/2010/main" val="7853359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19</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3.1 — Regras</a:t>
            </a:r>
          </a:p>
          <a:p>
            <a:pPr rtl="0">
              <a:lnSpc>
                <a:spcPct val="80000"/>
              </a:lnSpc>
              <a:buFontTx/>
              <a:buNone/>
            </a:pPr>
            <a:r>
              <a:rPr lang="pt-BR">
                <a:latin typeface="Arial" charset="0"/>
              </a:rPr>
              <a:t>3.1.4</a:t>
            </a:r>
            <a:r>
              <a:rPr lang="pt-BR" baseline="0">
                <a:latin typeface="Arial" charset="0"/>
              </a:rPr>
              <a:t> </a:t>
            </a:r>
            <a:r>
              <a:rPr lang="pt-BR" sz="1200" b="0"/>
              <a:t> – </a:t>
            </a:r>
            <a:r>
              <a:rPr lang="pt-BR"/>
              <a:t>Estabelecimento de regras</a:t>
            </a:r>
          </a:p>
        </p:txBody>
      </p:sp>
    </p:spTree>
    <p:extLst>
      <p:ext uri="{BB962C8B-B14F-4D97-AF65-F5344CB8AC3E}">
        <p14:creationId xmlns:p14="http://schemas.microsoft.com/office/powerpoint/2010/main" val="7853359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20</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3.1 — Regras</a:t>
            </a:r>
          </a:p>
          <a:p>
            <a:pPr rtl="0">
              <a:lnSpc>
                <a:spcPct val="80000"/>
              </a:lnSpc>
              <a:buFontTx/>
              <a:buNone/>
            </a:pPr>
            <a:r>
              <a:rPr lang="pt-BR">
                <a:latin typeface="Arial" charset="0"/>
              </a:rPr>
              <a:t>3.1.4</a:t>
            </a:r>
            <a:r>
              <a:rPr lang="pt-BR" baseline="0">
                <a:latin typeface="Arial" charset="0"/>
              </a:rPr>
              <a:t> </a:t>
            </a:r>
            <a:r>
              <a:rPr lang="pt-BR" sz="1200" b="0"/>
              <a:t>-</a:t>
            </a:r>
            <a:r>
              <a:rPr lang="pt-BR"/>
              <a:t> Estabelecimento de Regras (cont.)</a:t>
            </a:r>
          </a:p>
        </p:txBody>
      </p:sp>
    </p:spTree>
    <p:extLst>
      <p:ext uri="{BB962C8B-B14F-4D97-AF65-F5344CB8AC3E}">
        <p14:creationId xmlns:p14="http://schemas.microsoft.com/office/powerpoint/2010/main" val="7853359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21</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3.1 — Regras</a:t>
            </a:r>
          </a:p>
          <a:p>
            <a:pPr rtl="0">
              <a:lnSpc>
                <a:spcPct val="80000"/>
              </a:lnSpc>
              <a:buFontTx/>
              <a:buNone/>
            </a:pPr>
            <a:r>
              <a:rPr lang="pt-BR">
                <a:latin typeface="Arial" charset="0"/>
              </a:rPr>
              <a:t>3.1.5</a:t>
            </a:r>
            <a:r>
              <a:rPr lang="pt-BR" baseline="0">
                <a:latin typeface="Arial" charset="0"/>
              </a:rPr>
              <a:t> </a:t>
            </a:r>
            <a:r>
              <a:rPr lang="pt-BR" sz="1200" b="0"/>
              <a:t>— </a:t>
            </a:r>
            <a:r>
              <a:rPr lang="pt-BR"/>
              <a:t>Requisitos de protocolo de rede </a:t>
            </a:r>
          </a:p>
        </p:txBody>
      </p:sp>
    </p:spTree>
    <p:extLst>
      <p:ext uri="{BB962C8B-B14F-4D97-AF65-F5344CB8AC3E}">
        <p14:creationId xmlns:p14="http://schemas.microsoft.com/office/powerpoint/2010/main" val="7853359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22</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3.1 — Regras</a:t>
            </a:r>
          </a:p>
          <a:p>
            <a:pPr rtl="0">
              <a:lnSpc>
                <a:spcPct val="80000"/>
              </a:lnSpc>
              <a:buFontTx/>
              <a:buNone/>
            </a:pPr>
            <a:r>
              <a:rPr lang="pt-BR">
                <a:latin typeface="Arial" charset="0"/>
              </a:rPr>
              <a:t>3.1.6 </a:t>
            </a:r>
            <a:r>
              <a:rPr lang="pt-BR" baseline="0">
                <a:latin typeface="Arial" charset="0"/>
              </a:rPr>
              <a:t> </a:t>
            </a:r>
            <a:r>
              <a:rPr lang="pt-BR" sz="1200" b="0"/>
              <a:t>– </a:t>
            </a:r>
            <a:r>
              <a:rPr lang="pt-BR"/>
              <a:t>Codificação de mensagens</a:t>
            </a:r>
          </a:p>
          <a:p>
            <a:pPr>
              <a:lnSpc>
                <a:spcPct val="80000"/>
              </a:lnSpc>
              <a:buFontTx/>
              <a:buNone/>
            </a:pP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23</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3.1 — Regras</a:t>
            </a:r>
          </a:p>
          <a:p>
            <a:pPr rtl="0">
              <a:lnSpc>
                <a:spcPct val="80000"/>
              </a:lnSpc>
              <a:buFontTx/>
              <a:buNone/>
            </a:pPr>
            <a:r>
              <a:rPr lang="pt-BR" baseline="0">
                <a:latin typeface="Arial" charset="0"/>
              </a:rPr>
              <a:t> </a:t>
            </a:r>
            <a:r>
              <a:rPr lang="pt-BR" sz="1200" b="0"/>
              <a:t>3.1.7 – </a:t>
            </a:r>
            <a:r>
              <a:rPr lang="pt-BR"/>
              <a:t>Formatação e encapsulamento de mensagens</a:t>
            </a:r>
          </a:p>
        </p:txBody>
      </p:sp>
    </p:spTree>
    <p:extLst>
      <p:ext uri="{BB962C8B-B14F-4D97-AF65-F5344CB8AC3E}">
        <p14:creationId xmlns:p14="http://schemas.microsoft.com/office/powerpoint/2010/main" val="7853359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24</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3.1 — Regras</a:t>
            </a:r>
          </a:p>
          <a:p>
            <a:pPr rtl="0">
              <a:lnSpc>
                <a:spcPct val="80000"/>
              </a:lnSpc>
              <a:buFontTx/>
              <a:buNone/>
            </a:pPr>
            <a:r>
              <a:rPr lang="pt-BR">
                <a:latin typeface="Arial" charset="0"/>
              </a:rPr>
              <a:t>3.1.8 </a:t>
            </a:r>
            <a:r>
              <a:rPr lang="pt-BR" baseline="0">
                <a:latin typeface="Arial" charset="0"/>
              </a:rPr>
              <a:t> </a:t>
            </a:r>
            <a:r>
              <a:rPr lang="pt-BR" sz="1200" b="0"/>
              <a:t>-</a:t>
            </a:r>
            <a:r>
              <a:rPr lang="pt-BR"/>
              <a:t>Tamanho da Mensagem</a:t>
            </a:r>
          </a:p>
        </p:txBody>
      </p:sp>
    </p:spTree>
    <p:extLst>
      <p:ext uri="{BB962C8B-B14F-4D97-AF65-F5344CB8AC3E}">
        <p14:creationId xmlns:p14="http://schemas.microsoft.com/office/powerpoint/2010/main" val="7853359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25</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3.1 — Regras</a:t>
            </a:r>
          </a:p>
          <a:p>
            <a:pPr rtl="0">
              <a:lnSpc>
                <a:spcPct val="80000"/>
              </a:lnSpc>
              <a:buFontTx/>
              <a:buNone/>
            </a:pPr>
            <a:r>
              <a:rPr lang="pt-BR">
                <a:latin typeface="Arial" charset="0"/>
              </a:rPr>
              <a:t>3.1.9</a:t>
            </a:r>
            <a:r>
              <a:rPr lang="pt-BR" baseline="0">
                <a:latin typeface="Arial" charset="0"/>
              </a:rPr>
              <a:t> </a:t>
            </a:r>
            <a:r>
              <a:rPr lang="pt-BR" sz="1200" b="0"/>
              <a:t>-</a:t>
            </a:r>
            <a:r>
              <a:rPr lang="pt-BR"/>
              <a:t>Tempo da mensagem</a:t>
            </a:r>
          </a:p>
        </p:txBody>
      </p:sp>
    </p:spTree>
    <p:extLst>
      <p:ext uri="{BB962C8B-B14F-4D97-AF65-F5344CB8AC3E}">
        <p14:creationId xmlns:p14="http://schemas.microsoft.com/office/powerpoint/2010/main" val="7853359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26</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3.1 — Regras</a:t>
            </a:r>
          </a:p>
          <a:p>
            <a:pPr rtl="0">
              <a:lnSpc>
                <a:spcPct val="80000"/>
              </a:lnSpc>
              <a:buFontTx/>
              <a:buNone/>
            </a:pPr>
            <a:r>
              <a:rPr lang="pt-BR" baseline="0">
                <a:latin typeface="Arial" charset="0"/>
              </a:rPr>
              <a:t> </a:t>
            </a:r>
            <a:r>
              <a:rPr lang="pt-BR" sz="1200" b="0"/>
              <a:t>3.1.10 – </a:t>
            </a:r>
            <a:r>
              <a:rPr lang="pt-BR"/>
              <a:t>Opções de entrega de mensagem</a:t>
            </a:r>
          </a:p>
        </p:txBody>
      </p:sp>
    </p:spTree>
    <p:extLst>
      <p:ext uri="{BB962C8B-B14F-4D97-AF65-F5344CB8AC3E}">
        <p14:creationId xmlns:p14="http://schemas.microsoft.com/office/powerpoint/2010/main" val="7853359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27</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3.1 — Regras</a:t>
            </a:r>
          </a:p>
          <a:p>
            <a:pPr rtl="0">
              <a:lnSpc>
                <a:spcPct val="80000"/>
              </a:lnSpc>
              <a:buFontTx/>
              <a:buNone/>
            </a:pPr>
            <a:r>
              <a:rPr lang="pt-BR">
                <a:latin typeface="Arial" charset="0"/>
              </a:rPr>
              <a:t>3.1.11</a:t>
            </a:r>
            <a:r>
              <a:rPr lang="pt-BR" baseline="0">
                <a:latin typeface="Arial" charset="0"/>
              </a:rPr>
              <a:t> </a:t>
            </a:r>
            <a:r>
              <a:rPr lang="pt-BR" sz="1200" b="0"/>
              <a:t>— </a:t>
            </a:r>
            <a:r>
              <a:rPr lang="pt-BR"/>
              <a:t>Uma Nota Sobre o Ícone do Nó </a:t>
            </a:r>
          </a:p>
          <a:p>
            <a:pPr marL="0" marR="0" lvl="0" indent="0" algn="l" defTabSz="457200" rtl="0" eaLnBrk="1" fontAlgn="auto" latinLnBrk="0" hangingPunct="1">
              <a:lnSpc>
                <a:spcPct val="80000"/>
              </a:lnSpc>
              <a:spcBef>
                <a:spcPts val="0"/>
              </a:spcBef>
              <a:spcAft>
                <a:spcPts val="0"/>
              </a:spcAft>
              <a:buClrTx/>
              <a:buSzTx/>
              <a:buFontTx/>
              <a:buNone/>
              <a:tabLst/>
              <a:defRPr/>
            </a:pPr>
            <a:r>
              <a:rPr lang="pt-BR"/>
              <a:t>3.1.12 </a:t>
            </a:r>
            <a:r>
              <a:rPr lang="pt-BR" sz="1200">
                <a:effectLst/>
              </a:rPr>
              <a:t>— Verifique o seu entendimento — As regras</a:t>
            </a:r>
          </a:p>
          <a:p>
            <a:pPr>
              <a:lnSpc>
                <a:spcPct val="80000"/>
              </a:lnSpc>
              <a:buFontTx/>
              <a:buNone/>
            </a:pP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3.2 — Protocolos</a:t>
            </a:r>
          </a:p>
        </p:txBody>
      </p:sp>
      <p:sp>
        <p:nvSpPr>
          <p:cNvPr id="4" name="Slide Number Placeholder 3"/>
          <p:cNvSpPr>
            <a:spLocks noGrp="1"/>
          </p:cNvSpPr>
          <p:nvPr>
            <p:ph type="sldNum" sz="quarter" idx="10"/>
          </p:nvPr>
        </p:nvSpPr>
        <p:spPr/>
        <p:txBody>
          <a:bodyPr/>
          <a:lstStyle/>
          <a:p>
            <a:pPr rtl="0"/>
            <a:fld id="{5641018C-6CAF-B84E-B92C-ECB119457FBA}" type="slidenum">
              <a:rPr/>
              <a:t>28</a:t>
            </a:fld>
            <a:endParaRPr/>
          </a:p>
        </p:txBody>
      </p:sp>
    </p:spTree>
    <p:extLst>
      <p:ext uri="{BB962C8B-B14F-4D97-AF65-F5344CB8AC3E}">
        <p14:creationId xmlns:p14="http://schemas.microsoft.com/office/powerpoint/2010/main" val="6255296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29</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3.2 — Protocolos</a:t>
            </a:r>
          </a:p>
          <a:p>
            <a:pPr rtl="0">
              <a:lnSpc>
                <a:spcPct val="80000"/>
              </a:lnSpc>
              <a:buFontTx/>
              <a:buNone/>
            </a:pPr>
            <a:r>
              <a:rPr lang="pt-BR" sz="1200" kern="1200">
                <a:solidFill>
                  <a:schemeClr val="tx1"/>
                </a:solidFill>
                <a:latin typeface="Arial" charset="0"/>
                <a:ea typeface="ＭＳ Ｐゴシック" charset="0"/>
                <a:cs typeface="ＭＳ Ｐゴシック" charset="0"/>
              </a:rPr>
              <a:t>3.2.1 — </a:t>
            </a:r>
            <a:r>
              <a:rPr lang="pt-BR"/>
              <a:t>Visão geral do protocolo de rede</a:t>
            </a:r>
          </a:p>
        </p:txBody>
      </p:sp>
    </p:spTree>
    <p:extLst>
      <p:ext uri="{BB962C8B-B14F-4D97-AF65-F5344CB8AC3E}">
        <p14:creationId xmlns:p14="http://schemas.microsoft.com/office/powerpoint/2010/main" val="34275545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30</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3.2 — Protocolos</a:t>
            </a:r>
          </a:p>
          <a:p>
            <a:pPr rtl="0">
              <a:lnSpc>
                <a:spcPct val="80000"/>
              </a:lnSpc>
              <a:buFontTx/>
              <a:buNone/>
            </a:pPr>
            <a:r>
              <a:rPr lang="pt-BR" sz="1200" kern="1200">
                <a:solidFill>
                  <a:schemeClr val="tx1"/>
                </a:solidFill>
                <a:latin typeface="Arial" charset="0"/>
                <a:ea typeface="ＭＳ Ｐゴシック" charset="0"/>
                <a:cs typeface="ＭＳ Ｐゴシック" charset="0"/>
              </a:rPr>
              <a:t>3.2.2</a:t>
            </a:r>
            <a:r>
              <a:rPr lang="pt-BR" sz="1200" kern="1200" baseline="0">
                <a:solidFill>
                  <a:schemeClr val="tx1"/>
                </a:solidFill>
                <a:latin typeface="Arial" charset="0"/>
                <a:ea typeface="ＭＳ Ｐゴシック" charset="0"/>
                <a:cs typeface="ＭＳ Ｐゴシック" charset="0"/>
              </a:rPr>
              <a:t> </a:t>
            </a:r>
            <a:r>
              <a:rPr lang="pt-BR" sz="1200" kern="1200">
                <a:solidFill>
                  <a:schemeClr val="tx1"/>
                </a:solidFill>
                <a:latin typeface="Arial" charset="0"/>
                <a:ea typeface="ＭＳ Ｐゴシック" charset="0"/>
                <a:cs typeface="ＭＳ Ｐゴシック" charset="0"/>
              </a:rPr>
              <a:t>— </a:t>
            </a:r>
            <a:r>
              <a:rPr lang="pt-BR"/>
              <a:t>Funções de protocolo de rede </a:t>
            </a:r>
          </a:p>
        </p:txBody>
      </p:sp>
    </p:spTree>
    <p:extLst>
      <p:ext uri="{BB962C8B-B14F-4D97-AF65-F5344CB8AC3E}">
        <p14:creationId xmlns:p14="http://schemas.microsoft.com/office/powerpoint/2010/main" val="34275545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solidFill>
                  <a:prstClr val="black"/>
                </a:solidFill>
              </a:rPr>
              <a:pPr/>
              <a:t>31</a:t>
            </a:fld>
            <a:endParaRPr sz="80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3.2 — Protocolos</a:t>
            </a:r>
          </a:p>
          <a:p>
            <a:pPr rtl="0">
              <a:lnSpc>
                <a:spcPct val="80000"/>
              </a:lnSpc>
              <a:buFontTx/>
              <a:buNone/>
            </a:pPr>
            <a:r>
              <a:rPr lang="pt-BR" sz="1200" kern="1200">
                <a:solidFill>
                  <a:schemeClr val="tx1"/>
                </a:solidFill>
                <a:latin typeface="Arial" charset="0"/>
                <a:ea typeface="ＭＳ Ｐゴシック" charset="0"/>
                <a:cs typeface="ＭＳ Ｐゴシック" charset="0"/>
              </a:rPr>
              <a:t>3.2.3</a:t>
            </a:r>
            <a:r>
              <a:rPr lang="pt-BR" sz="1200" kern="1200" baseline="0">
                <a:solidFill>
                  <a:schemeClr val="tx1"/>
                </a:solidFill>
                <a:latin typeface="Arial" charset="0"/>
                <a:ea typeface="ＭＳ Ｐゴシック" charset="0"/>
                <a:cs typeface="ＭＳ Ｐゴシック" charset="0"/>
              </a:rPr>
              <a:t> </a:t>
            </a:r>
            <a:r>
              <a:rPr lang="pt-BR" sz="1200" kern="1200">
                <a:solidFill>
                  <a:schemeClr val="tx1"/>
                </a:solidFill>
                <a:latin typeface="Arial" charset="0"/>
                <a:ea typeface="ＭＳ Ｐゴシック" charset="0"/>
                <a:cs typeface="ＭＳ Ｐゴシック" charset="0"/>
              </a:rPr>
              <a:t> – </a:t>
            </a:r>
            <a:r>
              <a:rPr lang="pt-BR"/>
              <a:t>Interação de protocolos</a:t>
            </a:r>
          </a:p>
          <a:p>
            <a:pPr marL="0" marR="0" lvl="0" indent="0" algn="l" defTabSz="457200" rtl="0" eaLnBrk="1" fontAlgn="auto" latinLnBrk="0" hangingPunct="1">
              <a:lnSpc>
                <a:spcPct val="80000"/>
              </a:lnSpc>
              <a:spcBef>
                <a:spcPts val="0"/>
              </a:spcBef>
              <a:spcAft>
                <a:spcPts val="0"/>
              </a:spcAft>
              <a:buClrTx/>
              <a:buSzTx/>
              <a:buFontTx/>
              <a:buNone/>
              <a:tabLst/>
              <a:defRPr/>
            </a:pPr>
            <a:r>
              <a:rPr lang="pt-BR" sz="1200" kern="1200">
                <a:solidFill>
                  <a:schemeClr val="tx1"/>
                </a:solidFill>
                <a:latin typeface="Arial" charset="0"/>
                <a:ea typeface="ＭＳ Ｐゴシック" charset="0"/>
                <a:cs typeface="ＭＳ Ｐゴシック" charset="0"/>
              </a:rPr>
              <a:t>3.2.4</a:t>
            </a:r>
            <a:r>
              <a:rPr lang="pt-BR" sz="1200" kern="1200" baseline="0">
                <a:solidFill>
                  <a:schemeClr val="tx1"/>
                </a:solidFill>
                <a:latin typeface="Arial" charset="0"/>
                <a:ea typeface="ＭＳ Ｐゴシック" charset="0"/>
                <a:cs typeface="ＭＳ Ｐゴシック" charset="0"/>
              </a:rPr>
              <a:t> </a:t>
            </a:r>
            <a:r>
              <a:rPr lang="pt-BR" sz="1200">
                <a:effectLst/>
              </a:rPr>
              <a:t> – Verifique sua compreensão – </a:t>
            </a:r>
            <a:r>
              <a:rPr lang="pt-BR" sz="1200" b="0"/>
              <a:t>protocolos</a:t>
            </a:r>
            <a:r>
              <a:rPr lang="pt-BR" sz="1200" b="0" baseline="0"/>
              <a:t> </a:t>
            </a:r>
          </a:p>
          <a:p>
            <a:pPr>
              <a:lnSpc>
                <a:spcPct val="80000"/>
              </a:lnSpc>
              <a:buFontTx/>
              <a:buNone/>
            </a:pPr>
            <a:endParaRPr lang="en-US" sz="1200" kern="1200" dirty="0">
              <a:solidFill>
                <a:schemeClr val="tx1"/>
              </a:solidFill>
              <a:latin typeface="Arial" charset="0"/>
              <a:ea typeface="ＭＳ Ｐゴシック" charset="0"/>
              <a:cs typeface="ＭＳ Ｐゴシック" charset="0"/>
            </a:endParaRPr>
          </a:p>
        </p:txBody>
      </p:sp>
    </p:spTree>
    <p:extLst>
      <p:ext uri="{BB962C8B-B14F-4D97-AF65-F5344CB8AC3E}">
        <p14:creationId xmlns:p14="http://schemas.microsoft.com/office/powerpoint/2010/main" val="34275545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3.3 </a:t>
            </a:r>
            <a:r>
              <a:rPr lang="pt-BR" sz="1200" b="0" baseline="0"/>
              <a:t>Conjuntos de protocolos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32</a:t>
            </a:fld>
            <a:endParaRPr>
              <a:solidFill>
                <a:prstClr val="black"/>
              </a:solidFill>
            </a:endParaRPr>
          </a:p>
        </p:txBody>
      </p:sp>
    </p:spTree>
    <p:extLst>
      <p:ext uri="{BB962C8B-B14F-4D97-AF65-F5344CB8AC3E}">
        <p14:creationId xmlns:p14="http://schemas.microsoft.com/office/powerpoint/2010/main" val="9681813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3.3 </a:t>
            </a:r>
            <a:r>
              <a:rPr lang="pt-BR" sz="1200" b="0" baseline="0"/>
              <a:t>Conjuntos de protocolos</a:t>
            </a:r>
          </a:p>
          <a:p>
            <a:pPr rtl="0">
              <a:lnSpc>
                <a:spcPct val="80000"/>
              </a:lnSpc>
              <a:buFontTx/>
              <a:buNone/>
            </a:pPr>
            <a:r>
              <a:rPr lang="pt-BR" sz="1200" kern="1200">
                <a:solidFill>
                  <a:schemeClr val="tx1"/>
                </a:solidFill>
                <a:latin typeface="Arial" charset="0"/>
                <a:ea typeface="ＭＳ Ｐゴシック" charset="0"/>
                <a:cs typeface="ＭＳ Ｐゴシック" charset="0"/>
              </a:rPr>
              <a:t>3.3.1</a:t>
            </a:r>
            <a:r>
              <a:rPr lang="pt-BR" sz="1200" kern="1200" baseline="0">
                <a:solidFill>
                  <a:schemeClr val="tx1"/>
                </a:solidFill>
                <a:latin typeface="Arial" charset="0"/>
                <a:ea typeface="ＭＳ Ｐゴシック" charset="0"/>
                <a:cs typeface="ＭＳ Ｐゴシック" charset="0"/>
              </a:rPr>
              <a:t> </a:t>
            </a:r>
            <a:r>
              <a:rPr lang="pt-BR" sz="1200" kern="1200">
                <a:solidFill>
                  <a:schemeClr val="tx1"/>
                </a:solidFill>
                <a:latin typeface="Arial" charset="0"/>
                <a:ea typeface="ＭＳ Ｐゴシック" charset="0"/>
                <a:cs typeface="ＭＳ Ｐゴシック" charset="0"/>
              </a:rPr>
              <a:t> - Conjuntos de protocolos de rede</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33</a:t>
            </a:fld>
            <a:endParaRPr>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3.3 </a:t>
            </a:r>
            <a:r>
              <a:rPr lang="pt-BR" sz="1200" b="0" baseline="0"/>
              <a:t>Conjuntos de protocolos</a:t>
            </a:r>
          </a:p>
          <a:p>
            <a:pPr rtl="0">
              <a:lnSpc>
                <a:spcPct val="80000"/>
              </a:lnSpc>
              <a:buFontTx/>
              <a:buNone/>
            </a:pPr>
            <a:r>
              <a:rPr lang="pt-BR" sz="1200" kern="1200">
                <a:solidFill>
                  <a:schemeClr val="tx1"/>
                </a:solidFill>
                <a:latin typeface="Arial" charset="0"/>
                <a:ea typeface="ＭＳ Ｐゴシック" charset="0"/>
                <a:cs typeface="ＭＳ Ｐゴシック" charset="0"/>
              </a:rPr>
              <a:t>3.3.2</a:t>
            </a:r>
            <a:r>
              <a:rPr lang="pt-BR" sz="1200" kern="1200" baseline="0">
                <a:solidFill>
                  <a:schemeClr val="tx1"/>
                </a:solidFill>
                <a:latin typeface="Arial" charset="0"/>
                <a:ea typeface="ＭＳ Ｐゴシック" charset="0"/>
                <a:cs typeface="ＭＳ Ｐゴシック" charset="0"/>
              </a:rPr>
              <a:t> </a:t>
            </a:r>
            <a:r>
              <a:rPr lang="pt-BR" sz="1200" kern="1200">
                <a:solidFill>
                  <a:schemeClr val="tx1"/>
                </a:solidFill>
                <a:latin typeface="Arial" charset="0"/>
                <a:ea typeface="ＭＳ Ｐゴシック" charset="0"/>
                <a:cs typeface="ＭＳ Ｐゴシック" charset="0"/>
              </a:rPr>
              <a:t>— </a:t>
            </a:r>
            <a:r>
              <a:rPr lang="pt-BR"/>
              <a:t>Evolução dos conjuntos de protocolos </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34</a:t>
            </a:fld>
            <a:endParaRPr>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3.3 </a:t>
            </a:r>
            <a:r>
              <a:rPr lang="pt-BR" sz="1200" b="0" baseline="0"/>
              <a:t>Conjuntos de protocolos</a:t>
            </a:r>
          </a:p>
          <a:p>
            <a:pPr rtl="0">
              <a:lnSpc>
                <a:spcPct val="80000"/>
              </a:lnSpc>
              <a:buFontTx/>
              <a:buNone/>
            </a:pPr>
            <a:r>
              <a:rPr lang="pt-BR" sz="1200" kern="1200">
                <a:solidFill>
                  <a:schemeClr val="tx1"/>
                </a:solidFill>
                <a:latin typeface="Arial" charset="0"/>
                <a:ea typeface="ＭＳ Ｐゴシック" charset="0"/>
                <a:cs typeface="ＭＳ Ｐゴシック" charset="0"/>
              </a:rPr>
              <a:t>3.3.3</a:t>
            </a:r>
            <a:r>
              <a:rPr lang="pt-BR" sz="1200" kern="1200" baseline="0">
                <a:solidFill>
                  <a:schemeClr val="tx1"/>
                </a:solidFill>
                <a:latin typeface="Arial" charset="0"/>
                <a:ea typeface="ＭＳ Ｐゴシック" charset="0"/>
                <a:cs typeface="ＭＳ Ｐゴシック" charset="0"/>
              </a:rPr>
              <a:t> </a:t>
            </a:r>
            <a:r>
              <a:rPr lang="pt-BR" sz="1200" kern="1200">
                <a:solidFill>
                  <a:schemeClr val="tx1"/>
                </a:solidFill>
                <a:latin typeface="Arial" charset="0"/>
                <a:ea typeface="ＭＳ Ｐゴシック" charset="0"/>
                <a:cs typeface="ＭＳ Ｐゴシック" charset="0"/>
              </a:rPr>
              <a:t>— </a:t>
            </a:r>
            <a:r>
              <a:rPr lang="pt-BR"/>
              <a:t>Exemplo de Protocolo TCP/IP </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35</a:t>
            </a:fld>
            <a:endParaRPr>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3.3 </a:t>
            </a:r>
            <a:r>
              <a:rPr lang="pt-BR" sz="1200" b="0" baseline="0"/>
              <a:t>Conjuntos de protocolos</a:t>
            </a:r>
          </a:p>
          <a:p>
            <a:pPr rtl="0">
              <a:lnSpc>
                <a:spcPct val="80000"/>
              </a:lnSpc>
              <a:buFontTx/>
              <a:buNone/>
            </a:pPr>
            <a:r>
              <a:rPr lang="pt-BR" sz="1200" kern="1200">
                <a:solidFill>
                  <a:schemeClr val="tx1"/>
                </a:solidFill>
                <a:latin typeface="Arial" charset="0"/>
                <a:ea typeface="ＭＳ Ｐゴシック" charset="0"/>
                <a:cs typeface="ＭＳ Ｐゴシック" charset="0"/>
              </a:rPr>
              <a:t>3.3.4</a:t>
            </a:r>
            <a:r>
              <a:rPr lang="pt-BR" sz="1200" kern="1200" baseline="0">
                <a:solidFill>
                  <a:schemeClr val="tx1"/>
                </a:solidFill>
                <a:latin typeface="Arial" charset="0"/>
                <a:ea typeface="ＭＳ Ｐゴシック" charset="0"/>
                <a:cs typeface="ＭＳ Ｐゴシック" charset="0"/>
              </a:rPr>
              <a:t> </a:t>
            </a:r>
            <a:r>
              <a:rPr lang="pt-BR" sz="1200" kern="1200">
                <a:solidFill>
                  <a:schemeClr val="tx1"/>
                </a:solidFill>
                <a:latin typeface="Arial" charset="0"/>
                <a:ea typeface="ＭＳ Ｐゴシック" charset="0"/>
                <a:cs typeface="ＭＳ Ｐゴシック" charset="0"/>
              </a:rPr>
              <a:t>– </a:t>
            </a:r>
            <a:r>
              <a:rPr lang="pt-BR"/>
              <a:t>Conjunto de protocolos TCP / IP</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36</a:t>
            </a:fld>
            <a:endParaRPr>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3.3 </a:t>
            </a:r>
            <a:r>
              <a:rPr lang="pt-BR" sz="1200" b="0" baseline="0"/>
              <a:t>Conjuntos de protocolos</a:t>
            </a:r>
          </a:p>
          <a:p>
            <a:pPr rtl="0">
              <a:lnSpc>
                <a:spcPct val="80000"/>
              </a:lnSpc>
              <a:buFontTx/>
              <a:buNone/>
            </a:pPr>
            <a:r>
              <a:rPr lang="pt-BR" sz="1200" kern="1200">
                <a:solidFill>
                  <a:schemeClr val="tx1"/>
                </a:solidFill>
                <a:latin typeface="Arial" charset="0"/>
                <a:ea typeface="ＭＳ Ｐゴシック" charset="0"/>
                <a:cs typeface="ＭＳ Ｐゴシック" charset="0"/>
              </a:rPr>
              <a:t>3.3.5</a:t>
            </a:r>
            <a:r>
              <a:rPr lang="pt-BR" sz="1200" kern="1200" baseline="0">
                <a:solidFill>
                  <a:schemeClr val="tx1"/>
                </a:solidFill>
                <a:latin typeface="Arial" charset="0"/>
                <a:ea typeface="ＭＳ Ｐゴシック" charset="0"/>
                <a:cs typeface="ＭＳ Ｐゴシック" charset="0"/>
              </a:rPr>
              <a:t> </a:t>
            </a:r>
            <a:r>
              <a:rPr lang="pt-BR" sz="1200" kern="1200">
                <a:solidFill>
                  <a:schemeClr val="tx1"/>
                </a:solidFill>
                <a:latin typeface="Arial" charset="0"/>
                <a:ea typeface="ＭＳ Ｐゴシック" charset="0"/>
                <a:cs typeface="ＭＳ Ｐゴシック" charset="0"/>
              </a:rPr>
              <a:t> – </a:t>
            </a:r>
            <a:r>
              <a:rPr lang="pt-BR"/>
              <a:t>Processo de Comunicação TCP/IP</a:t>
            </a:r>
          </a:p>
          <a:p>
            <a:pPr marL="0" marR="0" lvl="0" indent="0" algn="l" defTabSz="457200" rtl="0" eaLnBrk="1" fontAlgn="auto" latinLnBrk="0" hangingPunct="1">
              <a:lnSpc>
                <a:spcPct val="80000"/>
              </a:lnSpc>
              <a:spcBef>
                <a:spcPts val="0"/>
              </a:spcBef>
              <a:spcAft>
                <a:spcPts val="0"/>
              </a:spcAft>
              <a:buClrTx/>
              <a:buSzTx/>
              <a:buFontTx/>
              <a:buNone/>
              <a:tabLst/>
              <a:defRPr/>
            </a:pPr>
            <a:r>
              <a:rPr lang="pt-BR" sz="1200">
                <a:effectLst/>
              </a:rPr>
              <a:t> 3.3.6 — Verifique o seu entendimento — Pacotesdeprotocolos</a:t>
            </a:r>
            <a:r>
              <a:rPr lang="pt-BR" sz="1200" baseline="0">
                <a:effectLst/>
              </a:rPr>
              <a:t> </a:t>
            </a:r>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37</a:t>
            </a:fld>
            <a:endParaRPr>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3.4 </a:t>
            </a:r>
            <a:r>
              <a:rPr lang="pt-BR" sz="1200" b="0" baseline="0"/>
              <a:t>Empresas</a:t>
            </a:r>
            <a:r>
              <a:rPr lang="pt-BR" sz="1200" b="0"/>
              <a:t> de padrões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38</a:t>
            </a:fld>
            <a:endParaRPr>
              <a:solidFill>
                <a:prstClr val="black"/>
              </a:solidFill>
            </a:endParaRPr>
          </a:p>
        </p:txBody>
      </p:sp>
    </p:spTree>
    <p:extLst>
      <p:ext uri="{BB962C8B-B14F-4D97-AF65-F5344CB8AC3E}">
        <p14:creationId xmlns:p14="http://schemas.microsoft.com/office/powerpoint/2010/main" val="9681813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3.4 </a:t>
            </a:r>
            <a:r>
              <a:rPr lang="pt-BR" sz="1200" b="0" baseline="0"/>
              <a:t>Empresas</a:t>
            </a:r>
            <a:r>
              <a:rPr lang="pt-BR" sz="1200" b="0"/>
              <a:t> de padrões</a:t>
            </a:r>
          </a:p>
          <a:p>
            <a:pPr rtl="0"/>
            <a:r>
              <a:rPr lang="pt-BR"/>
              <a:t>3.4.1</a:t>
            </a:r>
            <a:r>
              <a:rPr lang="pt-BR" baseline="0"/>
              <a:t> -Padrões Abertos</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39</a:t>
            </a:fld>
            <a:endParaRPr>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3.4 </a:t>
            </a:r>
            <a:r>
              <a:rPr lang="pt-BR" sz="1200" b="0" baseline="0"/>
              <a:t>Empresas</a:t>
            </a:r>
            <a:r>
              <a:rPr lang="pt-BR" sz="1200" b="0"/>
              <a:t> de padrões</a:t>
            </a:r>
          </a:p>
          <a:p>
            <a:pPr rtl="0"/>
            <a:r>
              <a:rPr lang="pt-BR"/>
              <a:t>3.4.2 – </a:t>
            </a:r>
            <a:r>
              <a:rPr lang="pt-BR" baseline="0"/>
              <a:t>Padrões da Internet</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40</a:t>
            </a:fld>
            <a:endParaRPr>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3.4 </a:t>
            </a:r>
            <a:r>
              <a:rPr lang="pt-BR" sz="1200" b="0" baseline="0"/>
              <a:t>Empresas</a:t>
            </a:r>
            <a:r>
              <a:rPr lang="pt-BR" sz="1200" b="0"/>
              <a:t> de padrões</a:t>
            </a:r>
          </a:p>
          <a:p>
            <a:pPr rtl="0"/>
            <a:r>
              <a:rPr lang="pt-BR"/>
              <a:t>3.4.2</a:t>
            </a:r>
            <a:r>
              <a:rPr lang="pt-BR" baseline="0"/>
              <a:t> - Padrões da Internet (cont.)</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41</a:t>
            </a:fld>
            <a:endParaRPr>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3.4 </a:t>
            </a:r>
            <a:r>
              <a:rPr lang="pt-BR" sz="1200" b="0" baseline="0"/>
              <a:t>Empresas</a:t>
            </a:r>
            <a:r>
              <a:rPr lang="pt-BR" sz="1200" b="0"/>
              <a:t> de padrões</a:t>
            </a:r>
          </a:p>
          <a:p>
            <a:pPr rtl="0"/>
            <a:r>
              <a:rPr lang="pt-BR"/>
              <a:t>3.4.3</a:t>
            </a:r>
            <a:r>
              <a:rPr lang="pt-BR" baseline="0"/>
              <a:t>-</a:t>
            </a:r>
            <a:r>
              <a:rPr lang="pt-BR"/>
              <a:t>Padrões eletrônicos e de comunicações</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42</a:t>
            </a:fld>
            <a:endParaRPr>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3.4 </a:t>
            </a:r>
            <a:r>
              <a:rPr lang="pt-BR" sz="1200" b="0" baseline="0"/>
              <a:t>Empresas</a:t>
            </a:r>
            <a:r>
              <a:rPr lang="pt-BR" sz="1200" b="0"/>
              <a:t> de padrões</a:t>
            </a:r>
          </a:p>
          <a:p>
            <a:pPr rtl="0"/>
            <a:r>
              <a:rPr lang="pt-BR"/>
              <a:t>3.4.4</a:t>
            </a:r>
            <a:r>
              <a:rPr lang="pt-BR" baseline="0"/>
              <a:t>-</a:t>
            </a:r>
            <a:r>
              <a:rPr lang="pt-BR"/>
              <a:t> Laboratório - Pesquisa dos Padrões de Rede</a:t>
            </a:r>
          </a:p>
          <a:p>
            <a:pPr marL="0" marR="0" lvl="0" indent="0" algn="l" defTabSz="457200" rtl="0" eaLnBrk="1" fontAlgn="auto" latinLnBrk="0" hangingPunct="1">
              <a:lnSpc>
                <a:spcPct val="100000"/>
              </a:lnSpc>
              <a:spcBef>
                <a:spcPts val="0"/>
              </a:spcBef>
              <a:spcAft>
                <a:spcPts val="0"/>
              </a:spcAft>
              <a:buClrTx/>
              <a:buSzTx/>
              <a:buFontTx/>
              <a:buNone/>
              <a:tabLst/>
              <a:defRPr/>
            </a:pPr>
            <a:r>
              <a:rPr lang="pt-BR" sz="1200" kern="1200">
                <a:solidFill>
                  <a:schemeClr val="tx1"/>
                </a:solidFill>
                <a:latin typeface="Arial" charset="0"/>
                <a:ea typeface="ＭＳ Ｐゴシック" charset="0"/>
                <a:cs typeface="ＭＳ Ｐゴシック" charset="0"/>
              </a:rPr>
              <a:t>3.4.5</a:t>
            </a:r>
            <a:r>
              <a:rPr lang="pt-BR" sz="1200" kern="1200" baseline="0">
                <a:solidFill>
                  <a:schemeClr val="tx1"/>
                </a:solidFill>
                <a:latin typeface="Arial" charset="0"/>
                <a:ea typeface="ＭＳ Ｐゴシック" charset="0"/>
                <a:cs typeface="ＭＳ Ｐゴシック" charset="0"/>
              </a:rPr>
              <a:t> </a:t>
            </a:r>
            <a:r>
              <a:rPr lang="pt-BR" sz="1200">
                <a:effectLst/>
              </a:rPr>
              <a:t>— Verifique seu entendimento — Organizações de padrões </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43</a:t>
            </a:fld>
            <a:endParaRPr>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3.5 Modelos de referência</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44</a:t>
            </a:fld>
            <a:endParaRPr>
              <a:solidFill>
                <a:prstClr val="black"/>
              </a:solidFill>
            </a:endParaRPr>
          </a:p>
        </p:txBody>
      </p:sp>
    </p:spTree>
    <p:extLst>
      <p:ext uri="{BB962C8B-B14F-4D97-AF65-F5344CB8AC3E}">
        <p14:creationId xmlns:p14="http://schemas.microsoft.com/office/powerpoint/2010/main" val="96818133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3.5 Modelos de referência</a:t>
            </a:r>
          </a:p>
          <a:p>
            <a:pPr rtl="0">
              <a:lnSpc>
                <a:spcPct val="80000"/>
              </a:lnSpc>
              <a:buFontTx/>
              <a:buNone/>
            </a:pPr>
            <a:r>
              <a:rPr lang="pt-BR">
                <a:latin typeface="Arial" charset="0"/>
              </a:rPr>
              <a:t>3.5.1 – </a:t>
            </a:r>
            <a:r>
              <a:rPr lang="pt-BR"/>
              <a:t>Os benefícios de se usar um modelo de camadas</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45</a:t>
            </a:fld>
            <a:endParaRPr>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3.5 Modelos de referência</a:t>
            </a:r>
          </a:p>
          <a:p>
            <a:pPr rtl="0">
              <a:lnSpc>
                <a:spcPct val="80000"/>
              </a:lnSpc>
              <a:buFontTx/>
              <a:buNone/>
            </a:pPr>
            <a:r>
              <a:rPr lang="pt-BR">
                <a:latin typeface="Arial" charset="0"/>
              </a:rPr>
              <a:t>3.5.1 – </a:t>
            </a:r>
            <a:r>
              <a:rPr lang="pt-BR"/>
              <a:t>Os benefícios de se usar um modelo de camadas (Cont.)</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46</a:t>
            </a:fld>
            <a:endParaRPr>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3.5 Modelos de referência</a:t>
            </a:r>
          </a:p>
          <a:p>
            <a:pPr rtl="0">
              <a:lnSpc>
                <a:spcPct val="80000"/>
              </a:lnSpc>
              <a:buFontTx/>
              <a:buNone/>
            </a:pPr>
            <a:r>
              <a:rPr lang="pt-BR">
                <a:latin typeface="Arial" charset="0"/>
              </a:rPr>
              <a:t>3.5.2 – </a:t>
            </a:r>
            <a:r>
              <a:rPr lang="pt-BR" sz="1200"/>
              <a:t>O modelo de referência OSI</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47</a:t>
            </a:fld>
            <a:endParaRPr>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3.5 Modelos de referência</a:t>
            </a:r>
          </a:p>
          <a:p>
            <a:pPr rtl="0">
              <a:lnSpc>
                <a:spcPct val="80000"/>
              </a:lnSpc>
              <a:buFontTx/>
              <a:buNone/>
            </a:pPr>
            <a:r>
              <a:rPr lang="pt-BR">
                <a:latin typeface="Arial" charset="0"/>
              </a:rPr>
              <a:t>3.5.3 - </a:t>
            </a:r>
            <a:r>
              <a:rPr lang="pt-BR" sz="1200"/>
              <a:t>Modelo de referência TCP / IP</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48</a:t>
            </a:fld>
            <a:endParaRPr>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3.5 Modelos de referência</a:t>
            </a:r>
          </a:p>
          <a:p>
            <a:pPr rtl="0">
              <a:lnSpc>
                <a:spcPct val="80000"/>
              </a:lnSpc>
              <a:buFontTx/>
              <a:buNone/>
            </a:pPr>
            <a:r>
              <a:rPr lang="pt-BR">
                <a:latin typeface="Arial" charset="0"/>
              </a:rPr>
              <a:t>3.5.4 - </a:t>
            </a:r>
            <a:r>
              <a:rPr lang="pt-BR"/>
              <a:t>Comparação de modelos OSI e TCP / IP</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49</a:t>
            </a:fld>
            <a:endParaRPr>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3.5 Modelos de referência</a:t>
            </a:r>
          </a:p>
          <a:p>
            <a:pPr rtl="0">
              <a:lnSpc>
                <a:spcPct val="80000"/>
              </a:lnSpc>
              <a:buFontTx/>
              <a:buNone/>
            </a:pPr>
            <a:r>
              <a:rPr lang="pt-BR">
                <a:latin typeface="Arial" charset="0"/>
              </a:rPr>
              <a:t>3.5.5 - </a:t>
            </a:r>
            <a:r>
              <a:rPr lang="pt-BR"/>
              <a:t>Packet Tracer - Investigue os modelos TCP / IP e OSI em ação</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50</a:t>
            </a:fld>
            <a:endParaRPr>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3.6 - </a:t>
            </a:r>
            <a:r>
              <a:rPr lang="pt-BR" sz="1200" b="0" baseline="0"/>
              <a:t>Encapsulamento </a:t>
            </a:r>
            <a:r>
              <a:rPr lang="pt-BR" sz="1200" b="0"/>
              <a:t>de dados</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51</a:t>
            </a:fld>
            <a:endParaRPr>
              <a:solidFill>
                <a:prstClr val="black"/>
              </a:solidFill>
            </a:endParaRPr>
          </a:p>
        </p:txBody>
      </p:sp>
    </p:spTree>
    <p:extLst>
      <p:ext uri="{BB962C8B-B14F-4D97-AF65-F5344CB8AC3E}">
        <p14:creationId xmlns:p14="http://schemas.microsoft.com/office/powerpoint/2010/main" val="257301517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3.6 - </a:t>
            </a:r>
            <a:r>
              <a:rPr lang="pt-BR" sz="1200" b="0" baseline="0"/>
              <a:t>Encapsulamento </a:t>
            </a:r>
            <a:r>
              <a:rPr lang="pt-BR" sz="1200" b="0"/>
              <a:t>de dados</a:t>
            </a:r>
          </a:p>
          <a:p>
            <a:pPr rtl="0">
              <a:lnSpc>
                <a:spcPct val="80000"/>
              </a:lnSpc>
              <a:buFontTx/>
              <a:buNone/>
            </a:pPr>
            <a:r>
              <a:rPr lang="pt-BR">
                <a:latin typeface="Arial" charset="0"/>
              </a:rPr>
              <a:t>3.6.1 - Segmentando </a:t>
            </a:r>
            <a:r>
              <a:rPr lang="pt-BR" baseline="0">
                <a:latin typeface="Arial" charset="0"/>
              </a:rPr>
              <a:t>Mensagens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52</a:t>
            </a:fld>
            <a:endParaRPr>
              <a:solidFill>
                <a:prstClr val="black"/>
              </a:solidFill>
            </a:endParaRPr>
          </a:p>
        </p:txBody>
      </p:sp>
    </p:spTree>
    <p:extLst>
      <p:ext uri="{BB962C8B-B14F-4D97-AF65-F5344CB8AC3E}">
        <p14:creationId xmlns:p14="http://schemas.microsoft.com/office/powerpoint/2010/main" val="125184525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3.6 - </a:t>
            </a:r>
            <a:r>
              <a:rPr lang="pt-BR" sz="1200" b="0" baseline="0"/>
              <a:t>Encapsulamento </a:t>
            </a:r>
            <a:r>
              <a:rPr lang="pt-BR" sz="1200" b="0"/>
              <a:t>de dados</a:t>
            </a:r>
          </a:p>
          <a:p>
            <a:pPr rtl="0">
              <a:lnSpc>
                <a:spcPct val="80000"/>
              </a:lnSpc>
              <a:buFontTx/>
              <a:buNone/>
            </a:pPr>
            <a:r>
              <a:rPr lang="pt-BR">
                <a:latin typeface="Arial" charset="0"/>
              </a:rPr>
              <a:t>3.6.2 – Sequenciamento</a:t>
            </a:r>
            <a:r>
              <a:rPr lang="pt-BR" baseline="0">
                <a:latin typeface="Arial" charset="0"/>
              </a:rPr>
              <a:t> </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53</a:t>
            </a:fld>
            <a:endParaRPr>
              <a:solidFill>
                <a:prstClr val="black"/>
              </a:solidFill>
            </a:endParaRPr>
          </a:p>
        </p:txBody>
      </p:sp>
    </p:spTree>
    <p:extLst>
      <p:ext uri="{BB962C8B-B14F-4D97-AF65-F5344CB8AC3E}">
        <p14:creationId xmlns:p14="http://schemas.microsoft.com/office/powerpoint/2010/main" val="125184525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3.6 - </a:t>
            </a:r>
            <a:r>
              <a:rPr lang="pt-BR" sz="1200" b="0" baseline="0"/>
              <a:t>Encapsulamento </a:t>
            </a:r>
            <a:r>
              <a:rPr lang="pt-BR" sz="1200" b="0"/>
              <a:t>de dados</a:t>
            </a:r>
          </a:p>
          <a:p>
            <a:pPr rtl="0">
              <a:lnSpc>
                <a:spcPct val="80000"/>
              </a:lnSpc>
              <a:buFontTx/>
              <a:buNone/>
            </a:pPr>
            <a:r>
              <a:rPr lang="pt-BR">
                <a:latin typeface="Arial" charset="0"/>
              </a:rPr>
              <a:t>3.6.3 - </a:t>
            </a:r>
            <a:r>
              <a:rPr lang="pt-BR"/>
              <a:t>Unidades de Dados de Protocolo (PDU)</a:t>
            </a:r>
            <a:r>
              <a:rPr lang="pt-BR" baseline="0">
                <a:latin typeface="Arial" charset="0"/>
              </a:rPr>
              <a:t> </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54</a:t>
            </a:fld>
            <a:endParaRPr>
              <a:solidFill>
                <a:prstClr val="black"/>
              </a:solidFill>
            </a:endParaRPr>
          </a:p>
        </p:txBody>
      </p:sp>
    </p:spTree>
    <p:extLst>
      <p:ext uri="{BB962C8B-B14F-4D97-AF65-F5344CB8AC3E}">
        <p14:creationId xmlns:p14="http://schemas.microsoft.com/office/powerpoint/2010/main" val="125184525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3.6 - </a:t>
            </a:r>
            <a:r>
              <a:rPr lang="pt-BR" sz="1200" b="0" baseline="0"/>
              <a:t>Encapsulamento </a:t>
            </a:r>
            <a:r>
              <a:rPr lang="pt-BR" sz="1200" b="0"/>
              <a:t>de dados</a:t>
            </a:r>
          </a:p>
          <a:p>
            <a:pPr rtl="0">
              <a:lnSpc>
                <a:spcPct val="80000"/>
              </a:lnSpc>
              <a:buFontTx/>
              <a:buNone/>
            </a:pPr>
            <a:r>
              <a:rPr lang="pt-BR">
                <a:latin typeface="Arial" charset="0"/>
              </a:rPr>
              <a:t>3.6.4 - </a:t>
            </a:r>
            <a:r>
              <a:rPr lang="pt-BR" sz="1200" kern="1200">
                <a:solidFill>
                  <a:schemeClr val="tx1"/>
                </a:solidFill>
                <a:latin typeface="Arial" charset="0"/>
                <a:ea typeface="ＭＳ Ｐゴシック" charset="0"/>
                <a:cs typeface="ＭＳ Ｐゴシック" charset="0"/>
              </a:rPr>
              <a:t> </a:t>
            </a:r>
            <a:r>
              <a:rPr lang="pt-BR"/>
              <a:t>Exemplo de Encapsulamento</a:t>
            </a:r>
          </a:p>
          <a:p>
            <a:pPr marL="0" marR="0" lvl="0" indent="0" algn="l" defTabSz="457200" rtl="0" eaLnBrk="1" fontAlgn="auto" latinLnBrk="0" hangingPunct="1">
              <a:lnSpc>
                <a:spcPct val="80000"/>
              </a:lnSpc>
              <a:spcBef>
                <a:spcPts val="0"/>
              </a:spcBef>
              <a:spcAft>
                <a:spcPts val="0"/>
              </a:spcAft>
              <a:buClrTx/>
              <a:buSzTx/>
              <a:buFontTx/>
              <a:buNone/>
              <a:tabLst/>
              <a:defRPr/>
            </a:pPr>
            <a:endParaRPr lang="en-GB" b="0" dirty="0"/>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55</a:t>
            </a:fld>
            <a:endParaRPr>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3.6 - </a:t>
            </a:r>
            <a:r>
              <a:rPr lang="pt-BR" sz="1200" b="0" baseline="0"/>
              <a:t>Encapsulamento </a:t>
            </a:r>
            <a:r>
              <a:rPr lang="pt-BR" sz="1200" b="0"/>
              <a:t>de dados</a:t>
            </a:r>
          </a:p>
          <a:p>
            <a:pPr rtl="0">
              <a:lnSpc>
                <a:spcPct val="80000"/>
              </a:lnSpc>
              <a:buFontTx/>
              <a:buNone/>
            </a:pPr>
            <a:r>
              <a:rPr lang="pt-BR">
                <a:latin typeface="Arial" charset="0"/>
              </a:rPr>
              <a:t>3.6.5 - </a:t>
            </a:r>
            <a:r>
              <a:rPr lang="pt-BR"/>
              <a:t>Exemplo de Desencapsulamento</a:t>
            </a:r>
          </a:p>
          <a:p>
            <a:pPr rtl="0">
              <a:buFontTx/>
              <a:buNone/>
            </a:pPr>
            <a:r>
              <a:rPr lang="pt-BR"/>
              <a:t>3.6.6 </a:t>
            </a:r>
            <a:r>
              <a:rPr lang="pt-BR" sz="1200">
                <a:effectLst/>
              </a:rPr>
              <a:t>— Verifique seu entendimento —</a:t>
            </a:r>
            <a:r>
              <a:rPr lang="pt-BR" sz="1200" baseline="0">
                <a:effectLst/>
              </a:rPr>
              <a:t> </a:t>
            </a:r>
            <a:r>
              <a:rPr lang="pt-BR" sz="1200" b="0"/>
              <a:t> Encapsulamento de</a:t>
            </a:r>
            <a:r>
              <a:rPr lang="pt-BR" sz="1200" b="0" baseline="0"/>
              <a:t>dados</a:t>
            </a:r>
          </a:p>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56</a:t>
            </a:fld>
            <a:endParaRPr>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3.7 —</a:t>
            </a:r>
            <a:r>
              <a:rPr lang="pt-BR" sz="1200" b="0" baseline="0"/>
              <a:t> Acesso aos</a:t>
            </a:r>
            <a:r>
              <a:rPr lang="pt-BR" sz="1200" b="0"/>
              <a:t>dados</a:t>
            </a:r>
          </a:p>
          <a:p>
            <a:pPr>
              <a:buFontTx/>
              <a:buNone/>
            </a:pPr>
            <a:endParaRPr lang="en-GB" b="0" dirty="0"/>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57</a:t>
            </a:fld>
            <a:endParaRPr>
              <a:solidFill>
                <a:prstClr val="black"/>
              </a:solidFill>
            </a:endParaRPr>
          </a:p>
        </p:txBody>
      </p:sp>
    </p:spTree>
    <p:extLst>
      <p:ext uri="{BB962C8B-B14F-4D97-AF65-F5344CB8AC3E}">
        <p14:creationId xmlns:p14="http://schemas.microsoft.com/office/powerpoint/2010/main" val="306517531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3.7 —</a:t>
            </a:r>
            <a:r>
              <a:rPr lang="pt-BR" sz="1200" b="0" baseline="0"/>
              <a:t> Acesso aos</a:t>
            </a:r>
            <a:r>
              <a:rPr lang="pt-BR" sz="1200" b="0"/>
              <a:t>dados</a:t>
            </a:r>
          </a:p>
          <a:p>
            <a:pPr rtl="0">
              <a:lnSpc>
                <a:spcPct val="80000"/>
              </a:lnSpc>
              <a:buFontTx/>
              <a:buNone/>
            </a:pPr>
            <a:r>
              <a:rPr lang="pt-BR">
                <a:latin typeface="Arial" charset="0"/>
              </a:rPr>
              <a:t>3.7.1 — Endereços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58</a:t>
            </a:fld>
            <a:endParaRPr>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3.7 —</a:t>
            </a:r>
            <a:r>
              <a:rPr lang="pt-BR" sz="1200" b="0" baseline="0"/>
              <a:t> Acesso aos</a:t>
            </a:r>
            <a:r>
              <a:rPr lang="pt-BR" sz="1200" b="0"/>
              <a:t>dados</a:t>
            </a:r>
          </a:p>
          <a:p>
            <a:pPr rtl="0">
              <a:lnSpc>
                <a:spcPct val="80000"/>
              </a:lnSpc>
              <a:buFontTx/>
              <a:buNone/>
            </a:pPr>
            <a:r>
              <a:rPr lang="pt-BR">
                <a:latin typeface="Arial" charset="0"/>
              </a:rPr>
              <a:t>3.7.2 — </a:t>
            </a:r>
            <a:r>
              <a:rPr lang="pt-BR"/>
              <a:t>Endereço lógico da Camada 3</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59</a:t>
            </a:fld>
            <a:endParaRPr>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3.7 —</a:t>
            </a:r>
            <a:r>
              <a:rPr lang="pt-BR" sz="1200" b="0" baseline="0"/>
              <a:t> Acesso aos</a:t>
            </a:r>
            <a:r>
              <a:rPr lang="pt-BR" sz="1200" b="0"/>
              <a:t>dados</a:t>
            </a:r>
          </a:p>
          <a:p>
            <a:pPr rtl="0">
              <a:lnSpc>
                <a:spcPct val="80000"/>
              </a:lnSpc>
              <a:buFontTx/>
              <a:buNone/>
            </a:pPr>
            <a:r>
              <a:rPr lang="pt-BR">
                <a:latin typeface="Arial" charset="0"/>
              </a:rPr>
              <a:t>3.7.2 — </a:t>
            </a:r>
            <a:r>
              <a:rPr lang="pt-BR"/>
              <a:t>Endereço lógico da Camada 3 (Cont.) </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60</a:t>
            </a:fld>
            <a:endParaRPr>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3.7 —</a:t>
            </a:r>
            <a:r>
              <a:rPr lang="pt-BR" sz="1200" b="0" baseline="0"/>
              <a:t> Acesso aos</a:t>
            </a:r>
            <a:r>
              <a:rPr lang="pt-BR" sz="1200" b="0"/>
              <a:t>dados</a:t>
            </a:r>
          </a:p>
          <a:p>
            <a:pPr rtl="0">
              <a:lnSpc>
                <a:spcPct val="80000"/>
              </a:lnSpc>
              <a:buFontTx/>
              <a:buNone/>
            </a:pPr>
            <a:r>
              <a:rPr lang="pt-BR">
                <a:latin typeface="Arial" charset="0"/>
              </a:rPr>
              <a:t>3.7.3 — </a:t>
            </a:r>
            <a:r>
              <a:rPr lang="pt-BR"/>
              <a:t>Dispositivos na mesma rede-</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61</a:t>
            </a:fld>
            <a:endParaRPr>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3.7 —</a:t>
            </a:r>
            <a:r>
              <a:rPr lang="pt-BR" sz="1200" b="0" baseline="0"/>
              <a:t> Acesso aos</a:t>
            </a:r>
            <a:r>
              <a:rPr lang="pt-BR" sz="1200" b="0"/>
              <a:t>dados</a:t>
            </a:r>
          </a:p>
          <a:p>
            <a:pPr rtl="0">
              <a:lnSpc>
                <a:spcPct val="80000"/>
              </a:lnSpc>
              <a:buFontTx/>
              <a:buNone/>
            </a:pPr>
            <a:r>
              <a:rPr lang="pt-BR">
                <a:latin typeface="Arial" charset="0"/>
              </a:rPr>
              <a:t>3.7.4 — </a:t>
            </a:r>
            <a:r>
              <a:rPr lang="pt-BR"/>
              <a:t>Função dos endereços da camada de link de dados: mesma rede IP</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62</a:t>
            </a:fld>
            <a:endParaRPr>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3.7 —</a:t>
            </a:r>
            <a:r>
              <a:rPr lang="pt-BR" sz="1200" b="0" baseline="0"/>
              <a:t> Acesso aos</a:t>
            </a:r>
            <a:r>
              <a:rPr lang="pt-BR" sz="1200" b="0"/>
              <a:t>dados</a:t>
            </a:r>
          </a:p>
          <a:p>
            <a:pPr rtl="0">
              <a:lnSpc>
                <a:spcPct val="80000"/>
              </a:lnSpc>
              <a:buFontTx/>
              <a:buNone/>
            </a:pPr>
            <a:r>
              <a:rPr lang="pt-BR">
                <a:latin typeface="Arial" charset="0"/>
              </a:rPr>
              <a:t>3.7.5 – </a:t>
            </a:r>
            <a:r>
              <a:rPr lang="pt-BR"/>
              <a:t>Dispositivos em uma rede remota</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63</a:t>
            </a:fld>
            <a:endParaRPr>
              <a:solidFill>
                <a:prstClr val="black"/>
              </a:solidFill>
            </a:endParaRPr>
          </a:p>
        </p:txBody>
      </p:sp>
    </p:spTree>
    <p:extLst>
      <p:ext uri="{BB962C8B-B14F-4D97-AF65-F5344CB8AC3E}">
        <p14:creationId xmlns:p14="http://schemas.microsoft.com/office/powerpoint/2010/main" val="256234591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3.7 —</a:t>
            </a:r>
            <a:r>
              <a:rPr lang="pt-BR" sz="1200" b="0" baseline="0"/>
              <a:t> Acesso aos</a:t>
            </a:r>
            <a:r>
              <a:rPr lang="pt-BR" sz="1200" b="0"/>
              <a:t>dados</a:t>
            </a:r>
          </a:p>
          <a:p>
            <a:pPr rtl="0">
              <a:lnSpc>
                <a:spcPct val="80000"/>
              </a:lnSpc>
              <a:buFontTx/>
              <a:buNone/>
            </a:pPr>
            <a:r>
              <a:rPr lang="pt-BR">
                <a:latin typeface="Arial" charset="0"/>
              </a:rPr>
              <a:t>3.7.6 - </a:t>
            </a:r>
            <a:r>
              <a:rPr lang="pt-BR"/>
              <a:t>Função dos endereços da camada de rede</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64</a:t>
            </a:fld>
            <a:endParaRPr>
              <a:solidFill>
                <a:prstClr val="black"/>
              </a:solidFill>
            </a:endParaRPr>
          </a:p>
        </p:txBody>
      </p:sp>
    </p:spTree>
    <p:extLst>
      <p:ext uri="{BB962C8B-B14F-4D97-AF65-F5344CB8AC3E}">
        <p14:creationId xmlns:p14="http://schemas.microsoft.com/office/powerpoint/2010/main" val="400783844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3.7 —</a:t>
            </a:r>
            <a:r>
              <a:rPr lang="pt-BR" sz="1200" b="0" baseline="0"/>
              <a:t> Acesso aos</a:t>
            </a:r>
            <a:r>
              <a:rPr lang="pt-BR" sz="1200" b="0"/>
              <a:t>dados</a:t>
            </a:r>
          </a:p>
          <a:p>
            <a:pPr rtl="0">
              <a:lnSpc>
                <a:spcPct val="80000"/>
              </a:lnSpc>
              <a:buFontTx/>
              <a:buNone/>
            </a:pPr>
            <a:r>
              <a:rPr lang="pt-BR">
                <a:latin typeface="Arial" charset="0"/>
              </a:rPr>
              <a:t>3.7.7 — </a:t>
            </a:r>
            <a:r>
              <a:rPr lang="pt-BR"/>
              <a:t>Papel dos endereços da camada de link de dados: diferentes redes IP</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65</a:t>
            </a:fld>
            <a:endParaRPr>
              <a:solidFill>
                <a:prstClr val="black"/>
              </a:solidFill>
            </a:endParaRPr>
          </a:p>
        </p:txBody>
      </p:sp>
    </p:spTree>
    <p:extLst>
      <p:ext uri="{BB962C8B-B14F-4D97-AF65-F5344CB8AC3E}">
        <p14:creationId xmlns:p14="http://schemas.microsoft.com/office/powerpoint/2010/main" val="292097696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3.7 —</a:t>
            </a:r>
            <a:r>
              <a:rPr lang="pt-BR" sz="1200" b="0" baseline="0"/>
              <a:t> Acesso aos</a:t>
            </a:r>
            <a:r>
              <a:rPr lang="pt-BR" sz="1200" b="0"/>
              <a:t>dados</a:t>
            </a:r>
          </a:p>
          <a:p>
            <a:pPr rtl="0">
              <a:lnSpc>
                <a:spcPct val="80000"/>
              </a:lnSpc>
              <a:buFontTx/>
              <a:buNone/>
            </a:pPr>
            <a:r>
              <a:rPr lang="pt-BR">
                <a:latin typeface="Arial" charset="0"/>
              </a:rPr>
              <a:t>3.7.7 — </a:t>
            </a:r>
            <a:r>
              <a:rPr lang="pt-BR"/>
              <a:t>Função dos Endereços da Camada de Link de Dados: Redes IP Diferentes (Cont.) </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66</a:t>
            </a:fld>
            <a:endParaRPr>
              <a:solidFill>
                <a:prstClr val="black"/>
              </a:solidFill>
            </a:endParaRPr>
          </a:p>
        </p:txBody>
      </p:sp>
    </p:spTree>
    <p:extLst>
      <p:ext uri="{BB962C8B-B14F-4D97-AF65-F5344CB8AC3E}">
        <p14:creationId xmlns:p14="http://schemas.microsoft.com/office/powerpoint/2010/main" val="292097696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3.7 —</a:t>
            </a:r>
            <a:r>
              <a:rPr lang="pt-BR" sz="1200" b="0" baseline="0"/>
              <a:t> Acesso aos</a:t>
            </a:r>
            <a:r>
              <a:rPr lang="pt-BR" sz="1200" b="0"/>
              <a:t>dados</a:t>
            </a:r>
          </a:p>
          <a:p>
            <a:pPr rtl="0">
              <a:lnSpc>
                <a:spcPct val="80000"/>
              </a:lnSpc>
              <a:buFontTx/>
              <a:buNone/>
            </a:pPr>
            <a:r>
              <a:rPr lang="pt-BR">
                <a:latin typeface="Arial" charset="0"/>
              </a:rPr>
              <a:t>3.7.8 – </a:t>
            </a:r>
            <a:r>
              <a:rPr lang="pt-BR"/>
              <a:t>Endereços de enlace de dados</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67</a:t>
            </a:fld>
            <a:endParaRPr>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3.7 —</a:t>
            </a:r>
            <a:r>
              <a:rPr lang="pt-BR" sz="1200" b="0" baseline="0"/>
              <a:t> Acesso aos</a:t>
            </a:r>
            <a:r>
              <a:rPr lang="pt-BR" sz="1200" b="0"/>
              <a:t>dados</a:t>
            </a:r>
          </a:p>
          <a:p>
            <a:pPr rtl="0">
              <a:lnSpc>
                <a:spcPct val="80000"/>
              </a:lnSpc>
              <a:buFontTx/>
              <a:buNone/>
            </a:pPr>
            <a:r>
              <a:rPr lang="pt-BR">
                <a:latin typeface="Arial" charset="0"/>
              </a:rPr>
              <a:t>3.7.8 – </a:t>
            </a:r>
            <a:r>
              <a:rPr lang="pt-BR"/>
              <a:t>Endereços de enlace de dados (Cont.)</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68</a:t>
            </a:fld>
            <a:endParaRPr>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3.7 —</a:t>
            </a:r>
            <a:r>
              <a:rPr lang="pt-BR" sz="1200" b="0" baseline="0"/>
              <a:t> Acesso aos</a:t>
            </a:r>
            <a:r>
              <a:rPr lang="pt-BR" sz="1200" b="0"/>
              <a:t>dados</a:t>
            </a:r>
          </a:p>
          <a:p>
            <a:pPr rtl="0">
              <a:lnSpc>
                <a:spcPct val="80000"/>
              </a:lnSpc>
              <a:buFontTx/>
              <a:buNone/>
            </a:pPr>
            <a:r>
              <a:rPr lang="pt-BR">
                <a:latin typeface="Arial" charset="0"/>
              </a:rPr>
              <a:t>3.7.8 – </a:t>
            </a:r>
            <a:r>
              <a:rPr lang="pt-BR"/>
              <a:t>Endereços de enlace de dados (Cont.)</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69</a:t>
            </a:fld>
            <a:endParaRPr>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3.7 —</a:t>
            </a:r>
            <a:r>
              <a:rPr lang="pt-BR" sz="1200" b="0" baseline="0"/>
              <a:t> Acesso aos</a:t>
            </a:r>
            <a:r>
              <a:rPr lang="pt-BR" sz="1200" b="0"/>
              <a:t>dados</a:t>
            </a:r>
          </a:p>
          <a:p>
            <a:pPr rtl="0">
              <a:lnSpc>
                <a:spcPct val="80000"/>
              </a:lnSpc>
              <a:buFontTx/>
              <a:buNone/>
            </a:pPr>
            <a:r>
              <a:rPr lang="pt-BR">
                <a:latin typeface="Arial" charset="0"/>
              </a:rPr>
              <a:t>3.7.8 – </a:t>
            </a:r>
            <a:r>
              <a:rPr lang="pt-BR"/>
              <a:t>Endereços de enlace de dados (Cont.)</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70</a:t>
            </a:fld>
            <a:endParaRPr>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3.7 —</a:t>
            </a:r>
            <a:r>
              <a:rPr lang="pt-BR" sz="1200" b="0" baseline="0"/>
              <a:t> Acesso aos</a:t>
            </a:r>
            <a:r>
              <a:rPr lang="pt-BR" sz="1200" b="0"/>
              <a:t>dados</a:t>
            </a:r>
          </a:p>
          <a:p>
            <a:pPr rtl="0">
              <a:lnSpc>
                <a:spcPct val="80000"/>
              </a:lnSpc>
              <a:buFontTx/>
              <a:buNone/>
            </a:pPr>
            <a:r>
              <a:rPr lang="pt-BR">
                <a:latin typeface="Arial" charset="0"/>
              </a:rPr>
              <a:t>3.7.9 - </a:t>
            </a:r>
            <a:r>
              <a:rPr lang="pt-BR"/>
              <a:t>Laboratório - Instalar o Wireshark</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71</a:t>
            </a:fld>
            <a:endParaRPr>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buFontTx/>
              <a:buNone/>
            </a:pPr>
            <a:r>
              <a:rPr lang="pt-BR" sz="1200" b="0"/>
              <a:t>3.7 —</a:t>
            </a:r>
            <a:r>
              <a:rPr lang="pt-BR" sz="1200" b="0" baseline="0"/>
              <a:t> Acesso aos</a:t>
            </a:r>
            <a:r>
              <a:rPr lang="pt-BR" sz="1200" b="0"/>
              <a:t>dados</a:t>
            </a:r>
          </a:p>
          <a:p>
            <a:pPr rtl="0">
              <a:lnSpc>
                <a:spcPct val="80000"/>
              </a:lnSpc>
              <a:buFontTx/>
              <a:buNone/>
            </a:pPr>
            <a:r>
              <a:rPr lang="pt-BR">
                <a:latin typeface="Arial" charset="0"/>
              </a:rPr>
              <a:t>3.7.19 -</a:t>
            </a:r>
            <a:r>
              <a:rPr lang="pt-BR"/>
              <a:t>Laboratório - Use o Wireshark para visualizar o tráfego de rede</a:t>
            </a:r>
          </a:p>
          <a:p>
            <a:pPr rtl="0">
              <a:buFontTx/>
              <a:buNone/>
            </a:pPr>
            <a:r>
              <a:rPr lang="pt-BR"/>
              <a:t>3.7.11 — </a:t>
            </a:r>
            <a:r>
              <a:rPr lang="pt-BR" sz="1200">
                <a:effectLst/>
              </a:rPr>
              <a:t>Verifique seu entendimento — </a:t>
            </a:r>
            <a:r>
              <a:rPr lang="pt-BR" sz="1200" b="0"/>
              <a:t> Acesso </a:t>
            </a:r>
            <a:r>
              <a:rPr lang="pt-BR"/>
              <a:t>a</a:t>
            </a:r>
            <a:r>
              <a:rPr lang="pt-BR" sz="1200" b="0" baseline="0"/>
              <a:t>dados </a:t>
            </a:r>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72</a:t>
            </a:fld>
            <a:endParaRPr>
              <a:solidFill>
                <a:prstClr val="black"/>
              </a:solidFill>
            </a:endParaRPr>
          </a:p>
        </p:txBody>
      </p:sp>
    </p:spTree>
    <p:extLst>
      <p:ext uri="{BB962C8B-B14F-4D97-AF65-F5344CB8AC3E}">
        <p14:creationId xmlns:p14="http://schemas.microsoft.com/office/powerpoint/2010/main" val="240209680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lnSpc>
                <a:spcPct val="80000"/>
              </a:lnSpc>
              <a:buFontTx/>
              <a:buNone/>
            </a:pPr>
            <a:r>
              <a:rPr lang="pt-BR" sz="1200" kern="1200">
                <a:solidFill>
                  <a:schemeClr val="tx1"/>
                </a:solidFill>
                <a:latin typeface="Arial" charset="0"/>
                <a:ea typeface="ＭＳ Ｐゴシック" charset="0"/>
                <a:cs typeface="ＭＳ Ｐゴシック" charset="0"/>
              </a:rPr>
              <a:t>3.8 - </a:t>
            </a:r>
            <a:r>
              <a:rPr lang="pt-BR">
                <a:solidFill>
                  <a:schemeClr val="accent5">
                    <a:lumMod val="40000"/>
                    <a:lumOff val="60000"/>
                  </a:schemeClr>
                </a:solidFill>
              </a:rPr>
              <a:t>Módulo Prática e Quiz</a:t>
            </a:r>
          </a:p>
          <a:p>
            <a:pPr>
              <a:buFontTx/>
              <a:buNone/>
            </a:pPr>
            <a:endParaRPr lang="en-GB" b="0" dirty="0"/>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73</a:t>
            </a:fld>
            <a:endParaRPr>
              <a:solidFill>
                <a:prstClr val="black"/>
              </a:solidFill>
            </a:endParaRPr>
          </a:p>
        </p:txBody>
      </p:sp>
    </p:spTree>
    <p:extLst>
      <p:ext uri="{BB962C8B-B14F-4D97-AF65-F5344CB8AC3E}">
        <p14:creationId xmlns:p14="http://schemas.microsoft.com/office/powerpoint/2010/main" val="364082442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lnSpc>
                <a:spcPct val="80000"/>
              </a:lnSpc>
              <a:buFontTx/>
              <a:buNone/>
            </a:pPr>
            <a:r>
              <a:rPr lang="pt-BR" sz="1200" kern="1200">
                <a:solidFill>
                  <a:schemeClr val="tx1"/>
                </a:solidFill>
                <a:latin typeface="Arial" charset="0"/>
                <a:ea typeface="ＭＳ Ｐゴシック" charset="0"/>
                <a:cs typeface="ＭＳ Ｐゴシック" charset="0"/>
              </a:rPr>
              <a:t>3.8 - </a:t>
            </a:r>
            <a:r>
              <a:rPr lang="pt-BR">
                <a:solidFill>
                  <a:schemeClr val="accent5">
                    <a:lumMod val="40000"/>
                    <a:lumOff val="60000"/>
                  </a:schemeClr>
                </a:solidFill>
              </a:rPr>
              <a:t>Módulo Prática e Quiz</a:t>
            </a:r>
          </a:p>
          <a:p>
            <a:pPr rtl="0">
              <a:lnSpc>
                <a:spcPct val="80000"/>
              </a:lnSpc>
              <a:buFontTx/>
              <a:buNone/>
            </a:pPr>
            <a:r>
              <a:rPr lang="pt-BR">
                <a:latin typeface="Arial" charset="0"/>
              </a:rPr>
              <a:t>3.8.1 </a:t>
            </a:r>
            <a:r>
              <a:rPr lang="pt-BR" baseline="0">
                <a:latin typeface="Arial" charset="0"/>
              </a:rPr>
              <a:t>-</a:t>
            </a:r>
            <a:r>
              <a:rPr lang="pt-BR"/>
              <a:t>O que eu aprendi neste módulo?</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74</a:t>
            </a:fld>
            <a:endParaRPr>
              <a:solidFill>
                <a:prstClr val="black"/>
              </a:solidFill>
            </a:endParaRPr>
          </a:p>
        </p:txBody>
      </p:sp>
    </p:spTree>
    <p:extLst>
      <p:ext uri="{BB962C8B-B14F-4D97-AF65-F5344CB8AC3E}">
        <p14:creationId xmlns:p14="http://schemas.microsoft.com/office/powerpoint/2010/main" val="207069413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p>
          <a:p>
            <a:pPr rtl="0">
              <a:lnSpc>
                <a:spcPct val="80000"/>
              </a:lnSpc>
              <a:buFontTx/>
              <a:buNone/>
            </a:pPr>
            <a:r>
              <a:rPr lang="pt-BR" sz="1200" kern="1200">
                <a:solidFill>
                  <a:schemeClr val="tx1"/>
                </a:solidFill>
                <a:latin typeface="Arial" charset="0"/>
                <a:ea typeface="ＭＳ Ｐゴシック" charset="0"/>
                <a:cs typeface="ＭＳ Ｐゴシック" charset="0"/>
              </a:rPr>
              <a:t>3.8 - </a:t>
            </a:r>
            <a:r>
              <a:rPr lang="pt-BR">
                <a:solidFill>
                  <a:schemeClr val="accent5">
                    <a:lumMod val="40000"/>
                    <a:lumOff val="60000"/>
                  </a:schemeClr>
                </a:solidFill>
              </a:rPr>
              <a:t>Módulo Prática e Quiz</a:t>
            </a:r>
          </a:p>
          <a:p>
            <a:pPr rtl="0">
              <a:lnSpc>
                <a:spcPct val="80000"/>
              </a:lnSpc>
              <a:buFontTx/>
              <a:buNone/>
            </a:pPr>
            <a:r>
              <a:rPr lang="pt-BR">
                <a:latin typeface="Arial" charset="0"/>
              </a:rPr>
              <a:t>3.8.1 </a:t>
            </a:r>
            <a:r>
              <a:rPr lang="pt-BR" baseline="0">
                <a:latin typeface="Arial" charset="0"/>
              </a:rPr>
              <a:t>-</a:t>
            </a:r>
            <a:r>
              <a:rPr lang="pt-BR"/>
              <a:t>O que eu aprendi neste módulo? (continuação)</a:t>
            </a:r>
          </a:p>
          <a:p>
            <a:pPr rtl="0">
              <a:lnSpc>
                <a:spcPct val="80000"/>
              </a:lnSpc>
              <a:buFontTx/>
              <a:buNone/>
            </a:pPr>
            <a:r>
              <a:rPr lang="pt-BR"/>
              <a:t>3.8.2 — Teste de Módulo —</a:t>
            </a:r>
            <a:r>
              <a:rPr lang="pt-BR" baseline="0"/>
              <a:t> </a:t>
            </a:r>
            <a:r>
              <a:rPr lang="pt-BR"/>
              <a:t>Protocolos e Modelos </a:t>
            </a: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pPr/>
              <a:t>75</a:t>
            </a:fld>
            <a:endParaRPr>
              <a:solidFill>
                <a:prstClr val="black"/>
              </a:solidFill>
            </a:endParaRPr>
          </a:p>
        </p:txBody>
      </p:sp>
    </p:spTree>
    <p:extLst>
      <p:ext uri="{BB962C8B-B14F-4D97-AF65-F5344CB8AC3E}">
        <p14:creationId xmlns:p14="http://schemas.microsoft.com/office/powerpoint/2010/main" val="207069413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pPr/>
              <a:t>76</a:t>
            </a:fld>
            <a:endParaRPr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Protocols and Models</a:t>
            </a:r>
          </a:p>
          <a:p>
            <a:pPr rtl="0"/>
            <a:r>
              <a:rPr lang="pt-BR" b="0"/>
              <a:t>New Terms and Commands</a:t>
            </a:r>
          </a:p>
          <a:p>
            <a:endParaRPr lang="en-US" b="0" dirty="0"/>
          </a:p>
        </p:txBody>
      </p:sp>
    </p:spTree>
    <p:extLst>
      <p:ext uri="{BB962C8B-B14F-4D97-AF65-F5344CB8AC3E}">
        <p14:creationId xmlns:p14="http://schemas.microsoft.com/office/powerpoint/2010/main" val="76585675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pPr rtl="0"/>
            <a:fld id="{04267211-205D-47E8-9F29-7E4C01D43DC3}" type="slidenum">
              <a:rPr sz="800"/>
              <a:pPr/>
              <a:t>77</a:t>
            </a:fld>
            <a:endParaRPr sz="8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Protocols and Models</a:t>
            </a:r>
          </a:p>
          <a:p>
            <a:pPr rtl="0"/>
            <a:r>
              <a:rPr lang="pt-BR" b="0"/>
              <a:t>New Terms and Commands (Cont.)</a:t>
            </a:r>
          </a:p>
          <a:p>
            <a:endParaRPr lang="en-US" b="0" dirty="0"/>
          </a:p>
        </p:txBody>
      </p:sp>
    </p:spTree>
    <p:extLst>
      <p:ext uri="{BB962C8B-B14F-4D97-AF65-F5344CB8AC3E}">
        <p14:creationId xmlns:p14="http://schemas.microsoft.com/office/powerpoint/2010/main" val="3363122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pt-BR" sz="600">
                <a:solidFill>
                  <a:schemeClr val="accent5">
                    <a:lumMod val="50000"/>
                  </a:schemeClr>
                </a:solidFill>
                <a:latin typeface="+mn-lt"/>
                <a:ea typeface="+mn-ea"/>
                <a:cs typeface="CiscoSans Thin"/>
              </a:rPr>
              <a:t>© 2016 Cisco e/ou suas afiliadas. Todos os direitos reservados.   Confidencial da Cisco</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c15="http://schemas.microsoft.com/office/drawing/2012/chart" xmlns:c="http://schemas.openxmlformats.org/drawingml/2006/chart">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pt-BR" sz="600">
                <a:solidFill>
                  <a:schemeClr val="accent3">
                    <a:lumMod val="85000"/>
                  </a:schemeClr>
                </a:solidFill>
                <a:latin typeface="+mn-lt"/>
                <a:ea typeface="+mn-ea"/>
                <a:cs typeface="CiscoSans Thin"/>
              </a:rPr>
              <a:t>© 2016 Cisco e/ou suas afiliadas. Todos os direitos reservados.   Confidencial da Cisco</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13.xml"/><Relationship Id="rId5" Type="http://schemas.openxmlformats.org/officeDocument/2006/relationships/image" Target="../media/image15.png"/><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3.xml"/><Relationship Id="rId1" Type="http://schemas.openxmlformats.org/officeDocument/2006/relationships/tags" Target="../tags/tag15.xml"/><Relationship Id="rId4" Type="http://schemas.openxmlformats.org/officeDocument/2006/relationships/image" Target="../media/image17.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3.xml"/><Relationship Id="rId1" Type="http://schemas.openxmlformats.org/officeDocument/2006/relationships/tags" Target="../tags/tag16.xml"/><Relationship Id="rId4" Type="http://schemas.openxmlformats.org/officeDocument/2006/relationships/image" Target="../media/image18.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4.xml"/><Relationship Id="rId1" Type="http://schemas.openxmlformats.org/officeDocument/2006/relationships/tags" Target="../tags/tag17.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13.xml"/><Relationship Id="rId4" Type="http://schemas.openxmlformats.org/officeDocument/2006/relationships/image" Target="../media/image24.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4.xml"/><Relationship Id="rId1" Type="http://schemas.openxmlformats.org/officeDocument/2006/relationships/tags" Target="../tags/tag18.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4.xml"/><Relationship Id="rId1" Type="http://schemas.openxmlformats.org/officeDocument/2006/relationships/tags" Target="../tags/tag19.xml"/></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4.xml"/><Relationship Id="rId1" Type="http://schemas.openxmlformats.org/officeDocument/2006/relationships/tags" Target="../tags/tag20.xml"/></Relationships>
</file>

<file path=ppt/slides/_rels/slide5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4.xml"/><Relationship Id="rId1" Type="http://schemas.openxmlformats.org/officeDocument/2006/relationships/tags" Target="../tags/tag21.xml"/></Relationships>
</file>

<file path=ppt/slides/_rels/slide5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2.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4.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7.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8.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4.xml"/><Relationship Id="rId1" Type="http://schemas.openxmlformats.org/officeDocument/2006/relationships/tags" Target="../tags/tag2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7190087" cy="1666626"/>
          </a:xfrm>
        </p:spPr>
        <p:txBody>
          <a:bodyPr/>
          <a:lstStyle/>
          <a:p>
            <a:pPr rtl="0"/>
            <a:r>
              <a:rPr lang="pt-BR" sz="4000">
                <a:solidFill>
                  <a:schemeClr val="accent5">
                    <a:lumMod val="40000"/>
                    <a:lumOff val="60000"/>
                  </a:schemeClr>
                </a:solidFill>
              </a:rPr>
              <a:t>Módulo 3: Protocolos e Modelos</a:t>
            </a:r>
          </a:p>
        </p:txBody>
      </p:sp>
      <p:sp>
        <p:nvSpPr>
          <p:cNvPr id="5" name="Text Placeholder 4"/>
          <p:cNvSpPr>
            <a:spLocks noGrp="1"/>
          </p:cNvSpPr>
          <p:nvPr>
            <p:ph type="body" sz="quarter" idx="13"/>
          </p:nvPr>
        </p:nvSpPr>
        <p:spPr>
          <a:xfrm>
            <a:off x="469497" y="3127609"/>
            <a:ext cx="5925246" cy="299001"/>
          </a:xfrm>
        </p:spPr>
        <p:txBody>
          <a:bodyPr/>
          <a:lstStyle/>
          <a:p>
            <a:pPr rtl="0"/>
            <a:r>
              <a:rPr lang="pt-BR">
                <a:solidFill>
                  <a:schemeClr val="bg2">
                    <a:lumMod val="40000"/>
                    <a:lumOff val="60000"/>
                  </a:schemeClr>
                </a:solidFill>
              </a:rPr>
              <a:t>Material do instrutor</a:t>
            </a:r>
          </a:p>
        </p:txBody>
      </p:sp>
      <p:sp>
        <p:nvSpPr>
          <p:cNvPr id="7" name="Subtitle 6"/>
          <p:cNvSpPr>
            <a:spLocks noGrp="1"/>
          </p:cNvSpPr>
          <p:nvPr>
            <p:ph type="subTitle" idx="1"/>
          </p:nvPr>
        </p:nvSpPr>
        <p:spPr>
          <a:xfrm>
            <a:off x="469497" y="3809526"/>
            <a:ext cx="2368954" cy="902174"/>
          </a:xfrm>
        </p:spPr>
        <p:txBody>
          <a:bodyPr/>
          <a:lstStyle/>
          <a:p>
            <a:pPr rtl="0"/>
            <a:r>
              <a:rPr lang="pt-BR">
                <a:solidFill>
                  <a:schemeClr val="accent5">
                    <a:lumMod val="40000"/>
                    <a:lumOff val="60000"/>
                  </a:schemeClr>
                </a:solidFill>
              </a:rPr>
              <a:t>Introdução às redes v7.0 (ITN)</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0629"/>
            <a:ext cx="9144000" cy="757551"/>
          </a:xfrm>
        </p:spPr>
        <p:txBody>
          <a:bodyPr/>
          <a:lstStyle/>
          <a:p>
            <a:pPr rtl="0"/>
            <a:r>
              <a:rPr lang="pt-BR"/>
              <a:t>Instructor Materials – Module 3 Planning Guide</a:t>
            </a:r>
          </a:p>
        </p:txBody>
      </p:sp>
      <p:sp>
        <p:nvSpPr>
          <p:cNvPr id="4099" name="Rectangle 34"/>
          <p:cNvSpPr>
            <a:spLocks noGrp="1" noChangeArrowheads="1"/>
          </p:cNvSpPr>
          <p:nvPr>
            <p:ph idx="1"/>
          </p:nvPr>
        </p:nvSpPr>
        <p:spPr>
          <a:xfrm>
            <a:off x="145357" y="808180"/>
            <a:ext cx="8433035" cy="3885006"/>
          </a:xfrm>
        </p:spPr>
        <p:txBody>
          <a:bodyPr/>
          <a:lstStyle/>
          <a:p>
            <a:pPr marL="0" indent="0" rtl="0">
              <a:buNone/>
            </a:pPr>
            <a:r>
              <a:rPr lang="pt-BR" sz="1600"/>
              <a:t>This PowerPoint deck is divided in two parts:</a:t>
            </a:r>
          </a:p>
          <a:p>
            <a:pPr rtl="0">
              <a:buFont typeface="Arial" panose="020B0604020202020204" pitchFamily="34" charset="0"/>
              <a:buChar char="•"/>
            </a:pPr>
            <a:r>
              <a:rPr lang="pt-BR" sz="1600"/>
              <a:t>Instructor Planning Guide</a:t>
            </a:r>
          </a:p>
          <a:p>
            <a:pPr lvl="1" rtl="0">
              <a:buFont typeface="Arial" panose="020B0604020202020204" pitchFamily="34" charset="0"/>
              <a:buChar char="•"/>
            </a:pPr>
            <a:r>
              <a:rPr lang="pt-BR" sz="1600"/>
              <a:t>Information to help you become familiar with the module</a:t>
            </a:r>
          </a:p>
          <a:p>
            <a:pPr lvl="1" rtl="0">
              <a:buFont typeface="Arial" panose="020B0604020202020204" pitchFamily="34" charset="0"/>
              <a:buChar char="•"/>
            </a:pPr>
            <a:r>
              <a:rPr lang="pt-BR" sz="1600"/>
              <a:t>Teaching aids</a:t>
            </a:r>
          </a:p>
          <a:p>
            <a:pPr rtl="0">
              <a:buFont typeface="Arial" panose="020B0604020202020204" pitchFamily="34" charset="0"/>
              <a:buChar char="•"/>
            </a:pPr>
            <a:r>
              <a:rPr lang="pt-BR" sz="1600"/>
              <a:t>Instructor Class Presentation</a:t>
            </a:r>
          </a:p>
          <a:p>
            <a:pPr lvl="1" rtl="0">
              <a:buFont typeface="Arial" panose="020B0604020202020204" pitchFamily="34" charset="0"/>
              <a:buChar char="•"/>
            </a:pPr>
            <a:r>
              <a:rPr lang="pt-BR" sz="1600"/>
              <a:t>Optional slides that you can use in the classroom</a:t>
            </a:r>
          </a:p>
          <a:p>
            <a:pPr lvl="1" rtl="0">
              <a:buFont typeface="Arial" panose="020B0604020202020204" pitchFamily="34" charset="0"/>
              <a:buChar char="•"/>
            </a:pPr>
            <a:r>
              <a:rPr lang="pt-BR" sz="1600"/>
              <a:t>Begins on slide # 12</a:t>
            </a:r>
          </a:p>
          <a:p>
            <a:pPr marL="142875" lvl="1" indent="0" algn="ctr" rtl="0">
              <a:buNone/>
            </a:pPr>
            <a:r>
              <a:rPr lang="pt-BR" sz="1600" b="1"/>
              <a:t>Note</a:t>
            </a:r>
            <a:r>
              <a:rPr lang="pt-BR" sz="1600"/>
              <a:t>: Remove the Planning Guide from this presentation before sharing with anyone.</a:t>
            </a:r>
          </a:p>
          <a:p>
            <a:pPr marL="0" indent="0" rtl="0">
              <a:buNone/>
            </a:pPr>
            <a:r>
              <a:rPr lang="pt-BR" sz="1600" b="1">
                <a:solidFill>
                  <a:schemeClr val="accent4"/>
                </a:solidFill>
              </a:rPr>
              <a:t>For additional help and resources go to the Instructor Home Page and Course Resources for this course. You also can visit the professional development site on netacad.com, the official Cisco Networking Academy Facebook page, or Instructor Only FB group.</a:t>
            </a:r>
          </a:p>
        </p:txBody>
      </p:sp>
    </p:spTree>
    <p:custDataLst>
      <p:tags r:id="rId1"/>
    </p:custDataLst>
    <p:extLst>
      <p:ext uri="{BB962C8B-B14F-4D97-AF65-F5344CB8AC3E}">
        <p14:creationId xmlns:p14="http://schemas.microsoft.com/office/powerpoint/2010/main" val="298244321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pPr rtl="0"/>
            <a:r>
              <a:rPr lang="pt-BR"/>
              <a:t>To facilitate learning, the following features within the GUI may be included in this module:</a:t>
            </a:r>
          </a:p>
          <a:p>
            <a:endParaRPr lang="en-US" dirty="0"/>
          </a:p>
          <a:p>
            <a:endParaRPr lang="en-US" dirty="0"/>
          </a:p>
          <a:p>
            <a:pPr marL="0" indent="0">
              <a:buNone/>
            </a:pPr>
            <a:endParaRPr lang="en-US" dirty="0"/>
          </a:p>
        </p:txBody>
      </p:sp>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pPr rtl="0"/>
            <a:r>
              <a:rPr lang="pt-BR"/>
              <a:t>What to Expect in this Module</a:t>
            </a:r>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nvGraphicFramePr>
        <p:xfrm>
          <a:off x="301658" y="1145310"/>
          <a:ext cx="8557528" cy="300649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pPr rtl="0"/>
                      <a:r>
                        <a:rPr lang="pt-BR"/>
                        <a:t>Feature</a:t>
                      </a:r>
                    </a:p>
                  </a:txBody>
                  <a:tcPr/>
                </a:tc>
                <a:tc>
                  <a:txBody>
                    <a:bodyPr/>
                    <a:lstStyle/>
                    <a:p>
                      <a:pPr rtl="0"/>
                      <a:r>
                        <a:rPr lang="pt-BR"/>
                        <a:t>Description</a:t>
                      </a:r>
                    </a:p>
                  </a:txBody>
                  <a:tcPr/>
                </a:tc>
                <a:extLst>
                  <a:ext uri="{0D108BD9-81ED-4DB2-BD59-A6C34878D82A}">
                    <a16:rowId xmlns:a16="http://schemas.microsoft.com/office/drawing/2014/main" val="367710602"/>
                  </a:ext>
                </a:extLst>
              </a:tr>
              <a:tr h="331556">
                <a:tc>
                  <a:txBody>
                    <a:bodyPr/>
                    <a:lstStyle/>
                    <a:p>
                      <a:pPr algn="l" rtl="0" fontAlgn="b"/>
                      <a:r>
                        <a:rPr lang="pt-BR" sz="1400" b="0" i="0" u="none" strike="noStrike">
                          <a:solidFill>
                            <a:srgbClr val="000000"/>
                          </a:solidFill>
                          <a:effectLst/>
                          <a:latin typeface="+mn-lt"/>
                        </a:rPr>
                        <a:t>Animations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a:t>Expose learners to new skills and concepts.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pt-BR" sz="1400" b="0" i="0" u="none" strike="noStrike">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a:t>Expose learners to new skills and concepts.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pt-BR" sz="1400" b="0" i="0" u="none" strike="noStrike">
                          <a:solidFill>
                            <a:srgbClr val="000000"/>
                          </a:solidFill>
                          <a:effectLst/>
                          <a:latin typeface="+mn-lt"/>
                        </a:rPr>
                        <a:t>Check Your Understanding(CYU)</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pt-BR"/>
                        <a:t>Per topic online quiz to help learners gauge content understanding.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pt-BR" sz="1400" b="0" i="0" u="none" strike="noStrike">
                          <a:solidFill>
                            <a:srgbClr val="000000"/>
                          </a:solidFill>
                          <a:effectLst/>
                          <a:latin typeface="+mn-lt"/>
                        </a:rPr>
                        <a:t>Interactive Activities</a:t>
                      </a:r>
                    </a:p>
                  </a:txBody>
                  <a:tcPr marL="9525" marR="9525" marT="9525" marB="0" anchor="b"/>
                </a:tc>
                <a:tc>
                  <a:txBody>
                    <a:bodyPr/>
                    <a:lstStyle/>
                    <a:p>
                      <a:pPr rtl="0"/>
                      <a:r>
                        <a:rPr lang="pt-BR"/>
                        <a:t>A variety of formats to help learners gauge content understanding.</a:t>
                      </a:r>
                    </a:p>
                  </a:txBody>
                  <a:tcPr/>
                </a:tc>
                <a:extLst>
                  <a:ext uri="{0D108BD9-81ED-4DB2-BD59-A6C34878D82A}">
                    <a16:rowId xmlns:a16="http://schemas.microsoft.com/office/drawing/2014/main" val="3454703549"/>
                  </a:ext>
                </a:extLst>
              </a:tr>
              <a:tr h="215293">
                <a:tc>
                  <a:txBody>
                    <a:bodyPr/>
                    <a:lstStyle/>
                    <a:p>
                      <a:pPr algn="l" rtl="0" fontAlgn="b"/>
                      <a:r>
                        <a:rPr lang="pt-BR" sz="1400" b="0" i="0" u="none" strike="noStrike">
                          <a:solidFill>
                            <a:srgbClr val="000000"/>
                          </a:solidFill>
                          <a:effectLst/>
                          <a:latin typeface="+mn-lt"/>
                        </a:rPr>
                        <a:t>Syntax Checker</a:t>
                      </a:r>
                    </a:p>
                  </a:txBody>
                  <a:tcPr marL="9525" marR="9525" marT="9525" marB="0" anchor="b"/>
                </a:tc>
                <a:tc>
                  <a:txBody>
                    <a:bodyPr/>
                    <a:lstStyle/>
                    <a:p>
                      <a:pPr rtl="0"/>
                      <a:r>
                        <a:rPr lang="pt-BR"/>
                        <a:t>Small simulations that expose learners to Cisco command line to practice configuration skills.</a:t>
                      </a:r>
                    </a:p>
                  </a:txBody>
                  <a:tcPr/>
                </a:tc>
                <a:extLst>
                  <a:ext uri="{0D108BD9-81ED-4DB2-BD59-A6C34878D82A}">
                    <a16:rowId xmlns:a16="http://schemas.microsoft.com/office/drawing/2014/main" val="2195331658"/>
                  </a:ext>
                </a:extLst>
              </a:tr>
              <a:tr h="265091">
                <a:tc>
                  <a:txBody>
                    <a:bodyPr/>
                    <a:lstStyle/>
                    <a:p>
                      <a:pPr algn="l" rtl="0" fontAlgn="b"/>
                      <a:r>
                        <a:rPr lang="pt-BR" sz="1400" b="0" i="0" u="none" strike="noStrike">
                          <a:solidFill>
                            <a:srgbClr val="000000"/>
                          </a:solidFill>
                          <a:effectLst/>
                          <a:latin typeface="+mn-lt"/>
                        </a:rPr>
                        <a:t>PT Activity</a:t>
                      </a:r>
                    </a:p>
                  </a:txBody>
                  <a:tcPr marL="9525" marR="9525" marT="9525" marB="0" anchor="b"/>
                </a:tc>
                <a:tc>
                  <a:txBody>
                    <a:bodyPr/>
                    <a:lstStyle/>
                    <a:p>
                      <a:pPr rtl="0"/>
                      <a:r>
                        <a:rPr lang="pt-BR"/>
                        <a:t>Simulation and modeling activities designed to explore, acquire, reinforce, and expand skills.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nvPr>
        </p:nvGraphicFramePr>
        <p:xfrm>
          <a:off x="106756" y="1279280"/>
          <a:ext cx="8595235" cy="195072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rtl="0" fontAlgn="b"/>
                      <a:r>
                        <a:rPr lang="pt-BR" sz="1400" b="1" i="0" u="none" strike="noStrike">
                          <a:solidFill>
                            <a:schemeClr val="bg1"/>
                          </a:solidFill>
                          <a:effectLst/>
                          <a:latin typeface="+mn-lt"/>
                        </a:rPr>
                        <a:t>Feature</a:t>
                      </a:r>
                    </a:p>
                  </a:txBody>
                  <a:tcPr marL="9525" marR="9525" marT="9525" marB="0" anchor="b"/>
                </a:tc>
                <a:tc>
                  <a:txBody>
                    <a:bodyPr/>
                    <a:lstStyle/>
                    <a:p>
                      <a:pPr rtl="0"/>
                      <a:r>
                        <a:rPr lang="pt-BR"/>
                        <a:t>Description</a:t>
                      </a:r>
                    </a:p>
                  </a:txBody>
                  <a:tcPr/>
                </a:tc>
                <a:extLst>
                  <a:ext uri="{0D108BD9-81ED-4DB2-BD59-A6C34878D82A}">
                    <a16:rowId xmlns:a16="http://schemas.microsoft.com/office/drawing/2014/main" val="3768427975"/>
                  </a:ext>
                </a:extLst>
              </a:tr>
              <a:tr h="265091">
                <a:tc>
                  <a:txBody>
                    <a:bodyPr/>
                    <a:lstStyle/>
                    <a:p>
                      <a:pPr algn="l" rtl="0" fontAlgn="b"/>
                      <a:r>
                        <a:rPr lang="pt-BR" sz="1400" b="0" i="0" u="none" strike="noStrike">
                          <a:solidFill>
                            <a:srgbClr val="000000"/>
                          </a:solidFill>
                          <a:effectLst/>
                          <a:latin typeface="+mn-lt"/>
                        </a:rPr>
                        <a:t>Hands-On Labs</a:t>
                      </a:r>
                    </a:p>
                  </a:txBody>
                  <a:tcPr marL="9525" marR="9525" marT="9525" marB="0" anchor="b"/>
                </a:tc>
                <a:tc>
                  <a:txBody>
                    <a:bodyPr/>
                    <a:lstStyle/>
                    <a:p>
                      <a:pPr rtl="0"/>
                      <a:r>
                        <a:rPr lang="pt-BR"/>
                        <a:t>Labs designed for working with physical equipment.</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pt-BR" sz="1400" b="0" i="0" u="none" strike="noStrike">
                          <a:solidFill>
                            <a:srgbClr val="000000"/>
                          </a:solidFill>
                          <a:effectLst/>
                          <a:latin typeface="+mn-lt"/>
                        </a:rPr>
                        <a:t>Class Activities</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pt-BR"/>
                        <a:t>These are found on the Instructor Resources page. Class Activities are designed to facilitate learning, class discussion, and collaboration.</a:t>
                      </a:r>
                    </a:p>
                  </a:txBody>
                  <a:tcPr/>
                </a:tc>
                <a:extLst>
                  <a:ext uri="{0D108BD9-81ED-4DB2-BD59-A6C34878D82A}">
                    <a16:rowId xmlns:a16="http://schemas.microsoft.com/office/drawing/2014/main" val="1125566603"/>
                  </a:ext>
                </a:extLst>
              </a:tr>
              <a:tr h="265091">
                <a:tc>
                  <a:txBody>
                    <a:bodyPr/>
                    <a:lstStyle/>
                    <a:p>
                      <a:pPr algn="l" rtl="0" fontAlgn="b"/>
                      <a:r>
                        <a:rPr lang="pt-BR" sz="1400" b="0" i="0" u="none" strike="noStrike">
                          <a:solidFill>
                            <a:srgbClr val="000000"/>
                          </a:solidFill>
                          <a:effectLst/>
                          <a:latin typeface="+mn-lt"/>
                        </a:rPr>
                        <a:t>Module Quizzes</a:t>
                      </a:r>
                    </a:p>
                  </a:txBody>
                  <a:tcPr marL="9525" marR="9525" marT="9525" marB="0" anchor="b"/>
                </a:tc>
                <a:tc>
                  <a:txBody>
                    <a:bodyPr/>
                    <a:lstStyle/>
                    <a:p>
                      <a:pPr rtl="0"/>
                      <a:r>
                        <a:rPr lang="pt-BR"/>
                        <a:t>Self-assessments that integrate concepts and skills learned throughout the series of topics presented in the module.</a:t>
                      </a:r>
                    </a:p>
                  </a:txBody>
                  <a:tcPr/>
                </a:tc>
                <a:extLst>
                  <a:ext uri="{0D108BD9-81ED-4DB2-BD59-A6C34878D82A}">
                    <a16:rowId xmlns:a16="http://schemas.microsoft.com/office/drawing/2014/main" val="831502776"/>
                  </a:ext>
                </a:extLst>
              </a:tr>
              <a:tr h="265091">
                <a:tc>
                  <a:txBody>
                    <a:bodyPr/>
                    <a:lstStyle/>
                    <a:p>
                      <a:pPr algn="l" rtl="0" fontAlgn="b"/>
                      <a:r>
                        <a:rPr lang="pt-BR" sz="1400" b="0" i="0" u="none" strike="noStrike">
                          <a:solidFill>
                            <a:srgbClr val="000000"/>
                          </a:solidFill>
                          <a:effectLst/>
                          <a:latin typeface="+mn-lt"/>
                        </a:rPr>
                        <a:t>Module Summary</a:t>
                      </a:r>
                    </a:p>
                  </a:txBody>
                  <a:tcPr marL="9525" marR="9525" marT="9525" marB="0" anchor="b"/>
                </a:tc>
                <a:tc>
                  <a:txBody>
                    <a:bodyPr/>
                    <a:lstStyle/>
                    <a:p>
                      <a:pPr rtl="0"/>
                      <a:r>
                        <a:rPr lang="pt-BR"/>
                        <a:t>Briefly recaps module content.</a:t>
                      </a:r>
                    </a:p>
                  </a:txBody>
                  <a:tcPr/>
                </a:tc>
                <a:extLst>
                  <a:ext uri="{0D108BD9-81ED-4DB2-BD59-A6C34878D82A}">
                    <a16:rowId xmlns:a16="http://schemas.microsoft.com/office/drawing/2014/main" val="2267046280"/>
                  </a:ext>
                </a:extLst>
              </a:tr>
            </a:tbl>
          </a:graphicData>
        </a:graphic>
      </p:graphicFrame>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pPr rtl="0"/>
            <a:r>
              <a:rPr lang="pt-BR"/>
              <a:t>What to Expect in this Module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r>
              <a:rPr lang="pt-BR"/>
              <a:t>To facilitate learning, the following features may be included in this module:</a:t>
            </a:r>
          </a:p>
          <a:p>
            <a:pPr marL="0" indent="0">
              <a:buNone/>
            </a:pPr>
            <a:endParaRPr lang="en-US" dirty="0"/>
          </a:p>
          <a:p>
            <a:pPr marL="0" indent="0">
              <a:buFont typeface="Wingdings" panose="05000000000000000000" pitchFamily="2" charset="2"/>
              <a:buNone/>
            </a:pPr>
            <a:endParaRPr lang="en-US" dirty="0"/>
          </a:p>
        </p:txBody>
      </p:sp>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rtl="0" eaLnBrk="1" hangingPunct="1"/>
            <a:r>
              <a:rPr lang="pt-BR"/>
              <a:t>Check Your Understanding</a:t>
            </a:r>
          </a:p>
        </p:txBody>
      </p:sp>
      <p:sp>
        <p:nvSpPr>
          <p:cNvPr id="7171" name="Rectangle 34"/>
          <p:cNvSpPr>
            <a:spLocks noGrp="1" noChangeArrowheads="1"/>
          </p:cNvSpPr>
          <p:nvPr>
            <p:ph idx="1"/>
          </p:nvPr>
        </p:nvSpPr>
        <p:spPr>
          <a:xfrm>
            <a:off x="145357" y="965201"/>
            <a:ext cx="8878570" cy="3643747"/>
          </a:xfrm>
        </p:spPr>
        <p:txBody>
          <a:bodyPr/>
          <a:lstStyle/>
          <a:p>
            <a:pPr rtl="0">
              <a:spcBef>
                <a:spcPct val="30000"/>
              </a:spcBef>
              <a:buFont typeface="Arial" panose="020B0604020202020204" pitchFamily="34" charset="0"/>
              <a:buChar char="•"/>
            </a:pPr>
            <a:r>
              <a:rPr lang="pt-BR" sz="1600"/>
              <a:t>Check Your Understanding activities are designed to let students quickly determine if they understand the content and can proceed, or if they need to review. </a:t>
            </a:r>
          </a:p>
          <a:p>
            <a:pPr rtl="0">
              <a:spcBef>
                <a:spcPct val="30000"/>
              </a:spcBef>
              <a:buFont typeface="Arial" panose="020B0604020202020204" pitchFamily="34" charset="0"/>
              <a:buChar char="•"/>
            </a:pPr>
            <a:r>
              <a:rPr lang="pt-BR" sz="1600"/>
              <a:t>Check Your Understanding activities </a:t>
            </a:r>
            <a:r>
              <a:rPr lang="pt-BR" sz="1600" b="1" i="1"/>
              <a:t>do not </a:t>
            </a:r>
            <a:r>
              <a:rPr lang="pt-BR" sz="1600"/>
              <a:t>affect student grades.</a:t>
            </a:r>
          </a:p>
          <a:p>
            <a:pPr rtl="0">
              <a:spcBef>
                <a:spcPct val="30000"/>
              </a:spcBef>
              <a:buFont typeface="Arial" panose="020B0604020202020204" pitchFamily="34" charset="0"/>
              <a:buChar char="•"/>
            </a:pPr>
            <a:r>
              <a:rPr lang="pt-BR" sz="1600"/>
              <a:t>There are no separate slides for these activities in the PPT. They are listed in the notes area of the slide that appears before these activities.</a:t>
            </a:r>
          </a:p>
          <a:p>
            <a:pPr marL="0" indent="0" eaLnBrk="1" hangingPunct="1">
              <a:spcBef>
                <a:spcPct val="30000"/>
              </a:spcBef>
              <a:buNone/>
            </a:pPr>
            <a:endParaRPr lang="en-US" dirty="0"/>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3447270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3"/>
            <a:ext cx="9144000" cy="568207"/>
          </a:xfrm>
        </p:spPr>
        <p:txBody>
          <a:bodyPr/>
          <a:lstStyle/>
          <a:p>
            <a:pPr rtl="0" eaLnBrk="1" hangingPunct="1"/>
            <a:r>
              <a:rPr lang="pt-BR"/>
              <a:t>Module 3: Activities</a:t>
            </a:r>
          </a:p>
        </p:txBody>
      </p:sp>
      <p:sp>
        <p:nvSpPr>
          <p:cNvPr id="6147" name="Rectangle 34"/>
          <p:cNvSpPr>
            <a:spLocks noGrp="1" noChangeArrowheads="1"/>
          </p:cNvSpPr>
          <p:nvPr>
            <p:ph idx="1"/>
          </p:nvPr>
        </p:nvSpPr>
        <p:spPr>
          <a:xfrm>
            <a:off x="136631" y="609600"/>
            <a:ext cx="8695135" cy="348414"/>
          </a:xfrm>
        </p:spPr>
        <p:txBody>
          <a:bodyPr/>
          <a:lstStyle/>
          <a:p>
            <a:pPr marL="0" indent="0" rtl="0">
              <a:spcBef>
                <a:spcPct val="30000"/>
              </a:spcBef>
              <a:buNone/>
            </a:pPr>
            <a:r>
              <a:rPr lang="pt-BR"/>
              <a:t>What activities are associated with this module?</a:t>
            </a: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1374137534"/>
              </p:ext>
            </p:extLst>
          </p:nvPr>
        </p:nvGraphicFramePr>
        <p:xfrm>
          <a:off x="369489" y="988376"/>
          <a:ext cx="8229418" cy="3137049"/>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382">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pt-BR" sz="1200"/>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200"/>
                        <a:t>Activity Type</a:t>
                      </a:r>
                    </a:p>
                  </a:txBody>
                  <a:tcPr marL="68580" marR="68580" marT="34290" marB="34290" anchor="ctr"/>
                </a:tc>
                <a:tc>
                  <a:txBody>
                    <a:bodyPr/>
                    <a:lstStyle/>
                    <a:p>
                      <a:pPr rtl="0"/>
                      <a:r>
                        <a:rPr lang="pt-BR" sz="1200"/>
                        <a:t>Activity Name</a:t>
                      </a:r>
                    </a:p>
                  </a:txBody>
                  <a:tcPr marL="68580" marR="68580" marT="34290" marB="34290" anchor="ctr"/>
                </a:tc>
                <a:tc>
                  <a:txBody>
                    <a:bodyPr/>
                    <a:lstStyle/>
                    <a:p>
                      <a:pPr rtl="0"/>
                      <a:r>
                        <a:rPr lang="pt-BR" sz="1200"/>
                        <a:t>Optional?</a:t>
                      </a:r>
                    </a:p>
                  </a:txBody>
                  <a:tcPr marL="68580" marR="68580" marT="34290" marB="34290" anchor="ctr"/>
                </a:tc>
                <a:extLst>
                  <a:ext uri="{0D108BD9-81ED-4DB2-BD59-A6C34878D82A}">
                    <a16:rowId xmlns:a16="http://schemas.microsoft.com/office/drawing/2014/main" val="10000"/>
                  </a:ext>
                </a:extLst>
              </a:tr>
              <a:tr h="236179">
                <a:tc>
                  <a:txBody>
                    <a:bodyPr/>
                    <a:lstStyle/>
                    <a:p>
                      <a:pPr algn="ctr" rtl="0"/>
                      <a:r>
                        <a:rPr lang="pt-BR" sz="1100"/>
                        <a:t>3.0.3</a:t>
                      </a:r>
                    </a:p>
                  </a:txBody>
                  <a:tcPr marL="68580" marR="68580" marT="34290" marB="3429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sz="1100"/>
                        <a:t>Class</a:t>
                      </a:r>
                      <a:r>
                        <a:rPr lang="pt-BR" sz="1100" baseline="0"/>
                        <a:t> Activity</a:t>
                      </a:r>
                    </a:p>
                  </a:txBody>
                  <a:tcPr marL="68580" marR="68580" marT="34290" marB="34290" anchor="ctr"/>
                </a:tc>
                <a:tc>
                  <a:txBody>
                    <a:bodyPr/>
                    <a:lstStyle/>
                    <a:p>
                      <a:pPr rtl="0"/>
                      <a:r>
                        <a:rPr lang="pt-BR" sz="1100" b="0"/>
                        <a:t>Design a Communications System</a:t>
                      </a:r>
                    </a:p>
                  </a:txBody>
                  <a:tcPr marL="68580" marR="68580" marT="34290" marB="34290" anchor="ctr"/>
                </a:tc>
                <a:tc>
                  <a:txBody>
                    <a:bodyPr/>
                    <a:lstStyle/>
                    <a:p>
                      <a:pPr rtl="0"/>
                      <a:r>
                        <a:rPr lang="pt-BR" sz="1100"/>
                        <a:t>Recommended</a:t>
                      </a:r>
                    </a:p>
                  </a:txBody>
                  <a:tcPr marL="68580" marR="68580" marT="34290" marB="34290" anchor="ctr"/>
                </a:tc>
                <a:extLst>
                  <a:ext uri="{0D108BD9-81ED-4DB2-BD59-A6C34878D82A}">
                    <a16:rowId xmlns:a16="http://schemas.microsoft.com/office/drawing/2014/main" val="10001"/>
                  </a:ext>
                </a:extLst>
              </a:tr>
              <a:tr h="236179">
                <a:tc>
                  <a:txBody>
                    <a:bodyPr/>
                    <a:lstStyle/>
                    <a:p>
                      <a:pPr algn="ctr" rtl="0"/>
                      <a:r>
                        <a:rPr lang="pt-BR" sz="1100"/>
                        <a:t>3.1.1</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Devices in a Bubble</a:t>
                      </a:r>
                    </a:p>
                  </a:txBody>
                  <a:tcPr marL="68580" marR="68580" marT="34290" marB="34290" anchor="ctr"/>
                </a:tc>
                <a:tc>
                  <a:txBody>
                    <a:bodyPr/>
                    <a:lstStyle/>
                    <a:p>
                      <a:pPr rtl="0"/>
                      <a:r>
                        <a:rPr lang="pt-BR" sz="1100"/>
                        <a:t>Recommended</a:t>
                      </a:r>
                    </a:p>
                  </a:txBody>
                  <a:tcPr marL="68580" marR="68580" marT="34290" marB="34290" anchor="ctr"/>
                </a:tc>
                <a:extLst>
                  <a:ext uri="{0D108BD9-81ED-4DB2-BD59-A6C34878D82A}">
                    <a16:rowId xmlns:a16="http://schemas.microsoft.com/office/drawing/2014/main" val="3039725069"/>
                  </a:ext>
                </a:extLst>
              </a:tr>
              <a:tr h="236179">
                <a:tc>
                  <a:txBody>
                    <a:bodyPr/>
                    <a:lstStyle/>
                    <a:p>
                      <a:pPr algn="ctr" rtl="0"/>
                      <a:r>
                        <a:rPr lang="pt-BR" sz="1100"/>
                        <a:t>3.1.12</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a:t>Check Your Understanding</a:t>
                      </a:r>
                    </a:p>
                  </a:txBody>
                  <a:tcPr marL="68580" marR="68580" marT="34290" marB="34290" anchor="ctr"/>
                </a:tc>
                <a:tc>
                  <a:txBody>
                    <a:bodyPr/>
                    <a:lstStyle/>
                    <a:p>
                      <a:pPr rtl="0"/>
                      <a:r>
                        <a:rPr lang="pt-BR" sz="1100"/>
                        <a:t>The Rules</a:t>
                      </a:r>
                    </a:p>
                  </a:txBody>
                  <a:tcPr marL="68580" marR="68580" marT="34290" marB="34290" anchor="ctr"/>
                </a:tc>
                <a:tc>
                  <a:txBody>
                    <a:bodyPr/>
                    <a:lstStyle/>
                    <a:p>
                      <a:pPr rtl="0"/>
                      <a:r>
                        <a:rPr lang="pt-BR" sz="1100"/>
                        <a:t>Recommended</a:t>
                      </a:r>
                    </a:p>
                  </a:txBody>
                  <a:tcPr marL="68580" marR="68580" marT="34290" marB="34290" anchor="ctr"/>
                </a:tc>
                <a:extLst>
                  <a:ext uri="{0D108BD9-81ED-4DB2-BD59-A6C34878D82A}">
                    <a16:rowId xmlns:a16="http://schemas.microsoft.com/office/drawing/2014/main" val="1814984366"/>
                  </a:ext>
                </a:extLst>
              </a:tr>
              <a:tr h="236179">
                <a:tc>
                  <a:txBody>
                    <a:bodyPr/>
                    <a:lstStyle/>
                    <a:p>
                      <a:pPr algn="ctr" rtl="0"/>
                      <a:r>
                        <a:rPr lang="pt-BR" sz="1100"/>
                        <a:t>3.2.4</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a:t>Check Your Understanding</a:t>
                      </a:r>
                    </a:p>
                  </a:txBody>
                  <a:tcPr marL="68580" marR="68580" marT="34290" marB="34290" anchor="ctr"/>
                </a:tc>
                <a:tc>
                  <a:txBody>
                    <a:bodyPr/>
                    <a:lstStyle/>
                    <a:p>
                      <a:pPr rtl="0"/>
                      <a:r>
                        <a:rPr lang="pt-BR" sz="1100"/>
                        <a:t>Protocols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1074708435"/>
                  </a:ext>
                </a:extLst>
              </a:tr>
              <a:tr h="236179">
                <a:tc>
                  <a:txBody>
                    <a:bodyPr/>
                    <a:lstStyle/>
                    <a:p>
                      <a:pPr algn="ctr" rtl="0"/>
                      <a:r>
                        <a:rPr lang="pt-BR" sz="1100"/>
                        <a:t>3.3.6</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Check Your Understanding</a:t>
                      </a:r>
                    </a:p>
                  </a:txBody>
                  <a:tcPr marL="68580" marR="68580" marT="34290" marB="34290" anchor="ctr"/>
                </a:tc>
                <a:tc>
                  <a:txBody>
                    <a:bodyPr/>
                    <a:lstStyle/>
                    <a:p>
                      <a:pPr rtl="0"/>
                      <a:r>
                        <a:rPr lang="pt-BR" sz="1100"/>
                        <a:t>Protocol</a:t>
                      </a:r>
                      <a:r>
                        <a:rPr lang="pt-BR" sz="1100" baseline="0"/>
                        <a:t> Suites</a:t>
                      </a:r>
                    </a:p>
                  </a:txBody>
                  <a:tcPr marL="68580" marR="68580" marT="34290" marB="34290" anchor="ctr"/>
                </a:tc>
                <a:tc>
                  <a:txBody>
                    <a:bodyPr/>
                    <a:lstStyle/>
                    <a:p>
                      <a:pPr rtl="0"/>
                      <a:r>
                        <a:rPr lang="pt-BR" sz="1100"/>
                        <a:t>Recommended</a:t>
                      </a:r>
                    </a:p>
                  </a:txBody>
                  <a:tcPr marL="68580" marR="68580" marT="34290" marB="34290" anchor="ctr"/>
                </a:tc>
                <a:extLst>
                  <a:ext uri="{0D108BD9-81ED-4DB2-BD59-A6C34878D82A}">
                    <a16:rowId xmlns:a16="http://schemas.microsoft.com/office/drawing/2014/main" val="10006"/>
                  </a:ext>
                </a:extLst>
              </a:tr>
              <a:tr h="236179">
                <a:tc>
                  <a:txBody>
                    <a:bodyPr/>
                    <a:lstStyle/>
                    <a:p>
                      <a:pPr algn="ctr" rtl="0"/>
                      <a:r>
                        <a:rPr lang="pt-BR" sz="1100"/>
                        <a:t>3.4.4</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Lab</a:t>
                      </a:r>
                    </a:p>
                  </a:txBody>
                  <a:tcPr marL="68580" marR="68580" marT="34290" marB="34290" anchor="ctr"/>
                </a:tc>
                <a:tc>
                  <a:txBody>
                    <a:bodyPr/>
                    <a:lstStyle/>
                    <a:p>
                      <a:pPr rtl="0"/>
                      <a:r>
                        <a:rPr lang="pt-BR" sz="1100"/>
                        <a:t>Research Networking Standards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58585B"/>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3534977188"/>
                  </a:ext>
                </a:extLst>
              </a:tr>
              <a:tr h="236179">
                <a:tc>
                  <a:txBody>
                    <a:bodyPr/>
                    <a:lstStyle/>
                    <a:p>
                      <a:pPr algn="ctr" rtl="0"/>
                      <a:r>
                        <a:rPr lang="pt-BR" sz="1100"/>
                        <a:t>3.4.5</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Check Your Understanding</a:t>
                      </a:r>
                    </a:p>
                  </a:txBody>
                  <a:tcPr marL="68580" marR="68580" marT="34290" marB="34290" anchor="ctr"/>
                </a:tc>
                <a:tc>
                  <a:txBody>
                    <a:bodyPr/>
                    <a:lstStyle/>
                    <a:p>
                      <a:pPr rtl="0"/>
                      <a:r>
                        <a:rPr lang="pt-BR" sz="1100"/>
                        <a:t>Standards</a:t>
                      </a:r>
                      <a:r>
                        <a:rPr lang="pt-BR" sz="1100" baseline="0"/>
                        <a:t> Organizations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1161252496"/>
                  </a:ext>
                </a:extLst>
              </a:tr>
              <a:tr h="208254">
                <a:tc>
                  <a:txBody>
                    <a:bodyPr/>
                    <a:lstStyle/>
                    <a:p>
                      <a:pPr algn="ctr" rtl="0"/>
                      <a:r>
                        <a:rPr lang="pt-BR" sz="1100"/>
                        <a:t>3.5.5</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Packet Tracer</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b="0"/>
                        <a:t>Investigate the TCP/IP and OSI Models in Action</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2582900979"/>
                  </a:ext>
                </a:extLst>
              </a:tr>
              <a:tr h="236179">
                <a:tc>
                  <a:txBody>
                    <a:bodyPr/>
                    <a:lstStyle/>
                    <a:p>
                      <a:pPr algn="ctr" rtl="0"/>
                      <a:r>
                        <a:rPr lang="pt-BR" sz="1100"/>
                        <a:t>3.6.6</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Data Encapsulation</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3522544737"/>
                  </a:ext>
                </a:extLst>
              </a:tr>
              <a:tr h="236179">
                <a:tc>
                  <a:txBody>
                    <a:bodyPr/>
                    <a:lstStyle/>
                    <a:p>
                      <a:pPr algn="ctr" rtl="0"/>
                      <a:r>
                        <a:rPr lang="pt-BR" sz="1100"/>
                        <a:t>3.7.9</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a:t>Lab</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Install Wireshark</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230909535"/>
                  </a:ext>
                </a:extLst>
              </a:tr>
              <a:tr h="236179">
                <a:tc>
                  <a:txBody>
                    <a:bodyPr/>
                    <a:lstStyle/>
                    <a:p>
                      <a:pPr marL="0" marR="0" indent="0" algn="ctr" defTabSz="685777" rtl="0" eaLnBrk="1" fontAlgn="auto" latinLnBrk="0" hangingPunct="1">
                        <a:lnSpc>
                          <a:spcPct val="100000"/>
                        </a:lnSpc>
                        <a:spcBef>
                          <a:spcPts val="0"/>
                        </a:spcBef>
                        <a:spcAft>
                          <a:spcPts val="0"/>
                        </a:spcAft>
                        <a:buClrTx/>
                        <a:buSzTx/>
                        <a:buFontTx/>
                        <a:buNone/>
                        <a:tabLst/>
                        <a:defRPr/>
                      </a:pPr>
                      <a:r>
                        <a:rPr lang="pt-BR" sz="1100"/>
                        <a:t>3.7.10</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Lab</a:t>
                      </a:r>
                    </a:p>
                  </a:txBody>
                  <a:tcPr marL="68580" marR="68580" marT="34290" marB="34290" anchor="ctr"/>
                </a:tc>
                <a:tc>
                  <a:txBody>
                    <a:bodyPr/>
                    <a:lstStyle/>
                    <a:p>
                      <a:pPr rtl="0"/>
                      <a:r>
                        <a:rPr lang="pt-BR" sz="1100" b="0"/>
                        <a:t>Use Wireshark to View Network Traffic</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1464881506"/>
                  </a:ext>
                </a:extLst>
              </a:tr>
              <a:tr h="237247">
                <a:tc>
                  <a:txBody>
                    <a:bodyPr/>
                    <a:lstStyle/>
                    <a:p>
                      <a:pPr algn="ctr" rtl="0"/>
                      <a:r>
                        <a:rPr lang="pt-BR" sz="1100"/>
                        <a:t>3.7.11</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pt-BR" sz="1100"/>
                        <a:t>Data</a:t>
                      </a:r>
                      <a:r>
                        <a:rPr lang="pt-BR" sz="1100" baseline="0"/>
                        <a:t> Access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pt-BR" sz="1100" u="none" strike="noStrike" kern="1200" cap="none" spc="0" normalizeH="0" baseline="0">
                          <a:ln>
                            <a:noFill/>
                          </a:ln>
                          <a:effectLst/>
                          <a:uLnTx/>
                          <a:uFillTx/>
                        </a:rPr>
                        <a:t>Recommended</a:t>
                      </a:r>
                    </a:p>
                  </a:txBody>
                  <a:tcPr marL="68580" marR="68580" marT="34290" marB="34290" anchor="ctr"/>
                </a:tc>
                <a:extLst>
                  <a:ext uri="{0D108BD9-81ED-4DB2-BD59-A6C34878D82A}">
                    <a16:rowId xmlns:a16="http://schemas.microsoft.com/office/drawing/2014/main" val="3001172460"/>
                  </a:ext>
                </a:extLst>
              </a:tr>
            </a:tbl>
          </a:graphicData>
        </a:graphic>
      </p:graphicFrame>
    </p:spTree>
    <p:custDataLst>
      <p:tags r:id="rId1"/>
    </p:custDataLst>
    <p:extLst>
      <p:ext uri="{BB962C8B-B14F-4D97-AF65-F5344CB8AC3E}">
        <p14:creationId xmlns:p14="http://schemas.microsoft.com/office/powerpoint/2010/main" val="794653849"/>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pt-BR"/>
              <a:t>Module 3: Best Practices (Cont.)</a:t>
            </a:r>
          </a:p>
        </p:txBody>
      </p:sp>
      <p:sp>
        <p:nvSpPr>
          <p:cNvPr id="11266" name="Rectangle 34"/>
          <p:cNvSpPr>
            <a:spLocks noGrp="1" noChangeArrowheads="1"/>
          </p:cNvSpPr>
          <p:nvPr>
            <p:ph idx="1"/>
          </p:nvPr>
        </p:nvSpPr>
        <p:spPr>
          <a:xfrm>
            <a:off x="145358" y="685800"/>
            <a:ext cx="8853286" cy="4107098"/>
          </a:xfrm>
        </p:spPr>
        <p:txBody>
          <a:bodyPr/>
          <a:lstStyle/>
          <a:p>
            <a:pPr marL="0" indent="0" rtl="0">
              <a:lnSpc>
                <a:spcPct val="85000"/>
              </a:lnSpc>
              <a:spcBef>
                <a:spcPct val="30000"/>
              </a:spcBef>
              <a:buNone/>
            </a:pPr>
            <a:r>
              <a:rPr lang="pt-BR" sz="1600"/>
              <a:t>Prior to teaching Module 3, the instructor should:</a:t>
            </a:r>
          </a:p>
          <a:p>
            <a:pPr rtl="0">
              <a:lnSpc>
                <a:spcPct val="85000"/>
              </a:lnSpc>
              <a:spcBef>
                <a:spcPct val="30000"/>
              </a:spcBef>
              <a:buFont typeface="Arial" panose="020B0604020202020204" pitchFamily="34" charset="0"/>
              <a:buChar char="•"/>
            </a:pPr>
            <a:r>
              <a:rPr lang="pt-BR" sz="1600"/>
              <a:t>Review the activities and assessments for this module.</a:t>
            </a:r>
          </a:p>
          <a:p>
            <a:pPr rtl="0">
              <a:lnSpc>
                <a:spcPct val="85000"/>
              </a:lnSpc>
              <a:spcBef>
                <a:spcPct val="30000"/>
              </a:spcBef>
              <a:buFont typeface="Arial" panose="020B0604020202020204" pitchFamily="34" charset="0"/>
              <a:buChar char="•"/>
            </a:pPr>
            <a:r>
              <a:rPr lang="pt-BR" sz="1600"/>
              <a:t>Try to include as many questions as possible to keep students engaged during classroom presentation.</a:t>
            </a:r>
          </a:p>
          <a:p>
            <a:pPr rtl="0">
              <a:lnSpc>
                <a:spcPct val="85000"/>
              </a:lnSpc>
              <a:spcBef>
                <a:spcPct val="30000"/>
              </a:spcBef>
              <a:buFont typeface="Arial" panose="020B0604020202020204" pitchFamily="34" charset="0"/>
              <a:buChar char="•"/>
            </a:pPr>
            <a:r>
              <a:rPr lang="pt-BR" sz="1600"/>
              <a:t>After this Module, the Basic Networking Connectivity and Communications Exam is available, covering Modules 1-3.</a:t>
            </a:r>
          </a:p>
          <a:p>
            <a:pPr marL="0" indent="0" rtl="0">
              <a:buNone/>
            </a:pPr>
            <a:r>
              <a:rPr lang="pt-BR" sz="1600"/>
              <a:t>Topic 3.1</a:t>
            </a:r>
          </a:p>
          <a:p>
            <a:pPr lvl="1" rtl="0"/>
            <a:r>
              <a:rPr lang="pt-BR" sz="1600"/>
              <a:t>Use the mail analogy to introduce how data will be sent across a network.</a:t>
            </a:r>
          </a:p>
          <a:p>
            <a:pPr lvl="1" rtl="0"/>
            <a:r>
              <a:rPr lang="pt-BR" sz="1600"/>
              <a:t>Discuss the rules of addressing a letter and why the Post Office has these rules. </a:t>
            </a:r>
          </a:p>
          <a:p>
            <a:pPr lvl="1" rtl="0"/>
            <a:r>
              <a:rPr lang="pt-BR" sz="1600"/>
              <a:t>Discuss how protocols are used in human communication and how they are used in networking.</a:t>
            </a:r>
          </a:p>
          <a:p>
            <a:pPr marL="0" indent="0">
              <a:lnSpc>
                <a:spcPct val="85000"/>
              </a:lnSpc>
              <a:spcBef>
                <a:spcPct val="30000"/>
              </a:spcBef>
              <a:buNone/>
            </a:pPr>
            <a:endParaRPr lang="en-US" dirty="0"/>
          </a:p>
          <a:p>
            <a:pPr>
              <a:lnSpc>
                <a:spcPct val="85000"/>
              </a:lnSpc>
              <a:spcBef>
                <a:spcPct val="30000"/>
              </a:spcBef>
            </a:pPr>
            <a:endParaRPr lang="en-US" dirty="0"/>
          </a:p>
          <a:p>
            <a:pPr>
              <a:lnSpc>
                <a:spcPct val="85000"/>
              </a:lnSpc>
              <a:spcBef>
                <a:spcPct val="30000"/>
              </a:spcBef>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extLst>
      <p:ext uri="{BB962C8B-B14F-4D97-AF65-F5344CB8AC3E}">
        <p14:creationId xmlns:p14="http://schemas.microsoft.com/office/powerpoint/2010/main" val="4051986856"/>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pt-BR"/>
              <a:t>Module 3: Best Practices (Cont.)</a:t>
            </a:r>
          </a:p>
        </p:txBody>
      </p:sp>
      <p:sp>
        <p:nvSpPr>
          <p:cNvPr id="11266" name="Rectangle 34"/>
          <p:cNvSpPr>
            <a:spLocks noGrp="1" noChangeArrowheads="1"/>
          </p:cNvSpPr>
          <p:nvPr>
            <p:ph idx="1"/>
          </p:nvPr>
        </p:nvSpPr>
        <p:spPr>
          <a:xfrm>
            <a:off x="145358" y="685800"/>
            <a:ext cx="8853286" cy="4107098"/>
          </a:xfrm>
        </p:spPr>
        <p:txBody>
          <a:bodyPr/>
          <a:lstStyle/>
          <a:p>
            <a:pPr marL="0" lvl="0" indent="0" rtl="0">
              <a:buNone/>
            </a:pPr>
            <a:r>
              <a:rPr lang="pt-BR" sz="1600"/>
              <a:t>Topic 3.2</a:t>
            </a:r>
          </a:p>
          <a:p>
            <a:pPr lvl="1" rtl="0"/>
            <a:r>
              <a:rPr lang="pt-BR" sz="1600"/>
              <a:t>Discuss the different protocol types and why each one is important.</a:t>
            </a:r>
          </a:p>
          <a:p>
            <a:pPr lvl="1" rtl="0"/>
            <a:r>
              <a:rPr lang="pt-BR" sz="1600"/>
              <a:t>Explain the role of protocol functions in facilitating network communications.</a:t>
            </a:r>
          </a:p>
          <a:p>
            <a:pPr marL="0" indent="0" rtl="0">
              <a:buNone/>
            </a:pPr>
            <a:r>
              <a:rPr lang="pt-BR" sz="1600"/>
              <a:t>Topic 3.3</a:t>
            </a:r>
          </a:p>
          <a:p>
            <a:pPr lvl="1" rtl="0"/>
            <a:r>
              <a:rPr lang="pt-BR" sz="1600"/>
              <a:t>Explain why protocol suites are important and why TCP/IP is the primary suite for today.</a:t>
            </a:r>
          </a:p>
          <a:p>
            <a:pPr lvl="1" rtl="0"/>
            <a:r>
              <a:rPr lang="pt-BR" sz="1600"/>
              <a:t>Discuss the interaction between a user and a web server.  Use the animations on page 3.3.5</a:t>
            </a:r>
          </a:p>
          <a:p>
            <a:pPr marL="0" indent="0" rtl="0">
              <a:lnSpc>
                <a:spcPct val="85000"/>
              </a:lnSpc>
              <a:spcBef>
                <a:spcPct val="30000"/>
              </a:spcBef>
              <a:buNone/>
            </a:pPr>
            <a:r>
              <a:rPr lang="pt-BR" sz="1600"/>
              <a:t>Topic 3.4</a:t>
            </a:r>
          </a:p>
          <a:p>
            <a:pPr lvl="1" rtl="0">
              <a:lnSpc>
                <a:spcPct val="85000"/>
              </a:lnSpc>
              <a:spcBef>
                <a:spcPct val="30000"/>
              </a:spcBef>
            </a:pPr>
            <a:r>
              <a:rPr lang="pt-BR" sz="1600"/>
              <a:t>Discuss why open standards are important.</a:t>
            </a:r>
          </a:p>
          <a:p>
            <a:pPr lvl="1" rtl="0">
              <a:lnSpc>
                <a:spcPct val="85000"/>
              </a:lnSpc>
              <a:spcBef>
                <a:spcPct val="30000"/>
              </a:spcBef>
            </a:pPr>
            <a:r>
              <a:rPr lang="pt-BR" sz="1600"/>
              <a:t>Discuss the advantages and disadvantages of a standards-based protocol and a proprietary protocol. </a:t>
            </a:r>
          </a:p>
          <a:p>
            <a:pPr marL="142875" lvl="1" indent="0">
              <a:buNone/>
            </a:pPr>
            <a:endParaRPr lang="en-US" altLang="ja-JP" sz="1600" dirty="0"/>
          </a:p>
          <a:p>
            <a:pPr marL="0" indent="0">
              <a:lnSpc>
                <a:spcPct val="85000"/>
              </a:lnSpc>
              <a:spcBef>
                <a:spcPct val="30000"/>
              </a:spcBef>
              <a:buNone/>
            </a:pPr>
            <a:endParaRPr lang="en-US" dirty="0"/>
          </a:p>
          <a:p>
            <a:pPr>
              <a:lnSpc>
                <a:spcPct val="85000"/>
              </a:lnSpc>
              <a:spcBef>
                <a:spcPct val="30000"/>
              </a:spcBef>
            </a:pPr>
            <a:endParaRPr lang="en-US" dirty="0"/>
          </a:p>
          <a:p>
            <a:pPr>
              <a:lnSpc>
                <a:spcPct val="85000"/>
              </a:lnSpc>
              <a:spcBef>
                <a:spcPct val="30000"/>
              </a:spcBef>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extLst>
      <p:ext uri="{BB962C8B-B14F-4D97-AF65-F5344CB8AC3E}">
        <p14:creationId xmlns:p14="http://schemas.microsoft.com/office/powerpoint/2010/main" val="296139971"/>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 y="41394"/>
            <a:ext cx="9144000" cy="635940"/>
          </a:xfrm>
        </p:spPr>
        <p:txBody>
          <a:bodyPr/>
          <a:lstStyle/>
          <a:p>
            <a:pPr rtl="0"/>
            <a:r>
              <a:rPr lang="pt-BR"/>
              <a:t>Module 3: Best Practices (Cont.)</a:t>
            </a:r>
          </a:p>
        </p:txBody>
      </p:sp>
      <p:sp>
        <p:nvSpPr>
          <p:cNvPr id="11266" name="Rectangle 34"/>
          <p:cNvSpPr>
            <a:spLocks noGrp="1" noChangeArrowheads="1"/>
          </p:cNvSpPr>
          <p:nvPr>
            <p:ph idx="1"/>
          </p:nvPr>
        </p:nvSpPr>
        <p:spPr>
          <a:xfrm>
            <a:off x="145358" y="677335"/>
            <a:ext cx="8853286" cy="4085166"/>
          </a:xfrm>
        </p:spPr>
        <p:txBody>
          <a:bodyPr/>
          <a:lstStyle/>
          <a:p>
            <a:pPr marL="0" indent="0" rtl="0">
              <a:lnSpc>
                <a:spcPct val="85000"/>
              </a:lnSpc>
              <a:spcBef>
                <a:spcPct val="30000"/>
              </a:spcBef>
              <a:buNone/>
            </a:pPr>
            <a:r>
              <a:rPr lang="pt-BR" sz="1600"/>
              <a:t>Topic 3.5</a:t>
            </a:r>
          </a:p>
          <a:p>
            <a:pPr lvl="1" rtl="0"/>
            <a:r>
              <a:rPr lang="pt-BR" sz="1600"/>
              <a:t>TCP/IP - Students need to memorize the layers and what protocols are found at each layer. See packet tracer activity 3.5.5.</a:t>
            </a:r>
          </a:p>
          <a:p>
            <a:pPr lvl="1" rtl="0"/>
            <a:r>
              <a:rPr lang="pt-BR" sz="1600"/>
              <a:t>Discuss the advantages and disadvantages using a layered model. </a:t>
            </a:r>
          </a:p>
          <a:p>
            <a:pPr lvl="1" rtl="0">
              <a:lnSpc>
                <a:spcPct val="85000"/>
              </a:lnSpc>
              <a:spcBef>
                <a:spcPct val="30000"/>
              </a:spcBef>
            </a:pPr>
            <a:r>
              <a:rPr lang="pt-BR" sz="1600"/>
              <a:t>Discuss why the models are vitally important to networking. An analogy would be when studying anatomy, how important is the skeletal structure? This becomes the foundation that anatomy will use to build everything from there. Likewise in networking, we never get far away from the OSI or TCP/IP models when identify what protocol or equipment does, like a switch using MAC addresses and a router using IP addressing. Or when we use top down, bottom up when troubleshooting.</a:t>
            </a:r>
          </a:p>
          <a:p>
            <a:pPr lvl="1" rtl="0">
              <a:lnSpc>
                <a:spcPct val="85000"/>
              </a:lnSpc>
              <a:spcBef>
                <a:spcPct val="30000"/>
              </a:spcBef>
            </a:pPr>
            <a:r>
              <a:rPr lang="pt-BR" sz="1600"/>
              <a:t>Illustrate the usefulness of the OSI model to troubleshoot with the divide and conquer method. This is when we ping a device that is having issues. If the Layer 3 ICMP ping fails we will look from Layer 3 down… because the issue will be at Layer 1, Layer 2 or Layer 3; however if the ping is good then we look from Layer 4 up because the issues will be at Layer 4, Layer 5, Layer 6, or Layer 7. Examples of higher layer issues are bad authentication, incorrect formatting, etc. Examples of lower layer issues are bad cables, bad connectors, VLAN assignment, bad IP addressing and or subnet masking, etc. </a:t>
            </a:r>
          </a:p>
          <a:p>
            <a:pPr>
              <a:lnSpc>
                <a:spcPct val="85000"/>
              </a:lnSpc>
              <a:spcBef>
                <a:spcPct val="30000"/>
              </a:spcBef>
            </a:pPr>
            <a:endParaRPr lang="en-US" dirty="0"/>
          </a:p>
          <a:p>
            <a:pPr>
              <a:lnSpc>
                <a:spcPct val="85000"/>
              </a:lnSpc>
              <a:spcBef>
                <a:spcPct val="30000"/>
              </a:spcBef>
            </a:pPr>
            <a:endParaRPr lang="en-US" dirty="0"/>
          </a:p>
          <a:p>
            <a:pPr>
              <a:lnSpc>
                <a:spcPct val="85000"/>
              </a:lnSpc>
              <a:spcBef>
                <a:spcPct val="30000"/>
              </a:spcBef>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extLst>
      <p:ext uri="{BB962C8B-B14F-4D97-AF65-F5344CB8AC3E}">
        <p14:creationId xmlns:p14="http://schemas.microsoft.com/office/powerpoint/2010/main" val="1079321200"/>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 y="41394"/>
            <a:ext cx="9144000" cy="635940"/>
          </a:xfrm>
        </p:spPr>
        <p:txBody>
          <a:bodyPr/>
          <a:lstStyle/>
          <a:p>
            <a:pPr rtl="0"/>
            <a:r>
              <a:rPr lang="pt-BR"/>
              <a:t>Module 3: Best Practices (Cont.)</a:t>
            </a:r>
          </a:p>
        </p:txBody>
      </p:sp>
      <p:sp>
        <p:nvSpPr>
          <p:cNvPr id="11266" name="Rectangle 34"/>
          <p:cNvSpPr>
            <a:spLocks noGrp="1" noChangeArrowheads="1"/>
          </p:cNvSpPr>
          <p:nvPr>
            <p:ph idx="1"/>
          </p:nvPr>
        </p:nvSpPr>
        <p:spPr>
          <a:xfrm>
            <a:off x="145358" y="686860"/>
            <a:ext cx="8853286" cy="3967818"/>
          </a:xfrm>
        </p:spPr>
        <p:txBody>
          <a:bodyPr/>
          <a:lstStyle/>
          <a:p>
            <a:pPr marL="0" indent="0" rtl="0">
              <a:buNone/>
            </a:pPr>
            <a:r>
              <a:rPr lang="pt-BR" sz="1600"/>
              <a:t>Topic 3.6</a:t>
            </a:r>
          </a:p>
          <a:p>
            <a:pPr lvl="1" rtl="0"/>
            <a:r>
              <a:rPr lang="pt-BR" sz="1600"/>
              <a:t>Discuss the importance of segmenting the data stream and having the ability to multiplex/interleave traffic.</a:t>
            </a:r>
          </a:p>
          <a:p>
            <a:pPr lvl="1" rtl="0"/>
            <a:r>
              <a:rPr lang="pt-BR" sz="1600"/>
              <a:t>Consider the analogy of the federal government making a law that all trains had to have the same type of cars and content.  Think how inefficient it would be to have all coal cars on one train, all box cars carrying electronics on another, etc. Most areas in the country would have an excess of one item and shortages of others. However, by allowing trains to interleave various cars with variety of items we can supply many products to everyone and minimize shortages.</a:t>
            </a:r>
          </a:p>
          <a:p>
            <a:pPr marL="415925" lvl="2" indent="0">
              <a:buNone/>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extLst>
      <p:ext uri="{BB962C8B-B14F-4D97-AF65-F5344CB8AC3E}">
        <p14:creationId xmlns:p14="http://schemas.microsoft.com/office/powerpoint/2010/main" val="4167886931"/>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 y="41394"/>
            <a:ext cx="9144000" cy="635940"/>
          </a:xfrm>
        </p:spPr>
        <p:txBody>
          <a:bodyPr/>
          <a:lstStyle/>
          <a:p>
            <a:pPr rtl="0"/>
            <a:r>
              <a:rPr lang="pt-BR"/>
              <a:t>Module 3: Best Practices (Cont.)</a:t>
            </a:r>
          </a:p>
        </p:txBody>
      </p:sp>
      <p:sp>
        <p:nvSpPr>
          <p:cNvPr id="11266" name="Rectangle 34"/>
          <p:cNvSpPr>
            <a:spLocks noGrp="1" noChangeArrowheads="1"/>
          </p:cNvSpPr>
          <p:nvPr>
            <p:ph idx="1"/>
          </p:nvPr>
        </p:nvSpPr>
        <p:spPr>
          <a:xfrm>
            <a:off x="145358" y="677335"/>
            <a:ext cx="8853286" cy="3967818"/>
          </a:xfrm>
        </p:spPr>
        <p:txBody>
          <a:bodyPr/>
          <a:lstStyle/>
          <a:p>
            <a:pPr marL="0" indent="0" rtl="0">
              <a:buNone/>
            </a:pPr>
            <a:r>
              <a:rPr lang="pt-BR" sz="1600"/>
              <a:t>Topic 3.7</a:t>
            </a:r>
          </a:p>
          <a:p>
            <a:pPr lvl="1" rtl="0"/>
            <a:r>
              <a:rPr lang="pt-BR" sz="1600"/>
              <a:t>Explain the differences between Layer 3 and Layer 2. </a:t>
            </a:r>
          </a:p>
          <a:p>
            <a:pPr lvl="1" rtl="0"/>
            <a:r>
              <a:rPr lang="pt-BR" sz="1600"/>
              <a:t>An analogy of traveling by air can be a good way to illustrate this. If someone were flying from point A to point C, but had a layover at city B; our tickets would show that we are flying from A to C and we would label our luggage for C (not B!). This is the same thing L3 does, but inside our envelope we will see that we have several slips of paper. One will say we are leaving a certain gate (say A1) at city A and land at a gate (say B2) in city B.  Then we will go gate B3 because our second piece of paper states we will fly from there to C and we will land at gate C3. This is how the layer 2 MAC address will work. Layer 2 is for each leg of the journey, but Layer 3 is for initial source and the final destination.</a:t>
            </a:r>
          </a:p>
          <a:p>
            <a:pPr lvl="1">
              <a:lnSpc>
                <a:spcPct val="85000"/>
              </a:lnSpc>
              <a:spcBef>
                <a:spcPct val="30000"/>
              </a:spcBef>
            </a:pPr>
            <a:endParaRPr lang="en-US" sz="1600" dirty="0"/>
          </a:p>
          <a:p>
            <a:pPr>
              <a:lnSpc>
                <a:spcPct val="85000"/>
              </a:lnSpc>
              <a:spcBef>
                <a:spcPct val="30000"/>
              </a:spcBef>
            </a:pPr>
            <a:endParaRPr lang="en-US" dirty="0"/>
          </a:p>
          <a:p>
            <a:pPr>
              <a:lnSpc>
                <a:spcPct val="85000"/>
              </a:lnSpc>
              <a:spcBef>
                <a:spcPct val="30000"/>
              </a:spcBef>
            </a:pPr>
            <a:endParaRPr lang="en-US" dirty="0"/>
          </a:p>
          <a:p>
            <a:pPr>
              <a:lnSpc>
                <a:spcPct val="85000"/>
              </a:lnSpc>
              <a:spcBef>
                <a:spcPct val="30000"/>
              </a:spcBef>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extLst>
      <p:ext uri="{BB962C8B-B14F-4D97-AF65-F5344CB8AC3E}">
        <p14:creationId xmlns:p14="http://schemas.microsoft.com/office/powerpoint/2010/main" val="2222569669"/>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291366" y="2125682"/>
            <a:ext cx="7237590" cy="1270941"/>
          </a:xfrm>
        </p:spPr>
        <p:txBody>
          <a:bodyPr/>
          <a:lstStyle/>
          <a:p>
            <a:pPr rtl="0"/>
            <a:r>
              <a:rPr lang="pt-BR" sz="4600">
                <a:solidFill>
                  <a:schemeClr val="accent5">
                    <a:lumMod val="40000"/>
                    <a:lumOff val="60000"/>
                  </a:schemeClr>
                </a:solidFill>
              </a:rPr>
              <a:t>Módulo 3: Protocolos e Modelos</a:t>
            </a:r>
          </a:p>
        </p:txBody>
      </p:sp>
      <p:sp>
        <p:nvSpPr>
          <p:cNvPr id="7" name="Subtitle 6"/>
          <p:cNvSpPr>
            <a:spLocks noGrp="1"/>
          </p:cNvSpPr>
          <p:nvPr>
            <p:ph type="subTitle" idx="1"/>
          </p:nvPr>
        </p:nvSpPr>
        <p:spPr>
          <a:xfrm>
            <a:off x="469497" y="3809526"/>
            <a:ext cx="2368954" cy="902174"/>
          </a:xfrm>
        </p:spPr>
        <p:txBody>
          <a:bodyPr/>
          <a:lstStyle/>
          <a:p>
            <a:pPr rtl="0"/>
            <a:r>
              <a:rPr lang="pt-BR">
                <a:solidFill>
                  <a:schemeClr val="accent5">
                    <a:lumMod val="40000"/>
                    <a:lumOff val="60000"/>
                  </a:schemeClr>
                </a:solidFill>
              </a:rPr>
              <a:t>Introdução às redes 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rtl="0" eaLnBrk="1" hangingPunct="1"/>
            <a:r>
              <a:rPr lang="pt-BR"/>
              <a:t>Objetivos do módulo</a:t>
            </a:r>
          </a:p>
        </p:txBody>
      </p:sp>
      <p:sp>
        <p:nvSpPr>
          <p:cNvPr id="6147" name="Rectangle 34"/>
          <p:cNvSpPr>
            <a:spLocks noGrp="1" noChangeArrowheads="1"/>
          </p:cNvSpPr>
          <p:nvPr>
            <p:ph idx="1"/>
          </p:nvPr>
        </p:nvSpPr>
        <p:spPr>
          <a:xfrm>
            <a:off x="101841" y="513350"/>
            <a:ext cx="8769026" cy="889134"/>
          </a:xfrm>
        </p:spPr>
        <p:txBody>
          <a:bodyPr/>
          <a:lstStyle/>
          <a:p>
            <a:pPr marL="0" indent="0" rtl="0">
              <a:spcBef>
                <a:spcPct val="30000"/>
              </a:spcBef>
              <a:buNone/>
            </a:pPr>
            <a:r>
              <a:rPr lang="pt-BR" b="1"/>
              <a:t>Título do Módulo</a:t>
            </a:r>
            <a:r>
              <a:rPr lang="pt-BR"/>
              <a:t>: Protocolos e Modelos</a:t>
            </a:r>
          </a:p>
          <a:p>
            <a:pPr marL="0" indent="0" rtl="0">
              <a:spcBef>
                <a:spcPct val="30000"/>
              </a:spcBef>
              <a:buNone/>
            </a:pPr>
            <a:r>
              <a:rPr lang="pt-BR" b="1"/>
              <a:t>Objetivo do Módulo</a:t>
            </a:r>
            <a:r>
              <a:rPr lang="pt-BR"/>
              <a:t>:Explicar como os protocolos de rede permitem que dispositivos acessem recursos de rede locais e remotos.</a:t>
            </a: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3186444594"/>
              </p:ext>
            </p:extLst>
          </p:nvPr>
        </p:nvGraphicFramePr>
        <p:xfrm>
          <a:off x="487933" y="1531344"/>
          <a:ext cx="8168134" cy="3174666"/>
        </p:xfrm>
        <a:graphic>
          <a:graphicData uri="http://schemas.openxmlformats.org/drawingml/2006/table">
            <a:tbl>
              <a:tblPr firstRow="1" firstCol="1" bandRow="1">
                <a:tableStyleId>{5C22544A-7EE6-4342-B048-85BDC9FD1C3A}</a:tableStyleId>
              </a:tblPr>
              <a:tblGrid>
                <a:gridCol w="2656507">
                  <a:extLst>
                    <a:ext uri="{9D8B030D-6E8A-4147-A177-3AD203B41FA5}">
                      <a16:colId xmlns:a16="http://schemas.microsoft.com/office/drawing/2014/main" val="20000"/>
                    </a:ext>
                  </a:extLst>
                </a:gridCol>
                <a:gridCol w="5511627">
                  <a:extLst>
                    <a:ext uri="{9D8B030D-6E8A-4147-A177-3AD203B41FA5}">
                      <a16:colId xmlns:a16="http://schemas.microsoft.com/office/drawing/2014/main" val="20001"/>
                    </a:ext>
                  </a:extLst>
                </a:gridCol>
              </a:tblGrid>
              <a:tr h="186166">
                <a:tc>
                  <a:txBody>
                    <a:bodyPr/>
                    <a:lstStyle/>
                    <a:p>
                      <a:pPr marL="0" marR="0" rtl="0">
                        <a:lnSpc>
                          <a:spcPct val="107000"/>
                        </a:lnSpc>
                        <a:spcBef>
                          <a:spcPts val="0"/>
                        </a:spcBef>
                        <a:spcAft>
                          <a:spcPts val="0"/>
                        </a:spcAft>
                      </a:pPr>
                      <a:r>
                        <a:rPr lang="pt-BR" sz="1200">
                          <a:effectLst/>
                        </a:rPr>
                        <a:t>Título do Tópico</a:t>
                      </a:r>
                    </a:p>
                  </a:txBody>
                  <a:tcPr marL="68580" marR="68580" marT="0" marB="0"/>
                </a:tc>
                <a:tc>
                  <a:txBody>
                    <a:bodyPr/>
                    <a:lstStyle/>
                    <a:p>
                      <a:pPr marL="0" marR="0" rtl="0">
                        <a:lnSpc>
                          <a:spcPct val="107000"/>
                        </a:lnSpc>
                        <a:spcBef>
                          <a:spcPts val="0"/>
                        </a:spcBef>
                        <a:spcAft>
                          <a:spcPts val="0"/>
                        </a:spcAft>
                      </a:pPr>
                      <a:r>
                        <a:rPr lang="pt-BR" sz="1200">
                          <a:effectLst/>
                        </a:rPr>
                        <a:t>Objetivo do Tópico</a:t>
                      </a:r>
                    </a:p>
                  </a:txBody>
                  <a:tcPr marL="68580" marR="68580" marT="0" marB="0"/>
                </a:tc>
                <a:extLst>
                  <a:ext uri="{0D108BD9-81ED-4DB2-BD59-A6C34878D82A}">
                    <a16:rowId xmlns:a16="http://schemas.microsoft.com/office/drawing/2014/main" val="10000"/>
                  </a:ext>
                </a:extLst>
              </a:tr>
              <a:tr h="372332">
                <a:tc>
                  <a:txBody>
                    <a:bodyPr/>
                    <a:lstStyle/>
                    <a:p>
                      <a:pPr marL="0" marR="0" rtl="0">
                        <a:lnSpc>
                          <a:spcPct val="107000"/>
                        </a:lnSpc>
                        <a:spcBef>
                          <a:spcPts val="0"/>
                        </a:spcBef>
                        <a:spcAft>
                          <a:spcPts val="0"/>
                        </a:spcAft>
                      </a:pPr>
                      <a:r>
                        <a:rPr lang="pt-BR" sz="1200">
                          <a:effectLst/>
                        </a:rPr>
                        <a:t>As regras</a:t>
                      </a:r>
                    </a:p>
                  </a:txBody>
                  <a:tcPr marL="68580" marR="68580" marT="0" marB="0"/>
                </a:tc>
                <a:tc>
                  <a:txBody>
                    <a:bodyPr/>
                    <a:lstStyle/>
                    <a:p>
                      <a:pPr marL="0" marR="0" rtl="0">
                        <a:lnSpc>
                          <a:spcPct val="107000"/>
                        </a:lnSpc>
                        <a:spcBef>
                          <a:spcPts val="0"/>
                        </a:spcBef>
                        <a:spcAft>
                          <a:spcPts val="0"/>
                        </a:spcAft>
                      </a:pPr>
                      <a:r>
                        <a:rPr lang="pt-BR" sz="1200">
                          <a:effectLst/>
                        </a:rPr>
                        <a:t>Descrever os tipos de regras que são necessárias para o êxito da comunicação.</a:t>
                      </a:r>
                    </a:p>
                  </a:txBody>
                  <a:tcPr marL="68580" marR="68580" marT="0" marB="0"/>
                </a:tc>
                <a:extLst>
                  <a:ext uri="{0D108BD9-81ED-4DB2-BD59-A6C34878D82A}">
                    <a16:rowId xmlns:a16="http://schemas.microsoft.com/office/drawing/2014/main" val="10001"/>
                  </a:ext>
                </a:extLst>
              </a:tr>
              <a:tr h="372332">
                <a:tc>
                  <a:txBody>
                    <a:bodyPr/>
                    <a:lstStyle/>
                    <a:p>
                      <a:pPr marL="0" marR="0" rtl="0">
                        <a:lnSpc>
                          <a:spcPct val="107000"/>
                        </a:lnSpc>
                        <a:spcBef>
                          <a:spcPts val="0"/>
                        </a:spcBef>
                        <a:spcAft>
                          <a:spcPts val="0"/>
                        </a:spcAft>
                      </a:pPr>
                      <a:r>
                        <a:rPr lang="pt-BR" sz="1200">
                          <a:effectLst/>
                        </a:rPr>
                        <a:t>Protocolos</a:t>
                      </a:r>
                    </a:p>
                  </a:txBody>
                  <a:tcPr marL="68580" marR="68580" marT="0" marB="0"/>
                </a:tc>
                <a:tc>
                  <a:txBody>
                    <a:bodyPr/>
                    <a:lstStyle/>
                    <a:p>
                      <a:pPr marL="0" marR="0" rtl="0">
                        <a:lnSpc>
                          <a:spcPct val="107000"/>
                        </a:lnSpc>
                        <a:spcBef>
                          <a:spcPts val="0"/>
                        </a:spcBef>
                        <a:spcAft>
                          <a:spcPts val="0"/>
                        </a:spcAft>
                      </a:pPr>
                      <a:r>
                        <a:rPr lang="pt-BR" sz="1200">
                          <a:effectLst/>
                        </a:rPr>
                        <a:t>Explicar a necessidade dos protocolos na comunicação de rede.</a:t>
                      </a:r>
                    </a:p>
                  </a:txBody>
                  <a:tcPr marL="68580" marR="68580" marT="0" marB="0"/>
                </a:tc>
                <a:extLst>
                  <a:ext uri="{0D108BD9-81ED-4DB2-BD59-A6C34878D82A}">
                    <a16:rowId xmlns:a16="http://schemas.microsoft.com/office/drawing/2014/main" val="10002"/>
                  </a:ext>
                </a:extLst>
              </a:tr>
              <a:tr h="372332">
                <a:tc>
                  <a:txBody>
                    <a:bodyPr/>
                    <a:lstStyle/>
                    <a:p>
                      <a:pPr marL="0" marR="0" rtl="0">
                        <a:lnSpc>
                          <a:spcPct val="107000"/>
                        </a:lnSpc>
                        <a:spcBef>
                          <a:spcPts val="0"/>
                        </a:spcBef>
                        <a:spcAft>
                          <a:spcPts val="0"/>
                        </a:spcAft>
                      </a:pPr>
                      <a:r>
                        <a:rPr lang="pt-BR" sz="1200">
                          <a:effectLst/>
                        </a:rPr>
                        <a:t>Conjuntos de protocolos</a:t>
                      </a:r>
                    </a:p>
                  </a:txBody>
                  <a:tcPr marL="68580" marR="68580" marT="0" marB="0"/>
                </a:tc>
                <a:tc>
                  <a:txBody>
                    <a:bodyPr/>
                    <a:lstStyle/>
                    <a:p>
                      <a:pPr marL="0" marR="0" rtl="0">
                        <a:lnSpc>
                          <a:spcPct val="107000"/>
                        </a:lnSpc>
                        <a:spcBef>
                          <a:spcPts val="0"/>
                        </a:spcBef>
                        <a:spcAft>
                          <a:spcPts val="0"/>
                        </a:spcAft>
                      </a:pPr>
                      <a:r>
                        <a:rPr lang="pt-BR" sz="1200">
                          <a:effectLst/>
                        </a:rPr>
                        <a:t>Explicar a finalidade da adesão a um conjunto de protocolos.</a:t>
                      </a:r>
                    </a:p>
                  </a:txBody>
                  <a:tcPr marL="68580" marR="68580" marT="0" marB="0"/>
                </a:tc>
                <a:extLst>
                  <a:ext uri="{0D108BD9-81ED-4DB2-BD59-A6C34878D82A}">
                    <a16:rowId xmlns:a16="http://schemas.microsoft.com/office/drawing/2014/main" val="10003"/>
                  </a:ext>
                </a:extLst>
              </a:tr>
              <a:tr h="558498">
                <a:tc>
                  <a:txBody>
                    <a:bodyPr/>
                    <a:lstStyle/>
                    <a:p>
                      <a:pPr marL="0" marR="0" rtl="0">
                        <a:lnSpc>
                          <a:spcPct val="107000"/>
                        </a:lnSpc>
                        <a:spcBef>
                          <a:spcPts val="0"/>
                        </a:spcBef>
                        <a:spcAft>
                          <a:spcPts val="0"/>
                        </a:spcAft>
                      </a:pPr>
                      <a:r>
                        <a:rPr lang="pt-BR" sz="1200">
                          <a:effectLst/>
                        </a:rPr>
                        <a:t>Empresas de padrões</a:t>
                      </a:r>
                    </a:p>
                  </a:txBody>
                  <a:tcPr marL="68580" marR="68580" marT="0" marB="0"/>
                </a:tc>
                <a:tc>
                  <a:txBody>
                    <a:bodyPr/>
                    <a:lstStyle/>
                    <a:p>
                      <a:pPr marL="0" marR="0" rtl="0">
                        <a:lnSpc>
                          <a:spcPct val="107000"/>
                        </a:lnSpc>
                        <a:spcBef>
                          <a:spcPts val="0"/>
                        </a:spcBef>
                        <a:spcAft>
                          <a:spcPts val="0"/>
                        </a:spcAft>
                      </a:pPr>
                      <a:r>
                        <a:rPr lang="pt-BR" sz="1200">
                          <a:effectLst/>
                        </a:rPr>
                        <a:t>Explicar a função de empresas de padrões no estabelecimento de protocolos para interoperabilidade de rede.</a:t>
                      </a:r>
                    </a:p>
                  </a:txBody>
                  <a:tcPr marL="68580" marR="68580" marT="0" marB="0"/>
                </a:tc>
                <a:extLst>
                  <a:ext uri="{0D108BD9-81ED-4DB2-BD59-A6C34878D82A}">
                    <a16:rowId xmlns:a16="http://schemas.microsoft.com/office/drawing/2014/main" val="10004"/>
                  </a:ext>
                </a:extLst>
              </a:tr>
              <a:tr h="558498">
                <a:tc>
                  <a:txBody>
                    <a:bodyPr/>
                    <a:lstStyle/>
                    <a:p>
                      <a:pPr marL="0" marR="0" rtl="0">
                        <a:lnSpc>
                          <a:spcPct val="107000"/>
                        </a:lnSpc>
                        <a:spcBef>
                          <a:spcPts val="0"/>
                        </a:spcBef>
                        <a:spcAft>
                          <a:spcPts val="0"/>
                        </a:spcAft>
                      </a:pPr>
                      <a:r>
                        <a:rPr lang="pt-BR" sz="1200">
                          <a:effectLst/>
                        </a:rPr>
                        <a:t>Modelos de referência</a:t>
                      </a:r>
                    </a:p>
                  </a:txBody>
                  <a:tcPr marL="68580" marR="68580" marT="0" marB="0"/>
                </a:tc>
                <a:tc>
                  <a:txBody>
                    <a:bodyPr/>
                    <a:lstStyle/>
                    <a:p>
                      <a:pPr marL="0" marR="0" rtl="0">
                        <a:lnSpc>
                          <a:spcPct val="107000"/>
                        </a:lnSpc>
                        <a:spcBef>
                          <a:spcPts val="0"/>
                        </a:spcBef>
                        <a:spcAft>
                          <a:spcPts val="0"/>
                        </a:spcAft>
                      </a:pPr>
                      <a:r>
                        <a:rPr lang="pt-BR" sz="1200">
                          <a:effectLst/>
                        </a:rPr>
                        <a:t>Explicar como o modelo TCP/IP e o modelo OSI são usados para facilitar a padronização no processo de comunicação.</a:t>
                      </a:r>
                    </a:p>
                  </a:txBody>
                  <a:tcPr marL="68580" marR="68580" marT="0" marB="0"/>
                </a:tc>
                <a:extLst>
                  <a:ext uri="{0D108BD9-81ED-4DB2-BD59-A6C34878D82A}">
                    <a16:rowId xmlns:a16="http://schemas.microsoft.com/office/drawing/2014/main" val="10005"/>
                  </a:ext>
                </a:extLst>
              </a:tr>
              <a:tr h="372332">
                <a:tc>
                  <a:txBody>
                    <a:bodyPr/>
                    <a:lstStyle/>
                    <a:p>
                      <a:pPr marL="0" marR="0" rtl="0">
                        <a:lnSpc>
                          <a:spcPct val="107000"/>
                        </a:lnSpc>
                        <a:spcBef>
                          <a:spcPts val="0"/>
                        </a:spcBef>
                        <a:spcAft>
                          <a:spcPts val="0"/>
                        </a:spcAft>
                      </a:pPr>
                      <a:r>
                        <a:rPr lang="pt-BR" sz="1200">
                          <a:effectLst/>
                        </a:rPr>
                        <a:t>Encapsulamento de dados</a:t>
                      </a:r>
                    </a:p>
                  </a:txBody>
                  <a:tcPr marL="68580" marR="68580" marT="0" marB="0"/>
                </a:tc>
                <a:tc>
                  <a:txBody>
                    <a:bodyPr/>
                    <a:lstStyle/>
                    <a:p>
                      <a:pPr marL="0" marR="0" rtl="0">
                        <a:lnSpc>
                          <a:spcPct val="107000"/>
                        </a:lnSpc>
                        <a:spcBef>
                          <a:spcPts val="0"/>
                        </a:spcBef>
                        <a:spcAft>
                          <a:spcPts val="0"/>
                        </a:spcAft>
                      </a:pPr>
                      <a:r>
                        <a:rPr lang="pt-BR" sz="1200">
                          <a:effectLst/>
                        </a:rPr>
                        <a:t>Explicar como o encapsulamento permite que os dados sejam transportados pela rede.</a:t>
                      </a:r>
                    </a:p>
                  </a:txBody>
                  <a:tcPr marL="68580" marR="68580" marT="0" marB="0"/>
                </a:tc>
                <a:extLst>
                  <a:ext uri="{0D108BD9-81ED-4DB2-BD59-A6C34878D82A}">
                    <a16:rowId xmlns:a16="http://schemas.microsoft.com/office/drawing/2014/main" val="10006"/>
                  </a:ext>
                </a:extLst>
              </a:tr>
              <a:tr h="372332">
                <a:tc>
                  <a:txBody>
                    <a:bodyPr/>
                    <a:lstStyle/>
                    <a:p>
                      <a:pPr marL="0" marR="0" rtl="0">
                        <a:lnSpc>
                          <a:spcPct val="107000"/>
                        </a:lnSpc>
                        <a:spcBef>
                          <a:spcPts val="0"/>
                        </a:spcBef>
                        <a:spcAft>
                          <a:spcPts val="0"/>
                        </a:spcAft>
                      </a:pPr>
                      <a:r>
                        <a:rPr lang="pt-BR" sz="1200">
                          <a:effectLst/>
                        </a:rPr>
                        <a:t>Acesso a dados</a:t>
                      </a:r>
                    </a:p>
                  </a:txBody>
                  <a:tcPr marL="68580" marR="68580" marT="0" marB="0"/>
                </a:tc>
                <a:tc>
                  <a:txBody>
                    <a:bodyPr/>
                    <a:lstStyle/>
                    <a:p>
                      <a:pPr marL="0" marR="0" rtl="0">
                        <a:lnSpc>
                          <a:spcPct val="107000"/>
                        </a:lnSpc>
                        <a:spcBef>
                          <a:spcPts val="0"/>
                        </a:spcBef>
                        <a:spcAft>
                          <a:spcPts val="0"/>
                        </a:spcAft>
                      </a:pPr>
                      <a:r>
                        <a:rPr lang="pt-BR" sz="1200">
                          <a:effectLst/>
                        </a:rPr>
                        <a:t>Explicar como os hosts locais acessam recursos locais em uma rede.</a:t>
                      </a:r>
                    </a:p>
                  </a:txBody>
                  <a:tcPr marL="68580" marR="68580" marT="0" marB="0"/>
                </a:tc>
                <a:extLst>
                  <a:ext uri="{0D108BD9-81ED-4DB2-BD59-A6C34878D82A}">
                    <a16:rowId xmlns:a16="http://schemas.microsoft.com/office/drawing/2014/main" val="10007"/>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rtl="0" eaLnBrk="1" hangingPunct="1"/>
            <a:r>
              <a:rPr lang="pt-BR"/>
              <a:t>Atividade em Classe - Projetar um Sistema de Comunicação</a:t>
            </a:r>
          </a:p>
        </p:txBody>
      </p:sp>
      <p:sp>
        <p:nvSpPr>
          <p:cNvPr id="6147" name="Rectangle 34"/>
          <p:cNvSpPr>
            <a:spLocks noGrp="1" noChangeArrowheads="1"/>
          </p:cNvSpPr>
          <p:nvPr>
            <p:ph idx="1"/>
          </p:nvPr>
        </p:nvSpPr>
        <p:spPr>
          <a:xfrm>
            <a:off x="112908" y="707995"/>
            <a:ext cx="8769026" cy="2088994"/>
          </a:xfrm>
        </p:spPr>
        <p:txBody>
          <a:bodyPr/>
          <a:lstStyle/>
          <a:p>
            <a:pPr marL="0" indent="0" rtl="0">
              <a:buNone/>
            </a:pPr>
            <a:r>
              <a:rPr lang="pt-BR" sz="1800"/>
              <a:t>Projetar um sistema de comunicação </a:t>
            </a:r>
          </a:p>
          <a:p>
            <a:pPr marL="0" indent="0" rtl="0">
              <a:buNone/>
            </a:pPr>
            <a:r>
              <a:rPr lang="pt-BR" sz="1800" b="1"/>
              <a:t>Objetivos: </a:t>
            </a:r>
          </a:p>
          <a:p>
            <a:pPr lvl="1" rtl="0"/>
            <a:r>
              <a:rPr lang="pt-BR" sz="1800"/>
              <a:t>Explicar a função dos protocolos e das organizações padronizadoras para facilitar a interoperabilidade nas comunicações de rede. </a:t>
            </a:r>
          </a:p>
        </p:txBody>
      </p:sp>
    </p:spTree>
    <p:custDataLst>
      <p:tags r:id="rId1"/>
    </p:custDataLst>
    <p:extLst>
      <p:ext uri="{BB962C8B-B14F-4D97-AF65-F5344CB8AC3E}">
        <p14:creationId xmlns:p14="http://schemas.microsoft.com/office/powerpoint/2010/main" val="3856391068"/>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pPr rtl="0"/>
            <a:r>
              <a:rPr lang="pt-BR">
                <a:solidFill>
                  <a:schemeClr val="accent5">
                    <a:lumMod val="40000"/>
                    <a:lumOff val="60000"/>
                  </a:schemeClr>
                </a:solidFill>
              </a:rPr>
              <a:t>3.1 As Regras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 y="41393"/>
            <a:ext cx="9144000" cy="789880"/>
          </a:xfrm>
        </p:spPr>
        <p:txBody>
          <a:bodyPr/>
          <a:lstStyle/>
          <a:p>
            <a:pPr rtl="0"/>
            <a:r>
              <a:rPr lang="pt-BR"/>
              <a:t>O vídeo de regras</a:t>
            </a:r>
            <a:br>
              <a:rPr lang="en-US" altLang="en-US" dirty="0"/>
            </a:br>
            <a:r>
              <a:rPr lang="pt-BR"/>
              <a:t> - Dispositivos em uma bolha</a:t>
            </a:r>
          </a:p>
        </p:txBody>
      </p:sp>
      <p:sp>
        <p:nvSpPr>
          <p:cNvPr id="2" name="Content Placeholder 1"/>
          <p:cNvSpPr>
            <a:spLocks noGrp="1"/>
          </p:cNvSpPr>
          <p:nvPr>
            <p:ph idx="1"/>
          </p:nvPr>
        </p:nvSpPr>
        <p:spPr>
          <a:xfrm>
            <a:off x="118753" y="834569"/>
            <a:ext cx="8853286" cy="1251405"/>
          </a:xfrm>
        </p:spPr>
        <p:txBody>
          <a:bodyPr/>
          <a:lstStyle/>
          <a:p>
            <a:endParaRPr lang="en-US" dirty="0"/>
          </a:p>
          <a:p>
            <a:pPr marL="0" indent="0" rtl="0">
              <a:buNone/>
            </a:pPr>
            <a:r>
              <a:rPr lang="pt-BR" sz="1800"/>
              <a:t>Este vídeo explicará os protocolos que os dispositivos usam para ver seu lugar na rede e se comunicar com outros dispositivos.</a:t>
            </a:r>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br>
              <a:rPr lang="en-US" altLang="en-US" dirty="0"/>
            </a:br>
            <a:r>
              <a:rPr lang="pt-BR"/>
              <a:t>As regras </a:t>
            </a:r>
            <a:r>
              <a:rPr lang="pt-BR" sz="1600"/>
              <a:t>Princípios da comunicação</a:t>
            </a:r>
          </a:p>
        </p:txBody>
      </p:sp>
      <p:sp>
        <p:nvSpPr>
          <p:cNvPr id="8195" name="Rectangle 6"/>
          <p:cNvSpPr>
            <a:spLocks noGrp="1" noChangeArrowheads="1"/>
          </p:cNvSpPr>
          <p:nvPr>
            <p:ph idx="1"/>
          </p:nvPr>
        </p:nvSpPr>
        <p:spPr>
          <a:xfrm>
            <a:off x="124609" y="905949"/>
            <a:ext cx="8853286" cy="2475426"/>
          </a:xfrm>
        </p:spPr>
        <p:txBody>
          <a:bodyPr/>
          <a:lstStyle/>
          <a:p>
            <a:pPr marL="0" indent="0" rtl="0">
              <a:buNone/>
            </a:pPr>
            <a:r>
              <a:rPr lang="pt-BR" sz="1800"/>
              <a:t>As redes podem variar em tamanho e complexidade. Não é suficiente ter uma conexão, os dispositivos devem concordar em “como” se comunicar.</a:t>
            </a:r>
          </a:p>
          <a:p>
            <a:pPr marL="0" indent="0" rtl="0">
              <a:buNone/>
            </a:pPr>
            <a:r>
              <a:rPr lang="pt-BR" sz="1800"/>
              <a:t>Há três elementos para qualquer comunicação:</a:t>
            </a:r>
          </a:p>
          <a:p>
            <a:pPr lvl="1" rtl="0"/>
            <a:r>
              <a:rPr lang="pt-BR" sz="1800">
                <a:effectLst/>
              </a:rPr>
              <a:t>Haverá uma fonte (remetente).</a:t>
            </a:r>
          </a:p>
          <a:p>
            <a:pPr lvl="1" rtl="0"/>
            <a:r>
              <a:rPr lang="pt-BR" sz="1800"/>
              <a:t>Haverá um destino (receptor).</a:t>
            </a:r>
          </a:p>
          <a:p>
            <a:pPr lvl="1" rtl="0"/>
            <a:r>
              <a:rPr lang="pt-BR" sz="1800"/>
              <a:t>Haverá um canal (mídia) que prevê o caminho das comunicações para ocorrer.</a:t>
            </a:r>
          </a:p>
          <a:p>
            <a:pPr lvl="1"/>
            <a:endParaRPr lang="en-US" dirty="0">
              <a:effectLst/>
            </a:endParaRPr>
          </a:p>
        </p:txBody>
      </p:sp>
    </p:spTree>
    <p:extLst>
      <p:ext uri="{BB962C8B-B14F-4D97-AF65-F5344CB8AC3E}">
        <p14:creationId xmlns:p14="http://schemas.microsoft.com/office/powerpoint/2010/main" val="3529212767"/>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pt-BR" sz="1600"/>
              <a:t>As Regras</a:t>
            </a:r>
            <a:br>
              <a:rPr lang="en-US" altLang="en-US" dirty="0"/>
            </a:br>
            <a:r>
              <a:rPr lang="pt-BR"/>
              <a:t> Protocolos de comunicações</a:t>
            </a:r>
          </a:p>
        </p:txBody>
      </p:sp>
      <p:sp>
        <p:nvSpPr>
          <p:cNvPr id="8195" name="Rectangle 6"/>
          <p:cNvSpPr>
            <a:spLocks noGrp="1" noChangeArrowheads="1"/>
          </p:cNvSpPr>
          <p:nvPr>
            <p:ph idx="1"/>
          </p:nvPr>
        </p:nvSpPr>
        <p:spPr>
          <a:xfrm>
            <a:off x="124609" y="894073"/>
            <a:ext cx="8853286" cy="1267235"/>
          </a:xfrm>
        </p:spPr>
        <p:txBody>
          <a:bodyPr/>
          <a:lstStyle/>
          <a:p>
            <a:pPr rtl="0">
              <a:buFont typeface="Arial" panose="020B0604020202020204" pitchFamily="34" charset="0"/>
              <a:buChar char="•"/>
            </a:pPr>
            <a:r>
              <a:rPr lang="pt-BR" sz="1600"/>
              <a:t>Todas as comunicações são regidas por protocolos.</a:t>
            </a:r>
          </a:p>
          <a:p>
            <a:pPr rtl="0">
              <a:buFont typeface="Arial" panose="020B0604020202020204" pitchFamily="34" charset="0"/>
              <a:buChar char="•"/>
            </a:pPr>
            <a:r>
              <a:rPr lang="pt-BR" sz="1600"/>
              <a:t>Protocolos são as regras que as comunicações seguirão.</a:t>
            </a:r>
          </a:p>
          <a:p>
            <a:pPr rtl="0">
              <a:buFont typeface="Arial" panose="020B0604020202020204" pitchFamily="34" charset="0"/>
              <a:buChar char="•"/>
            </a:pPr>
            <a:r>
              <a:rPr lang="pt-BR" sz="1600"/>
              <a:t>Essas regras variam de acordo com o protocolo.</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4390" y="2224873"/>
            <a:ext cx="3911188" cy="24093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84468" y="2224873"/>
            <a:ext cx="4128904" cy="23203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20549253"/>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pt-BR" sz="1600"/>
              <a:t>As regras </a:t>
            </a:r>
            <a:br>
              <a:rPr lang="en-US" altLang="en-US" dirty="0"/>
            </a:br>
            <a:r>
              <a:rPr lang="pt-BR"/>
              <a:t>Estabelecimento de regras</a:t>
            </a:r>
          </a:p>
        </p:txBody>
      </p:sp>
      <p:sp>
        <p:nvSpPr>
          <p:cNvPr id="8195" name="Rectangle 6"/>
          <p:cNvSpPr>
            <a:spLocks noGrp="1" noChangeArrowheads="1"/>
          </p:cNvSpPr>
          <p:nvPr>
            <p:ph idx="1"/>
          </p:nvPr>
        </p:nvSpPr>
        <p:spPr>
          <a:xfrm>
            <a:off x="100858" y="858446"/>
            <a:ext cx="8853286" cy="1339934"/>
          </a:xfrm>
        </p:spPr>
        <p:txBody>
          <a:bodyPr/>
          <a:lstStyle/>
          <a:p>
            <a:pPr rtl="0">
              <a:buFont typeface="Arial" panose="020B0604020202020204" pitchFamily="34" charset="0"/>
              <a:buChar char="•"/>
            </a:pPr>
            <a:r>
              <a:rPr lang="pt-BR" sz="1600"/>
              <a:t>Os indivíduos devem usar regras ou acordos estabelecidos para governar a conversa.</a:t>
            </a:r>
          </a:p>
          <a:p>
            <a:pPr rtl="0">
              <a:buFont typeface="Arial" panose="020B0604020202020204" pitchFamily="34" charset="0"/>
              <a:buChar char="•"/>
            </a:pPr>
            <a:r>
              <a:rPr lang="pt-BR" sz="1600"/>
              <a:t>A primeira mensagem é difícil de ler porque não está formatada corretamente. A segunda mostra a mensagem formatada corretamente</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8728" y="2024578"/>
            <a:ext cx="6282050" cy="11661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3053" y="3424014"/>
            <a:ext cx="6373400" cy="12053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87744275"/>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pt-BR" sz="1600"/>
              <a:t>As regras </a:t>
            </a:r>
            <a:br>
              <a:rPr lang="en-US" altLang="en-US" dirty="0"/>
            </a:br>
            <a:r>
              <a:rPr lang="pt-BR"/>
              <a:t>Estabelecimento de regras(Cont.)</a:t>
            </a:r>
          </a:p>
        </p:txBody>
      </p:sp>
      <p:sp>
        <p:nvSpPr>
          <p:cNvPr id="8195" name="Rectangle 6"/>
          <p:cNvSpPr>
            <a:spLocks noGrp="1" noChangeArrowheads="1"/>
          </p:cNvSpPr>
          <p:nvPr>
            <p:ph idx="1"/>
          </p:nvPr>
        </p:nvSpPr>
        <p:spPr>
          <a:xfrm>
            <a:off x="100858" y="858446"/>
            <a:ext cx="8853286" cy="1827604"/>
          </a:xfrm>
        </p:spPr>
        <p:txBody>
          <a:bodyPr/>
          <a:lstStyle/>
          <a:p>
            <a:pPr marL="0" indent="0" rtl="0">
              <a:buNone/>
            </a:pPr>
            <a:r>
              <a:rPr lang="pt-BR" sz="1800"/>
              <a:t>Os protocolos devem ser considerados para os seguintes requisitos:</a:t>
            </a:r>
          </a:p>
          <a:p>
            <a:pPr lvl="1" rtl="0"/>
            <a:r>
              <a:rPr lang="pt-BR" sz="1800"/>
              <a:t>Um emissor e um receptor identificados</a:t>
            </a:r>
          </a:p>
          <a:p>
            <a:pPr lvl="1" rtl="0"/>
            <a:r>
              <a:rPr lang="pt-BR" sz="1800"/>
              <a:t>Língua e gramática comum</a:t>
            </a:r>
          </a:p>
          <a:p>
            <a:pPr lvl="1" rtl="0"/>
            <a:r>
              <a:rPr lang="pt-BR" sz="1800"/>
              <a:t>Velocidade e ritmo de transmissão</a:t>
            </a:r>
          </a:p>
          <a:p>
            <a:pPr lvl="1" rtl="0"/>
            <a:r>
              <a:rPr lang="pt-BR" sz="1800"/>
              <a:t>Requisitos de confirmação ou recepção</a:t>
            </a:r>
          </a:p>
          <a:p>
            <a:pPr lvl="1"/>
            <a:endParaRPr lang="en-US" dirty="0"/>
          </a:p>
        </p:txBody>
      </p:sp>
    </p:spTree>
    <p:extLst>
      <p:ext uri="{BB962C8B-B14F-4D97-AF65-F5344CB8AC3E}">
        <p14:creationId xmlns:p14="http://schemas.microsoft.com/office/powerpoint/2010/main" val="1675267657"/>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pt-BR" sz="1600"/>
              <a:t>Os</a:t>
            </a:r>
            <a:r>
              <a:rPr lang="pt-BR"/>
              <a:t>requisitos do protocolode rede</a:t>
            </a:r>
            <a:r>
              <a:rPr lang="pt-BR" sz="1600"/>
              <a:t>de regras</a:t>
            </a:r>
          </a:p>
        </p:txBody>
      </p:sp>
      <p:sp>
        <p:nvSpPr>
          <p:cNvPr id="8195" name="Rectangle 6"/>
          <p:cNvSpPr>
            <a:spLocks noGrp="1" noChangeArrowheads="1"/>
          </p:cNvSpPr>
          <p:nvPr>
            <p:ph idx="1"/>
          </p:nvPr>
        </p:nvSpPr>
        <p:spPr>
          <a:xfrm>
            <a:off x="100858" y="858445"/>
            <a:ext cx="8853286" cy="3060411"/>
          </a:xfrm>
        </p:spPr>
        <p:txBody>
          <a:bodyPr/>
          <a:lstStyle/>
          <a:p>
            <a:pPr marL="0" indent="0" rtl="0">
              <a:buNone/>
            </a:pPr>
            <a:r>
              <a:rPr lang="pt-BR" sz="1800"/>
              <a:t>Protocolos de computador comuns devem estar de acordo e incluir os seguintes requisitos: </a:t>
            </a:r>
          </a:p>
          <a:p>
            <a:pPr lvl="1" rtl="0"/>
            <a:r>
              <a:rPr lang="pt-BR" sz="1800"/>
              <a:t>Codificação de mensagens</a:t>
            </a:r>
          </a:p>
          <a:p>
            <a:pPr lvl="1" rtl="0"/>
            <a:r>
              <a:rPr lang="pt-BR" sz="1800"/>
              <a:t>Formatação e encapsulamento de mensagens</a:t>
            </a:r>
          </a:p>
          <a:p>
            <a:pPr lvl="1" rtl="0"/>
            <a:r>
              <a:rPr lang="pt-BR" sz="1800"/>
              <a:t>Tamanho da Mensagem</a:t>
            </a:r>
          </a:p>
          <a:p>
            <a:pPr lvl="1" rtl="0"/>
            <a:r>
              <a:rPr lang="pt-BR" sz="1800"/>
              <a:t>Tempo da mensagem</a:t>
            </a:r>
          </a:p>
          <a:p>
            <a:pPr lvl="1" rtl="0"/>
            <a:r>
              <a:rPr lang="pt-BR" sz="1800"/>
              <a:t>Opções de envio de mensagem</a:t>
            </a:r>
          </a:p>
          <a:p>
            <a:pPr lvl="1"/>
            <a:endParaRPr lang="en-US" dirty="0"/>
          </a:p>
        </p:txBody>
      </p:sp>
    </p:spTree>
    <p:extLst>
      <p:ext uri="{BB962C8B-B14F-4D97-AF65-F5344CB8AC3E}">
        <p14:creationId xmlns:p14="http://schemas.microsoft.com/office/powerpoint/2010/main" val="2179615737"/>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br>
              <a:rPr lang="en-US" altLang="en-US" dirty="0"/>
            </a:br>
            <a:r>
              <a:rPr lang="pt-BR"/>
              <a:t>As regras </a:t>
            </a:r>
            <a:r>
              <a:rPr lang="pt-BR" sz="1600"/>
              <a:t>Codificação da mensagem</a:t>
            </a:r>
          </a:p>
        </p:txBody>
      </p:sp>
      <p:sp>
        <p:nvSpPr>
          <p:cNvPr id="8195" name="Rectangle 6"/>
          <p:cNvSpPr>
            <a:spLocks noGrp="1" noChangeArrowheads="1"/>
          </p:cNvSpPr>
          <p:nvPr>
            <p:ph idx="1"/>
          </p:nvPr>
        </p:nvSpPr>
        <p:spPr>
          <a:xfrm>
            <a:off x="124609" y="894073"/>
            <a:ext cx="8853286" cy="1068077"/>
          </a:xfrm>
        </p:spPr>
        <p:txBody>
          <a:bodyPr/>
          <a:lstStyle/>
          <a:p>
            <a:pPr rtl="0">
              <a:buFont typeface="Arial" panose="020B0604020202020204" pitchFamily="34" charset="0"/>
              <a:buChar char="•"/>
            </a:pPr>
            <a:r>
              <a:rPr lang="pt-BR" sz="1800"/>
              <a:t>A codificação é o processo de conversão de informações em outra forma aceitável para a transmissão. </a:t>
            </a:r>
          </a:p>
          <a:p>
            <a:pPr rtl="0">
              <a:buFont typeface="Arial" panose="020B0604020202020204" pitchFamily="34" charset="0"/>
              <a:buChar char="•"/>
            </a:pPr>
            <a:r>
              <a:rPr lang="pt-BR" sz="1800"/>
              <a:t>A decodificação reverte esse processo para interpretar como informações. </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491" y="2089750"/>
            <a:ext cx="4263365" cy="23289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8167" y="2089750"/>
            <a:ext cx="4344573" cy="2461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64696256"/>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br>
              <a:rPr lang="en-US" altLang="en-US" dirty="0"/>
            </a:br>
            <a:r>
              <a:rPr lang="pt-BR"/>
              <a:t>As regras </a:t>
            </a:r>
            <a:r>
              <a:rPr lang="pt-BR" sz="1600"/>
              <a:t>Formatação e encapsulamento da mensagem</a:t>
            </a:r>
          </a:p>
        </p:txBody>
      </p:sp>
      <p:sp>
        <p:nvSpPr>
          <p:cNvPr id="8195" name="Rectangle 6"/>
          <p:cNvSpPr>
            <a:spLocks noGrp="1" noChangeArrowheads="1"/>
          </p:cNvSpPr>
          <p:nvPr>
            <p:ph idx="1"/>
          </p:nvPr>
        </p:nvSpPr>
        <p:spPr>
          <a:xfrm>
            <a:off x="124609" y="894074"/>
            <a:ext cx="8853286" cy="1065356"/>
          </a:xfrm>
        </p:spPr>
        <p:txBody>
          <a:bodyPr/>
          <a:lstStyle/>
          <a:p>
            <a:pPr rtl="0">
              <a:buFont typeface="Arial" panose="020B0604020202020204" pitchFamily="34" charset="0"/>
              <a:buChar char="•"/>
            </a:pPr>
            <a:r>
              <a:rPr lang="pt-BR" sz="1800"/>
              <a:t>Quando uma mensagem é enviada, ela deve usar um formato ou estrutura específica. </a:t>
            </a:r>
          </a:p>
          <a:p>
            <a:pPr rtl="0">
              <a:buFont typeface="Arial" panose="020B0604020202020204" pitchFamily="34" charset="0"/>
              <a:buChar char="•"/>
            </a:pPr>
            <a:r>
              <a:rPr lang="pt-BR" sz="1800"/>
              <a:t>Os formatos da mensagem dependem do tipo de mensagem e do canal usado para entregá-la. </a:t>
            </a:r>
          </a:p>
        </p:txBody>
      </p:sp>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4589" y="2354964"/>
            <a:ext cx="2578325" cy="27913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2354963"/>
            <a:ext cx="4197785" cy="27913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52058414"/>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br>
              <a:rPr lang="en-US" altLang="en-US" dirty="0"/>
            </a:br>
            <a:r>
              <a:rPr lang="pt-BR"/>
              <a:t>As regras </a:t>
            </a:r>
            <a:r>
              <a:rPr lang="pt-BR" sz="1600"/>
              <a:t>Tamanho da mensagem</a:t>
            </a:r>
          </a:p>
        </p:txBody>
      </p:sp>
      <p:sp>
        <p:nvSpPr>
          <p:cNvPr id="8195" name="Rectangle 6"/>
          <p:cNvSpPr>
            <a:spLocks noGrp="1" noChangeArrowheads="1"/>
          </p:cNvSpPr>
          <p:nvPr>
            <p:ph idx="1"/>
          </p:nvPr>
        </p:nvSpPr>
        <p:spPr>
          <a:xfrm>
            <a:off x="124609" y="894073"/>
            <a:ext cx="8853286" cy="1297583"/>
          </a:xfrm>
        </p:spPr>
        <p:txBody>
          <a:bodyPr/>
          <a:lstStyle/>
          <a:p>
            <a:pPr marL="0" indent="0" rtl="0">
              <a:buNone/>
            </a:pPr>
            <a:r>
              <a:rPr lang="pt-BR" sz="1600"/>
              <a:t>A codificação entre hosts deve estar em um formato adequado para o meio físico.</a:t>
            </a:r>
          </a:p>
          <a:p>
            <a:pPr lvl="1" rtl="0"/>
            <a:r>
              <a:rPr lang="pt-BR" sz="1600"/>
              <a:t>As mensagens enviadas pela rede são convertidas em bits</a:t>
            </a:r>
          </a:p>
          <a:p>
            <a:pPr lvl="1" rtl="0"/>
            <a:r>
              <a:rPr lang="pt-BR" sz="1600"/>
              <a:t>Os bits são codificados em um padrão de luz, som ou impulsos elétricos.</a:t>
            </a:r>
          </a:p>
          <a:p>
            <a:pPr lvl="1" rtl="0"/>
            <a:r>
              <a:rPr lang="pt-BR" sz="1600"/>
              <a:t>O host de destino deve decodificar os sinais para interpretar a mensagem.</a:t>
            </a: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3428" y="2424227"/>
            <a:ext cx="2867706" cy="17943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90361" y="2424227"/>
            <a:ext cx="2719055" cy="17572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87521122"/>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pt-BR" sz="1600"/>
              <a:t>As regras </a:t>
            </a:r>
            <a:br>
              <a:rPr lang="en-US" altLang="en-US" dirty="0"/>
            </a:br>
            <a:r>
              <a:rPr lang="pt-BR"/>
              <a:t>Temporização de mensagem</a:t>
            </a:r>
          </a:p>
        </p:txBody>
      </p:sp>
      <p:sp>
        <p:nvSpPr>
          <p:cNvPr id="8195" name="Rectangle 6"/>
          <p:cNvSpPr>
            <a:spLocks noGrp="1" noChangeArrowheads="1"/>
          </p:cNvSpPr>
          <p:nvPr>
            <p:ph idx="1"/>
          </p:nvPr>
        </p:nvSpPr>
        <p:spPr>
          <a:xfrm>
            <a:off x="124609" y="894073"/>
            <a:ext cx="8853286" cy="3953697"/>
          </a:xfrm>
        </p:spPr>
        <p:txBody>
          <a:bodyPr/>
          <a:lstStyle/>
          <a:p>
            <a:pPr marL="0" indent="0" rtl="0">
              <a:buNone/>
            </a:pPr>
            <a:r>
              <a:rPr lang="pt-BR" sz="1600"/>
              <a:t>A temporização da mensagem inclui o seguinte: </a:t>
            </a:r>
          </a:p>
          <a:p>
            <a:pPr marL="142875" lvl="1" indent="0" rtl="0">
              <a:buNone/>
            </a:pPr>
            <a:r>
              <a:rPr lang="pt-BR" sz="1600" b="1"/>
              <a:t>Controle de fluxo - </a:t>
            </a:r>
            <a:r>
              <a:rPr lang="pt-BR" sz="1600"/>
              <a:t>gerencia a taxa de transmissão de dados e define quanta informação pode ser enviada e a velocidade na qual ela pode ser entregue.</a:t>
            </a:r>
          </a:p>
          <a:p>
            <a:pPr marL="142875" lvl="1" indent="0" rtl="0">
              <a:buNone/>
            </a:pPr>
            <a:r>
              <a:rPr lang="pt-BR" sz="1600" b="1"/>
              <a:t>Tempo limite de resposta —</a:t>
            </a:r>
            <a:r>
              <a:rPr lang="pt-BR" sz="1600"/>
              <a:t> gerencia o tempo que um dispositivo espera quando não ouve uma resposta do destino. </a:t>
            </a:r>
          </a:p>
          <a:p>
            <a:pPr marL="142875" lvl="1" indent="0" rtl="0">
              <a:buNone/>
            </a:pPr>
            <a:r>
              <a:rPr lang="pt-BR" sz="1600" b="1"/>
              <a:t>Método de acesso -</a:t>
            </a:r>
            <a:r>
              <a:rPr lang="pt-BR" sz="1600"/>
              <a:t> determinar quando alguém pode enviar uma mensagem.</a:t>
            </a:r>
            <a:r>
              <a:rPr lang="pt-BR" sz="1600" b="1"/>
              <a:t> </a:t>
            </a:r>
          </a:p>
          <a:p>
            <a:pPr lvl="2" rtl="0"/>
            <a:r>
              <a:rPr lang="pt-BR" sz="1600"/>
              <a:t>Pode haver várias regras que regem questões como “colisões”. Isso ocorre quando mais de um dispositivo envia tráfego ao mesmo tempo e as mensagens ficam corrompidas. </a:t>
            </a:r>
          </a:p>
          <a:p>
            <a:pPr lvl="2" rtl="0"/>
            <a:r>
              <a:rPr lang="pt-BR" sz="1600"/>
              <a:t>Alguns protocolos são proativos e tentam evitar colisões; outros protocolos são reativos e estabelecem um método de recuperação após a colisão ocorrer.</a:t>
            </a:r>
          </a:p>
          <a:p>
            <a:pPr marL="0" indent="0">
              <a:buNone/>
            </a:pPr>
            <a:endParaRPr lang="en-US" dirty="0"/>
          </a:p>
        </p:txBody>
      </p:sp>
    </p:spTree>
    <p:extLst>
      <p:ext uri="{BB962C8B-B14F-4D97-AF65-F5344CB8AC3E}">
        <p14:creationId xmlns:p14="http://schemas.microsoft.com/office/powerpoint/2010/main" val="3271873300"/>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pt-BR" sz="1600"/>
              <a:t>As regras </a:t>
            </a:r>
            <a:br>
              <a:rPr lang="en-US" altLang="en-US" dirty="0"/>
            </a:br>
            <a:r>
              <a:rPr lang="pt-BR"/>
              <a:t>Opções de entrega da mensagem</a:t>
            </a:r>
          </a:p>
        </p:txBody>
      </p:sp>
      <p:sp>
        <p:nvSpPr>
          <p:cNvPr id="8195" name="Rectangle 6"/>
          <p:cNvSpPr>
            <a:spLocks noGrp="1" noChangeArrowheads="1"/>
          </p:cNvSpPr>
          <p:nvPr>
            <p:ph idx="1"/>
          </p:nvPr>
        </p:nvSpPr>
        <p:spPr>
          <a:xfrm>
            <a:off x="145357" y="798944"/>
            <a:ext cx="8853286" cy="2252728"/>
          </a:xfrm>
        </p:spPr>
        <p:txBody>
          <a:bodyPr/>
          <a:lstStyle/>
          <a:p>
            <a:pPr marL="0" indent="0" rtl="0">
              <a:buNone/>
            </a:pPr>
            <a:r>
              <a:rPr lang="pt-BR" sz="1600"/>
              <a:t>A entrega de mensagens pode ser um dos seguintes métodos: </a:t>
            </a:r>
          </a:p>
          <a:p>
            <a:pPr lvl="1" rtl="0"/>
            <a:r>
              <a:rPr lang="pt-BR" sz="1600" b="1"/>
              <a:t>Unicast – </a:t>
            </a:r>
            <a:r>
              <a:rPr lang="pt-BR" sz="1600"/>
              <a:t>comunicação um para um.</a:t>
            </a:r>
          </a:p>
          <a:p>
            <a:pPr lvl="1" rtl="0"/>
            <a:r>
              <a:rPr lang="pt-BR" sz="1600" b="1"/>
              <a:t>Multicast —</a:t>
            </a:r>
            <a:r>
              <a:rPr lang="pt-BR" sz="1600"/>
              <a:t> um para muitos, geralmente não todos</a:t>
            </a:r>
          </a:p>
          <a:p>
            <a:pPr lvl="1" rtl="0"/>
            <a:r>
              <a:rPr lang="pt-BR" sz="1600" b="1"/>
              <a:t>Broadcast </a:t>
            </a:r>
            <a:r>
              <a:rPr lang="pt-BR" sz="1600"/>
              <a:t>– um para todos</a:t>
            </a:r>
          </a:p>
          <a:p>
            <a:pPr lvl="1"/>
            <a:endParaRPr lang="en-US" sz="1600" dirty="0"/>
          </a:p>
          <a:p>
            <a:pPr marL="0" indent="0" rtl="0">
              <a:buNone/>
            </a:pPr>
            <a:r>
              <a:rPr lang="pt-BR" sz="1600" b="1"/>
              <a:t>Nota: As</a:t>
            </a:r>
            <a:r>
              <a:rPr lang="pt-BR" sz="1600"/>
              <a:t>transmissões são usadas em redes IPv4, mas não são uma opção para IPv6. Mais tarde, também veremos “Anycast” como uma opção de entrega adicional para IPv6. </a:t>
            </a:r>
          </a:p>
          <a:p>
            <a:pPr marL="0" indent="0">
              <a:buNone/>
            </a:pPr>
            <a:endParaRPr lang="en-US" dirty="0"/>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649" y="3170930"/>
            <a:ext cx="1802265" cy="13452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8117" y="3170930"/>
            <a:ext cx="1843139" cy="13452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52362" y="3170929"/>
            <a:ext cx="1864324" cy="13452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34997181"/>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pt-BR" sz="1600"/>
              <a:t>As Regras</a:t>
            </a:r>
            <a:br>
              <a:rPr lang="en-US" altLang="en-US" dirty="0"/>
            </a:br>
            <a:r>
              <a:rPr lang="pt-BR"/>
              <a:t>Uma Nota Sobre o Ícone de Nó</a:t>
            </a:r>
          </a:p>
        </p:txBody>
      </p:sp>
      <p:sp>
        <p:nvSpPr>
          <p:cNvPr id="8195" name="Rectangle 6"/>
          <p:cNvSpPr>
            <a:spLocks noGrp="1" noChangeArrowheads="1"/>
          </p:cNvSpPr>
          <p:nvPr>
            <p:ph idx="1"/>
          </p:nvPr>
        </p:nvSpPr>
        <p:spPr>
          <a:xfrm>
            <a:off x="124609" y="894074"/>
            <a:ext cx="8853286" cy="760555"/>
          </a:xfrm>
        </p:spPr>
        <p:txBody>
          <a:bodyPr/>
          <a:lstStyle/>
          <a:p>
            <a:pPr rtl="0">
              <a:buFont typeface="Arial" panose="020B0604020202020204" pitchFamily="34" charset="0"/>
              <a:buChar char="•"/>
            </a:pPr>
            <a:r>
              <a:rPr lang="pt-BR" sz="1600"/>
              <a:t>Os documentos podem usar o ícone do nó, normalmente um círculo, para representar todos os dispositivos. </a:t>
            </a:r>
          </a:p>
          <a:p>
            <a:pPr rtl="0">
              <a:buFont typeface="Arial" panose="020B0604020202020204" pitchFamily="34" charset="0"/>
              <a:buChar char="•"/>
            </a:pPr>
            <a:r>
              <a:rPr lang="pt-BR" sz="1600"/>
              <a:t>A figura ilustra o uso do ícone do nó para opções de entrega.</a:t>
            </a:r>
          </a:p>
          <a:p>
            <a:pPr marL="0" indent="0">
              <a:buNone/>
            </a:pPr>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9143" y="1780722"/>
            <a:ext cx="5543096" cy="27715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45570941"/>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pPr rtl="0"/>
            <a:r>
              <a:rPr lang="pt-BR">
                <a:solidFill>
                  <a:schemeClr val="accent5">
                    <a:lumMod val="40000"/>
                    <a:lumOff val="60000"/>
                  </a:schemeClr>
                </a:solidFill>
              </a:rPr>
              <a:t>3.2 Protocolos</a:t>
            </a:r>
          </a:p>
        </p:txBody>
      </p:sp>
    </p:spTree>
    <p:custDataLst>
      <p:tags r:id="rId1"/>
    </p:custDataLst>
    <p:extLst>
      <p:ext uri="{BB962C8B-B14F-4D97-AF65-F5344CB8AC3E}">
        <p14:creationId xmlns:p14="http://schemas.microsoft.com/office/powerpoint/2010/main" val="1758337446"/>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pt-BR" sz="1600"/>
              <a:t>Visão geral do </a:t>
            </a:r>
            <a:br>
              <a:rPr lang="en-US" altLang="en-US" dirty="0"/>
            </a:br>
            <a:r>
              <a:rPr lang="pt-BR"/>
              <a:t>protocolo derede</a:t>
            </a:r>
          </a:p>
        </p:txBody>
      </p:sp>
      <p:sp>
        <p:nvSpPr>
          <p:cNvPr id="8195" name="Rectangle 6"/>
          <p:cNvSpPr>
            <a:spLocks noGrp="1" noChangeArrowheads="1"/>
          </p:cNvSpPr>
          <p:nvPr>
            <p:ph idx="1"/>
          </p:nvPr>
        </p:nvSpPr>
        <p:spPr>
          <a:xfrm>
            <a:off x="246743" y="798945"/>
            <a:ext cx="2757714" cy="3611129"/>
          </a:xfrm>
        </p:spPr>
        <p:txBody>
          <a:bodyPr/>
          <a:lstStyle/>
          <a:p>
            <a:pPr marL="0" indent="0" rtl="0">
              <a:buNone/>
            </a:pPr>
            <a:r>
              <a:rPr lang="pt-BR" sz="1600"/>
              <a:t>Protocolos de rede definem um conjunto comum de regras.</a:t>
            </a:r>
          </a:p>
          <a:p>
            <a:pPr rtl="0">
              <a:buFont typeface="Arial" panose="020B0604020202020204" pitchFamily="34" charset="0"/>
              <a:buChar char="•"/>
            </a:pPr>
            <a:r>
              <a:rPr lang="pt-BR" sz="1600"/>
              <a:t>Pode ser implementado em dispositivos em:</a:t>
            </a:r>
          </a:p>
          <a:p>
            <a:pPr lvl="1" rtl="0"/>
            <a:r>
              <a:rPr lang="pt-BR" sz="1600"/>
              <a:t>Software</a:t>
            </a:r>
          </a:p>
          <a:p>
            <a:pPr lvl="1" rtl="0"/>
            <a:r>
              <a:rPr lang="pt-BR" sz="1600"/>
              <a:t>Hardware</a:t>
            </a:r>
          </a:p>
          <a:p>
            <a:pPr lvl="1" rtl="0"/>
            <a:r>
              <a:rPr lang="pt-BR" sz="1600"/>
              <a:t>Ambos</a:t>
            </a:r>
          </a:p>
          <a:p>
            <a:pPr rtl="0">
              <a:buFont typeface="Arial" panose="020B0604020202020204" pitchFamily="34" charset="0"/>
              <a:buChar char="•"/>
            </a:pPr>
            <a:r>
              <a:rPr lang="pt-BR" sz="1600"/>
              <a:t>Protocolos têm os seus próprios:</a:t>
            </a:r>
          </a:p>
          <a:p>
            <a:pPr lvl="1" rtl="0"/>
            <a:r>
              <a:rPr lang="pt-BR" sz="1600"/>
              <a:t>Função</a:t>
            </a:r>
          </a:p>
          <a:p>
            <a:pPr lvl="1" rtl="0"/>
            <a:r>
              <a:rPr lang="pt-BR" sz="1600"/>
              <a:t>Formato</a:t>
            </a:r>
          </a:p>
          <a:p>
            <a:pPr lvl="1" rtl="0"/>
            <a:r>
              <a:rPr lang="pt-BR" sz="1600"/>
              <a:t>Regras</a:t>
            </a:r>
          </a:p>
          <a:p>
            <a:pPr marL="0" indent="0" rtl="0">
              <a:buNone/>
            </a:pPr>
            <a:r>
              <a:rPr lang="pt-BR"/>
              <a:t> </a:t>
            </a:r>
          </a:p>
        </p:txBody>
      </p:sp>
      <p:graphicFrame>
        <p:nvGraphicFramePr>
          <p:cNvPr id="2" name="Table 1"/>
          <p:cNvGraphicFramePr>
            <a:graphicFrameLocks noGrp="1"/>
          </p:cNvGraphicFramePr>
          <p:nvPr>
            <p:extLst>
              <p:ext uri="{D42A27DB-BD31-4B8C-83A1-F6EECF244321}">
                <p14:modId xmlns:p14="http://schemas.microsoft.com/office/powerpoint/2010/main" val="3363084827"/>
              </p:ext>
            </p:extLst>
          </p:nvPr>
        </p:nvGraphicFramePr>
        <p:xfrm>
          <a:off x="3048000" y="957943"/>
          <a:ext cx="5776684" cy="3554664"/>
        </p:xfrm>
        <a:graphic>
          <a:graphicData uri="http://schemas.openxmlformats.org/drawingml/2006/table">
            <a:tbl>
              <a:tblPr firstRow="1" bandRow="1">
                <a:tableStyleId>{5C22544A-7EE6-4342-B048-85BDC9FD1C3A}</a:tableStyleId>
              </a:tblPr>
              <a:tblGrid>
                <a:gridCol w="1553028">
                  <a:extLst>
                    <a:ext uri="{9D8B030D-6E8A-4147-A177-3AD203B41FA5}">
                      <a16:colId xmlns:a16="http://schemas.microsoft.com/office/drawing/2014/main" val="20000"/>
                    </a:ext>
                  </a:extLst>
                </a:gridCol>
                <a:gridCol w="4223656">
                  <a:extLst>
                    <a:ext uri="{9D8B030D-6E8A-4147-A177-3AD203B41FA5}">
                      <a16:colId xmlns:a16="http://schemas.microsoft.com/office/drawing/2014/main" val="20001"/>
                    </a:ext>
                  </a:extLst>
                </a:gridCol>
              </a:tblGrid>
              <a:tr h="664980">
                <a:tc>
                  <a:txBody>
                    <a:bodyPr/>
                    <a:lstStyle/>
                    <a:p>
                      <a:pPr rtl="0"/>
                      <a:r>
                        <a:rPr lang="pt-BR"/>
                        <a:t>Tipo de Protocolo</a:t>
                      </a:r>
                    </a:p>
                  </a:txBody>
                  <a:tcPr/>
                </a:tc>
                <a:tc>
                  <a:txBody>
                    <a:bodyPr/>
                    <a:lstStyle/>
                    <a:p>
                      <a:pPr rtl="0"/>
                      <a:r>
                        <a:rPr lang="pt-BR"/>
                        <a:t>Descrição</a:t>
                      </a:r>
                    </a:p>
                  </a:txBody>
                  <a:tcPr/>
                </a:tc>
                <a:extLst>
                  <a:ext uri="{0D108BD9-81ED-4DB2-BD59-A6C34878D82A}">
                    <a16:rowId xmlns:a16="http://schemas.microsoft.com/office/drawing/2014/main" val="10000"/>
                  </a:ext>
                </a:extLst>
              </a:tr>
              <a:tr h="719388">
                <a:tc>
                  <a:txBody>
                    <a:bodyPr/>
                    <a:lstStyle/>
                    <a:p>
                      <a:pPr rtl="0"/>
                      <a:r>
                        <a:rPr lang="pt-BR"/>
                        <a:t>Comunicações em Rede</a:t>
                      </a:r>
                    </a:p>
                  </a:txBody>
                  <a:tcPr/>
                </a:tc>
                <a:tc>
                  <a:txBody>
                    <a:bodyPr/>
                    <a:lstStyle/>
                    <a:p>
                      <a:pPr rtl="0"/>
                      <a:r>
                        <a:rPr lang="pt-BR"/>
                        <a:t>permitir que dois ou mais dispositivos se comuniquem através de uma ou mais redes</a:t>
                      </a:r>
                    </a:p>
                  </a:txBody>
                  <a:tcPr/>
                </a:tc>
                <a:extLst>
                  <a:ext uri="{0D108BD9-81ED-4DB2-BD59-A6C34878D82A}">
                    <a16:rowId xmlns:a16="http://schemas.microsoft.com/office/drawing/2014/main" val="10001"/>
                  </a:ext>
                </a:extLst>
              </a:tr>
              <a:tr h="719388">
                <a:tc>
                  <a:txBody>
                    <a:bodyPr/>
                    <a:lstStyle/>
                    <a:p>
                      <a:pPr rtl="0"/>
                      <a:r>
                        <a:rPr lang="pt-BR" baseline="0"/>
                        <a:t>Segurança</a:t>
                      </a:r>
                      <a:r>
                        <a:rPr lang="pt-BR"/>
                        <a:t> da rede</a:t>
                      </a:r>
                    </a:p>
                  </a:txBody>
                  <a:tcPr/>
                </a:tc>
                <a:tc>
                  <a:txBody>
                    <a:bodyPr/>
                    <a:lstStyle/>
                    <a:p>
                      <a:pPr rtl="0"/>
                      <a:r>
                        <a:rPr lang="pt-BR"/>
                        <a:t>dados seguros para fornecer autenticação, integridade de dados e criptografia de dados</a:t>
                      </a:r>
                    </a:p>
                  </a:txBody>
                  <a:tcPr/>
                </a:tc>
                <a:extLst>
                  <a:ext uri="{0D108BD9-81ED-4DB2-BD59-A6C34878D82A}">
                    <a16:rowId xmlns:a16="http://schemas.microsoft.com/office/drawing/2014/main" val="10002"/>
                  </a:ext>
                </a:extLst>
              </a:tr>
              <a:tr h="718340">
                <a:tc>
                  <a:txBody>
                    <a:bodyPr/>
                    <a:lstStyle/>
                    <a:p>
                      <a:pPr rtl="0"/>
                      <a:r>
                        <a:rPr lang="pt-BR"/>
                        <a:t>Roteamento</a:t>
                      </a:r>
                    </a:p>
                  </a:txBody>
                  <a:tcPr/>
                </a:tc>
                <a:tc>
                  <a:txBody>
                    <a:bodyPr/>
                    <a:lstStyle/>
                    <a:p>
                      <a:pPr rtl="0"/>
                      <a:r>
                        <a:rPr lang="pt-BR"/>
                        <a:t>permitir que os roteadores troquem informações de rota, comparem informações de caminho e selecionem o melhor caminho</a:t>
                      </a:r>
                    </a:p>
                  </a:txBody>
                  <a:tcPr/>
                </a:tc>
                <a:extLst>
                  <a:ext uri="{0D108BD9-81ED-4DB2-BD59-A6C34878D82A}">
                    <a16:rowId xmlns:a16="http://schemas.microsoft.com/office/drawing/2014/main" val="10003"/>
                  </a:ext>
                </a:extLst>
              </a:tr>
              <a:tr h="719388">
                <a:tc>
                  <a:txBody>
                    <a:bodyPr/>
                    <a:lstStyle/>
                    <a:p>
                      <a:pPr rtl="0"/>
                      <a:r>
                        <a:rPr lang="pt-BR"/>
                        <a:t>Descoberta de serviço</a:t>
                      </a:r>
                    </a:p>
                  </a:txBody>
                  <a:tcPr/>
                </a:tc>
                <a:tc>
                  <a:txBody>
                    <a:bodyPr/>
                    <a:lstStyle/>
                    <a:p>
                      <a:pPr rtl="0"/>
                      <a:r>
                        <a:rPr lang="pt-BR"/>
                        <a:t>usado para a detecção automática de dispositivos ou serviços</a:t>
                      </a:r>
                    </a:p>
                  </a:txBody>
                  <a:tcPr/>
                </a:tc>
                <a:extLst>
                  <a:ext uri="{0D108BD9-81ED-4DB2-BD59-A6C34878D82A}">
                    <a16:rowId xmlns:a16="http://schemas.microsoft.com/office/drawing/2014/main" val="10004"/>
                  </a:ext>
                </a:extLst>
              </a:tr>
            </a:tbl>
          </a:graphicData>
        </a:graphic>
      </p:graphicFrame>
    </p:spTree>
    <p:custDataLst>
      <p:tags r:id="rId1"/>
    </p:custDataLst>
    <p:extLst>
      <p:ext uri="{BB962C8B-B14F-4D97-AF65-F5344CB8AC3E}">
        <p14:creationId xmlns:p14="http://schemas.microsoft.com/office/powerpoint/2010/main" val="49223303"/>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 y="41393"/>
            <a:ext cx="4034970" cy="757551"/>
          </a:xfrm>
        </p:spPr>
        <p:txBody>
          <a:bodyPr/>
          <a:lstStyle/>
          <a:p>
            <a:pPr rtl="0"/>
            <a:br>
              <a:rPr lang="en-US" altLang="en-US" dirty="0"/>
            </a:br>
            <a:r>
              <a:rPr lang="pt-BR"/>
              <a:t>Funções de protocolo de rede</a:t>
            </a:r>
          </a:p>
        </p:txBody>
      </p:sp>
      <p:sp>
        <p:nvSpPr>
          <p:cNvPr id="8195" name="Rectangle 6"/>
          <p:cNvSpPr>
            <a:spLocks noGrp="1" noChangeArrowheads="1"/>
          </p:cNvSpPr>
          <p:nvPr>
            <p:ph idx="1"/>
          </p:nvPr>
        </p:nvSpPr>
        <p:spPr>
          <a:xfrm>
            <a:off x="253929" y="929612"/>
            <a:ext cx="3715657" cy="1320800"/>
          </a:xfrm>
        </p:spPr>
        <p:txBody>
          <a:bodyPr/>
          <a:lstStyle/>
          <a:p>
            <a:pPr rtl="0">
              <a:buFont typeface="Arial" panose="020B0604020202020204" pitchFamily="34" charset="0"/>
              <a:buChar char="•"/>
            </a:pPr>
            <a:r>
              <a:rPr lang="pt-BR" sz="1600"/>
              <a:t>Os dispositivos usam protocolos acordados para se comunicar.</a:t>
            </a:r>
          </a:p>
          <a:p>
            <a:pPr rtl="0">
              <a:buFont typeface="Arial" panose="020B0604020202020204" pitchFamily="34" charset="0"/>
              <a:buChar char="•"/>
            </a:pPr>
            <a:r>
              <a:rPr lang="pt-BR" sz="1600"/>
              <a:t>Protocolos podem ter pode ter uma ou funções.</a:t>
            </a:r>
          </a:p>
        </p:txBody>
      </p:sp>
      <p:graphicFrame>
        <p:nvGraphicFramePr>
          <p:cNvPr id="2" name="Table 1"/>
          <p:cNvGraphicFramePr>
            <a:graphicFrameLocks noGrp="1"/>
          </p:cNvGraphicFramePr>
          <p:nvPr>
            <p:extLst>
              <p:ext uri="{D42A27DB-BD31-4B8C-83A1-F6EECF244321}">
                <p14:modId xmlns:p14="http://schemas.microsoft.com/office/powerpoint/2010/main" val="1226193035"/>
              </p:ext>
            </p:extLst>
          </p:nvPr>
        </p:nvGraphicFramePr>
        <p:xfrm>
          <a:off x="377146" y="2319920"/>
          <a:ext cx="8316911" cy="2278755"/>
        </p:xfrm>
        <a:graphic>
          <a:graphicData uri="http://schemas.openxmlformats.org/drawingml/2006/table">
            <a:tbl>
              <a:tblPr firstRow="1" bandRow="1">
                <a:tableStyleId>{5C22544A-7EE6-4342-B048-85BDC9FD1C3A}</a:tableStyleId>
              </a:tblPr>
              <a:tblGrid>
                <a:gridCol w="2351539">
                  <a:extLst>
                    <a:ext uri="{9D8B030D-6E8A-4147-A177-3AD203B41FA5}">
                      <a16:colId xmlns:a16="http://schemas.microsoft.com/office/drawing/2014/main" val="20000"/>
                    </a:ext>
                  </a:extLst>
                </a:gridCol>
                <a:gridCol w="5965372">
                  <a:extLst>
                    <a:ext uri="{9D8B030D-6E8A-4147-A177-3AD203B41FA5}">
                      <a16:colId xmlns:a16="http://schemas.microsoft.com/office/drawing/2014/main" val="20001"/>
                    </a:ext>
                  </a:extLst>
                </a:gridCol>
              </a:tblGrid>
              <a:tr h="317432">
                <a:tc>
                  <a:txBody>
                    <a:bodyPr/>
                    <a:lstStyle/>
                    <a:p>
                      <a:pPr rtl="0"/>
                      <a:r>
                        <a:rPr lang="pt-BR"/>
                        <a:t>Função</a:t>
                      </a:r>
                    </a:p>
                  </a:txBody>
                  <a:tcPr/>
                </a:tc>
                <a:tc>
                  <a:txBody>
                    <a:bodyPr/>
                    <a:lstStyle/>
                    <a:p>
                      <a:pPr rtl="0"/>
                      <a:r>
                        <a:rPr lang="pt-BR"/>
                        <a:t>Descrição</a:t>
                      </a:r>
                    </a:p>
                  </a:txBody>
                  <a:tcPr/>
                </a:tc>
                <a:extLst>
                  <a:ext uri="{0D108BD9-81ED-4DB2-BD59-A6C34878D82A}">
                    <a16:rowId xmlns:a16="http://schemas.microsoft.com/office/drawing/2014/main" val="10000"/>
                  </a:ext>
                </a:extLst>
              </a:tr>
              <a:tr h="323562">
                <a:tc>
                  <a:txBody>
                    <a:bodyPr/>
                    <a:lstStyle/>
                    <a:p>
                      <a:pPr rtl="0"/>
                      <a:r>
                        <a:rPr lang="pt-BR"/>
                        <a:t>Endereçamento</a:t>
                      </a:r>
                    </a:p>
                  </a:txBody>
                  <a:tcPr/>
                </a:tc>
                <a:tc>
                  <a:txBody>
                    <a:bodyPr/>
                    <a:lstStyle/>
                    <a:p>
                      <a:pPr rtl="0"/>
                      <a:r>
                        <a:rPr lang="pt-BR"/>
                        <a:t>Identificação de</a:t>
                      </a:r>
                      <a:r>
                        <a:rPr lang="pt-BR" baseline="0"/>
                        <a:t> remetente e destinatário</a:t>
                      </a:r>
                    </a:p>
                  </a:txBody>
                  <a:tcPr/>
                </a:tc>
                <a:extLst>
                  <a:ext uri="{0D108BD9-81ED-4DB2-BD59-A6C34878D82A}">
                    <a16:rowId xmlns:a16="http://schemas.microsoft.com/office/drawing/2014/main" val="10001"/>
                  </a:ext>
                </a:extLst>
              </a:tr>
              <a:tr h="333828">
                <a:tc>
                  <a:txBody>
                    <a:bodyPr/>
                    <a:lstStyle/>
                    <a:p>
                      <a:pPr rtl="0"/>
                      <a:r>
                        <a:rPr lang="pt-BR"/>
                        <a:t>Confiabilidade</a:t>
                      </a:r>
                    </a:p>
                  </a:txBody>
                  <a:tcPr/>
                </a:tc>
                <a:tc>
                  <a:txBody>
                    <a:bodyPr/>
                    <a:lstStyle/>
                    <a:p>
                      <a:pPr rtl="0"/>
                      <a:r>
                        <a:rPr lang="pt-BR"/>
                        <a:t>Fornece entrega garantida</a:t>
                      </a:r>
                    </a:p>
                  </a:txBody>
                  <a:tcPr/>
                </a:tc>
                <a:extLst>
                  <a:ext uri="{0D108BD9-81ED-4DB2-BD59-A6C34878D82A}">
                    <a16:rowId xmlns:a16="http://schemas.microsoft.com/office/drawing/2014/main" val="10002"/>
                  </a:ext>
                </a:extLst>
              </a:tr>
              <a:tr h="335320">
                <a:tc>
                  <a:txBody>
                    <a:bodyPr/>
                    <a:lstStyle/>
                    <a:p>
                      <a:pPr rtl="0"/>
                      <a:r>
                        <a:rPr lang="pt-BR"/>
                        <a:t>Controle de fluxo</a:t>
                      </a:r>
                    </a:p>
                  </a:txBody>
                  <a:tcPr/>
                </a:tc>
                <a:tc>
                  <a:txBody>
                    <a:bodyPr/>
                    <a:lstStyle/>
                    <a:p>
                      <a:pPr rtl="0"/>
                      <a:r>
                        <a:rPr lang="pt-BR"/>
                        <a:t>Garante fluxos de dados a uma</a:t>
                      </a:r>
                      <a:r>
                        <a:rPr lang="pt-BR" baseline="0"/>
                        <a:t> taxa</a:t>
                      </a:r>
                      <a:r>
                        <a:rPr lang="pt-BR"/>
                        <a:t>eficiente</a:t>
                      </a:r>
                    </a:p>
                  </a:txBody>
                  <a:tcPr/>
                </a:tc>
                <a:extLst>
                  <a:ext uri="{0D108BD9-81ED-4DB2-BD59-A6C34878D82A}">
                    <a16:rowId xmlns:a16="http://schemas.microsoft.com/office/drawing/2014/main" val="10003"/>
                  </a:ext>
                </a:extLst>
              </a:tr>
              <a:tr h="319314">
                <a:tc>
                  <a:txBody>
                    <a:bodyPr/>
                    <a:lstStyle/>
                    <a:p>
                      <a:pPr rtl="0"/>
                      <a:r>
                        <a:rPr lang="pt-BR"/>
                        <a:t>Sequenciamento</a:t>
                      </a:r>
                    </a:p>
                  </a:txBody>
                  <a:tcPr/>
                </a:tc>
                <a:tc>
                  <a:txBody>
                    <a:bodyPr/>
                    <a:lstStyle/>
                    <a:p>
                      <a:pPr rtl="0"/>
                      <a:r>
                        <a:rPr lang="pt-BR"/>
                        <a:t>Rotula exclusivamente cada segmento de dados transmitido</a:t>
                      </a:r>
                    </a:p>
                  </a:txBody>
                  <a:tcPr/>
                </a:tc>
                <a:extLst>
                  <a:ext uri="{0D108BD9-81ED-4DB2-BD59-A6C34878D82A}">
                    <a16:rowId xmlns:a16="http://schemas.microsoft.com/office/drawing/2014/main" val="10004"/>
                  </a:ext>
                </a:extLst>
              </a:tr>
              <a:tr h="331867">
                <a:tc>
                  <a:txBody>
                    <a:bodyPr/>
                    <a:lstStyle/>
                    <a:p>
                      <a:pPr rtl="0"/>
                      <a:r>
                        <a:rPr lang="pt-BR"/>
                        <a:t>Detecção de erros</a:t>
                      </a:r>
                    </a:p>
                  </a:txBody>
                  <a:tcPr/>
                </a:tc>
                <a:tc>
                  <a:txBody>
                    <a:bodyPr/>
                    <a:lstStyle/>
                    <a:p>
                      <a:pPr rtl="0"/>
                      <a:r>
                        <a:rPr lang="pt-BR"/>
                        <a:t>Determina se os dados ficaram corrompidos durante a transmissão</a:t>
                      </a:r>
                    </a:p>
                  </a:txBody>
                  <a:tcPr/>
                </a:tc>
                <a:extLst>
                  <a:ext uri="{0D108BD9-81ED-4DB2-BD59-A6C34878D82A}">
                    <a16:rowId xmlns:a16="http://schemas.microsoft.com/office/drawing/2014/main" val="10005"/>
                  </a:ext>
                </a:extLst>
              </a:tr>
              <a:tr h="317432">
                <a:tc>
                  <a:txBody>
                    <a:bodyPr/>
                    <a:lstStyle/>
                    <a:p>
                      <a:pPr rtl="0"/>
                      <a:r>
                        <a:rPr lang="pt-BR"/>
                        <a:t>Interface de aplicação</a:t>
                      </a:r>
                    </a:p>
                  </a:txBody>
                  <a:tcPr/>
                </a:tc>
                <a:tc>
                  <a:txBody>
                    <a:bodyPr/>
                    <a:lstStyle/>
                    <a:p>
                      <a:pPr rtl="0"/>
                      <a:r>
                        <a:rPr lang="pt-BR"/>
                        <a:t>Comunicações de processo a processo entre aplicativos de rede</a:t>
                      </a:r>
                    </a:p>
                  </a:txBody>
                  <a:tcPr/>
                </a:tc>
                <a:extLst>
                  <a:ext uri="{0D108BD9-81ED-4DB2-BD59-A6C34878D82A}">
                    <a16:rowId xmlns:a16="http://schemas.microsoft.com/office/drawing/2014/main" val="10006"/>
                  </a:ext>
                </a:extLst>
              </a:tr>
            </a:tbl>
          </a:graphicData>
        </a:graphic>
      </p:graphicFrame>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09143" y="0"/>
            <a:ext cx="4491945" cy="21760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703112685"/>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41393"/>
            <a:ext cx="4688113" cy="829464"/>
          </a:xfrm>
        </p:spPr>
        <p:txBody>
          <a:bodyPr/>
          <a:lstStyle/>
          <a:p>
            <a:pPr rtl="0"/>
            <a:br>
              <a:rPr lang="en-US" altLang="en-US" dirty="0"/>
            </a:br>
            <a:r>
              <a:rPr lang="pt-BR"/>
              <a:t>Protocolos </a:t>
            </a:r>
            <a:r>
              <a:rPr lang="pt-BR" sz="1600"/>
              <a:t>Interação de protocolos</a:t>
            </a:r>
          </a:p>
        </p:txBody>
      </p:sp>
      <p:sp>
        <p:nvSpPr>
          <p:cNvPr id="8195" name="Rectangle 6"/>
          <p:cNvSpPr>
            <a:spLocks noGrp="1" noChangeArrowheads="1"/>
          </p:cNvSpPr>
          <p:nvPr>
            <p:ph idx="1"/>
          </p:nvPr>
        </p:nvSpPr>
        <p:spPr>
          <a:xfrm>
            <a:off x="203201" y="986971"/>
            <a:ext cx="4572000" cy="990512"/>
          </a:xfrm>
        </p:spPr>
        <p:txBody>
          <a:bodyPr/>
          <a:lstStyle/>
          <a:p>
            <a:pPr rtl="0">
              <a:buFont typeface="Arial" panose="020B0604020202020204" pitchFamily="34" charset="0"/>
              <a:buChar char="•"/>
            </a:pPr>
            <a:r>
              <a:rPr lang="pt-BR" sz="1600"/>
              <a:t>As redes exigem o uso de vários protocolos.</a:t>
            </a:r>
          </a:p>
          <a:p>
            <a:pPr rtl="0">
              <a:buFont typeface="Arial" panose="020B0604020202020204" pitchFamily="34" charset="0"/>
              <a:buChar char="•"/>
            </a:pPr>
            <a:r>
              <a:rPr lang="pt-BR" sz="1600"/>
              <a:t>Cada protocolo tem sua própria função e formato.</a:t>
            </a:r>
          </a:p>
          <a:p>
            <a:pPr marL="0" indent="0">
              <a:buNone/>
            </a:pPr>
            <a:endParaRPr lang="en-US" altLang="ja-JP" dirty="0"/>
          </a:p>
        </p:txBody>
      </p:sp>
      <p:graphicFrame>
        <p:nvGraphicFramePr>
          <p:cNvPr id="2" name="Table 1"/>
          <p:cNvGraphicFramePr>
            <a:graphicFrameLocks noGrp="1"/>
          </p:cNvGraphicFramePr>
          <p:nvPr>
            <p:extLst>
              <p:ext uri="{D42A27DB-BD31-4B8C-83A1-F6EECF244321}">
                <p14:modId xmlns:p14="http://schemas.microsoft.com/office/powerpoint/2010/main" val="1439054526"/>
              </p:ext>
            </p:extLst>
          </p:nvPr>
        </p:nvGraphicFramePr>
        <p:xfrm>
          <a:off x="449717" y="2254251"/>
          <a:ext cx="8316911" cy="2621320"/>
        </p:xfrm>
        <a:graphic>
          <a:graphicData uri="http://schemas.openxmlformats.org/drawingml/2006/table">
            <a:tbl>
              <a:tblPr firstRow="1" bandRow="1">
                <a:tableStyleId>{5C22544A-7EE6-4342-B048-85BDC9FD1C3A}</a:tableStyleId>
              </a:tblPr>
              <a:tblGrid>
                <a:gridCol w="2090283">
                  <a:extLst>
                    <a:ext uri="{9D8B030D-6E8A-4147-A177-3AD203B41FA5}">
                      <a16:colId xmlns:a16="http://schemas.microsoft.com/office/drawing/2014/main" val="20000"/>
                    </a:ext>
                  </a:extLst>
                </a:gridCol>
                <a:gridCol w="6226628">
                  <a:extLst>
                    <a:ext uri="{9D8B030D-6E8A-4147-A177-3AD203B41FA5}">
                      <a16:colId xmlns:a16="http://schemas.microsoft.com/office/drawing/2014/main" val="20001"/>
                    </a:ext>
                  </a:extLst>
                </a:gridCol>
              </a:tblGrid>
              <a:tr h="302463">
                <a:tc>
                  <a:txBody>
                    <a:bodyPr/>
                    <a:lstStyle/>
                    <a:p>
                      <a:pPr rtl="0"/>
                      <a:r>
                        <a:rPr lang="pt-BR"/>
                        <a:t>Protocolos</a:t>
                      </a:r>
                    </a:p>
                  </a:txBody>
                  <a:tcPr/>
                </a:tc>
                <a:tc>
                  <a:txBody>
                    <a:bodyPr/>
                    <a:lstStyle/>
                    <a:p>
                      <a:pPr rtl="0"/>
                      <a:r>
                        <a:rPr lang="pt-BR"/>
                        <a:t>Função</a:t>
                      </a:r>
                    </a:p>
                  </a:txBody>
                  <a:tcPr/>
                </a:tc>
                <a:extLst>
                  <a:ext uri="{0D108BD9-81ED-4DB2-BD59-A6C34878D82A}">
                    <a16:rowId xmlns:a16="http://schemas.microsoft.com/office/drawing/2014/main" val="10000"/>
                  </a:ext>
                </a:extLst>
              </a:tr>
              <a:tr h="323562">
                <a:tc>
                  <a:txBody>
                    <a:bodyPr/>
                    <a:lstStyle/>
                    <a:p>
                      <a:pPr rtl="0"/>
                      <a:r>
                        <a:rPr lang="pt-BR" b="1"/>
                        <a:t>Protocolo HTTP</a:t>
                      </a:r>
                    </a:p>
                  </a:txBody>
                  <a:tcPr/>
                </a:tc>
                <a:tc>
                  <a:txBody>
                    <a:bodyPr/>
                    <a:lstStyle/>
                    <a:p>
                      <a:pPr marL="285750" indent="-285750" rtl="0">
                        <a:buFont typeface="Wingdings" panose="05000000000000000000" pitchFamily="2" charset="2"/>
                        <a:buChar char="§"/>
                      </a:pPr>
                      <a:r>
                        <a:rPr lang="pt-BR"/>
                        <a:t>Governa a maneira como um servidor da Web e um cliente da Web interagem</a:t>
                      </a:r>
                    </a:p>
                    <a:p>
                      <a:pPr marL="285750" indent="-285750" rtl="0">
                        <a:buFont typeface="Wingdings" panose="05000000000000000000" pitchFamily="2" charset="2"/>
                        <a:buChar char="§"/>
                      </a:pPr>
                      <a:r>
                        <a:rPr lang="pt-BR"/>
                        <a:t>Define conteúdo e formato</a:t>
                      </a:r>
                    </a:p>
                  </a:txBody>
                  <a:tcPr/>
                </a:tc>
                <a:extLst>
                  <a:ext uri="{0D108BD9-81ED-4DB2-BD59-A6C34878D82A}">
                    <a16:rowId xmlns:a16="http://schemas.microsoft.com/office/drawing/2014/main" val="10001"/>
                  </a:ext>
                </a:extLst>
              </a:tr>
              <a:tr h="333828">
                <a:tc>
                  <a:txBody>
                    <a:bodyPr/>
                    <a:lstStyle/>
                    <a:p>
                      <a:pPr rtl="0"/>
                      <a:r>
                        <a:rPr lang="pt-BR" b="1"/>
                        <a:t>Protocolo TCP</a:t>
                      </a:r>
                    </a:p>
                  </a:txBody>
                  <a:tcPr/>
                </a:tc>
                <a:tc>
                  <a:txBody>
                    <a:bodyPr/>
                    <a:lstStyle/>
                    <a:p>
                      <a:pPr marL="285750" indent="-285750" rtl="0">
                        <a:buFont typeface="Wingdings" panose="05000000000000000000" pitchFamily="2" charset="2"/>
                        <a:buChar char="§"/>
                      </a:pPr>
                      <a:r>
                        <a:rPr lang="pt-BR"/>
                        <a:t>Gerencia as conversas individuais</a:t>
                      </a:r>
                    </a:p>
                    <a:p>
                      <a:pPr marL="285750" indent="-285750" rtl="0">
                        <a:buFont typeface="Wingdings" panose="05000000000000000000" pitchFamily="2" charset="2"/>
                        <a:buChar char="§"/>
                      </a:pPr>
                      <a:r>
                        <a:rPr lang="pt-BR"/>
                        <a:t>Fornece entrega garantida</a:t>
                      </a:r>
                    </a:p>
                    <a:p>
                      <a:pPr marL="285750" indent="-285750" rtl="0">
                        <a:buFont typeface="Wingdings" panose="05000000000000000000" pitchFamily="2" charset="2"/>
                        <a:buChar char="§"/>
                      </a:pPr>
                      <a:r>
                        <a:rPr lang="pt-BR"/>
                        <a:t>Gerencia o controle de fluxo</a:t>
                      </a:r>
                    </a:p>
                  </a:txBody>
                  <a:tcPr/>
                </a:tc>
                <a:extLst>
                  <a:ext uri="{0D108BD9-81ED-4DB2-BD59-A6C34878D82A}">
                    <a16:rowId xmlns:a16="http://schemas.microsoft.com/office/drawing/2014/main" val="10002"/>
                  </a:ext>
                </a:extLst>
              </a:tr>
              <a:tr h="335320">
                <a:tc>
                  <a:txBody>
                    <a:bodyPr/>
                    <a:lstStyle/>
                    <a:p>
                      <a:pPr rtl="0"/>
                      <a:r>
                        <a:rPr lang="pt-BR" b="1"/>
                        <a:t>Protocolo IP</a:t>
                      </a:r>
                    </a:p>
                  </a:txBody>
                  <a:tcPr/>
                </a:tc>
                <a:tc>
                  <a:txBody>
                    <a:bodyPr/>
                    <a:lstStyle/>
                    <a:p>
                      <a:pPr rtl="0"/>
                      <a:r>
                        <a:rPr lang="pt-BR"/>
                        <a:t>Entrega mensagens globalmente do remetente para o receptor</a:t>
                      </a:r>
                    </a:p>
                  </a:txBody>
                  <a:tcPr/>
                </a:tc>
                <a:extLst>
                  <a:ext uri="{0D108BD9-81ED-4DB2-BD59-A6C34878D82A}">
                    <a16:rowId xmlns:a16="http://schemas.microsoft.com/office/drawing/2014/main" val="10003"/>
                  </a:ext>
                </a:extLst>
              </a:tr>
              <a:tr h="319314">
                <a:tc>
                  <a:txBody>
                    <a:bodyPr/>
                    <a:lstStyle/>
                    <a:p>
                      <a:pPr rtl="0"/>
                      <a:r>
                        <a:rPr lang="pt-BR" b="1"/>
                        <a:t>Ethernet</a:t>
                      </a:r>
                    </a:p>
                  </a:txBody>
                  <a:tcPr/>
                </a:tc>
                <a:tc>
                  <a:txBody>
                    <a:bodyPr/>
                    <a:lstStyle/>
                    <a:p>
                      <a:pPr rtl="0"/>
                      <a:r>
                        <a:rPr lang="pt-BR"/>
                        <a:t>Entrega mensagens de uma NIC para outra NIC na mesma rede local (LAN) Ethernet</a:t>
                      </a:r>
                    </a:p>
                  </a:txBody>
                  <a:tcPr/>
                </a:tc>
                <a:extLst>
                  <a:ext uri="{0D108BD9-81ED-4DB2-BD59-A6C34878D82A}">
                    <a16:rowId xmlns:a16="http://schemas.microsoft.com/office/drawing/2014/main" val="10004"/>
                  </a:ext>
                </a:extLst>
              </a:tr>
            </a:tbl>
          </a:graphicData>
        </a:graphic>
      </p:graphicFrame>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399" y="0"/>
            <a:ext cx="3362777" cy="21693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2574144685"/>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pPr rtl="0"/>
            <a:r>
              <a:rPr lang="pt-BR">
                <a:solidFill>
                  <a:schemeClr val="accent5">
                    <a:lumMod val="40000"/>
                    <a:lumOff val="60000"/>
                  </a:schemeClr>
                </a:solidFill>
              </a:rPr>
              <a:t>3.3 Conjuntos de protocolos</a:t>
            </a:r>
          </a:p>
        </p:txBody>
      </p:sp>
    </p:spTree>
    <p:custDataLst>
      <p:tags r:id="rId1"/>
    </p:custDataLst>
    <p:extLst>
      <p:ext uri="{BB962C8B-B14F-4D97-AF65-F5344CB8AC3E}">
        <p14:creationId xmlns:p14="http://schemas.microsoft.com/office/powerpoint/2010/main" val="3488985433"/>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rtl="0"/>
            <a:r>
              <a:rPr lang="pt-BR" sz="1600"/>
              <a:t>Suítes de protocolos</a:t>
            </a:r>
            <a:br>
              <a:rPr lang="en-US" altLang="en-US" dirty="0"/>
            </a:br>
            <a:r>
              <a:rPr lang="pt-BR"/>
              <a:t>de rede de conjuntos de protocolos</a:t>
            </a:r>
          </a:p>
        </p:txBody>
      </p:sp>
      <p:sp>
        <p:nvSpPr>
          <p:cNvPr id="13315" name="Content Placeholder 2"/>
          <p:cNvSpPr>
            <a:spLocks noGrp="1"/>
          </p:cNvSpPr>
          <p:nvPr>
            <p:ph idx="1"/>
          </p:nvPr>
        </p:nvSpPr>
        <p:spPr>
          <a:xfrm>
            <a:off x="123574" y="867947"/>
            <a:ext cx="4349274" cy="3827878"/>
          </a:xfrm>
        </p:spPr>
        <p:txBody>
          <a:bodyPr/>
          <a:lstStyle/>
          <a:p>
            <a:pPr marL="0" indent="0" rtl="0">
              <a:buNone/>
            </a:pPr>
            <a:r>
              <a:rPr lang="pt-BR" sz="1400">
                <a:ea typeface="ＭＳ Ｐゴシック"/>
              </a:rPr>
              <a:t>Os protocolos devem ser capazes de funcionar com outros protocolos.</a:t>
            </a:r>
          </a:p>
          <a:p>
            <a:pPr marL="0" indent="0" rtl="0">
              <a:buNone/>
            </a:pPr>
            <a:r>
              <a:rPr lang="pt-BR" sz="1400">
                <a:ea typeface="ＭＳ Ｐゴシック"/>
              </a:rPr>
              <a:t>Suíte de Protocolos:</a:t>
            </a:r>
          </a:p>
          <a:p>
            <a:pPr lvl="1" rtl="0"/>
            <a:r>
              <a:rPr lang="pt-BR">
                <a:ea typeface="ＭＳ Ｐゴシック"/>
              </a:rPr>
              <a:t>Um grupo de protocolos inter-relacionados necessários para executar uma função de comunicação</a:t>
            </a:r>
          </a:p>
          <a:p>
            <a:pPr lvl="1" rtl="0"/>
            <a:r>
              <a:rPr lang="pt-BR">
                <a:ea typeface="ＭＳ Ｐゴシック"/>
              </a:rPr>
              <a:t>Conjuntos de regras que trabalham juntos para ajudar a resolver um problema</a:t>
            </a:r>
          </a:p>
          <a:p>
            <a:pPr marL="0" indent="0" rtl="0">
              <a:buNone/>
            </a:pPr>
            <a:r>
              <a:rPr lang="pt-BR" sz="1400">
                <a:ea typeface="ＭＳ Ｐゴシック"/>
              </a:rPr>
              <a:t>Os protocolos são visualizados em termos de camadas:</a:t>
            </a:r>
          </a:p>
          <a:p>
            <a:pPr lvl="1" rtl="0"/>
            <a:r>
              <a:rPr lang="pt-BR">
                <a:ea typeface="ＭＳ Ｐゴシック"/>
              </a:rPr>
              <a:t>Camadas mais altas</a:t>
            </a:r>
          </a:p>
          <a:p>
            <a:pPr lvl="1" rtl="0"/>
            <a:r>
              <a:rPr lang="pt-BR">
                <a:ea typeface="ＭＳ Ｐゴシック"/>
              </a:rPr>
              <a:t>Camadas Inferiores - preocupado com a movimentação de dados e fornecer serviços para camadas superiores</a:t>
            </a:r>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239516"/>
            <a:ext cx="4448426" cy="28302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47103102"/>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rtl="0"/>
            <a:br>
              <a:rPr lang="en-US" altLang="en-US" dirty="0"/>
            </a:br>
            <a:r>
              <a:rPr lang="pt-BR"/>
              <a:t>Evolução de conjuntos de protocolos dos conjuntos de protocolos</a:t>
            </a:r>
          </a:p>
        </p:txBody>
      </p:sp>
      <p:sp>
        <p:nvSpPr>
          <p:cNvPr id="13315" name="Content Placeholder 2"/>
          <p:cNvSpPr>
            <a:spLocks noGrp="1"/>
          </p:cNvSpPr>
          <p:nvPr>
            <p:ph idx="1"/>
          </p:nvPr>
        </p:nvSpPr>
        <p:spPr>
          <a:xfrm>
            <a:off x="124427" y="791746"/>
            <a:ext cx="3997630" cy="3856453"/>
          </a:xfrm>
        </p:spPr>
        <p:txBody>
          <a:bodyPr/>
          <a:lstStyle/>
          <a:p>
            <a:pPr marL="0" indent="0" rtl="0">
              <a:buNone/>
            </a:pPr>
            <a:r>
              <a:rPr lang="pt-BR" sz="1600"/>
              <a:t>Existem vários conjuntos de protocolos.</a:t>
            </a:r>
          </a:p>
          <a:p>
            <a:pPr rtl="0">
              <a:buFont typeface="Arial" panose="020B0604020202020204" pitchFamily="34" charset="0"/>
              <a:buChar char="•"/>
            </a:pPr>
            <a:r>
              <a:rPr lang="pt-BR" sz="1400" b="1"/>
              <a:t>Internet Protocol Suite ou TCP/IP - </a:t>
            </a:r>
            <a:r>
              <a:rPr lang="pt-BR" sz="1400"/>
              <a:t>O</a:t>
            </a:r>
            <a:r>
              <a:rPr lang="pt-BR" sz="1400" b="1"/>
              <a:t> </a:t>
            </a:r>
            <a:r>
              <a:rPr lang="pt-BR" sz="1400"/>
              <a:t>conjunto de protocolos mais comum e mantido pela Internet Engineering Task Force (IETF)</a:t>
            </a:r>
          </a:p>
          <a:p>
            <a:pPr rtl="0">
              <a:buFont typeface="Arial" panose="020B0604020202020204" pitchFamily="34" charset="0"/>
              <a:buChar char="•"/>
            </a:pPr>
            <a:r>
              <a:rPr lang="pt-BR" sz="1400" b="1"/>
              <a:t>Protocolos de Interconexão de Sistemas Abertos (OSI) - </a:t>
            </a:r>
            <a:r>
              <a:rPr lang="pt-BR" sz="1400"/>
              <a:t>Desenvolvido</a:t>
            </a:r>
            <a:r>
              <a:rPr lang="pt-BR" sz="1400" b="1"/>
              <a:t> </a:t>
            </a:r>
            <a:r>
              <a:rPr lang="pt-BR" sz="1400"/>
              <a:t>pela Organização Internacional de Normalização (ISO) e pela União Internacional de Telecomunicações (UIT)</a:t>
            </a:r>
          </a:p>
          <a:p>
            <a:pPr rtl="0">
              <a:buFont typeface="Arial" panose="020B0604020202020204" pitchFamily="34" charset="0"/>
              <a:buChar char="•"/>
            </a:pPr>
            <a:r>
              <a:rPr lang="pt-BR" sz="1400" b="1"/>
              <a:t>AppleTalk - </a:t>
            </a:r>
            <a:r>
              <a:rPr lang="pt-BR" sz="1400"/>
              <a:t>Lançamento da suíte proprietária da Apple Inc.</a:t>
            </a:r>
          </a:p>
          <a:p>
            <a:pPr rtl="0">
              <a:buFont typeface="Arial" panose="020B0604020202020204" pitchFamily="34" charset="0"/>
              <a:buChar char="•"/>
            </a:pPr>
            <a:r>
              <a:rPr lang="pt-BR" sz="1400" b="1"/>
              <a:t>Novell NetWare - </a:t>
            </a:r>
            <a:r>
              <a:rPr lang="pt-BR" sz="1400"/>
              <a:t>Suíte proprietária desenvolvida pela Novell Inc.</a:t>
            </a:r>
          </a:p>
          <a:p>
            <a:pPr lvl="1"/>
            <a:endParaRPr lang="en-CA" altLang="en-US" dirty="0"/>
          </a:p>
        </p:txBody>
      </p:sp>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2057" y="1093522"/>
            <a:ext cx="5021943" cy="29087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61630264"/>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rtl="0"/>
            <a:br>
              <a:rPr lang="en-US" altLang="en-US" dirty="0"/>
            </a:br>
            <a:r>
              <a:rPr lang="pt-BR"/>
              <a:t>Exemplo de protocolo TCP / IP</a:t>
            </a:r>
            <a:r>
              <a:rPr lang="pt-BR" sz="1600"/>
              <a:t> de conjuntos de protocolos</a:t>
            </a:r>
          </a:p>
        </p:txBody>
      </p:sp>
      <p:sp>
        <p:nvSpPr>
          <p:cNvPr id="13315" name="Content Placeholder 2"/>
          <p:cNvSpPr>
            <a:spLocks noGrp="1"/>
          </p:cNvSpPr>
          <p:nvPr>
            <p:ph idx="1"/>
          </p:nvPr>
        </p:nvSpPr>
        <p:spPr>
          <a:xfrm>
            <a:off x="123574" y="867947"/>
            <a:ext cx="3359855" cy="3733082"/>
          </a:xfrm>
        </p:spPr>
        <p:txBody>
          <a:bodyPr/>
          <a:lstStyle/>
          <a:p>
            <a:pPr rtl="0">
              <a:buFont typeface="Arial" panose="020B0604020202020204" pitchFamily="34" charset="0"/>
              <a:buChar char="•"/>
            </a:pPr>
            <a:r>
              <a:rPr lang="pt-BR" sz="1600"/>
              <a:t>Os protocolos TCP / IP operam nas camadas de aplicativo, transporte e Internet.</a:t>
            </a:r>
          </a:p>
          <a:p>
            <a:pPr rtl="0">
              <a:buFont typeface="Arial" panose="020B0604020202020204" pitchFamily="34" charset="0"/>
              <a:buChar char="•"/>
            </a:pPr>
            <a:r>
              <a:rPr lang="pt-BR" sz="1600"/>
              <a:t>Os protocolos LAN de camada de acesso à rede mais comuns são Ethernet e WLAN (LAN sem fio).</a:t>
            </a:r>
          </a:p>
          <a:p>
            <a:pPr lvl="1"/>
            <a:endParaRPr lang="en-CA" altLang="en-US" dirty="0"/>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7933" y="955448"/>
            <a:ext cx="5388352" cy="32391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22725155"/>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rtl="0"/>
            <a:br>
              <a:rPr lang="en-US" altLang="en-US" dirty="0"/>
            </a:br>
            <a:r>
              <a:rPr lang="pt-BR"/>
              <a:t>Conjuntos de protocolo </a:t>
            </a:r>
            <a:r>
              <a:rPr lang="pt-BR" sz="1600"/>
              <a:t>STCP/IP Protocol Suite</a:t>
            </a:r>
          </a:p>
        </p:txBody>
      </p:sp>
      <p:sp>
        <p:nvSpPr>
          <p:cNvPr id="13315" name="Content Placeholder 2"/>
          <p:cNvSpPr>
            <a:spLocks noGrp="1"/>
          </p:cNvSpPr>
          <p:nvPr>
            <p:ph idx="1"/>
          </p:nvPr>
        </p:nvSpPr>
        <p:spPr>
          <a:xfrm>
            <a:off x="167116" y="820322"/>
            <a:ext cx="3359855" cy="3942178"/>
          </a:xfrm>
        </p:spPr>
        <p:txBody>
          <a:bodyPr/>
          <a:lstStyle/>
          <a:p>
            <a:pPr rtl="0">
              <a:buFont typeface="Arial" panose="020B0604020202020204" pitchFamily="34" charset="0"/>
              <a:buChar char="•"/>
            </a:pPr>
            <a:r>
              <a:rPr lang="pt-BR" sz="1400"/>
              <a:t>TCP/IP é o conjunto de protocolos usado pela internet e inclui muitos protocolos.</a:t>
            </a:r>
          </a:p>
          <a:p>
            <a:pPr rtl="0">
              <a:buFont typeface="Arial" panose="020B0604020202020204" pitchFamily="34" charset="0"/>
              <a:buChar char="•"/>
            </a:pPr>
            <a:r>
              <a:rPr lang="pt-BR" sz="1400"/>
              <a:t>O TCP/IP é:</a:t>
            </a:r>
          </a:p>
          <a:p>
            <a:pPr lvl="1" rtl="0"/>
            <a:r>
              <a:rPr lang="pt-BR"/>
              <a:t>Um conjunto de protocolos padrão aberto que está disponível gratuitamente para o público e pode ser usado por qualquer fornecedor</a:t>
            </a:r>
          </a:p>
          <a:p>
            <a:pPr lvl="1" rtl="0"/>
            <a:r>
              <a:rPr lang="pt-BR"/>
              <a:t>Um conjunto de protocolos baseado em padrões que é </a:t>
            </a:r>
            <a:r>
              <a:rPr lang="pt-BR" sz="1400"/>
              <a:t>endossado pelo setor de redes e aprovado por uma organização de padrões para garantir a interoperabilidade</a:t>
            </a:r>
          </a:p>
          <a:p>
            <a:pPr lvl="1"/>
            <a:endParaRPr lang="en-CA" altLang="en-US" sz="1200" dirty="0"/>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6971" y="890281"/>
            <a:ext cx="5480277" cy="34116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60041384"/>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rtl="0"/>
            <a:br>
              <a:rPr lang="en-US" altLang="en-US" dirty="0"/>
            </a:br>
            <a:r>
              <a:rPr lang="pt-BR"/>
              <a:t>Conjuntos de protocolo </a:t>
            </a:r>
            <a:r>
              <a:rPr lang="pt-BR" sz="1600"/>
              <a:t>Processo de protocolo STCP/IP</a:t>
            </a:r>
          </a:p>
        </p:txBody>
      </p:sp>
      <p:sp>
        <p:nvSpPr>
          <p:cNvPr id="13315" name="Content Placeholder 2"/>
          <p:cNvSpPr>
            <a:spLocks noGrp="1"/>
          </p:cNvSpPr>
          <p:nvPr>
            <p:ph idx="1"/>
          </p:nvPr>
        </p:nvSpPr>
        <p:spPr>
          <a:xfrm>
            <a:off x="123574" y="867947"/>
            <a:ext cx="4361340" cy="859252"/>
          </a:xfrm>
        </p:spPr>
        <p:txBody>
          <a:bodyPr/>
          <a:lstStyle/>
          <a:p>
            <a:pPr rtl="0">
              <a:buFont typeface="Arial" panose="020B0604020202020204" pitchFamily="34" charset="0"/>
              <a:buChar char="•"/>
            </a:pPr>
            <a:r>
              <a:rPr lang="pt-BR" sz="1600"/>
              <a:t>Um servidor web encapsulando e enviando uma página da Web para um cliente.</a:t>
            </a:r>
          </a:p>
        </p:txBody>
      </p:sp>
      <p:sp>
        <p:nvSpPr>
          <p:cNvPr id="9" name="Content Placeholder 2"/>
          <p:cNvSpPr txBox="1">
            <a:spLocks/>
          </p:cNvSpPr>
          <p:nvPr/>
        </p:nvSpPr>
        <p:spPr bwMode="auto">
          <a:xfrm>
            <a:off x="4659086" y="867947"/>
            <a:ext cx="4361340" cy="859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buFont typeface="Arial" panose="020B0604020202020204" pitchFamily="34" charset="0"/>
              <a:buChar char="•"/>
            </a:pPr>
            <a:r>
              <a:rPr lang="pt-BR" sz="1600"/>
              <a:t>Um cliente desencapsulando a página da Web para o navegador da Web</a:t>
            </a: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363" y="2017471"/>
            <a:ext cx="4230816" cy="25731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5179" y="2090057"/>
            <a:ext cx="4286817" cy="24279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32752531"/>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pPr rtl="0"/>
            <a:r>
              <a:rPr lang="pt-BR">
                <a:solidFill>
                  <a:schemeClr val="accent5">
                    <a:lumMod val="40000"/>
                    <a:lumOff val="60000"/>
                  </a:schemeClr>
                </a:solidFill>
              </a:rPr>
              <a:t>3.4 Empresas de padrões</a:t>
            </a:r>
          </a:p>
        </p:txBody>
      </p:sp>
    </p:spTree>
    <p:custDataLst>
      <p:tags r:id="rId1"/>
    </p:custDataLst>
    <p:extLst>
      <p:ext uri="{BB962C8B-B14F-4D97-AF65-F5344CB8AC3E}">
        <p14:creationId xmlns:p14="http://schemas.microsoft.com/office/powerpoint/2010/main" val="1749772822"/>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757551"/>
          </a:xfrm>
        </p:spPr>
        <p:txBody>
          <a:bodyPr/>
          <a:lstStyle/>
          <a:p>
            <a:pPr rtl="0"/>
            <a:r>
              <a:rPr lang="pt-BR" sz="1600"/>
              <a:t>Empresas</a:t>
            </a:r>
            <a:br>
              <a:rPr lang="en-US" altLang="en-US" sz="1600" dirty="0"/>
            </a:br>
            <a:r>
              <a:rPr lang="pt-BR"/>
              <a:t> de padrões </a:t>
            </a:r>
            <a:r>
              <a:rPr lang="pt-BR" sz="1600"/>
              <a:t>Padrões abertos</a:t>
            </a:r>
          </a:p>
        </p:txBody>
      </p:sp>
      <p:sp>
        <p:nvSpPr>
          <p:cNvPr id="55299" name="Rectangle 3"/>
          <p:cNvSpPr>
            <a:spLocks noGrp="1" noChangeArrowheads="1"/>
          </p:cNvSpPr>
          <p:nvPr>
            <p:ph type="body" idx="1"/>
          </p:nvPr>
        </p:nvSpPr>
        <p:spPr>
          <a:xfrm>
            <a:off x="4572000" y="757551"/>
            <a:ext cx="4401766" cy="3950636"/>
          </a:xfrm>
        </p:spPr>
        <p:txBody>
          <a:bodyPr/>
          <a:lstStyle/>
          <a:p>
            <a:pPr marL="0" indent="0" rtl="0">
              <a:buNone/>
            </a:pPr>
            <a:r>
              <a:rPr lang="pt-BR" sz="1600"/>
              <a:t>As normas abertas incentivam:</a:t>
            </a:r>
          </a:p>
          <a:p>
            <a:pPr rtl="0">
              <a:buFont typeface="Arial" panose="020B0604020202020204" pitchFamily="34" charset="0"/>
              <a:buChar char="•"/>
            </a:pPr>
            <a:r>
              <a:rPr lang="pt-BR" sz="1600"/>
              <a:t>interoperabilidade</a:t>
            </a:r>
          </a:p>
          <a:p>
            <a:pPr rtl="0">
              <a:buFont typeface="Arial" panose="020B0604020202020204" pitchFamily="34" charset="0"/>
              <a:buChar char="•"/>
            </a:pPr>
            <a:r>
              <a:rPr lang="pt-BR" sz="1600"/>
              <a:t>concorrência</a:t>
            </a:r>
          </a:p>
          <a:p>
            <a:pPr rtl="0">
              <a:buFont typeface="Arial" panose="020B0604020202020204" pitchFamily="34" charset="0"/>
              <a:buChar char="•"/>
            </a:pPr>
            <a:r>
              <a:rPr lang="pt-BR" sz="1600"/>
              <a:t>negócios</a:t>
            </a:r>
          </a:p>
          <a:p>
            <a:pPr marL="0" indent="0" rtl="0">
              <a:buNone/>
            </a:pPr>
            <a:r>
              <a:rPr lang="pt-BR" sz="1600"/>
              <a:t>As organizações de padrões são:</a:t>
            </a:r>
          </a:p>
          <a:p>
            <a:pPr rtl="0">
              <a:buFont typeface="Arial" panose="020B0604020202020204" pitchFamily="34" charset="0"/>
              <a:buChar char="•"/>
            </a:pPr>
            <a:r>
              <a:rPr lang="pt-BR" sz="1600"/>
              <a:t>fornecedor neutro </a:t>
            </a:r>
          </a:p>
          <a:p>
            <a:pPr rtl="0">
              <a:buFont typeface="Arial" panose="020B0604020202020204" pitchFamily="34" charset="0"/>
              <a:buChar char="•"/>
            </a:pPr>
            <a:r>
              <a:rPr lang="pt-BR" sz="1600"/>
              <a:t>organizações sem fins lucrativos </a:t>
            </a:r>
          </a:p>
          <a:p>
            <a:pPr rtl="0">
              <a:buFont typeface="Arial" panose="020B0604020202020204" pitchFamily="34" charset="0"/>
              <a:buChar char="•"/>
            </a:pPr>
            <a:r>
              <a:rPr lang="pt-BR" sz="1600"/>
              <a:t>criado para desenvolver e promover o conceito de normas abertas. </a:t>
            </a: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658" y="832640"/>
            <a:ext cx="4308835" cy="30717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00830764"/>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4499429" cy="757551"/>
          </a:xfrm>
        </p:spPr>
        <p:txBody>
          <a:bodyPr/>
          <a:lstStyle/>
          <a:p>
            <a:pPr rtl="0"/>
            <a:r>
              <a:rPr lang="pt-BR" sz="1600"/>
              <a:t>Empresas de padrões</a:t>
            </a:r>
            <a:br>
              <a:rPr lang="en-US" altLang="en-US" sz="1600" dirty="0"/>
            </a:br>
            <a:r>
              <a:rPr lang="pt-BR"/>
              <a:t> </a:t>
            </a:r>
            <a:r>
              <a:rPr lang="pt-BR" sz="1600"/>
              <a:t>Padrões de Internet</a:t>
            </a:r>
          </a:p>
        </p:txBody>
      </p:sp>
      <p:sp>
        <p:nvSpPr>
          <p:cNvPr id="55299" name="Rectangle 3"/>
          <p:cNvSpPr>
            <a:spLocks noGrp="1" noChangeArrowheads="1"/>
          </p:cNvSpPr>
          <p:nvPr>
            <p:ph type="body" idx="1"/>
          </p:nvPr>
        </p:nvSpPr>
        <p:spPr>
          <a:xfrm>
            <a:off x="4499429" y="220523"/>
            <a:ext cx="4401766" cy="4322448"/>
          </a:xfrm>
        </p:spPr>
        <p:txBody>
          <a:bodyPr/>
          <a:lstStyle/>
          <a:p>
            <a:pPr rtl="0">
              <a:buFont typeface="Arial" panose="020B0604020202020204" pitchFamily="34" charset="0"/>
              <a:buChar char="•"/>
            </a:pPr>
            <a:r>
              <a:rPr lang="pt-BR" sz="1800" b="1"/>
              <a:t>Internet Society (ISOC)</a:t>
            </a:r>
            <a:r>
              <a:rPr lang="pt-BR" sz="1800"/>
              <a:t> - Promove o desenvolvimento aberto e a evolução da Internet</a:t>
            </a:r>
          </a:p>
          <a:p>
            <a:pPr rtl="0">
              <a:buFont typeface="Arial" panose="020B0604020202020204" pitchFamily="34" charset="0"/>
              <a:buChar char="•"/>
            </a:pPr>
            <a:r>
              <a:rPr lang="pt-BR" sz="1800" b="1"/>
              <a:t>Conselho de Arquitetura da Internet (IAB)</a:t>
            </a:r>
            <a:r>
              <a:rPr lang="pt-BR" sz="1800"/>
              <a:t> - Responsável pelo gerenciamento e desenvolvimento geral dos padrões da Internet.</a:t>
            </a:r>
          </a:p>
          <a:p>
            <a:pPr rtl="0">
              <a:buFont typeface="Arial" panose="020B0604020202020204" pitchFamily="34" charset="0"/>
              <a:buChar char="•"/>
            </a:pPr>
            <a:r>
              <a:rPr lang="pt-BR" sz="1800" b="1"/>
              <a:t>IETF (Internet Engineering Task Force)</a:t>
            </a:r>
            <a:r>
              <a:rPr lang="pt-BR" sz="1800"/>
              <a:t> - Desenvolve, atualiza e mantém tecnologias de Internet e TCP / IP</a:t>
            </a:r>
          </a:p>
          <a:p>
            <a:pPr rtl="0">
              <a:buFont typeface="Arial" panose="020B0604020202020204" pitchFamily="34" charset="0"/>
              <a:buChar char="•"/>
            </a:pPr>
            <a:r>
              <a:rPr lang="pt-BR" sz="1800" b="1"/>
              <a:t>Força-Tarefa de Pesquisa na Internet (IRTF)</a:t>
            </a:r>
            <a:r>
              <a:rPr lang="pt-BR" sz="1800"/>
              <a:t> - Focada em pesquisas de longo prazo relacionadas à Internet e aos protocolos TCP / IP</a:t>
            </a:r>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144" y="1006420"/>
            <a:ext cx="4354285" cy="32891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21643246"/>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8955314" cy="757551"/>
          </a:xfrm>
        </p:spPr>
        <p:txBody>
          <a:bodyPr/>
          <a:lstStyle/>
          <a:p>
            <a:pPr rtl="0"/>
            <a:r>
              <a:rPr lang="pt-BR" sz="1600"/>
              <a:t>Empresas de padrões</a:t>
            </a:r>
            <a:br>
              <a:rPr lang="en-US" altLang="en-US" sz="1600" dirty="0"/>
            </a:br>
            <a:r>
              <a:rPr lang="pt-BR"/>
              <a:t> </a:t>
            </a:r>
            <a:r>
              <a:rPr lang="pt-BR" sz="1600"/>
              <a:t>Padrões de Internet</a:t>
            </a:r>
          </a:p>
        </p:txBody>
      </p:sp>
      <p:sp>
        <p:nvSpPr>
          <p:cNvPr id="55299" name="Rectangle 3"/>
          <p:cNvSpPr>
            <a:spLocks noGrp="1" noChangeArrowheads="1"/>
          </p:cNvSpPr>
          <p:nvPr>
            <p:ph type="body" idx="1"/>
          </p:nvPr>
        </p:nvSpPr>
        <p:spPr>
          <a:xfrm>
            <a:off x="4648898" y="782410"/>
            <a:ext cx="4247972" cy="3672114"/>
          </a:xfrm>
        </p:spPr>
        <p:txBody>
          <a:bodyPr/>
          <a:lstStyle/>
          <a:p>
            <a:pPr marL="0" indent="0" rtl="0">
              <a:buNone/>
            </a:pPr>
            <a:r>
              <a:rPr lang="pt-BR" sz="1600"/>
              <a:t>Organizações de padrões envolvidas no desenvolvimento e suporte de TCP / IP</a:t>
            </a:r>
          </a:p>
          <a:p>
            <a:pPr lvl="1" rtl="0"/>
            <a:r>
              <a:rPr lang="pt-BR" sz="1600" b="1"/>
              <a:t>Corporação da Internet para nomes e números atribuídos (ICANN)</a:t>
            </a:r>
            <a:r>
              <a:rPr lang="pt-BR" sz="1600"/>
              <a:t> - Coordena a alocação de endereços IP, o gerenciamento de nomes de domínio e a atribuição de outras informações</a:t>
            </a:r>
          </a:p>
          <a:p>
            <a:pPr lvl="1" rtl="0"/>
            <a:r>
              <a:rPr lang="pt-BR" sz="1600" b="1"/>
              <a:t>Autoridade para atribuição de números da Internet (IANA)</a:t>
            </a:r>
            <a:r>
              <a:rPr lang="pt-BR" sz="1600"/>
              <a:t> - supervisiona e gerencia a alocação de endereços IP, o gerenciamento de nomes de domínio e os identificadores de protocolo da ICANN</a:t>
            </a: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022" y="1277257"/>
            <a:ext cx="4378082" cy="27404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51211513"/>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757551"/>
          </a:xfrm>
        </p:spPr>
        <p:txBody>
          <a:bodyPr/>
          <a:lstStyle/>
          <a:p>
            <a:pPr rtl="0"/>
            <a:r>
              <a:rPr lang="pt-BR" sz="1600"/>
              <a:t>Organizações de padrões</a:t>
            </a:r>
            <a:br>
              <a:rPr lang="en-US" altLang="en-US" sz="1600" dirty="0"/>
            </a:br>
            <a:r>
              <a:rPr lang="pt-BR"/>
              <a:t>Padrões eletrônicos e de comunicações</a:t>
            </a:r>
          </a:p>
        </p:txBody>
      </p:sp>
      <p:sp>
        <p:nvSpPr>
          <p:cNvPr id="55299" name="Rectangle 3"/>
          <p:cNvSpPr>
            <a:spLocks noGrp="1" noChangeArrowheads="1"/>
          </p:cNvSpPr>
          <p:nvPr>
            <p:ph type="body" idx="1"/>
          </p:nvPr>
        </p:nvSpPr>
        <p:spPr>
          <a:xfrm>
            <a:off x="116114" y="821051"/>
            <a:ext cx="8785081" cy="3794491"/>
          </a:xfrm>
        </p:spPr>
        <p:txBody>
          <a:bodyPr/>
          <a:lstStyle/>
          <a:p>
            <a:pPr rtl="0">
              <a:buFont typeface="Arial" panose="020B0604020202020204" pitchFamily="34" charset="0"/>
              <a:buChar char="•"/>
            </a:pPr>
            <a:r>
              <a:rPr lang="pt-BR" sz="1800" b="1"/>
              <a:t>Instituto de Engenheiros Elétricos e Eletrônicos (IEEE</a:t>
            </a:r>
            <a:r>
              <a:rPr lang="pt-BR" sz="1800"/>
              <a:t>, pronunciado "I-triple-E") - dedicado à criação de padrões em potência e energia, saúde, telecomunicações e redes</a:t>
            </a:r>
          </a:p>
          <a:p>
            <a:pPr rtl="0">
              <a:buFont typeface="Arial" panose="020B0604020202020204" pitchFamily="34" charset="0"/>
              <a:buChar char="•"/>
            </a:pPr>
            <a:r>
              <a:rPr lang="pt-BR" sz="1800" b="1"/>
              <a:t>Electronic Industries Alliance (EIA)</a:t>
            </a:r>
            <a:r>
              <a:rPr lang="pt-BR" sz="1800"/>
              <a:t> - desenvolve padrões relacionados à fiação elétrica, conectores e racks de 19 polegadas usados para montar equipamentos de rede</a:t>
            </a:r>
          </a:p>
          <a:p>
            <a:pPr rtl="0">
              <a:buFont typeface="Arial" panose="020B0604020202020204" pitchFamily="34" charset="0"/>
              <a:buChar char="•"/>
            </a:pPr>
            <a:r>
              <a:rPr lang="pt-BR" sz="1800" b="1"/>
              <a:t>Associação da Indústria de Telecomunicações (TIA)</a:t>
            </a:r>
            <a:r>
              <a:rPr lang="pt-BR" sz="1800"/>
              <a:t> - desenvolve padrões de comunicação em equipamentos de rádio, torres celulares, dispositivos de Voz sobre IP (VoIP), comunicações por satélite e muito mais</a:t>
            </a:r>
          </a:p>
          <a:p>
            <a:pPr rtl="0">
              <a:buFont typeface="Arial" panose="020B0604020202020204" pitchFamily="34" charset="0"/>
              <a:buChar char="•"/>
            </a:pPr>
            <a:r>
              <a:rPr lang="pt-BR" sz="1800" b="1"/>
              <a:t>Setor de padronização de telecomunicações e união internacional de telecomunicações (ITU-T)</a:t>
            </a:r>
            <a:r>
              <a:rPr lang="pt-BR" sz="1800"/>
              <a:t> - define padrões para compactação de vídeo, IPTV (Internet Protocol Television) e comunicações de banda larga, como uma linha de assinante digital (DSL)</a:t>
            </a:r>
          </a:p>
        </p:txBody>
      </p:sp>
    </p:spTree>
    <p:extLst>
      <p:ext uri="{BB962C8B-B14F-4D97-AF65-F5344CB8AC3E}">
        <p14:creationId xmlns:p14="http://schemas.microsoft.com/office/powerpoint/2010/main" val="1265191498"/>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757551"/>
          </a:xfrm>
        </p:spPr>
        <p:txBody>
          <a:bodyPr/>
          <a:lstStyle/>
          <a:p>
            <a:pPr rtl="0"/>
            <a:br>
              <a:rPr lang="en-US" altLang="en-US" sz="1600" dirty="0"/>
            </a:br>
            <a:r>
              <a:rPr lang="pt-BR"/>
              <a:t>Empresas de padrões </a:t>
            </a:r>
            <a:r>
              <a:rPr lang="pt-BR" sz="1600"/>
              <a:t>Laboratório - Pesquisa dos padrões de rede</a:t>
            </a:r>
          </a:p>
        </p:txBody>
      </p:sp>
      <p:sp>
        <p:nvSpPr>
          <p:cNvPr id="55299" name="Rectangle 3"/>
          <p:cNvSpPr>
            <a:spLocks noGrp="1" noChangeArrowheads="1"/>
          </p:cNvSpPr>
          <p:nvPr>
            <p:ph type="body" idx="1"/>
          </p:nvPr>
        </p:nvSpPr>
        <p:spPr>
          <a:xfrm>
            <a:off x="116114" y="821051"/>
            <a:ext cx="8785081" cy="3794491"/>
          </a:xfrm>
        </p:spPr>
        <p:txBody>
          <a:bodyPr/>
          <a:lstStyle/>
          <a:p>
            <a:pPr marL="0" indent="0" rtl="0">
              <a:buNone/>
            </a:pPr>
            <a:r>
              <a:rPr lang="pt-BR" sz="1800"/>
              <a:t>Neste laboratório, você fará o seguinte:</a:t>
            </a:r>
          </a:p>
          <a:p>
            <a:pPr lvl="1" rtl="0"/>
            <a:r>
              <a:rPr lang="pt-BR" sz="1700"/>
              <a:t>Parte 1: pesquisar Organizações Padronizadoras de rede</a:t>
            </a:r>
          </a:p>
          <a:p>
            <a:pPr lvl="1" rtl="0"/>
            <a:r>
              <a:rPr lang="pt-BR" sz="1700"/>
              <a:t>Parte 2: refletir sobre as experiências de rede da Internet e do computador</a:t>
            </a:r>
          </a:p>
        </p:txBody>
      </p:sp>
    </p:spTree>
    <p:extLst>
      <p:ext uri="{BB962C8B-B14F-4D97-AF65-F5344CB8AC3E}">
        <p14:creationId xmlns:p14="http://schemas.microsoft.com/office/powerpoint/2010/main" val="3558614824"/>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pPr rtl="0"/>
            <a:r>
              <a:rPr lang="pt-BR">
                <a:solidFill>
                  <a:schemeClr val="accent5">
                    <a:lumMod val="40000"/>
                    <a:lumOff val="60000"/>
                  </a:schemeClr>
                </a:solidFill>
              </a:rPr>
              <a:t>3.5 Modelos de referência</a:t>
            </a:r>
          </a:p>
        </p:txBody>
      </p:sp>
    </p:spTree>
    <p:custDataLst>
      <p:tags r:id="rId1"/>
    </p:custDataLst>
    <p:extLst>
      <p:ext uri="{BB962C8B-B14F-4D97-AF65-F5344CB8AC3E}">
        <p14:creationId xmlns:p14="http://schemas.microsoft.com/office/powerpoint/2010/main" val="2920016951"/>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rtl="0"/>
            <a:br>
              <a:rPr lang="en-US" altLang="en-US" dirty="0"/>
            </a:br>
            <a:r>
              <a:rPr lang="pt-BR"/>
              <a:t>Modelos de referência </a:t>
            </a:r>
            <a:r>
              <a:rPr lang="pt-BR" sz="1600"/>
              <a:t>Os benefícios de se usar um modelo de camadas</a:t>
            </a:r>
          </a:p>
        </p:txBody>
      </p:sp>
      <p:sp>
        <p:nvSpPr>
          <p:cNvPr id="13315" name="Content Placeholder 2"/>
          <p:cNvSpPr>
            <a:spLocks noGrp="1"/>
          </p:cNvSpPr>
          <p:nvPr>
            <p:ph idx="1"/>
          </p:nvPr>
        </p:nvSpPr>
        <p:spPr>
          <a:xfrm>
            <a:off x="5453349" y="1019280"/>
            <a:ext cx="3690651" cy="3323113"/>
          </a:xfrm>
        </p:spPr>
        <p:txBody>
          <a:bodyPr/>
          <a:lstStyle/>
          <a:p>
            <a:pPr marL="0" indent="0" rtl="0">
              <a:buNone/>
            </a:pPr>
            <a:r>
              <a:rPr lang="pt-BR" sz="1600"/>
              <a:t>Conceitos complexos, como a forma como uma rede opera, podem ser difíceis de explicar e compreender. Por esse motivo, um modelo em camadas é usado.</a:t>
            </a:r>
          </a:p>
          <a:p>
            <a:pPr marL="0" indent="0" rtl="0">
              <a:buNone/>
            </a:pPr>
            <a:r>
              <a:rPr lang="pt-BR" sz="1600"/>
              <a:t>Dois modelos em camadas descrevem as operações de rede:</a:t>
            </a:r>
          </a:p>
          <a:p>
            <a:pPr rtl="0">
              <a:buFont typeface="Arial" panose="020B0604020202020204" pitchFamily="34" charset="0"/>
              <a:buChar char="•"/>
            </a:pPr>
            <a:r>
              <a:rPr lang="pt-BR" sz="1600"/>
              <a:t>Modelo de referência OSI (Open System Interconnection)</a:t>
            </a:r>
          </a:p>
          <a:p>
            <a:pPr rtl="0">
              <a:buFont typeface="Arial" panose="020B0604020202020204" pitchFamily="34" charset="0"/>
              <a:buChar char="•"/>
            </a:pPr>
            <a:r>
              <a:rPr lang="pt-BR" sz="1600"/>
              <a:t>Modelo de referência TCP/IP</a:t>
            </a:r>
          </a:p>
          <a:p>
            <a:pPr lvl="1"/>
            <a:endParaRPr lang="en-CA" altLang="en-US" dirty="0"/>
          </a:p>
          <a:p>
            <a:pPr lvl="1"/>
            <a:endParaRPr lang="en-CA" altLang="en-US" dirty="0"/>
          </a:p>
        </p:txBody>
      </p:sp>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98285"/>
            <a:ext cx="5266953" cy="42281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78408560"/>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rtl="0"/>
            <a:r>
              <a:rPr lang="pt-BR" sz="1600"/>
              <a:t>Modelos de referência </a:t>
            </a:r>
            <a:br>
              <a:rPr lang="en-US" altLang="en-US" dirty="0"/>
            </a:br>
            <a:r>
              <a:rPr lang="pt-BR"/>
              <a:t>Os benefícios de se usar um modelo de camadas (Cont.)</a:t>
            </a:r>
          </a:p>
        </p:txBody>
      </p:sp>
      <p:sp>
        <p:nvSpPr>
          <p:cNvPr id="13315" name="Content Placeholder 2"/>
          <p:cNvSpPr>
            <a:spLocks noGrp="1"/>
          </p:cNvSpPr>
          <p:nvPr>
            <p:ph idx="1"/>
          </p:nvPr>
        </p:nvSpPr>
        <p:spPr>
          <a:xfrm>
            <a:off x="290286" y="798944"/>
            <a:ext cx="8853715" cy="3352142"/>
          </a:xfrm>
        </p:spPr>
        <p:txBody>
          <a:bodyPr/>
          <a:lstStyle/>
          <a:p>
            <a:pPr marL="0" indent="0" rtl="0">
              <a:buNone/>
            </a:pPr>
            <a:r>
              <a:rPr lang="pt-BR" sz="1800"/>
              <a:t>Estes são os benefícios do uso de um modelo em camadas:</a:t>
            </a:r>
          </a:p>
          <a:p>
            <a:pPr rtl="0">
              <a:buFont typeface="Arial" panose="020B0604020202020204" pitchFamily="34" charset="0"/>
              <a:buChar char="•"/>
            </a:pPr>
            <a:r>
              <a:rPr lang="pt-BR" sz="1800"/>
              <a:t>Auxiliar no projeto de protocolos porque os protocolos que operam em uma camada específica definiram as informações sobre as quais atuam e uma interface definida para as camadas acima e abaixo</a:t>
            </a:r>
          </a:p>
          <a:p>
            <a:pPr rtl="0">
              <a:buFont typeface="Arial" panose="020B0604020202020204" pitchFamily="34" charset="0"/>
              <a:buChar char="•"/>
            </a:pPr>
            <a:r>
              <a:rPr lang="pt-BR" sz="1800"/>
              <a:t>Estimula a competição porque os produtos de diferentes fornecedores podem trabalhar em conjunto</a:t>
            </a:r>
          </a:p>
          <a:p>
            <a:pPr rtl="0">
              <a:buFont typeface="Arial" panose="020B0604020202020204" pitchFamily="34" charset="0"/>
              <a:buChar char="•"/>
            </a:pPr>
            <a:r>
              <a:rPr lang="pt-BR" sz="1800"/>
              <a:t>Impedir que alterações de tecnologia ou capacidade em uma camada afetem outras camadas acima e abaixo</a:t>
            </a:r>
          </a:p>
          <a:p>
            <a:pPr rtl="0">
              <a:buFont typeface="Arial" panose="020B0604020202020204" pitchFamily="34" charset="0"/>
              <a:buChar char="•"/>
            </a:pPr>
            <a:r>
              <a:rPr lang="pt-BR" sz="1800"/>
              <a:t>Fornece um idioma comum para descrever funções e habilidades de rede. </a:t>
            </a:r>
          </a:p>
          <a:p>
            <a:pPr lvl="1"/>
            <a:endParaRPr lang="en-CA" altLang="en-US" dirty="0"/>
          </a:p>
          <a:p>
            <a:pPr lvl="1"/>
            <a:endParaRPr lang="en-CA" altLang="en-US" dirty="0"/>
          </a:p>
          <a:p>
            <a:pPr lvl="1"/>
            <a:endParaRPr lang="en-CA" altLang="en-US" dirty="0"/>
          </a:p>
        </p:txBody>
      </p:sp>
    </p:spTree>
    <p:extLst>
      <p:ext uri="{BB962C8B-B14F-4D97-AF65-F5344CB8AC3E}">
        <p14:creationId xmlns:p14="http://schemas.microsoft.com/office/powerpoint/2010/main" val="2471866069"/>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01601"/>
            <a:ext cx="8783638" cy="754742"/>
          </a:xfrm>
        </p:spPr>
        <p:txBody>
          <a:bodyPr/>
          <a:lstStyle/>
          <a:p>
            <a:pPr rtl="0"/>
            <a:br>
              <a:rPr lang="en-US" altLang="en-US" dirty="0"/>
            </a:br>
            <a:r>
              <a:rPr lang="pt-BR" sz="2400"/>
              <a:t>Modelos de referência </a:t>
            </a:r>
            <a:r>
              <a:rPr lang="pt-BR" sz="1600"/>
              <a:t>O modelo de referência OSI</a:t>
            </a:r>
          </a:p>
        </p:txBody>
      </p:sp>
      <p:graphicFrame>
        <p:nvGraphicFramePr>
          <p:cNvPr id="5" name="Table 4"/>
          <p:cNvGraphicFramePr>
            <a:graphicFrameLocks noGrp="1"/>
          </p:cNvGraphicFramePr>
          <p:nvPr>
            <p:extLst>
              <p:ext uri="{D42A27DB-BD31-4B8C-83A1-F6EECF244321}">
                <p14:modId xmlns:p14="http://schemas.microsoft.com/office/powerpoint/2010/main" val="3129854505"/>
              </p:ext>
            </p:extLst>
          </p:nvPr>
        </p:nvGraphicFramePr>
        <p:xfrm>
          <a:off x="362857" y="955226"/>
          <a:ext cx="8215086" cy="3884459"/>
        </p:xfrm>
        <a:graphic>
          <a:graphicData uri="http://schemas.openxmlformats.org/drawingml/2006/table">
            <a:tbl>
              <a:tblPr firstRow="1" firstCol="1" bandRow="1">
                <a:tableStyleId>{5C22544A-7EE6-4342-B048-85BDC9FD1C3A}</a:tableStyleId>
              </a:tblPr>
              <a:tblGrid>
                <a:gridCol w="1675263">
                  <a:extLst>
                    <a:ext uri="{9D8B030D-6E8A-4147-A177-3AD203B41FA5}">
                      <a16:colId xmlns:a16="http://schemas.microsoft.com/office/drawing/2014/main" val="20000"/>
                    </a:ext>
                  </a:extLst>
                </a:gridCol>
                <a:gridCol w="6539823">
                  <a:extLst>
                    <a:ext uri="{9D8B030D-6E8A-4147-A177-3AD203B41FA5}">
                      <a16:colId xmlns:a16="http://schemas.microsoft.com/office/drawing/2014/main" val="20001"/>
                    </a:ext>
                  </a:extLst>
                </a:gridCol>
              </a:tblGrid>
              <a:tr h="314586">
                <a:tc>
                  <a:txBody>
                    <a:bodyPr/>
                    <a:lstStyle/>
                    <a:p>
                      <a:pPr rtl="0"/>
                      <a:r>
                        <a:rPr lang="pt-BR" b="1">
                          <a:effectLst/>
                        </a:rPr>
                        <a:t>Camada de modelo OSI</a:t>
                      </a:r>
                    </a:p>
                  </a:txBody>
                  <a:tcPr anchor="ctr"/>
                </a:tc>
                <a:tc>
                  <a:txBody>
                    <a:bodyPr/>
                    <a:lstStyle/>
                    <a:p>
                      <a:pPr rtl="0"/>
                      <a:r>
                        <a:rPr lang="pt-BR" b="1">
                          <a:effectLst/>
                        </a:rPr>
                        <a:t>Descrição</a:t>
                      </a:r>
                    </a:p>
                  </a:txBody>
                  <a:tcPr anchor="ctr"/>
                </a:tc>
                <a:extLst>
                  <a:ext uri="{0D108BD9-81ED-4DB2-BD59-A6C34878D82A}">
                    <a16:rowId xmlns:a16="http://schemas.microsoft.com/office/drawing/2014/main" val="10000"/>
                  </a:ext>
                </a:extLst>
              </a:tr>
              <a:tr h="294785">
                <a:tc>
                  <a:txBody>
                    <a:bodyPr/>
                    <a:lstStyle/>
                    <a:p>
                      <a:pPr rtl="0"/>
                      <a:r>
                        <a:rPr lang="pt-BR" b="1"/>
                        <a:t>7 - Aplicação</a:t>
                      </a:r>
                    </a:p>
                  </a:txBody>
                  <a:tcPr anchor="ctr"/>
                </a:tc>
                <a:tc>
                  <a:txBody>
                    <a:bodyPr/>
                    <a:lstStyle/>
                    <a:p>
                      <a:pPr rtl="0"/>
                      <a:r>
                        <a:rPr lang="pt-BR"/>
                        <a:t>Contém protocolos usados para comunicações processo a processo</a:t>
                      </a:r>
                    </a:p>
                  </a:txBody>
                  <a:tcPr anchor="ctr"/>
                </a:tc>
                <a:extLst>
                  <a:ext uri="{0D108BD9-81ED-4DB2-BD59-A6C34878D82A}">
                    <a16:rowId xmlns:a16="http://schemas.microsoft.com/office/drawing/2014/main" val="10001"/>
                  </a:ext>
                </a:extLst>
              </a:tr>
              <a:tr h="485587">
                <a:tc>
                  <a:txBody>
                    <a:bodyPr/>
                    <a:lstStyle/>
                    <a:p>
                      <a:pPr rtl="0"/>
                      <a:r>
                        <a:rPr lang="pt-BR" b="1"/>
                        <a:t>6 - Apresentação</a:t>
                      </a:r>
                    </a:p>
                  </a:txBody>
                  <a:tcPr anchor="ctr"/>
                </a:tc>
                <a:tc>
                  <a:txBody>
                    <a:bodyPr/>
                    <a:lstStyle/>
                    <a:p>
                      <a:pPr rtl="0"/>
                      <a:r>
                        <a:rPr lang="pt-BR"/>
                        <a:t>Fornece representação comum dos dados transferidos entre os serviços da camada de aplicativo.</a:t>
                      </a:r>
                    </a:p>
                  </a:txBody>
                  <a:tcPr anchor="ctr"/>
                </a:tc>
                <a:extLst>
                  <a:ext uri="{0D108BD9-81ED-4DB2-BD59-A6C34878D82A}">
                    <a16:rowId xmlns:a16="http://schemas.microsoft.com/office/drawing/2014/main" val="10002"/>
                  </a:ext>
                </a:extLst>
              </a:tr>
              <a:tr h="485587">
                <a:tc>
                  <a:txBody>
                    <a:bodyPr/>
                    <a:lstStyle/>
                    <a:p>
                      <a:pPr rtl="0"/>
                      <a:r>
                        <a:rPr lang="pt-BR" b="1"/>
                        <a:t>5 - Sessão</a:t>
                      </a:r>
                    </a:p>
                  </a:txBody>
                  <a:tcPr anchor="ctr"/>
                </a:tc>
                <a:tc>
                  <a:txBody>
                    <a:bodyPr/>
                    <a:lstStyle/>
                    <a:p>
                      <a:pPr rtl="0"/>
                      <a:r>
                        <a:rPr lang="pt-BR"/>
                        <a:t>Fornece serviços para a camada de apresentação e para gerenciar a troca de dados.</a:t>
                      </a:r>
                    </a:p>
                  </a:txBody>
                  <a:tcPr anchor="ctr"/>
                </a:tc>
                <a:extLst>
                  <a:ext uri="{0D108BD9-81ED-4DB2-BD59-A6C34878D82A}">
                    <a16:rowId xmlns:a16="http://schemas.microsoft.com/office/drawing/2014/main" val="10003"/>
                  </a:ext>
                </a:extLst>
              </a:tr>
              <a:tr h="485587">
                <a:tc>
                  <a:txBody>
                    <a:bodyPr/>
                    <a:lstStyle/>
                    <a:p>
                      <a:pPr rtl="0"/>
                      <a:r>
                        <a:rPr lang="pt-BR" b="1"/>
                        <a:t>4 - Transporte</a:t>
                      </a:r>
                    </a:p>
                  </a:txBody>
                  <a:tcPr anchor="ctr"/>
                </a:tc>
                <a:tc>
                  <a:txBody>
                    <a:bodyPr/>
                    <a:lstStyle/>
                    <a:p>
                      <a:pPr rtl="0"/>
                      <a:r>
                        <a:rPr lang="pt-BR"/>
                        <a:t>Define serviços para segmentar, transferir e remontar os dados para comunicações individuais.</a:t>
                      </a:r>
                    </a:p>
                  </a:txBody>
                  <a:tcPr anchor="ctr"/>
                </a:tc>
                <a:extLst>
                  <a:ext uri="{0D108BD9-81ED-4DB2-BD59-A6C34878D82A}">
                    <a16:rowId xmlns:a16="http://schemas.microsoft.com/office/drawing/2014/main" val="10004"/>
                  </a:ext>
                </a:extLst>
              </a:tr>
              <a:tr h="485587">
                <a:tc>
                  <a:txBody>
                    <a:bodyPr/>
                    <a:lstStyle/>
                    <a:p>
                      <a:pPr rtl="0"/>
                      <a:r>
                        <a:rPr lang="pt-BR" b="1"/>
                        <a:t>3 - Rede</a:t>
                      </a:r>
                    </a:p>
                  </a:txBody>
                  <a:tcPr anchor="ctr"/>
                </a:tc>
                <a:tc>
                  <a:txBody>
                    <a:bodyPr/>
                    <a:lstStyle/>
                    <a:p>
                      <a:pPr rtl="0"/>
                      <a:r>
                        <a:rPr lang="pt-BR"/>
                        <a:t>Fornece serviços para troca de dados individuais pela rede.</a:t>
                      </a:r>
                    </a:p>
                  </a:txBody>
                  <a:tcPr anchor="ctr"/>
                </a:tc>
                <a:extLst>
                  <a:ext uri="{0D108BD9-81ED-4DB2-BD59-A6C34878D82A}">
                    <a16:rowId xmlns:a16="http://schemas.microsoft.com/office/drawing/2014/main" val="10005"/>
                  </a:ext>
                </a:extLst>
              </a:tr>
              <a:tr h="485587">
                <a:tc>
                  <a:txBody>
                    <a:bodyPr/>
                    <a:lstStyle/>
                    <a:p>
                      <a:pPr rtl="0"/>
                      <a:r>
                        <a:rPr lang="pt-BR" b="1"/>
                        <a:t>2 - Link de dados</a:t>
                      </a:r>
                    </a:p>
                  </a:txBody>
                  <a:tcPr anchor="ctr"/>
                </a:tc>
                <a:tc>
                  <a:txBody>
                    <a:bodyPr/>
                    <a:lstStyle/>
                    <a:p>
                      <a:pPr rtl="0"/>
                      <a:r>
                        <a:rPr lang="pt-BR"/>
                        <a:t>Descreve métodos para a troca de quadros de dados em uma mídia comum.</a:t>
                      </a:r>
                    </a:p>
                  </a:txBody>
                  <a:tcPr anchor="ctr"/>
                </a:tc>
                <a:extLst>
                  <a:ext uri="{0D108BD9-81ED-4DB2-BD59-A6C34878D82A}">
                    <a16:rowId xmlns:a16="http://schemas.microsoft.com/office/drawing/2014/main" val="10006"/>
                  </a:ext>
                </a:extLst>
              </a:tr>
              <a:tr h="535845">
                <a:tc>
                  <a:txBody>
                    <a:bodyPr/>
                    <a:lstStyle/>
                    <a:p>
                      <a:pPr rtl="0"/>
                      <a:r>
                        <a:rPr lang="pt-BR" b="1"/>
                        <a:t>1 - Físico</a:t>
                      </a:r>
                    </a:p>
                  </a:txBody>
                  <a:tcPr anchor="ctr"/>
                </a:tc>
                <a:tc>
                  <a:txBody>
                    <a:bodyPr/>
                    <a:lstStyle/>
                    <a:p>
                      <a:pPr rtl="0"/>
                      <a:r>
                        <a:rPr lang="pt-BR"/>
                        <a:t>Descreve os</a:t>
                      </a:r>
                      <a:r>
                        <a:rPr lang="pt-BR" baseline="0"/>
                        <a:t> </a:t>
                      </a:r>
                      <a:r>
                        <a:rPr lang="pt-BR"/>
                        <a:t>meios para ativar, manter e desativar conexões físicas.</a:t>
                      </a:r>
                    </a:p>
                  </a:txBody>
                  <a:tcPr anchor="ct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725251992"/>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01601"/>
            <a:ext cx="8783638" cy="754742"/>
          </a:xfrm>
        </p:spPr>
        <p:txBody>
          <a:bodyPr/>
          <a:lstStyle/>
          <a:p>
            <a:pPr rtl="0"/>
            <a:r>
              <a:rPr lang="pt-BR" sz="1600"/>
              <a:t>Modelos de referência</a:t>
            </a:r>
            <a:br>
              <a:rPr lang="en-US" altLang="en-US" dirty="0"/>
            </a:br>
            <a:r>
              <a:rPr lang="pt-BR" sz="2400"/>
              <a:t>O modelo de referência TCP / IP</a:t>
            </a:r>
          </a:p>
        </p:txBody>
      </p:sp>
      <p:graphicFrame>
        <p:nvGraphicFramePr>
          <p:cNvPr id="5" name="Table 4"/>
          <p:cNvGraphicFramePr>
            <a:graphicFrameLocks noGrp="1"/>
          </p:cNvGraphicFramePr>
          <p:nvPr>
            <p:extLst>
              <p:ext uri="{D42A27DB-BD31-4B8C-83A1-F6EECF244321}">
                <p14:modId xmlns:p14="http://schemas.microsoft.com/office/powerpoint/2010/main" val="4180907194"/>
              </p:ext>
            </p:extLst>
          </p:nvPr>
        </p:nvGraphicFramePr>
        <p:xfrm>
          <a:off x="362857" y="955226"/>
          <a:ext cx="8215086" cy="2312294"/>
        </p:xfrm>
        <a:graphic>
          <a:graphicData uri="http://schemas.openxmlformats.org/drawingml/2006/table">
            <a:tbl>
              <a:tblPr firstRow="1" firstCol="1" bandRow="1">
                <a:tableStyleId>{5C22544A-7EE6-4342-B048-85BDC9FD1C3A}</a:tableStyleId>
              </a:tblPr>
              <a:tblGrid>
                <a:gridCol w="1685348">
                  <a:extLst>
                    <a:ext uri="{9D8B030D-6E8A-4147-A177-3AD203B41FA5}">
                      <a16:colId xmlns:a16="http://schemas.microsoft.com/office/drawing/2014/main" val="20000"/>
                    </a:ext>
                  </a:extLst>
                </a:gridCol>
                <a:gridCol w="6529738">
                  <a:extLst>
                    <a:ext uri="{9D8B030D-6E8A-4147-A177-3AD203B41FA5}">
                      <a16:colId xmlns:a16="http://schemas.microsoft.com/office/drawing/2014/main" val="20001"/>
                    </a:ext>
                  </a:extLst>
                </a:gridCol>
              </a:tblGrid>
              <a:tr h="361653">
                <a:tc>
                  <a:txBody>
                    <a:bodyPr/>
                    <a:lstStyle/>
                    <a:p>
                      <a:pPr rtl="0"/>
                      <a:r>
                        <a:rPr lang="pt-BR" b="1">
                          <a:effectLst/>
                        </a:rPr>
                        <a:t>Camada do modelo TCP/IP</a:t>
                      </a:r>
                    </a:p>
                  </a:txBody>
                  <a:tcPr anchor="ctr"/>
                </a:tc>
                <a:tc>
                  <a:txBody>
                    <a:bodyPr/>
                    <a:lstStyle/>
                    <a:p>
                      <a:pPr rtl="0"/>
                      <a:r>
                        <a:rPr lang="pt-BR" b="1">
                          <a:effectLst/>
                        </a:rPr>
                        <a:t>Descrição</a:t>
                      </a:r>
                    </a:p>
                  </a:txBody>
                  <a:tcPr anchor="ctr"/>
                </a:tc>
                <a:extLst>
                  <a:ext uri="{0D108BD9-81ED-4DB2-BD59-A6C34878D82A}">
                    <a16:rowId xmlns:a16="http://schemas.microsoft.com/office/drawing/2014/main" val="10000"/>
                  </a:ext>
                </a:extLst>
              </a:tr>
              <a:tr h="294785">
                <a:tc>
                  <a:txBody>
                    <a:bodyPr/>
                    <a:lstStyle/>
                    <a:p>
                      <a:pPr rtl="0"/>
                      <a:r>
                        <a:rPr lang="pt-BR" b="1"/>
                        <a:t>Aplicação</a:t>
                      </a:r>
                    </a:p>
                  </a:txBody>
                  <a:tcPr anchor="ctr"/>
                </a:tc>
                <a:tc>
                  <a:txBody>
                    <a:bodyPr/>
                    <a:lstStyle/>
                    <a:p>
                      <a:pPr rtl="0"/>
                      <a:r>
                        <a:rPr lang="pt-BR"/>
                        <a:t>Representa dados para o usuário, além do controle de codificação e de diálogo.</a:t>
                      </a:r>
                    </a:p>
                  </a:txBody>
                  <a:tcPr anchor="ctr"/>
                </a:tc>
                <a:extLst>
                  <a:ext uri="{0D108BD9-81ED-4DB2-BD59-A6C34878D82A}">
                    <a16:rowId xmlns:a16="http://schemas.microsoft.com/office/drawing/2014/main" val="10001"/>
                  </a:ext>
                </a:extLst>
              </a:tr>
              <a:tr h="485587">
                <a:tc>
                  <a:txBody>
                    <a:bodyPr/>
                    <a:lstStyle/>
                    <a:p>
                      <a:pPr rtl="0"/>
                      <a:r>
                        <a:rPr lang="pt-BR" b="1"/>
                        <a:t>Transporte</a:t>
                      </a:r>
                    </a:p>
                  </a:txBody>
                  <a:tcPr anchor="ctr"/>
                </a:tc>
                <a:tc>
                  <a:txBody>
                    <a:bodyPr/>
                    <a:lstStyle/>
                    <a:p>
                      <a:pPr rtl="0"/>
                      <a:r>
                        <a:rPr lang="pt-BR"/>
                        <a:t>Permite a comunicação entre vários dispositivos diferentes em redes distintas.</a:t>
                      </a:r>
                    </a:p>
                  </a:txBody>
                  <a:tcPr anchor="ctr"/>
                </a:tc>
                <a:extLst>
                  <a:ext uri="{0D108BD9-81ED-4DB2-BD59-A6C34878D82A}">
                    <a16:rowId xmlns:a16="http://schemas.microsoft.com/office/drawing/2014/main" val="10002"/>
                  </a:ext>
                </a:extLst>
              </a:tr>
              <a:tr h="485587">
                <a:tc>
                  <a:txBody>
                    <a:bodyPr/>
                    <a:lstStyle/>
                    <a:p>
                      <a:pPr rtl="0"/>
                      <a:r>
                        <a:rPr lang="pt-BR" b="1"/>
                        <a:t>Internet</a:t>
                      </a:r>
                    </a:p>
                  </a:txBody>
                  <a:tcPr anchor="ctr"/>
                </a:tc>
                <a:tc>
                  <a:txBody>
                    <a:bodyPr/>
                    <a:lstStyle/>
                    <a:p>
                      <a:pPr rtl="0"/>
                      <a:r>
                        <a:rPr lang="pt-BR"/>
                        <a:t>Determina o melhor caminho pela rede.</a:t>
                      </a:r>
                    </a:p>
                  </a:txBody>
                  <a:tcPr anchor="ctr"/>
                </a:tc>
                <a:extLst>
                  <a:ext uri="{0D108BD9-81ED-4DB2-BD59-A6C34878D82A}">
                    <a16:rowId xmlns:a16="http://schemas.microsoft.com/office/drawing/2014/main" val="10003"/>
                  </a:ext>
                </a:extLst>
              </a:tr>
              <a:tr h="485587">
                <a:tc>
                  <a:txBody>
                    <a:bodyPr/>
                    <a:lstStyle/>
                    <a:p>
                      <a:pPr rtl="0"/>
                      <a:r>
                        <a:rPr lang="pt-BR" b="1"/>
                        <a:t> Endereço de rede</a:t>
                      </a:r>
                    </a:p>
                  </a:txBody>
                  <a:tcPr anchor="ctr"/>
                </a:tc>
                <a:tc>
                  <a:txBody>
                    <a:bodyPr/>
                    <a:lstStyle/>
                    <a:p>
                      <a:pPr rtl="0"/>
                      <a:r>
                        <a:rPr lang="pt-BR"/>
                        <a:t>Controla os dispositivos de hardware e o meio físico que formam a rede.</a:t>
                      </a:r>
                    </a:p>
                  </a:txBody>
                  <a:tcPr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608511304"/>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rtl="0"/>
            <a:r>
              <a:rPr lang="pt-BR" sz="1600"/>
              <a:t>Modelos de referência</a:t>
            </a:r>
            <a:br>
              <a:rPr lang="en-US" altLang="en-US" dirty="0"/>
            </a:br>
            <a:r>
              <a:rPr lang="pt-BR"/>
              <a:t> Comparação de modelos OSI e TCP / IP</a:t>
            </a:r>
          </a:p>
        </p:txBody>
      </p:sp>
      <p:sp>
        <p:nvSpPr>
          <p:cNvPr id="13315" name="Content Placeholder 2"/>
          <p:cNvSpPr>
            <a:spLocks noGrp="1"/>
          </p:cNvSpPr>
          <p:nvPr>
            <p:ph idx="1"/>
          </p:nvPr>
        </p:nvSpPr>
        <p:spPr>
          <a:xfrm>
            <a:off x="5321029" y="1176316"/>
            <a:ext cx="3822971" cy="3323113"/>
          </a:xfrm>
        </p:spPr>
        <p:txBody>
          <a:bodyPr/>
          <a:lstStyle/>
          <a:p>
            <a:pPr rtl="0">
              <a:buFont typeface="Arial" panose="020B0604020202020204" pitchFamily="34" charset="0"/>
              <a:buChar char="•"/>
            </a:pPr>
            <a:r>
              <a:rPr lang="pt-BR" sz="1600"/>
              <a:t>O modelo OSI divide a camada de acesso à rede e a camada de aplicação do modelo TCP/IP em várias camadas.</a:t>
            </a:r>
          </a:p>
          <a:p>
            <a:pPr rtl="0">
              <a:buFont typeface="Arial" panose="020B0604020202020204" pitchFamily="34" charset="0"/>
              <a:buChar char="•"/>
            </a:pPr>
            <a:r>
              <a:rPr lang="pt-BR" sz="1600"/>
              <a:t>O conjunto de protocolos TCP/IP não especifica quais protocolos usar ao transmitir por meio de uma mídia física.</a:t>
            </a:r>
          </a:p>
          <a:p>
            <a:pPr rtl="0">
              <a:buFont typeface="Arial" panose="020B0604020202020204" pitchFamily="34" charset="0"/>
              <a:buChar char="•"/>
            </a:pPr>
            <a:r>
              <a:rPr lang="pt-BR" sz="1600"/>
              <a:t>As Camadas 1 e 2 do modelo OSI discutem os procedimentos necessários para acessar a mídia e o meio físico para enviar dados por uma rede.</a:t>
            </a:r>
          </a:p>
          <a:p>
            <a:pPr lvl="1"/>
            <a:endParaRPr lang="en-CA" altLang="en-US" dirty="0"/>
          </a:p>
        </p:txBody>
      </p:sp>
      <p:pic>
        <p:nvPicPr>
          <p:cNvPr id="174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171" y="947480"/>
            <a:ext cx="5065486" cy="35519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62195043"/>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rtl="0"/>
            <a:r>
              <a:rPr lang="pt-BR" sz="1600"/>
              <a:t>Modelos de referência </a:t>
            </a:r>
            <a:br>
              <a:rPr lang="en-US" altLang="en-US" dirty="0"/>
            </a:br>
            <a:r>
              <a:rPr lang="pt-BR"/>
              <a:t>Packet Tracer: Investigação dos modelos TCP/IP e OSI em ação</a:t>
            </a:r>
          </a:p>
        </p:txBody>
      </p:sp>
      <p:sp>
        <p:nvSpPr>
          <p:cNvPr id="13315" name="Content Placeholder 2"/>
          <p:cNvSpPr>
            <a:spLocks noGrp="1"/>
          </p:cNvSpPr>
          <p:nvPr>
            <p:ph idx="1"/>
          </p:nvPr>
        </p:nvSpPr>
        <p:spPr>
          <a:xfrm>
            <a:off x="198304" y="936434"/>
            <a:ext cx="8575582" cy="3168689"/>
          </a:xfrm>
        </p:spPr>
        <p:txBody>
          <a:bodyPr/>
          <a:lstStyle/>
          <a:p>
            <a:pPr marL="0" indent="0" rtl="0">
              <a:buNone/>
            </a:pPr>
            <a:r>
              <a:rPr lang="pt-BR" sz="1800"/>
              <a:t>Esta atividade de simulação destina-se a fornecer uma base para entender a suíte de protocolos TCP/IP e a relação com o modelo OSI. O modo de simulação permite visualizar o conteúdo dos dados enviados pela rede em cada camada.</a:t>
            </a:r>
          </a:p>
          <a:p>
            <a:pPr marL="0" indent="0" rtl="0">
              <a:buNone/>
            </a:pPr>
            <a:r>
              <a:rPr lang="pt-BR" sz="1800"/>
              <a:t>Neste Packet Tracer, você irá: </a:t>
            </a:r>
          </a:p>
          <a:p>
            <a:pPr lvl="1" rtl="0"/>
            <a:r>
              <a:rPr lang="pt-BR" sz="1800"/>
              <a:t>Parte 1: Examinar o tráfego Web via HTTP </a:t>
            </a:r>
          </a:p>
          <a:p>
            <a:pPr lvl="1" rtl="0"/>
            <a:r>
              <a:rPr lang="pt-BR" sz="1800"/>
              <a:t>Parte 2: Exibir elementos da suíte de protocolos TCP/IP </a:t>
            </a:r>
          </a:p>
        </p:txBody>
      </p:sp>
    </p:spTree>
    <p:extLst>
      <p:ext uri="{BB962C8B-B14F-4D97-AF65-F5344CB8AC3E}">
        <p14:creationId xmlns:p14="http://schemas.microsoft.com/office/powerpoint/2010/main" val="2873737095"/>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pPr rtl="0"/>
            <a:r>
              <a:rPr lang="pt-BR">
                <a:solidFill>
                  <a:schemeClr val="accent5">
                    <a:lumMod val="40000"/>
                    <a:lumOff val="60000"/>
                  </a:schemeClr>
                </a:solidFill>
              </a:rPr>
              <a:t>3.6 Encapsulamento de dados</a:t>
            </a:r>
          </a:p>
        </p:txBody>
      </p:sp>
    </p:spTree>
    <p:custDataLst>
      <p:tags r:id="rId1"/>
    </p:custDataLst>
    <p:extLst>
      <p:ext uri="{BB962C8B-B14F-4D97-AF65-F5344CB8AC3E}">
        <p14:creationId xmlns:p14="http://schemas.microsoft.com/office/powerpoint/2010/main" val="4122653524"/>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687651" cy="757551"/>
          </a:xfrm>
        </p:spPr>
        <p:txBody>
          <a:bodyPr/>
          <a:lstStyle/>
          <a:p>
            <a:pPr rtl="0"/>
            <a:r>
              <a:rPr lang="pt-BR" sz="1600"/>
              <a:t>Encapsulamento de dados </a:t>
            </a:r>
            <a:br>
              <a:rPr lang="en-US" altLang="en-US" dirty="0"/>
            </a:br>
            <a:r>
              <a:rPr lang="pt-BR"/>
              <a:t>Segmentação de mensagens</a:t>
            </a:r>
          </a:p>
        </p:txBody>
      </p:sp>
      <p:sp>
        <p:nvSpPr>
          <p:cNvPr id="13315" name="Content Placeholder 2"/>
          <p:cNvSpPr>
            <a:spLocks noGrp="1"/>
          </p:cNvSpPr>
          <p:nvPr>
            <p:ph idx="1"/>
          </p:nvPr>
        </p:nvSpPr>
        <p:spPr>
          <a:xfrm>
            <a:off x="4951379" y="322866"/>
            <a:ext cx="4192621" cy="4350735"/>
          </a:xfrm>
        </p:spPr>
        <p:txBody>
          <a:bodyPr/>
          <a:lstStyle/>
          <a:p>
            <a:pPr marL="0" indent="0" rtl="0">
              <a:buNone/>
            </a:pPr>
            <a:r>
              <a:rPr lang="pt-BR" sz="1600"/>
              <a:t>Segmentação é o processo de dividir mensagens em unidades menores. Multiplexação é o processo de tomar vários fluxos de dados segmentados e intercalá-los juntos.</a:t>
            </a:r>
          </a:p>
          <a:p>
            <a:pPr marL="0" indent="0" rtl="0">
              <a:buNone/>
            </a:pPr>
            <a:r>
              <a:rPr lang="pt-BR" sz="1600"/>
              <a:t>A segmentação de mensagens apresenta dois benefícios principais:</a:t>
            </a:r>
          </a:p>
          <a:p>
            <a:pPr rtl="0">
              <a:buFont typeface="Arial" panose="020B0604020202020204" pitchFamily="34" charset="0"/>
              <a:buChar char="•"/>
            </a:pPr>
            <a:r>
              <a:rPr lang="pt-BR" sz="1600" b="1"/>
              <a:t>Aumenta a velocidade</a:t>
            </a:r>
            <a:r>
              <a:rPr lang="pt-BR" sz="1600"/>
              <a:t> - É possível enviar grandes quantidades de dados pela rede sem vincular um link de comunicação.</a:t>
            </a:r>
          </a:p>
          <a:p>
            <a:pPr rtl="0">
              <a:buFont typeface="Arial" panose="020B0604020202020204" pitchFamily="34" charset="0"/>
              <a:buChar char="•"/>
            </a:pPr>
            <a:r>
              <a:rPr lang="pt-BR" sz="1600" b="1"/>
              <a:t>Aumenta a eficiência</a:t>
            </a:r>
            <a:r>
              <a:rPr lang="pt-BR" sz="1600"/>
              <a:t> - Somente segmentos que não conseguem alcançar o destino precisam ser retransmitidos, não todo o fluxo de dados</a:t>
            </a:r>
            <a:r>
              <a:rPr lang="pt-BR"/>
              <a:t>. </a:t>
            </a:r>
          </a:p>
        </p:txBody>
      </p:sp>
      <p:pic>
        <p:nvPicPr>
          <p:cNvPr id="184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600" y="1000420"/>
            <a:ext cx="4673600" cy="35375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38450805"/>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144000" cy="757551"/>
          </a:xfrm>
        </p:spPr>
        <p:txBody>
          <a:bodyPr/>
          <a:lstStyle/>
          <a:p>
            <a:pPr rtl="0"/>
            <a:r>
              <a:rPr lang="pt-BR" sz="1600"/>
              <a:t>Encapsulamento de dados</a:t>
            </a:r>
            <a:br>
              <a:rPr lang="en-US" altLang="en-US" dirty="0"/>
            </a:br>
            <a:r>
              <a:rPr lang="pt-BR"/>
              <a:t> Sequenciamento</a:t>
            </a:r>
          </a:p>
        </p:txBody>
      </p:sp>
      <p:sp>
        <p:nvSpPr>
          <p:cNvPr id="13315" name="Content Placeholder 2"/>
          <p:cNvSpPr>
            <a:spLocks noGrp="1"/>
          </p:cNvSpPr>
          <p:nvPr>
            <p:ph idx="1"/>
          </p:nvPr>
        </p:nvSpPr>
        <p:spPr>
          <a:xfrm>
            <a:off x="4951379" y="1339753"/>
            <a:ext cx="4192621" cy="3146049"/>
          </a:xfrm>
        </p:spPr>
        <p:txBody>
          <a:bodyPr/>
          <a:lstStyle/>
          <a:p>
            <a:pPr marL="0" indent="0" rtl="0">
              <a:buNone/>
            </a:pPr>
            <a:r>
              <a:rPr lang="pt-BR" sz="1600"/>
              <a:t>Mensagens de sequenciamento é o processo de numeração dos segmentos para que a mensagem possa ser remontada no destino.</a:t>
            </a:r>
          </a:p>
          <a:p>
            <a:pPr marL="0" indent="0" rtl="0">
              <a:buNone/>
            </a:pPr>
            <a:r>
              <a:rPr lang="pt-BR" sz="1600"/>
              <a:t>O TCP é responsável por sequenciar os segmentos individuais.</a:t>
            </a:r>
          </a:p>
        </p:txBody>
      </p:sp>
      <p:pic>
        <p:nvPicPr>
          <p:cNvPr id="194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591" y="968435"/>
            <a:ext cx="4658179" cy="35173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41199062"/>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789251" cy="757551"/>
          </a:xfrm>
        </p:spPr>
        <p:txBody>
          <a:bodyPr/>
          <a:lstStyle/>
          <a:p>
            <a:pPr rtl="0"/>
            <a:br>
              <a:rPr lang="en-US" altLang="en-US" dirty="0"/>
            </a:br>
            <a:r>
              <a:rPr lang="pt-BR"/>
              <a:t>Encapsulamento de dados </a:t>
            </a:r>
            <a:r>
              <a:rPr lang="pt-BR" sz="1600"/>
              <a:t>Unidades de dados de protocolo</a:t>
            </a:r>
          </a:p>
        </p:txBody>
      </p:sp>
      <p:sp>
        <p:nvSpPr>
          <p:cNvPr id="13315" name="Content Placeholder 2"/>
          <p:cNvSpPr>
            <a:spLocks noGrp="1"/>
          </p:cNvSpPr>
          <p:nvPr>
            <p:ph idx="1"/>
          </p:nvPr>
        </p:nvSpPr>
        <p:spPr>
          <a:xfrm>
            <a:off x="4619625" y="171450"/>
            <a:ext cx="4456282" cy="4667250"/>
          </a:xfrm>
        </p:spPr>
        <p:txBody>
          <a:bodyPr/>
          <a:lstStyle/>
          <a:p>
            <a:pPr marL="0" indent="0" rtl="0">
              <a:buNone/>
            </a:pPr>
            <a:r>
              <a:rPr lang="pt-BR" sz="1600"/>
              <a:t>Encapsulamento é o processo em que os protocolos adicionam suas informações aos dados.</a:t>
            </a:r>
          </a:p>
          <a:p>
            <a:pPr rtl="0">
              <a:buFont typeface="Arial" panose="020B0604020202020204" pitchFamily="34" charset="0"/>
              <a:buChar char="•"/>
            </a:pPr>
            <a:r>
              <a:rPr lang="pt-BR" sz="1600"/>
              <a:t>Em cada etapa do processo, uma PDU possui um nome diferente para refletir suas novas funções. </a:t>
            </a:r>
          </a:p>
          <a:p>
            <a:pPr rtl="0">
              <a:buFont typeface="Arial" panose="020B0604020202020204" pitchFamily="34" charset="0"/>
              <a:buChar char="•"/>
            </a:pPr>
            <a:r>
              <a:rPr lang="pt-BR" sz="1600"/>
              <a:t>Não há convenção de nomenclatura universal para PDUs; neste curso, as PDUs são nomeadas de acordo com os protocolos do conjunto TCP / IP. </a:t>
            </a:r>
          </a:p>
          <a:p>
            <a:pPr rtl="0">
              <a:buFont typeface="Arial" panose="020B0604020202020204" pitchFamily="34" charset="0"/>
              <a:buChar char="•"/>
            </a:pPr>
            <a:r>
              <a:rPr lang="pt-BR" sz="1600"/>
              <a:t>PDUs passando a pilha são as seguintes:</a:t>
            </a:r>
          </a:p>
          <a:p>
            <a:pPr marL="485775" lvl="1" indent="-342900" rtl="0">
              <a:buFont typeface="+mj-lt"/>
              <a:buAutoNum type="arabicPeriod"/>
            </a:pPr>
            <a:r>
              <a:rPr lang="pt-BR" sz="1600"/>
              <a:t>Dados (fluxo de dados)</a:t>
            </a:r>
          </a:p>
          <a:p>
            <a:pPr marL="485775" lvl="1" indent="-342900" rtl="0">
              <a:buFont typeface="+mj-lt"/>
              <a:buAutoNum type="arabicPeriod"/>
            </a:pPr>
            <a:r>
              <a:rPr lang="pt-BR" sz="1600"/>
              <a:t>Segmento</a:t>
            </a:r>
          </a:p>
          <a:p>
            <a:pPr marL="485775" lvl="1" indent="-342900" rtl="0">
              <a:buFont typeface="+mj-lt"/>
              <a:buAutoNum type="arabicPeriod"/>
            </a:pPr>
            <a:r>
              <a:rPr lang="pt-BR" sz="1600"/>
              <a:t>Pacote</a:t>
            </a:r>
          </a:p>
          <a:p>
            <a:pPr marL="485775" lvl="1" indent="-342900" rtl="0">
              <a:buFont typeface="+mj-lt"/>
              <a:buAutoNum type="arabicPeriod"/>
            </a:pPr>
            <a:r>
              <a:rPr lang="pt-BR" sz="1600"/>
              <a:t>Quadro</a:t>
            </a:r>
          </a:p>
          <a:p>
            <a:pPr marL="485775" lvl="1" indent="-342900" rtl="0">
              <a:buFont typeface="+mj-lt"/>
              <a:buAutoNum type="arabicPeriod"/>
            </a:pPr>
            <a:r>
              <a:rPr lang="pt-BR" sz="1600"/>
              <a:t>Bits (Fluxo de Bits)</a:t>
            </a:r>
          </a:p>
          <a:p>
            <a:endParaRPr lang="en-US" dirty="0"/>
          </a:p>
        </p:txBody>
      </p:sp>
      <p:pic>
        <p:nvPicPr>
          <p:cNvPr id="2048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260" y="1087233"/>
            <a:ext cx="4463365" cy="34659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5171600"/>
      </p:ext>
    </p:ext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rtl="0"/>
            <a:br>
              <a:rPr lang="en-US" altLang="en-US" dirty="0"/>
            </a:br>
            <a:r>
              <a:rPr lang="pt-BR"/>
              <a:t>Encapsulamento de dados </a:t>
            </a:r>
            <a:r>
              <a:rPr lang="pt-BR" sz="1600"/>
              <a:t>Exemplo de encapsulamento</a:t>
            </a:r>
          </a:p>
        </p:txBody>
      </p:sp>
      <p:sp>
        <p:nvSpPr>
          <p:cNvPr id="13315" name="Content Placeholder 2"/>
          <p:cNvSpPr>
            <a:spLocks noGrp="1"/>
          </p:cNvSpPr>
          <p:nvPr>
            <p:ph idx="1"/>
          </p:nvPr>
        </p:nvSpPr>
        <p:spPr>
          <a:xfrm>
            <a:off x="123574" y="867946"/>
            <a:ext cx="3060301" cy="3689539"/>
          </a:xfrm>
        </p:spPr>
        <p:txBody>
          <a:bodyPr/>
          <a:lstStyle/>
          <a:p>
            <a:pPr rtl="0">
              <a:buFont typeface="Arial" panose="020B0604020202020204" pitchFamily="34" charset="0"/>
              <a:buChar char="•"/>
            </a:pPr>
            <a:r>
              <a:rPr lang="pt-BR" sz="1600"/>
              <a:t>O encapsulamento é um processo de cima para baixo.</a:t>
            </a:r>
          </a:p>
          <a:p>
            <a:pPr rtl="0">
              <a:buFont typeface="Arial" panose="020B0604020202020204" pitchFamily="34" charset="0"/>
              <a:buChar char="•"/>
            </a:pPr>
            <a:r>
              <a:rPr lang="pt-BR" sz="1600"/>
              <a:t>O nível acima faz o seu processo e, em seguida, passa-o para o próximo nível do modelo. Este processo é repetido por cada camada até que seja enviado como um fluxo de bits.</a:t>
            </a: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1963" y="1001471"/>
            <a:ext cx="5632037" cy="34253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92990475"/>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rtl="0"/>
            <a:r>
              <a:rPr lang="pt-BR" sz="1600"/>
              <a:t>Encapsulamento de dados </a:t>
            </a:r>
            <a:br>
              <a:rPr lang="en-US" altLang="en-US" dirty="0"/>
            </a:br>
            <a:r>
              <a:rPr lang="pt-BR"/>
              <a:t>Exemplo de desencapsulamento</a:t>
            </a:r>
          </a:p>
        </p:txBody>
      </p:sp>
      <p:sp>
        <p:nvSpPr>
          <p:cNvPr id="13315" name="Content Placeholder 2"/>
          <p:cNvSpPr>
            <a:spLocks noGrp="1"/>
          </p:cNvSpPr>
          <p:nvPr>
            <p:ph idx="1"/>
          </p:nvPr>
        </p:nvSpPr>
        <p:spPr>
          <a:xfrm>
            <a:off x="123573" y="896975"/>
            <a:ext cx="4012998" cy="3805654"/>
          </a:xfrm>
        </p:spPr>
        <p:txBody>
          <a:bodyPr/>
          <a:lstStyle/>
          <a:p>
            <a:pPr rtl="0">
              <a:buFont typeface="Arial" panose="020B0604020202020204" pitchFamily="34" charset="0"/>
              <a:buChar char="•"/>
            </a:pPr>
            <a:r>
              <a:rPr lang="pt-BR" sz="1600"/>
              <a:t>Os dados são desencapsulados à medida que se move para cima da pilha.</a:t>
            </a:r>
          </a:p>
          <a:p>
            <a:pPr rtl="0">
              <a:buFont typeface="Arial" panose="020B0604020202020204" pitchFamily="34" charset="0"/>
              <a:buChar char="•"/>
            </a:pPr>
            <a:r>
              <a:rPr lang="pt-BR" sz="1600"/>
              <a:t>Quando uma camada completa seu processo, essa camada tira seu cabeçalho e passa para o próximo nível a ser processado. Isso é repetido em cada camada até que seja um fluxo de dados que o aplicativo pode processar.</a:t>
            </a:r>
          </a:p>
          <a:p>
            <a:pPr marL="485775" lvl="1" indent="-342900" rtl="0">
              <a:buFont typeface="+mj-lt"/>
              <a:buAutoNum type="arabicPeriod"/>
            </a:pPr>
            <a:r>
              <a:rPr lang="pt-BR" sz="1600"/>
              <a:t>Recebido como Bits (Fluxo de Bits)</a:t>
            </a:r>
          </a:p>
          <a:p>
            <a:pPr marL="485775" lvl="1" indent="-342900" rtl="0">
              <a:buFont typeface="+mj-lt"/>
              <a:buAutoNum type="arabicPeriod"/>
            </a:pPr>
            <a:r>
              <a:rPr lang="pt-BR" sz="1600"/>
              <a:t>Quadro</a:t>
            </a:r>
          </a:p>
          <a:p>
            <a:pPr marL="485775" lvl="1" indent="-342900" rtl="0">
              <a:buFont typeface="+mj-lt"/>
              <a:buAutoNum type="arabicPeriod"/>
            </a:pPr>
            <a:r>
              <a:rPr lang="pt-BR" sz="1600"/>
              <a:t>Pacote</a:t>
            </a:r>
          </a:p>
          <a:p>
            <a:pPr marL="485775" lvl="1" indent="-342900" rtl="0">
              <a:buFont typeface="+mj-lt"/>
              <a:buAutoNum type="arabicPeriod"/>
            </a:pPr>
            <a:r>
              <a:rPr lang="pt-BR" sz="1600"/>
              <a:t>Segmento</a:t>
            </a:r>
          </a:p>
          <a:p>
            <a:pPr marL="485775" lvl="1" indent="-342900" rtl="0">
              <a:buFont typeface="+mj-lt"/>
              <a:buAutoNum type="arabicPeriod"/>
            </a:pPr>
            <a:r>
              <a:rPr lang="pt-BR" sz="1600"/>
              <a:t>Dados (fluxo de dados)</a:t>
            </a:r>
          </a:p>
        </p:txBody>
      </p:sp>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6571" y="1451428"/>
            <a:ext cx="5007429" cy="28361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52701189"/>
      </p:ext>
    </p:extLst>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pPr rtl="0"/>
            <a:r>
              <a:rPr lang="pt-BR">
                <a:solidFill>
                  <a:schemeClr val="accent5">
                    <a:lumMod val="40000"/>
                    <a:lumOff val="60000"/>
                  </a:schemeClr>
                </a:solidFill>
              </a:rPr>
              <a:t>3.7 Acesso aos dados</a:t>
            </a:r>
          </a:p>
        </p:txBody>
      </p:sp>
    </p:spTree>
    <p:custDataLst>
      <p:tags r:id="rId1"/>
    </p:custDataLst>
    <p:extLst>
      <p:ext uri="{BB962C8B-B14F-4D97-AF65-F5344CB8AC3E}">
        <p14:creationId xmlns:p14="http://schemas.microsoft.com/office/powerpoint/2010/main" val="4015053183"/>
      </p:ext>
    </p:extLst>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757551"/>
          </a:xfrm>
        </p:spPr>
        <p:txBody>
          <a:bodyPr/>
          <a:lstStyle/>
          <a:p>
            <a:pPr rtl="0"/>
            <a:br>
              <a:rPr lang="en-US" altLang="en-US" dirty="0"/>
            </a:br>
            <a:r>
              <a:rPr lang="pt-BR"/>
              <a:t>Acesso a dados </a:t>
            </a:r>
            <a:r>
              <a:rPr lang="pt-BR" sz="1600"/>
              <a:t>Endereços</a:t>
            </a:r>
          </a:p>
        </p:txBody>
      </p:sp>
      <p:sp>
        <p:nvSpPr>
          <p:cNvPr id="13315" name="Content Placeholder 2"/>
          <p:cNvSpPr>
            <a:spLocks noGrp="1"/>
          </p:cNvSpPr>
          <p:nvPr>
            <p:ph idx="1"/>
          </p:nvPr>
        </p:nvSpPr>
        <p:spPr>
          <a:xfrm>
            <a:off x="349304" y="744498"/>
            <a:ext cx="8445389" cy="2242043"/>
          </a:xfrm>
        </p:spPr>
        <p:txBody>
          <a:bodyPr/>
          <a:lstStyle/>
          <a:p>
            <a:pPr marL="0" indent="0" rtl="0">
              <a:buNone/>
            </a:pPr>
            <a:r>
              <a:rPr lang="pt-BR" sz="1600"/>
              <a:t>Tanto o link de dados quanto as camadas de rede usam endereçamento para entregar dados da origem ao destino.</a:t>
            </a:r>
          </a:p>
          <a:p>
            <a:pPr marL="0" indent="0" rtl="0">
              <a:buNone/>
            </a:pPr>
            <a:r>
              <a:rPr lang="pt-BR" sz="1600" b="1"/>
              <a:t>Endereços origem e destino da camada de rede</a:t>
            </a:r>
            <a:r>
              <a:rPr lang="pt-BR" sz="1600"/>
              <a:t> - Responsáveis por entregar o pacote IP da origem para o destino final.</a:t>
            </a:r>
            <a:r>
              <a:rPr lang="pt-BR" sz="1600" b="1"/>
              <a:t> </a:t>
            </a:r>
          </a:p>
          <a:p>
            <a:pPr marL="0" indent="0" rtl="0">
              <a:buNone/>
            </a:pPr>
            <a:r>
              <a:rPr lang="pt-BR" sz="1600" b="1"/>
              <a:t>Endereços de origem e destino da camada de enlace de dados </a:t>
            </a:r>
            <a:r>
              <a:rPr lang="pt-BR" sz="1600"/>
              <a:t> - Responsável por fornecer o quadro de enlace de dados de uma placa de interface de rede (NIC) para outra NIC na mesma rede.</a:t>
            </a:r>
          </a:p>
          <a:p>
            <a:pPr marL="0" indent="0">
              <a:buNone/>
            </a:pPr>
            <a:endParaRPr lang="en-CA" altLang="en-US" dirty="0"/>
          </a:p>
          <a:p>
            <a:endParaRPr lang="en-CA" altLang="en-US" dirty="0"/>
          </a:p>
        </p:txBody>
      </p:sp>
      <p:pic>
        <p:nvPicPr>
          <p:cNvPr id="2150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7285" y="3184845"/>
            <a:ext cx="6829425" cy="1666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87437588"/>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757551"/>
          </a:xfrm>
        </p:spPr>
        <p:txBody>
          <a:bodyPr/>
          <a:lstStyle/>
          <a:p>
            <a:pPr rtl="0"/>
            <a:r>
              <a:rPr lang="pt-BR"/>
              <a:t>Endereço Lógicoda Camada 3</a:t>
            </a:r>
            <a:r>
              <a:rPr lang="pt-BR" sz="1600"/>
              <a:t>de Acesso a Dados</a:t>
            </a:r>
          </a:p>
        </p:txBody>
      </p:sp>
      <p:sp>
        <p:nvSpPr>
          <p:cNvPr id="13315" name="Content Placeholder 2"/>
          <p:cNvSpPr>
            <a:spLocks noGrp="1"/>
          </p:cNvSpPr>
          <p:nvPr>
            <p:ph idx="1"/>
          </p:nvPr>
        </p:nvSpPr>
        <p:spPr>
          <a:xfrm>
            <a:off x="99502" y="1037994"/>
            <a:ext cx="3802452" cy="3457575"/>
          </a:xfrm>
        </p:spPr>
        <p:txBody>
          <a:bodyPr/>
          <a:lstStyle/>
          <a:p>
            <a:pPr marL="0" indent="0" rtl="0">
              <a:buNone/>
            </a:pPr>
            <a:r>
              <a:rPr lang="pt-BR" sz="1600"/>
              <a:t>O pacote IP contém dois endereços IP:</a:t>
            </a:r>
          </a:p>
          <a:p>
            <a:pPr lvl="1" rtl="0"/>
            <a:r>
              <a:rPr lang="pt-BR" sz="1600" b="1"/>
              <a:t>Endereço IP origem</a:t>
            </a:r>
            <a:r>
              <a:rPr lang="pt-BR" sz="1600"/>
              <a:t> - O endereço IP do dispositivo emissor, a origem do pacote.</a:t>
            </a:r>
          </a:p>
          <a:p>
            <a:pPr lvl="1" rtl="0"/>
            <a:r>
              <a:rPr lang="pt-BR" sz="1600" b="1"/>
              <a:t>Endereço IP de destino</a:t>
            </a:r>
            <a:r>
              <a:rPr lang="pt-BR" sz="1600"/>
              <a:t> - O endereço IP do dispositivo receptor, o destino final do pacote.</a:t>
            </a:r>
          </a:p>
          <a:p>
            <a:pPr marL="0" indent="0" rtl="0">
              <a:buNone/>
            </a:pPr>
            <a:r>
              <a:rPr lang="pt-BR" sz="1600"/>
              <a:t>Esses endereços podem estar no mesmo link ou remoto.</a:t>
            </a:r>
          </a:p>
          <a:p>
            <a:endParaRPr lang="en-CA" altLang="en-US" dirty="0"/>
          </a:p>
          <a:p>
            <a:pPr marL="0" indent="0">
              <a:buNone/>
            </a:pPr>
            <a:endParaRPr lang="en-CA" alt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8224" y="1232861"/>
            <a:ext cx="4880714" cy="26692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60497487"/>
      </p:ext>
    </p:extLst>
  </p:cSld>
  <p:clrMapOvr>
    <a:masterClrMapping/>
  </p:clrMapOvr>
  <p:transition spd="slow">
    <p:wip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41393"/>
            <a:ext cx="9144000" cy="757551"/>
          </a:xfrm>
        </p:spPr>
        <p:txBody>
          <a:bodyPr/>
          <a:lstStyle/>
          <a:p>
            <a:pPr rtl="0"/>
            <a:r>
              <a:rPr lang="pt-BR"/>
              <a:t>Endereço lógicoda Camada 3 de Acesso a Dados (Cont.) </a:t>
            </a:r>
          </a:p>
        </p:txBody>
      </p:sp>
      <p:sp>
        <p:nvSpPr>
          <p:cNvPr id="13315" name="Content Placeholder 2"/>
          <p:cNvSpPr>
            <a:spLocks noGrp="1"/>
          </p:cNvSpPr>
          <p:nvPr>
            <p:ph idx="1"/>
          </p:nvPr>
        </p:nvSpPr>
        <p:spPr>
          <a:xfrm>
            <a:off x="100013" y="885824"/>
            <a:ext cx="4303036" cy="4071766"/>
          </a:xfrm>
        </p:spPr>
        <p:txBody>
          <a:bodyPr/>
          <a:lstStyle/>
          <a:p>
            <a:pPr marL="0" indent="0" rtl="0">
              <a:buNone/>
            </a:pPr>
            <a:r>
              <a:rPr lang="pt-BR" sz="1600"/>
              <a:t>Um endereço IP contém duas partes:</a:t>
            </a:r>
          </a:p>
          <a:p>
            <a:pPr rtl="0">
              <a:buFont typeface="Arial" panose="020B0604020202020204" pitchFamily="34" charset="0"/>
              <a:buChar char="•"/>
            </a:pPr>
            <a:r>
              <a:rPr lang="pt-BR" sz="1600" b="1"/>
              <a:t>Parte de rede (IPv4) ou prefixo (IPv6)</a:t>
            </a:r>
          </a:p>
          <a:p>
            <a:pPr lvl="1" rtl="0"/>
            <a:r>
              <a:rPr lang="pt-BR" sz="1500"/>
              <a:t>A parte mais à esquerda do endereço indica o grupo de rede do qual o endereço IP é membro.</a:t>
            </a:r>
          </a:p>
          <a:p>
            <a:pPr lvl="1" rtl="0"/>
            <a:r>
              <a:rPr lang="pt-BR" sz="1500"/>
              <a:t>Cada LAN ou WAN terá a mesma parte de rede.</a:t>
            </a:r>
          </a:p>
          <a:p>
            <a:pPr rtl="0">
              <a:buFont typeface="Arial" panose="020B0604020202020204" pitchFamily="34" charset="0"/>
              <a:buChar char="•"/>
            </a:pPr>
            <a:r>
              <a:rPr lang="pt-BR" sz="1600" b="1"/>
              <a:t>Parte do host (IPv4) ou ID da interface (IPv6)</a:t>
            </a:r>
          </a:p>
          <a:p>
            <a:pPr lvl="1" rtl="0"/>
            <a:r>
              <a:rPr lang="pt-BR" sz="1500"/>
              <a:t>A parte restante do endereço identifica um dispositivo específico dentro do grupo. </a:t>
            </a:r>
          </a:p>
          <a:p>
            <a:pPr lvl="1" rtl="0"/>
            <a:r>
              <a:rPr lang="pt-BR" sz="1500"/>
              <a:t>Essa parte é exclusiva para cada dispositivo na rede.</a:t>
            </a:r>
          </a:p>
          <a:p>
            <a:endParaRPr lang="en-CA" altLang="en-US" dirty="0"/>
          </a:p>
          <a:p>
            <a:pPr marL="0" indent="0">
              <a:buNone/>
            </a:pPr>
            <a:endParaRPr lang="en-CA" alt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3062" y="1237106"/>
            <a:ext cx="4640938" cy="26692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98420988"/>
      </p:ext>
    </p:extLst>
  </p:cSld>
  <p:clrMapOvr>
    <a:masterClrMapping/>
  </p:clrMapOvr>
  <p:transition spd="slow">
    <p:wip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41393"/>
            <a:ext cx="9144000" cy="819993"/>
          </a:xfrm>
        </p:spPr>
        <p:txBody>
          <a:bodyPr/>
          <a:lstStyle/>
          <a:p>
            <a:pPr rtl="0"/>
            <a:br>
              <a:rPr lang="en-US" altLang="en-US" dirty="0"/>
            </a:br>
            <a:r>
              <a:rPr lang="pt-BR"/>
              <a:t>Acesso a dados </a:t>
            </a:r>
            <a:r>
              <a:rPr lang="pt-BR" sz="1600"/>
              <a:t>Dispositivos na mesma rede</a:t>
            </a:r>
          </a:p>
        </p:txBody>
      </p:sp>
      <p:sp>
        <p:nvSpPr>
          <p:cNvPr id="13315" name="Content Placeholder 2"/>
          <p:cNvSpPr>
            <a:spLocks noGrp="1"/>
          </p:cNvSpPr>
          <p:nvPr>
            <p:ph idx="1"/>
          </p:nvPr>
        </p:nvSpPr>
        <p:spPr>
          <a:xfrm>
            <a:off x="177155" y="1185062"/>
            <a:ext cx="3788917" cy="3435310"/>
          </a:xfrm>
        </p:spPr>
        <p:txBody>
          <a:bodyPr/>
          <a:lstStyle/>
          <a:p>
            <a:pPr marL="0" indent="0" rtl="0">
              <a:buNone/>
            </a:pPr>
            <a:r>
              <a:rPr lang="pt-BR" sz="1600"/>
              <a:t>Quando os dispositivos estão na mesma rede, a origem e o destino terão o mesmo número na parte da rede do endereço.</a:t>
            </a:r>
          </a:p>
          <a:p>
            <a:pPr lvl="1" rtl="0"/>
            <a:r>
              <a:rPr lang="pt-BR" sz="1600"/>
              <a:t>PC1 — </a:t>
            </a:r>
            <a:r>
              <a:rPr lang="pt-BR" sz="1600" u="sng">
                <a:solidFill>
                  <a:schemeClr val="accent6"/>
                </a:solidFill>
              </a:rPr>
              <a:t>192.168.1</a:t>
            </a:r>
            <a:r>
              <a:rPr lang="pt-BR" sz="1600"/>
              <a:t>.110</a:t>
            </a:r>
          </a:p>
          <a:p>
            <a:pPr lvl="1" rtl="0"/>
            <a:r>
              <a:rPr lang="pt-BR" sz="1600"/>
              <a:t>Servidor FTP — </a:t>
            </a:r>
            <a:r>
              <a:rPr lang="pt-BR" sz="1600" u="sng">
                <a:solidFill>
                  <a:schemeClr val="accent6"/>
                </a:solidFill>
              </a:rPr>
              <a:t>192.168.1</a:t>
            </a:r>
            <a:r>
              <a:rPr lang="pt-BR" sz="1600"/>
              <a:t>.9</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06229" y="977494"/>
            <a:ext cx="4643258" cy="29809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45629971"/>
      </p:ext>
    </p:extLst>
  </p:cSld>
  <p:clrMapOvr>
    <a:masterClrMapping/>
  </p:clrMapOvr>
  <p:transition spd="slow">
    <p:wip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41393"/>
            <a:ext cx="9144000" cy="819993"/>
          </a:xfrm>
        </p:spPr>
        <p:txBody>
          <a:bodyPr/>
          <a:lstStyle/>
          <a:p>
            <a:pPr rtl="0"/>
            <a:br>
              <a:rPr lang="en-US" altLang="en-US" dirty="0"/>
            </a:br>
            <a:r>
              <a:rPr lang="pt-BR"/>
              <a:t>Função de Acesso a Dados dos Endereços da Camada de Link de Dados: Mesma Rede IP</a:t>
            </a:r>
          </a:p>
        </p:txBody>
      </p:sp>
      <p:sp>
        <p:nvSpPr>
          <p:cNvPr id="13315" name="Content Placeholder 2"/>
          <p:cNvSpPr>
            <a:spLocks noGrp="1"/>
          </p:cNvSpPr>
          <p:nvPr>
            <p:ph idx="1"/>
          </p:nvPr>
        </p:nvSpPr>
        <p:spPr>
          <a:xfrm>
            <a:off x="114300" y="1066541"/>
            <a:ext cx="4029075" cy="3435310"/>
          </a:xfrm>
        </p:spPr>
        <p:txBody>
          <a:bodyPr/>
          <a:lstStyle/>
          <a:p>
            <a:pPr marL="0" indent="0" rtl="0">
              <a:buNone/>
            </a:pPr>
            <a:r>
              <a:rPr lang="pt-BR" sz="1600"/>
              <a:t>Quando os dispositivos estiverem na mesma rede Ethernet, o quadro do link de dados usará o endereço MAC real da NIC de destino.</a:t>
            </a:r>
          </a:p>
          <a:p>
            <a:pPr marL="0" indent="0" rtl="0">
              <a:buNone/>
            </a:pPr>
            <a:r>
              <a:rPr lang="pt-BR" sz="1600"/>
              <a:t>Os endereços MAC são fisicamente incorporados à NIC Ethernet e são endereçamento local.</a:t>
            </a:r>
          </a:p>
          <a:p>
            <a:pPr rtl="0">
              <a:buFont typeface="Arial" panose="020B0604020202020204" pitchFamily="34" charset="0"/>
              <a:buChar char="•"/>
            </a:pPr>
            <a:r>
              <a:rPr lang="pt-BR" sz="1600"/>
              <a:t>O endereço MAC de origem será o do originador no link.</a:t>
            </a:r>
          </a:p>
          <a:p>
            <a:pPr rtl="0">
              <a:buFont typeface="Arial" panose="020B0604020202020204" pitchFamily="34" charset="0"/>
              <a:buChar char="•"/>
            </a:pPr>
            <a:r>
              <a:rPr lang="pt-BR" sz="1600"/>
              <a:t>O endereço MAC de destino estará sempre no mesmo link que a origem, mesmo que o destino final seja remoto.</a:t>
            </a:r>
          </a:p>
          <a:p>
            <a:pPr marL="0" indent="0">
              <a:buNone/>
            </a:pPr>
            <a:endParaRPr lang="en-CA" altLang="en-US" dirty="0"/>
          </a:p>
        </p:txBody>
      </p:sp>
      <p:pic>
        <p:nvPicPr>
          <p:cNvPr id="2" name="Picture 1"/>
          <p:cNvPicPr>
            <a:picLocks noChangeAspect="1"/>
          </p:cNvPicPr>
          <p:nvPr/>
        </p:nvPicPr>
        <p:blipFill>
          <a:blip r:embed="rId3"/>
          <a:stretch>
            <a:fillRect/>
          </a:stretch>
        </p:blipFill>
        <p:spPr>
          <a:xfrm>
            <a:off x="4399440" y="861386"/>
            <a:ext cx="4472943" cy="2933866"/>
          </a:xfrm>
          <a:prstGeom prst="rect">
            <a:avLst/>
          </a:prstGeom>
        </p:spPr>
      </p:pic>
    </p:spTree>
    <p:extLst>
      <p:ext uri="{BB962C8B-B14F-4D97-AF65-F5344CB8AC3E}">
        <p14:creationId xmlns:p14="http://schemas.microsoft.com/office/powerpoint/2010/main" val="1711889927"/>
      </p:ext>
    </p:extLst>
  </p:cSld>
  <p:clrMapOvr>
    <a:masterClrMapping/>
  </p:clrMapOvr>
  <p:transition spd="slow">
    <p:wip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41393"/>
            <a:ext cx="9143999" cy="819993"/>
          </a:xfrm>
        </p:spPr>
        <p:txBody>
          <a:bodyPr/>
          <a:lstStyle/>
          <a:p>
            <a:pPr rtl="0"/>
            <a:br>
              <a:rPr lang="en-US" altLang="en-US" dirty="0"/>
            </a:br>
            <a:r>
              <a:rPr lang="pt-BR"/>
              <a:t>Acesso a dados </a:t>
            </a:r>
            <a:r>
              <a:rPr lang="pt-BR" sz="1600"/>
              <a:t>Dispositivos em uma rede remota</a:t>
            </a:r>
          </a:p>
        </p:txBody>
      </p:sp>
      <p:sp>
        <p:nvSpPr>
          <p:cNvPr id="13315" name="Content Placeholder 2"/>
          <p:cNvSpPr>
            <a:spLocks noGrp="1"/>
          </p:cNvSpPr>
          <p:nvPr>
            <p:ph idx="1"/>
          </p:nvPr>
        </p:nvSpPr>
        <p:spPr>
          <a:xfrm>
            <a:off x="114301" y="861387"/>
            <a:ext cx="3935186" cy="3592626"/>
          </a:xfrm>
        </p:spPr>
        <p:txBody>
          <a:bodyPr/>
          <a:lstStyle/>
          <a:p>
            <a:pPr rtl="0">
              <a:buFont typeface="Arial" panose="020B0604020202020204" pitchFamily="34" charset="0"/>
              <a:buChar char="•"/>
            </a:pPr>
            <a:r>
              <a:rPr lang="pt-BR" sz="1600"/>
              <a:t>O que acontece quando o destino real (final) não está na mesma LAN e é remoto? </a:t>
            </a:r>
          </a:p>
          <a:p>
            <a:pPr rtl="0">
              <a:buFont typeface="Arial" panose="020B0604020202020204" pitchFamily="34" charset="0"/>
              <a:buChar char="•"/>
            </a:pPr>
            <a:r>
              <a:rPr lang="pt-BR" sz="1600"/>
              <a:t>O que acontece quando PC1 tenta alcançar o servidor Web?</a:t>
            </a:r>
          </a:p>
          <a:p>
            <a:pPr rtl="0">
              <a:buFont typeface="Arial" panose="020B0604020202020204" pitchFamily="34" charset="0"/>
              <a:buChar char="•"/>
            </a:pPr>
            <a:r>
              <a:rPr lang="pt-BR" sz="1600"/>
              <a:t>Isso afeta as camadas de rede e de link de dados?</a:t>
            </a:r>
          </a:p>
          <a:p>
            <a:pPr marL="142875" lvl="1" indent="0">
              <a:buNone/>
            </a:pPr>
            <a:endParaRPr lang="en-CA" altLang="en-US" dirty="0"/>
          </a:p>
          <a:p>
            <a:pPr marL="0" indent="0">
              <a:buNone/>
            </a:pPr>
            <a:endParaRPr lang="en-CA" altLang="en-US" dirty="0"/>
          </a:p>
        </p:txBody>
      </p:sp>
      <p:pic>
        <p:nvPicPr>
          <p:cNvPr id="3" name="Picture 2"/>
          <p:cNvPicPr>
            <a:picLocks noChangeAspect="1"/>
          </p:cNvPicPr>
          <p:nvPr/>
        </p:nvPicPr>
        <p:blipFill>
          <a:blip r:embed="rId3"/>
          <a:stretch>
            <a:fillRect/>
          </a:stretch>
        </p:blipFill>
        <p:spPr>
          <a:xfrm>
            <a:off x="4143375" y="1037350"/>
            <a:ext cx="4884533" cy="3240700"/>
          </a:xfrm>
          <a:prstGeom prst="rect">
            <a:avLst/>
          </a:prstGeom>
        </p:spPr>
      </p:pic>
    </p:spTree>
    <p:extLst>
      <p:ext uri="{BB962C8B-B14F-4D97-AF65-F5344CB8AC3E}">
        <p14:creationId xmlns:p14="http://schemas.microsoft.com/office/powerpoint/2010/main" val="20121060"/>
      </p:ext>
    </p:extLst>
  </p:cSld>
  <p:clrMapOvr>
    <a:masterClrMapping/>
  </p:clrMapOvr>
  <p:transition spd="slow">
    <p:wip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819993"/>
          </a:xfrm>
        </p:spPr>
        <p:txBody>
          <a:bodyPr/>
          <a:lstStyle/>
          <a:p>
            <a:pPr rtl="0"/>
            <a:r>
              <a:rPr lang="pt-BR" sz="1600"/>
              <a:t>Acessoa aos dados </a:t>
            </a:r>
            <a:br>
              <a:rPr lang="en-US" altLang="en-US" dirty="0"/>
            </a:br>
            <a:r>
              <a:rPr lang="pt-BR"/>
              <a:t>Função dos endereços da camada de rede</a:t>
            </a:r>
          </a:p>
        </p:txBody>
      </p:sp>
      <p:sp>
        <p:nvSpPr>
          <p:cNvPr id="13315" name="Content Placeholder 2"/>
          <p:cNvSpPr>
            <a:spLocks noGrp="1"/>
          </p:cNvSpPr>
          <p:nvPr>
            <p:ph idx="1"/>
          </p:nvPr>
        </p:nvSpPr>
        <p:spPr>
          <a:xfrm>
            <a:off x="114301" y="861387"/>
            <a:ext cx="3862788" cy="3592626"/>
          </a:xfrm>
        </p:spPr>
        <p:txBody>
          <a:bodyPr/>
          <a:lstStyle/>
          <a:p>
            <a:pPr marL="0" indent="0" rtl="0">
              <a:buNone/>
            </a:pPr>
            <a:r>
              <a:rPr lang="pt-BR" sz="1600"/>
              <a:t>Quando a origem e o destino têm uma parte de rede diferente, isso significa que eles estão em redes diferentes.</a:t>
            </a:r>
          </a:p>
          <a:p>
            <a:pPr lvl="1" rtl="0"/>
            <a:r>
              <a:rPr lang="pt-BR" sz="1600"/>
              <a:t>PC1 — 192.168.1</a:t>
            </a:r>
          </a:p>
          <a:p>
            <a:pPr lvl="1" rtl="0"/>
            <a:r>
              <a:rPr lang="pt-BR" sz="1600"/>
              <a:t>Servidor Web — 172.16.1</a:t>
            </a:r>
          </a:p>
          <a:p>
            <a:pPr marL="0" indent="0">
              <a:buNone/>
            </a:pPr>
            <a:endParaRPr lang="en-CA" altLang="en-US" dirty="0"/>
          </a:p>
          <a:p>
            <a:pPr marL="0" indent="0">
              <a:buNone/>
            </a:pPr>
            <a:endParaRPr lang="en-CA" altLang="en-US" dirty="0"/>
          </a:p>
        </p:txBody>
      </p:sp>
      <p:pic>
        <p:nvPicPr>
          <p:cNvPr id="3" name="Picture 2"/>
          <p:cNvPicPr>
            <a:picLocks noChangeAspect="1"/>
          </p:cNvPicPr>
          <p:nvPr/>
        </p:nvPicPr>
        <p:blipFill>
          <a:blip r:embed="rId3"/>
          <a:stretch>
            <a:fillRect/>
          </a:stretch>
        </p:blipFill>
        <p:spPr>
          <a:xfrm>
            <a:off x="4143375" y="1037350"/>
            <a:ext cx="4884533" cy="3240700"/>
          </a:xfrm>
          <a:prstGeom prst="rect">
            <a:avLst/>
          </a:prstGeom>
        </p:spPr>
      </p:pic>
    </p:spTree>
    <p:extLst>
      <p:ext uri="{BB962C8B-B14F-4D97-AF65-F5344CB8AC3E}">
        <p14:creationId xmlns:p14="http://schemas.microsoft.com/office/powerpoint/2010/main" val="1152864595"/>
      </p:ext>
    </p:extLst>
  </p:cSld>
  <p:clrMapOvr>
    <a:masterClrMapping/>
  </p:clrMapOvr>
  <p:transition spd="slow">
    <p:wip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07336"/>
            <a:ext cx="9144000" cy="743794"/>
          </a:xfrm>
        </p:spPr>
        <p:txBody>
          <a:bodyPr/>
          <a:lstStyle/>
          <a:p>
            <a:pPr rtl="0"/>
            <a:r>
              <a:rPr lang="pt-BR" sz="1600"/>
              <a:t>Acesso aos Dados </a:t>
            </a:r>
            <a:br>
              <a:rPr lang="en-US" altLang="en-US" dirty="0"/>
            </a:br>
            <a:r>
              <a:rPr lang="pt-BR"/>
              <a:t>Função dos endereços da camada de enlace de dados: redes IP diferentes</a:t>
            </a:r>
          </a:p>
        </p:txBody>
      </p:sp>
      <p:sp>
        <p:nvSpPr>
          <p:cNvPr id="13315" name="Content Placeholder 2"/>
          <p:cNvSpPr>
            <a:spLocks noGrp="1"/>
          </p:cNvSpPr>
          <p:nvPr>
            <p:ph idx="1"/>
          </p:nvPr>
        </p:nvSpPr>
        <p:spPr>
          <a:xfrm>
            <a:off x="114301" y="1004995"/>
            <a:ext cx="4036523" cy="3901113"/>
          </a:xfrm>
        </p:spPr>
        <p:txBody>
          <a:bodyPr/>
          <a:lstStyle/>
          <a:p>
            <a:pPr marL="0" indent="0" rtl="0">
              <a:buNone/>
            </a:pPr>
            <a:r>
              <a:rPr lang="pt-BR" sz="1400">
                <a:ea typeface="ＭＳ Ｐゴシック"/>
              </a:rPr>
              <a:t>Quando o destino final for remoto, a Camada 3 fornecerá à Camada 2 o endereço IP do gateway padrão local, também conhecido como o endereço do roteador.</a:t>
            </a:r>
          </a:p>
          <a:p>
            <a:pPr marL="169545" indent="-169545" rtl="0">
              <a:buFont typeface="Arial" panose="020B0604020202020204" pitchFamily="34" charset="0"/>
              <a:buChar char="•"/>
            </a:pPr>
            <a:r>
              <a:rPr lang="pt-BR" sz="1400">
                <a:ea typeface="ＭＳ Ｐゴシック"/>
              </a:rPr>
              <a:t>O gateway padrão (DGW) é o endereço IP da interface do roteador que faz parte dessa LAN e será a “porta” ou “gateway” para todos os outros locais remotos.</a:t>
            </a:r>
          </a:p>
          <a:p>
            <a:pPr marL="169545" indent="-169545">
              <a:buFont typeface="Arial" panose="020B0604020202020204" pitchFamily="34" charset="0"/>
              <a:buChar char="•"/>
            </a:pPr>
            <a:r>
              <a:rPr lang="pt-BR" sz="1400">
                <a:ea typeface="ＭＳ Ｐゴシック"/>
              </a:rPr>
              <a:t>Todos os dispositivos na LAN devem ser informados sobre esse endereço ou seu tráfego será limitado somente à LAN. </a:t>
            </a:r>
          </a:p>
          <a:p>
            <a:pPr marL="169545" indent="-169545" rtl="0">
              <a:buFont typeface="Arial" panose="020B0604020202020204" pitchFamily="34" charset="0"/>
              <a:buChar char="•"/>
            </a:pPr>
            <a:r>
              <a:rPr lang="pt-BR" sz="1400">
                <a:ea typeface="ＭＳ Ｐゴシック"/>
              </a:rPr>
              <a:t>Depois que a Camada 2 em PC1 for encaminha para o gateway padrão (Roteador), o roteador poderá iniciar o processo de roteamento para obter as informações para o destino real. </a:t>
            </a:r>
            <a:endParaRPr lang="pt-BR" sz="1400"/>
          </a:p>
          <a:p>
            <a:pPr marL="0" indent="0">
              <a:buNone/>
            </a:pPr>
            <a:endParaRPr lang="en-CA" altLang="en-US" sz="1400"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0824" y="1188719"/>
            <a:ext cx="4878875" cy="33101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23931806"/>
      </p:ext>
    </p:extLst>
  </p:cSld>
  <p:clrMapOvr>
    <a:masterClrMapping/>
  </p:clrMapOvr>
  <p:transition spd="slow">
    <p:wip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995957"/>
          </a:xfrm>
        </p:spPr>
        <p:txBody>
          <a:bodyPr/>
          <a:lstStyle/>
          <a:p>
            <a:pPr rtl="0"/>
            <a:br>
              <a:rPr lang="en-US" altLang="en-US" dirty="0"/>
            </a:br>
            <a:r>
              <a:rPr lang="pt-BR"/>
              <a:t>Função de Acesso a Dados dos Endereços da Camada de Link de Dados: Redes IP Diferentes (Cont.) </a:t>
            </a:r>
          </a:p>
        </p:txBody>
      </p:sp>
      <p:sp>
        <p:nvSpPr>
          <p:cNvPr id="13315" name="Content Placeholder 2"/>
          <p:cNvSpPr>
            <a:spLocks noGrp="1"/>
          </p:cNvSpPr>
          <p:nvPr>
            <p:ph idx="1"/>
          </p:nvPr>
        </p:nvSpPr>
        <p:spPr>
          <a:xfrm>
            <a:off x="114301" y="1115568"/>
            <a:ext cx="3935186" cy="3632702"/>
          </a:xfrm>
        </p:spPr>
        <p:txBody>
          <a:bodyPr/>
          <a:lstStyle/>
          <a:p>
            <a:pPr marL="169545" indent="-169545" rtl="0">
              <a:buFont typeface="Arial" panose="020B0604020202020204" pitchFamily="34" charset="0"/>
              <a:buChar char="•"/>
            </a:pPr>
            <a:r>
              <a:rPr lang="pt-BR" sz="1400">
                <a:ea typeface="ＭＳ Ｐゴシック"/>
              </a:rPr>
              <a:t>O endereçamento do link de dados é endereçamento local, portanto, ele terá uma origem e um destino para cada link.</a:t>
            </a:r>
          </a:p>
          <a:p>
            <a:pPr marL="169545" indent="-169545" rtl="0">
              <a:buFont typeface="Arial" panose="020B0604020202020204" pitchFamily="34" charset="0"/>
              <a:buChar char="•"/>
            </a:pPr>
            <a:r>
              <a:rPr lang="pt-BR" sz="1400">
                <a:ea typeface="ＭＳ Ｐゴシック"/>
              </a:rPr>
              <a:t>O endereçamento MAC para o primeiro segmento é:</a:t>
            </a:r>
          </a:p>
          <a:p>
            <a:pPr lvl="1" rtl="0"/>
            <a:r>
              <a:rPr lang="pt-BR">
                <a:ea typeface="ＭＳ Ｐゴシック"/>
              </a:rPr>
              <a:t>Fonte — AA-AA-AA-AA-AA-AA (PC1) Envia o quadro.</a:t>
            </a:r>
          </a:p>
          <a:p>
            <a:pPr lvl="1" rtl="0"/>
            <a:r>
              <a:rPr lang="pt-BR">
                <a:ea typeface="ＭＳ Ｐゴシック"/>
              </a:rPr>
              <a:t>Destino — 11-11-11-11-11-11 (R1- MAC de gateway padrão) Recebe o quadro.</a:t>
            </a:r>
          </a:p>
          <a:p>
            <a:pPr marL="0" indent="0">
              <a:buNone/>
            </a:pPr>
            <a:r>
              <a:rPr lang="pt-BR" sz="1400" b="1">
                <a:ea typeface="ＭＳ Ｐゴシック"/>
              </a:rPr>
              <a:t>Observação: </a:t>
            </a:r>
            <a:r>
              <a:rPr lang="pt-BR" sz="1400">
                <a:ea typeface="ＭＳ Ｐゴシック"/>
              </a:rPr>
              <a:t>Embora o endereçamento local L2 mude de link para link ou de salto para salto, o endereçamento L3 permanece o mesmo. </a:t>
            </a:r>
            <a:endParaRPr lang="pt-BR" sz="1400"/>
          </a:p>
          <a:p>
            <a:pPr marL="169545" indent="-169545"/>
            <a:endParaRPr lang="en-CA" altLang="en-US" sz="1400" dirty="0"/>
          </a:p>
          <a:p>
            <a:pPr marL="0" indent="0">
              <a:buNone/>
            </a:pPr>
            <a:endParaRPr lang="en-CA" altLang="en-US" sz="1400" dirty="0"/>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82059" y="874527"/>
            <a:ext cx="4215838" cy="26974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86869489"/>
      </p:ext>
    </p:extLst>
  </p:cSld>
  <p:clrMapOvr>
    <a:masterClrMapping/>
  </p:clrMapOvr>
  <p:transition spd="slow">
    <p:wip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
            <a:ext cx="6994866" cy="861386"/>
          </a:xfrm>
        </p:spPr>
        <p:txBody>
          <a:bodyPr/>
          <a:lstStyle/>
          <a:p>
            <a:pPr rtl="0"/>
            <a:r>
              <a:rPr lang="pt-BR" sz="1600"/>
              <a:t>Acesso a dados </a:t>
            </a:r>
            <a:br>
              <a:rPr lang="en-US" altLang="en-US" dirty="0"/>
            </a:br>
            <a:r>
              <a:rPr lang="pt-BR"/>
              <a:t>Endereços de enlace de dados</a:t>
            </a:r>
          </a:p>
        </p:txBody>
      </p:sp>
      <p:sp>
        <p:nvSpPr>
          <p:cNvPr id="13315" name="Content Placeholder 2"/>
          <p:cNvSpPr>
            <a:spLocks noGrp="1"/>
          </p:cNvSpPr>
          <p:nvPr>
            <p:ph idx="1"/>
          </p:nvPr>
        </p:nvSpPr>
        <p:spPr>
          <a:xfrm>
            <a:off x="161925" y="861388"/>
            <a:ext cx="8505825" cy="1676504"/>
          </a:xfrm>
        </p:spPr>
        <p:txBody>
          <a:bodyPr/>
          <a:lstStyle/>
          <a:p>
            <a:pPr rtl="0">
              <a:buFont typeface="Arial" panose="020B0604020202020204" pitchFamily="34" charset="0"/>
              <a:buChar char="•"/>
            </a:pPr>
            <a:r>
              <a:rPr lang="pt-BR" sz="1600"/>
              <a:t>Como o endereçamento de link de dados é endereçamento local, ele terá uma origem e um destino para cada segmento ou salto da viagem para o destino.</a:t>
            </a:r>
          </a:p>
          <a:p>
            <a:pPr rtl="0">
              <a:buFont typeface="Arial" panose="020B0604020202020204" pitchFamily="34" charset="0"/>
              <a:buChar char="•"/>
            </a:pPr>
            <a:r>
              <a:rPr lang="pt-BR" sz="1600"/>
              <a:t>O endereçamento MAC para o primeiro segmento é:</a:t>
            </a:r>
          </a:p>
          <a:p>
            <a:pPr lvl="1" rtl="0"/>
            <a:r>
              <a:rPr lang="pt-BR" sz="1600"/>
              <a:t>Origem — (NIC PC1) envia quadro</a:t>
            </a:r>
          </a:p>
          <a:p>
            <a:pPr lvl="1" rtl="0"/>
            <a:r>
              <a:rPr lang="pt-BR" sz="1600"/>
              <a:t>Destino — (Primeiro Roteador - Interface DGW) recebe quadro</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5841" y="2571750"/>
            <a:ext cx="4470787" cy="21645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4585817"/>
      </p:ext>
    </p:extLst>
  </p:cSld>
  <p:clrMapOvr>
    <a:masterClrMapping/>
  </p:clrMapOvr>
  <p:transition spd="slow">
    <p:wip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
            <a:ext cx="4467224" cy="861386"/>
          </a:xfrm>
        </p:spPr>
        <p:txBody>
          <a:bodyPr/>
          <a:lstStyle/>
          <a:p>
            <a:pPr rtl="0"/>
            <a:r>
              <a:rPr lang="pt-BR" sz="1600"/>
              <a:t>Acesso a dados </a:t>
            </a:r>
            <a:br>
              <a:rPr lang="en-US" altLang="en-US" dirty="0"/>
            </a:br>
            <a:r>
              <a:rPr lang="pt-BR"/>
              <a:t>Endereços de enlace de dados</a:t>
            </a:r>
          </a:p>
        </p:txBody>
      </p:sp>
      <p:sp>
        <p:nvSpPr>
          <p:cNvPr id="13315" name="Content Placeholder 2"/>
          <p:cNvSpPr>
            <a:spLocks noGrp="1"/>
          </p:cNvSpPr>
          <p:nvPr>
            <p:ph idx="1"/>
          </p:nvPr>
        </p:nvSpPr>
        <p:spPr>
          <a:xfrm>
            <a:off x="190500" y="851863"/>
            <a:ext cx="8248650" cy="1148388"/>
          </a:xfrm>
        </p:spPr>
        <p:txBody>
          <a:bodyPr/>
          <a:lstStyle/>
          <a:p>
            <a:pPr marL="0" indent="0" rtl="0">
              <a:buNone/>
            </a:pPr>
            <a:r>
              <a:rPr lang="pt-BR" sz="1600"/>
              <a:t>O endereçamento MAC para o segundo salto é:</a:t>
            </a:r>
          </a:p>
          <a:p>
            <a:pPr lvl="1" rtl="0"/>
            <a:r>
              <a:rPr lang="pt-BR" sz="1600"/>
              <a:t>Origem — (Primeira interface de saída do Roteador) envia quadro</a:t>
            </a:r>
          </a:p>
          <a:p>
            <a:pPr lvl="1" rtl="0"/>
            <a:r>
              <a:rPr lang="pt-BR" sz="1600"/>
              <a:t>Destino — (Segundo Roteador) recebe quadro</a:t>
            </a: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0042" y="2080004"/>
            <a:ext cx="5223916" cy="2347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95996512"/>
      </p:ext>
    </p:extLst>
  </p:cSld>
  <p:clrMapOvr>
    <a:masterClrMapping/>
  </p:clrMapOvr>
  <p:transition spd="slow">
    <p:wip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1"/>
            <a:ext cx="7278564" cy="846733"/>
          </a:xfrm>
        </p:spPr>
        <p:txBody>
          <a:bodyPr/>
          <a:lstStyle/>
          <a:p>
            <a:pPr rtl="0"/>
            <a:r>
              <a:rPr lang="pt-BR" sz="1600"/>
              <a:t>Acesso a dados </a:t>
            </a:r>
            <a:br>
              <a:rPr lang="en-US" altLang="en-US" dirty="0"/>
            </a:br>
            <a:r>
              <a:rPr lang="pt-BR"/>
              <a:t>Endereços de enlace de dados</a:t>
            </a:r>
          </a:p>
        </p:txBody>
      </p:sp>
      <p:sp>
        <p:nvSpPr>
          <p:cNvPr id="13315" name="Content Placeholder 2"/>
          <p:cNvSpPr>
            <a:spLocks noGrp="1"/>
          </p:cNvSpPr>
          <p:nvPr>
            <p:ph idx="1"/>
          </p:nvPr>
        </p:nvSpPr>
        <p:spPr>
          <a:xfrm>
            <a:off x="180975" y="842338"/>
            <a:ext cx="7791449" cy="1205538"/>
          </a:xfrm>
        </p:spPr>
        <p:txBody>
          <a:bodyPr/>
          <a:lstStyle/>
          <a:p>
            <a:pPr marL="0" indent="0" rtl="0">
              <a:buNone/>
            </a:pPr>
            <a:r>
              <a:rPr lang="pt-BR" sz="1600"/>
              <a:t>O endereçamento MAC para o último segmento é:</a:t>
            </a:r>
          </a:p>
          <a:p>
            <a:pPr lvl="1" rtl="0"/>
            <a:r>
              <a:rPr lang="pt-BR" sz="1600"/>
              <a:t>Origem — (Segunda interface de saída do Roteador) envia quadro</a:t>
            </a:r>
          </a:p>
          <a:p>
            <a:pPr lvl="1" rtl="0"/>
            <a:r>
              <a:rPr lang="pt-BR" sz="1600"/>
              <a:t>Destino — (NIC do servidor Web) recebe quadro</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3621" y="2137157"/>
            <a:ext cx="5176758" cy="22795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96523163"/>
      </p:ext>
    </p:extLst>
  </p:cSld>
  <p:clrMapOvr>
    <a:masterClrMapping/>
  </p:clrMapOvr>
  <p:transition spd="slow">
    <p:wip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
            <a:ext cx="8010523" cy="861386"/>
          </a:xfrm>
        </p:spPr>
        <p:txBody>
          <a:bodyPr/>
          <a:lstStyle/>
          <a:p>
            <a:pPr rtl="0"/>
            <a:r>
              <a:rPr lang="pt-BR" sz="1600"/>
              <a:t>Acesso a dados </a:t>
            </a:r>
            <a:br>
              <a:rPr lang="en-US" altLang="en-US" dirty="0"/>
            </a:br>
            <a:r>
              <a:rPr lang="pt-BR"/>
              <a:t>Endereços de enlace de dados (Cont.)</a:t>
            </a:r>
          </a:p>
        </p:txBody>
      </p:sp>
      <p:sp>
        <p:nvSpPr>
          <p:cNvPr id="13315" name="Content Placeholder 2"/>
          <p:cNvSpPr>
            <a:spLocks noGrp="1"/>
          </p:cNvSpPr>
          <p:nvPr>
            <p:ph idx="1"/>
          </p:nvPr>
        </p:nvSpPr>
        <p:spPr>
          <a:xfrm>
            <a:off x="200025" y="832813"/>
            <a:ext cx="8620125" cy="1205538"/>
          </a:xfrm>
        </p:spPr>
        <p:txBody>
          <a:bodyPr/>
          <a:lstStyle/>
          <a:p>
            <a:pPr rtl="0">
              <a:buFont typeface="Arial" panose="020B0604020202020204" pitchFamily="34" charset="0"/>
              <a:buChar char="•"/>
            </a:pPr>
            <a:r>
              <a:rPr lang="pt-BR" sz="1600"/>
              <a:t>Observe que o pacote não é modificado, mas o quadro é alterado, portanto, o endereçamento IP L3 não muda de segmento para segmento como o endereçamento MAC L2.</a:t>
            </a:r>
          </a:p>
          <a:p>
            <a:pPr rtl="0">
              <a:buFont typeface="Arial" panose="020B0604020202020204" pitchFamily="34" charset="0"/>
              <a:buChar char="•"/>
            </a:pPr>
            <a:r>
              <a:rPr lang="pt-BR" sz="1600"/>
              <a:t>O endereçamento L3 permanece o mesmo, uma vez que é global e o destino final ainda é o servidor Web.</a:t>
            </a:r>
          </a:p>
        </p:txBody>
      </p:sp>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0660" y="2182128"/>
            <a:ext cx="5221729" cy="22795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44697813"/>
      </p:ext>
    </p:extLst>
  </p:cSld>
  <p:clrMapOvr>
    <a:masterClrMapping/>
  </p:clrMapOvr>
  <p:transition spd="slow">
    <p:wip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819993"/>
          </a:xfrm>
        </p:spPr>
        <p:txBody>
          <a:bodyPr/>
          <a:lstStyle/>
          <a:p>
            <a:pPr rtl="0"/>
            <a:r>
              <a:rPr lang="pt-BR" sz="1600"/>
              <a:t>Laboratório de acesso a dados — </a:t>
            </a:r>
            <a:br>
              <a:rPr lang="en-US" altLang="en-US" dirty="0"/>
            </a:br>
            <a:r>
              <a:rPr lang="pt-BR"/>
              <a:t>Instalar o Wireshark</a:t>
            </a:r>
          </a:p>
        </p:txBody>
      </p:sp>
      <p:sp>
        <p:nvSpPr>
          <p:cNvPr id="13315" name="Content Placeholder 2"/>
          <p:cNvSpPr>
            <a:spLocks noGrp="1"/>
          </p:cNvSpPr>
          <p:nvPr>
            <p:ph idx="1"/>
          </p:nvPr>
        </p:nvSpPr>
        <p:spPr>
          <a:xfrm>
            <a:off x="114300" y="861387"/>
            <a:ext cx="8846820" cy="3811097"/>
          </a:xfrm>
        </p:spPr>
        <p:txBody>
          <a:bodyPr/>
          <a:lstStyle/>
          <a:p>
            <a:pPr marL="0" indent="0">
              <a:buNone/>
            </a:pPr>
            <a:endParaRPr lang="en-US" dirty="0"/>
          </a:p>
          <a:p>
            <a:pPr marL="0" indent="0" rtl="0">
              <a:buNone/>
            </a:pPr>
            <a:r>
              <a:rPr lang="pt-BR" sz="1800"/>
              <a:t>Neste laboratório, você fará o seguinte:</a:t>
            </a:r>
          </a:p>
          <a:p>
            <a:pPr lvl="1" rtl="0"/>
            <a:r>
              <a:rPr lang="pt-BR" sz="1800"/>
              <a:t>Fazer o download e instalar o Wireshark </a:t>
            </a:r>
          </a:p>
          <a:p>
            <a:endParaRPr lang="en-CA" altLang="en-US" dirty="0"/>
          </a:p>
        </p:txBody>
      </p:sp>
    </p:spTree>
    <p:extLst>
      <p:ext uri="{BB962C8B-B14F-4D97-AF65-F5344CB8AC3E}">
        <p14:creationId xmlns:p14="http://schemas.microsoft.com/office/powerpoint/2010/main" val="1446739503"/>
      </p:ext>
    </p:extLst>
  </p:cSld>
  <p:clrMapOvr>
    <a:masterClrMapping/>
  </p:clrMapOvr>
  <p:transition spd="slow">
    <p:wip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41393"/>
            <a:ext cx="9143999" cy="819993"/>
          </a:xfrm>
        </p:spPr>
        <p:txBody>
          <a:bodyPr/>
          <a:lstStyle/>
          <a:p>
            <a:pPr rtl="0"/>
            <a:r>
              <a:rPr lang="pt-BR" sz="1600"/>
              <a:t>Laboratório de acesso a dados</a:t>
            </a:r>
            <a:br>
              <a:rPr lang="en-US" altLang="en-US" dirty="0"/>
            </a:br>
            <a:r>
              <a:rPr lang="pt-BR"/>
              <a:t> - Use o Wireshark para visualizar o tráfego de rede</a:t>
            </a:r>
          </a:p>
        </p:txBody>
      </p:sp>
      <p:sp>
        <p:nvSpPr>
          <p:cNvPr id="13315" name="Content Placeholder 2"/>
          <p:cNvSpPr>
            <a:spLocks noGrp="1"/>
          </p:cNvSpPr>
          <p:nvPr>
            <p:ph idx="1"/>
          </p:nvPr>
        </p:nvSpPr>
        <p:spPr>
          <a:xfrm>
            <a:off x="114301" y="861387"/>
            <a:ext cx="8580966" cy="3811097"/>
          </a:xfrm>
        </p:spPr>
        <p:txBody>
          <a:bodyPr/>
          <a:lstStyle/>
          <a:p>
            <a:pPr marL="0" indent="0" rtl="0">
              <a:buNone/>
            </a:pPr>
            <a:r>
              <a:rPr lang="pt-BR" sz="1800"/>
              <a:t>Neste laboratório, você fará o seguinte:</a:t>
            </a:r>
          </a:p>
          <a:p>
            <a:pPr lvl="1" rtl="0"/>
            <a:r>
              <a:rPr lang="pt-BR" sz="1800"/>
              <a:t>Parte 1: Capturar e analisar dados locais ICMP no Wireshark </a:t>
            </a:r>
          </a:p>
          <a:p>
            <a:pPr lvl="1" rtl="0"/>
            <a:r>
              <a:rPr lang="pt-BR" sz="1800"/>
              <a:t>Parte 2: Capturar e analisar dados remotos ICMP no Wireshark </a:t>
            </a:r>
          </a:p>
        </p:txBody>
      </p:sp>
    </p:spTree>
    <p:extLst>
      <p:ext uri="{BB962C8B-B14F-4D97-AF65-F5344CB8AC3E}">
        <p14:creationId xmlns:p14="http://schemas.microsoft.com/office/powerpoint/2010/main" val="1059199573"/>
      </p:ext>
    </p:extLst>
  </p:cSld>
  <p:clrMapOvr>
    <a:masterClrMapping/>
  </p:clrMapOvr>
  <p:transition spd="slow">
    <p:wip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pPr rtl="0"/>
            <a:r>
              <a:rPr lang="pt-BR">
                <a:solidFill>
                  <a:schemeClr val="accent5">
                    <a:lumMod val="40000"/>
                    <a:lumOff val="60000"/>
                  </a:schemeClr>
                </a:solidFill>
              </a:rPr>
              <a:t>3.8 - Módulo Prática e Quiz </a:t>
            </a:r>
          </a:p>
        </p:txBody>
      </p:sp>
    </p:spTree>
    <p:custDataLst>
      <p:tags r:id="rId1"/>
    </p:custDataLst>
    <p:extLst>
      <p:ext uri="{BB962C8B-B14F-4D97-AF65-F5344CB8AC3E}">
        <p14:creationId xmlns:p14="http://schemas.microsoft.com/office/powerpoint/2010/main" val="2299959220"/>
      </p:ext>
    </p:extLst>
  </p:cSld>
  <p:clrMapOvr>
    <a:masterClrMapping/>
  </p:clrMapOvr>
  <p:transition spd="slow">
    <p:wip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757551"/>
          </a:xfrm>
        </p:spPr>
        <p:txBody>
          <a:bodyPr/>
          <a:lstStyle/>
          <a:p>
            <a:pPr rtl="0"/>
            <a:r>
              <a:rPr lang="pt-BR" sz="1600"/>
              <a:t>Módulo Prática e Quiz</a:t>
            </a:r>
            <a:br>
              <a:rPr lang="en-US" altLang="en-US" dirty="0"/>
            </a:br>
            <a:r>
              <a:rPr lang="pt-BR"/>
              <a:t>O que aprendi neste módulo?</a:t>
            </a:r>
          </a:p>
        </p:txBody>
      </p:sp>
      <p:sp>
        <p:nvSpPr>
          <p:cNvPr id="13315" name="Content Placeholder 2"/>
          <p:cNvSpPr>
            <a:spLocks noGrp="1"/>
          </p:cNvSpPr>
          <p:nvPr>
            <p:ph idx="1"/>
          </p:nvPr>
        </p:nvSpPr>
        <p:spPr>
          <a:xfrm>
            <a:off x="0" y="801475"/>
            <a:ext cx="8840141" cy="3780050"/>
          </a:xfrm>
        </p:spPr>
        <p:txBody>
          <a:bodyPr/>
          <a:lstStyle/>
          <a:p>
            <a:pPr marL="142875" lvl="1" indent="0" rtl="0">
              <a:buNone/>
            </a:pPr>
            <a:r>
              <a:rPr lang="pt-BR" sz="1600" b="1"/>
              <a:t>As regras</a:t>
            </a:r>
          </a:p>
          <a:p>
            <a:pPr lvl="2" rtl="0"/>
            <a:r>
              <a:rPr lang="pt-BR" sz="1600"/>
              <a:t>Os protocolos devem ter um remetente e um receptor.</a:t>
            </a:r>
          </a:p>
          <a:p>
            <a:pPr lvl="2" rtl="0"/>
            <a:r>
              <a:rPr lang="pt-BR" sz="1600"/>
              <a:t>Protocolos comuns de computadores incluem estes requisitos: codificação de mensagens, formatação e encapsulamento, tamanho, tempo e opções de entrega.</a:t>
            </a:r>
          </a:p>
          <a:p>
            <a:pPr marL="142875" lvl="1" indent="0" rtl="0">
              <a:buNone/>
            </a:pPr>
            <a:r>
              <a:rPr lang="pt-BR" sz="1600" b="1"/>
              <a:t>Protocolos</a:t>
            </a:r>
          </a:p>
          <a:p>
            <a:pPr lvl="2" rtl="0"/>
            <a:r>
              <a:rPr lang="pt-BR" sz="1600"/>
              <a:t>Para enviar uma mensagem através da rede requer o uso de vários protocolos.</a:t>
            </a:r>
          </a:p>
          <a:p>
            <a:pPr lvl="2" rtl="0"/>
            <a:r>
              <a:rPr lang="pt-BR" sz="1600"/>
              <a:t>Cada protocolo de rede tem sua própria função, formato e regras para comunicações.</a:t>
            </a:r>
          </a:p>
          <a:p>
            <a:pPr marL="142875" lvl="1" indent="0" rtl="0">
              <a:buNone/>
            </a:pPr>
            <a:r>
              <a:rPr lang="pt-BR" sz="1600" b="1"/>
              <a:t>Conjuntos de protocolos</a:t>
            </a:r>
          </a:p>
          <a:p>
            <a:pPr lvl="2" rtl="0"/>
            <a:r>
              <a:rPr lang="pt-BR" sz="1600"/>
              <a:t>Um conjunto de protocolos é um grupo de protocolos inter-relacionados.</a:t>
            </a:r>
          </a:p>
          <a:p>
            <a:pPr lvl="2" rtl="0"/>
            <a:r>
              <a:rPr lang="pt-BR" sz="1600"/>
              <a:t>O conjunto de protocolos TCP/IP são os protocolos usados hoje.</a:t>
            </a:r>
          </a:p>
          <a:p>
            <a:pPr marL="142875" lvl="1" indent="0" rtl="0">
              <a:buNone/>
            </a:pPr>
            <a:r>
              <a:rPr lang="pt-BR" sz="1600" b="1"/>
              <a:t>Empresas de padrões</a:t>
            </a:r>
          </a:p>
          <a:p>
            <a:pPr lvl="2" rtl="0"/>
            <a:r>
              <a:rPr lang="pt-BR" sz="1600"/>
              <a:t>Os padrões abertos incentivam a interoperabilidade, a concorrência e a inovação.</a:t>
            </a:r>
          </a:p>
        </p:txBody>
      </p:sp>
    </p:spTree>
    <p:extLst>
      <p:ext uri="{BB962C8B-B14F-4D97-AF65-F5344CB8AC3E}">
        <p14:creationId xmlns:p14="http://schemas.microsoft.com/office/powerpoint/2010/main" val="1069723964"/>
      </p:ext>
    </p:extLst>
  </p:cSld>
  <p:clrMapOvr>
    <a:masterClrMapping/>
  </p:clrMapOvr>
  <p:transition spd="slow">
    <p:wip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757551"/>
          </a:xfrm>
        </p:spPr>
        <p:txBody>
          <a:bodyPr/>
          <a:lstStyle/>
          <a:p>
            <a:pPr rtl="0"/>
            <a:r>
              <a:rPr lang="pt-BR" sz="1600"/>
              <a:t>Módulo Prática e Quiz</a:t>
            </a:r>
            <a:br>
              <a:rPr lang="en-US" altLang="en-US" dirty="0"/>
            </a:br>
            <a:r>
              <a:rPr lang="pt-BR"/>
              <a:t>O que aprendi neste módulo? (continuação)</a:t>
            </a:r>
          </a:p>
        </p:txBody>
      </p:sp>
      <p:sp>
        <p:nvSpPr>
          <p:cNvPr id="13315" name="Content Placeholder 2"/>
          <p:cNvSpPr>
            <a:spLocks noGrp="1"/>
          </p:cNvSpPr>
          <p:nvPr>
            <p:ph idx="1"/>
          </p:nvPr>
        </p:nvSpPr>
        <p:spPr>
          <a:xfrm>
            <a:off x="0" y="801475"/>
            <a:ext cx="8840141" cy="3722900"/>
          </a:xfrm>
        </p:spPr>
        <p:txBody>
          <a:bodyPr/>
          <a:lstStyle/>
          <a:p>
            <a:pPr marL="142875" lvl="1" indent="0" rtl="0">
              <a:buNone/>
            </a:pPr>
            <a:r>
              <a:rPr lang="pt-BR" sz="1500" b="1"/>
              <a:t>Modelos de referência</a:t>
            </a:r>
          </a:p>
          <a:p>
            <a:pPr lvl="2" rtl="0"/>
            <a:r>
              <a:rPr lang="pt-BR" sz="1500"/>
              <a:t>Os dois modelos utilizados na rede são o TCP/IP e o modelo OSI.</a:t>
            </a:r>
          </a:p>
          <a:p>
            <a:pPr lvl="2" rtl="0"/>
            <a:r>
              <a:rPr lang="pt-BR" sz="1500"/>
              <a:t>O modelo OSI tem 7 camadas e o modelo TCP/IP tem 4 camadas.</a:t>
            </a:r>
          </a:p>
          <a:p>
            <a:pPr marL="142875" lvl="1" indent="0" rtl="0">
              <a:buNone/>
            </a:pPr>
            <a:r>
              <a:rPr lang="pt-BR" sz="1500" b="1"/>
              <a:t>Encapsulamento de dados</a:t>
            </a:r>
          </a:p>
          <a:p>
            <a:pPr lvl="2" rtl="0"/>
            <a:r>
              <a:rPr lang="pt-BR" sz="1500"/>
              <a:t>O formato que um dado assume em qualquer camada é chamado de </a:t>
            </a:r>
            <a:r>
              <a:rPr lang="pt-BR" sz="1500" i="1"/>
              <a:t>protocol data unit (PDU) </a:t>
            </a:r>
            <a:r>
              <a:rPr lang="pt-BR" sz="1500"/>
              <a:t>.</a:t>
            </a:r>
          </a:p>
          <a:p>
            <a:pPr lvl="2" rtl="0"/>
            <a:r>
              <a:rPr lang="pt-BR" sz="1500"/>
              <a:t>Existem cinco PDUs diferentes usadas no processo de encapsulamento de dados: dados, segmento, pacote, quadro e bits</a:t>
            </a:r>
          </a:p>
          <a:p>
            <a:pPr marL="142875" lvl="1" indent="0" rtl="0">
              <a:buNone/>
            </a:pPr>
            <a:r>
              <a:rPr lang="pt-BR" sz="1500" b="1"/>
              <a:t>Acesso a dados</a:t>
            </a:r>
          </a:p>
          <a:p>
            <a:pPr lvl="2" rtl="0"/>
            <a:r>
              <a:rPr lang="pt-BR" sz="1500"/>
              <a:t>As camadas Rede e Link de Dados fornecerão endereçamento para mover dados pela rede.</a:t>
            </a:r>
          </a:p>
          <a:p>
            <a:pPr lvl="2" rtl="0"/>
            <a:r>
              <a:rPr lang="pt-BR" sz="1500"/>
              <a:t>A camada 3 fornecerá endereçamento IP e a camada 2 fornecerá endereçamento MAC.</a:t>
            </a:r>
          </a:p>
          <a:p>
            <a:pPr lvl="2" rtl="0"/>
            <a:r>
              <a:rPr lang="pt-BR" sz="1500"/>
              <a:t>A maneira como essas camadas lidam com endereçamento dependerá se a origem e o destino estão na mesma rede ou se o destino está em uma rede diferente da origem.</a:t>
            </a:r>
          </a:p>
        </p:txBody>
      </p:sp>
    </p:spTree>
    <p:extLst>
      <p:ext uri="{BB962C8B-B14F-4D97-AF65-F5344CB8AC3E}">
        <p14:creationId xmlns:p14="http://schemas.microsoft.com/office/powerpoint/2010/main" val="4258963031"/>
      </p:ext>
    </p:extLst>
  </p:cSld>
  <p:clrMapOvr>
    <a:masterClrMapping/>
  </p:clrMapOvr>
  <p:transition spd="slow">
    <p:wipe/>
  </p:transition>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pt-BR"/>
              <a:t>New Terms and Commands</a:t>
            </a:r>
          </a:p>
        </p:txBody>
      </p:sp>
      <p:graphicFrame>
        <p:nvGraphicFramePr>
          <p:cNvPr id="5" name="Table 4"/>
          <p:cNvGraphicFramePr>
            <a:graphicFrameLocks noGrp="1"/>
          </p:cNvGraphicFramePr>
          <p:nvPr>
            <p:extLst>
              <p:ext uri="{D42A27DB-BD31-4B8C-83A1-F6EECF244321}">
                <p14:modId xmlns:p14="http://schemas.microsoft.com/office/powerpoint/2010/main" val="2823021610"/>
              </p:ext>
            </p:extLst>
          </p:nvPr>
        </p:nvGraphicFramePr>
        <p:xfrm>
          <a:off x="166196" y="843148"/>
          <a:ext cx="8305144" cy="4114800"/>
        </p:xfrm>
        <a:graphic>
          <a:graphicData uri="http://schemas.openxmlformats.org/drawingml/2006/table">
            <a:tbl>
              <a:tblPr firstRow="1" bandRow="1">
                <a:tableStyleId>{F5AB1C69-6EDB-4FF4-983F-18BD219EF322}</a:tableStyleId>
              </a:tblPr>
              <a:tblGrid>
                <a:gridCol w="4152572">
                  <a:extLst>
                    <a:ext uri="{9D8B030D-6E8A-4147-A177-3AD203B41FA5}">
                      <a16:colId xmlns:a16="http://schemas.microsoft.com/office/drawing/2014/main" val="20000"/>
                    </a:ext>
                  </a:extLst>
                </a:gridCol>
                <a:gridCol w="4152572">
                  <a:extLst>
                    <a:ext uri="{9D8B030D-6E8A-4147-A177-3AD203B41FA5}">
                      <a16:colId xmlns:a16="http://schemas.microsoft.com/office/drawing/2014/main" val="20001"/>
                    </a:ext>
                  </a:extLst>
                </a:gridCol>
              </a:tblGrid>
              <a:tr h="3665790">
                <a:tc>
                  <a:txBody>
                    <a:bodyPr/>
                    <a:lstStyle/>
                    <a:p>
                      <a:pPr marL="173038" indent="-173038" rtl="0">
                        <a:spcBef>
                          <a:spcPts val="200"/>
                        </a:spcBef>
                        <a:spcAft>
                          <a:spcPts val="200"/>
                        </a:spcAft>
                        <a:buFont typeface="Arial" panose="020B0604020202020204" pitchFamily="34" charset="0"/>
                        <a:buChar char="•"/>
                      </a:pPr>
                      <a:r>
                        <a:rPr lang="pt-BR" sz="1600" b="0">
                          <a:solidFill>
                            <a:schemeClr val="tx1"/>
                          </a:solidFill>
                          <a:latin typeface="+mn-lt"/>
                        </a:rPr>
                        <a:t>encoding</a:t>
                      </a:r>
                    </a:p>
                    <a:p>
                      <a:pPr marL="173038" indent="-173038" rtl="0">
                        <a:spcBef>
                          <a:spcPts val="200"/>
                        </a:spcBef>
                        <a:spcAft>
                          <a:spcPts val="200"/>
                        </a:spcAft>
                        <a:buFont typeface="Arial" panose="020B0604020202020204" pitchFamily="34" charset="0"/>
                        <a:buChar char="•"/>
                      </a:pPr>
                      <a:r>
                        <a:rPr lang="pt-BR" sz="1600" b="0">
                          <a:solidFill>
                            <a:schemeClr val="tx1"/>
                          </a:solidFill>
                          <a:latin typeface="+mn-lt"/>
                        </a:rPr>
                        <a:t>protocol</a:t>
                      </a:r>
                    </a:p>
                    <a:p>
                      <a:pPr marL="173038" indent="-173038" rtl="0">
                        <a:spcBef>
                          <a:spcPts val="200"/>
                        </a:spcBef>
                        <a:spcAft>
                          <a:spcPts val="200"/>
                        </a:spcAft>
                        <a:buFont typeface="Arial" panose="020B0604020202020204" pitchFamily="34" charset="0"/>
                        <a:buChar char="•"/>
                      </a:pPr>
                      <a:r>
                        <a:rPr lang="pt-BR" sz="1600" b="0">
                          <a:solidFill>
                            <a:schemeClr val="tx1"/>
                          </a:solidFill>
                          <a:latin typeface="+mn-lt"/>
                        </a:rPr>
                        <a:t>channel </a:t>
                      </a:r>
                    </a:p>
                    <a:p>
                      <a:pPr marL="173038" indent="-173038" rtl="0">
                        <a:spcBef>
                          <a:spcPts val="200"/>
                        </a:spcBef>
                        <a:spcAft>
                          <a:spcPts val="200"/>
                        </a:spcAft>
                        <a:buFont typeface="Arial" panose="020B0604020202020204" pitchFamily="34" charset="0"/>
                        <a:buChar char="•"/>
                      </a:pPr>
                      <a:r>
                        <a:rPr lang="pt-BR" sz="1600" b="0">
                          <a:solidFill>
                            <a:schemeClr val="tx1"/>
                          </a:solidFill>
                          <a:latin typeface="+mn-lt"/>
                        </a:rPr>
                        <a:t>flow control</a:t>
                      </a:r>
                    </a:p>
                    <a:p>
                      <a:pPr marL="173038" indent="-173038" rtl="0">
                        <a:spcBef>
                          <a:spcPts val="200"/>
                        </a:spcBef>
                        <a:spcAft>
                          <a:spcPts val="200"/>
                        </a:spcAft>
                        <a:buFont typeface="Arial" panose="020B0604020202020204" pitchFamily="34" charset="0"/>
                        <a:buChar char="•"/>
                      </a:pPr>
                      <a:r>
                        <a:rPr lang="pt-BR" sz="1600" b="0">
                          <a:solidFill>
                            <a:schemeClr val="tx1"/>
                          </a:solidFill>
                          <a:latin typeface="+mn-lt"/>
                        </a:rPr>
                        <a:t>response timeout</a:t>
                      </a:r>
                    </a:p>
                    <a:p>
                      <a:pPr marL="173038" indent="-173038" rtl="0">
                        <a:spcBef>
                          <a:spcPts val="200"/>
                        </a:spcBef>
                        <a:spcAft>
                          <a:spcPts val="200"/>
                        </a:spcAft>
                        <a:buFont typeface="Arial" panose="020B0604020202020204" pitchFamily="34" charset="0"/>
                        <a:buChar char="•"/>
                      </a:pPr>
                      <a:r>
                        <a:rPr lang="pt-BR" sz="1600" b="0">
                          <a:solidFill>
                            <a:schemeClr val="tx1"/>
                          </a:solidFill>
                          <a:latin typeface="+mn-lt"/>
                        </a:rPr>
                        <a:t>acknowledgement</a:t>
                      </a:r>
                    </a:p>
                    <a:p>
                      <a:pPr marL="173038" indent="-173038" rtl="0">
                        <a:spcBef>
                          <a:spcPts val="200"/>
                        </a:spcBef>
                        <a:spcAft>
                          <a:spcPts val="200"/>
                        </a:spcAft>
                        <a:buFont typeface="Arial" panose="020B0604020202020204" pitchFamily="34" charset="0"/>
                        <a:buChar char="•"/>
                      </a:pPr>
                      <a:r>
                        <a:rPr lang="pt-BR" sz="1600" b="0">
                          <a:solidFill>
                            <a:schemeClr val="tx1"/>
                          </a:solidFill>
                          <a:latin typeface="+mn-lt"/>
                        </a:rPr>
                        <a:t>unicast</a:t>
                      </a:r>
                    </a:p>
                    <a:p>
                      <a:pPr marL="173038" indent="-173038" rtl="0">
                        <a:spcBef>
                          <a:spcPts val="200"/>
                        </a:spcBef>
                        <a:spcAft>
                          <a:spcPts val="200"/>
                        </a:spcAft>
                        <a:buFont typeface="Arial" panose="020B0604020202020204" pitchFamily="34" charset="0"/>
                        <a:buChar char="•"/>
                      </a:pPr>
                      <a:r>
                        <a:rPr lang="pt-BR" sz="1600" b="0">
                          <a:solidFill>
                            <a:schemeClr val="tx1"/>
                          </a:solidFill>
                          <a:latin typeface="+mn-lt"/>
                        </a:rPr>
                        <a:t>multicast</a:t>
                      </a:r>
                    </a:p>
                    <a:p>
                      <a:pPr marL="173038" indent="-173038" rtl="0">
                        <a:spcBef>
                          <a:spcPts val="200"/>
                        </a:spcBef>
                        <a:spcAft>
                          <a:spcPts val="200"/>
                        </a:spcAft>
                        <a:buFont typeface="Arial" panose="020B0604020202020204" pitchFamily="34" charset="0"/>
                        <a:buChar char="•"/>
                      </a:pPr>
                      <a:r>
                        <a:rPr lang="pt-BR" sz="1600" b="0">
                          <a:solidFill>
                            <a:schemeClr val="tx1"/>
                          </a:solidFill>
                          <a:latin typeface="+mn-lt"/>
                        </a:rPr>
                        <a:t>broadcast</a:t>
                      </a:r>
                    </a:p>
                    <a:p>
                      <a:pPr marL="173038" indent="-173038" rtl="0">
                        <a:spcBef>
                          <a:spcPts val="200"/>
                        </a:spcBef>
                        <a:spcAft>
                          <a:spcPts val="200"/>
                        </a:spcAft>
                        <a:buFont typeface="Arial" panose="020B0604020202020204" pitchFamily="34" charset="0"/>
                        <a:buChar char="•"/>
                      </a:pPr>
                      <a:r>
                        <a:rPr lang="pt-BR" sz="1600" b="0">
                          <a:solidFill>
                            <a:schemeClr val="tx1"/>
                          </a:solidFill>
                          <a:latin typeface="+mn-lt"/>
                        </a:rPr>
                        <a:t>protocol suite</a:t>
                      </a:r>
                    </a:p>
                    <a:p>
                      <a:pPr marL="173038" indent="-173038" rtl="0">
                        <a:spcBef>
                          <a:spcPts val="200"/>
                        </a:spcBef>
                        <a:spcAft>
                          <a:spcPts val="200"/>
                        </a:spcAft>
                        <a:buFont typeface="Arial" panose="020B0604020202020204" pitchFamily="34" charset="0"/>
                        <a:buChar char="•"/>
                      </a:pPr>
                      <a:r>
                        <a:rPr lang="pt-BR" sz="1600" b="0">
                          <a:solidFill>
                            <a:schemeClr val="tx1"/>
                          </a:solidFill>
                          <a:latin typeface="+mn-lt"/>
                        </a:rPr>
                        <a:t>Ethernet</a:t>
                      </a:r>
                    </a:p>
                    <a:p>
                      <a:pPr marL="173038" indent="-173038" rtl="0">
                        <a:spcBef>
                          <a:spcPts val="200"/>
                        </a:spcBef>
                        <a:spcAft>
                          <a:spcPts val="200"/>
                        </a:spcAft>
                        <a:buFont typeface="Arial" panose="020B0604020202020204" pitchFamily="34" charset="0"/>
                        <a:buChar char="•"/>
                      </a:pPr>
                      <a:r>
                        <a:rPr lang="pt-BR" sz="1600" b="0">
                          <a:solidFill>
                            <a:schemeClr val="tx1"/>
                          </a:solidFill>
                          <a:latin typeface="+mn-lt"/>
                        </a:rPr>
                        <a:t>standard</a:t>
                      </a:r>
                    </a:p>
                    <a:p>
                      <a:pPr marL="173038" indent="-173038" rtl="0">
                        <a:spcBef>
                          <a:spcPts val="200"/>
                        </a:spcBef>
                        <a:spcAft>
                          <a:spcPts val="200"/>
                        </a:spcAft>
                        <a:buFont typeface="Arial" panose="020B0604020202020204" pitchFamily="34" charset="0"/>
                        <a:buChar char="•"/>
                      </a:pPr>
                      <a:r>
                        <a:rPr lang="pt-BR" sz="1600" b="0">
                          <a:solidFill>
                            <a:schemeClr val="tx1"/>
                          </a:solidFill>
                          <a:latin typeface="+mn-lt"/>
                        </a:rPr>
                        <a:t>proprietary</a:t>
                      </a:r>
                      <a:r>
                        <a:rPr lang="pt-BR" sz="1600" b="0" baseline="0">
                          <a:solidFill>
                            <a:schemeClr val="tx1"/>
                          </a:solidFill>
                          <a:latin typeface="+mn-lt"/>
                        </a:rPr>
                        <a:t> protocol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3038" indent="-173038" algn="l" defTabSz="685777" rtl="0" eaLnBrk="1" latinLnBrk="0" hangingPunct="1">
                        <a:spcBef>
                          <a:spcPts val="200"/>
                        </a:spcBef>
                        <a:spcAft>
                          <a:spcPts val="200"/>
                        </a:spcAft>
                        <a:buFont typeface="Arial" panose="020B0604020202020204" pitchFamily="34" charset="0"/>
                        <a:buChar char="•"/>
                      </a:pPr>
                      <a:r>
                        <a:rPr lang="pt-BR" sz="1600" b="0" kern="1200">
                          <a:solidFill>
                            <a:schemeClr val="tx1"/>
                          </a:solidFill>
                          <a:latin typeface="+mn-lt"/>
                          <a:ea typeface="+mn-ea"/>
                          <a:cs typeface="+mn-cs"/>
                        </a:rPr>
                        <a:t>802.3 (Ethernet)</a:t>
                      </a:r>
                    </a:p>
                    <a:p>
                      <a:pPr marL="173038" indent="-173038" algn="l" defTabSz="685777" rtl="0" eaLnBrk="1" latinLnBrk="0" hangingPunct="1">
                        <a:spcBef>
                          <a:spcPts val="200"/>
                        </a:spcBef>
                        <a:spcAft>
                          <a:spcPts val="200"/>
                        </a:spcAft>
                        <a:buFont typeface="Arial" panose="020B0604020202020204" pitchFamily="34" charset="0"/>
                        <a:buChar char="•"/>
                      </a:pPr>
                      <a:r>
                        <a:rPr lang="pt-BR" sz="1600" b="0" kern="1200">
                          <a:solidFill>
                            <a:schemeClr val="tx1"/>
                          </a:solidFill>
                          <a:latin typeface="+mn-lt"/>
                          <a:ea typeface="+mn-ea"/>
                          <a:cs typeface="+mn-cs"/>
                        </a:rPr>
                        <a:t>802.11 (wireless Ethernet)</a:t>
                      </a:r>
                    </a:p>
                    <a:p>
                      <a:pPr marL="173038" indent="-173038" algn="l" defTabSz="685777" rtl="0" eaLnBrk="1" latinLnBrk="0" hangingPunct="1">
                        <a:spcBef>
                          <a:spcPts val="200"/>
                        </a:spcBef>
                        <a:spcAft>
                          <a:spcPts val="200"/>
                        </a:spcAft>
                        <a:buFont typeface="Arial" panose="020B0604020202020204" pitchFamily="34" charset="0"/>
                        <a:buChar char="•"/>
                      </a:pPr>
                      <a:r>
                        <a:rPr lang="pt-BR" sz="1600" b="0" kern="1200">
                          <a:solidFill>
                            <a:schemeClr val="tx1"/>
                          </a:solidFill>
                          <a:latin typeface="+mn-lt"/>
                          <a:ea typeface="+mn-ea"/>
                          <a:cs typeface="+mn-cs"/>
                        </a:rPr>
                        <a:t>segmentation</a:t>
                      </a:r>
                    </a:p>
                    <a:p>
                      <a:pPr marL="173038" indent="-173038" algn="l" defTabSz="685777" rtl="0" eaLnBrk="1" latinLnBrk="0" hangingPunct="1">
                        <a:spcBef>
                          <a:spcPts val="200"/>
                        </a:spcBef>
                        <a:spcAft>
                          <a:spcPts val="200"/>
                        </a:spcAft>
                        <a:buFont typeface="Arial" panose="020B0604020202020204" pitchFamily="34" charset="0"/>
                        <a:buChar char="•"/>
                      </a:pPr>
                      <a:r>
                        <a:rPr lang="pt-BR" sz="1600" b="0" kern="1200">
                          <a:solidFill>
                            <a:schemeClr val="tx1"/>
                          </a:solidFill>
                          <a:latin typeface="+mn-lt"/>
                          <a:ea typeface="+mn-ea"/>
                          <a:cs typeface="+mn-cs"/>
                        </a:rPr>
                        <a:t>default gateway</a:t>
                      </a:r>
                    </a:p>
                    <a:p>
                      <a:pPr marL="173038" indent="-173038" algn="l" defTabSz="685777" rtl="0" eaLnBrk="1" latinLnBrk="0" hangingPunct="1">
                        <a:spcBef>
                          <a:spcPts val="200"/>
                        </a:spcBef>
                        <a:spcAft>
                          <a:spcPts val="200"/>
                        </a:spcAft>
                        <a:buFont typeface="Arial" panose="020B0604020202020204" pitchFamily="34" charset="0"/>
                        <a:buChar char="•"/>
                      </a:pPr>
                      <a:r>
                        <a:rPr lang="pt-BR" sz="1600" b="0" kern="1200">
                          <a:solidFill>
                            <a:schemeClr val="tx1"/>
                          </a:solidFill>
                          <a:latin typeface="+mn-lt"/>
                          <a:ea typeface="+mn-ea"/>
                          <a:cs typeface="+mn-cs"/>
                        </a:rPr>
                        <a:t>Hypertext Transfer Protocol (HTTP)</a:t>
                      </a:r>
                    </a:p>
                    <a:p>
                      <a:pPr marL="173038" indent="-173038" algn="l" defTabSz="685777" rtl="0" eaLnBrk="1" latinLnBrk="0" hangingPunct="1">
                        <a:spcBef>
                          <a:spcPts val="200"/>
                        </a:spcBef>
                        <a:spcAft>
                          <a:spcPts val="200"/>
                        </a:spcAft>
                        <a:buFont typeface="Arial" panose="020B0604020202020204" pitchFamily="34" charset="0"/>
                        <a:buChar char="•"/>
                      </a:pPr>
                      <a:r>
                        <a:rPr lang="pt-BR" sz="1600" b="0" kern="1200">
                          <a:solidFill>
                            <a:schemeClr val="tx1"/>
                          </a:solidFill>
                          <a:latin typeface="+mn-lt"/>
                          <a:ea typeface="+mn-ea"/>
                          <a:cs typeface="+mn-cs"/>
                        </a:rPr>
                        <a:t>Simple Mail Transfer Protocol (SMTP)</a:t>
                      </a:r>
                    </a:p>
                    <a:p>
                      <a:pPr marL="173038" indent="-173038" algn="l" defTabSz="685777" rtl="0" eaLnBrk="1" latinLnBrk="0" hangingPunct="1">
                        <a:spcBef>
                          <a:spcPts val="200"/>
                        </a:spcBef>
                        <a:spcAft>
                          <a:spcPts val="200"/>
                        </a:spcAft>
                        <a:buFont typeface="Arial" panose="020B0604020202020204" pitchFamily="34" charset="0"/>
                        <a:buChar char="•"/>
                      </a:pPr>
                      <a:r>
                        <a:rPr lang="pt-BR" sz="1600" b="0" kern="1200">
                          <a:solidFill>
                            <a:schemeClr val="tx1"/>
                          </a:solidFill>
                          <a:latin typeface="+mn-lt"/>
                          <a:ea typeface="+mn-ea"/>
                          <a:cs typeface="+mn-cs"/>
                        </a:rPr>
                        <a:t>Post Office Protocol (POP)</a:t>
                      </a:r>
                    </a:p>
                    <a:p>
                      <a:pPr marL="173038" indent="-173038" algn="l" defTabSz="685777" rtl="0" eaLnBrk="1" latinLnBrk="0" hangingPunct="1">
                        <a:spcBef>
                          <a:spcPts val="200"/>
                        </a:spcBef>
                        <a:spcAft>
                          <a:spcPts val="200"/>
                        </a:spcAft>
                        <a:buFont typeface="Arial" panose="020B0604020202020204" pitchFamily="34" charset="0"/>
                        <a:buChar char="•"/>
                      </a:pPr>
                      <a:r>
                        <a:rPr lang="pt-BR" sz="1600" b="0" kern="1200">
                          <a:solidFill>
                            <a:schemeClr val="tx1"/>
                          </a:solidFill>
                          <a:latin typeface="+mn-lt"/>
                          <a:ea typeface="+mn-ea"/>
                          <a:cs typeface="+mn-cs"/>
                        </a:rPr>
                        <a:t>Transmission Control Protocol (TCP)</a:t>
                      </a:r>
                    </a:p>
                    <a:p>
                      <a:pPr marL="173038" indent="-173038" algn="l" defTabSz="685777" rtl="0" eaLnBrk="1" latinLnBrk="0" hangingPunct="1">
                        <a:spcBef>
                          <a:spcPts val="200"/>
                        </a:spcBef>
                        <a:spcAft>
                          <a:spcPts val="200"/>
                        </a:spcAft>
                        <a:buFont typeface="Arial" panose="020B0604020202020204" pitchFamily="34" charset="0"/>
                        <a:buChar char="•"/>
                      </a:pPr>
                      <a:r>
                        <a:rPr lang="pt-BR" sz="1600" b="0" kern="1200">
                          <a:solidFill>
                            <a:schemeClr val="tx1"/>
                          </a:solidFill>
                          <a:latin typeface="+mn-lt"/>
                          <a:ea typeface="+mn-ea"/>
                          <a:cs typeface="+mn-cs"/>
                        </a:rPr>
                        <a:t>transport</a:t>
                      </a:r>
                    </a:p>
                    <a:p>
                      <a:pPr marL="173038" indent="-173038" algn="l" defTabSz="685777" rtl="0" eaLnBrk="1" latinLnBrk="0" hangingPunct="1">
                        <a:spcBef>
                          <a:spcPts val="200"/>
                        </a:spcBef>
                        <a:spcAft>
                          <a:spcPts val="200"/>
                        </a:spcAft>
                        <a:buFont typeface="Arial" panose="020B0604020202020204" pitchFamily="34" charset="0"/>
                        <a:buChar char="•"/>
                      </a:pPr>
                      <a:r>
                        <a:rPr lang="pt-BR" sz="1600" b="0" kern="1200">
                          <a:solidFill>
                            <a:schemeClr val="tx1"/>
                          </a:solidFill>
                          <a:latin typeface="+mn-lt"/>
                          <a:ea typeface="+mn-ea"/>
                          <a:cs typeface="+mn-cs"/>
                        </a:rPr>
                        <a:t>data link</a:t>
                      </a:r>
                    </a:p>
                    <a:p>
                      <a:pPr marL="173038" indent="-173038" algn="l" defTabSz="685777" rtl="0" eaLnBrk="1" latinLnBrk="0" hangingPunct="1">
                        <a:spcBef>
                          <a:spcPts val="200"/>
                        </a:spcBef>
                        <a:spcAft>
                          <a:spcPts val="200"/>
                        </a:spcAft>
                        <a:buFont typeface="Arial" panose="020B0604020202020204" pitchFamily="34" charset="0"/>
                        <a:buChar char="•"/>
                      </a:pPr>
                      <a:r>
                        <a:rPr lang="pt-BR" sz="1600" b="0" kern="1200">
                          <a:solidFill>
                            <a:schemeClr val="tx1"/>
                          </a:solidFill>
                          <a:latin typeface="+mn-lt"/>
                          <a:ea typeface="+mn-ea"/>
                          <a:cs typeface="+mn-cs"/>
                        </a:rPr>
                        <a:t>network access</a:t>
                      </a:r>
                    </a:p>
                    <a:p>
                      <a:pPr marL="173038" indent="-173038" algn="l" defTabSz="685777" rtl="0" eaLnBrk="1" latinLnBrk="0" hangingPunct="1">
                        <a:spcBef>
                          <a:spcPts val="200"/>
                        </a:spcBef>
                        <a:spcAft>
                          <a:spcPts val="200"/>
                        </a:spcAft>
                        <a:buFont typeface="Arial" panose="020B0604020202020204" pitchFamily="34" charset="0"/>
                        <a:buChar char="•"/>
                      </a:pPr>
                      <a:r>
                        <a:rPr lang="pt-BR" sz="1600" b="0" kern="1200">
                          <a:solidFill>
                            <a:schemeClr val="tx1"/>
                          </a:solidFill>
                          <a:latin typeface="+mn-lt"/>
                          <a:ea typeface="+mn-ea"/>
                          <a:cs typeface="+mn-cs"/>
                        </a:rPr>
                        <a:t>Advanced Research Projects Agency Network (ARPANET)</a:t>
                      </a:r>
                    </a:p>
                    <a:p>
                      <a:pPr marL="173038" indent="-173038" algn="l" defTabSz="685777" rtl="0" eaLnBrk="1" latinLnBrk="0" hangingPunct="1">
                        <a:spcBef>
                          <a:spcPts val="200"/>
                        </a:spcBef>
                        <a:spcAft>
                          <a:spcPts val="200"/>
                        </a:spcAft>
                        <a:buFont typeface="Arial" panose="020B0604020202020204" pitchFamily="34" charset="0"/>
                        <a:buChar char="•"/>
                      </a:pPr>
                      <a:endParaRPr lang="en-US" sz="16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693489004"/>
      </p:ext>
    </p:extLst>
  </p:cSld>
  <p:clrMapOvr>
    <a:masterClrMapping/>
  </p:clrMapOvr>
  <p:transition spd="slow">
    <p:wipe/>
  </p:transition>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pt-BR"/>
              <a:t>New Terms and Commands (Cont.)</a:t>
            </a:r>
          </a:p>
        </p:txBody>
      </p:sp>
      <p:graphicFrame>
        <p:nvGraphicFramePr>
          <p:cNvPr id="8" name="Table 7"/>
          <p:cNvGraphicFramePr>
            <a:graphicFrameLocks noGrp="1"/>
          </p:cNvGraphicFramePr>
          <p:nvPr>
            <p:extLst>
              <p:ext uri="{D42A27DB-BD31-4B8C-83A1-F6EECF244321}">
                <p14:modId xmlns:p14="http://schemas.microsoft.com/office/powerpoint/2010/main" val="182222323"/>
              </p:ext>
            </p:extLst>
          </p:nvPr>
        </p:nvGraphicFramePr>
        <p:xfrm>
          <a:off x="133558" y="905020"/>
          <a:ext cx="8472890" cy="3769360"/>
        </p:xfrm>
        <a:graphic>
          <a:graphicData uri="http://schemas.openxmlformats.org/drawingml/2006/table">
            <a:tbl>
              <a:tblPr firstRow="1" bandRow="1">
                <a:tableStyleId>{F5AB1C69-6EDB-4FF4-983F-18BD219EF322}</a:tableStyleId>
              </a:tblPr>
              <a:tblGrid>
                <a:gridCol w="4236445">
                  <a:extLst>
                    <a:ext uri="{9D8B030D-6E8A-4147-A177-3AD203B41FA5}">
                      <a16:colId xmlns:a16="http://schemas.microsoft.com/office/drawing/2014/main" val="20000"/>
                    </a:ext>
                  </a:extLst>
                </a:gridCol>
                <a:gridCol w="4236445">
                  <a:extLst>
                    <a:ext uri="{9D8B030D-6E8A-4147-A177-3AD203B41FA5}">
                      <a16:colId xmlns:a16="http://schemas.microsoft.com/office/drawing/2014/main" val="20001"/>
                    </a:ext>
                  </a:extLst>
                </a:gridCol>
              </a:tblGrid>
              <a:tr h="3494594">
                <a:tc>
                  <a:txBody>
                    <a:bodyPr/>
                    <a:lstStyle/>
                    <a:p>
                      <a:pPr marL="173038" indent="-173038" rtl="0">
                        <a:spcBef>
                          <a:spcPts val="200"/>
                        </a:spcBef>
                        <a:spcAft>
                          <a:spcPts val="200"/>
                        </a:spcAft>
                        <a:buFont typeface="Arial" panose="020B0604020202020204" pitchFamily="34" charset="0"/>
                        <a:buChar char="•"/>
                      </a:pPr>
                      <a:r>
                        <a:rPr lang="pt-BR" sz="1600" b="0">
                          <a:solidFill>
                            <a:schemeClr val="tx1"/>
                          </a:solidFill>
                          <a:latin typeface="+mn-lt"/>
                        </a:rPr>
                        <a:t>Internet Message Access Protocol (IMAP)</a:t>
                      </a:r>
                    </a:p>
                    <a:p>
                      <a:pPr marL="173038" indent="-173038" rtl="0">
                        <a:spcBef>
                          <a:spcPts val="200"/>
                        </a:spcBef>
                        <a:spcAft>
                          <a:spcPts val="200"/>
                        </a:spcAft>
                        <a:buFont typeface="Arial" panose="020B0604020202020204" pitchFamily="34" charset="0"/>
                        <a:buChar char="•"/>
                      </a:pPr>
                      <a:r>
                        <a:rPr lang="pt-BR" sz="1600" b="0">
                          <a:solidFill>
                            <a:schemeClr val="tx1"/>
                          </a:solidFill>
                          <a:latin typeface="+mn-lt"/>
                        </a:rPr>
                        <a:t>File Transfer Protocol (FTP)</a:t>
                      </a:r>
                    </a:p>
                    <a:p>
                      <a:pPr marL="173038" indent="-173038" rtl="0">
                        <a:spcBef>
                          <a:spcPts val="200"/>
                        </a:spcBef>
                        <a:spcAft>
                          <a:spcPts val="200"/>
                        </a:spcAft>
                        <a:buFont typeface="Arial" panose="020B0604020202020204" pitchFamily="34" charset="0"/>
                        <a:buChar char="•"/>
                      </a:pPr>
                      <a:r>
                        <a:rPr lang="pt-BR" sz="1600" b="0">
                          <a:solidFill>
                            <a:schemeClr val="tx1"/>
                          </a:solidFill>
                          <a:latin typeface="+mn-lt"/>
                        </a:rPr>
                        <a:t>Trivial File Transfer Protocol (TFTP)</a:t>
                      </a:r>
                    </a:p>
                    <a:p>
                      <a:pPr marL="173038" indent="-173038" rtl="0">
                        <a:spcBef>
                          <a:spcPts val="200"/>
                        </a:spcBef>
                        <a:spcAft>
                          <a:spcPts val="200"/>
                        </a:spcAft>
                        <a:buFont typeface="Arial" panose="020B0604020202020204" pitchFamily="34" charset="0"/>
                        <a:buChar char="•"/>
                      </a:pPr>
                      <a:r>
                        <a:rPr lang="pt-BR" sz="1600" b="0">
                          <a:solidFill>
                            <a:schemeClr val="tx1"/>
                          </a:solidFill>
                          <a:latin typeface="+mn-lt"/>
                        </a:rPr>
                        <a:t>User Datagram Protocol (UDP)</a:t>
                      </a:r>
                    </a:p>
                    <a:p>
                      <a:pPr marL="173038" indent="-173038" rtl="0">
                        <a:spcBef>
                          <a:spcPts val="200"/>
                        </a:spcBef>
                        <a:spcAft>
                          <a:spcPts val="200"/>
                        </a:spcAft>
                        <a:buFont typeface="Arial" panose="020B0604020202020204" pitchFamily="34" charset="0"/>
                        <a:buChar char="•"/>
                      </a:pPr>
                      <a:r>
                        <a:rPr lang="pt-BR" sz="1600" b="0">
                          <a:solidFill>
                            <a:schemeClr val="tx1"/>
                          </a:solidFill>
                          <a:latin typeface="+mn-lt"/>
                        </a:rPr>
                        <a:t>Network Address Translation (NAT)</a:t>
                      </a:r>
                    </a:p>
                    <a:p>
                      <a:pPr marL="173038" indent="-173038" rtl="0">
                        <a:spcBef>
                          <a:spcPts val="200"/>
                        </a:spcBef>
                        <a:spcAft>
                          <a:spcPts val="200"/>
                        </a:spcAft>
                        <a:buFont typeface="Arial" panose="020B0604020202020204" pitchFamily="34" charset="0"/>
                        <a:buChar char="•"/>
                      </a:pPr>
                      <a:r>
                        <a:rPr lang="pt-BR" sz="1600" b="0">
                          <a:solidFill>
                            <a:schemeClr val="tx1"/>
                          </a:solidFill>
                          <a:latin typeface="+mn-lt"/>
                        </a:rPr>
                        <a:t>Internet Control Messaging Protocol (ICMP)</a:t>
                      </a:r>
                    </a:p>
                    <a:p>
                      <a:pPr marL="173038" indent="-173038" rtl="0">
                        <a:spcBef>
                          <a:spcPts val="200"/>
                        </a:spcBef>
                        <a:spcAft>
                          <a:spcPts val="200"/>
                        </a:spcAft>
                        <a:buFont typeface="Arial" panose="020B0604020202020204" pitchFamily="34" charset="0"/>
                        <a:buChar char="•"/>
                      </a:pPr>
                      <a:r>
                        <a:rPr lang="pt-BR" sz="1600" b="0">
                          <a:solidFill>
                            <a:schemeClr val="tx1"/>
                          </a:solidFill>
                          <a:latin typeface="+mn-lt"/>
                        </a:rPr>
                        <a:t>Open Shortest Path First (OSPF)</a:t>
                      </a:r>
                    </a:p>
                    <a:p>
                      <a:pPr marL="173038" indent="-173038" rtl="0">
                        <a:spcBef>
                          <a:spcPts val="200"/>
                        </a:spcBef>
                        <a:spcAft>
                          <a:spcPts val="200"/>
                        </a:spcAft>
                        <a:buFont typeface="Arial" panose="020B0604020202020204" pitchFamily="34" charset="0"/>
                        <a:buChar char="•"/>
                      </a:pPr>
                      <a:r>
                        <a:rPr lang="pt-BR" sz="1600" b="0">
                          <a:solidFill>
                            <a:schemeClr val="tx1"/>
                          </a:solidFill>
                          <a:latin typeface="+mn-lt"/>
                        </a:rPr>
                        <a:t>Enhanced Interior Gateway Routing Protocol (EIGRP)</a:t>
                      </a:r>
                    </a:p>
                    <a:p>
                      <a:pPr marL="173038" indent="-173038" rtl="0">
                        <a:spcBef>
                          <a:spcPts val="200"/>
                        </a:spcBef>
                        <a:spcAft>
                          <a:spcPts val="200"/>
                        </a:spcAft>
                        <a:buFont typeface="Arial" panose="020B0604020202020204" pitchFamily="34" charset="0"/>
                        <a:buChar char="•"/>
                      </a:pPr>
                      <a:r>
                        <a:rPr lang="pt-BR" sz="1600" b="0">
                          <a:solidFill>
                            <a:schemeClr val="tx1"/>
                          </a:solidFill>
                          <a:latin typeface="+mn-lt"/>
                        </a:rPr>
                        <a:t>Address Resolution Protocol (ARP)</a:t>
                      </a:r>
                    </a:p>
                    <a:p>
                      <a:pPr marL="173038" indent="-173038" rtl="0">
                        <a:spcBef>
                          <a:spcPts val="200"/>
                        </a:spcBef>
                        <a:spcAft>
                          <a:spcPts val="200"/>
                        </a:spcAft>
                        <a:buFont typeface="Arial" panose="020B0604020202020204" pitchFamily="34" charset="0"/>
                        <a:buChar char="•"/>
                      </a:pPr>
                      <a:r>
                        <a:rPr lang="pt-BR" sz="1600" b="0">
                          <a:solidFill>
                            <a:schemeClr val="tx1"/>
                          </a:solidFill>
                          <a:latin typeface="+mn-lt"/>
                        </a:rPr>
                        <a:t>Dynamic Host Configuration (DHCP)</a:t>
                      </a:r>
                    </a:p>
                    <a:p>
                      <a:pPr marL="0" indent="0">
                        <a:spcBef>
                          <a:spcPts val="200"/>
                        </a:spcBef>
                        <a:spcAft>
                          <a:spcPts val="200"/>
                        </a:spcAft>
                        <a:buFont typeface="Arial" panose="020B0604020202020204" pitchFamily="34" charset="0"/>
                        <a:buNone/>
                      </a:pPr>
                      <a:endParaRPr lang="en-US" sz="1600" b="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3038" indent="-173038" algn="l" defTabSz="685777" rtl="0" eaLnBrk="1" latinLnBrk="0" hangingPunct="1">
                        <a:spcBef>
                          <a:spcPts val="200"/>
                        </a:spcBef>
                        <a:spcAft>
                          <a:spcPts val="200"/>
                        </a:spcAft>
                        <a:buFont typeface="Arial" panose="020B0604020202020204" pitchFamily="34" charset="0"/>
                        <a:buChar char="•"/>
                      </a:pPr>
                      <a:r>
                        <a:rPr lang="pt-BR" sz="1600" b="0" kern="1200">
                          <a:solidFill>
                            <a:schemeClr val="tx1"/>
                          </a:solidFill>
                          <a:latin typeface="+mn-lt"/>
                          <a:ea typeface="+mn-ea"/>
                          <a:cs typeface="+mn-cs"/>
                        </a:rPr>
                        <a:t>encapsulation</a:t>
                      </a:r>
                    </a:p>
                    <a:p>
                      <a:pPr marL="173038" indent="-173038" algn="l" defTabSz="685777" rtl="0" eaLnBrk="1" latinLnBrk="0" hangingPunct="1">
                        <a:spcBef>
                          <a:spcPts val="200"/>
                        </a:spcBef>
                        <a:spcAft>
                          <a:spcPts val="200"/>
                        </a:spcAft>
                        <a:buFont typeface="Arial" panose="020B0604020202020204" pitchFamily="34" charset="0"/>
                        <a:buChar char="•"/>
                      </a:pPr>
                      <a:r>
                        <a:rPr lang="pt-BR" sz="1600" b="0" kern="1200">
                          <a:solidFill>
                            <a:schemeClr val="tx1"/>
                          </a:solidFill>
                          <a:latin typeface="+mn-lt"/>
                          <a:ea typeface="+mn-ea"/>
                          <a:cs typeface="+mn-cs"/>
                        </a:rPr>
                        <a:t>de-encapsulation</a:t>
                      </a:r>
                    </a:p>
                    <a:p>
                      <a:pPr marL="173038" indent="-173038" algn="l" defTabSz="685777" rtl="0" eaLnBrk="1" latinLnBrk="0" hangingPunct="1">
                        <a:spcBef>
                          <a:spcPts val="200"/>
                        </a:spcBef>
                        <a:spcAft>
                          <a:spcPts val="200"/>
                        </a:spcAft>
                        <a:buFont typeface="Arial" panose="020B0604020202020204" pitchFamily="34" charset="0"/>
                        <a:buChar char="•"/>
                      </a:pPr>
                      <a:r>
                        <a:rPr lang="pt-BR" sz="1600" b="0" kern="1200">
                          <a:solidFill>
                            <a:schemeClr val="tx1"/>
                          </a:solidFill>
                          <a:latin typeface="+mn-lt"/>
                          <a:ea typeface="+mn-ea"/>
                          <a:cs typeface="+mn-cs"/>
                        </a:rPr>
                        <a:t>protocol data unit (PDU)</a:t>
                      </a:r>
                    </a:p>
                    <a:p>
                      <a:pPr marL="173038" indent="-173038" algn="l" defTabSz="685777" rtl="0" eaLnBrk="1" latinLnBrk="0" hangingPunct="1">
                        <a:spcBef>
                          <a:spcPts val="200"/>
                        </a:spcBef>
                        <a:spcAft>
                          <a:spcPts val="200"/>
                        </a:spcAft>
                        <a:buFont typeface="Arial" panose="020B0604020202020204" pitchFamily="34" charset="0"/>
                        <a:buChar char="•"/>
                      </a:pPr>
                      <a:r>
                        <a:rPr lang="pt-BR" sz="1600" b="0" kern="1200">
                          <a:solidFill>
                            <a:schemeClr val="tx1"/>
                          </a:solidFill>
                          <a:latin typeface="+mn-lt"/>
                          <a:ea typeface="+mn-ea"/>
                          <a:cs typeface="+mn-cs"/>
                        </a:rPr>
                        <a:t>segment</a:t>
                      </a:r>
                    </a:p>
                    <a:p>
                      <a:pPr marL="173038" indent="-173038" algn="l" defTabSz="685777" rtl="0" eaLnBrk="1" latinLnBrk="0" hangingPunct="1">
                        <a:spcBef>
                          <a:spcPts val="200"/>
                        </a:spcBef>
                        <a:spcAft>
                          <a:spcPts val="200"/>
                        </a:spcAft>
                        <a:buFont typeface="Arial" panose="020B0604020202020204" pitchFamily="34" charset="0"/>
                        <a:buChar char="•"/>
                      </a:pPr>
                      <a:r>
                        <a:rPr lang="pt-BR" sz="1600" b="0" kern="1200">
                          <a:solidFill>
                            <a:schemeClr val="tx1"/>
                          </a:solidFill>
                          <a:latin typeface="+mn-lt"/>
                          <a:ea typeface="+mn-ea"/>
                          <a:cs typeface="+mn-cs"/>
                        </a:rPr>
                        <a:t>packet</a:t>
                      </a:r>
                    </a:p>
                    <a:p>
                      <a:pPr marL="173038" indent="-173038" algn="l" defTabSz="685777" rtl="0" eaLnBrk="1" latinLnBrk="0" hangingPunct="1">
                        <a:spcBef>
                          <a:spcPts val="200"/>
                        </a:spcBef>
                        <a:spcAft>
                          <a:spcPts val="200"/>
                        </a:spcAft>
                        <a:buFont typeface="Arial" panose="020B0604020202020204" pitchFamily="34" charset="0"/>
                        <a:buChar char="•"/>
                      </a:pPr>
                      <a:r>
                        <a:rPr lang="pt-BR" sz="1600" b="0" kern="1200">
                          <a:solidFill>
                            <a:schemeClr val="tx1"/>
                          </a:solidFill>
                          <a:latin typeface="+mn-lt"/>
                          <a:ea typeface="+mn-ea"/>
                          <a:cs typeface="+mn-cs"/>
                        </a:rPr>
                        <a:t>frame</a:t>
                      </a:r>
                    </a:p>
                    <a:p>
                      <a:pPr marL="0" indent="0" algn="l" defTabSz="685777" rtl="0" eaLnBrk="1" latinLnBrk="0" hangingPunct="1">
                        <a:spcBef>
                          <a:spcPts val="200"/>
                        </a:spcBef>
                        <a:spcAft>
                          <a:spcPts val="200"/>
                        </a:spcAft>
                        <a:buFont typeface="Arial" panose="020B0604020202020204" pitchFamily="34" charset="0"/>
                        <a:buNone/>
                      </a:pPr>
                      <a:endParaRPr lang="en-US" sz="1600" b="0" kern="1200" dirty="0">
                        <a:solidFill>
                          <a:schemeClr val="tx1"/>
                        </a:solidFill>
                        <a:latin typeface="+mn-lt"/>
                        <a:ea typeface="+mn-ea"/>
                        <a:cs typeface="+mn-cs"/>
                      </a:endParaRPr>
                    </a:p>
                    <a:p>
                      <a:pPr marL="173038" indent="-173038" algn="l" defTabSz="685777" rtl="0" eaLnBrk="1" latinLnBrk="0" hangingPunct="1">
                        <a:spcBef>
                          <a:spcPts val="200"/>
                        </a:spcBef>
                        <a:spcAft>
                          <a:spcPts val="200"/>
                        </a:spcAft>
                        <a:buFont typeface="Arial" panose="020B0604020202020204" pitchFamily="34" charset="0"/>
                        <a:buChar char="•"/>
                      </a:pPr>
                      <a:endParaRPr lang="en-US" sz="1600" b="0" kern="1200" dirty="0">
                        <a:solidFill>
                          <a:schemeClr val="tx1"/>
                        </a:solidFill>
                        <a:latin typeface="+mn-lt"/>
                        <a:ea typeface="+mn-ea"/>
                        <a:cs typeface="+mn-cs"/>
                      </a:endParaRPr>
                    </a:p>
                    <a:p>
                      <a:pPr marL="173038" indent="-173038" algn="l" defTabSz="685777" rtl="0" eaLnBrk="1" latinLnBrk="0" hangingPunct="1">
                        <a:spcBef>
                          <a:spcPts val="200"/>
                        </a:spcBef>
                        <a:spcAft>
                          <a:spcPts val="200"/>
                        </a:spcAft>
                        <a:buFont typeface="Arial" panose="020B0604020202020204" pitchFamily="34" charset="0"/>
                        <a:buChar char="•"/>
                      </a:pPr>
                      <a:endParaRPr lang="en-US" sz="16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801811567"/>
      </p:ext>
    </p:extLst>
  </p:cSld>
  <p:clrMapOvr>
    <a:masterClrMapping/>
  </p:clrMapOvr>
  <p:transition spd="slow">
    <p:wip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1918512"/>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7"/>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19674</TotalTime>
  <Words>5523</Words>
  <Application>Microsoft Office PowerPoint</Application>
  <PresentationFormat>On-screen Show (16:9)</PresentationFormat>
  <Paragraphs>853</Paragraphs>
  <Slides>78</Slides>
  <Notes>75</Notes>
  <HiddenSlides>12</HiddenSlides>
  <MMClips>0</MMClips>
  <ScaleCrop>false</ScaleCrop>
  <HeadingPairs>
    <vt:vector size="4" baseType="variant">
      <vt:variant>
        <vt:lpstr>Theme</vt:lpstr>
      </vt:variant>
      <vt:variant>
        <vt:i4>1</vt:i4>
      </vt:variant>
      <vt:variant>
        <vt:lpstr>Slide Titles</vt:lpstr>
      </vt:variant>
      <vt:variant>
        <vt:i4>78</vt:i4>
      </vt:variant>
    </vt:vector>
  </HeadingPairs>
  <TitlesOfParts>
    <vt:vector size="79" baseType="lpstr">
      <vt:lpstr>Default Theme</vt:lpstr>
      <vt:lpstr>Módulo 3: Protocolos e Modelos</vt:lpstr>
      <vt:lpstr>Instructor Materials – Module 3 Planning Guide</vt:lpstr>
      <vt:lpstr>What to Expect in this Module</vt:lpstr>
      <vt:lpstr>What to Expect in this Module (Cont.)</vt:lpstr>
      <vt:lpstr>Check Your Understanding</vt:lpstr>
      <vt:lpstr>Module 3: Activities</vt:lpstr>
      <vt:lpstr>Module 3: Best Practices (Cont.)</vt:lpstr>
      <vt:lpstr>Module 3: Best Practices (Cont.)</vt:lpstr>
      <vt:lpstr>Module 3: Best Practices (Cont.)</vt:lpstr>
      <vt:lpstr>Module 3: Best Practices (Cont.)</vt:lpstr>
      <vt:lpstr>Module 3: Best Practices (Cont.)</vt:lpstr>
      <vt:lpstr>Módulo 3: Protocolos e Modelos</vt:lpstr>
      <vt:lpstr>Objetivos do módulo</vt:lpstr>
      <vt:lpstr>Atividade em Classe - Projetar um Sistema de Comunicação</vt:lpstr>
      <vt:lpstr>3.1 As Regras</vt:lpstr>
      <vt:lpstr>O vídeo de regras  - Dispositivos em uma bolha</vt:lpstr>
      <vt:lpstr> As regras Princípios da comunicação</vt:lpstr>
      <vt:lpstr>As Regras  Protocolos de comunicações</vt:lpstr>
      <vt:lpstr>As regras  Estabelecimento de regras</vt:lpstr>
      <vt:lpstr>As regras  Estabelecimento de regras(Cont.)</vt:lpstr>
      <vt:lpstr>Osrequisitos do protocolode redede regras</vt:lpstr>
      <vt:lpstr> As regras Codificação da mensagem</vt:lpstr>
      <vt:lpstr> As regras Formatação e encapsulamento da mensagem</vt:lpstr>
      <vt:lpstr> As regras Tamanho da mensagem</vt:lpstr>
      <vt:lpstr>As regras  Temporização de mensagem</vt:lpstr>
      <vt:lpstr>As regras  Opções de entrega da mensagem</vt:lpstr>
      <vt:lpstr>As Regras Uma Nota Sobre o Ícone de Nó</vt:lpstr>
      <vt:lpstr>3.2 Protocolos</vt:lpstr>
      <vt:lpstr>Visão geral do  protocolo derede</vt:lpstr>
      <vt:lpstr> Funções de protocolo de rede</vt:lpstr>
      <vt:lpstr> Protocolos Interação de protocolos</vt:lpstr>
      <vt:lpstr>3.3 Conjuntos de protocolos</vt:lpstr>
      <vt:lpstr>Suítes de protocolos de rede de conjuntos de protocolos</vt:lpstr>
      <vt:lpstr> Evolução de conjuntos de protocolos dos conjuntos de protocolos</vt:lpstr>
      <vt:lpstr> Exemplo de protocolo TCP / IP de conjuntos de protocolos</vt:lpstr>
      <vt:lpstr> Conjuntos de protocolo STCP/IP Protocol Suite</vt:lpstr>
      <vt:lpstr> Conjuntos de protocolo Processo de protocolo STCP/IP</vt:lpstr>
      <vt:lpstr>3.4 Empresas de padrões</vt:lpstr>
      <vt:lpstr>Empresas  de padrões Padrões abertos</vt:lpstr>
      <vt:lpstr>Empresas de padrões  Padrões de Internet</vt:lpstr>
      <vt:lpstr>Empresas de padrões  Padrões de Internet</vt:lpstr>
      <vt:lpstr>Organizações de padrões Padrões eletrônicos e de comunicações</vt:lpstr>
      <vt:lpstr> Empresas de padrões Laboratório - Pesquisa dos padrões de rede</vt:lpstr>
      <vt:lpstr>3.5 Modelos de referência</vt:lpstr>
      <vt:lpstr> Modelos de referência Os benefícios de se usar um modelo de camadas</vt:lpstr>
      <vt:lpstr>Modelos de referência  Os benefícios de se usar um modelo de camadas (Cont.)</vt:lpstr>
      <vt:lpstr> Modelos de referência O modelo de referência OSI</vt:lpstr>
      <vt:lpstr>Modelos de referência O modelo de referência TCP / IP</vt:lpstr>
      <vt:lpstr>Modelos de referência  Comparação de modelos OSI e TCP / IP</vt:lpstr>
      <vt:lpstr>Modelos de referência  Packet Tracer: Investigação dos modelos TCP/IP e OSI em ação</vt:lpstr>
      <vt:lpstr>3.6 Encapsulamento de dados</vt:lpstr>
      <vt:lpstr>Encapsulamento de dados  Segmentação de mensagens</vt:lpstr>
      <vt:lpstr>Encapsulamento de dados  Sequenciamento</vt:lpstr>
      <vt:lpstr> Encapsulamento de dados Unidades de dados de protocolo</vt:lpstr>
      <vt:lpstr> Encapsulamento de dados Exemplo de encapsulamento</vt:lpstr>
      <vt:lpstr>Encapsulamento de dados  Exemplo de desencapsulamento</vt:lpstr>
      <vt:lpstr>3.7 Acesso aos dados</vt:lpstr>
      <vt:lpstr> Acesso a dados Endereços</vt:lpstr>
      <vt:lpstr>Endereço Lógicoda Camada 3de Acesso a Dados</vt:lpstr>
      <vt:lpstr>Endereço lógicoda Camada 3 de Acesso a Dados (Cont.) </vt:lpstr>
      <vt:lpstr> Acesso a dados Dispositivos na mesma rede</vt:lpstr>
      <vt:lpstr> Função de Acesso a Dados dos Endereços da Camada de Link de Dados: Mesma Rede IP</vt:lpstr>
      <vt:lpstr> Acesso a dados Dispositivos em uma rede remota</vt:lpstr>
      <vt:lpstr>Acessoa aos dados  Função dos endereços da camada de rede</vt:lpstr>
      <vt:lpstr>Acesso aos Dados  Função dos endereços da camada de enlace de dados: redes IP diferentes</vt:lpstr>
      <vt:lpstr> Função de Acesso a Dados dos Endereços da Camada de Link de Dados: Redes IP Diferentes (Cont.) </vt:lpstr>
      <vt:lpstr>Acesso a dados  Endereços de enlace de dados</vt:lpstr>
      <vt:lpstr>Acesso a dados  Endereços de enlace de dados</vt:lpstr>
      <vt:lpstr>Acesso a dados  Endereços de enlace de dados</vt:lpstr>
      <vt:lpstr>Acesso a dados  Endereços de enlace de dados (Cont.)</vt:lpstr>
      <vt:lpstr>Laboratório de acesso a dados —  Instalar o Wireshark</vt:lpstr>
      <vt:lpstr>Laboratório de acesso a dados  - Use o Wireshark para visualizar o tráfego de rede</vt:lpstr>
      <vt:lpstr>3.8 - Módulo Prática e Quiz </vt:lpstr>
      <vt:lpstr>Módulo Prática e Quiz O que aprendi neste módulo?</vt:lpstr>
      <vt:lpstr>Módulo Prática e Quiz O que aprendi neste módulo? (continuação)</vt:lpstr>
      <vt:lpstr>New Terms and Commands</vt:lpstr>
      <vt:lpstr>New Terms and Commands (Cont.)</vt:lpstr>
      <vt:lpstr>PowerPoint Presentation</vt:lpstr>
    </vt:vector>
  </TitlesOfParts>
  <Company>Cisco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bvachon@cisco.com</dc:creator>
  <cp:lastModifiedBy>Sue Livingston -X (suliving - UNICON INC at Cisco)</cp:lastModifiedBy>
  <cp:revision>1014</cp:revision>
  <dcterms:created xsi:type="dcterms:W3CDTF">2016-08-22T22:27:36Z</dcterms:created>
  <dcterms:modified xsi:type="dcterms:W3CDTF">2020-06-28T23:32:56Z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