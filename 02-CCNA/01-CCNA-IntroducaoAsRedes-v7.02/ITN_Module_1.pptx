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3" r:id="rId3"/>
  </p:sldMasterIdLst>
  <p:notesMasterIdLst>
    <p:notesMasterId r:id="rId5"/>
  </p:notesMasterIdLst>
  <p:sldIdLst>
    <p:sldId id="876" r:id="rId4"/>
    <p:sldId id="925" r:id="rId6"/>
    <p:sldId id="759" r:id="rId7"/>
    <p:sldId id="628" r:id="rId8"/>
    <p:sldId id="927" r:id="rId9"/>
    <p:sldId id="788" r:id="rId10"/>
    <p:sldId id="928" r:id="rId11"/>
    <p:sldId id="956" r:id="rId12"/>
    <p:sldId id="930" r:id="rId13"/>
    <p:sldId id="932" r:id="rId14"/>
    <p:sldId id="886" r:id="rId15"/>
    <p:sldId id="936" r:id="rId16"/>
    <p:sldId id="955" r:id="rId17"/>
    <p:sldId id="942" r:id="rId18"/>
    <p:sldId id="957" r:id="rId19"/>
    <p:sldId id="944" r:id="rId20"/>
    <p:sldId id="946" r:id="rId21"/>
    <p:sldId id="947" r:id="rId22"/>
    <p:sldId id="948" r:id="rId23"/>
    <p:sldId id="952" r:id="rId24"/>
    <p:sldId id="966" r:id="rId25"/>
    <p:sldId id="967" r:id="rId26"/>
    <p:sldId id="968" r:id="rId27"/>
    <p:sldId id="972" r:id="rId28"/>
    <p:sldId id="976" r:id="rId29"/>
    <p:sldId id="977" r:id="rId30"/>
    <p:sldId id="978" r:id="rId31"/>
    <p:sldId id="979" r:id="rId32"/>
    <p:sldId id="980" r:id="rId33"/>
    <p:sldId id="981" r:id="rId34"/>
    <p:sldId id="987" r:id="rId35"/>
    <p:sldId id="984" r:id="rId36"/>
    <p:sldId id="985" r:id="rId37"/>
    <p:sldId id="990" r:id="rId38"/>
    <p:sldId id="995" r:id="rId39"/>
    <p:sldId id="996" r:id="rId40"/>
    <p:sldId id="1015" r:id="rId41"/>
    <p:sldId id="998" r:id="rId42"/>
    <p:sldId id="999" r:id="rId43"/>
    <p:sldId id="1009" r:id="rId44"/>
    <p:sldId id="1000" r:id="rId45"/>
    <p:sldId id="1001" r:id="rId46"/>
    <p:sldId id="1002" r:id="rId47"/>
    <p:sldId id="1003" r:id="rId48"/>
    <p:sldId id="1004" r:id="rId49"/>
    <p:sldId id="1021" r:id="rId50"/>
    <p:sldId id="1022" r:id="rId51"/>
    <p:sldId id="1035" r:id="rId52"/>
    <p:sldId id="1024" r:id="rId53"/>
    <p:sldId id="1025" r:id="rId54"/>
    <p:sldId id="1041" r:id="rId55"/>
    <p:sldId id="1026" r:id="rId56"/>
    <p:sldId id="1027" r:id="rId57"/>
    <p:sldId id="1043" r:id="rId58"/>
    <p:sldId id="1042" r:id="rId59"/>
    <p:sldId id="1044" r:id="rId60"/>
    <p:sldId id="1045" r:id="rId61"/>
    <p:sldId id="1050" r:id="rId62"/>
    <p:sldId id="291" r:id="rId63"/>
  </p:sldIdLst>
  <p:sldSz cx="9144000" cy="5143500" type="screen16x9"/>
  <p:notesSz cx="6858000" cy="9144000"/>
  <p:custDataLst>
    <p:tags r:id="rId6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/>
  <p:cmAuthor id="4" name="jagibbon" initials="jmg" lastIdx="3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4965" autoAdjust="0"/>
  </p:normalViewPr>
  <p:slideViewPr>
    <p:cSldViewPr snapToGrid="0" showGuides="1">
      <p:cViewPr varScale="1">
        <p:scale>
          <a:sx n="76" d="100"/>
          <a:sy n="76" d="100"/>
        </p:scale>
        <p:origin x="1296" y="56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8" Type="http://schemas.openxmlformats.org/officeDocument/2006/relationships/tags" Target="tags/tag23.xml"/><Relationship Id="rId67" Type="http://schemas.openxmlformats.org/officeDocument/2006/relationships/commentAuthors" Target="commentAuthors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Introdução às redes v7.0 (ITN)</a:t>
            </a:r>
            <a:endParaRPr lang="pt-BR" b="0"/>
          </a:p>
          <a:p>
            <a:pPr rtl="0">
              <a:buFontTx/>
              <a:buNone/>
            </a:pPr>
            <a:r>
              <a:rPr lang="pt-BR" sz="1200" b="0"/>
              <a:t>Módulo 1: As redes </a:t>
            </a:r>
            <a:r>
              <a:rPr lang="pt-BR" sz="1200" b="0" baseline="0"/>
              <a:t>de hoje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60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0360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0360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0360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03605" eaLnBrk="0" hangingPunct="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03605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0"/>
            <a:fld id="{0A313ED8-785B-4D16-9B17-4143385249B9}" type="slidenum">
              <a:rPr sz="800" b="0"/>
            </a:fld>
            <a:endParaRPr sz="800" b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b="0"/>
              <a:t>1 – As redes de hoje</a:t>
            </a:r>
            <a:endParaRPr lang="pt-BR" sz="1200" b="0"/>
          </a:p>
          <a:p>
            <a:pPr rtl="0"/>
            <a:r>
              <a:rPr lang="pt-BR"/>
              <a:t>1.0.2 - O que aprenderei a fazer neste módulo?</a:t>
            </a:r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sz="1200" b="0"/>
              <a:t>1 – As redes de hoje</a:t>
            </a:r>
            <a:endParaRPr lang="pt-BR" sz="1200" b="0"/>
          </a:p>
          <a:p>
            <a:pPr rtl="0">
              <a:buFontTx/>
              <a:buNone/>
            </a:pPr>
            <a:r>
              <a:rPr lang="pt-BR" sz="1200" b="0"/>
              <a:t>1.1 - As redes</a:t>
            </a:r>
            <a:r>
              <a:rPr lang="pt-BR" sz="1200" b="0" baseline="0"/>
              <a:t> afetam nossas vidas</a:t>
            </a:r>
            <a:endParaRPr lang="pt-BR" sz="1200" b="0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1.1 - As redes afetam nossas vidas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1.1.1 — </a:t>
            </a:r>
            <a:r>
              <a:rPr lang="pt-BR"/>
              <a:t>Redes nos conectam</a:t>
            </a:r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1.2.1— Funções de host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1.2.2 - Ponto a ponto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1.2.3 — Dispositivos finais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1.2.4 – </a:t>
            </a: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1.2 - Componentes</a:t>
            </a:r>
            <a:r>
              <a:rPr lang="pt-BR" sz="1200" kern="1200" baseline="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 de rede</a:t>
            </a:r>
            <a:endParaRPr lang="pt-BR" sz="1200" kern="1200" baseline="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1.2.5 — </a:t>
            </a:r>
            <a:r>
              <a:rPr lang="pt-BR"/>
              <a:t>Mídia de rede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1.2.6 - Verifique sua compreensão - Componentes de rede</a:t>
            </a:r>
            <a:endParaRPr lang="pt-BR" sz="1200">
              <a:effectLst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1.3.1 – Representações</a:t>
            </a:r>
            <a:r>
              <a:rPr lang="pt-BR" baseline="0">
                <a:latin typeface="Arial" panose="020B0604020202020204" pitchFamily="34" charset="0"/>
              </a:rPr>
              <a:t> de Rede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1.3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Representações e topologias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1.3.2 - Diagramas de topologia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1.3.3 — Verifique o seu entendimento — Representação e topologias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1.4.1</a:t>
            </a:r>
            <a:r>
              <a:rPr lang="pt-BR" baseline="0"/>
              <a:t> – Redes de vários tamanhos</a:t>
            </a:r>
            <a:endParaRPr lang="pt-BR" baseline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– </a:t>
            </a:r>
            <a:r>
              <a:rPr lang="pt-BR"/>
              <a:t>LANs e WANs</a:t>
            </a:r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1.4.2</a:t>
            </a:r>
            <a:r>
              <a:rPr lang="pt-BR" baseline="0"/>
              <a:t> — </a:t>
            </a:r>
            <a:r>
              <a:rPr lang="pt-BR"/>
              <a:t>LANs e WANs (cont.)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1.4.3</a:t>
            </a:r>
            <a:r>
              <a:rPr lang="pt-BR" baseline="0"/>
              <a:t> — </a:t>
            </a:r>
            <a:r>
              <a:rPr lang="pt-BR">
                <a:latin typeface="Arial" panose="020B0604020202020204" pitchFamily="34" charset="0"/>
              </a:rPr>
              <a:t>A </a:t>
            </a:r>
            <a:r>
              <a:rPr lang="pt-BR" baseline="0">
                <a:latin typeface="Arial" panose="020B0604020202020204" pitchFamily="34" charset="0"/>
              </a:rPr>
              <a:t> Internet 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1.4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Tipos comuns de redes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/>
              <a:t>1.4.4</a:t>
            </a:r>
            <a:r>
              <a:rPr lang="pt-BR" baseline="0"/>
              <a:t> </a:t>
            </a:r>
            <a:r>
              <a:rPr lang="pt-BR">
                <a:latin typeface="Arial" panose="020B0604020202020204" pitchFamily="34" charset="0"/>
              </a:rPr>
              <a:t>– Intranets</a:t>
            </a:r>
            <a:r>
              <a:rPr lang="pt-BR" baseline="0">
                <a:latin typeface="Arial" panose="020B0604020202020204" pitchFamily="34" charset="0"/>
              </a:rPr>
              <a:t> e Extranets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1.4.5 - Verifique sua compreensão - Tipos comuns de redes</a:t>
            </a:r>
            <a:endParaRPr lang="pt-BR" sz="120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1.5.1 – Tecnologias de acesso à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1.5.2 – Conexões com a Internet para residências e pequenos escritórios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1.5.3 – Conexões corporativas com a Internet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1.5.5 - A rede convergente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— A Rede Convergente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1.5.5 – </a:t>
            </a:r>
            <a:r>
              <a:rPr lang="pt-BR"/>
              <a:t>Vídeo - Baixe e instale o Packet Tracer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1.5.6 — </a:t>
            </a:r>
            <a:r>
              <a:rPr lang="pt-BR"/>
              <a:t>Vídeo — Introdução ao Cisco Packet Tracer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1.5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Conexões à Internet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1.5.7 – </a:t>
            </a:r>
            <a:r>
              <a:rPr lang="pt-BR"/>
              <a:t>Packet Tracer – Representação da 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1.6.1 - Arquitetura de rede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1.6.2 - Tolerância</a:t>
            </a:r>
            <a:r>
              <a:rPr lang="pt-BR" baseline="0">
                <a:latin typeface="Arial" panose="020B0604020202020204" pitchFamily="34" charset="0"/>
              </a:rPr>
              <a:t> a falhas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1.6.3 - Escalabilidade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1.6.4 - Qualidade de serviço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1.6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Redes confiáveis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1.6.5 — Segurança de rede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1.6.6 — Verifique seu entendimento — Redes confiáveis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1.7.1 —</a:t>
            </a:r>
            <a:r>
              <a:rPr lang="pt-BR" baseline="0">
                <a:latin typeface="Arial" panose="020B0604020202020204" pitchFamily="34" charset="0"/>
              </a:rPr>
              <a:t> Tendências</a:t>
            </a:r>
            <a:r>
              <a:rPr lang="pt-BR">
                <a:latin typeface="Arial" panose="020B0604020202020204" pitchFamily="34" charset="0"/>
              </a:rPr>
              <a:t>recentes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1.7.2 - Traga seu próprio dispositivo (BYOD)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1.7.3 – Colaboração on-line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1.7.4 - Comunicação por vídeo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1.7.5 — </a:t>
            </a:r>
            <a:r>
              <a:rPr lang="pt-BR"/>
              <a:t>Vídeo — Cisco WebEx para Huddles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1.7.6 - Computação em nuvem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1.7.6 — Computação em nuvem (Cont.)</a:t>
            </a:r>
            <a:endParaRPr lang="pt-BR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1.7.7 - Tendências</a:t>
            </a:r>
            <a:r>
              <a:rPr lang="pt-BR" baseline="0">
                <a:latin typeface="Arial" panose="020B0604020202020204" pitchFamily="34" charset="0"/>
              </a:rPr>
              <a:t> tecnológicas em casa</a:t>
            </a:r>
            <a:endParaRPr lang="pt-BR" baseline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1.7.8 – Rede powerline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1.7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Tendências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1.7.9 – Banda larga sem fio</a:t>
            </a:r>
            <a:endParaRPr lang="pt-BR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1.7.10 — Verifique seu entendimento — Tendências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>
              <a:buFontTx/>
              <a:buNone/>
            </a:pP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1.8.1 - Ameaças</a:t>
            </a:r>
            <a:r>
              <a:rPr lang="pt-BR" baseline="0">
                <a:latin typeface="Arial" panose="020B0604020202020204" pitchFamily="34" charset="0"/>
              </a:rPr>
              <a:t> à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1.8.1 – Ameaças</a:t>
            </a:r>
            <a:r>
              <a:rPr lang="pt-BR" baseline="0">
                <a:latin typeface="Arial" panose="020B0604020202020204" pitchFamily="34" charset="0"/>
              </a:rPr>
              <a:t> à segurança (Cont.)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Soluções</a:t>
            </a:r>
            <a:r>
              <a:rPr lang="pt-BR" baseline="0">
                <a:latin typeface="Arial" panose="020B0604020202020204" pitchFamily="34" charset="0"/>
              </a:rPr>
              <a:t> de segurança</a:t>
            </a:r>
            <a:endParaRPr lang="pt-BR" baseline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1.8 –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Segurança de rede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1.8.2 - </a:t>
            </a:r>
            <a:r>
              <a:rPr lang="pt-BR" baseline="0">
                <a:latin typeface="Arial" panose="020B0604020202020204" pitchFamily="34" charset="0"/>
              </a:rPr>
              <a:t> Soluções de segurança (Cont.) </a:t>
            </a:r>
            <a:endParaRPr lang="pt-BR" baseline="0">
              <a:latin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 sz="1200">
                <a:effectLst/>
              </a:rPr>
              <a:t>1.8.3 - Verifique sua compreensão - Segurança de rede</a:t>
            </a:r>
            <a:endParaRPr lang="pt-BR" sz="120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1.9.1 - CCNA</a:t>
            </a:r>
            <a:endParaRPr lang="pt-BR" baseline="0">
              <a:latin typeface="Arial" panose="020B0604020202020204" pitchFamily="34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Diagrama de https://newsroom.cisco.com/press-release-content?type=webcontent&amp;articleId=1993077</a:t>
            </a:r>
            <a:endParaRPr lang="pt-BR" baseline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1.9.2 — </a:t>
            </a:r>
            <a:r>
              <a:rPr lang="pt-BR"/>
              <a:t>Trabalhos em 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1.9 - </a:t>
            </a:r>
            <a:r>
              <a:rPr lang="pt-BR" sz="1200">
                <a:solidFill>
                  <a:schemeClr val="accent5">
                    <a:lumMod val="40000"/>
                    <a:lumOff val="60000"/>
                  </a:schemeClr>
                </a:solidFill>
              </a:rPr>
              <a:t>O profissional de TI</a:t>
            </a:r>
            <a:endParaRPr lang="pt-BR" sz="120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baseline="0">
                <a:latin typeface="Arial" panose="020B0604020202020204" pitchFamily="34" charset="0"/>
              </a:rPr>
              <a:t>1.9.3 – </a:t>
            </a:r>
            <a:r>
              <a:rPr lang="pt-BR"/>
              <a:t>Laboratório - Pesquisando oportunidades de trabalho em TI e redes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1.10 -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1.10 -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1.10.1</a:t>
            </a:r>
            <a:r>
              <a:rPr lang="pt-BR" baseline="0">
                <a:latin typeface="Arial" panose="020B0604020202020204" pitchFamily="34" charset="0"/>
              </a:rPr>
              <a:t> – </a:t>
            </a:r>
            <a:r>
              <a:rPr lang="pt-BR"/>
              <a:t>O que eu aprendi neste módulo?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1.10 - 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1.10.1</a:t>
            </a:r>
            <a:r>
              <a:rPr lang="pt-BR" baseline="0">
                <a:latin typeface="Arial" panose="020B0604020202020204" pitchFamily="34" charset="0"/>
              </a:rPr>
              <a:t> – </a:t>
            </a:r>
            <a:r>
              <a:rPr lang="pt-BR"/>
              <a:t>O que eu aprendi neste módulo? (Cont.)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1.10.2 </a:t>
            </a:r>
            <a:r>
              <a:rPr lang="pt-BR" sz="1200">
                <a:effectLst/>
              </a:rPr>
              <a:t>– Quiz</a:t>
            </a:r>
            <a:r>
              <a:rPr lang="pt-BR" sz="1200" baseline="0">
                <a:effectLst/>
              </a:rPr>
              <a:t> do Módulo</a:t>
            </a:r>
            <a:endParaRPr lang="pt-BR" sz="1200" baseline="0">
              <a:effectLst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</a:fld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 – As redes de hoje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panose="020B0604020202020204" pitchFamily="34" charset="0"/>
              </a:rPr>
              <a:t>Novos termos e comandos</a:t>
            </a:r>
            <a:endParaRPr 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text styles</a:t>
            </a:r>
            <a:endParaRPr lang="en-US" dirty="0">
              <a:sym typeface="Arial" panose="020B0604020202020204" pitchFamily="34" charset="0"/>
            </a:endParaRPr>
          </a:p>
          <a:p>
            <a:pPr lvl="1"/>
            <a:r>
              <a:rPr lang="en-US" dirty="0">
                <a:sym typeface="Arial" panose="020B0604020202020204" pitchFamily="34" charset="0"/>
              </a:rPr>
              <a:t>Second level</a:t>
            </a:r>
            <a:endParaRPr lang="en-US" dirty="0">
              <a:sym typeface="Arial" panose="020B0604020202020204" pitchFamily="34" charset="0"/>
            </a:endParaRPr>
          </a:p>
          <a:p>
            <a:pPr lvl="2"/>
            <a:r>
              <a:rPr lang="en-US" dirty="0">
                <a:sym typeface="Arial" panose="020B0604020202020204" pitchFamily="34" charset="0"/>
              </a:rPr>
              <a:t>Third level</a:t>
            </a:r>
            <a:endParaRPr lang="en-US" dirty="0">
              <a:sym typeface="Arial" panose="020B0604020202020204" pitchFamily="34" charset="0"/>
            </a:endParaRPr>
          </a:p>
          <a:p>
            <a:pPr lvl="3"/>
            <a:r>
              <a:rPr lang="en-US" dirty="0">
                <a:sym typeface="Arial" panose="020B0604020202020204" pitchFamily="34" charset="0"/>
              </a:rPr>
              <a:t>Fourth level</a:t>
            </a: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493429" y="4741653"/>
            <a:ext cx="3032097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22226" y="4741653"/>
            <a:ext cx="2903300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0.xml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1" Type="http://schemas.openxmlformats.org/officeDocument/2006/relationships/hyperlink" Target="http://www.netacad.com/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751893"/>
            <a:ext cx="6672708" cy="64473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1: As redes de hoje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rtl="0" eaLnBrk="1" hangingPunct="1"/>
            <a:r>
              <a:rPr lang="pt-BR"/>
              <a:t>Objetivos do módulo</a:t>
            </a:r>
            <a:endParaRPr lang="pt-BR"/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31272" cy="827461"/>
          </a:xfrm>
        </p:spPr>
        <p:txBody>
          <a:bodyPr/>
          <a:lstStyle/>
          <a:p>
            <a:pPr marL="0" lvl="0" indent="0" defTabSz="914400" rt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1400" b="1">
                <a:solidFill>
                  <a:schemeClr val="tx1"/>
                </a:solidFill>
                <a:ea typeface="Calibri" charset="0"/>
                <a:cs typeface="Calibri" charset="0"/>
              </a:rPr>
              <a:t>Título do módulo: </a:t>
            </a:r>
            <a:r>
              <a:rPr lang="pt-BR" sz="1400">
                <a:solidFill>
                  <a:schemeClr val="tx1"/>
                </a:solidFill>
                <a:ea typeface="Calibri" charset="0"/>
                <a:cs typeface="Calibri" charset="0"/>
              </a:rPr>
              <a:t>As redes de hoje</a:t>
            </a:r>
            <a:endParaRPr lang="pt-BR" sz="1400">
              <a:solidFill>
                <a:schemeClr val="tx1"/>
              </a:solidFill>
              <a:ea typeface="Calibri" charset="0"/>
              <a:cs typeface="Calibri" charset="0"/>
            </a:endParaRPr>
          </a:p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0" lvl="0" indent="0" defTabSz="914400" rtl="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pt-BR" sz="1400" b="1">
                <a:solidFill>
                  <a:schemeClr val="tx1"/>
                </a:solidFill>
                <a:ea typeface="Calibri" charset="0"/>
                <a:cs typeface="Calibri" charset="0"/>
              </a:rPr>
              <a:t>Objetivo do módulo</a:t>
            </a:r>
            <a:r>
              <a:rPr lang="pt-BR" sz="1400">
                <a:solidFill>
                  <a:schemeClr val="tx1"/>
                </a:solidFill>
                <a:ea typeface="Calibri" charset="0"/>
                <a:cs typeface="Calibri" charset="0"/>
              </a:rPr>
              <a:t>: Explicar os avanços nas tecnologias modernas.</a:t>
            </a:r>
            <a:endParaRPr lang="pt-BR" sz="1400">
              <a:solidFill>
                <a:schemeClr val="tx1"/>
              </a:solidFill>
              <a:ea typeface="Calibri" charset="0"/>
              <a:cs typeface="Calibri" charset="0"/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535" indent="0">
              <a:spcBef>
                <a:spcPct val="30000"/>
              </a:spcBef>
              <a:buNone/>
            </a:pPr>
            <a:endParaRPr lang="en-US" dirty="0"/>
          </a:p>
          <a:p>
            <a:pPr marL="89535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23333" y="1625600"/>
          <a:ext cx="8263467" cy="2765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17548"/>
                <a:gridCol w="5345919"/>
              </a:tblGrid>
              <a:tr h="224116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Título do Tópico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Objetivo do Tópico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6372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Redes afetam nossas vidas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como as redes afetam nossas vidas diárias.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6372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Componentes de rede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como os dispositivos de host e de rede são usados.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54659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Representações e topologias de rede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as representações de rede e como elas são usadas em topologias de rede.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49911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Tipos comuns de redes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Comparar as características de tipos comuns de redes.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6372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Conexões com a Internet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como LANs e WANs se interconectam com a Internet.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8772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Redes confiáveis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Descrever os quatro requisitos básicos de uma rede confiável.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406548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Tendências das redes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como as tendências, como BYOD (Bring Your Own Device, consumerização de TI), colaboração on-line, uso de vídeo e computação em nuvem, estão mudando a maneira de interagir.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87720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Segurança da rede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Identificar algumas ameaças e soluções básicas de segurança para todas as redes.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  <a:tr h="263724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O profissional de TI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</a:rPr>
                        <a:t>Explicar oportunidades de emprego no campo de rede.</a:t>
                      </a:r>
                      <a:endParaRPr lang="pt-BR" sz="1100">
                        <a:effectLst/>
                      </a:endParaRPr>
                    </a:p>
                  </a:txBody>
                  <a:tcPr marL="60168" marR="60168" marT="0" marB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 sz="6000">
                <a:solidFill>
                  <a:schemeClr val="accent5">
                    <a:lumMod val="40000"/>
                    <a:lumOff val="60000"/>
                  </a:schemeClr>
                </a:solidFill>
              </a:rPr>
              <a:t>1.1 Redes afetam nossas vidas</a:t>
            </a:r>
            <a:endParaRPr lang="pt-BR" sz="6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147012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rtl="0">
              <a:buNone/>
            </a:pPr>
            <a:r>
              <a:rPr lang="pt-BR" sz="1800"/>
              <a:t>A comunicação é quase tão importante para nós quanto nossa dependência de ar, água, comida e abrigo. No mundo de hoje, com o uso de redes, estamos conectados como nunca estivemos.</a:t>
            </a:r>
            <a:endParaRPr lang="pt-BR" sz="18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68453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MS PGothic" charset="0"/>
                <a:cs typeface="CiscoSans"/>
              </a:defRPr>
            </a:lvl1pPr>
            <a:lvl2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2pPr>
            <a:lvl3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3pPr>
            <a:lvl4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4pPr>
            <a:lvl5pPr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  <a:cs typeface="CiscoSans" pitchFamily="34" charset="0"/>
              </a:defRPr>
            </a:lvl5pPr>
            <a:lvl6pPr marL="4572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6pPr>
            <a:lvl7pPr marL="9144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7pPr>
            <a:lvl8pPr marL="13716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8pPr>
            <a:lvl9pPr marL="1828800" algn="l" defTabSz="684530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r>
              <a:rPr lang="pt-BR" sz="1600"/>
              <a:t>As redes de hoje</a:t>
            </a:r>
            <a:br>
              <a:rPr lang="en-US" altLang="en-US" dirty="0"/>
            </a:br>
            <a:r>
              <a:rPr lang="pt-BR"/>
              <a:t>Redes nos conectam</a:t>
            </a:r>
            <a:endParaRPr lang="pt-BR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Componentes de rede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Funções dehost de componentes de</a:t>
            </a:r>
            <a:r>
              <a:rPr lang="pt-BR" sz="1600"/>
              <a:t>rede</a:t>
            </a:r>
            <a:endParaRPr lang="pt-BR" sz="1600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4" y="798945"/>
            <a:ext cx="3488136" cy="4153199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Todo computador em uma rede é chamado de host ou dispositivo final.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Servidores são computadores que fornecem informações aos dispositivos finais: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servidores de email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servidores web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servidor de arquivos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Os clientes são computadores que enviam solicitações aos servidores para recuperar informações: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a partir de um servidor Web</a:t>
            </a:r>
            <a:endParaRPr lang="pt-BR" sz="1600"/>
          </a:p>
          <a:p>
            <a:pPr lvl="1" rtl="0"/>
            <a:r>
              <a:rPr lang="pt-BR" sz="1600"/>
              <a:t>e-mail de um servidor de e-mail</a:t>
            </a:r>
            <a:endParaRPr lang="pt-BR" sz="1600"/>
          </a:p>
          <a:p>
            <a:pPr marL="0" indent="0" rtl="0">
              <a:buNone/>
            </a:pPr>
            <a:r>
              <a:rPr lang="pt-BR"/>
              <a:t> </a:t>
            </a:r>
            <a:endParaRPr lang="pt-BR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99932" y="2370667"/>
          <a:ext cx="5300003" cy="2407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567"/>
                <a:gridCol w="4403436"/>
              </a:tblGrid>
              <a:tr h="52701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Tipo de servidor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52701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E-mail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email executa o software do servidor de email.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</a:t>
                      </a:r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software cliente para acessar o e-mail.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44023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Web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Web executa software de servidor web. 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clientes usam software do navegador para acessar páginas da Web.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09777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Arquivo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servidor de arquivos armazena arquivos corporativos e de usuário.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 dispositivos cliente acessam esses arquivos.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4745" y="1007532"/>
            <a:ext cx="4680156" cy="106268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ponto a ponto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9888" y="728063"/>
            <a:ext cx="8853286" cy="803372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É possível que um dispositivo seja um cliente e um servidor em uma rede ponto a ponto. </a:t>
            </a:r>
            <a:r>
              <a:rPr lang="pt-BR"/>
              <a:t>Este tipo de design de rede é recomendado apenas para redes muito pequenas. </a:t>
            </a:r>
            <a:endParaRPr lang="pt-BR"/>
          </a:p>
          <a:p>
            <a:pPr marL="0" indent="0" rtl="0">
              <a:buNone/>
            </a:pPr>
            <a:r>
              <a:rPr lang="pt-BR"/>
              <a:t> </a:t>
            </a:r>
            <a:endParaRPr lang="pt-BR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929" y="1643865"/>
            <a:ext cx="4222946" cy="1099334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9888" y="2743199"/>
          <a:ext cx="8853286" cy="1902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774"/>
                <a:gridCol w="4481512"/>
              </a:tblGrid>
              <a:tr h="276705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Vantagens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Desvantagens</a:t>
                      </a:r>
                      <a:endParaRPr lang="pt-BR"/>
                    </a:p>
                  </a:txBody>
                  <a:tcPr/>
                </a:tc>
              </a:tr>
              <a:tr h="289977">
                <a:tc>
                  <a:txBody>
                    <a:bodyPr/>
                    <a:lstStyle/>
                    <a:p>
                      <a:pPr algn="l" rtl="0">
                        <a:buFont typeface="Arial" panose="020B0604020202020204"/>
                        <a:buNone/>
                      </a:pPr>
                      <a:r>
                        <a:rPr lang="pt-BR" b="0" i="0">
                          <a:solidFill>
                            <a:srgbClr val="58585B"/>
                          </a:solidFill>
                          <a:effectLst/>
                          <a:latin typeface="CiscoSans"/>
                        </a:rPr>
                        <a:t>Fácil de configurar</a:t>
                      </a:r>
                      <a:endParaRPr lang="pt-BR" b="0" i="0">
                        <a:solidFill>
                          <a:srgbClr val="58585B"/>
                        </a:solidFill>
                        <a:effectLst/>
                        <a:latin typeface="Cisco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Nenhuma administração centralizada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76705">
                <a:tc>
                  <a:txBody>
                    <a:bodyPr/>
                    <a:lstStyle/>
                    <a:p>
                      <a:pPr algn="l" rtl="0">
                        <a:buFont typeface="Arial" panose="020B0604020202020204"/>
                        <a:buNone/>
                      </a:pPr>
                      <a:r>
                        <a:rPr lang="pt-BR" b="0" i="0">
                          <a:solidFill>
                            <a:srgbClr val="58585B"/>
                          </a:solidFill>
                          <a:effectLst/>
                          <a:latin typeface="CiscoSans"/>
                        </a:rPr>
                        <a:t>Menos complexo</a:t>
                      </a:r>
                      <a:endParaRPr lang="pt-BR" b="0" i="0">
                        <a:solidFill>
                          <a:srgbClr val="58585B"/>
                        </a:solidFill>
                        <a:effectLst/>
                        <a:latin typeface="Cisco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tão segura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0398">
                <a:tc>
                  <a:txBody>
                    <a:bodyPr/>
                    <a:lstStyle/>
                    <a:p>
                      <a:pPr algn="l" rtl="0">
                        <a:buFont typeface="Arial" panose="020B0604020202020204"/>
                        <a:buNone/>
                      </a:pPr>
                      <a:r>
                        <a:rPr lang="pt-BR" b="0" i="0">
                          <a:solidFill>
                            <a:srgbClr val="58585B"/>
                          </a:solidFill>
                          <a:effectLst/>
                          <a:latin typeface="CiscoSans"/>
                        </a:rPr>
                        <a:t>Custo mais baixo</a:t>
                      </a:r>
                      <a:endParaRPr lang="pt-BR" b="0" i="0">
                        <a:solidFill>
                          <a:srgbClr val="58585B"/>
                        </a:solidFill>
                        <a:effectLst/>
                        <a:latin typeface="Cisco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Não é escalável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0398">
                <a:tc>
                  <a:txBody>
                    <a:bodyPr/>
                    <a:lstStyle/>
                    <a:p>
                      <a:pPr algn="l" rtl="0">
                        <a:buFont typeface="Arial" panose="020B0604020202020204"/>
                        <a:buNone/>
                      </a:pPr>
                      <a:r>
                        <a:rPr lang="pt-BR" b="0" i="0">
                          <a:solidFill>
                            <a:srgbClr val="58585B"/>
                          </a:solidFill>
                          <a:effectLst/>
                          <a:latin typeface="CiscoSans"/>
                        </a:rPr>
                        <a:t>Usado para tarefas simples: transferência de arquivos e compartilhamento de impressoras</a:t>
                      </a:r>
                      <a:endParaRPr lang="pt-BR" b="0" i="0">
                        <a:solidFill>
                          <a:srgbClr val="58585B"/>
                        </a:solidFill>
                        <a:effectLst/>
                        <a:latin typeface="Cisco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Desempenho mais lento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Dispositivosfinais</a:t>
            </a:r>
            <a:r>
              <a:rPr lang="pt-BR" sz="1600"/>
              <a:t>de componentes de rede</a:t>
            </a:r>
            <a:endParaRPr lang="pt-BR" sz="1600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853286" cy="845557"/>
          </a:xfrm>
        </p:spPr>
        <p:txBody>
          <a:bodyPr/>
          <a:lstStyle/>
          <a:p>
            <a:pPr marL="0" lvl="1" indent="0" rtl="0">
              <a:spcBef>
                <a:spcPts val="600"/>
              </a:spcBef>
              <a:spcAft>
                <a:spcPts val="600"/>
              </a:spcAft>
              <a:buSzPct val="90000"/>
              <a:buNone/>
            </a:pPr>
            <a:r>
              <a:rPr lang="pt-BR" sz="1500"/>
              <a:t>Um dispositivo final é onde uma mensagem se origina ou onde ela é recebida. Os dados se originam em um dispositivo final, fluem pela rede e chegam a outro dispositivo final.</a:t>
            </a:r>
            <a:endParaRPr lang="pt-BR" sz="1500"/>
          </a:p>
          <a:p>
            <a:pPr marL="170180" lvl="1" indent="-170180">
              <a:spcBef>
                <a:spcPts val="600"/>
              </a:spcBef>
              <a:spcAft>
                <a:spcPts val="600"/>
              </a:spcAft>
              <a:buSzPct val="90000"/>
              <a:buFont typeface="Wingdings" panose="05000000000000000000" pitchFamily="2" charset="2"/>
              <a:buChar char="§"/>
            </a:pPr>
            <a:endParaRPr lang="en-US" altLang="en-US" sz="1500" dirty="0"/>
          </a:p>
          <a:p>
            <a:endParaRPr lang="en-US" altLang="en-US" dirty="0"/>
          </a:p>
          <a:p>
            <a:pPr marL="0" indent="0" rtl="0">
              <a:buNone/>
            </a:pPr>
            <a:r>
              <a:rPr lang="pt-BR"/>
              <a:t> </a:t>
            </a:r>
            <a:endParaRPr lang="pt-B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79" y="1644502"/>
            <a:ext cx="5437865" cy="292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Dispositivos de rede intermediários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66900" y="798945"/>
            <a:ext cx="7893435" cy="2419010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Um dispositivo intermediário interconecta dispositivos finais. Os exemplos incluem comutadores, pontos de acesso sem fio, roteadores e firewalls.</a:t>
            </a:r>
            <a:endParaRPr lang="pt-BR"/>
          </a:p>
          <a:p>
            <a:pPr marL="0" indent="0" rtl="0">
              <a:buNone/>
            </a:pPr>
            <a:r>
              <a:rPr lang="pt-BR"/>
              <a:t>O gerenciamento de dados à medida que flui através de uma rede também é o papel de um dispositivo intermediário, incluindo:</a:t>
            </a:r>
            <a:endParaRPr lang="pt-BR"/>
          </a:p>
          <a:p>
            <a:pPr lvl="1" rtl="0"/>
            <a:r>
              <a:rPr lang="pt-BR"/>
              <a:t>Regenerar e retransmitir sinais de dados.</a:t>
            </a:r>
            <a:endParaRPr lang="pt-BR"/>
          </a:p>
          <a:p>
            <a:pPr lvl="1" rtl="0"/>
            <a:r>
              <a:rPr lang="pt-BR"/>
              <a:t>Mantenha informações sobre quais caminhos existem na rede.</a:t>
            </a:r>
            <a:endParaRPr lang="pt-BR"/>
          </a:p>
          <a:p>
            <a:pPr lvl="1" rtl="0"/>
            <a:r>
              <a:rPr lang="pt-BR"/>
              <a:t>Notificar outros dispositivos sobre erros e falhas de comunicação.</a:t>
            </a:r>
            <a:endParaRPr lang="pt-BR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marL="142875" lvl="1" indent="0">
              <a:buNone/>
            </a:pP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689" y="3354142"/>
            <a:ext cx="4988645" cy="1397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Componentes de rede</a:t>
            </a:r>
            <a:br>
              <a:rPr lang="en-US" altLang="en-US" dirty="0"/>
            </a:br>
            <a:r>
              <a:rPr lang="pt-BR"/>
              <a:t>Meio fĩsico de rede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798946"/>
            <a:ext cx="8743293" cy="608695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comunicação através de uma rede é transmitida por um meio que permite a uma mensagem se deslocar da origem até o destino. </a:t>
            </a:r>
            <a:endParaRPr lang="pt-BR" sz="1600"/>
          </a:p>
          <a:p>
            <a:pPr marL="0" indent="0" rtl="0">
              <a:buNone/>
            </a:pPr>
            <a:r>
              <a:rPr lang="pt-BR"/>
              <a:t> </a:t>
            </a:r>
            <a:endParaRPr lang="pt-BR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1509" y="1496375"/>
          <a:ext cx="4557822" cy="278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985"/>
                <a:gridCol w="2232837"/>
              </a:tblGrid>
              <a:tr h="43112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Tipos de mídia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599768">
                <a:tc>
                  <a:txBody>
                    <a:bodyPr/>
                    <a:lstStyle/>
                    <a:p>
                      <a:pPr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Fios metálicos dentro de cabos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impulsos elétricos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46731">
                <a:tc>
                  <a:txBody>
                    <a:bodyPr/>
                    <a:lstStyle/>
                    <a:p>
                      <a:pPr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Fibras de vidro ou plástico nos cabos (cabo de fibra óptica)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pulsos de luz.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910166">
                <a:tc>
                  <a:txBody>
                    <a:bodyPr/>
                    <a:lstStyle/>
                    <a:p>
                      <a:pPr rtl="0"/>
                      <a:r>
                        <a:rPr lang="pt-BR" sz="1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Transmissão sem fio</a:t>
                      </a:r>
                      <a:endParaRPr lang="pt-BR" sz="1400" b="1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 modulação de frequências específicas de ondas eletromagnéticas.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331" y="1407641"/>
            <a:ext cx="3968026" cy="299997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1.3 Representações e topologias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rede</a:t>
            </a:r>
            <a:br>
              <a:rPr lang="en-US" altLang="en-US" dirty="0"/>
            </a:br>
            <a:r>
              <a:rPr lang="pt-BR"/>
              <a:t>Representações de Rede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7117" y="1152409"/>
            <a:ext cx="3997630" cy="328219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Os diagramas de rede, muitas vezes chamados de diagramas de topologia, usam símbolos para representar os dispositivos na rede.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Os termos importantes a serem conhecidos incluem:</a:t>
            </a:r>
            <a:endParaRPr lang="pt-BR" sz="1600"/>
          </a:p>
          <a:p>
            <a:pPr lvl="2" rtl="0"/>
            <a:r>
              <a:rPr lang="pt-BR" sz="1600"/>
              <a:t>Placa de rede</a:t>
            </a:r>
            <a:endParaRPr lang="pt-BR" sz="1600"/>
          </a:p>
          <a:p>
            <a:pPr lvl="2" rtl="0"/>
            <a:r>
              <a:rPr lang="pt-BR" sz="1600"/>
              <a:t>Porta Física</a:t>
            </a:r>
            <a:endParaRPr lang="pt-BR" sz="1600"/>
          </a:p>
          <a:p>
            <a:pPr lvl="2" rtl="0"/>
            <a:r>
              <a:rPr lang="pt-BR" sz="1600"/>
              <a:t>Interface</a:t>
            </a:r>
            <a:endParaRPr lang="pt-BR" sz="1600"/>
          </a:p>
          <a:p>
            <a:pPr marL="261620" lvl="2" indent="0">
              <a:buNone/>
            </a:pPr>
            <a:endParaRPr lang="en-US" sz="1600" b="1" dirty="0"/>
          </a:p>
          <a:p>
            <a:pPr marL="261620" lvl="2" indent="0" rtl="0">
              <a:buNone/>
            </a:pPr>
            <a:r>
              <a:rPr lang="pt-BR" sz="1600" b="1"/>
              <a:t>Nota</a:t>
            </a:r>
            <a:r>
              <a:rPr lang="pt-BR" sz="1600"/>
              <a:t>: Freqüentemente, os termos porta e interface são usados de forma intercambiável</a:t>
            </a:r>
            <a:endParaRPr lang="pt-BR" sz="1600"/>
          </a:p>
          <a:p>
            <a:pPr lvl="2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4747" y="983570"/>
            <a:ext cx="4880311" cy="345103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Representações e topologias de rede</a:t>
            </a:r>
            <a:br>
              <a:rPr lang="en-US" altLang="en-US" dirty="0"/>
            </a:br>
            <a:r>
              <a:rPr lang="pt-BR"/>
              <a:t>Diagramas de topologia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83940" y="797709"/>
            <a:ext cx="4062002" cy="74046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Os diagramas de topologia física ilustram a localização física de dispositivos intermediários e a instalação de cabos.</a:t>
            </a:r>
            <a:endParaRPr lang="pt-BR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40" y="1712110"/>
            <a:ext cx="4168325" cy="26815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911703" y="756244"/>
            <a:ext cx="423229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pt-BR" sz="1500">
                <a:solidFill>
                  <a:srgbClr val="000000"/>
                </a:solidFill>
              </a:rPr>
              <a:t>Os diagramas de topologia lógica ilustram dispositivos, portas e o esquema de endereçamento da rede.</a:t>
            </a:r>
            <a:endParaRPr lang="pt-BR" sz="1500">
              <a:solidFill>
                <a:srgbClr val="0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416" y="1712110"/>
            <a:ext cx="3971993" cy="267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1.4 Tipos comuns de redes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Tipos comuns de</a:t>
            </a:r>
            <a:br>
              <a:rPr lang="en-US" altLang="en-US" sz="1600" dirty="0"/>
            </a:br>
            <a:r>
              <a:rPr lang="pt-BR"/>
              <a:t>redes de vários tamanhos</a:t>
            </a:r>
            <a:endParaRPr lang="pt-BR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757551"/>
            <a:ext cx="4401766" cy="3950636"/>
          </a:xfrm>
        </p:spPr>
        <p:txBody>
          <a:bodyPr/>
          <a:lstStyle/>
          <a:p>
            <a:pPr rtl="0" eaLnBrk="1" hangingPunct="1">
              <a:buFont typeface="Arial" panose="020B0604020202020204" pitchFamily="34" charset="0"/>
              <a:buChar char="•"/>
            </a:pPr>
            <a:r>
              <a:rPr lang="pt-BR" sz="1700"/>
              <a:t>Redes domésticas pequenas – conectam alguns computadores entre si e à Internet</a:t>
            </a:r>
            <a:endParaRPr lang="pt-BR" sz="1700"/>
          </a:p>
          <a:p>
            <a:pPr rtl="0" eaLnBrk="1" hangingPunct="1">
              <a:buFont typeface="Arial" panose="020B0604020202020204" pitchFamily="34" charset="0"/>
              <a:buChar char="•"/>
            </a:pPr>
            <a:r>
              <a:rPr lang="pt-BR" sz="1700"/>
              <a:t>Home office/home office pequenos – permite que o computador dentro de uma residência ou escritório remoto se conecte a uma rede corporativa</a:t>
            </a:r>
            <a:endParaRPr lang="pt-BR" sz="1700"/>
          </a:p>
          <a:p>
            <a:pPr rtl="0" eaLnBrk="1" hangingPunct="1">
              <a:buFont typeface="Arial" panose="020B0604020202020204" pitchFamily="34" charset="0"/>
              <a:buChar char="•"/>
            </a:pPr>
            <a:r>
              <a:rPr lang="pt-BR" sz="1700"/>
              <a:t>Redes médias a grandes – muitos locais com centenas ou milhares de computadores interconectados</a:t>
            </a:r>
            <a:endParaRPr lang="pt-BR" sz="1700"/>
          </a:p>
          <a:p>
            <a:pPr rtl="0" eaLnBrk="1" hangingPunct="1">
              <a:buFont typeface="Arial" panose="020B0604020202020204" pitchFamily="34" charset="0"/>
              <a:buChar char="•"/>
            </a:pPr>
            <a:r>
              <a:rPr lang="pt-BR" sz="1700"/>
              <a:t>Redes mundiais - conecta centenas de milhões de computadores em todo o mundo - como a Internet</a:t>
            </a:r>
            <a:endParaRPr lang="pt-BR" sz="1700"/>
          </a:p>
          <a:p>
            <a:pPr lvl="1"/>
            <a:endParaRPr lang="en-US" altLang="en-US" sz="1500" dirty="0"/>
          </a:p>
          <a:p>
            <a:pPr lvl="1"/>
            <a:endParaRPr lang="en-US" altLang="en-US" sz="1800" dirty="0"/>
          </a:p>
          <a:p>
            <a:pPr marL="0" indent="0" eaLnBrk="1" hangingPunct="1">
              <a:buNone/>
            </a:pPr>
            <a:endParaRPr lang="en-CA" altLang="en-US" sz="165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0" y="2310756"/>
            <a:ext cx="4344344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rtl="0"/>
            <a:r>
              <a:rPr lang="pt-BR"/>
              <a:t>       </a:t>
            </a:r>
            <a:r>
              <a:rPr lang="pt-BR" sz="1600"/>
              <a:t>Pequeno Home SOHO</a:t>
            </a:r>
            <a:endParaRPr lang="pt-BR" sz="1600"/>
          </a:p>
        </p:txBody>
      </p:sp>
      <p:pic>
        <p:nvPicPr>
          <p:cNvPr id="3074" name="Picture 2" descr="this is the image’s alt tex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9" y="757551"/>
            <a:ext cx="2103105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d1qjbjciwpxftb.cloudfront.net/courses/ccna1/networking-today/5_common-types-of-networks/assets/1_chunk/media--Small-Home-Office-Net--im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84" y="757551"/>
            <a:ext cx="2090460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6173" y="4303795"/>
            <a:ext cx="416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/>
              <a:t>   </a:t>
            </a:r>
            <a:r>
              <a:rPr lang="pt-BR" sz="1600"/>
              <a:t>Médio/Grande Mundo</a:t>
            </a:r>
            <a:endParaRPr lang="pt-BR" sz="1600"/>
          </a:p>
        </p:txBody>
      </p:sp>
      <p:pic>
        <p:nvPicPr>
          <p:cNvPr id="3078" name="Picture 6" descr="this is the image’s alt tex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8" y="2699263"/>
            <a:ext cx="2103105" cy="16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883" y="2680088"/>
            <a:ext cx="2090461" cy="160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709974"/>
          </a:xfrm>
        </p:spPr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LANs e WANs</a:t>
            </a:r>
            <a:endParaRPr lang="pt-BR"/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9889" y="728061"/>
            <a:ext cx="3995544" cy="3702690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As infra-estruturas de rede variam muito em termos de: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Tamanho da área coberta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Número de usuários conectados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Número e tipos de serviços disponíveis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Área de responsabilidade</a:t>
            </a:r>
            <a:endParaRPr lang="pt-BR" sz="1600"/>
          </a:p>
          <a:p>
            <a:pPr marL="142875" lvl="1" indent="0">
              <a:buNone/>
            </a:pPr>
            <a:endParaRPr lang="en-US" altLang="en-US" sz="1600" dirty="0"/>
          </a:p>
          <a:p>
            <a:pPr marL="0" indent="0" rtl="0">
              <a:buNone/>
            </a:pPr>
            <a:r>
              <a:rPr lang="pt-BR" sz="1600"/>
              <a:t>Os dois tipos mais comuns de redes são: 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LAN (Local Area Network, Rede local) 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Rede de área ampla (WAN). </a:t>
            </a:r>
            <a:endParaRPr lang="pt-BR" sz="1600"/>
          </a:p>
          <a:p>
            <a:pPr marL="0" indent="0" rtl="0">
              <a:buNone/>
            </a:pPr>
            <a:r>
              <a:rPr lang="pt-BR"/>
              <a:t> 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5432" y="751368"/>
            <a:ext cx="4885003" cy="3601606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 </a:t>
            </a:r>
            <a:br>
              <a:rPr lang="en-US" altLang="en-US" dirty="0"/>
            </a:br>
            <a:r>
              <a:rPr lang="pt-BR"/>
              <a:t>LANs e WANs (cont.) 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83940" y="797709"/>
            <a:ext cx="4062002" cy="55969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Uma LAN é uma infraestrutura de rede que abrange uma pequena área geográfica. </a:t>
            </a:r>
            <a:endParaRPr lang="pt-BR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80" y="1357408"/>
            <a:ext cx="2556289" cy="134416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798060" y="742868"/>
            <a:ext cx="42322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</a:rPr>
              <a:t>Uma WAN é uma infraestrutura de rede que abrange uma ampla área geográfica.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150" y="1366630"/>
            <a:ext cx="3500526" cy="141292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96580" y="2779550"/>
          <a:ext cx="8385544" cy="169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2387"/>
                <a:gridCol w="4373157"/>
              </a:tblGrid>
              <a:tr h="33138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LAN (Local Area Network)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WAN (Wide Area Network)</a:t>
                      </a:r>
                      <a:endParaRPr lang="pt-BR"/>
                    </a:p>
                  </a:txBody>
                  <a:tcPr/>
                </a:tc>
              </a:tr>
              <a:tr h="331381"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dispositivos finais em uma área limitada.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Interconecte LANs em áreas geográficas amplas.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31381"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Administrado por uma única organização ou indivíduo.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Normalmente</a:t>
                      </a:r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, um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ministrado por um</a:t>
                      </a:r>
                      <a:r>
                        <a:rPr lang="pt-BR" sz="1400" b="0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mais</a:t>
                      </a:r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provedores de serviços.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31381"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Forneça largura de banda de alta velocidade aos dispositivos internos.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Geralmente, fornece links de velocidade mais lenta entre LANs.</a:t>
                      </a:r>
                      <a:endParaRPr lang="pt-BR" sz="1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 redes</a:t>
            </a:r>
            <a:br>
              <a:rPr lang="en-US" altLang="en-US" dirty="0"/>
            </a:br>
            <a:r>
              <a:rPr lang="pt-BR"/>
              <a:t>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2284" y="798944"/>
            <a:ext cx="4170316" cy="405499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internet é uma coleção mundial de LANs e WANs interconectadas. 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LANs estão conectadas entre si usando as WANs.</a:t>
            </a:r>
            <a:endParaRPr lang="pt-BR" sz="16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600"/>
              <a:t>As WANs podem usar fios de cobre, cabos de fibra ótica e transmissões sem fio.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A internet não é de propriedade de nenhum indivíduo ou grupo. Os seguintes grupos foram desenvolvidos para ajudar a manter a estrutura na internet:</a:t>
            </a:r>
            <a:endParaRPr lang="pt-BR" sz="1600"/>
          </a:p>
          <a:p>
            <a:pPr lvl="1" rtl="0"/>
            <a:r>
              <a:rPr lang="pt-BR" sz="1600"/>
              <a:t>IETF</a:t>
            </a:r>
            <a:endParaRPr lang="pt-BR" sz="1600"/>
          </a:p>
          <a:p>
            <a:pPr lvl="1" rtl="0"/>
            <a:r>
              <a:rPr lang="pt-BR" sz="1600"/>
              <a:t>ICANN</a:t>
            </a:r>
            <a:endParaRPr lang="pt-BR" sz="1600"/>
          </a:p>
          <a:p>
            <a:pPr lvl="1" rtl="0"/>
            <a:r>
              <a:rPr lang="pt-BR" sz="1600"/>
              <a:t>IAB</a:t>
            </a:r>
            <a:endParaRPr lang="pt-BR" sz="160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0643" y="798944"/>
            <a:ext cx="4963357" cy="323965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Tipos comuns de</a:t>
            </a:r>
            <a:br>
              <a:rPr lang="en-US" altLang="en-US" dirty="0"/>
            </a:br>
            <a:r>
              <a:rPr lang="pt-BR"/>
              <a:t>intranets e extranets</a:t>
            </a:r>
            <a:r>
              <a:rPr lang="pt-BR" sz="1600"/>
              <a:t>de redes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648200" y="1109134"/>
            <a:ext cx="4067783" cy="301929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Uma intranet é uma coleção particular de LANs e WANs internas a uma organização que deve ser acessível apenas aos membros da organização ou a outras pessoas com autorização.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Uma empresa pode usar uma Extranet para fornecer acesso seguro à sua rede aos indivíduos que trabalham em diferentes empresas, mas precisam acessar os dados em sua rede.</a:t>
            </a:r>
            <a:endParaRPr lang="pt-BR" sz="160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10" y="864987"/>
            <a:ext cx="3791190" cy="376371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1.5 Conexões à Internet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Tecnologias de acesso à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69846" y="500395"/>
            <a:ext cx="3822971" cy="4266338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Existem várias maneiras de conectar usuários e organizações à Internet:</a:t>
            </a:r>
            <a:endParaRPr lang="pt-BR" sz="1600"/>
          </a:p>
          <a:p>
            <a:pPr lvl="1" rtl="0"/>
            <a:r>
              <a:rPr lang="pt-BR" sz="1600"/>
              <a:t>Os serviços populares para usuários domésticos e pequenos escritórios incluem cabo de banda larga, linha de assinante digital banda larga (DSL), WANs sem fio e serviços móveis.</a:t>
            </a:r>
            <a:endParaRPr lang="pt-BR" sz="1600"/>
          </a:p>
          <a:p>
            <a:pPr lvl="1" rtl="0"/>
            <a:r>
              <a:rPr lang="pt-BR" sz="1600"/>
              <a:t>As empresas precisam de conexões mais rápidas para oferecer suporte a telefones IP, videoconferência e armazenamento de data center.</a:t>
            </a:r>
            <a:endParaRPr lang="pt-BR" sz="1600"/>
          </a:p>
          <a:p>
            <a:pPr lvl="1" rtl="0"/>
            <a:r>
              <a:rPr lang="pt-BR" sz="1600"/>
              <a:t>As interconexões de nível empresarial são geralmente fornecidas por provedores de serviços (SP) e podem incluir: DSL empresarial, linhas dedicadas e Metro Ethernet.</a:t>
            </a:r>
            <a:endParaRPr lang="pt-BR" sz="160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46" y="943684"/>
            <a:ext cx="5067300" cy="28670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>
          <a:xfrm>
            <a:off x="0" y="41275"/>
            <a:ext cx="9144000" cy="757238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Conexões à Internet para residências e pequenos escritórios</a:t>
            </a:r>
            <a:endParaRPr lang="pt-B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690378" y="798513"/>
          <a:ext cx="4277319" cy="380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04"/>
                <a:gridCol w="3117615"/>
              </a:tblGrid>
              <a:tr h="48070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Conexão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833779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Cabo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Internet de alta largura de banda, sempre ativada, oferecida por provedores de serviços de televisão a cabo.</a:t>
                      </a:r>
                      <a:endParaRPr lang="pt-BR"/>
                    </a:p>
                  </a:txBody>
                  <a:tcPr/>
                </a:tc>
              </a:tr>
              <a:tr h="64550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DSL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alta largura de banda, sempre ativada, conexão à Internet que passa por uma linha telefônica.</a:t>
                      </a:r>
                      <a:endParaRPr lang="pt-BR"/>
                    </a:p>
                  </a:txBody>
                  <a:tcPr/>
                </a:tc>
              </a:tr>
              <a:tr h="575189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Celular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usa uma rede de telefone celular para se conectar à internet.</a:t>
                      </a:r>
                      <a:endParaRPr lang="pt-BR"/>
                    </a:p>
                  </a:txBody>
                  <a:tcPr/>
                </a:tc>
              </a:tr>
              <a:tr h="535259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Satélite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maior benefício para áreas rurais sem provedores de serviços de Internet.</a:t>
                      </a:r>
                      <a:endParaRPr lang="pt-BR"/>
                    </a:p>
                  </a:txBody>
                  <a:tcPr/>
                </a:tc>
              </a:tr>
              <a:tr h="645506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Conexão discada (dial-up) 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uma opção barata e de baixa largura de banda usando um modem.</a:t>
                      </a:r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" y="798512"/>
            <a:ext cx="4684802" cy="30565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8962933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Conexões Corporativas com a Internet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804964"/>
            <a:ext cx="4162333" cy="1461943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As conexões de negócios corporativas podem exigir:</a:t>
            </a:r>
            <a:endParaRPr lang="pt-BR" sz="1600"/>
          </a:p>
          <a:p>
            <a:pPr lvl="1" rtl="0"/>
            <a:r>
              <a:rPr lang="pt-BR" sz="1600"/>
              <a:t>maior largura de banda </a:t>
            </a:r>
            <a:endParaRPr lang="pt-BR" sz="1600"/>
          </a:p>
          <a:p>
            <a:pPr lvl="1" rtl="0"/>
            <a:r>
              <a:rPr lang="pt-BR" sz="1600"/>
              <a:t>conexões dedicadas</a:t>
            </a:r>
            <a:endParaRPr lang="pt-BR" sz="1600"/>
          </a:p>
          <a:p>
            <a:pPr lvl="1" rtl="0"/>
            <a:r>
              <a:rPr lang="pt-BR" sz="1600"/>
              <a:t>serviços gerenciados  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781" y="2354926"/>
            <a:ext cx="3968101" cy="245775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90378" y="798514"/>
          <a:ext cx="4277319" cy="3809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04"/>
                <a:gridCol w="3117615"/>
              </a:tblGrid>
              <a:tr h="503117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Tipo de conexão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  <a:endParaRPr lang="pt-BR"/>
                    </a:p>
                  </a:txBody>
                  <a:tcPr/>
                </a:tc>
              </a:tr>
              <a:tr h="106730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Linha dedicada privada 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Esses são circuitos reservados na rede do provedor de serviços que conectam escritórios distantes com redes privadas de voz e / ou dados.</a:t>
                      </a:r>
                      <a:endParaRPr lang="pt-BR"/>
                    </a:p>
                  </a:txBody>
                  <a:tcPr/>
                </a:tc>
              </a:tr>
              <a:tr h="67560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Ethernet WAN 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estende a tecnologia de acesso à LAN na WAN.</a:t>
                      </a:r>
                      <a:endParaRPr lang="pt-BR"/>
                    </a:p>
                  </a:txBody>
                  <a:tcPr/>
                </a:tc>
              </a:tr>
              <a:tr h="87265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DSL 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O DSL comercial está disponível em vários formatos, incluindo SDSL (Symmetric Digital Subscriber Lines).</a:t>
                      </a:r>
                      <a:endParaRPr lang="pt-BR"/>
                    </a:p>
                  </a:txBody>
                  <a:tcPr/>
                </a:tc>
              </a:tr>
              <a:tr h="67560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Satélite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/>
                        <a:t>Isso pode fornecer uma conexão quando uma solução com fio não está disponível.</a:t>
                      </a:r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3871387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 Rede Convergente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1069128"/>
            <a:ext cx="3871387" cy="2619624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Antes das redes convergentes, uma organização teria sido conectada separadamente para telefone, vídeo e dados. Cada uma dessas redes usaria tecnologias diferentes para transmitir o sinal. 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Cada uma destas tecnologias utilizaria um conjunto diferente de regras e normas.</a:t>
            </a:r>
            <a:endParaRPr lang="pt-BR" sz="16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936" y="798944"/>
            <a:ext cx="4808118" cy="315999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858077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altLang="en-US" dirty="0"/>
            </a:br>
            <a:r>
              <a:rPr lang="pt-BR"/>
              <a:t>A Rede Convergente (Cont.)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23066" y="879499"/>
            <a:ext cx="3735870" cy="3082610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As redes de dados convergentes transportam vários serviços em um link, incluindo: 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dados 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Voz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Vídeo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As redes convergentes podem fornecer dados, voz e vídeo na mesma infraestrutura de rede. A infraestrutura de rede usa o mesmo conjunto de regras e normas.</a:t>
            </a:r>
            <a:endParaRPr lang="pt-BR" sz="1600"/>
          </a:p>
          <a:p>
            <a:pPr marL="0" indent="0">
              <a:buNone/>
            </a:pPr>
            <a:endParaRPr lang="en-CA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8936" y="876009"/>
            <a:ext cx="4977527" cy="3086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dirty="0"/>
            </a:br>
            <a:r>
              <a:rPr lang="pt-BR"/>
              <a:t>Vídeo - Baixe e instale o Packet Tracer</a:t>
            </a:r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389467" y="982133"/>
            <a:ext cx="8365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/>
              <a:t>Este vídeo irá demonstrar o processo de download e instalação do Packet Tracer.</a:t>
            </a:r>
            <a:endParaRPr lang="pt-BR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" y="159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dirty="0"/>
            </a:br>
            <a:r>
              <a:rPr lang="pt-BR"/>
              <a:t>Vídeo - Introdução ao Cisco Packet Tracer</a:t>
            </a:r>
            <a:endParaRPr lang="pt-BR"/>
          </a:p>
        </p:txBody>
      </p:sp>
      <p:sp>
        <p:nvSpPr>
          <p:cNvPr id="2" name="TextBox 1"/>
          <p:cNvSpPr txBox="1"/>
          <p:nvPr/>
        </p:nvSpPr>
        <p:spPr>
          <a:xfrm>
            <a:off x="228601" y="914400"/>
            <a:ext cx="7831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/>
              <a:t>Este vídeo aborda o seguinte:</a:t>
            </a:r>
            <a:endParaRPr lang="pt-BR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/>
              <a:t>Navegar na interface Packet Tracer</a:t>
            </a:r>
            <a:endParaRPr lang="pt-BR"/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/>
              <a:t>Personalizar a interface do Packet Tracer</a:t>
            </a:r>
            <a:endParaRPr lang="pt-BR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600"/>
              <a:t>Conexões à Internet</a:t>
            </a:r>
            <a:br>
              <a:rPr lang="en-US" dirty="0"/>
            </a:br>
            <a:r>
              <a:rPr lang="pt-BR"/>
              <a:t>Packet Tracer – Representação de rede</a:t>
            </a:r>
            <a:endParaRPr lang="pt-BR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3428499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Neste Packet Tracer, você fará o seguinte: </a:t>
            </a:r>
            <a:endParaRPr lang="pt-BR" sz="1600"/>
          </a:p>
          <a:p>
            <a:pPr lvl="1" rtl="0"/>
            <a:r>
              <a:rPr lang="pt-BR" sz="1600"/>
              <a:t>O modelo de rede nesta atividade incorpora muitas das tecnologias que você aprenderá em seus estudos para o CCNA. </a:t>
            </a:r>
            <a:endParaRPr lang="pt-BR" sz="1600"/>
          </a:p>
          <a:p>
            <a:pPr marL="0" indent="0">
              <a:buNone/>
            </a:pPr>
            <a:endParaRPr lang="en-US" sz="1600" dirty="0"/>
          </a:p>
          <a:p>
            <a:pPr marL="0" indent="0" rtl="0">
              <a:buNone/>
            </a:pPr>
            <a:r>
              <a:rPr lang="pt-BR" sz="1600"/>
              <a:t> </a:t>
            </a:r>
            <a:r>
              <a:rPr lang="pt-BR" sz="1600" b="1"/>
              <a:t>Observação</a:t>
            </a:r>
            <a:r>
              <a:rPr lang="pt-BR" sz="1600"/>
              <a:t>: não é importante que você entenda tudo o que você vê e faz nesta atividade. </a:t>
            </a:r>
            <a:endParaRPr lang="pt-BR" sz="160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1.6 Redes confiáveis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Arquitetura de rede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883285" y="414868"/>
            <a:ext cx="4192621" cy="4075490"/>
          </a:xfrm>
        </p:spPr>
        <p:txBody>
          <a:bodyPr/>
          <a:lstStyle/>
          <a:p>
            <a:endParaRPr lang="en-CA" altLang="en-US" dirty="0"/>
          </a:p>
          <a:p>
            <a:pPr marL="0" indent="0" rtl="0">
              <a:buNone/>
            </a:pPr>
            <a:r>
              <a:rPr lang="pt-BR" sz="1600"/>
              <a:t>A arquitetura de rede refere-se a tecnologias que apoiam a infraestrutura responsável por transferir os dados através da rede.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Há quatro características básicas que as arquiteturas subjacentes precisam abordar para atender às expectativas do usuário: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Tolerância a falhas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Escalabilidade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Qualidade de serviço (QoS)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Segurança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425" y="824344"/>
            <a:ext cx="3772426" cy="372479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8875300" cy="657417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Tolerância ao erro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02765" y="698810"/>
            <a:ext cx="4174502" cy="4013508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Uma rede tolerante a falhas limita o impacto de uma falha, ao limitar o número de dispositivos afetados. Vários caminhos são necessários para tolerância a falhas.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As redes confiáveis fornecem redundância implementando uma rede comutada por pacotes: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O switch de pacotes divide os dados do tráfego em pacotes que são roteados por uma rede. 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Cada pacote, teoricamente, pode levar um caminho até o destino diferente.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Isso não é possível com redes de switch de circuitos que estabelecem circuitos dedicados.</a:t>
            </a:r>
            <a:endParaRPr lang="pt-BR" sz="1600"/>
          </a:p>
          <a:p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8804" y="755961"/>
            <a:ext cx="4769261" cy="30794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Escalabilidade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432086" y="784034"/>
            <a:ext cx="3529770" cy="3384643"/>
          </a:xfrm>
        </p:spPr>
        <p:txBody>
          <a:bodyPr/>
          <a:lstStyle/>
          <a:p>
            <a:endParaRPr lang="en-CA" altLang="en-US" sz="1800" dirty="0"/>
          </a:p>
          <a:p>
            <a:pPr marL="0" indent="0" rtl="0">
              <a:buNone/>
            </a:pPr>
            <a:r>
              <a:rPr lang="pt-BR" sz="1800"/>
              <a:t>Uma rede escalável pode se expandir de modo rápido e fácil para comportar novos usuários e aplicações, sem causar impacto no desempenho dos serviços fornecidos aos usuários atuais.</a:t>
            </a:r>
            <a:endParaRPr lang="pt-BR" sz="1800"/>
          </a:p>
          <a:p>
            <a:pPr marL="0" indent="0" rtl="0">
              <a:buNone/>
            </a:pPr>
            <a:r>
              <a:rPr lang="pt-BR" sz="1800"/>
              <a:t>Os designers de rede seguem normas e protocolos aceitos para tornar as redes escaláveis.</a:t>
            </a:r>
            <a:endParaRPr lang="pt-BR" sz="1800"/>
          </a:p>
          <a:p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0" y="984157"/>
            <a:ext cx="5234470" cy="363979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056451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Qualidade de serviço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798944"/>
            <a:ext cx="3809042" cy="414712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As transmissões de vídeo ao vivo e de voz requerem expectativas mais altas para esses serviços sendo entregues. </a:t>
            </a:r>
            <a:endParaRPr lang="pt-BR"/>
          </a:p>
          <a:p>
            <a:pPr marL="0" indent="0" rtl="0">
              <a:buNone/>
            </a:pPr>
            <a:r>
              <a:rPr lang="pt-BR"/>
              <a:t>Você já assistiu a um vídeo ao vivo com intervalos e pausas constantes? Isso acontece quando há uma maior demanda por largura de banda que a disponível – e o QoS não está configurado.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Qualidade de serviço (QoS, Quality of Service) é o mecanismo principal usado para assegurar a entrega confiável do conteúdo para todos os usuários. </a:t>
            </a:r>
            <a:endParaRPr lang="pt-BR"/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Com uma política de QoS em vigor, o roteador pode gerenciar mais facilmente o fluxo de dados e o tráfego de voz.</a:t>
            </a:r>
            <a:endParaRPr lang="pt-BR"/>
          </a:p>
          <a:p>
            <a:pPr>
              <a:buFont typeface="Wingdings" panose="05000000000000000000" pitchFamily="2" charset="2"/>
              <a:buChar char="Ø"/>
            </a:pPr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6591" y="798944"/>
            <a:ext cx="5106266" cy="39093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234470" cy="757551"/>
          </a:xfrm>
        </p:spPr>
        <p:txBody>
          <a:bodyPr/>
          <a:lstStyle/>
          <a:p>
            <a:pPr rtl="0"/>
            <a:r>
              <a:rPr lang="pt-BR" sz="1600"/>
              <a:t>Rede confiável</a:t>
            </a:r>
            <a:br>
              <a:rPr lang="en-US" altLang="en-US" dirty="0"/>
            </a:br>
            <a:r>
              <a:rPr lang="pt-BR"/>
              <a:t>Segurança de rede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164667" y="132511"/>
            <a:ext cx="3687122" cy="4595354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Existem dois tipos principais de segurança da rede que devem ser abordados:  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500"/>
              <a:t>Segurança de infraestrutura de rede</a:t>
            </a:r>
            <a:endParaRPr lang="pt-BR" sz="15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400"/>
              <a:t>Segurança física dos dispositivos de rede</a:t>
            </a:r>
            <a:endParaRPr lang="pt-BR" sz="14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400"/>
              <a:t>Impedindo o acesso não autorizado aos dispositivos</a:t>
            </a:r>
            <a:endParaRPr lang="pt-BR" sz="14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500"/>
              <a:t>Segurança da Informação.</a:t>
            </a:r>
            <a:endParaRPr lang="pt-BR" sz="15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400"/>
              <a:t>Proteção de informações ou dados transmitidos pela rede</a:t>
            </a:r>
            <a:endParaRPr lang="pt-BR" sz="1400"/>
          </a:p>
          <a:p>
            <a:pPr marL="0" indent="0" rtl="0">
              <a:buNone/>
            </a:pPr>
            <a:r>
              <a:rPr lang="pt-BR"/>
              <a:t>Três metas de segurança da rede:</a:t>
            </a:r>
            <a:endParaRPr lang="pt-BR"/>
          </a:p>
          <a:p>
            <a:pPr lvl="1" rtl="0"/>
            <a:r>
              <a:rPr lang="pt-BR"/>
              <a:t>Confidencialidade – somente os destinatários desejados podem ler os dados</a:t>
            </a:r>
            <a:endParaRPr lang="pt-BR"/>
          </a:p>
          <a:p>
            <a:pPr lvl="1" rtl="0"/>
            <a:r>
              <a:rPr lang="pt-BR"/>
              <a:t>Integridade – garantia de que os dados não foram alterados durante a transmissão</a:t>
            </a:r>
            <a:endParaRPr lang="pt-BR"/>
          </a:p>
          <a:p>
            <a:pPr lvl="1" rtl="0"/>
            <a:r>
              <a:rPr lang="pt-BR"/>
              <a:t>Disponibilidade – garantia de que os usuários autorizados terão acesso pontual e confiável aos dados</a:t>
            </a:r>
            <a:endParaRPr lang="pt-BR"/>
          </a:p>
          <a:p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988631"/>
            <a:ext cx="4975518" cy="364466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1.7 Tendências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recentes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2019" y="555812"/>
            <a:ext cx="3529770" cy="3810000"/>
          </a:xfrm>
        </p:spPr>
        <p:txBody>
          <a:bodyPr/>
          <a:lstStyle/>
          <a:p>
            <a:endParaRPr lang="en-CA" altLang="en-US" dirty="0"/>
          </a:p>
          <a:p>
            <a:pPr marL="0" indent="0" rtl="0">
              <a:buNone/>
            </a:pPr>
            <a:r>
              <a:rPr lang="pt-BR"/>
              <a:t>A função da rede deve ser ajustada e transformada continuamente para acompanhar as novas tecnologias e dispositivos de usuário final à medida que eles entram no mercado de forma constante. </a:t>
            </a:r>
            <a:endParaRPr lang="pt-BR"/>
          </a:p>
          <a:p>
            <a:pPr marL="0" indent="0" rtl="0">
              <a:buNone/>
            </a:pPr>
            <a:r>
              <a:rPr lang="pt-BR"/>
              <a:t>Várias novas tendências de rede que afetam as empresas e os consumidores: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BYOD (Bring Your Own Device)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Colaboração on-line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Comunicação por vídeo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Computação em nuvem</a:t>
            </a:r>
            <a:endParaRPr lang="pt-BR"/>
          </a:p>
          <a:p>
            <a:endParaRPr lang="en-CA" altLang="en-US" dirty="0"/>
          </a:p>
          <a:p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798944"/>
            <a:ext cx="5172075" cy="37242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23447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Traga seu próprio aparelho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22019" y="274320"/>
            <a:ext cx="3529770" cy="431560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Traga seu próprio dispositivo (BYOD) permite que os usuários usem seus próprios dispositivos, dando-lhes mais oportunidades e maior flexibilidade. </a:t>
            </a:r>
            <a:endParaRPr lang="pt-BR"/>
          </a:p>
          <a:p>
            <a:pPr marL="0" indent="0" rtl="0">
              <a:buNone/>
            </a:pPr>
            <a:r>
              <a:rPr lang="pt-BR"/>
              <a:t>O BYOD permite que os usuários finais tenham liberdade para usar ferramentas pessoais, acessar informações e se comunicar usando seus:</a:t>
            </a:r>
            <a:endParaRPr lang="pt-BR"/>
          </a:p>
          <a:p>
            <a:pPr lvl="1" rtl="0"/>
            <a:r>
              <a:rPr lang="pt-BR"/>
              <a:t>Notebooks</a:t>
            </a:r>
            <a:endParaRPr lang="pt-BR"/>
          </a:p>
          <a:p>
            <a:pPr lvl="1" rtl="0"/>
            <a:r>
              <a:rPr lang="pt-BR"/>
              <a:t>Netbooks</a:t>
            </a:r>
            <a:endParaRPr lang="pt-BR"/>
          </a:p>
          <a:p>
            <a:pPr lvl="1" rtl="0"/>
            <a:r>
              <a:rPr lang="pt-BR"/>
              <a:t>Tablets</a:t>
            </a:r>
            <a:endParaRPr lang="pt-BR"/>
          </a:p>
          <a:p>
            <a:pPr lvl="1" rtl="0"/>
            <a:r>
              <a:rPr lang="pt-BR"/>
              <a:t>Smartphones</a:t>
            </a:r>
            <a:endParaRPr lang="pt-BR"/>
          </a:p>
          <a:p>
            <a:pPr lvl="1" rtl="0"/>
            <a:r>
              <a:rPr lang="pt-BR"/>
              <a:t>E-readers</a:t>
            </a:r>
            <a:endParaRPr lang="pt-BR"/>
          </a:p>
          <a:p>
            <a:pPr marL="0" indent="0" rtl="0">
              <a:buNone/>
            </a:pPr>
            <a:r>
              <a:rPr lang="pt-BR"/>
              <a:t>BYOD significa o uso de qualquer dispositivo, de qualquer propriedade e em qualquer lugar.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94" y="894229"/>
            <a:ext cx="5114925" cy="36957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617313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Colaboração Online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357877" y="684643"/>
            <a:ext cx="3529770" cy="3754495"/>
          </a:xfrm>
        </p:spPr>
        <p:txBody>
          <a:bodyPr/>
          <a:lstStyle/>
          <a:p>
            <a:pPr rtl="0"/>
            <a:r>
              <a:rPr lang="pt-BR"/>
              <a:t>Colabore e trabalhe com outras pessoas na rede em projetos conjuntos.</a:t>
            </a:r>
            <a:endParaRPr lang="pt-BR"/>
          </a:p>
          <a:p>
            <a:pPr rtl="0"/>
            <a:r>
              <a:rPr lang="pt-BR"/>
              <a:t>As ferramentas de colaboração, incluindo o Cisco WebEx (mostrado na figura), oferecem aos usuários uma maneira de conectar e interagir instantaneamente.</a:t>
            </a:r>
            <a:endParaRPr lang="pt-BR"/>
          </a:p>
          <a:p>
            <a:pPr rtl="0"/>
            <a:r>
              <a:rPr lang="pt-BR"/>
              <a:t>A colaboração é uma prioridade muito alta para no mundo corporativo e acadêmico.</a:t>
            </a:r>
            <a:endParaRPr lang="pt-BR"/>
          </a:p>
          <a:p>
            <a:pPr rtl="0"/>
            <a:r>
              <a:rPr lang="pt-BR"/>
              <a:t>Cisco Webex Teams é uma ferramenta de colaboração multifuncional.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envie mensagens instantâneas 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postar imagens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postar vídeos e links</a:t>
            </a:r>
            <a:endParaRPr lang="pt-BR"/>
          </a:p>
          <a:p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622" y="1202201"/>
            <a:ext cx="4835762" cy="271937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056451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Comunicação por vídeo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13268" y="802758"/>
            <a:ext cx="7929584" cy="2482309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Chamadas de vídeo são feitas para qualquer pessoa, independentemente de onde eles estão localizados.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A videoconferência é uma ferramenta poderosa para se comunicar com outras pessoas.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O vídeo está se tornando um requisito crítico para uma colaboração eficaz.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Cisco TelePresence poderes é uma maneira de trabalhar onde todos, em todos os lugares</a:t>
            </a:r>
            <a:r>
              <a:rPr lang="pt-BR"/>
              <a:t>. </a:t>
            </a:r>
            <a:r>
              <a:rPr lang="pt-BR" sz="1800"/>
              <a:t> </a:t>
            </a:r>
            <a:endParaRPr lang="pt-BR" sz="1800"/>
          </a:p>
          <a:p>
            <a:pPr marL="0" indent="0">
              <a:buNone/>
            </a:pPr>
            <a:endParaRPr lang="en-CA" altLang="en-US" dirty="0"/>
          </a:p>
        </p:txBody>
      </p:sp>
    </p:spTree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056451" cy="757551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Vídeo de Tendências de Rede — Cisco WebEx para Huddles</a:t>
            </a:r>
            <a:endParaRPr lang="pt-BR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0079" y="798944"/>
            <a:ext cx="6811390" cy="38650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082966" cy="990238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1031631"/>
            <a:ext cx="8861997" cy="322432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A computação em nuvem nos permite armazenar arquivos pessoais ou fazer backup de nossos dados em servidores pela Internet. </a:t>
            </a:r>
            <a:endParaRPr lang="pt-BR"/>
          </a:p>
          <a:p>
            <a:pPr lvl="1" rtl="0"/>
            <a:r>
              <a:rPr lang="pt-BR"/>
              <a:t>Os aplicativos também podem ser acessados usando a Nuvem.</a:t>
            </a:r>
            <a:endParaRPr lang="pt-BR"/>
          </a:p>
          <a:p>
            <a:pPr lvl="1" rtl="0"/>
            <a:r>
              <a:rPr lang="pt-BR"/>
              <a:t>Permite que as empresas entregem a qualquer dispositivo em qualquer lugar do mundo.</a:t>
            </a:r>
            <a:endParaRPr lang="pt-BR"/>
          </a:p>
          <a:p>
            <a:pPr marL="0" indent="0">
              <a:buNone/>
            </a:pPr>
            <a:endParaRPr lang="en-CA" altLang="en-US" dirty="0"/>
          </a:p>
          <a:p>
            <a:pPr marL="0" indent="0" rtl="0">
              <a:buNone/>
            </a:pPr>
            <a:r>
              <a:rPr lang="pt-BR"/>
              <a:t>A computação em nuvem é possível devido aos data centers. </a:t>
            </a:r>
            <a:endParaRPr lang="pt-BR"/>
          </a:p>
          <a:p>
            <a:pPr lvl="1" rtl="0"/>
            <a:r>
              <a:rPr lang="pt-BR"/>
              <a:t>Empresas menores que não podem arcar com seus próprios data centers, alugar serviços de armazenamento e servidor de maiores empresas de data center na nuvem.</a:t>
            </a:r>
            <a:endParaRPr lang="pt-BR"/>
          </a:p>
          <a:p>
            <a:pPr marL="0" indent="0">
              <a:buNone/>
            </a:pPr>
            <a:endParaRPr lang="en-CA" altLang="en-US" dirty="0"/>
          </a:p>
        </p:txBody>
      </p:sp>
    </p:spTree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753023" cy="1032033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Computação em nuvem (Cont.)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52400" y="1073425"/>
            <a:ext cx="8850813" cy="361633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Quatro tipos de nuvens:</a:t>
            </a:r>
            <a:endParaRPr lang="pt-BR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Nuvens Públicas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Disponível para o público em geral através de um modelo de pagamento por uso ou gratuitamente.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Nuvens Particulares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Destinado a uma organização ou entidade específica, como o governo.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Nuvens Híbridas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Com dois ou mais tipos de nuvem – por exemplo, parte personalizada e parte pública. 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Cada parte permanece um objeto distintivo, mas as duas estão conectadas usando a mesma arquitetura.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Nuvens personalizadas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Criado para atender às necessidades de um setor específico, como assistência médica ou mídia. </a:t>
            </a:r>
            <a:endParaRPr lang="pt-BR" sz="1600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 sz="1600"/>
              <a:t>Pode ser privado ou público.</a:t>
            </a:r>
            <a:endParaRPr lang="pt-BR" sz="1600"/>
          </a:p>
          <a:p>
            <a:pPr marL="261620" lvl="2" indent="0">
              <a:buNone/>
            </a:pP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Tendências tecnológicas em casa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986866" y="798944"/>
            <a:ext cx="3720351" cy="3240267"/>
          </a:xfrm>
        </p:spPr>
        <p:txBody>
          <a:bodyPr/>
          <a:lstStyle/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A tecnologia residencial inteligente é uma tendência crescente que permite a integração dela em dispositivos de uso diário e, assim, a interconexão com outros dispositivos.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Os fornos podem saber a que horas deve ser preparada uma refeição para você ao comunicarem-se com a sua agenda sobre a hora agendada para você voltar para casa.</a:t>
            </a:r>
            <a:endParaRPr lang="pt-BR" sz="1600"/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 sz="1600"/>
              <a:t>Atualmente, a tecnologia de casa inteligente está sendo desenvolvida para todos os cômodos de uma casa.</a:t>
            </a:r>
            <a:endParaRPr lang="pt-BR" sz="160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798945"/>
            <a:ext cx="4796178" cy="385209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9144000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Rede Powerline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442012" y="130779"/>
            <a:ext cx="3307538" cy="3524481"/>
          </a:xfrm>
        </p:spPr>
        <p:txBody>
          <a:bodyPr/>
          <a:lstStyle/>
          <a:p>
            <a:pPr lvl="1" rtl="0"/>
            <a:r>
              <a:rPr lang="pt-BR" sz="1600"/>
              <a:t>A rede Powerline pode permitir que os dispositivos se conectem a uma LAN, onde os cabos de rede de dados ou comunicações sem fio não são uma opção viável.</a:t>
            </a:r>
            <a:endParaRPr lang="pt-BR" sz="1600"/>
          </a:p>
          <a:p>
            <a:pPr lvl="1" rtl="0"/>
            <a:r>
              <a:rPr lang="pt-BR" sz="1600"/>
              <a:t>Usando um adaptador padrão powerline, os dispositivos podem se conectar à LAN onde quer que haja uma tomada elétrica ao enviar dados em determinadas frequências.</a:t>
            </a:r>
            <a:endParaRPr lang="pt-BR" sz="1600"/>
          </a:p>
          <a:p>
            <a:pPr lvl="1" rtl="0"/>
            <a:r>
              <a:rPr lang="pt-BR" sz="1600"/>
              <a:t>A rede Powerline é especialmente útil quando os pontos de acesso sem fio não conseguem alcançar todos os dispositivos em casa.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798944"/>
            <a:ext cx="5354463" cy="28447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875536" cy="757551"/>
          </a:xfrm>
        </p:spPr>
        <p:txBody>
          <a:bodyPr/>
          <a:lstStyle/>
          <a:p>
            <a:pPr rtl="0"/>
            <a:r>
              <a:rPr lang="pt-BR" sz="1600"/>
              <a:t>Tendências de rede</a:t>
            </a:r>
            <a:br>
              <a:rPr lang="en-US" altLang="en-US" dirty="0"/>
            </a:br>
            <a:r>
              <a:rPr lang="pt-BR"/>
              <a:t>Banda larga sem fio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27352" y="798944"/>
            <a:ext cx="3673429" cy="3528980"/>
          </a:xfrm>
        </p:spPr>
        <p:txBody>
          <a:bodyPr/>
          <a:lstStyle/>
          <a:p>
            <a:pPr marL="142875" lvl="1" indent="0" rtl="0">
              <a:buNone/>
            </a:pPr>
            <a:r>
              <a:rPr lang="pt-BR"/>
              <a:t>Além do DSL e do cabo, a conexão sem fio é outra opção usada para conectar residências e pequenas empresas à Internet. 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Mais comumente encontrado em ambientes rurais, um ISP sem fio (WISP) é um ISP que conecta os assinantes a designados access points ou hotspots. 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A banda larga sem fio é outra solução para residências e pequenas empresas.</a:t>
            </a:r>
            <a:endParaRPr lang="pt-BR"/>
          </a:p>
          <a:p>
            <a:pPr lvl="3" rtl="0">
              <a:buFont typeface="Arial" panose="020B0604020202020204" pitchFamily="34" charset="0"/>
              <a:buChar char="•"/>
            </a:pPr>
            <a:r>
              <a:rPr lang="pt-BR"/>
              <a:t>Usa a mesma tecnologia de celular de um Smartphone.</a:t>
            </a:r>
            <a:endParaRPr lang="pt-BR"/>
          </a:p>
          <a:p>
            <a:pPr lvl="3" rtl="0">
              <a:buFont typeface="Arial" panose="020B0604020202020204" pitchFamily="34" charset="0"/>
              <a:buChar char="•"/>
            </a:pPr>
            <a:r>
              <a:rPr lang="pt-BR"/>
              <a:t>Uma antena é instalada fora da residência, fornecendo conectividade com ou sem fio para dispositivos na casa.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85" y="798944"/>
            <a:ext cx="4762500" cy="35623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1.8 Segurança de rede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123043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86792" y="361277"/>
            <a:ext cx="3673429" cy="3811173"/>
          </a:xfrm>
        </p:spPr>
        <p:txBody>
          <a:bodyPr/>
          <a:lstStyle/>
          <a:p>
            <a:pPr lvl="1" rtl="0"/>
            <a:r>
              <a:rPr lang="pt-BR" sz="1600"/>
              <a:t>A segurança de rede é parte integrante da rede, independentemente do tamanho dela.</a:t>
            </a:r>
            <a:endParaRPr lang="pt-BR" sz="1600"/>
          </a:p>
          <a:p>
            <a:pPr lvl="1" rtl="0"/>
            <a:r>
              <a:rPr lang="pt-BR" sz="1600"/>
              <a:t>A segurança da rede implementada deve levar em consideração o ambiente ao proteger os dados, mas ainda permitir a qualidade de serviço esperada da rede.</a:t>
            </a:r>
            <a:endParaRPr lang="pt-BR" sz="1600"/>
          </a:p>
          <a:p>
            <a:pPr lvl="1" rtl="0"/>
            <a:r>
              <a:rPr lang="pt-BR" sz="1600"/>
              <a:t>Proteger uma rede envolve muitos protocolos, tecnologias, dispositivos, ferramentas e técnicas para proteger dados e reduzir ameaças.</a:t>
            </a:r>
            <a:endParaRPr lang="pt-BR" sz="1600"/>
          </a:p>
          <a:p>
            <a:pPr lvl="1" rtl="0"/>
            <a:r>
              <a:rPr lang="pt-BR" sz="1600"/>
              <a:t>Vetores de ameaça podem ser internos ou externos.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163" y="1322721"/>
            <a:ext cx="4864429" cy="298220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123043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Ameaças à segurança (Cont.)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0592" y="277856"/>
            <a:ext cx="3673429" cy="4344944"/>
          </a:xfrm>
        </p:spPr>
        <p:txBody>
          <a:bodyPr/>
          <a:lstStyle/>
          <a:p>
            <a:pPr marL="142875" lvl="1" indent="0" rtl="0">
              <a:buNone/>
            </a:pPr>
            <a:r>
              <a:rPr lang="pt-BR" sz="1600"/>
              <a:t>Ameaças externas:</a:t>
            </a:r>
            <a:endParaRPr lang="pt-BR" sz="1600"/>
          </a:p>
          <a:p>
            <a:pPr lvl="2" rtl="0"/>
            <a:r>
              <a:rPr lang="pt-BR" sz="1600"/>
              <a:t>Vírus, worms e cavalos de Troia</a:t>
            </a:r>
            <a:endParaRPr lang="pt-BR" sz="1600"/>
          </a:p>
          <a:p>
            <a:pPr lvl="2" rtl="0"/>
            <a:r>
              <a:rPr lang="pt-BR" sz="1600"/>
              <a:t>Spyware e adware</a:t>
            </a:r>
            <a:endParaRPr lang="pt-BR" sz="1600"/>
          </a:p>
          <a:p>
            <a:pPr lvl="2" rtl="0"/>
            <a:r>
              <a:rPr lang="pt-BR" sz="1600"/>
              <a:t>Ataques de dia zero</a:t>
            </a:r>
            <a:endParaRPr lang="pt-BR" sz="1600"/>
          </a:p>
          <a:p>
            <a:pPr lvl="2" rtl="0"/>
            <a:r>
              <a:rPr lang="pt-BR" sz="1600"/>
              <a:t>Ataques de Ator Ameaça</a:t>
            </a:r>
            <a:endParaRPr lang="pt-BR" sz="1600"/>
          </a:p>
          <a:p>
            <a:pPr lvl="2" rtl="0"/>
            <a:r>
              <a:rPr lang="pt-BR" sz="1600"/>
              <a:t>Ataques de negação de serviço</a:t>
            </a:r>
            <a:endParaRPr lang="pt-BR" sz="1600"/>
          </a:p>
          <a:p>
            <a:pPr lvl="2" rtl="0"/>
            <a:r>
              <a:rPr lang="pt-BR" sz="1600"/>
              <a:t>Interceptação e roubo de dados</a:t>
            </a:r>
            <a:endParaRPr lang="pt-BR" sz="1600"/>
          </a:p>
          <a:p>
            <a:pPr lvl="2" rtl="0"/>
            <a:r>
              <a:rPr lang="pt-BR" sz="1600"/>
              <a:t>Roubo de identidade</a:t>
            </a:r>
            <a:endParaRPr lang="pt-BR" sz="1600"/>
          </a:p>
          <a:p>
            <a:pPr lvl="1"/>
            <a:endParaRPr lang="en-CA" altLang="en-US" sz="1600" dirty="0"/>
          </a:p>
          <a:p>
            <a:pPr marL="142875" lvl="1" indent="0" rtl="0">
              <a:buNone/>
            </a:pPr>
            <a:r>
              <a:rPr lang="pt-BR" sz="1600"/>
              <a:t>Ameaças internas:</a:t>
            </a:r>
            <a:endParaRPr lang="pt-BR" sz="1600"/>
          </a:p>
          <a:p>
            <a:pPr lvl="2" rtl="0"/>
            <a:r>
              <a:rPr lang="pt-BR" sz="1600"/>
              <a:t>dispositivos perdidos ou roubados</a:t>
            </a:r>
            <a:endParaRPr lang="pt-BR" sz="1600"/>
          </a:p>
          <a:p>
            <a:pPr lvl="2" rtl="0"/>
            <a:r>
              <a:rPr lang="pt-BR" sz="1600"/>
              <a:t>uso indevido acidental por funcionários</a:t>
            </a:r>
            <a:endParaRPr lang="pt-BR" sz="1600"/>
          </a:p>
          <a:p>
            <a:pPr lvl="2" rtl="0"/>
            <a:r>
              <a:rPr lang="pt-BR" sz="1600"/>
              <a:t>funcionários maliciosos</a:t>
            </a:r>
            <a:endParaRPr lang="pt-BR" sz="16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163" y="1322721"/>
            <a:ext cx="4864429" cy="298220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261426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0" y="917690"/>
            <a:ext cx="4410247" cy="3114446"/>
          </a:xfrm>
        </p:spPr>
        <p:txBody>
          <a:bodyPr/>
          <a:lstStyle/>
          <a:p>
            <a:pPr marL="0" indent="0" rtl="0">
              <a:buNone/>
            </a:pPr>
            <a:r>
              <a:rPr lang="pt-BR" sz="1600"/>
              <a:t>A segurança deve ser implementada em várias camadas, com uso de mais de uma solução.</a:t>
            </a:r>
            <a:endParaRPr lang="pt-BR" sz="1600"/>
          </a:p>
          <a:p>
            <a:pPr marL="0" indent="0" rtl="0">
              <a:buNone/>
            </a:pPr>
            <a:r>
              <a:rPr lang="pt-BR" sz="1600"/>
              <a:t>Componentes de segurança da rede doméstica ou da pequena empresa:</a:t>
            </a:r>
            <a:endParaRPr lang="pt-BR" sz="1600"/>
          </a:p>
          <a:p>
            <a:pPr lvl="2" rtl="0"/>
            <a:r>
              <a:rPr lang="pt-BR" sz="1600"/>
              <a:t>O software antivírus e antispyware deve ser instalado nos dispositivos finais.</a:t>
            </a:r>
            <a:endParaRPr lang="pt-BR" sz="1600"/>
          </a:p>
          <a:p>
            <a:pPr lvl="2" rtl="0"/>
            <a:r>
              <a:rPr lang="pt-BR" sz="1600"/>
              <a:t>Filtragem de firewall usada para bloquear o acesso não autorizado à rede.</a:t>
            </a:r>
            <a:endParaRPr lang="pt-BR" sz="1600"/>
          </a:p>
          <a:p>
            <a:pPr marL="142875" lvl="1" indent="0">
              <a:buNone/>
            </a:pPr>
            <a:endParaRPr lang="en-CA" altLang="en-US" sz="1600" dirty="0"/>
          </a:p>
          <a:p>
            <a:pPr marL="261620" lvl="2" indent="0">
              <a:buNone/>
            </a:pPr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8" y="880746"/>
            <a:ext cx="4261427" cy="351468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3641769" cy="757551"/>
          </a:xfrm>
        </p:spPr>
        <p:txBody>
          <a:bodyPr/>
          <a:lstStyle/>
          <a:p>
            <a:pPr rtl="0"/>
            <a:r>
              <a:rPr lang="pt-BR" sz="1600"/>
              <a:t>Segurança de rede</a:t>
            </a:r>
            <a:br>
              <a:rPr lang="en-US" altLang="en-US" dirty="0"/>
            </a:br>
            <a:r>
              <a:rPr lang="pt-BR"/>
              <a:t>Soluções de Segurança (Cont.)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311537" y="1032933"/>
            <a:ext cx="4744914" cy="3166997"/>
          </a:xfrm>
        </p:spPr>
        <p:txBody>
          <a:bodyPr/>
          <a:lstStyle/>
          <a:p>
            <a:pPr marL="142875" lvl="1" indent="0" rtl="0">
              <a:buNone/>
            </a:pPr>
            <a:r>
              <a:rPr lang="pt-BR" sz="1600"/>
              <a:t>As redes maiores têm requisitos de segurança adicionais:</a:t>
            </a:r>
            <a:endParaRPr lang="pt-BR" sz="1600"/>
          </a:p>
          <a:p>
            <a:pPr lvl="2" rtl="0"/>
            <a:r>
              <a:rPr lang="pt-BR" sz="1600"/>
              <a:t>Sistema de firewall dedicado</a:t>
            </a:r>
            <a:endParaRPr lang="pt-BR" sz="1600"/>
          </a:p>
          <a:p>
            <a:pPr lvl="2" rtl="0"/>
            <a:r>
              <a:rPr lang="pt-BR" sz="1600"/>
              <a:t>ACLs (Access control lists, listas de controle de acesso) </a:t>
            </a:r>
            <a:endParaRPr lang="pt-BR" sz="1600"/>
          </a:p>
          <a:p>
            <a:pPr lvl="2" rtl="0"/>
            <a:r>
              <a:rPr lang="pt-BR" sz="1600"/>
              <a:t>IPS (Intrusion prevention systems, sistemas de prevenção de intrusão)</a:t>
            </a:r>
            <a:endParaRPr lang="pt-BR" sz="1600"/>
          </a:p>
          <a:p>
            <a:pPr lvl="2" rtl="0"/>
            <a:r>
              <a:rPr lang="pt-BR" sz="1600"/>
              <a:t>Redes privadas virtuais (VPN)</a:t>
            </a:r>
            <a:endParaRPr lang="pt-BR" sz="1600"/>
          </a:p>
          <a:p>
            <a:pPr marL="142875" lvl="1" indent="0" rtl="0">
              <a:buNone/>
            </a:pPr>
            <a:r>
              <a:rPr lang="pt-BR" sz="1600"/>
              <a:t>O estudo da segurança de rede começa com um entendimento claro da infra-estrutura de comutação e roteamento subjacente.</a:t>
            </a:r>
            <a:endParaRPr lang="pt-BR" sz="1600"/>
          </a:p>
          <a:p>
            <a:pPr marL="261620" lvl="2" indent="0">
              <a:buNone/>
            </a:pPr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943570"/>
            <a:ext cx="4223989" cy="348380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pPr rtl="0"/>
            <a:r>
              <a:rPr lang="pt-BR" sz="4000">
                <a:solidFill>
                  <a:schemeClr val="accent5">
                    <a:lumMod val="40000"/>
                    <a:lumOff val="60000"/>
                  </a:schemeClr>
                </a:solidFill>
              </a:rPr>
              <a:t>1.9 O profissional de TI</a:t>
            </a:r>
            <a:endParaRPr lang="pt-BR" sz="400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5371956" cy="965772"/>
          </a:xfrm>
        </p:spPr>
        <p:txBody>
          <a:bodyPr/>
          <a:lstStyle/>
          <a:p>
            <a:pPr rtl="0"/>
            <a:r>
              <a:rPr lang="pt-BR" sz="1600"/>
              <a:t>A </a:t>
            </a:r>
            <a:br>
              <a:rPr lang="en-US" altLang="en-US" dirty="0"/>
            </a:br>
            <a:r>
              <a:rPr lang="pt-BR"/>
              <a:t>CCNA</a:t>
            </a:r>
            <a:r>
              <a:rPr lang="pt-BR" sz="1600"/>
              <a:t>profissional de TI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459505" y="366990"/>
            <a:ext cx="3684495" cy="4272700"/>
          </a:xfrm>
        </p:spPr>
        <p:txBody>
          <a:bodyPr/>
          <a:lstStyle/>
          <a:p>
            <a:pPr marL="142875" lvl="1" indent="0" rtl="0">
              <a:buNone/>
            </a:pPr>
            <a:r>
              <a:rPr lang="pt-BR"/>
              <a:t>A certificação Cisco Certified Network Associate (CCNA): 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demonstra que você tem um conhecimento de tecnologias fundamentais 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garante que você permaneça relevante com as habilidades necessárias para a adoção de tecnologias de próxima geração.</a:t>
            </a:r>
            <a:endParaRPr lang="pt-BR"/>
          </a:p>
          <a:p>
            <a:pPr marL="142875" lvl="1" indent="0" rtl="0">
              <a:buNone/>
            </a:pPr>
            <a:r>
              <a:rPr lang="pt-BR"/>
              <a:t>O novo foco da CCNA: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Tópicos de base e segurança de IP</a:t>
            </a:r>
            <a:endParaRPr lang="pt-BR"/>
          </a:p>
          <a:p>
            <a:pPr lvl="2" rtl="0">
              <a:buFont typeface="Arial" panose="020B0604020202020204" pitchFamily="34" charset="0"/>
              <a:buChar char="•"/>
            </a:pPr>
            <a:r>
              <a:rPr lang="pt-BR"/>
              <a:t>Wireless, virtualização, automação e programação de rede. </a:t>
            </a:r>
            <a:endParaRPr lang="pt-BR"/>
          </a:p>
          <a:p>
            <a:pPr marL="142875" lvl="1" indent="0" rtl="0">
              <a:buNone/>
            </a:pPr>
            <a:r>
              <a:rPr lang="pt-BR"/>
              <a:t>Novas certificações DevNet nos níveis de associado, especialista e profissional para validar as habilidades de desenvolvimento de software.</a:t>
            </a:r>
            <a:endParaRPr lang="pt-BR"/>
          </a:p>
          <a:p>
            <a:pPr marL="142875" lvl="1" indent="0" rtl="0">
              <a:buNone/>
            </a:pPr>
            <a:r>
              <a:rPr lang="pt-BR"/>
              <a:t>A certificação especializada valida suas habilidades de acordo com seu papel e interesses profissionais.</a:t>
            </a:r>
            <a:endParaRPr lang="pt-BR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9" y="1277993"/>
            <a:ext cx="5371956" cy="245069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556169" cy="926016"/>
          </a:xfrm>
        </p:spPr>
        <p:txBody>
          <a:bodyPr/>
          <a:lstStyle/>
          <a:p>
            <a:pPr rtl="0"/>
            <a:r>
              <a:rPr lang="pt-BR" sz="1600"/>
              <a:t>Os</a:t>
            </a:r>
            <a:r>
              <a:rPr lang="pt-BR"/>
              <a:t>trabalhos derede profissionais de</a:t>
            </a:r>
            <a:r>
              <a:rPr lang="pt-BR" sz="1600"/>
              <a:t>TI</a:t>
            </a:r>
            <a:endParaRPr lang="pt-BR" sz="160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773596" y="1238214"/>
            <a:ext cx="4043083" cy="2626311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Em </a:t>
            </a:r>
            <a:r>
              <a:rPr lang="pt-BR">
                <a:hlinkClick r:id="rId1"/>
              </a:rPr>
              <a:t>www.netacad.com</a:t>
            </a:r>
            <a:r>
              <a:rPr lang="pt-BR"/>
              <a:t> você pode clicar no menu Carreiras e, em seguida, selecionar Oportunidades de emprego. </a:t>
            </a:r>
            <a:endParaRPr lang="pt-BR"/>
          </a:p>
          <a:p>
            <a:pPr lvl="1" rtl="0"/>
            <a:r>
              <a:rPr lang="pt-BR" sz="1600"/>
              <a:t>Encontre oportunidades de emprego usando o Talent Bridge Matching Engine.</a:t>
            </a:r>
            <a:endParaRPr lang="pt-BR" sz="1600"/>
          </a:p>
          <a:p>
            <a:pPr lvl="1" rtl="0"/>
            <a:r>
              <a:rPr lang="pt-BR" sz="1600"/>
              <a:t>Procure empregos na Cisco, parceiros e distribuidores da Cisco que procuram alunos e ex-alunos da Cisco Networking Academy.</a:t>
            </a:r>
            <a:endParaRPr lang="pt-BR" sz="16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4" y="1238214"/>
            <a:ext cx="4643037" cy="293731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8479523" cy="1022595"/>
          </a:xfrm>
        </p:spPr>
        <p:txBody>
          <a:bodyPr/>
          <a:lstStyle/>
          <a:p>
            <a:pPr rtl="0"/>
            <a:r>
              <a:rPr lang="pt-BR" sz="1600"/>
              <a:t>O profissional de TI</a:t>
            </a:r>
            <a:br>
              <a:rPr lang="en-US" altLang="en-US" dirty="0"/>
            </a:br>
            <a:r>
              <a:rPr lang="pt-BR"/>
              <a:t>Laboratório - Pesquisando oportunidades de trabalho em TI e redes</a:t>
            </a:r>
            <a:endParaRPr lang="pt-BR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549" y="914401"/>
            <a:ext cx="8853286" cy="165735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rtl="0">
              <a:buNone/>
            </a:pPr>
            <a:r>
              <a:rPr lang="pt-BR"/>
              <a:t>Neste laboratório, você completará os seguintes objetivos:</a:t>
            </a:r>
            <a:endParaRPr lang="pt-BR"/>
          </a:p>
          <a:p>
            <a:pPr lvl="1" rtl="0"/>
            <a:r>
              <a:rPr lang="pt-BR"/>
              <a:t>Pesquisar oportunidades de trabalho</a:t>
            </a:r>
            <a:endParaRPr lang="pt-BR"/>
          </a:p>
          <a:p>
            <a:pPr lvl="1" rtl="0"/>
            <a:r>
              <a:rPr lang="pt-BR"/>
              <a:t>Refletir sobre a pesquisa</a:t>
            </a:r>
            <a:endParaRPr lang="pt-BR"/>
          </a:p>
        </p:txBody>
      </p:sp>
    </p:spTree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1.10 - Módulo Prática e Quiz 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41393"/>
            <a:ext cx="4556169" cy="757551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dirty="0"/>
            </a:br>
            <a:r>
              <a:rPr lang="pt-BR"/>
              <a:t>O que aprendi neste módulo?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0" y="801475"/>
            <a:ext cx="8840141" cy="3576411"/>
          </a:xfrm>
        </p:spPr>
        <p:txBody>
          <a:bodyPr/>
          <a:lstStyle/>
          <a:p>
            <a:pPr lvl="2" rtl="0"/>
            <a:r>
              <a:rPr lang="pt-BR" sz="1600"/>
              <a:t>Através do uso de redes, estamos conectados como nunca antes.</a:t>
            </a:r>
            <a:endParaRPr lang="pt-BR" sz="1600"/>
          </a:p>
          <a:p>
            <a:pPr lvl="2" rtl="0"/>
            <a:r>
              <a:rPr lang="pt-BR" sz="1600"/>
              <a:t>Todos os computadores que estão conectados a uma rede e participam diretamente da comunicação em rede são classificados como hosts.</a:t>
            </a:r>
            <a:endParaRPr lang="pt-BR" sz="1600"/>
          </a:p>
          <a:p>
            <a:pPr lvl="2" rtl="0"/>
            <a:r>
              <a:rPr lang="pt-BR" sz="1600"/>
              <a:t>Os diagramas de redes geralmente usam símbolos para representar os diferentes dispositivos e conexões que compõem uma rede. </a:t>
            </a:r>
            <a:endParaRPr lang="pt-BR" sz="1600"/>
          </a:p>
          <a:p>
            <a:pPr lvl="2" rtl="0"/>
            <a:r>
              <a:rPr lang="pt-BR" sz="1600"/>
              <a:t>Um diagrama fornece uma maneira fácil de entender como os dispositivos se conectam em uma rede grande.</a:t>
            </a:r>
            <a:endParaRPr lang="pt-BR" sz="1600"/>
          </a:p>
          <a:p>
            <a:pPr lvl="2" rtl="0"/>
            <a:r>
              <a:rPr lang="pt-BR" sz="1600"/>
              <a:t>Os dois tipos de infraestruturas de rede são as redes locais (LANs) e as redes de longa distância (WANs).</a:t>
            </a:r>
            <a:endParaRPr lang="pt-BR" sz="1600"/>
          </a:p>
          <a:p>
            <a:pPr lvl="2" rtl="0"/>
            <a:r>
              <a:rPr lang="pt-BR" sz="1600"/>
              <a:t>As conexões à Internet SOHO incluem telefone a cabo, DSL, celular, satélite e dial-up. </a:t>
            </a:r>
            <a:endParaRPr lang="pt-BR" sz="1600"/>
          </a:p>
          <a:p>
            <a:pPr lvl="2" rtl="0"/>
            <a:r>
              <a:rPr lang="pt-BR" sz="1600"/>
              <a:t>As conexões de internet de negócios incluem Linha Leased Dedicated, Metro Ethernet, Business DSL e Satellite.</a:t>
            </a:r>
            <a:endParaRPr lang="pt-BR" sz="1600"/>
          </a:p>
        </p:txBody>
      </p:sp>
    </p:spTree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87549" y="1"/>
            <a:ext cx="9056451" cy="688258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dirty="0"/>
            </a:br>
            <a:r>
              <a:rPr lang="pt-BR"/>
              <a:t>O que aprendi neste módulo? (Cont.)</a:t>
            </a:r>
            <a:endParaRPr lang="pt-BR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7549" y="688260"/>
            <a:ext cx="9056451" cy="3891556"/>
          </a:xfrm>
        </p:spPr>
        <p:txBody>
          <a:bodyPr/>
          <a:lstStyle/>
          <a:p>
            <a:pPr lvl="2" rtl="0"/>
            <a:r>
              <a:rPr lang="pt-BR" sz="1600"/>
              <a:t>Arquitetura de rede refere-se às tecnologias que suportam a infraestrutura e os serviços e regras ou protocolos programados que movem dados pela rede.</a:t>
            </a:r>
            <a:endParaRPr lang="pt-BR" sz="1600"/>
          </a:p>
          <a:p>
            <a:pPr lvl="2" rtl="0"/>
            <a:r>
              <a:rPr lang="pt-BR" sz="1600"/>
              <a:t>Existem quatro características básicas da arquitetura de rede: Tolerância a falhas, Escalabilidade, Qualidade de Serviço (QoS) e Segurança.</a:t>
            </a:r>
            <a:endParaRPr lang="pt-BR" sz="1600"/>
          </a:p>
          <a:p>
            <a:pPr lvl="2" rtl="0"/>
            <a:r>
              <a:rPr lang="pt-BR" sz="1600"/>
              <a:t>Tendências recentes de rede que afetam organizações e consumidores: Traga seu próprio dispositivo (BYOD), colaboração on-line, comunicações de vídeo e computação em nuvem.</a:t>
            </a:r>
            <a:endParaRPr lang="pt-BR" sz="1600"/>
          </a:p>
          <a:p>
            <a:pPr lvl="2" rtl="0"/>
            <a:r>
              <a:rPr lang="pt-BR" sz="1600"/>
              <a:t>Existem várias ameaças externas e internas comuns às redes.</a:t>
            </a:r>
            <a:endParaRPr lang="pt-BR" sz="1600"/>
          </a:p>
          <a:p>
            <a:pPr lvl="2" rtl="0"/>
            <a:r>
              <a:rPr lang="pt-BR" sz="1600"/>
              <a:t>Redes maiores e redes corporativas usam antivírus, antispyware e filtragem por firewall, mas também têm outros requisitos de segurança: sistemas de firewall dedicados, listas de controle de acesso (ACL), sistemas de prevenção de intrusões (IPS) e redes privadas virtuais (VPN)</a:t>
            </a:r>
            <a:endParaRPr lang="pt-BR" sz="1600"/>
          </a:p>
          <a:p>
            <a:pPr lvl="2" rtl="0"/>
            <a:r>
              <a:rPr lang="pt-BR" sz="1600"/>
              <a:t>A certificação Cisco Certified Network Associate (CCNA) demonstra seu conhecimento sobre tecnologias fundamentais.</a:t>
            </a:r>
            <a:endParaRPr lang="pt-BR" sz="1600"/>
          </a:p>
        </p:txBody>
      </p:sp>
    </p:spTree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 eaLnBrk="1" hangingPunct="1"/>
            <a:r>
              <a:rPr lang="pt-BR" sz="1400">
                <a:latin typeface="Arial" panose="020B0604020202020204" pitchFamily="34" charset="0"/>
              </a:rPr>
              <a:t>Módulo 1: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Novos termos e comandos</a:t>
            </a:r>
            <a:endParaRPr lang="pt-BR">
              <a:latin typeface="Arial" panose="020B060402020202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3926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/>
                <a:gridCol w="2951162"/>
                <a:gridCol w="2951162"/>
              </a:tblGrid>
              <a:tr h="370840">
                <a:tc>
                  <a:txBody>
                    <a:bodyPr/>
                    <a:lstStyle/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>
                          <a:solidFill>
                            <a:schemeClr val="tx1"/>
                          </a:solidFill>
                          <a:latin typeface="+mn-lt"/>
                        </a:rPr>
                        <a:t>Peer-to-Peer</a:t>
                      </a: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 Compartilhamento de arquivos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Small Office/Home Office ou SOHO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Redes médias a grandes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Servidor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Cliente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Rede Peer-to-Peer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Dispositivo final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Dispositivo intermediário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Meio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Placa de rede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Porta Física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Interface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3355" indent="-173355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b="0" baseline="0">
                          <a:solidFill>
                            <a:schemeClr val="tx1"/>
                          </a:solidFill>
                          <a:latin typeface="+mn-lt"/>
                        </a:rPr>
                        <a:t>Diagrama de topologia física</a:t>
                      </a:r>
                      <a:endParaRPr lang="pt-BR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Diagrama de topologia lógica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LAN (Local Area Network, Rede local)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 de longa distância (WAN)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Internet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Intranet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Extranet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Internet </a:t>
                      </a: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ISP (Internet service provider, provedor de Internet)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 convergidas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Arquitetura de rede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 tolerante a falhas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Packet-switched network (rede com switch de pacotes)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 de switch de circuitos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 escalável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Qualidade de serviço (QoS)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Largura de banda da rede</a:t>
                      </a:r>
                      <a:endParaRPr lang="pt-BR" sz="14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Traga </a:t>
                      </a: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seu próprio dispositivo (BYOD)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Colaboração 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Computação em nuvem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Nuvens privadas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Nuvens híbridas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Nuvens públicas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Nuvens personalizadas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 center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Tecnologia residencial inteligente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 powerline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Provedor de Internet Sem Fio (WISP)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3355" indent="-173355" algn="l" defTabSz="6858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pt-BR" sz="14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Arquitetura de rede</a:t>
                      </a:r>
                      <a:endParaRPr lang="pt-BR" sz="1400" b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THUMBNAIL_REFRESH" val="1"/>
</p:tagLst>
</file>

<file path=ppt/tags/tag21.xml><?xml version="1.0" encoding="utf-8"?>
<p:tagLst xmlns:p="http://schemas.openxmlformats.org/presentationml/2006/main">
  <p:tag name="ARTICULATE_SLIDE_THUMBNAIL_REFRESH" val="1"/>
</p:tagLst>
</file>

<file path=ppt/tags/tag22.xml><?xml version="1.0" encoding="utf-8"?>
<p:tagLst xmlns:p="http://schemas.openxmlformats.org/presentationml/2006/main">
  <p:tag name="ARTICULATE_SLIDE_THUMBNAIL_REFRESH" val="1"/>
</p:tagLst>
</file>

<file path=ppt/tags/tag23.xml><?xml version="1.0" encoding="utf-8"?>
<p:tagLst xmlns:p="http://schemas.openxmlformats.org/presentationml/2006/main">
  <p:tag name="ARTICULATE_SLIDE_COUNT" val="71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21672</Words>
  <Application>WPS Presentation</Application>
  <PresentationFormat>On-screen Show (16:9)</PresentationFormat>
  <Paragraphs>656</Paragraphs>
  <Slides>59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9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Default Theme</vt:lpstr>
      <vt:lpstr>1_Default Theme</vt:lpstr>
      <vt:lpstr>Módulo 1: As redes de hoje</vt:lpstr>
      <vt:lpstr>Objetivos do módulo</vt:lpstr>
      <vt:lpstr>1.1 Redes afetam nossas vidas</vt:lpstr>
      <vt:lpstr>PowerPoint 演示文稿</vt:lpstr>
      <vt:lpstr>Componentes de rede</vt:lpstr>
      <vt:lpstr>Funções dehost de componentes derede</vt:lpstr>
      <vt:lpstr>Componentes de rede ponto a ponto</vt:lpstr>
      <vt:lpstr>Dispositivosfinaisde componentes de rede</vt:lpstr>
      <vt:lpstr>Componentes de rede Dispositivos de rede intermediários</vt:lpstr>
      <vt:lpstr>Componentes de rede Meio fĩsico de rede</vt:lpstr>
      <vt:lpstr>1.3 Representações e topologias de rede</vt:lpstr>
      <vt:lpstr>Representações e topologias de rede Representações de Rede</vt:lpstr>
      <vt:lpstr>Representações e topologias de rede Diagramas de topologia</vt:lpstr>
      <vt:lpstr>1.4 Tipos comuns de redes</vt:lpstr>
      <vt:lpstr>Tipos comuns de redes de vários tamanhos</vt:lpstr>
      <vt:lpstr>Tipos comuns de redes LANs e WANs</vt:lpstr>
      <vt:lpstr>Tipos comuns de redes  LANs e WANs (cont.) </vt:lpstr>
      <vt:lpstr>Tipos comuns de redes A Internet</vt:lpstr>
      <vt:lpstr>Tipos comuns de intranets e extranetsde redes</vt:lpstr>
      <vt:lpstr>1.5 Conexões à Internet</vt:lpstr>
      <vt:lpstr>Conexões à Internet Tecnologias de acesso à Internet</vt:lpstr>
      <vt:lpstr>Conexões à Internet Conexões à Internet para residências e pequenos escritórios</vt:lpstr>
      <vt:lpstr>Conexões à Internet Conexões Corporativas com a Internet</vt:lpstr>
      <vt:lpstr>Conexões à Internet A Rede Convergente</vt:lpstr>
      <vt:lpstr>Conexões à Internet A Rede Convergente (Cont.)</vt:lpstr>
      <vt:lpstr>Conexões à Internet Vídeo - Baixe e instale o Packet Tracer</vt:lpstr>
      <vt:lpstr>Conexões à Internet Vídeo - Introdução ao Cisco Packet Tracer</vt:lpstr>
      <vt:lpstr>Conexões à Internet Packet Tracer – Representação de rede</vt:lpstr>
      <vt:lpstr>1.6 Redes confiáveis</vt:lpstr>
      <vt:lpstr>Rede confiável Arquitetura de rede</vt:lpstr>
      <vt:lpstr>Rede confiável Tolerância ao erro</vt:lpstr>
      <vt:lpstr>Rede confiável Escalabilidade</vt:lpstr>
      <vt:lpstr>Rede confiável Qualidade de serviço</vt:lpstr>
      <vt:lpstr>Rede confiável Segurança de rede</vt:lpstr>
      <vt:lpstr>1.7 Tendências de rede</vt:lpstr>
      <vt:lpstr>Tendências de rede Tendências recentes</vt:lpstr>
      <vt:lpstr>Tendências de rede Traga seu próprio aparelho</vt:lpstr>
      <vt:lpstr>Tendências de rede Colaboração Online</vt:lpstr>
      <vt:lpstr>Tendências de rede Comunicação por vídeo</vt:lpstr>
      <vt:lpstr> Vídeo de Tendências de Rede — Cisco WebEx para Huddles</vt:lpstr>
      <vt:lpstr>Tendências de rede Computação em nuvem</vt:lpstr>
      <vt:lpstr>Tendências de rede Computação em nuvem (Cont.)</vt:lpstr>
      <vt:lpstr>Tendências de rede Tendências tecnológicas em casa</vt:lpstr>
      <vt:lpstr>Tendências de rede Rede Powerline</vt:lpstr>
      <vt:lpstr>Tendências de rede Banda larga sem fio</vt:lpstr>
      <vt:lpstr>1.8 Segurança de rede</vt:lpstr>
      <vt:lpstr>Segurança de rede Ameaças à segurança</vt:lpstr>
      <vt:lpstr>Segurança de rede Ameaças à segurança (Cont.)</vt:lpstr>
      <vt:lpstr>Segurança de rede Soluções de Segurança</vt:lpstr>
      <vt:lpstr>Segurança de rede Soluções de Segurança (Cont.)</vt:lpstr>
      <vt:lpstr>1.9 O profissional de TI</vt:lpstr>
      <vt:lpstr>A  CCNAprofissional de TI</vt:lpstr>
      <vt:lpstr>Ostrabalhos derede profissionais deTI</vt:lpstr>
      <vt:lpstr>O profissional de TI Laboratório - Pesquisando oportunidades de trabalho em TI e redes</vt:lpstr>
      <vt:lpstr>1.10 - Módulo Prática e Quiz </vt:lpstr>
      <vt:lpstr>Módulo Prática e Quiz O que aprendi neste módulo?</vt:lpstr>
      <vt:lpstr>Módulo Prática e Quiz O que aprendi neste módulo? (Cont.)</vt:lpstr>
      <vt:lpstr>Módulo 1:  Novos termos e comandos</vt:lpstr>
      <vt:lpstr>PowerPoint 演示文稿</vt:lpstr>
    </vt:vector>
  </TitlesOfParts>
  <Company>Cisco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vaamonde</cp:lastModifiedBy>
  <cp:revision>829</cp:revision>
  <dcterms:created xsi:type="dcterms:W3CDTF">2026-02-11T01:04:17Z</dcterms:created>
  <dcterms:modified xsi:type="dcterms:W3CDTF">2026-02-11T01:04:17Z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