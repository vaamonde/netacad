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1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2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24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25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26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27.xml" ContentType="application/vnd.openxmlformats-officedocument.presentationml.tag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tags/tag28.xml" ContentType="application/vnd.openxmlformats-officedocument.presentationml.tag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tags/tag29.xml" ContentType="application/vnd.openxmlformats-officedocument.presentationml.tags+xml"/>
  <Override PartName="/ppt/notesSlides/notesSlide69.xml" ContentType="application/vnd.openxmlformats-officedocument.presentationml.notesSlide+xml"/>
  <Override PartName="/ppt/tags/tag30.xml" ContentType="application/vnd.openxmlformats-officedocument.presentationml.tags+xml"/>
  <Override PartName="/ppt/notesSlides/notesSlide70.xml" ContentType="application/vnd.openxmlformats-officedocument.presentationml.notesSlide+xml"/>
  <Override PartName="/ppt/tags/tag31.xml" ContentType="application/vnd.openxmlformats-officedocument.presentationml.tags+xml"/>
  <Override PartName="/ppt/notesSlides/notesSlide71.xml" ContentType="application/vnd.openxmlformats-officedocument.presentationml.notesSlide+xml"/>
  <Override PartName="/ppt/tags/tag32.xml" ContentType="application/vnd.openxmlformats-officedocument.presentationml.tags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76"/>
  </p:notesMasterIdLst>
  <p:sldIdLst>
    <p:sldId id="513" r:id="rId2"/>
    <p:sldId id="730" r:id="rId3"/>
    <p:sldId id="1158" r:id="rId4"/>
    <p:sldId id="1071" r:id="rId5"/>
    <p:sldId id="1053" r:id="rId6"/>
    <p:sldId id="1072" r:id="rId7"/>
    <p:sldId id="763" r:id="rId8"/>
    <p:sldId id="1094" r:id="rId9"/>
    <p:sldId id="1151" r:id="rId10"/>
    <p:sldId id="1052" r:id="rId11"/>
    <p:sldId id="1069" r:id="rId12"/>
    <p:sldId id="1160" r:id="rId13"/>
    <p:sldId id="1152" r:id="rId14"/>
    <p:sldId id="1153" r:id="rId15"/>
    <p:sldId id="876" r:id="rId16"/>
    <p:sldId id="1096" r:id="rId17"/>
    <p:sldId id="1161" r:id="rId18"/>
    <p:sldId id="759" r:id="rId19"/>
    <p:sldId id="1054" r:id="rId20"/>
    <p:sldId id="1098" r:id="rId21"/>
    <p:sldId id="1099" r:id="rId22"/>
    <p:sldId id="1100" r:id="rId23"/>
    <p:sldId id="1101" r:id="rId24"/>
    <p:sldId id="1102" r:id="rId25"/>
    <p:sldId id="1056" r:id="rId26"/>
    <p:sldId id="1103" r:id="rId27"/>
    <p:sldId id="1104" r:id="rId28"/>
    <p:sldId id="1106" r:id="rId29"/>
    <p:sldId id="1111" r:id="rId30"/>
    <p:sldId id="1118" r:id="rId31"/>
    <p:sldId id="1125" r:id="rId32"/>
    <p:sldId id="1126" r:id="rId33"/>
    <p:sldId id="1127" r:id="rId34"/>
    <p:sldId id="1128" r:id="rId35"/>
    <p:sldId id="1112" r:id="rId36"/>
    <p:sldId id="1119" r:id="rId37"/>
    <p:sldId id="1129" r:id="rId38"/>
    <p:sldId id="1130" r:id="rId39"/>
    <p:sldId id="1113" r:id="rId40"/>
    <p:sldId id="1120" r:id="rId41"/>
    <p:sldId id="1150" r:id="rId42"/>
    <p:sldId id="1131" r:id="rId43"/>
    <p:sldId id="1132" r:id="rId44"/>
    <p:sldId id="1133" r:id="rId45"/>
    <p:sldId id="1135" r:id="rId46"/>
    <p:sldId id="1114" r:id="rId47"/>
    <p:sldId id="1121" r:id="rId48"/>
    <p:sldId id="1137" r:id="rId49"/>
    <p:sldId id="1138" r:id="rId50"/>
    <p:sldId id="1139" r:id="rId51"/>
    <p:sldId id="1140" r:id="rId52"/>
    <p:sldId id="1115" r:id="rId53"/>
    <p:sldId id="1122" r:id="rId54"/>
    <p:sldId id="1141" r:id="rId55"/>
    <p:sldId id="1142" r:id="rId56"/>
    <p:sldId id="1143" r:id="rId57"/>
    <p:sldId id="1116" r:id="rId58"/>
    <p:sldId id="1123" r:id="rId59"/>
    <p:sldId id="1144" r:id="rId60"/>
    <p:sldId id="1145" r:id="rId61"/>
    <p:sldId id="1154" r:id="rId62"/>
    <p:sldId id="1146" r:id="rId63"/>
    <p:sldId id="1147" r:id="rId64"/>
    <p:sldId id="1117" r:id="rId65"/>
    <p:sldId id="1124" r:id="rId66"/>
    <p:sldId id="1148" r:id="rId67"/>
    <p:sldId id="1149" r:id="rId68"/>
    <p:sldId id="957" r:id="rId69"/>
    <p:sldId id="1155" r:id="rId70"/>
    <p:sldId id="1107" r:id="rId71"/>
    <p:sldId id="958" r:id="rId72"/>
    <p:sldId id="1157" r:id="rId73"/>
    <p:sldId id="874" r:id="rId74"/>
    <p:sldId id="291" r:id="rId75"/>
  </p:sldIdLst>
  <p:sldSz cx="9144000" cy="5143500" type="screen16x9"/>
  <p:notesSz cx="6858000" cy="9144000"/>
  <p:custDataLst>
    <p:tags r:id="rId77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7285" autoAdjust="0"/>
  </p:normalViewPr>
  <p:slideViewPr>
    <p:cSldViewPr snapToGrid="0" showGuides="1">
      <p:cViewPr varScale="1">
        <p:scale>
          <a:sx n="70" d="100"/>
          <a:sy n="70" d="100"/>
        </p:scale>
        <p:origin x="1332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8"/>
    </p:cViewPr>
  </p:sorterViewPr>
  <p:gridSpacing cx="76200" cy="76200"/>
</p:viewPr>
</file>

<file path=ppt/_rels/presentation.xml.rels><?xml version="1.0" encoding="utf-8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?>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?>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?>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?>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?>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?>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?>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?>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?>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?>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?>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?>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?>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?>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?>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b="false" lang="pt-BR"/>
              <a:t>Programa da Cisco Networking Academy</a:t>
            </a:r>
          </a:p>
          <a:p>
            <a:pPr rtl="0">
              <a:buFontTx/>
              <a:buNone/>
            </a:pPr>
            <a:r>
              <a:rPr b="false" baseline="0" lang="pt-BR"/>
              <a:t>Introdução às redes v</a:t>
            </a:r>
            <a:r>
              <a:rPr b="false" lang="pt-BR"/>
              <a:t>7.0 (ITN)</a:t>
            </a:r>
          </a:p>
          <a:p>
            <a:pPr rtl="0">
              <a:buFontTx/>
              <a:buNone/>
            </a:pP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/>
              <a:pPr algn="r"/>
              <a:t>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5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6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717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7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8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5351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9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1303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10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600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11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929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12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5193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13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685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14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0745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b="false" lang="pt-BR"/>
              <a:t>Programa da Cisco Networking Academy</a:t>
            </a:r>
          </a:p>
          <a:p>
            <a:pPr rtl="0">
              <a:buFontTx/>
              <a:buNone/>
            </a:pPr>
            <a:r>
              <a:rPr b="false" baseline="0" lang="pt-BR"/>
              <a:t>Introdução às redes v</a:t>
            </a:r>
            <a:r>
              <a:rPr b="false" lang="pt-BR"/>
              <a:t>7.0 (ITN)</a:t>
            </a: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16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17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946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sz="1200" baseline="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>
              <a:buFontTx/>
              <a:buNone/>
            </a:pPr>
            <a:r>
              <a:rPr sz="1200" b="false" lang="pt-BR"/>
              <a:t>11.1 — </a:t>
            </a:r>
            <a:r>
              <a:rPr lang="pt-BR"/>
              <a:t>Estrutura deEndereços IPv4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sz="1200" baseline="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11.1.1 - Partes da rede e do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sz="1200" baseline="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11.1.2 - A máscara de sub-rede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3189098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sz="1200" baseline="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11.1.3 - O comprimento do prefixo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1229588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sz="1200" baseline="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sz="12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11.1.4 — Determinação da Rede: Lógica 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66883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11.1.5 - Vídeo - endereços de rede, host e transmissão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3015082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11.1.6 - Endereços de rede, host e transmissão</a:t>
            </a:r>
          </a:p>
          <a:p>
            <a:pPr rtl="0"/>
            <a:r>
              <a:rPr lang="pt-BR"/>
              <a:t>11.1.7 - Atividade - ANDing para determinar o endereço de rede</a:t>
            </a:r>
          </a:p>
          <a:p>
            <a:pPr rtl="0"/>
            <a:r>
              <a:rPr lang="pt-BR"/>
              <a:t>11.1.8 — Verifique o seu entendimento - Estrutura de endereços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37322015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pPr rtl="0"/>
            <a:r>
              <a:rPr lang="pt-BR"/>
              <a:t>11.2.1 — Unicast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24491579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pPr rtl="0"/>
            <a:r>
              <a:rPr lang="pt-BR"/>
              <a:t>11.2.2 — Transmissão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3019084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pPr rtl="0"/>
            <a:r>
              <a:rPr lang="pt-BR"/>
              <a:t>11.2.3 — Multicast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11.2.4 -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Unicast, Broadcast ou Multicast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2938994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8967279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11.3.1 - Endereços IPv4 públicos e privados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12408230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11.3.2 — Roteamento para a Internet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11.3.3 -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passar ou bloquear endereços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33625943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11.3.4 - Endereços IPv4 de uso especial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29014941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11.3.5 – Endereçamento classful de herdado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959147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11.3.6 – Atribuição de endereços IP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11.3.7 -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Endereço IPv4 público ou privado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11.3.8 —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Verifique o seu entendimento - Tipos de endereços IPv4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20437822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30742313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pPr rtl="0"/>
            <a:r>
              <a:rPr lang="pt-BR"/>
              <a:t>11.4.1 — Domínios de transmissão e segmentação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17490744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pPr rtl="0"/>
            <a:r>
              <a:rPr lang="pt-BR"/>
              <a:t>11.4.2 –Problemas com domínios de broadcast grandes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33086440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pPr rtl="0"/>
            <a:r>
              <a:rPr lang="pt-BR"/>
              <a:t>11.4.3 — Razões para segmentar redes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11.4.4 —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Verifique seu entendimento - Segmentação de rede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4592482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29829977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11.5.1 — Sub-rede em um limite de octeto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36278872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11.5.1 — Sub-rede em um limite de octeto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9824262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11.5.2 — Sub-rede dentro de um limite de octeto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11699841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11.5.3 – Vídeo – A máscara de sub-rede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43</a:t>
            </a:fld>
          </a:p>
        </p:txBody>
      </p:sp>
    </p:spTree>
    <p:extLst>
      <p:ext uri="{BB962C8B-B14F-4D97-AF65-F5344CB8AC3E}">
        <p14:creationId xmlns:p14="http://schemas.microsoft.com/office/powerpoint/2010/main" val="36359008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11.5.4 - Vídeo - Sub-rede com o número mágico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44</a:t>
            </a:fld>
          </a:p>
        </p:txBody>
      </p:sp>
    </p:spTree>
    <p:extLst>
      <p:ext uri="{BB962C8B-B14F-4D97-AF65-F5344CB8AC3E}">
        <p14:creationId xmlns:p14="http://schemas.microsoft.com/office/powerpoint/2010/main" val="18706598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11.5.5 — Packet Tracer — Sub-rede uma rede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45</a:t>
            </a:fld>
          </a:p>
        </p:txBody>
      </p:sp>
    </p:spTree>
    <p:extLst>
      <p:ext uri="{BB962C8B-B14F-4D97-AF65-F5344CB8AC3E}">
        <p14:creationId xmlns:p14="http://schemas.microsoft.com/office/powerpoint/2010/main" val="6874563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46</a:t>
            </a:fld>
          </a:p>
        </p:txBody>
      </p:sp>
    </p:spTree>
    <p:extLst>
      <p:ext uri="{BB962C8B-B14F-4D97-AF65-F5344CB8AC3E}">
        <p14:creationId xmlns:p14="http://schemas.microsoft.com/office/powerpoint/2010/main" val="2760207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11.6.1 — Criar sub-redes com um prefixo de Barra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17655035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11.6.2 — Criar 100 sub-redes com um prefixo Slash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25680850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11.6.3 — Criar 1000 sub-redes com um prefixo Slash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49</a:t>
            </a:fld>
          </a:p>
        </p:txBody>
      </p:sp>
    </p:spTree>
    <p:extLst>
      <p:ext uri="{BB962C8B-B14F-4D97-AF65-F5344CB8AC3E}">
        <p14:creationId xmlns:p14="http://schemas.microsoft.com/office/powerpoint/2010/main" val="18854180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11.6.4 — Vídeo — Sub-rede em vários octetos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11.6.5 -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Calcular a máscara de sub-rede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50</a:t>
            </a:fld>
          </a:p>
        </p:txBody>
      </p:sp>
    </p:spTree>
    <p:extLst>
      <p:ext uri="{BB962C8B-B14F-4D97-AF65-F5344CB8AC3E}">
        <p14:creationId xmlns:p14="http://schemas.microsoft.com/office/powerpoint/2010/main" val="29924931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11.6.6 - Laboratório - Calcular sub-redes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51</a:t>
            </a:fld>
          </a:p>
        </p:txBody>
      </p:sp>
    </p:spTree>
    <p:extLst>
      <p:ext uri="{BB962C8B-B14F-4D97-AF65-F5344CB8AC3E}">
        <p14:creationId xmlns:p14="http://schemas.microsoft.com/office/powerpoint/2010/main" val="39770051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52</a:t>
            </a:fld>
          </a:p>
        </p:txBody>
      </p:sp>
    </p:spTree>
    <p:extLst>
      <p:ext uri="{BB962C8B-B14F-4D97-AF65-F5344CB8AC3E}">
        <p14:creationId xmlns:p14="http://schemas.microsoft.com/office/powerpoint/2010/main" val="21516756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11.7.1 — Sub-rede Privada versus Espaço de Endereço IPv4 Público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53</a:t>
            </a:fld>
          </a:p>
        </p:txBody>
      </p:sp>
    </p:spTree>
    <p:extLst>
      <p:ext uri="{BB962C8B-B14F-4D97-AF65-F5344CB8AC3E}">
        <p14:creationId xmlns:p14="http://schemas.microsoft.com/office/powerpoint/2010/main" val="36834504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11.7.2 — Minimizar endereços IPv4 de host não utilizados e maximizar sub-redes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54</a:t>
            </a:fld>
          </a:p>
        </p:txBody>
      </p:sp>
    </p:spTree>
    <p:extLst>
      <p:ext uri="{BB962C8B-B14F-4D97-AF65-F5344CB8AC3E}">
        <p14:creationId xmlns:p14="http://schemas.microsoft.com/office/powerpoint/2010/main" val="29491420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11.7.3 — Exemplo: sub-rede IPv4 eficiente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11.7.4 –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Determinar o número de bits a serem emprestados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55</a:t>
            </a:fld>
          </a:p>
        </p:txBody>
      </p:sp>
    </p:spTree>
    <p:extLst>
      <p:ext uri="{BB962C8B-B14F-4D97-AF65-F5344CB8AC3E}">
        <p14:creationId xmlns:p14="http://schemas.microsoft.com/office/powerpoint/2010/main" val="34033917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11.7.5 – Packet Tracer – Criação de sub-redes no cenário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56</a:t>
            </a:fld>
          </a:p>
        </p:txBody>
      </p:sp>
    </p:spTree>
    <p:extLst>
      <p:ext uri="{BB962C8B-B14F-4D97-AF65-F5344CB8AC3E}">
        <p14:creationId xmlns:p14="http://schemas.microsoft.com/office/powerpoint/2010/main" val="20848546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57</a:t>
            </a:fld>
          </a:p>
        </p:txBody>
      </p:sp>
    </p:spTree>
    <p:extLst>
      <p:ext uri="{BB962C8B-B14F-4D97-AF65-F5344CB8AC3E}">
        <p14:creationId xmlns:p14="http://schemas.microsoft.com/office/powerpoint/2010/main" val="4464950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11.8.1 — Vídeo — Noções básicas do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58</a:t>
            </a:fld>
          </a:p>
        </p:txBody>
      </p:sp>
    </p:spTree>
    <p:extLst>
      <p:ext uri="{BB962C8B-B14F-4D97-AF65-F5344CB8AC3E}">
        <p14:creationId xmlns:p14="http://schemas.microsoft.com/office/powerpoint/2010/main" val="29711771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11.8.2 — Vídeo — Exemplo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59</a:t>
            </a:fld>
          </a:p>
        </p:txBody>
      </p:sp>
    </p:spTree>
    <p:extLst>
      <p:ext uri="{BB962C8B-B14F-4D97-AF65-F5344CB8AC3E}">
        <p14:creationId xmlns:p14="http://schemas.microsoft.com/office/powerpoint/2010/main" val="25503493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11.8.3 - Conservação de endereços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60</a:t>
            </a:fld>
          </a:p>
        </p:txBody>
      </p:sp>
    </p:spTree>
    <p:extLst>
      <p:ext uri="{BB962C8B-B14F-4D97-AF65-F5344CB8AC3E}">
        <p14:creationId xmlns:p14="http://schemas.microsoft.com/office/powerpoint/2010/main" val="33346008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11.8.3 - Conservação de endereços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61</a:t>
            </a:fld>
          </a:p>
        </p:txBody>
      </p:sp>
    </p:spTree>
    <p:extLst>
      <p:ext uri="{BB962C8B-B14F-4D97-AF65-F5344CB8AC3E}">
        <p14:creationId xmlns:p14="http://schemas.microsoft.com/office/powerpoint/2010/main" val="71341507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11.8.4 —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62</a:t>
            </a:fld>
          </a:p>
        </p:txBody>
      </p:sp>
    </p:spTree>
    <p:extLst>
      <p:ext uri="{BB962C8B-B14F-4D97-AF65-F5344CB8AC3E}">
        <p14:creationId xmlns:p14="http://schemas.microsoft.com/office/powerpoint/2010/main" val="13394321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11.8.5 — Atribuição de endereço de topologia VLSM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11.8.6 — </a:t>
            </a:r>
            <a:r>
              <a:rPr sz="1200" b="false" i="false" kern="1200" lang="pt-BR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Prática VLSM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63</a:t>
            </a:fld>
          </a:p>
        </p:txBody>
      </p:sp>
    </p:spTree>
    <p:extLst>
      <p:ext uri="{BB962C8B-B14F-4D97-AF65-F5344CB8AC3E}">
        <p14:creationId xmlns:p14="http://schemas.microsoft.com/office/powerpoint/2010/main" val="36551194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64</a:t>
            </a:fld>
          </a:p>
        </p:txBody>
      </p:sp>
    </p:spTree>
    <p:extLst>
      <p:ext uri="{BB962C8B-B14F-4D97-AF65-F5344CB8AC3E}">
        <p14:creationId xmlns:p14="http://schemas.microsoft.com/office/powerpoint/2010/main" val="141755979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pPr rtl="0"/>
            <a:r>
              <a:rPr lang="pt-BR"/>
              <a:t>11.9.1 - Planejamento de endereços de rede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65</a:t>
            </a:fld>
          </a:p>
        </p:txBody>
      </p:sp>
    </p:spTree>
    <p:extLst>
      <p:ext uri="{BB962C8B-B14F-4D97-AF65-F5344CB8AC3E}">
        <p14:creationId xmlns:p14="http://schemas.microsoft.com/office/powerpoint/2010/main" val="260650522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pPr rtl="0"/>
            <a:r>
              <a:rPr lang="pt-BR"/>
              <a:t>11.9.2 — Atribuição de endereço de dispositivo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66</a:t>
            </a:fld>
          </a:p>
        </p:txBody>
      </p:sp>
    </p:spTree>
    <p:extLst>
      <p:ext uri="{BB962C8B-B14F-4D97-AF65-F5344CB8AC3E}">
        <p14:creationId xmlns:p14="http://schemas.microsoft.com/office/powerpoint/2010/main" val="163408749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pPr rtl="0"/>
            <a:r>
              <a:rPr lang="pt-BR"/>
              <a:t>11.9.3 — Packet Tracer - Prática de projeto e implementação do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67</a:t>
            </a:fld>
          </a:p>
        </p:txBody>
      </p:sp>
    </p:spTree>
    <p:extLst>
      <p:ext uri="{BB962C8B-B14F-4D97-AF65-F5344CB8AC3E}">
        <p14:creationId xmlns:p14="http://schemas.microsoft.com/office/powerpoint/2010/main" val="10226435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11.10 - Módulo Prática e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68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11.10.1 - Packet Tracer - Projete e implemente um esquema de endereçamento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69</a:t>
            </a:fld>
          </a:p>
        </p:txBody>
      </p:sp>
    </p:spTree>
    <p:extLst>
      <p:ext uri="{BB962C8B-B14F-4D97-AF65-F5344CB8AC3E}">
        <p14:creationId xmlns:p14="http://schemas.microsoft.com/office/powerpoint/2010/main" val="29947768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11.10.2 – Packet Tracer e Laboratório – Projetar e Implementar um Esquema de Endereçamento VLSM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70</a:t>
            </a:fld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71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11.10.3 - O que eu aprendi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72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11.10.3 - O que eu aprendi neste módulo? (continuação)</a:t>
            </a:r>
          </a:p>
          <a:p>
            <a:pPr rtl="0"/>
            <a:r>
              <a:rPr lang="pt-BR"/>
              <a:t>11.10.4 — Teste de Módulo — Endereçamento IPv4</a:t>
            </a:r>
          </a:p>
        </p:txBody>
      </p:sp>
    </p:spTree>
    <p:extLst>
      <p:ext uri="{BB962C8B-B14F-4D97-AF65-F5344CB8AC3E}">
        <p14:creationId xmlns:p14="http://schemas.microsoft.com/office/powerpoint/2010/main" val="270844664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/>
              <a:t>73</a:t>
            </a:fld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74</a:t>
            </a:fld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68256" y="4741653"/>
            <a:ext cx="2857270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1.xml.rels><?xml version="1.0" encoding="utf-8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2.xml.rels><?xml version="1.0" encoding="utf-8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3.xml.rels><?xml version="1.0" encoding="utf-8"?>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4.xml.rels><?xml version="1.0" encoding="utf-8"?>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5.xml.rels><?xml version="1.0" encoding="utf-8"?>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6.xml.rels><?xml version="1.0" encoding="utf-8"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7.xml.rels><?xml version="1.0" encoding="utf-8"?>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18.xml.rels><?xml version="1.0" encoding="utf-8"?>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19.xml.rels><?xml version="1.0" encoding="utf-8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?>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6.xml.rels><?xml version="1.0" encoding="utf-8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7.xml.rels><?xml version="1.0" encoding="utf-8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8.xml.rels><?xml version="1.0" encoding="utf-8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9.xml.rels><?xml version="1.0" encoding="utf-8"?>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30.xml.rels><?xml version="1.0" encoding="utf-8"?>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?>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?>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?>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36.xml.rels><?xml version="1.0" encoding="utf-8"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?>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38.xml.rels><?xml version="1.0" encoding="utf-8"?>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9.xml.rels><?xml version="1.0" encoding="utf-8"?>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40.xml.rels><?xml version="1.0" encoding="utf-8"?>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?>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?>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?>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4.xml.rels><?xml version="1.0" encoding="utf-8"?>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?>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6.xml.rels><?xml version="1.0" encoding="utf-8"?>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47.xml.rels><?xml version="1.0" encoding="utf-8"?>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9.xml.rels><?xml version="1.0" encoding="utf-8"?>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0.xml.rels><?xml version="1.0" encoding="utf-8"?>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1.xml.rels><?xml version="1.0" encoding="utf-8"?>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2.xml.rels><?xml version="1.0" encoding="utf-8"?>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53.xml.rels><?xml version="1.0" encoding="utf-8"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4.xml.rels><?xml version="1.0" encoding="utf-8"?>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5.xml.rels><?xml version="1.0" encoding="utf-8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56.xml.rels><?xml version="1.0" encoding="utf-8"?>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7.xml.rels><?xml version="1.0" encoding="utf-8"?>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58.xml.rels><?xml version="1.0" encoding="utf-8"?>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?>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0.xml.rels><?xml version="1.0" encoding="utf-8"?>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1.xml.rels><?xml version="1.0" encoding="utf-8"?>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62.xml.rels><?xml version="1.0" encoding="utf-8"?>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63.xml.rels><?xml version="1.0" encoding="utf-8"?>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4.xml.rels><?xml version="1.0" encoding="utf-8"?>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/Relationships>
</file>

<file path=ppt/slides/_rels/slide65.xml.rels><?xml version="1.0" encoding="utf-8"?>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6.xml.rels><?xml version="1.0" encoding="utf-8"?>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7.xml.rels><?xml version="1.0" encoding="utf-8"?>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8.xml.rels><?xml version="1.0" encoding="utf-8"?>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69.xml.rels><?xml version="1.0" encoding="utf-8"?>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70.xml.rels><?xml version="1.0" encoding="utf-8"?>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71.xml.rels><?xml version="1.0" encoding="utf-8"?>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72.xml.rels><?xml version="1.0" encoding="utf-8"?>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73.xml.rels><?xml version="1.0" encoding="utf-8"?>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74.xml.rels><?xml version="1.0" encoding="utf-8"?>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 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pPr rtl="0"/>
            <a:r>
              <a:rPr lang="pt-BR"/>
              <a:t>Materiais do instrutor - Guia de planejamento do módulo 11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808179"/>
            <a:ext cx="8433035" cy="3773247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Esta apresentação de PowerPoint é dividida em duas partes: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Guia de planejamento do Instrutor</a:t>
            </a:r>
          </a:p>
          <a:p>
            <a:pPr lvl="1" rtl="0"/>
            <a:r>
              <a:rPr lang="pt-BR"/>
              <a:t>Informações para ajudá-lo a se familiarizar com o módulo</a:t>
            </a:r>
          </a:p>
          <a:p>
            <a:pPr lvl="1" rtl="0"/>
            <a:r>
              <a:rPr lang="pt-BR"/>
              <a:t>Material didático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Apresentação para aulas</a:t>
            </a:r>
          </a:p>
          <a:p>
            <a:pPr lvl="1" rtl="0"/>
            <a:r>
              <a:rPr lang="pt-BR"/>
              <a:t>Slides opcionais que você pode usar em sala de aula</a:t>
            </a:r>
          </a:p>
          <a:p>
            <a:pPr lvl="1" rtl="0"/>
            <a:r>
              <a:rPr lang="pt-BR"/>
              <a:t>Começa no slide 15</a:t>
            </a:r>
          </a:p>
          <a:p>
            <a:pPr marL="142875" lvl="1" indent="0" algn="ctr" rtl="0">
              <a:buNone/>
            </a:pPr>
            <a:r>
              <a:rPr sz="1600" b="true" lang="pt-BR"/>
              <a:t>Observação</a:t>
            </a:r>
            <a:r>
              <a:rPr sz="1600" lang="pt-BR"/>
              <a:t>: Remova o Guia de planejamento desta apresentação antes de compartilhar com outra pessoa.</a:t>
            </a:r>
          </a:p>
          <a:p>
            <a:pPr marL="0" indent="0" rtl="0">
              <a:buNone/>
            </a:pPr>
            <a:r>
              <a:rPr sz="1600" b="true" lang="pt-BR">
                <a:solidFill>
                  <a:schemeClr val="accent4"/>
                </a:solidFill>
              </a:rPr>
              <a:t>Para obter ajuda e recursos adicionais,  vá para a página inicial do instrutor e os recursos do curso para este curso. Você também pode visitar o site de desenvolvimento profissional na NetAcad.com, a página oficial do Facebook da Academia de Networking da Cisco ou instrutor apenas FB Group.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pPr rtl="0"/>
            <a:r>
              <a:rPr lang="pt-BR"/>
              <a:t>O que esperar neste módulo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Para facilitar a aprendizagem, os seguintes recursos dentro da GUI podem ser incluídos neste módulo: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Expor os alunos a novas competências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Vídeos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Exponha os alunos a novas habilidades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Verifique seu entendimento 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Questionário online por tópico para ajudar os alunos a avaliar a compreensão do conteúdo.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Interativas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Uma variedade de formatos para ajudar os alunos a avaliar a compreensão do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Verificador de Sintaxe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Pequenas simulações que expõem os alunos à linha de comando da Cisco para praticar habilidades de configuração.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Atividades de simulação e modelagem projetadas para explorar, adquirir, reforçar e expandir habilidades.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338668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569"/>
            <a:ext cx="9144000" cy="757238"/>
          </a:xfrm>
        </p:spPr>
        <p:txBody>
          <a:bodyPr/>
          <a:lstStyle/>
          <a:p>
            <a:pPr rtl="0"/>
            <a:r>
              <a:rPr lang="pt-BR"/>
              <a:t>O que esperar neste módulo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Para facilitar a aprendizagem, os seguintes recursos podem ser incluídos neste módulo: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5940-FD94-41F4-9281-A84AF7825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1191491"/>
            <a:ext cx="8853286" cy="376277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9B78F4A-8B1F-4E11-B57F-2036926164A6}"/>
              </a:ext>
            </a:extLst>
          </p:cNvPr>
          <p:cNvGraphicFramePr>
            <a:graphicFrameLocks/>
          </p:cNvGraphicFramePr>
          <p:nvPr/>
        </p:nvGraphicFramePr>
        <p:xfrm>
          <a:off x="106756" y="1279280"/>
          <a:ext cx="8595235" cy="238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265">
                  <a:extLst>
                    <a:ext uri="{9D8B030D-6E8A-4147-A177-3AD203B41FA5}">
                      <a16:colId xmlns:a16="http://schemas.microsoft.com/office/drawing/2014/main" val="3215831619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76475465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true" i="false" u="none" strike="noStrike" lang="pt-BR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Recurso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2797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Packet Tracer -  Atividade do Modo Físico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Estas atividades são concluídas usando o Packet Tracer no Modo Físico.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9501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Laboratórios práticos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Laboratórios projetados para trabalhar com equipamentos físicos.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9436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em sala de aula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Estes são encontrados na página Recursos do instrutor. As atividades de aula são projetadas para facilitar o aprendizado, a discussão em aula e a colaboração.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66603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Testes de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Autoavaliações que integram conceitos e habilidades aprendidas ao longo da série de tópicos apresentados no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02776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Resumo do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Recapitula brevemente o conteúdo do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4628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36058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Verifique seu entendimento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965201"/>
            <a:ext cx="8878570" cy="3643747"/>
          </a:xfrm>
        </p:spPr>
        <p:txBody>
          <a:bodyPr/>
          <a:lstStyle/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"Verifique sua compreensão" são projetadas para permitir que os alunos determinem rapidamente se entendem o conteúdo e podem prosseguir ou se precisam revisar.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Verifique se suas atividades de compreensão </a:t>
            </a:r>
            <a:r>
              <a:rPr b="true" i="true" lang="pt-BR"/>
              <a:t>não </a:t>
            </a:r>
            <a:r>
              <a:rPr lang="pt-BR"/>
              <a:t>afetam as notas do aluno.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Não há slides separados para essas atividades no PPT. Elas estão listadas na área de anotações do slide que aparece antes dessas atividades.</a:t>
            </a:r>
          </a:p>
          <a:p>
            <a:pPr marL="0" indent="0" eaLnBrk="1" hangingPunct="1">
              <a:spcBef>
                <a:spcPct val="30000"/>
              </a:spcBef>
              <a:buNone/>
            </a:pPr>
            <a:endParaRPr lang="en-US" dirty="0"/>
          </a:p>
          <a:p>
            <a:pPr eaLnBrk="1" hangingPunct="1"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Packet Tracer - Atividades do Modo Físico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Estas atividades são concluídas usando o Packet Tracer no Modo Físico.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são projetados para emular os laboratórios correspondentes.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podem ser usados em vez do laboratório quando o acesso ao equipamento físico não é possível.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Essas atividades geralmente não têm o nível de andaimes que estão presentes nas atividades do PT que precedem imediatamente essas atividades.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88667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Atividades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281056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Quais atividades estão associadas a este módulo?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4995895"/>
              </p:ext>
            </p:extLst>
          </p:nvPr>
        </p:nvGraphicFramePr>
        <p:xfrm>
          <a:off x="432000" y="1127135"/>
          <a:ext cx="8229418" cy="345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11.1.5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Rede, Hospedeiro e Endereços de Transmissão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4902034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11.1.7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Usar o ANDing para determinar o endereço de 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039395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11.1.8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Estrutura do endereço IPv4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11.2.4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Unicast, broadcast ou multicast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11.3.3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Aprovar ou bloquear endereços IPv4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11.3.7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Endereço IPv4 Público ou Privado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11.3.8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Tipos de endereços IPv4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20668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11.4.4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Segmentação de 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29209024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11.5.3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Máscara de Sub-Rede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8726557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Atividades (Cont.)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281056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Quais atividades estão associadas a este módulo?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504215"/>
              </p:ext>
            </p:extLst>
          </p:nvPr>
        </p:nvGraphicFramePr>
        <p:xfrm>
          <a:off x="432000" y="1117708"/>
          <a:ext cx="8229418" cy="345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11.5.4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Sub-rede com o Número Mágico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95457481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11.5.5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Sub-Rede de uma Rede IPv4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577751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11.6.4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Sub-Rede em Vários Octetos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187452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11.6.5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Calcular a máscara de sub-rede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3667782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11.6.6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Calcular Sub-Redes IPv4.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11.7.4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Determinar o número de bits a serem emprestados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11.7.5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Cenário de divisão em sub-redes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11.8.1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Noções Básicas de VLSM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0564985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11.8.2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Exemplo de VLSM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5880583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3543700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Atividades (Cont.)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281056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Quais atividades estão associadas a este módulo?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580387"/>
              </p:ext>
            </p:extLst>
          </p:nvPr>
        </p:nvGraphicFramePr>
        <p:xfrm>
          <a:off x="432000" y="1127135"/>
          <a:ext cx="8229418" cy="2626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11.8.6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VLSM na Prática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20668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11.9.3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Prática de Projeto e Implementação do VLSM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06068602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marL="0" algn="ctr" defTabSz="685777" rtl="0" eaLnBrk="1" latinLnBrk="0" hangingPunct="1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11.10.1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Projetar e Implementar um Esquema de Endereçamento VLSM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14539205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marL="0" algn="ctr" defTabSz="685777" rtl="0" eaLnBrk="1" latinLnBrk="0" hangingPunct="1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11.10.2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Packet Tracer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Packet Tracer - Projetar e Implementar um Esquema de Endereçamento VLSM - Modo Físico</a:t>
                      </a:r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0923047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marL="0" algn="ctr" defTabSz="685777" rtl="0" eaLnBrk="1" latinLnBrk="0" hangingPunct="1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11.10.2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Projetar e Implementar um Esquema de Endereçamento VLSM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l" defTabSz="685777" rtl="0" eaLnBrk="1" latinLnBrk="0" hangingPunct="1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31969203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marL="0" algn="ctr" defTabSz="685777" rtl="0" eaLnBrk="1" latinLnBrk="0" hangingPunct="1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11.10.4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Teste do Módulo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Endereçamento IPv4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l" defTabSz="685777" rtl="0" eaLnBrk="1" latinLnBrk="0" hangingPunct="1"/>
                      <a:r>
                        <a:rPr sz="1100" kern="1200" lang="pt-BR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5919288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6799509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Práticas recomendadas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84644"/>
            <a:ext cx="8853286" cy="4155319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Antes de ensinar o Módulo 11, o instrutor deve:</a:t>
            </a:r>
          </a:p>
          <a:p>
            <a:pPr eaLnBrk="1" hangingPunct="1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Revise as atividades e avaliações para este módulo.</a:t>
            </a:r>
          </a:p>
          <a:p>
            <a:pPr eaLnBrk="1" hangingPunct="1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Tente incluir o máximo de perguntas possível para manter os alunos envolvidos durante a apresentação em sala de aula.</a:t>
            </a:r>
          </a:p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11.1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Como um roteador identifica as porções de rede e host de um endereço IP?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explicar como a máscara de sub-rede IPv4 e o comprimento do prefixo IPv6 são usados para identificar as porções de rede e host usando o processo de anding.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11.2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fornecer um exemplo de comunicação unicast, transmissão e multicast?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sz="1400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31760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28083"/>
            <a:ext cx="8853286" cy="4155319"/>
          </a:xfrm>
        </p:spPr>
        <p:txBody>
          <a:bodyPr/>
          <a:lstStyle/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11.3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Que tipo de endereço eles estão usando quando estão acessando a internet?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Por que o campo de máscara de sub-rede se prepara automaticamente com uma máscara de sub-rede 255.0.0.0, 255.0.0.0.0 ou 255.255.255.0 quando você atribui manualmente um host do Windows um endereço IP?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11.4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fornecer e exemplo de um domínio de transmissão usando pessoas e quartos?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fornecer exemplos de como podemos agrupar dispositivos e serviços em sub-redes?</a:t>
            </a:r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957605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37511"/>
            <a:ext cx="8853286" cy="4000478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11.5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fornecer um exemplo de sub-redes usando uma pizza? Sub-rede (isto é, dividir) em fatias de tamanho apropriadas.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explicar como sub-rede a /24 endereço de rede?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11.6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Que tipo de endereço eles estão usando quando estão acessando a internet?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Por que o campo de máscara de sub-rede se prepara automaticamente com uma máscara de sub-rede 255.0.0.0, 255.0.0.0.0 ou 255.255.255.0 quando você atribui manualmente um host do Windows um endereço IP?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7106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28083"/>
            <a:ext cx="8853286" cy="4155319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11.7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explicar por que a sub-rede pode desperdiçar endereços IP do host? Usando a analogia da pizza, destaque como nem todos têm a mesma fome.  Talvez uma pessoa quer duas ou três fatias enquanto outra caia metade de uma fatia. 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como esse problema pode ser resolvido.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como você pode ser aplicado na sub-rede.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11.8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fornecer um exemplo de VLSM usando fatias de pizza? As fatias de tamanho apropriadas são cortadas com base na necessidade.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explicar como a VLSM pode ser aplicada à sub-redes?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309727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11: Melhores Práticas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628083"/>
            <a:ext cx="8853286" cy="4155319"/>
          </a:xfrm>
        </p:spPr>
        <p:txBody>
          <a:bodyPr/>
          <a:lstStyle/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sz="1600" dirty="0"/>
          </a:p>
          <a:p>
            <a:pPr marL="0" indent="0" eaLnBrk="1" hangingPunct="1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Tópico 11.9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Dada uma topologia multi-site, você pode projetar um esquema de endereçamento escalável?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Você pode criar um diagrama de topologia lógica e identificar um esquema de endereçamento escalável?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75429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58416" cy="1080143"/>
          </a:xfrm>
        </p:spPr>
        <p:txBody>
          <a:bodyPr/>
          <a:lstStyle/>
          <a:p>
            <a:pPr rtl="0"/>
            <a:r>
              <a:rPr sz="44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769893"/>
            <a:ext cx="8804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 rtl="0"/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lang="pt-BR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Calcular um esquema de sub-rede IPv4 para segmentar com eficiência sua rede.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33592"/>
              </p:ext>
            </p:extLst>
          </p:nvPr>
        </p:nvGraphicFramePr>
        <p:xfrm>
          <a:off x="396000" y="1620000"/>
          <a:ext cx="8328900" cy="2657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000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20890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Estrutura do endereço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Descrever a estrutura de um endereço IPv4, incluindo a parte de rede, a parte de host e a máscara de sub-rede.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Unicast, broadcast e multicast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Comparar as características e os usos dos endereços IPv4 unicast, multicast e broadcast.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Tipos de endereços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os endereços IPv4 públicos, privados e reservados.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Segmentação de rede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como a divisão em sub-redes segmenta uma rede para facilitar a comunicação.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Sub-rede de uma rede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Calcular sub-redes IPv4 para um prefixo /24.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687767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4570917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 (Cont.)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769893"/>
            <a:ext cx="8804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 rtl="0"/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false" sz="1600" b="fals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false" sz="1600" b="true" i="false" u="none" strike="noStrike" cap="none" normalizeH="false" baseline="0" lang="pt-BR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lang="pt-BR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Calcular um esquema de sub-rede IPv4 para segmentar com eficiência sua rede.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67022"/>
              </p:ext>
            </p:extLst>
          </p:nvPr>
        </p:nvGraphicFramePr>
        <p:xfrm>
          <a:off x="396000" y="1620000"/>
          <a:ext cx="8328900" cy="1989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000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20890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Dividir em sub-redes de prefixos /16 e /8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Calcular sub-redes IPv4 para um prefixo /16 e /8.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Divisão em Sub-Redes para Atender a Requisitos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Dado um conjunto de requisitos para divisão de sub-redes, implementar um esquema de endereçamento IPv4.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Mascaramento de Sub-Rede de Tamanho Variável (VLSM)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como criar um esquema de endereçamento flexível usando VLSM (máscaras de sub-rede com tamanho variável).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pt-BR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Projeto estruturado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kern="1200" lang="pt-BR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Implementar um esquema de endereçamento VLSM.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9660083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11.1 Estrutura de endereço IPv4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Estrutura do endereço IPv4 </a:t>
            </a:r>
            <a:br>
              <a:rPr lang="en-US" dirty="0"/>
            </a:br>
            <a:r>
              <a:rPr sz="2400" lang="pt-BR"/>
              <a:t>Partes de rede e host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08574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endereço IPv4 é um endereço hierárquico de 32 bits, composto por uma parte da rede e uma parte do host.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Ao determinar a parte da rede versus a parte do host, você deve observar o fluxo de 32 bits.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Uma máscara de sub-rede é usada para determinar as partes da rede e do host.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D4F014-EE3C-4707-828B-FA78C75DB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804" y="3066806"/>
            <a:ext cx="4457929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Estrutura de endereço IPv4</a:t>
            </a:r>
            <a:br>
              <a:rPr lang="en-US" dirty="0"/>
            </a:br>
            <a:r>
              <a:rPr sz="2400" lang="pt-BR"/>
              <a:t>A máscara de sub-rede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183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Para identificar as partes da rede e do host de um endereço IPv4, a máscara de sub-rede é comparada com o endereço IPv4 bit por bit, da esquerda para a direita.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127D040-EF9A-41B6-A2B0-0C5D87D85AC1}"/>
              </a:ext>
            </a:extLst>
          </p:cNvPr>
          <p:cNvSpPr txBox="1">
            <a:spLocks/>
          </p:cNvSpPr>
          <p:nvPr/>
        </p:nvSpPr>
        <p:spPr>
          <a:xfrm>
            <a:off x="431971" y="1684028"/>
            <a:ext cx="3031991" cy="15468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processo real usado para identificar as partes da rede e do host é chamado 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A54EB-7DE0-40F0-802E-91DE00F2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858" y="1710838"/>
            <a:ext cx="4470630" cy="21591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257850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Estrutura do endereço IPv4</a:t>
            </a:r>
            <a:br>
              <a:rPr lang="en-US" dirty="0"/>
            </a:br>
            <a:r>
              <a:rPr sz="2400" lang="pt-BR"/>
              <a:t>O comprimento do prefixo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1080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comprimento de prefixo é um método menos complicado usado para identificar um endereço de máscara de sub-rede.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21F958E-C237-4731-8453-C4FA21B38C3F}"/>
              </a:ext>
            </a:extLst>
          </p:cNvPr>
          <p:cNvSpPr txBox="1">
            <a:spLocks/>
          </p:cNvSpPr>
          <p:nvPr/>
        </p:nvSpPr>
        <p:spPr>
          <a:xfrm>
            <a:off x="431970" y="1447090"/>
            <a:ext cx="337623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comprimento do prefixo é o número de bits definido como 1 na máscara de sub-rede.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Está escrito em "notação de barra", portanto, conte o número de bits na máscara de sub-rede e adicione-a com uma barra.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33CEE0-728D-4198-87F2-5E9774E18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12623"/>
              </p:ext>
            </p:extLst>
          </p:nvPr>
        </p:nvGraphicFramePr>
        <p:xfrm>
          <a:off x="4046221" y="1366221"/>
          <a:ext cx="4762500" cy="34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619">
                  <a:extLst>
                    <a:ext uri="{9D8B030D-6E8A-4147-A177-3AD203B41FA5}">
                      <a16:colId xmlns:a16="http://schemas.microsoft.com/office/drawing/2014/main" val="2853717215"/>
                    </a:ext>
                  </a:extLst>
                </a:gridCol>
                <a:gridCol w="2628321">
                  <a:extLst>
                    <a:ext uri="{9D8B030D-6E8A-4147-A177-3AD203B41FA5}">
                      <a16:colId xmlns:a16="http://schemas.microsoft.com/office/drawing/2014/main" val="3859420295"/>
                    </a:ext>
                  </a:extLst>
                </a:gridCol>
                <a:gridCol w="983560">
                  <a:extLst>
                    <a:ext uri="{9D8B030D-6E8A-4147-A177-3AD203B41FA5}">
                      <a16:colId xmlns:a16="http://schemas.microsoft.com/office/drawing/2014/main" val="2152541703"/>
                    </a:ext>
                  </a:extLst>
                </a:gridCol>
              </a:tblGrid>
              <a:tr h="340940">
                <a:tc>
                  <a:txBody>
                    <a:bodyPr/>
                    <a:lstStyle/>
                    <a:p>
                      <a:pPr algn="l" fontAlgn="ctr" rtl="0"/>
                      <a:r>
                        <a:rPr sz="1050" b="true" lang="pt-BR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50" b="true" lang="pt-BR">
                          <a:effectLst/>
                        </a:rPr>
                        <a:t>Endereço de 32 bits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50" b="true" lang="pt-BR">
                          <a:effectLst/>
                        </a:rPr>
                        <a:t>Prefixo </a:t>
                      </a:r>
                    </a:p>
                    <a:p>
                      <a:pPr algn="l" fontAlgn="ctr" rtl="0"/>
                      <a:r>
                        <a:rPr sz="1050" b="true" lang="pt-BR">
                          <a:effectLst/>
                        </a:rPr>
                        <a:t>Tamanho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17726287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255.0.0.0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11111111.00000000.00000000.00000000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/8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76665342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63355901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11111111.11111111.11111111.00000000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09772987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11111111.111111.11111111.10000000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62219286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11111111.11111111.11111111.11000000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81816204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11111111.11111111.11111111.11100000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859046036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11111111.11111111.11111111.11110000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913653739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11111111.11111111.11111111.11111000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0304742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</a:rPr>
                        <a:t>11111111.11111111.11111111.11111100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3524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52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Estrutura de Endereços IPv4</a:t>
            </a:r>
            <a:br>
              <a:rPr lang="en-US" dirty="0"/>
            </a:br>
            <a:r>
              <a:rPr sz="2400" lang="pt-BR"/>
              <a:t>Determinando a Rede: Lógica 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2202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Uma operação lógica AND booleana é usada na determinação do endereço de rede.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Lógico AND é a comparação de dois bits onde apenas um 1 E 1 produz um 1 e qualquer outra combinação resulta em um 0.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1 E 1 = 1, 0 E 1 = 0, 1 E 0 = 0, 0 E 0 = 0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1 = Verdadeiro e 0 = Falso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528EAA4-4ECB-4719-8E9E-7DE8051ABB69}"/>
              </a:ext>
            </a:extLst>
          </p:cNvPr>
          <p:cNvSpPr txBox="1">
            <a:spLocks/>
          </p:cNvSpPr>
          <p:nvPr/>
        </p:nvSpPr>
        <p:spPr>
          <a:xfrm>
            <a:off x="431971" y="2483539"/>
            <a:ext cx="3849573" cy="19876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Para identificar o endereço de rede, o endereço IPv4 do host é AND logicamente, bit a bit, com a máscara de sub-rede para identificar o endereço de rede.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917F7-70A6-4627-8200-4118CE19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158" y="2377440"/>
            <a:ext cx="4534133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04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Estrutura de endereço IPv4</a:t>
            </a:r>
            <a:br>
              <a:rPr lang="en-US" dirty="0"/>
            </a:br>
            <a:r>
              <a:rPr sz="2400" lang="pt-BR"/>
              <a:t>Vídeo - endereços de rede, host e transmissão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01ED4EE-A438-4923-8A5A-4E8EDE0D676B}"/>
              </a:ext>
            </a:extLst>
          </p:cNvPr>
          <p:cNvSpPr txBox="1">
            <a:spLocks/>
          </p:cNvSpPr>
          <p:nvPr/>
        </p:nvSpPr>
        <p:spPr>
          <a:xfrm>
            <a:off x="431971" y="864846"/>
            <a:ext cx="8280057" cy="152202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Este vídeo aborda o seguinte: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Endereço de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Endereço de Broadcast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Primeiro host utilizável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Último host utilizável</a:t>
            </a:r>
          </a:p>
        </p:txBody>
      </p:sp>
    </p:spTree>
    <p:extLst>
      <p:ext uri="{BB962C8B-B14F-4D97-AF65-F5344CB8AC3E}">
        <p14:creationId xmlns:p14="http://schemas.microsoft.com/office/powerpoint/2010/main" val="2922228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Estrutura de endereço IPv4</a:t>
            </a:r>
            <a:br>
              <a:rPr lang="en-US" dirty="0"/>
            </a:br>
            <a:r>
              <a:rPr sz="2400" lang="pt-BR"/>
              <a:t> Endereços de rede, host e transmissão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C2E9A2-7F9F-404A-B632-433B3DD70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1" y="2222298"/>
            <a:ext cx="2898633" cy="160742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5667615" cy="132838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Dentro de cada rede há três tipos de endereços IP: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 de rede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Endereços de host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 de broadcast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3C58AD-E4FB-4E6F-A2AA-5493C4001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36514"/>
              </p:ext>
            </p:extLst>
          </p:nvPr>
        </p:nvGraphicFramePr>
        <p:xfrm>
          <a:off x="3512820" y="2247024"/>
          <a:ext cx="5494020" cy="223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6951079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36696009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195186617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3408647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marL="31750" marR="31750" marT="31750" marB="317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50" b="true" lang="pt-BR">
                          <a:effectLst/>
                        </a:rPr>
                        <a:t>Parte de 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50" b="true" lang="pt-BR">
                          <a:effectLst/>
                        </a:rPr>
                        <a:t>Parte de host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50" b="true" lang="pt-BR">
                          <a:effectLst/>
                        </a:rPr>
                        <a:t>Bitsde host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1701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Máscara de sub-rede</a:t>
                      </a:r>
                    </a:p>
                    <a:p>
                      <a:pPr fontAlgn="ctr" rtl="0"/>
                      <a:r>
                        <a:rPr sz="1000" b="true" lang="pt-BR">
                          <a:effectLst/>
                        </a:rPr>
                        <a:t>255.255.255.</a:t>
                      </a:r>
                      <a:r>
                        <a:rPr sz="1000" b="false" lang="pt-BR">
                          <a:effectLst/>
                        </a:rPr>
                        <a:t>0 ou 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255 255 255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11111111 111111 111111 111111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201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Endereço de rede</a:t>
                      </a:r>
                    </a:p>
                    <a:p>
                      <a:pPr fontAlgn="ctr" rtl="0"/>
                      <a:r>
                        <a:rPr sz="1000" b="true" lang="pt-BR">
                          <a:effectLst/>
                        </a:rPr>
                        <a:t>192.168.10.</a:t>
                      </a:r>
                      <a:r>
                        <a:rPr sz="1000" b="false" lang="pt-BR">
                          <a:effectLst/>
                        </a:rPr>
                        <a:t>0 ou 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00" b="false" lang="pt-BR">
                          <a:effectLst/>
                        </a:rPr>
                        <a:t>Todos os 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58279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Primeiro endereço</a:t>
                      </a:r>
                    </a:p>
                    <a:p>
                      <a:pPr fontAlgn="ctr" rtl="0"/>
                      <a:r>
                        <a:rPr sz="1000" b="true" lang="pt-BR">
                          <a:effectLst/>
                        </a:rPr>
                        <a:t>192.168.10.1</a:t>
                      </a:r>
                      <a:r>
                        <a:rPr sz="1000" b="false" lang="pt-BR">
                          <a:effectLst/>
                        </a:rPr>
                        <a:t> ou 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00" b="false" lang="pt-BR">
                          <a:effectLst/>
                        </a:rPr>
                        <a:t>Todos os 0s e um 1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1540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Último endereço</a:t>
                      </a:r>
                    </a:p>
                    <a:p>
                      <a:pPr fontAlgn="ctr" rtl="0"/>
                      <a:r>
                        <a:rPr sz="1000" b="true" lang="pt-BR">
                          <a:effectLst/>
                        </a:rPr>
                        <a:t>192.168.10.254</a:t>
                      </a:r>
                      <a:r>
                        <a:rPr sz="1000" b="false" lang="pt-BR">
                          <a:effectLst/>
                        </a:rPr>
                        <a:t> ou 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254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00" b="false" lang="pt-BR">
                          <a:effectLst/>
                        </a:rPr>
                        <a:t>Todos os 1s e um 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01852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Endereço de broadcast</a:t>
                      </a:r>
                    </a:p>
                    <a:p>
                      <a:pPr fontAlgn="ctr" rtl="0"/>
                      <a:r>
                        <a:rPr sz="1000" b="true" lang="pt-BR">
                          <a:effectLst/>
                        </a:rPr>
                        <a:t>192.168.10.255</a:t>
                      </a:r>
                      <a:r>
                        <a:rPr sz="1000" b="false" lang="pt-BR">
                          <a:effectLst/>
                        </a:rPr>
                        <a:t> ou 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fontAlgn="ctr" rtl="0"/>
                      <a:r>
                        <a:rPr sz="1000" b="false" lang="pt-BR">
                          <a:effectLst/>
                        </a:rPr>
                        <a:t>Todos os 1s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2729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40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11.2 Unicast IPv4, transmissão e multicast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Unicast IPv4, Broadcast e Multicast</a:t>
            </a:r>
            <a:br>
              <a:rPr lang="en-US" dirty="0"/>
            </a:br>
            <a:r>
              <a:rPr sz="2400" lang="pt-BR"/>
              <a:t>Unicast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transmissão unicast está enviando um pacote para um endereço IP de destino.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Por exemplo, o PC em 172.16.4.1 envia um pacote unicast para a impressora em 172.16.4.253.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7E06A5-43CA-4616-9CC2-40C3C98F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92" y="2132314"/>
            <a:ext cx="2829973" cy="231634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0C084AC-73BA-4205-822C-80E03F10B01A}"/>
              </a:ext>
            </a:extLst>
          </p:cNvPr>
          <p:cNvSpPr/>
          <p:nvPr/>
        </p:nvSpPr>
        <p:spPr>
          <a:xfrm>
            <a:off x="3971431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A7C70-F6C2-47F7-8084-E8C34124C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151" y="2132314"/>
            <a:ext cx="2829973" cy="231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8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Unicast IPv4, Broadcast e Multicast</a:t>
            </a:r>
            <a:br>
              <a:rPr lang="en-US" dirty="0"/>
            </a:br>
            <a:r>
              <a:rPr sz="2400" lang="pt-BR"/>
              <a:t>Broadcast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00166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Transmissão de transmissão está enviando um pacote para todos os outros endereços IP de destino.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Por exemplo, o PC em 172.16.4.1 envia um pacote de difusão para todos os hosts IPv4.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F68B31-29E2-43C7-A438-1CE3A9BE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7" y="1992794"/>
            <a:ext cx="2814401" cy="242309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D1DB5E3-6538-4D97-B86F-3537291085CA}"/>
              </a:ext>
            </a:extLst>
          </p:cNvPr>
          <p:cNvSpPr/>
          <p:nvPr/>
        </p:nvSpPr>
        <p:spPr>
          <a:xfrm>
            <a:off x="4046847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D91D6-8B82-4552-BA7F-ACD3DC677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498" y="1992460"/>
            <a:ext cx="2814401" cy="242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3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Unicast IPv4, transmissão e multicast</a:t>
            </a:r>
            <a:br>
              <a:rPr lang="en-US" dirty="0"/>
            </a:br>
            <a:r>
              <a:rPr sz="2400" lang="pt-BR"/>
              <a:t>Multicast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transmissão multicast está enviando um pacote para um grupo de endereços multicast.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Por exemplo, o PC em 172.16.4.1 envia um pacote multicast para o endereço de grupo de multicast 224.10.10.5.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8B46F-E225-4F03-B437-98A0BB4F7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73" y="2278304"/>
            <a:ext cx="2862981" cy="216952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B0C162D-3A37-40E3-9806-62C97CB24D0F}"/>
              </a:ext>
            </a:extLst>
          </p:cNvPr>
          <p:cNvSpPr/>
          <p:nvPr/>
        </p:nvSpPr>
        <p:spPr>
          <a:xfrm>
            <a:off x="3999712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C59E69-3898-4F73-83D5-D2A1CF5F0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711" y="2280614"/>
            <a:ext cx="2862981" cy="21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83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11.3 Tipos de endereços 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2107682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endereços IPv4</a:t>
            </a:r>
            <a:br>
              <a:rPr lang="en-US" dirty="0"/>
            </a:br>
            <a:r>
              <a:rPr sz="2400" lang="pt-BR"/>
              <a:t> Endereços IPv4 públicos e privados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82592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Conforme definido na RFC 1918, os endereços IPv4 públicos são roteados globalmente entre os roteadores do provedor de serviços de Internet (ISP).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No entanto, os endereços privados não são globalmente roteáveis.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8479601-5CDB-4C0D-B13C-379A83A14207}"/>
              </a:ext>
            </a:extLst>
          </p:cNvPr>
          <p:cNvSpPr txBox="1">
            <a:spLocks/>
          </p:cNvSpPr>
          <p:nvPr/>
        </p:nvSpPr>
        <p:spPr>
          <a:xfrm>
            <a:off x="431971" y="1681342"/>
            <a:ext cx="4269121" cy="24603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Endereços privados são blocos comuns de endereços usados pela maioria das organizações para atribuir endereços IPv4 a hosts internos.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endereços IPv4 privados não são exclusivos e podem ser usados internamente em qualquer rede.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B44CF3-2CFA-4BA2-948A-BF99DA4FD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869958"/>
              </p:ext>
            </p:extLst>
          </p:nvPr>
        </p:nvGraphicFramePr>
        <p:xfrm>
          <a:off x="5173532" y="1804924"/>
          <a:ext cx="3644396" cy="151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648">
                  <a:extLst>
                    <a:ext uri="{9D8B030D-6E8A-4147-A177-3AD203B41FA5}">
                      <a16:colId xmlns:a16="http://schemas.microsoft.com/office/drawing/2014/main" val="828829070"/>
                    </a:ext>
                  </a:extLst>
                </a:gridCol>
                <a:gridCol w="2424748">
                  <a:extLst>
                    <a:ext uri="{9D8B030D-6E8A-4147-A177-3AD203B41FA5}">
                      <a16:colId xmlns:a16="http://schemas.microsoft.com/office/drawing/2014/main" val="1771473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 rtl="0"/>
                      <a:r>
                        <a:rPr sz="1100" b="true" lang="pt-BR">
                          <a:effectLst/>
                        </a:rPr>
                        <a:t>Endereço de rede e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100" b="true" lang="pt-BR">
                          <a:effectLst/>
                        </a:rPr>
                        <a:t>RFC 1918 Intervalo de endereços privados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17194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100" b="false" lang="pt-BR">
                          <a:effectLst/>
                        </a:rPr>
                        <a:t>10.0.0.0/8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100" b="false" lang="pt-BR">
                          <a:effectLst/>
                        </a:rPr>
                        <a:t>10.0.0.0 - 10.255.255.255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1527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100" b="false" lang="pt-BR">
                          <a:effectLst/>
                        </a:rPr>
                        <a:t>172.16.0.0/12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100" b="false" lang="pt-BR">
                          <a:effectLst/>
                        </a:rPr>
                        <a:t>172.16.0.0 - 172.31.255.255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58997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100" b="false" lang="pt-BR">
                          <a:effectLst/>
                        </a:rPr>
                        <a:t>192.168.0.0/16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100" b="false" lang="pt-BR">
                          <a:effectLst/>
                        </a:rPr>
                        <a:t>192.168.0.0 - 192.168.255.255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9775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738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Endereços IPv4</a:t>
            </a:r>
            <a:br>
              <a:rPr lang="en-US" dirty="0"/>
            </a:br>
            <a:r>
              <a:rPr sz="2400" lang="pt-BR"/>
              <a:t>Roteamento para a Internet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2819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conversão de endereços de rede (NAT) converte endereços IPv4 privados em endereços IPv4 públicos.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B41F94C-72F5-4291-BC41-D3CA12CF0380}"/>
              </a:ext>
            </a:extLst>
          </p:cNvPr>
          <p:cNvSpPr txBox="1">
            <a:spLocks/>
          </p:cNvSpPr>
          <p:nvPr/>
        </p:nvSpPr>
        <p:spPr>
          <a:xfrm>
            <a:off x="431971" y="1683758"/>
            <a:ext cx="2905739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Normalmente, o NAT é habilitado no roteador de borda que se conecta à Internet.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Ele converte o endereço privado interno em um endereço IP global público.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2E9573-E9D0-43E1-8820-1689885B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710" y="1583611"/>
            <a:ext cx="5288257" cy="344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60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endereços IPv4</a:t>
            </a:r>
            <a:br>
              <a:rPr lang="en-US" dirty="0"/>
            </a:br>
            <a:r>
              <a:rPr sz="2400" lang="pt-BR"/>
              <a:t> Endereços IPv4 de uso especial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799905" cy="1478990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Endereços de loopback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127.0.0.0 / 8 (127.0.0.1 a 127.255.255.254)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Comumente identificado como apenas 127.0.0.1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Usado em um host para testar se o TCP / IP está operacional.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E57F18-BC87-45CB-B8E6-D449D452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08" y="1214135"/>
            <a:ext cx="3564074" cy="876875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5B257E1-0405-4735-85E9-547525F12CE6}"/>
              </a:ext>
            </a:extLst>
          </p:cNvPr>
          <p:cNvSpPr txBox="1">
            <a:spLocks/>
          </p:cNvSpPr>
          <p:nvPr/>
        </p:nvSpPr>
        <p:spPr>
          <a:xfrm>
            <a:off x="431970" y="2385343"/>
            <a:ext cx="8206421" cy="1906958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>
                <a:solidFill>
                  <a:srgbClr val="000000"/>
                </a:solidFill>
              </a:rPr>
              <a:t>Endereços locais de link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169.254.0.0 / 16 (169.254.0.1 a 169.254.255.254)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Comumente conhecido como endereços APIPA (Automatic Private IP Addressing) ou endereços auto-atribuídos.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Usado pelos clientes DHCP do Windows para se autoconfigurar quando nenhum servidor DHCP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4007806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endereços IPv4</a:t>
            </a:r>
            <a:br>
              <a:rPr lang="en-US" dirty="0"/>
            </a:br>
            <a:r>
              <a:rPr sz="2400" lang="pt-BR"/>
              <a:t>Endereçamento Classificado Legado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DBF03-421E-4564-9492-4248ADBE4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551" y="1248180"/>
            <a:ext cx="3163682" cy="183659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685733"/>
            <a:ext cx="4956309" cy="4060826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RFC 790 (1981) alocado endereços IPv4 em classes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Classe A (0.0.0/8 a 127.0.0.0/8)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Classe B (128.0.0.0 /16 — 191.255.0.0 /16)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Classe C (192.0.0.0 /24 — 223.255.255.0 /24)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Classe D (224.0.0.0 a 239.0.0.0)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Classe E (240.0.0.0 — 255.0.0.0)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Endereços de classe desperdiçaram muitos endereços IPv4.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A alocação de endereços de classe foi substituída por endereçamento sem classe que ignora as regras das classes (A, B, C). </a:t>
            </a:r>
          </a:p>
        </p:txBody>
      </p:sp>
    </p:spTree>
    <p:extLst>
      <p:ext uri="{BB962C8B-B14F-4D97-AF65-F5344CB8AC3E}">
        <p14:creationId xmlns:p14="http://schemas.microsoft.com/office/powerpoint/2010/main" val="728904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Tipos de endereço IPv4 </a:t>
            </a:r>
            <a:br>
              <a:rPr lang="en-US" dirty="0"/>
            </a:br>
            <a:r>
              <a:rPr sz="2400" lang="pt-BR"/>
              <a:t>Atribuição de endereços 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771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IANA (Internet Assigned Numbers Authority) gerencia e aloca blocos de endereços IPv4 e IPv6 a cinco RIRs (Registros Regionais da Internet).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9BC4D9-9184-42D7-839E-39E96E08A3D4}"/>
              </a:ext>
            </a:extLst>
          </p:cNvPr>
          <p:cNvSpPr txBox="1">
            <a:spLocks/>
          </p:cNvSpPr>
          <p:nvPr/>
        </p:nvSpPr>
        <p:spPr>
          <a:xfrm>
            <a:off x="431970" y="1681116"/>
            <a:ext cx="3337951" cy="224824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RIRs são responsáveis pela alocação de endereços IP aos ISPs que fornecem blocos de endereços IPv4 a ISPs e organizações menores.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C39C3-1B89-41EA-828D-DA77348A5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299" y="1681116"/>
            <a:ext cx="4607351" cy="23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40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11.4 Segmentação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de rede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6237413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Segmentação de rede</a:t>
            </a:r>
            <a:br>
              <a:rPr lang="en-US" dirty="0"/>
            </a:br>
            <a:r>
              <a:rPr sz="2400" lang="pt-BR"/>
              <a:t>Domínios e Segmentação de Broadcast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8217177" cy="119019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Muitos protocolos usam transmissões ou multicasts (por exemplo, ARP usam transmissões para localizar outros dispositivos, hosts enviam transmissões de descoberta DHCP para localizar um servidor DHCP).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switches propagam broadcasts por todas as interfaces, exceto a interface em que foram recebidos.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398782-9905-4785-9579-06EB0167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6" y="1910848"/>
            <a:ext cx="4432055" cy="2638933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5B5FA5-3694-4D86-AB3C-0BB4544AC221}"/>
              </a:ext>
            </a:extLst>
          </p:cNvPr>
          <p:cNvSpPr txBox="1">
            <a:spLocks/>
          </p:cNvSpPr>
          <p:nvPr/>
        </p:nvSpPr>
        <p:spPr>
          <a:xfrm>
            <a:off x="5464792" y="2205317"/>
            <a:ext cx="3324206" cy="23444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único dispositivo que interrompe as transmissões é um roteador.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Roteadores não propagam broadcasts.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Cada interface do roteador se conecta a um domínio de broadcast e as transmissões são propagadas apenas dentro desse domínio de broadcast específico.</a:t>
            </a:r>
          </a:p>
        </p:txBody>
      </p:sp>
    </p:spTree>
    <p:extLst>
      <p:ext uri="{BB962C8B-B14F-4D97-AF65-F5344CB8AC3E}">
        <p14:creationId xmlns:p14="http://schemas.microsoft.com/office/powerpoint/2010/main" val="469147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Segmentação de rede</a:t>
            </a:r>
            <a:br>
              <a:rPr lang="en-US" dirty="0"/>
            </a:br>
            <a:r>
              <a:rPr sz="2400" lang="pt-BR"/>
              <a:t>Problemas com grandes domínios de transmissão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4807003" cy="389946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 problema desse tipo de domínio é que os hosts podem gerar broadcasts em excesso e afetar a rede de forma negativa.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solução é reduzir o tamanho da rede para criar domínios de broadcast menores em um processo denominado divisão em sub-redes.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Dividindo o endereço de rede 172.16.0.0 / 16 em duas sub-redes de 200 usuários cada: 172.16.0.0 / 24 e 172.16.1.0 / 24.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broadcasts são propagados apenas dentro dos domínios de broadcast menores.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7A91AF-16E4-4E33-B4E6-A586D3355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94" y="582072"/>
            <a:ext cx="3330224" cy="1980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46CC1-6CFB-4882-AB1A-AEF0BB439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109" y="2791150"/>
            <a:ext cx="3802562" cy="17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23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Segmentação de rede </a:t>
            </a:r>
            <a:br>
              <a:rPr lang="en-US" dirty="0"/>
            </a:br>
            <a:r>
              <a:rPr sz="2400" lang="pt-BR"/>
              <a:t>Razões para segmentar redes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50058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divisão em sub-redes reduz o tráfego total da rede e melhora seu desempenho.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Ele pode ser usado para implementar políticas de segurança entre sub-redes.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sub-rede reduz o número de dispositivos afetados pelo tráfego de transmissão anormal.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As sub-redes são usadas por uma variedade de razões, incluindo: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8B652-544C-4DA4-843F-B9A537AD3E84}"/>
              </a:ext>
            </a:extLst>
          </p:cNvPr>
          <p:cNvSpPr/>
          <p:nvPr/>
        </p:nvSpPr>
        <p:spPr>
          <a:xfrm>
            <a:off x="375431" y="2492000"/>
            <a:ext cx="2698320" cy="1806839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sz="1600" lang="pt-BR"/>
              <a:t>Local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0E2D3-D553-4D04-B410-56EFCD0EF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56" y="2914594"/>
            <a:ext cx="2789064" cy="13183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CC4029-1176-45DF-9BD6-D3DC9A0400D7}"/>
              </a:ext>
            </a:extLst>
          </p:cNvPr>
          <p:cNvSpPr/>
          <p:nvPr/>
        </p:nvSpPr>
        <p:spPr>
          <a:xfrm>
            <a:off x="3342986" y="2492000"/>
            <a:ext cx="2698320" cy="2036970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sz="1600" lang="pt-BR"/>
              <a:t>Grupo ou Função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2D7C8-8057-4C93-9478-2A5D8FE11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58" y="2879280"/>
            <a:ext cx="2372228" cy="15717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AE73D0-B95E-40DB-9C64-6AF021F99C3A}"/>
              </a:ext>
            </a:extLst>
          </p:cNvPr>
          <p:cNvSpPr/>
          <p:nvPr/>
        </p:nvSpPr>
        <p:spPr>
          <a:xfrm>
            <a:off x="6319781" y="2483461"/>
            <a:ext cx="2523186" cy="2036970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sz="1600" lang="pt-BR"/>
              <a:t>Tipo de dispositivo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53623-0268-429C-9C1F-8E5C4E0CD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832" y="2900796"/>
            <a:ext cx="2372228" cy="157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21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11.5 Sub-rede uma rede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3752357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de uma rede IPv4</a:t>
            </a:r>
            <a:br>
              <a:rPr lang="en-US" dirty="0"/>
            </a:br>
            <a:r>
              <a:rPr sz="2400" lang="pt-BR"/>
              <a:t>Sub-rede em um limite de octeto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1478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É mais fácil dividir redes em sub-redes nos limites dos octetos: /8, /16 e /24.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Observe que o uso de prefixos mais longos diminui o número de hosts por sub-rede.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61C527-BCD3-42E1-8735-11AC62583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00362"/>
              </p:ext>
            </p:extLst>
          </p:nvPr>
        </p:nvGraphicFramePr>
        <p:xfrm>
          <a:off x="991974" y="2111017"/>
          <a:ext cx="6896100" cy="15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76">
                  <a:extLst>
                    <a:ext uri="{9D8B030D-6E8A-4147-A177-3AD203B41FA5}">
                      <a16:colId xmlns:a16="http://schemas.microsoft.com/office/drawing/2014/main" val="401309278"/>
                    </a:ext>
                  </a:extLst>
                </a:gridCol>
                <a:gridCol w="1215438">
                  <a:extLst>
                    <a:ext uri="{9D8B030D-6E8A-4147-A177-3AD203B41FA5}">
                      <a16:colId xmlns:a16="http://schemas.microsoft.com/office/drawing/2014/main" val="1282189193"/>
                    </a:ext>
                  </a:extLst>
                </a:gridCol>
                <a:gridCol w="3473910">
                  <a:extLst>
                    <a:ext uri="{9D8B030D-6E8A-4147-A177-3AD203B41FA5}">
                      <a16:colId xmlns:a16="http://schemas.microsoft.com/office/drawing/2014/main" val="2307218981"/>
                    </a:ext>
                  </a:extLst>
                </a:gridCol>
                <a:gridCol w="1103376">
                  <a:extLst>
                    <a:ext uri="{9D8B030D-6E8A-4147-A177-3AD203B41FA5}">
                      <a16:colId xmlns:a16="http://schemas.microsoft.com/office/drawing/2014/main" val="1338141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 rtl="0"/>
                      <a:r>
                        <a:rPr sz="1100" b="true" lang="pt-BR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100" b="true" lang="pt-BR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100" b="true" lang="pt-BR">
                          <a:effectLst/>
                        </a:rPr>
                        <a:t>Máscara de sub-rede em binário 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100" b="true" lang="pt-BR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00614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100" b="true" lang="pt-BR">
                          <a:effectLst/>
                        </a:rPr>
                        <a:t>/8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100" b="true" lang="pt-BR">
                          <a:effectLst/>
                        </a:rPr>
                        <a:t>255</a:t>
                      </a:r>
                      <a:r>
                        <a:rPr sz="1100" b="false" lang="pt-BR">
                          <a:effectLst/>
                        </a:rPr>
                        <a:t>.0.0.0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16.777.214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3791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1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100" b="true" lang="pt-BR">
                          <a:effectLst/>
                        </a:rPr>
                        <a:t>255.255</a:t>
                      </a:r>
                      <a:r>
                        <a:rPr sz="1100" b="false" lang="pt-BR">
                          <a:effectLst/>
                        </a:rPr>
                        <a:t>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65.534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5028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1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100" b="true" lang="pt-BR">
                          <a:effectLst/>
                        </a:rPr>
                        <a:t>255.255.255</a:t>
                      </a:r>
                      <a:r>
                        <a:rPr sz="11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1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</a:t>
                      </a:r>
                      <a:r>
                        <a:rPr sz="11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466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377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de uma rede IPv4</a:t>
            </a:r>
            <a:br>
              <a:rPr lang="en-US" dirty="0"/>
            </a:br>
            <a:r>
              <a:rPr sz="2400" lang="pt-BR"/>
              <a:t> em um limite de octeto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07768"/>
            <a:ext cx="8280057" cy="36251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Na primeira tabela 10.0.0.0/8 é sub-rede usando /16 e na segunda tabela, uma máscara /24.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270C55-FA5F-44D6-BE83-71DEA8A80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006946"/>
              </p:ext>
            </p:extLst>
          </p:nvPr>
        </p:nvGraphicFramePr>
        <p:xfrm>
          <a:off x="457200" y="1246211"/>
          <a:ext cx="3870960" cy="343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314">
                  <a:extLst>
                    <a:ext uri="{9D8B030D-6E8A-4147-A177-3AD203B41FA5}">
                      <a16:colId xmlns:a16="http://schemas.microsoft.com/office/drawing/2014/main" val="1832368472"/>
                    </a:ext>
                  </a:extLst>
                </a:gridCol>
                <a:gridCol w="1741186">
                  <a:extLst>
                    <a:ext uri="{9D8B030D-6E8A-4147-A177-3AD203B41FA5}">
                      <a16:colId xmlns:a16="http://schemas.microsoft.com/office/drawing/2014/main" val="3133033927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1854765229"/>
                    </a:ext>
                  </a:extLst>
                </a:gridCol>
              </a:tblGrid>
              <a:tr h="409211"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Endereço de sub-rede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sz="1000" b="false" lang="pt-BR">
                          <a:effectLst/>
                        </a:rPr>
                        <a:t>(256 possíveis sub-redes)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Intervalo de hosts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sz="1000" b="false" lang="pt-BR">
                          <a:effectLst/>
                        </a:rPr>
                        <a:t>(65.534 hosts possíveis por sub-rede)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Broadcast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21925027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10.0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43493669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</a:t>
                      </a:r>
                      <a:r>
                        <a:rPr sz="1000" b="false" lang="pt-BR">
                          <a:effectLst/>
                        </a:rPr>
                        <a:t>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10.1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5935614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10.2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757916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10.3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10.3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10.3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10.3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46693201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10.4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10.4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10.4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10.4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60802008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10.5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10.5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10.5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10.5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4025169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10.6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10.6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10.6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10.6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9384603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10.7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10.7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10.7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10.7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19694656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11108504"/>
                  </a:ext>
                </a:extLst>
              </a:tr>
              <a:tr h="291438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10.255</a:t>
                      </a:r>
                      <a:r>
                        <a:rPr sz="1000" b="false" lang="pt-BR">
                          <a:effectLst/>
                        </a:rPr>
                        <a:t>.0.0</a:t>
                      </a:r>
                      <a:r>
                        <a:rPr sz="1000" b="true" lang="pt-BR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10.255</a:t>
                      </a:r>
                      <a:r>
                        <a:rPr sz="1000" b="false" lang="pt-BR">
                          <a:effectLst/>
                        </a:rPr>
                        <a:t>.0.1 - </a:t>
                      </a:r>
                      <a:r>
                        <a:rPr sz="1000" b="true" lang="pt-BR">
                          <a:effectLst/>
                        </a:rPr>
                        <a:t>10.255</a:t>
                      </a:r>
                      <a:r>
                        <a:rPr sz="1000" b="false" lang="pt-BR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10.255</a:t>
                      </a:r>
                      <a:r>
                        <a:rPr sz="1000" b="false" lang="pt-BR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94172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119983-4ED6-4A9F-ABB0-451D571C3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71318"/>
              </p:ext>
            </p:extLst>
          </p:nvPr>
        </p:nvGraphicFramePr>
        <p:xfrm>
          <a:off x="4671059" y="1246212"/>
          <a:ext cx="4152901" cy="343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21">
                  <a:extLst>
                    <a:ext uri="{9D8B030D-6E8A-4147-A177-3AD203B41FA5}">
                      <a16:colId xmlns:a16="http://schemas.microsoft.com/office/drawing/2014/main" val="1832368472"/>
                    </a:ext>
                  </a:extLst>
                </a:gridCol>
                <a:gridCol w="1998805">
                  <a:extLst>
                    <a:ext uri="{9D8B030D-6E8A-4147-A177-3AD203B41FA5}">
                      <a16:colId xmlns:a16="http://schemas.microsoft.com/office/drawing/2014/main" val="3133033927"/>
                    </a:ext>
                  </a:extLst>
                </a:gridCol>
                <a:gridCol w="956475">
                  <a:extLst>
                    <a:ext uri="{9D8B030D-6E8A-4147-A177-3AD203B41FA5}">
                      <a16:colId xmlns:a16="http://schemas.microsoft.com/office/drawing/2014/main" val="1854765229"/>
                    </a:ext>
                  </a:extLst>
                </a:gridCol>
              </a:tblGrid>
              <a:tr h="520177"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Endereço de sub-rede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sz="1000" b="false" lang="pt-BR">
                          <a:effectLst/>
                        </a:rPr>
                        <a:t>(65.536 sub-redes possíveis)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Intervalo de hosts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sz="1000" b="false" lang="pt-BR">
                          <a:effectLst/>
                        </a:rPr>
                        <a:t>(254 hosts possíveis por sub-rede)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Broadcast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21925027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10.0.0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10.0.0</a:t>
                      </a:r>
                      <a:r>
                        <a:rPr sz="1000" b="false" lang="pt-BR">
                          <a:effectLst/>
                        </a:rPr>
                        <a:t>.1 - </a:t>
                      </a:r>
                      <a:r>
                        <a:rPr sz="1000" b="true" lang="pt-BR">
                          <a:effectLst/>
                        </a:rPr>
                        <a:t>10.0.0</a:t>
                      </a:r>
                      <a:r>
                        <a:rPr sz="1000" b="false" lang="pt-BR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10.0.0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48350670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10.0.1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10.0.1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10.0.1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10.0.1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38933585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10.0.2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10.0.2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10.0.2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10.0.2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43493669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5935614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10.0.255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10.0.255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10.0.255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10.0.255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757916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10.1.0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10.1.0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10.1.0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10.1.0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46693201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10.1.1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10.1.1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10.1.1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10.1.1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60802008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10.1.2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10.1.2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10.1.2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10.1.2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4025169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9384603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10.100.0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10.100.0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10.100.0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10.100.0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19694656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11108504"/>
                  </a:ext>
                </a:extLst>
              </a:tr>
              <a:tr h="242909"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10.255.255</a:t>
                      </a:r>
                      <a:r>
                        <a:rPr sz="1000" b="false" lang="pt-BR">
                          <a:effectLst/>
                        </a:rPr>
                        <a:t>.0</a:t>
                      </a:r>
                      <a:r>
                        <a:rPr sz="1000" b="tru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10.255.255</a:t>
                      </a:r>
                      <a:r>
                        <a:rPr sz="1000" b="false" lang="pt-BR">
                          <a:effectLst/>
                        </a:rPr>
                        <a:t>.1 - </a:t>
                      </a:r>
                      <a:r>
                        <a:rPr sz="1000" b="true" lang="pt-BR">
                          <a:effectLst/>
                        </a:rPr>
                        <a:t>10.2255.255</a:t>
                      </a:r>
                      <a:r>
                        <a:rPr sz="1000" b="false" lang="pt-BR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10.255.255</a:t>
                      </a:r>
                      <a:r>
                        <a:rPr sz="1000" b="false" lang="pt-BR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94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541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uma rede IPv4 </a:t>
            </a:r>
            <a:br>
              <a:rPr lang="en-US" dirty="0"/>
            </a:br>
            <a:r>
              <a:rPr sz="2400" lang="pt-BR"/>
              <a:t>Sub-rede dentro de um limite de octeto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6433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Consulte a tabela para ver seis maneiras de sub-rede uma rede /24.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E5DF15-7779-4ED6-8960-EFEFE4B7C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57391"/>
              </p:ext>
            </p:extLst>
          </p:nvPr>
        </p:nvGraphicFramePr>
        <p:xfrm>
          <a:off x="1207769" y="1457067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3173678455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538934761"/>
                    </a:ext>
                  </a:extLst>
                </a:gridCol>
                <a:gridCol w="3092530">
                  <a:extLst>
                    <a:ext uri="{9D8B030D-6E8A-4147-A177-3AD203B41FA5}">
                      <a16:colId xmlns:a16="http://schemas.microsoft.com/office/drawing/2014/main" val="1045760004"/>
                    </a:ext>
                  </a:extLst>
                </a:gridCol>
                <a:gridCol w="747950">
                  <a:extLst>
                    <a:ext uri="{9D8B030D-6E8A-4147-A177-3AD203B41FA5}">
                      <a16:colId xmlns:a16="http://schemas.microsoft.com/office/drawing/2014/main" val="248549605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000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Máscara de Sub-Rede em Binário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sz="1000" b="true" lang="pt-BR">
                          <a:effectLst/>
                        </a:rPr>
                        <a:t>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Nº de subredes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758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0127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991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47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9468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32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902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64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102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95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de uma Rede IPv4</a:t>
            </a:r>
            <a:br>
              <a:rPr lang="en-US" dirty="0"/>
            </a:br>
            <a:r>
              <a:rPr sz="2400" lang="pt-BR"/>
              <a:t>Video - A máscara de sub-rede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46F16-EEA0-4615-BEC6-329F2EA79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Este vídeo irá demonstrar o processo de sub-redes.</a:t>
            </a:r>
          </a:p>
        </p:txBody>
      </p:sp>
    </p:spTree>
    <p:extLst>
      <p:ext uri="{BB962C8B-B14F-4D97-AF65-F5344CB8AC3E}">
        <p14:creationId xmlns:p14="http://schemas.microsoft.com/office/powerpoint/2010/main" val="875352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de uma Rede IPv4</a:t>
            </a:r>
            <a:br>
              <a:rPr lang="en-US" dirty="0"/>
            </a:br>
            <a:r>
              <a:rPr sz="2400" lang="pt-BR"/>
              <a:t>Video - Sub-rede com o Número Mágico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DA5F1-C9EC-4870-AFDB-E640F921A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Este vídeo demonstrará sub-redes com o número mágico.</a:t>
            </a:r>
          </a:p>
        </p:txBody>
      </p:sp>
    </p:spTree>
    <p:extLst>
      <p:ext uri="{BB962C8B-B14F-4D97-AF65-F5344CB8AC3E}">
        <p14:creationId xmlns:p14="http://schemas.microsoft.com/office/powerpoint/2010/main" val="783810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</a:t>
            </a:r>
            <a:r>
              <a:rPr sz="2400" lang="pt-BR"/>
              <a:t>rastreador depacotes de rede IPv4 — sub-rede uma rede IPv4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Projetar um esquema de sub-rede de rede IPv4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Configurar os Dispositivos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Testar e Solucionar Problemas da Rede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421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11.6 Sub-rede uma Barra 16 e um Prefixo de Barra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441035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uma barra 16 e um prefixo de barra 8</a:t>
            </a:r>
            <a:br>
              <a:rPr lang="en-US" dirty="0"/>
            </a:br>
            <a:r>
              <a:rPr sz="2400" lang="pt-BR"/>
              <a:t>Criar sub-redes com um prefixo de barra 16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2256-EB3D-415D-8AD3-8D728E43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28" y="855419"/>
            <a:ext cx="2875109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tabela destaca todos os cenários possíveis para a sub-rede de um prefixo /16.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E0FA95-43CC-4153-B365-8C3E8D1B3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33914"/>
              </p:ext>
            </p:extLst>
          </p:nvPr>
        </p:nvGraphicFramePr>
        <p:xfrm>
          <a:off x="3259945" y="617507"/>
          <a:ext cx="5836920" cy="448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499">
                  <a:extLst>
                    <a:ext uri="{9D8B030D-6E8A-4147-A177-3AD203B41FA5}">
                      <a16:colId xmlns:a16="http://schemas.microsoft.com/office/drawing/2014/main" val="3400914921"/>
                    </a:ext>
                  </a:extLst>
                </a:gridCol>
                <a:gridCol w="1033188">
                  <a:extLst>
                    <a:ext uri="{9D8B030D-6E8A-4147-A177-3AD203B41FA5}">
                      <a16:colId xmlns:a16="http://schemas.microsoft.com/office/drawing/2014/main" val="2755569675"/>
                    </a:ext>
                  </a:extLst>
                </a:gridCol>
                <a:gridCol w="2410773">
                  <a:extLst>
                    <a:ext uri="{9D8B030D-6E8A-4147-A177-3AD203B41FA5}">
                      <a16:colId xmlns:a16="http://schemas.microsoft.com/office/drawing/2014/main" val="2977755399"/>
                    </a:ext>
                  </a:extLst>
                </a:gridCol>
                <a:gridCol w="725510">
                  <a:extLst>
                    <a:ext uri="{9D8B030D-6E8A-4147-A177-3AD203B41FA5}">
                      <a16:colId xmlns:a16="http://schemas.microsoft.com/office/drawing/2014/main" val="1257793725"/>
                    </a:ext>
                  </a:extLst>
                </a:gridCol>
                <a:gridCol w="663950">
                  <a:extLst>
                    <a:ext uri="{9D8B030D-6E8A-4147-A177-3AD203B41FA5}">
                      <a16:colId xmlns:a16="http://schemas.microsoft.com/office/drawing/2014/main" val="859093634"/>
                    </a:ext>
                  </a:extLst>
                </a:gridCol>
              </a:tblGrid>
              <a:tr h="159578">
                <a:tc>
                  <a:txBody>
                    <a:bodyPr/>
                    <a:lstStyle/>
                    <a:p>
                      <a:pPr algn="l" fontAlgn="ctr" rtl="0"/>
                      <a:r>
                        <a:rPr sz="800" b="true" lang="pt-BR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800" b="true" lang="pt-BR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800" b="true" lang="pt-BR">
                          <a:effectLst/>
                        </a:rPr>
                        <a:t>Endereço de rede 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800" b="true" lang="pt-BR">
                          <a:effectLst/>
                        </a:rPr>
                        <a:t>Nº de subredes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800" b="true" lang="pt-BR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4953287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/17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lang="pt-BR">
                          <a:effectLst/>
                        </a:rPr>
                        <a:t>128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32766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43777364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/18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16382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507666450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/19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8190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95088631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4094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87745671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32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2046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7418088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252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64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1022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97882614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/23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254</a:t>
                      </a:r>
                      <a:r>
                        <a:rPr sz="800" b="false" lang="pt-BR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510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013125813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sz="800" b="false" lang="pt-BR">
                          <a:effectLst/>
                        </a:rPr>
                        <a:t>.</a:t>
                      </a:r>
                      <a:r>
                        <a:rPr sz="800" b="true" lang="pt-BR">
                          <a:effectLst/>
                        </a:rPr>
                        <a:t>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256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556719010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sz="800" b="false" lang="pt-BR">
                          <a:effectLst/>
                        </a:rPr>
                        <a:t>.</a:t>
                      </a:r>
                      <a:r>
                        <a:rPr sz="800" b="true" lang="pt-BR">
                          <a:effectLst/>
                        </a:rPr>
                        <a:t>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nnnnnnn.n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512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57005324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sz="800" b="false" lang="pt-BR">
                          <a:effectLst/>
                        </a:rPr>
                        <a:t>.</a:t>
                      </a:r>
                      <a:r>
                        <a:rPr sz="800" b="true" lang="pt-BR">
                          <a:effectLst/>
                        </a:rPr>
                        <a:t>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1024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84378750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sz="800" b="false" lang="pt-BR">
                          <a:effectLst/>
                        </a:rPr>
                        <a:t>.</a:t>
                      </a:r>
                      <a:r>
                        <a:rPr sz="800" b="true" lang="pt-BR">
                          <a:effectLst/>
                        </a:rPr>
                        <a:t>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2048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62949982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.255. </a:t>
                      </a:r>
                      <a:r>
                        <a:rPr sz="800" b="true" lang="pt-BR">
                          <a:effectLst/>
                        </a:rPr>
                        <a:t>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4096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7945818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sz="800" b="false" lang="pt-BR">
                          <a:effectLst/>
                        </a:rPr>
                        <a:t>.</a:t>
                      </a:r>
                      <a:r>
                        <a:rPr sz="800" b="true" lang="pt-BR">
                          <a:effectLst/>
                        </a:rPr>
                        <a:t>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8192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19294433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255.255.</a:t>
                      </a:r>
                      <a:r>
                        <a:rPr sz="800" b="true" kern="1200" lang="pt-BR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255.</a:t>
                      </a:r>
                      <a:r>
                        <a:rPr sz="800" b="true" lang="pt-BR">
                          <a:effectLst/>
                        </a:rPr>
                        <a:t>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sz="8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sz="8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true" lang="pt-BR">
                          <a:effectLst/>
                        </a:rPr>
                        <a:t>16384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800" b="false" lang="pt-BR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8845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497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uma barra 16 e um prefixo de barra 8</a:t>
            </a:r>
            <a:br>
              <a:rPr lang="en-US" dirty="0"/>
            </a:br>
            <a:r>
              <a:rPr sz="2400" lang="pt-BR"/>
              <a:t>Criar 100 sub-redes com um prefixo de barra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64845"/>
            <a:ext cx="5403221" cy="3669447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Considere uma empresa grande que precise de pelo menos 100 sub-redes e tenha escolhido o endereço privado 172.16.0.0/16 como endereço da rede interna.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figura exibe o número de sub-redes que podem ser criadas ao emprestar bits do terceiro e do quarto octeto.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Observe que agora existem até 14 bits de host que podem ser emprestados (ou seja, os últimos dois bits não podem ser emprestados).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Para satisfazer o requisito de 100 sub-redes para a empresa, 7 bits (ou seja, 2</a:t>
            </a:r>
            <a:r>
              <a:rPr sz="1600" baseline="30000" lang="pt-BR">
                <a:solidFill>
                  <a:srgbClr val="000000"/>
                </a:solidFill>
              </a:rPr>
              <a:t>7</a:t>
            </a:r>
            <a:r>
              <a:rPr sz="1600" lang="pt-BR">
                <a:solidFill>
                  <a:srgbClr val="000000"/>
                </a:solidFill>
              </a:rPr>
              <a:t> = 128 sub-redes) precisariam ser emprestados (para um total de 128 sub-redes).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912EB9-9234-4648-AF24-14759A57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029" y="855419"/>
            <a:ext cx="2914800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66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uma barra 16 e um prefixo de barra 8</a:t>
            </a:r>
            <a:br>
              <a:rPr lang="en-US" dirty="0"/>
            </a:br>
            <a:r>
              <a:rPr sz="2400" lang="pt-BR"/>
              <a:t>Criar 1000 sub-redes com um prefixo de barra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863929" cy="307394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Considere um pequeno ISP que requer 1000 sub-redes para seus clientes usando o endereço de rede 10.0.0.0/8, o que significa que há 8 bits na parte da rede e 24 bits de host disponíveis para empréstimo para sub-redes.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A figura exibe o número de sub-redes que podem ser criadas ao emprestar bits do segundo e terceiro.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Observe que há agora até 22 bits de host que podem ser emprestados (ou seja, os últimos dois bits não podem ser emprestados).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Para satisfazer o requisito de 1000 sub-redes para a empresa, 10 bits (ou seja, 2</a:t>
            </a:r>
            <a:r>
              <a:rPr sz="1600" baseline="30000" lang="pt-BR">
                <a:solidFill>
                  <a:srgbClr val="000000"/>
                </a:solidFill>
              </a:rPr>
              <a:t>10</a:t>
            </a:r>
            <a:r>
              <a:rPr sz="1600" lang="pt-BR">
                <a:solidFill>
                  <a:srgbClr val="000000"/>
                </a:solidFill>
              </a:rPr>
              <a:t>= 1024 sub-redes) precisariam ser emprestados (para um total de 128 sub-redes)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D50AE-022A-4CE2-A161-C94FE631C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26" y="826108"/>
            <a:ext cx="3648229" cy="242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62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</a:t>
            </a:r>
            <a:br>
              <a:rPr lang="en-US" dirty="0"/>
            </a:br>
            <a:r>
              <a:rPr sz="2400" lang="pt-BR"/>
              <a:t>vídeo de barra 16 e um prefixo de barra 8 — sub-rede em vários octetos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F956245-A45E-4456-B4A9-43F254AE2811}"/>
              </a:ext>
            </a:extLst>
          </p:cNvPr>
          <p:cNvSpPr txBox="1">
            <a:spLocks/>
          </p:cNvSpPr>
          <p:nvPr/>
        </p:nvSpPr>
        <p:spPr>
          <a:xfrm>
            <a:off x="431971" y="855419"/>
            <a:ext cx="8345488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Este vídeo demonstrará a criação de sub-redes em vários octetos.</a:t>
            </a:r>
          </a:p>
        </p:txBody>
      </p:sp>
    </p:spTree>
    <p:extLst>
      <p:ext uri="{BB962C8B-B14F-4D97-AF65-F5344CB8AC3E}">
        <p14:creationId xmlns:p14="http://schemas.microsoft.com/office/powerpoint/2010/main" val="3742440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um laboratório de barra 16 e um</a:t>
            </a:r>
            <a:br>
              <a:rPr lang="en-US" dirty="0"/>
            </a:br>
            <a:r>
              <a:rPr sz="2400" lang="pt-BR"/>
              <a:t>laboratório de prefixo de barra 8 — Calcular sub-redes IPv4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Neste laboratório, você cumprirá os seguintes objetivos: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Parte 1: Determinar a Divisão de Endereços IPv4 em Sub-Redes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Parte 2: Calcular a Divisão de Endereços IPv4 em Sub-Redes</a:t>
            </a:r>
          </a:p>
        </p:txBody>
      </p:sp>
    </p:spTree>
    <p:extLst>
      <p:ext uri="{BB962C8B-B14F-4D97-AF65-F5344CB8AC3E}">
        <p14:creationId xmlns:p14="http://schemas.microsoft.com/office/powerpoint/2010/main" val="3497352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11.7 Sub-rede para atender aos requisitos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9129250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para atender aos requisitos</a:t>
            </a:r>
            <a:br>
              <a:rPr lang="en-US" dirty="0"/>
            </a:br>
            <a:r>
              <a:rPr sz="2400" lang="pt-BR"/>
              <a:t>Sub-rede Privada versus Espaço de Endereços IPv4 Público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985849" cy="307394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As redes corporativas terão: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Intranet - rede interna de uma empresa normalmente usando endereços IPv4 privados.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DMZ — A empresas que enfrentam servidores de internet. Os dispositivos na DMZ usam endereços IPv4 públicos.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Uma empresa poderia usar o 10.0.0.0/8 e sub-rede no limite de rede /16 ou /24.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Os dispositivos DMZ teriam que ser configurados com endereços IP públicos.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D669F9-6546-4D50-B5D4-ED794ADF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34" y="1118336"/>
            <a:ext cx="3581835" cy="23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87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para atender aos requisitos</a:t>
            </a:r>
            <a:br>
              <a:rPr lang="en-US" dirty="0"/>
            </a:br>
            <a:r>
              <a:rPr sz="2000" lang="pt-BR"/>
              <a:t>Minimizar endereços IPv4 de host não utilizados e maximizar sub-redes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973381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Há duas considerações no planejamento de sub-redes: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número de endereços de host necessários para cada rede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número de sub-redes individuais necessárias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CC84FF-7C82-4B7C-A9C2-37AE1AC6A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10119"/>
              </p:ext>
            </p:extLst>
          </p:nvPr>
        </p:nvGraphicFramePr>
        <p:xfrm>
          <a:off x="1207769" y="1944355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3173678455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538934761"/>
                    </a:ext>
                  </a:extLst>
                </a:gridCol>
                <a:gridCol w="3092530">
                  <a:extLst>
                    <a:ext uri="{9D8B030D-6E8A-4147-A177-3AD203B41FA5}">
                      <a16:colId xmlns:a16="http://schemas.microsoft.com/office/drawing/2014/main" val="1045760004"/>
                    </a:ext>
                  </a:extLst>
                </a:gridCol>
                <a:gridCol w="747950">
                  <a:extLst>
                    <a:ext uri="{9D8B030D-6E8A-4147-A177-3AD203B41FA5}">
                      <a16:colId xmlns:a16="http://schemas.microsoft.com/office/drawing/2014/main" val="248549605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000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Máscara de Sub-Rede em Binário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sz="1000" b="true" lang="pt-BR">
                          <a:effectLst/>
                        </a:rPr>
                        <a:t>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Nº de subredes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fontAlgn="ctr" rtl="0"/>
                      <a:r>
                        <a:rPr sz="1000" b="true" lang="pt-BR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758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0127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991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47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9468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32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902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sz="1000" b="tru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sz="1000" b="false" lang="pt-BR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true" lang="pt-BR">
                          <a:effectLst/>
                        </a:rPr>
                        <a:t>64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00" b="false" lang="pt-BR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1026032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2049570-73E8-4725-BB39-4CAE9ED89E03}"/>
              </a:ext>
            </a:extLst>
          </p:cNvPr>
          <p:cNvCxnSpPr>
            <a:cxnSpLocks/>
          </p:cNvCxnSpPr>
          <p:nvPr/>
        </p:nvCxnSpPr>
        <p:spPr>
          <a:xfrm>
            <a:off x="6019800" y="1304168"/>
            <a:ext cx="1516380" cy="60247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FFCA02D-B099-4C7E-83CA-8A71906FCE6C}"/>
              </a:ext>
            </a:extLst>
          </p:cNvPr>
          <p:cNvCxnSpPr>
            <a:cxnSpLocks/>
          </p:cNvCxnSpPr>
          <p:nvPr/>
        </p:nvCxnSpPr>
        <p:spPr>
          <a:xfrm>
            <a:off x="4709160" y="1605407"/>
            <a:ext cx="2119081" cy="301240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78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Exemplo de sub-rede para atender aos requisitos: sub-rede IPv4 eficiente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709280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Neste exemplo, a sede corporativa recebeu um endereço de rede pública 172.16.0.0/22 (10 bits de host) por seu ISP, fornecendo 1.022 endereços de host.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Existem cinco sites e, portanto, cinco conexões de internet, o que significa que a organização requer 10 sub-redes com a maior sub-rede requer 40 endereços.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Ele alocou 10 sub-redes com uma máscara de sub-rede /26 (ou seja, 255.255.255.192).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6F2B6-A5EE-4BC1-9196-BEEE11210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925762"/>
            <a:ext cx="3031600" cy="1088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967D5-2BEE-4CAF-BF74-C8F6AFDA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229" y="2208184"/>
            <a:ext cx="3616498" cy="240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03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Sub-rede para atender aos requisitos do </a:t>
            </a:r>
            <a:br>
              <a:rPr lang="en-US" dirty="0"/>
            </a:br>
            <a:r>
              <a:rPr sz="2400" lang="pt-BR"/>
              <a:t>Packet Tracer - Cenário de sub-rede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Neste Packet Tracer, você pode executar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Projetar um Esquema de Endereçamento IP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Parte 2: Atribuir Endereços IP a Dispositivos e Verificar a Conectividade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786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11.8 VLSM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898405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sz="2400" lang="pt-BR"/>
              <a:t>Vídeo VLSM — Noções básicas do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Este vídeo explicará as noções básicas do VLSM.</a:t>
            </a:r>
          </a:p>
        </p:txBody>
      </p:sp>
    </p:spTree>
    <p:extLst>
      <p:ext uri="{BB962C8B-B14F-4D97-AF65-F5344CB8AC3E}">
        <p14:creationId xmlns:p14="http://schemas.microsoft.com/office/powerpoint/2010/main" val="635394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VLSM</a:t>
            </a:r>
            <a:br>
              <a:rPr lang="en-US" dirty="0"/>
            </a:br>
            <a:r>
              <a:rPr sz="2400" lang="pt-BR"/>
              <a:t>Video - Exemplo de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Este vídeo demonstrará a criação de sub-redes específicas para as necessidades da rede.</a:t>
            </a:r>
          </a:p>
        </p:txBody>
      </p:sp>
    </p:spTree>
    <p:extLst>
      <p:ext uri="{BB962C8B-B14F-4D97-AF65-F5344CB8AC3E}">
        <p14:creationId xmlns:p14="http://schemas.microsoft.com/office/powerpoint/2010/main" val="1857471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2400" lang="pt-BR"/>
              <a:t>Conservação deendereços IPv4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10709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Dada a topologia, 7 sub-redes são necessárias (ou seja, quatro LANs e três links WAN) e o maior número de host está no Edifício D com 28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Uma máscara /27 forneceria 8 sub-redes de 30 endereços IP de host e, portanto, suportaria essa topologia.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6B421B-63BE-47B3-B5D3-2A12580C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96" y="2771225"/>
            <a:ext cx="5683805" cy="15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5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2400" lang="pt-BR"/>
              <a:t>Conservação de endereçosIPv4 VLSM (Cont.)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6091377" cy="944845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No entanto, os links WAN ponto a ponto exigem apenas dois endereços e, portanto, desperdiçam 28 endereços cada um para um total de 84 endereços não utilizados.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9215E-8970-45B2-8162-265CF46F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93" y="731837"/>
            <a:ext cx="2221789" cy="9448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6B421B-63BE-47B3-B5D3-2A12580CC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097" y="1800264"/>
            <a:ext cx="5683805" cy="1542972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D0A209-0C20-474A-8988-82BCE662C636}"/>
              </a:ext>
            </a:extLst>
          </p:cNvPr>
          <p:cNvSpPr txBox="1">
            <a:spLocks/>
          </p:cNvSpPr>
          <p:nvPr/>
        </p:nvSpPr>
        <p:spPr>
          <a:xfrm>
            <a:off x="431971" y="3343237"/>
            <a:ext cx="8280058" cy="13049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aplicação de um esquema de divisão em sub-redes tradicional a esse cenário não é muito eficaz e resulta em desperdício.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VLSM foi desenvolvido para evitar o desperdício de endereços, permitindo-nos sub-rede de uma sub-rede.</a:t>
            </a:r>
          </a:p>
        </p:txBody>
      </p:sp>
    </p:spTree>
    <p:extLst>
      <p:ext uri="{BB962C8B-B14F-4D97-AF65-F5344CB8AC3E}">
        <p14:creationId xmlns:p14="http://schemas.microsoft.com/office/powerpoint/2010/main" val="2017126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VLSM</a:t>
            </a:r>
            <a:br>
              <a:rPr lang="en-US" dirty="0"/>
            </a:br>
            <a:r>
              <a:rPr sz="2400" lang="pt-BR"/>
              <a:t>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4" y="855420"/>
            <a:ext cx="5519249" cy="241139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O lado esquerdo exibe o esquema de sub-rede tradicional (ou seja, a mesma máscara de sub-rede), enquanto o lado direito ilustra como o VLSM pode ser usado para sub-rede de uma sub-rede e dividiu a última sub-rede em oito sub-redes /30.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Ao usar o VLSM, comece sempre satisfazendo os requisitos do host da maior sub-rede e continue a sub-rede até que os requisitos do host da menor sub-rede sejam atendidos.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 topologia resultante com VLSM aplicada.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65FDB-636B-41FC-BD50-01D67FA8F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531" y="941078"/>
            <a:ext cx="3199159" cy="1960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45AD4C-7A7F-4FE5-B2F2-0DE8D4398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08" y="3313944"/>
            <a:ext cx="4484235" cy="14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5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2400" lang="pt-BR"/>
              <a:t>Atribuição de endereço de topologiaVLSM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884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Usando sub-redes VLSM, as redes LAN e inter-roteador podem ser abordadas sem desperdício desnecessário, como mostrado no diagrama de topologia lógica.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67DF-F387-422D-A1F1-5FB6AE72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99" y="1700427"/>
            <a:ext cx="7174401" cy="275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1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11.9 Projeto estruturado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4535095"/>
      </p:ext>
    </p:extLst>
  </p:cSld>
  <p:clrMapOvr>
    <a:masterClrMapping/>
  </p:clrMapOvr>
  <p:transition spd="slow"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1600" lang="pt-BR"/>
              <a:t>Projeto Estruturado</a:t>
            </a:r>
            <a:br>
              <a:rPr lang="en-US" dirty="0"/>
            </a:br>
            <a:r>
              <a:rPr sz="2400" lang="pt-BR"/>
              <a:t>Planejamento de endereços de rede IPv4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O planejamento de rede IP é crucial para desenvolver uma solução escalável para uma rede corporativa.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Para desenvolver um esquema de endereçamento de toda a rede IPv4, você precisa saber quantas sub-redes são necessárias, quantos hosts uma sub-rede específica requer, quais dispositivos fazem parte da sub-rede, quais partes da rede usam endereços privados e quais usam públicos e muitos outros fatores determinantes.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Examine as necessidades do uso da rede de uma organização e como as sub-redes serão estruturadas.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Realize um estudo de requisitos de rede examinando toda a rede para determinar como cada área será segmentada.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Determine quantas sub-redes são necessárias e quantos hosts por sub-rede.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lang="pt-BR">
                <a:solidFill>
                  <a:srgbClr val="000000"/>
                </a:solidFill>
              </a:rPr>
              <a:t>Determine pools de endereços DHCP e pools de VLAN de camada 2.</a:t>
            </a:r>
          </a:p>
        </p:txBody>
      </p:sp>
    </p:spTree>
    <p:extLst>
      <p:ext uri="{BB962C8B-B14F-4D97-AF65-F5344CB8AC3E}">
        <p14:creationId xmlns:p14="http://schemas.microsoft.com/office/powerpoint/2010/main" val="2674475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2400" lang="pt-BR"/>
              <a:t>Atribuição de endereço dedispositivo de</a:t>
            </a:r>
            <a:r>
              <a:rPr sz="1600" lang="pt-BR"/>
              <a:t>design estruturado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Dentro de uma rede, existem diferentes tipos de dispositivos que exigem endereços: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b="true" lang="pt-BR">
                <a:solidFill>
                  <a:srgbClr val="000000"/>
                </a:solidFill>
              </a:rPr>
              <a:t>Clientes de usuários finais</a:t>
            </a:r>
            <a:r>
              <a:rPr sz="1400" lang="pt-BR">
                <a:solidFill>
                  <a:srgbClr val="000000"/>
                </a:solidFill>
              </a:rPr>
              <a:t>— A maioria usa DHCP para reduzir erros e sobrecarga na equipe de suporte de rede. Os clientes IPv6 podem obter informações de endereço usando DHCPv6 ou SLAAC.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b="true" lang="pt-BR">
                <a:solidFill>
                  <a:srgbClr val="000000"/>
                </a:solidFill>
              </a:rPr>
              <a:t>Servidores e periféricos </a:t>
            </a:r>
            <a:r>
              <a:rPr sz="1400" lang="pt-BR">
                <a:solidFill>
                  <a:srgbClr val="000000"/>
                </a:solidFill>
              </a:rPr>
              <a:t>- Devem ter um endereço IP estático previsível.</a:t>
            </a:r>
            <a:r>
              <a:rPr sz="1400" b="true" lang="pt-BR">
                <a:solidFill>
                  <a:srgbClr val="00000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b="true" lang="pt-BR">
                <a:solidFill>
                  <a:srgbClr val="000000"/>
                </a:solidFill>
              </a:rPr>
              <a:t>Servidores acessíveis a partir da Internet </a:t>
            </a:r>
            <a:r>
              <a:rPr sz="1400" lang="pt-BR">
                <a:solidFill>
                  <a:srgbClr val="000000"/>
                </a:solidFill>
              </a:rPr>
              <a:t>— Os servidores devem ter um endereço IPv4 público, mais frequentemente acessado usando NAT. </a:t>
            </a:r>
            <a:r>
              <a:rPr sz="1400" b="true" lang="pt-BR">
                <a:solidFill>
                  <a:srgbClr val="00000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b="true" lang="pt-BR">
                <a:solidFill>
                  <a:srgbClr val="000000"/>
                </a:solidFill>
              </a:rPr>
              <a:t>Dispositivos intermediários </a:t>
            </a:r>
            <a:r>
              <a:rPr sz="1400" lang="pt-BR">
                <a:solidFill>
                  <a:srgbClr val="000000"/>
                </a:solidFill>
              </a:rPr>
              <a:t>- os dispositivos recebem endereços para gerenciamento, monitoramento e segurança de rede.</a:t>
            </a:r>
            <a:r>
              <a:rPr sz="1400" b="true" lang="pt-BR">
                <a:solidFill>
                  <a:srgbClr val="00000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400" b="true" lang="pt-BR">
                <a:solidFill>
                  <a:srgbClr val="000000"/>
                </a:solidFill>
              </a:rPr>
              <a:t>Gateway</a:t>
            </a:r>
            <a:r>
              <a:rPr sz="1400" lang="pt-BR">
                <a:solidFill>
                  <a:srgbClr val="000000"/>
                </a:solidFill>
              </a:rPr>
              <a:t> — Os roteadores e os dispositivos de firewall são gateway para os hosts dessa rede.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sz="1600" lang="pt-BR">
                <a:solidFill>
                  <a:srgbClr val="000000"/>
                </a:solidFill>
              </a:rPr>
              <a:t>Ao desenvolver um esquema de endereçamento IP, geralmente é recomendável que você tenha um padrão definido de como os endereços são alocados para cada tipo de dispositivo. </a:t>
            </a:r>
          </a:p>
        </p:txBody>
      </p:sp>
    </p:spTree>
    <p:extLst>
      <p:ext uri="{BB962C8B-B14F-4D97-AF65-F5344CB8AC3E}">
        <p14:creationId xmlns:p14="http://schemas.microsoft.com/office/powerpoint/2010/main" val="510327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sz="2400" lang="pt-BR"/>
              <a:t>Packet Tracer de design estrutural — Prática de projeto e implementação do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Neste Packet Tracer, você fará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Examinar os Requisitos de Rede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Projetar o Esquema de Endereçamento VLSM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Atribuir Endereços IP a Dispositivos e Verificar a Conectividade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86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11.10 -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837"/>
          </a:xfrm>
        </p:spPr>
        <p:txBody>
          <a:bodyPr/>
          <a:lstStyle/>
          <a:p>
            <a:pPr rtl="0"/>
            <a:r>
              <a:rPr sz="1600" lang="pt-BR"/>
              <a:t>Projeto Estruturado</a:t>
            </a:r>
            <a:br>
              <a:rPr lang="en-US" dirty="0"/>
            </a:br>
            <a:r>
              <a:rPr sz="2300" lang="pt-BR"/>
              <a:t>Packet Tracer - Projete e implemente um esquema de endereçamento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sz="1600" lang="pt-BR">
                <a:solidFill>
                  <a:srgbClr val="000000"/>
                </a:solidFill>
              </a:rPr>
              <a:t>Neste Packet Tracer, você pode executar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Projetar um esquema de endereçamento IP VLSM dados requisitos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Configurar endereçamento em dispositivos e hosts de rede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Verifique a conectividade IP</a:t>
            </a:r>
          </a:p>
          <a:p>
            <a:pPr marL="285750" indent="-28575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Solucione problemas de conectividade, conforme necessário.</a:t>
            </a:r>
          </a:p>
        </p:txBody>
      </p:sp>
    </p:spTree>
    <p:extLst>
      <p:ext uri="{BB962C8B-B14F-4D97-AF65-F5344CB8AC3E}">
        <p14:creationId xmlns:p14="http://schemas.microsoft.com/office/powerpoint/2010/main" val="2556431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2" y="1580233"/>
            <a:ext cx="7815004" cy="2478331"/>
          </a:xfrm>
        </p:spPr>
        <p:txBody>
          <a:bodyPr/>
          <a:lstStyle/>
          <a:p>
            <a:pPr marL="0" indent="0" algn="l" defTabSz="684213" fontAlgn="base" rtl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sz="1800" lang="pt-BR">
                <a:solidFill>
                  <a:srgbClr val="000000"/>
                </a:solidFill>
              </a:rPr>
              <a:t>Na atividade do modo físico do Packet Tracer e no laboratório, você completará os seguintes objetivos: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Examinar os Requisitos da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Projetar o Esquema de Endereçamento VLSM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sz="1800" lang="pt-BR">
                <a:solidFill>
                  <a:srgbClr val="000000"/>
                </a:solidFill>
              </a:rPr>
              <a:t>Cabear e Configurar a Rede IPv4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pPr rtl="0"/>
            <a:r>
              <a:rPr sz="1600" lang="pt-BR"/>
              <a:t>Projeto Estruturado</a:t>
            </a:r>
            <a:br>
              <a:rPr lang="en-US" dirty="0"/>
            </a:br>
            <a:r>
              <a:rPr sz="2400" lang="pt-BR"/>
              <a:t>Packet Tracer – </a:t>
            </a:r>
            <a:r>
              <a:rPr sz="2400" kumimoji="false" b="false" i="false" u="none" strike="noStrike" kern="1200" cap="none" spc="0" normalizeH="false" baseline="0" lang="pt-BR">
                <a:ln>
                  <a:noFill/>
                </a:ln>
                <a:solidFill>
                  <a:srgbClr val="004C69"/>
                </a:solidFill>
                <a:effectLst/>
                <a:uLnTx/>
                <a:uFillTx/>
                <a:latin typeface="Arial"/>
                <a:ea typeface="ＭＳ Ｐゴシック" charset="0"/>
              </a:rPr>
              <a:t>Projetar e Implementar um Esquema de Endereçamento VLSM - Modo Físico</a:t>
            </a:r>
            <a:br>
              <a:rPr lang="en-US" sz="2400" dirty="0"/>
            </a:br>
            <a:r>
              <a:rPr sz="2400" lang="pt-BR"/>
              <a:t>Laboratório – Projetar e Implementar um Esquema de Endereçamento VLSM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A estrutura de endereçamento IP consiste em um endereço de rede hierárquico de 32 bits que identifica uma rede e uma parte do host. Os dispositivos de rede usam um processo chamado ANDING usando o endereço IP e a máscara de sub-rede associada para identificar as partes da rede e do host.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Os pacotes IPv4 de destino podem ser unicast, broadcast e multicast.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Há endereços IP roteáveis globalmente como atribuídos pela IANA e há três intervalos de endereços IP privados que não podem ser roteados globalmente, mas podem ser usados em todas as redes privadas internas.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Reduzir grandes domínios de difusão usando sub-redes para criar domínios de difusão menores, reduzir o tráfego geral de rede e melhorar o desempenho da rede. 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Crie sub-redes IPv4 usando um ou mais bits do host como bits de rede. No entanto, as redes são mais facilmente sub-redes no limite do octeto de / 8, / 16 e / 24.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Redes maiores podem ser sub-redes nos limites /8 ou /16.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Use o VLSM para reduzir o número de endereços de host não utilizados por sub-rede.</a:t>
            </a:r>
          </a:p>
          <a:p>
            <a:pPr marL="173037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4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O VLSM permite que um espaço de rede seja dividido em partes desiguais. Sempre comece satisfazendo os requisitos de host da maior sub-rede. Continue a divisão em sub-redes até atender ao requisitos de host da menor sub-rede. 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600" lang="pt-BR"/>
              <a:t>Ao projetar um esquema de endereçamento de rede, considere os requisitos internos, DMZ e externos. Use um esquema de endereçamento IP interno consistente com um padrão definido de como os endereços são alocados para cada tipo de dispositivo.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6308058"/>
      </p:ext>
    </p:extLst>
  </p:cSld>
  <p:clrMapOvr>
    <a:masterClrMapping/>
  </p:clrMapOvr>
  <p:transition spd="slow">
    <p:wip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 rtl="0"/>
            <a:r>
              <a:rPr sz="1400" lang="pt-BR">
                <a:latin typeface="Arial" charset="0"/>
              </a:rPr>
              <a:t>Módulo 11: Endereçamento IPv4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603940"/>
              </p:ext>
            </p:extLst>
          </p:nvPr>
        </p:nvGraphicFramePr>
        <p:xfrm>
          <a:off x="144463" y="798513"/>
          <a:ext cx="8853486" cy="3078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comprimento do prefixo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AND lógico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endereço de rede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endereço de broadcast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primeiro endereço utilizável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último endereço utilizável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Transmissão Unicast, Broadcast e Multicast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endereços particulares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Endereços públicos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Tradução de Endereço de Rede (NAT)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Endereços de loopback.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Endereçamento IP Privado Automático (APIPA)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Endereçamento de classe (Classe A, B, C, D e 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Internet Assigned Numbers Authority (IANA)</a:t>
                      </a:r>
                    </a:p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Registros de Internet Regionais (RIRs)</a:t>
                      </a:r>
                    </a:p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AFrinic, APNIC, ARIN, LACNIC e RIPE NCC </a:t>
                      </a:r>
                    </a:p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domínio de broadcast</a:t>
                      </a:r>
                    </a:p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Sub-redes</a:t>
                      </a:r>
                    </a:p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Limite do octeto</a:t>
                      </a:r>
                    </a:p>
                    <a:p>
                      <a:pPr rtl="0"/>
                      <a:r>
                        <a:rPr b="false" lang="pt-BR">
                          <a:solidFill>
                            <a:srgbClr val="000000"/>
                          </a:solidFill>
                        </a:rPr>
                        <a:t>Máscara de Sub-rede de Comprimento Variável (VLSM) </a:t>
                      </a:r>
                    </a:p>
                    <a:p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26514</TotalTime>
  <Words>6218</Words>
  <Application>Microsoft Office PowerPoint</Application>
  <PresentationFormat>On-screen Show (16:9)</PresentationFormat>
  <Paragraphs>1071</Paragraphs>
  <Slides>74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CiscoSans ExtraLight</vt:lpstr>
      <vt:lpstr>Arial</vt:lpstr>
      <vt:lpstr>Calibri</vt:lpstr>
      <vt:lpstr>Courier New</vt:lpstr>
      <vt:lpstr>Wingdings</vt:lpstr>
      <vt:lpstr>Default Theme</vt:lpstr>
      <vt:lpstr>Module 11: IPv4 Addressing</vt:lpstr>
      <vt:lpstr>Instructor Materials – Module 11 Planning Guide</vt:lpstr>
      <vt:lpstr>What to Expect in this Module</vt:lpstr>
      <vt:lpstr>What to Expect in this Module (Cont.)</vt:lpstr>
      <vt:lpstr>Check Your Understanding</vt:lpstr>
      <vt:lpstr>Packet Tracer Physical Mode Activities</vt:lpstr>
      <vt:lpstr>Module 11: Activities</vt:lpstr>
      <vt:lpstr>Module 11: Activities (Cont.)</vt:lpstr>
      <vt:lpstr>Module 11: Activities (Cont.)</vt:lpstr>
      <vt:lpstr>Module 11: Best Practices</vt:lpstr>
      <vt:lpstr>Module 11: Best Practices (Cont.)</vt:lpstr>
      <vt:lpstr>Module 11: Best Practices (Cont.)</vt:lpstr>
      <vt:lpstr>Module 11: Best Practices (Cont.)</vt:lpstr>
      <vt:lpstr>Module 11: Best Practices (Cont.)</vt:lpstr>
      <vt:lpstr>Module 11: IPv4 Addressing</vt:lpstr>
      <vt:lpstr>Module Objectives</vt:lpstr>
      <vt:lpstr>Module Objectives (Cont.)</vt:lpstr>
      <vt:lpstr>11.1 IPv4 Address Structure </vt:lpstr>
      <vt:lpstr>IPv4 Address Structure Network and Host Portions</vt:lpstr>
      <vt:lpstr>IPv4 Address Structure The Subnet Mask</vt:lpstr>
      <vt:lpstr>IPv4 Address Structure The Prefix Length</vt:lpstr>
      <vt:lpstr>IPv4 Address Structure Determining the Network: Logical AND</vt:lpstr>
      <vt:lpstr>IPv4 Address Structure Video – Network, Host and Broadcast Addresses</vt:lpstr>
      <vt:lpstr>IPv4 Address Structure Network, Host, and Broadcast Addresses</vt:lpstr>
      <vt:lpstr>11.2 IPv4 Unicast, Broadcast, and Multicast</vt:lpstr>
      <vt:lpstr>IPv4 Unicast, Broadcast, and Multicast Unicast</vt:lpstr>
      <vt:lpstr>IPv4 Unicast, Broadcast, and Multicast Broadcast</vt:lpstr>
      <vt:lpstr>IPv4 Unicast, Broadcast, and Multicast Multicast</vt:lpstr>
      <vt:lpstr>11.3 Types of IPv4 Addresses</vt:lpstr>
      <vt:lpstr>Types of IPv4 Addresses Public and Private IPv4 Addresses</vt:lpstr>
      <vt:lpstr>Types of IPv4 Addresses Routing to the Internet</vt:lpstr>
      <vt:lpstr>Types of IPv4 Addresses Special Use IPv4 Addresses</vt:lpstr>
      <vt:lpstr>Types of IPv4 Addresses Legacy Classful Addressing</vt:lpstr>
      <vt:lpstr>Types of IPv4 Addresses Assignment of IP Addresses</vt:lpstr>
      <vt:lpstr>11.4 Network Segmentation </vt:lpstr>
      <vt:lpstr>Network Segmentation Broadcast Domains and Segmentation</vt:lpstr>
      <vt:lpstr>Network Segmentation Problems with Large Broadcast Domains</vt:lpstr>
      <vt:lpstr>Network Segmentation Reasons for Segmenting Networks</vt:lpstr>
      <vt:lpstr>11.5 Subnet an IPv4 Network </vt:lpstr>
      <vt:lpstr>Subnet an IPv4 Network Subnet on an Octet Boundary</vt:lpstr>
      <vt:lpstr>Subnet an IPv4 Network Subnet on an Octet Boundary (Cont.)</vt:lpstr>
      <vt:lpstr>Subnet an IPv4 Network Subnet within an Octet Boundary</vt:lpstr>
      <vt:lpstr>Subnet an IPv4 Network Video – The Subnet Mask</vt:lpstr>
      <vt:lpstr>Subnet an IPv4 Network Video – Subnet with the Magic Number</vt:lpstr>
      <vt:lpstr>Subnet an IPv4 Network Packet Tracer – Subnet an IPv4 Network</vt:lpstr>
      <vt:lpstr>11.6 Subnet a Slash 16 and a Slash 8 Prefix</vt:lpstr>
      <vt:lpstr>Subnet a Slash 16 and a Slash 8 Prefix Create Subnets with a Slash 16 prefix</vt:lpstr>
      <vt:lpstr>Subnet a Slash 16 and a Slash 8 Prefix Create 100 Subnets with a Slash 16 prefix</vt:lpstr>
      <vt:lpstr>Subnet a Slash 16 and a Slash 8 Prefix Create 1000 Subnets with a Slash 8 prefix</vt:lpstr>
      <vt:lpstr>Subnet a Slash 16 and a Slash 8 Prefix Video – Subnet Across Multiple Octets</vt:lpstr>
      <vt:lpstr>Subnet a Slash 16 and a Slash 8 Prefix Lab – Calculate IPv4 Subnets</vt:lpstr>
      <vt:lpstr>11.7 Subnet to Meet Requirements</vt:lpstr>
      <vt:lpstr>Subnet to Meet Requirements Subnet Private versus Public IPv4 Address Space</vt:lpstr>
      <vt:lpstr>Subnet to Meet Requirements Minimize Unused Host IPv4 Addresses and Maximize Subnets</vt:lpstr>
      <vt:lpstr>Subnet to Meet Requirements Example: Efficient IPv4 Subnetting</vt:lpstr>
      <vt:lpstr>Subnet to Meet Requirements Packet Tracer – Subnetting Scenario</vt:lpstr>
      <vt:lpstr>11.8 VLSM </vt:lpstr>
      <vt:lpstr>VLSM Video – VLSM Basics</vt:lpstr>
      <vt:lpstr>VLSM Video – VLSM Example</vt:lpstr>
      <vt:lpstr>VLSM IPv4 Address Conservation</vt:lpstr>
      <vt:lpstr>VLSM IPv4 Address Conservation (Cont.)</vt:lpstr>
      <vt:lpstr>VLSM VLSM</vt:lpstr>
      <vt:lpstr>VLSM VLSM Topology Address Assignment</vt:lpstr>
      <vt:lpstr>11.9 Structured Design </vt:lpstr>
      <vt:lpstr>Structured Design IPv4 Network Address Planning</vt:lpstr>
      <vt:lpstr>Structured Design Device Address Assignment</vt:lpstr>
      <vt:lpstr>Structured Design Packet Tracer – VLSM Design and Implementation Practice</vt:lpstr>
      <vt:lpstr>11.10 Module Practice and Quiz</vt:lpstr>
      <vt:lpstr>Structured Design Packet Tracer – Design and Implement a VLSM Addressing Scheme</vt:lpstr>
      <vt:lpstr>Structured Design Packet Tracer – Design and Implement a VLSM Addressing Scheme - Physical Mode Lab – Design and Implement a VLSM Addressing Scheme</vt:lpstr>
      <vt:lpstr>Module Practice and Quiz What did I learn in this module?</vt:lpstr>
      <vt:lpstr>Module Practice and Quiz What did I learn in this module? (Cont.)</vt:lpstr>
      <vt:lpstr>Module 11: IPv4 Addressing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Jeff Luman -X (jluman - UNICON INC at Cisco)</cp:lastModifiedBy>
  <cp:revision>303</cp:revision>
  <dcterms:created xsi:type="dcterms:W3CDTF">2019-10-18T06:21:22Z</dcterms:created>
  <dcterms:modified xsi:type="dcterms:W3CDTF">2021-02-03T18:28:53Z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