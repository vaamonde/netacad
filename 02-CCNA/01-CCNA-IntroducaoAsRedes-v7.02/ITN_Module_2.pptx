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tags/tag14.xml" ContentType="application/vnd.openxmlformats-officedocument.presentationml.tags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12.xml" ContentType="application/vnd.openxmlformats-officedocument.presentationml.notesSlide+xml"/>
  <Override PartName="/ppt/tags/tag16.xml" ContentType="application/vnd.openxmlformats-officedocument.presentationml.tags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16.xml" ContentType="application/vnd.openxmlformats-officedocument.presentationml.notesSlide+xml"/>
  <Override PartName="/ppt/tags/tag20.xml" ContentType="application/vnd.openxmlformats-officedocument.presentationml.tags+xml"/>
  <Override PartName="/ppt/notesSlides/notesSlide17.xml" ContentType="application/vnd.openxmlformats-officedocument.presentationml.notesSlide+xml"/>
  <Override PartName="/ppt/tags/tag21.xml" ContentType="application/vnd.openxmlformats-officedocument.presentationml.tags+xml"/>
  <Override PartName="/ppt/notesSlides/notesSlide18.xml" ContentType="application/vnd.openxmlformats-officedocument.presentationml.notesSlide+xml"/>
  <Override PartName="/ppt/tags/tag22.xml" ContentType="application/vnd.openxmlformats-officedocument.presentationml.tags+xml"/>
  <Override PartName="/ppt/notesSlides/notesSlide19.xml" ContentType="application/vnd.openxmlformats-officedocument.presentationml.notesSlide+xml"/>
  <Override PartName="/ppt/tags/tag23.xml" ContentType="application/vnd.openxmlformats-officedocument.presentationml.tags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21.xml" ContentType="application/vnd.openxmlformats-officedocument.presentationml.notesSlide+xml"/>
  <Override PartName="/ppt/tags/tag25.xml" ContentType="application/vnd.openxmlformats-officedocument.presentationml.tags+xml"/>
  <Override PartName="/ppt/notesSlides/notesSlide22.xml" ContentType="application/vnd.openxmlformats-officedocument.presentationml.notesSlide+xml"/>
  <Override PartName="/ppt/tags/tag26.xml" ContentType="application/vnd.openxmlformats-officedocument.presentationml.tags+xml"/>
  <Override PartName="/ppt/notesSlides/notesSlide23.xml" ContentType="application/vnd.openxmlformats-officedocument.presentationml.notesSlide+xml"/>
  <Override PartName="/ppt/tags/tag27.xml" ContentType="application/vnd.openxmlformats-officedocument.presentationml.tags+xml"/>
  <Override PartName="/ppt/notesSlides/notesSlide24.xml" ContentType="application/vnd.openxmlformats-officedocument.presentationml.notesSlide+xml"/>
  <Override PartName="/ppt/tags/tag28.xml" ContentType="application/vnd.openxmlformats-officedocument.presentationml.tags+xml"/>
  <Override PartName="/ppt/notesSlides/notesSlide25.xml" ContentType="application/vnd.openxmlformats-officedocument.presentationml.notesSlide+xml"/>
  <Override PartName="/ppt/tags/tag29.xml" ContentType="application/vnd.openxmlformats-officedocument.presentationml.tags+xml"/>
  <Override PartName="/ppt/notesSlides/notesSlide26.xml" ContentType="application/vnd.openxmlformats-officedocument.presentationml.notesSlide+xml"/>
  <Override PartName="/ppt/tags/tag30.xml" ContentType="application/vnd.openxmlformats-officedocument.presentationml.tags+xml"/>
  <Override PartName="/ppt/notesSlides/notesSlide27.xml" ContentType="application/vnd.openxmlformats-officedocument.presentationml.notesSlide+xml"/>
  <Override PartName="/ppt/tags/tag31.xml" ContentType="application/vnd.openxmlformats-officedocument.presentationml.tags+xml"/>
  <Override PartName="/ppt/notesSlides/notesSlide28.xml" ContentType="application/vnd.openxmlformats-officedocument.presentationml.notesSlide+xml"/>
  <Override PartName="/ppt/tags/tag32.xml" ContentType="application/vnd.openxmlformats-officedocument.presentationml.tags+xml"/>
  <Override PartName="/ppt/notesSlides/notesSlide29.xml" ContentType="application/vnd.openxmlformats-officedocument.presentationml.notesSlide+xml"/>
  <Override PartName="/ppt/tags/tag33.xml" ContentType="application/vnd.openxmlformats-officedocument.presentationml.tags+xml"/>
  <Override PartName="/ppt/notesSlides/notesSlide30.xml" ContentType="application/vnd.openxmlformats-officedocument.presentationml.notesSlide+xml"/>
  <Override PartName="/ppt/tags/tag34.xml" ContentType="application/vnd.openxmlformats-officedocument.presentationml.tags+xml"/>
  <Override PartName="/ppt/notesSlides/notesSlide31.xml" ContentType="application/vnd.openxmlformats-officedocument.presentationml.notesSlide+xml"/>
  <Override PartName="/ppt/tags/tag35.xml" ContentType="application/vnd.openxmlformats-officedocument.presentationml.tags+xml"/>
  <Override PartName="/ppt/notesSlides/notesSlide32.xml" ContentType="application/vnd.openxmlformats-officedocument.presentationml.notesSlide+xml"/>
  <Override PartName="/ppt/tags/tag36.xml" ContentType="application/vnd.openxmlformats-officedocument.presentationml.tags+xml"/>
  <Override PartName="/ppt/notesSlides/notesSlide33.xml" ContentType="application/vnd.openxmlformats-officedocument.presentationml.notesSlide+xml"/>
  <Override PartName="/ppt/tags/tag37.xml" ContentType="application/vnd.openxmlformats-officedocument.presentationml.tags+xml"/>
  <Override PartName="/ppt/notesSlides/notesSlide34.xml" ContentType="application/vnd.openxmlformats-officedocument.presentationml.notesSlide+xml"/>
  <Override PartName="/ppt/tags/tag38.xml" ContentType="application/vnd.openxmlformats-officedocument.presentationml.tags+xml"/>
  <Override PartName="/ppt/notesSlides/notesSlide35.xml" ContentType="application/vnd.openxmlformats-officedocument.presentationml.notesSlide+xml"/>
  <Override PartName="/ppt/tags/tag39.xml" ContentType="application/vnd.openxmlformats-officedocument.presentationml.tags+xml"/>
  <Override PartName="/ppt/notesSlides/notesSlide36.xml" ContentType="application/vnd.openxmlformats-officedocument.presentationml.notesSlide+xml"/>
  <Override PartName="/ppt/tags/tag40.xml" ContentType="application/vnd.openxmlformats-officedocument.presentationml.tags+xml"/>
  <Override PartName="/ppt/notesSlides/notesSlide37.xml" ContentType="application/vnd.openxmlformats-officedocument.presentationml.notesSlide+xml"/>
  <Override PartName="/ppt/tags/tag41.xml" ContentType="application/vnd.openxmlformats-officedocument.presentationml.tags+xml"/>
  <Override PartName="/ppt/notesSlides/notesSlide38.xml" ContentType="application/vnd.openxmlformats-officedocument.presentationml.notesSlide+xml"/>
  <Override PartName="/ppt/tags/tag42.xml" ContentType="application/vnd.openxmlformats-officedocument.presentationml.tags+xml"/>
  <Override PartName="/ppt/notesSlides/notesSlide39.xml" ContentType="application/vnd.openxmlformats-officedocument.presentationml.notesSlide+xml"/>
  <Override PartName="/ppt/tags/tag43.xml" ContentType="application/vnd.openxmlformats-officedocument.presentationml.tags+xml"/>
  <Override PartName="/ppt/notesSlides/notesSlide40.xml" ContentType="application/vnd.openxmlformats-officedocument.presentationml.notesSlide+xml"/>
  <Override PartName="/ppt/tags/tag44.xml" ContentType="application/vnd.openxmlformats-officedocument.presentationml.tags+xml"/>
  <Override PartName="/ppt/notesSlides/notesSlide41.xml" ContentType="application/vnd.openxmlformats-officedocument.presentationml.notesSlide+xml"/>
  <Override PartName="/ppt/tags/tag45.xml" ContentType="application/vnd.openxmlformats-officedocument.presentationml.tags+xml"/>
  <Override PartName="/ppt/notesSlides/notesSlide42.xml" ContentType="application/vnd.openxmlformats-officedocument.presentationml.notesSlide+xml"/>
  <Override PartName="/ppt/tags/tag46.xml" ContentType="application/vnd.openxmlformats-officedocument.presentationml.tags+xml"/>
  <Override PartName="/ppt/notesSlides/notesSlide43.xml" ContentType="application/vnd.openxmlformats-officedocument.presentationml.notesSlide+xml"/>
  <Override PartName="/ppt/tags/tag47.xml" ContentType="application/vnd.openxmlformats-officedocument.presentationml.tags+xml"/>
  <Override PartName="/ppt/notesSlides/notesSlide44.xml" ContentType="application/vnd.openxmlformats-officedocument.presentationml.notesSlide+xml"/>
  <Override PartName="/ppt/tags/tag48.xml" ContentType="application/vnd.openxmlformats-officedocument.presentationml.tags+xml"/>
  <Override PartName="/ppt/notesSlides/notesSlide45.xml" ContentType="application/vnd.openxmlformats-officedocument.presentationml.notesSlide+xml"/>
  <Override PartName="/ppt/tags/tag49.xml" ContentType="application/vnd.openxmlformats-officedocument.presentationml.tags+xml"/>
  <Override PartName="/ppt/notesSlides/notesSlide46.xml" ContentType="application/vnd.openxmlformats-officedocument.presentationml.notesSlide+xml"/>
  <Override PartName="/ppt/tags/tag50.xml" ContentType="application/vnd.openxmlformats-officedocument.presentationml.tags+xml"/>
  <Override PartName="/ppt/notesSlides/notesSlide47.xml" ContentType="application/vnd.openxmlformats-officedocument.presentationml.notesSlide+xml"/>
  <Override PartName="/ppt/tags/tag51.xml" ContentType="application/vnd.openxmlformats-officedocument.presentationml.tags+xml"/>
  <Override PartName="/ppt/notesSlides/notesSlide48.xml" ContentType="application/vnd.openxmlformats-officedocument.presentationml.notesSlide+xml"/>
  <Override PartName="/ppt/tags/tag52.xml" ContentType="application/vnd.openxmlformats-officedocument.presentationml.tags+xml"/>
  <Override PartName="/ppt/notesSlides/notesSlide49.xml" ContentType="application/vnd.openxmlformats-officedocument.presentationml.notesSlide+xml"/>
  <Override PartName="/ppt/tags/tag53.xml" ContentType="application/vnd.openxmlformats-officedocument.presentationml.tags+xml"/>
  <Override PartName="/ppt/notesSlides/notesSlide50.xml" ContentType="application/vnd.openxmlformats-officedocument.presentationml.notesSlide+xml"/>
  <Override PartName="/ppt/tags/tag54.xml" ContentType="application/vnd.openxmlformats-officedocument.presentationml.tags+xml"/>
  <Override PartName="/ppt/notesSlides/notesSlide51.xml" ContentType="application/vnd.openxmlformats-officedocument.presentationml.notesSlide+xml"/>
  <Override PartName="/ppt/tags/tag55.xml" ContentType="application/vnd.openxmlformats-officedocument.presentationml.tags+xml"/>
  <Override PartName="/ppt/notesSlides/notesSlide52.xml" ContentType="application/vnd.openxmlformats-officedocument.presentationml.notesSlide+xml"/>
  <Override PartName="/ppt/tags/tag56.xml" ContentType="application/vnd.openxmlformats-officedocument.presentationml.tags+xml"/>
  <Override PartName="/ppt/notesSlides/notesSlide53.xml" ContentType="application/vnd.openxmlformats-officedocument.presentationml.notesSlide+xml"/>
  <Override PartName="/ppt/tags/tag57.xml" ContentType="application/vnd.openxmlformats-officedocument.presentationml.tags+xml"/>
  <Override PartName="/ppt/notesSlides/notesSlide54.xml" ContentType="application/vnd.openxmlformats-officedocument.presentationml.notesSlide+xml"/>
  <Override PartName="/ppt/tags/tag58.xml" ContentType="application/vnd.openxmlformats-officedocument.presentationml.tags+xml"/>
  <Override PartName="/ppt/notesSlides/notesSlide55.xml" ContentType="application/vnd.openxmlformats-officedocument.presentationml.notesSlide+xml"/>
  <Override PartName="/ppt/tags/tag59.xml" ContentType="application/vnd.openxmlformats-officedocument.presentationml.tags+xml"/>
  <Override PartName="/ppt/notesSlides/notesSlide56.xml" ContentType="application/vnd.openxmlformats-officedocument.presentationml.notesSlide+xml"/>
  <Override PartName="/ppt/tags/tag60.xml" ContentType="application/vnd.openxmlformats-officedocument.presentationml.tags+xml"/>
  <Override PartName="/ppt/notesSlides/notesSlide57.xml" ContentType="application/vnd.openxmlformats-officedocument.presentationml.notesSlide+xml"/>
  <Override PartName="/ppt/tags/tag61.xml" ContentType="application/vnd.openxmlformats-officedocument.presentationml.tags+xml"/>
  <Override PartName="/ppt/notesSlides/notesSlide58.xml" ContentType="application/vnd.openxmlformats-officedocument.presentationml.notesSlide+xml"/>
  <Override PartName="/ppt/tags/tag62.xml" ContentType="application/vnd.openxmlformats-officedocument.presentationml.tags+xml"/>
  <Override PartName="/ppt/notesSlides/notesSlide59.xml" ContentType="application/vnd.openxmlformats-officedocument.presentationml.notesSlide+xml"/>
  <Override PartName="/ppt/tags/tag63.xml" ContentType="application/vnd.openxmlformats-officedocument.presentationml.tags+xml"/>
  <Override PartName="/ppt/notesSlides/notesSlide60.xml" ContentType="application/vnd.openxmlformats-officedocument.presentationml.notesSlide+xml"/>
  <Override PartName="/ppt/tags/tag64.xml" ContentType="application/vnd.openxmlformats-officedocument.presentationml.tags+xml"/>
  <Override PartName="/ppt/notesSlides/notesSlide61.xml" ContentType="application/vnd.openxmlformats-officedocument.presentationml.notesSlide+xml"/>
  <Override PartName="/ppt/tags/tag65.xml" ContentType="application/vnd.openxmlformats-officedocument.presentationml.tags+xml"/>
  <Override PartName="/ppt/notesSlides/notesSlide62.xml" ContentType="application/vnd.openxmlformats-officedocument.presentationml.notesSlide+xml"/>
  <Override PartName="/ppt/tags/tag66.xml" ContentType="application/vnd.openxmlformats-officedocument.presentationml.tags+xml"/>
  <Override PartName="/ppt/notesSlides/notesSlide63.xml" ContentType="application/vnd.openxmlformats-officedocument.presentationml.notesSlide+xml"/>
  <Override PartName="/ppt/tags/tag67.xml" ContentType="application/vnd.openxmlformats-officedocument.presentationml.tags+xml"/>
  <Override PartName="/ppt/notesSlides/notesSlide64.xml" ContentType="application/vnd.openxmlformats-officedocument.presentationml.notesSlide+xml"/>
  <Override PartName="/ppt/tags/tag68.xml" ContentType="application/vnd.openxmlformats-officedocument.presentationml.tags+xml"/>
  <Override PartName="/ppt/notesSlides/notesSlide65.xml" ContentType="application/vnd.openxmlformats-officedocument.presentationml.notesSlide+xml"/>
  <Override PartName="/ppt/tags/tag69.xml" ContentType="application/vnd.openxmlformats-officedocument.presentationml.tags+xml"/>
  <Override PartName="/ppt/notesSlides/notesSlide66.xml" ContentType="application/vnd.openxmlformats-officedocument.presentationml.notesSlide+xml"/>
  <Override PartName="/ppt/tags/tag70.xml" ContentType="application/vnd.openxmlformats-officedocument.presentationml.tags+xml"/>
  <Override PartName="/ppt/notesSlides/notesSlide67.xml" ContentType="application/vnd.openxmlformats-officedocument.presentationml.notesSlide+xml"/>
  <Override PartName="/ppt/tags/tag71.xml" ContentType="application/vnd.openxmlformats-officedocument.presentationml.tags+xml"/>
  <Override PartName="/ppt/notesSlides/notesSlide68.xml" ContentType="application/vnd.openxmlformats-officedocument.presentationml.notesSlide+xml"/>
  <Override PartName="/ppt/tags/tag72.xml" ContentType="application/vnd.openxmlformats-officedocument.presentationml.tags+xml"/>
  <Override PartName="/ppt/notesSlides/notesSlide69.xml" ContentType="application/vnd.openxmlformats-officedocument.presentationml.notesSlide+xml"/>
  <Override PartName="/ppt/tags/tag73.xml" ContentType="application/vnd.openxmlformats-officedocument.presentationml.tags+xml"/>
  <Override PartName="/ppt/notesSlides/notesSlide70.xml" ContentType="application/vnd.openxmlformats-officedocument.presentationml.notesSlide+xml"/>
  <Override PartName="/ppt/tags/tag74.xml" ContentType="application/vnd.openxmlformats-officedocument.presentationml.tags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75"/>
  </p:notesMasterIdLst>
  <p:sldIdLst>
    <p:sldId id="513" r:id="rId2"/>
    <p:sldId id="730" r:id="rId3"/>
    <p:sldId id="1070" r:id="rId4"/>
    <p:sldId id="1071" r:id="rId5"/>
    <p:sldId id="1053" r:id="rId6"/>
    <p:sldId id="1072" r:id="rId7"/>
    <p:sldId id="763" r:id="rId8"/>
    <p:sldId id="883" r:id="rId9"/>
    <p:sldId id="924" r:id="rId10"/>
    <p:sldId id="1055" r:id="rId11"/>
    <p:sldId id="1056" r:id="rId12"/>
    <p:sldId id="1057" r:id="rId13"/>
    <p:sldId id="1059" r:id="rId14"/>
    <p:sldId id="876" r:id="rId15"/>
    <p:sldId id="1058" r:id="rId16"/>
    <p:sldId id="759" r:id="rId17"/>
    <p:sldId id="788" r:id="rId18"/>
    <p:sldId id="790" r:id="rId19"/>
    <p:sldId id="927" r:id="rId20"/>
    <p:sldId id="928" r:id="rId21"/>
    <p:sldId id="929" r:id="rId22"/>
    <p:sldId id="886" r:id="rId23"/>
    <p:sldId id="792" r:id="rId24"/>
    <p:sldId id="881" r:id="rId25"/>
    <p:sldId id="930" r:id="rId26"/>
    <p:sldId id="795" r:id="rId27"/>
    <p:sldId id="959" r:id="rId28"/>
    <p:sldId id="931" r:id="rId29"/>
    <p:sldId id="812" r:id="rId30"/>
    <p:sldId id="960" r:id="rId31"/>
    <p:sldId id="808" r:id="rId32"/>
    <p:sldId id="961" r:id="rId33"/>
    <p:sldId id="932" r:id="rId34"/>
    <p:sldId id="919" r:id="rId35"/>
    <p:sldId id="933" r:id="rId36"/>
    <p:sldId id="962" r:id="rId37"/>
    <p:sldId id="963" r:id="rId38"/>
    <p:sldId id="920" r:id="rId39"/>
    <p:sldId id="1060" r:id="rId40"/>
    <p:sldId id="1061" r:id="rId41"/>
    <p:sldId id="771" r:id="rId42"/>
    <p:sldId id="865" r:id="rId43"/>
    <p:sldId id="934" r:id="rId44"/>
    <p:sldId id="935" r:id="rId45"/>
    <p:sldId id="964" r:id="rId46"/>
    <p:sldId id="936" r:id="rId47"/>
    <p:sldId id="937" r:id="rId48"/>
    <p:sldId id="938" r:id="rId49"/>
    <p:sldId id="939" r:id="rId50"/>
    <p:sldId id="940" r:id="rId51"/>
    <p:sldId id="941" r:id="rId52"/>
    <p:sldId id="945" r:id="rId53"/>
    <p:sldId id="942" r:id="rId54"/>
    <p:sldId id="965" r:id="rId55"/>
    <p:sldId id="1062" r:id="rId56"/>
    <p:sldId id="946" r:id="rId57"/>
    <p:sldId id="947" r:id="rId58"/>
    <p:sldId id="966" r:id="rId59"/>
    <p:sldId id="948" r:id="rId60"/>
    <p:sldId id="949" r:id="rId61"/>
    <p:sldId id="950" r:id="rId62"/>
    <p:sldId id="951" r:id="rId63"/>
    <p:sldId id="953" r:id="rId64"/>
    <p:sldId id="1063" r:id="rId65"/>
    <p:sldId id="954" r:id="rId66"/>
    <p:sldId id="955" r:id="rId67"/>
    <p:sldId id="956" r:id="rId68"/>
    <p:sldId id="957" r:id="rId69"/>
    <p:sldId id="1064" r:id="rId70"/>
    <p:sldId id="1065" r:id="rId71"/>
    <p:sldId id="958" r:id="rId72"/>
    <p:sldId id="874" r:id="rId73"/>
    <p:sldId id="291" r:id="rId74"/>
  </p:sldIdLst>
  <p:sldSz cx="9144000" cy="5143500" type="screen16x9"/>
  <p:notesSz cx="6858000" cy="9144000"/>
  <p:custDataLst>
    <p:tags r:id="rId76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15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9" autoAdjust="0"/>
    <p:restoredTop sz="86402" autoAdjust="0"/>
  </p:normalViewPr>
  <p:slideViewPr>
    <p:cSldViewPr snapToGrid="0" showGuides="1">
      <p:cViewPr varScale="1">
        <p:scale>
          <a:sx n="78" d="100"/>
          <a:sy n="78" d="100"/>
        </p:scale>
        <p:origin x="964" y="44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?>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gs" Target="tags/tag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2/3/2021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?>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?>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?>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?>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?>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?>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?>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?>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?>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?>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?>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?>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?>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?>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?>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?>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?>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?>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?>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?>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?>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?>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?>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?>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?>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?>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?>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?>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?>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?>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?>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?>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?>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?>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?>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?>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?>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?>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?>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?>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?>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?>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?>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?>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?>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?>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?>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?>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Programa da Cisco Networking Academy</a:t>
            </a:r>
          </a:p>
          <a:p>
            <a:pPr rtl="0"/>
            <a:r>
              <a:rPr lang="pt-BR"/>
              <a:t>CCNA 1</a:t>
            </a:r>
          </a:p>
          <a:p>
            <a:pPr rtl="0"/>
            <a:r>
              <a:rPr lang="pt-BR"/>
              <a:t>Módulo 2: Configuração Básica do Switch e do Dispositivo Final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false"/>
              <a:pPr algn="r"/>
              <a:t>2</a:t>
            </a:fld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6771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false">
                <a:ea typeface="ＭＳ Ｐゴシック" pitchFamily="34" charset="-128"/>
              </a:rPr>
              <a:pPr algn="r"/>
              <a:t>5</a:t>
            </a:fld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0274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false">
                <a:ea typeface="ＭＳ Ｐゴシック" pitchFamily="34" charset="-128"/>
              </a:rPr>
              <a:pPr algn="r"/>
              <a:t>6</a:t>
            </a:fld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7717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0A313ED8-785B-4D16-9B17-4143385249B9}" type="slidenum">
              <a:rPr sz="800" b="false"/>
              <a:pPr algn="r"/>
              <a:t>7</a:t>
            </a:fld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7453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0A313ED8-785B-4D16-9B17-4143385249B9}" type="slidenum">
              <a:rPr sz="800" b="false"/>
              <a:pPr algn="r"/>
              <a:t>8</a:t>
            </a:fld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7924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0A313ED8-785B-4D16-9B17-4143385249B9}" type="slidenum">
              <a:rPr sz="800" b="false"/>
              <a:pPr algn="r"/>
              <a:t>9</a:t>
            </a:fld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6406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10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0104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11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8653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12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5927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391C207-9349-46D5-9D89-8ADDA5014D1F}" type="slidenum">
              <a:rPr sz="800" b="false"/>
              <a:pPr algn="r"/>
              <a:t>13</a:t>
            </a:fld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54186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Programa da Cisco Networking Academy</a:t>
            </a:r>
          </a:p>
          <a:p>
            <a:pPr rtl="0"/>
            <a:r>
              <a:rPr lang="pt-BR"/>
              <a:t>Introduction to Networks</a:t>
            </a:r>
          </a:p>
          <a:p>
            <a:pPr rtl="0"/>
            <a:r>
              <a:rPr lang="pt-BR"/>
              <a:t>Módulo 2: Configuração Básica do Switch e do Dispositivo Final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14</a:t>
            </a:fld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7C839C26-801B-42B6-A101-60F37FE2B0A8}" type="slidenum">
              <a:rPr sz="800" b="false">
                <a:solidFill>
                  <a:prstClr val="black"/>
                </a:solidFill>
              </a:rPr>
              <a:pPr algn="r"/>
              <a:t>15</a:t>
            </a:fld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2.0.2 - O que vou aprender neste módulo?</a:t>
            </a:r>
          </a:p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0891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2.1 – Acesso ao Cisco IOS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16</a:t>
            </a:fld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17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2.1 – </a:t>
            </a:r>
            <a:r>
              <a:rPr sz="1200" kern="1200" lang="pt-BR">
                <a:solidFill>
                  <a:schemeClr val="accent5">
                    <a:lumMod val="40000"/>
                    <a:lumOff val="6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Acesso ao Cisco IOS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2.1.1 - Sistemas Operacionais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18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2.1 – </a:t>
            </a:r>
            <a:r>
              <a:rPr sz="1200" kern="1200" lang="pt-BR">
                <a:solidFill>
                  <a:schemeClr val="accent5">
                    <a:lumMod val="40000"/>
                    <a:lumOff val="6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Acesso ao Cisco IOS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2.1.2 — GUI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19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2.1 – </a:t>
            </a:r>
            <a:r>
              <a:rPr sz="1200" kern="1200" lang="pt-BR">
                <a:solidFill>
                  <a:schemeClr val="accent5">
                    <a:lumMod val="40000"/>
                    <a:lumOff val="6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Acesso ao Cisco IOS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2.1.3 – Finalidade de um SO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0739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20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2.1 – </a:t>
            </a:r>
            <a:r>
              <a:rPr sz="1200" kern="1200" lang="pt-BR">
                <a:solidFill>
                  <a:schemeClr val="accent5">
                    <a:lumMod val="40000"/>
                    <a:lumOff val="6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Acesso ao Cisco IOS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2.1.2.1 Métodos de Acesso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4938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21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2.1 – </a:t>
            </a:r>
            <a:r>
              <a:rPr sz="1200" kern="1200" lang="pt-BR">
                <a:solidFill>
                  <a:schemeClr val="accent5">
                    <a:lumMod val="40000"/>
                    <a:lumOff val="6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Acesso ao Cisco IOS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2.1.5 – Programas de emulação de terminal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2.1.6 — Verifique seu entendimento - Cisco IOS Access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5794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2.2 - </a:t>
            </a:r>
            <a:r>
              <a:rPr sz="1200" kern="1200" lang="pt-BR">
                <a:solidFill>
                  <a:schemeClr val="accent5">
                    <a:lumMod val="40000"/>
                    <a:lumOff val="6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Navegação</a:t>
            </a: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IOS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/>
              <a:t>22</a:t>
            </a:fld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23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2.2 - </a:t>
            </a:r>
            <a:r>
              <a:rPr sz="1200" kern="1200" lang="pt-BR">
                <a:solidFill>
                  <a:schemeClr val="accent5">
                    <a:lumMod val="40000"/>
                    <a:lumOff val="6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Navegação</a:t>
            </a: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IOS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2.1.3.2 – Modos de comando primários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6048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>
                <a:solidFill>
                  <a:prstClr val="black"/>
                </a:solidFill>
              </a:rPr>
              <a:pPr/>
              <a:t>24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2.2 - </a:t>
            </a:r>
            <a:r>
              <a:rPr sz="1200" kern="1200" lang="pt-BR">
                <a:solidFill>
                  <a:schemeClr val="accent5">
                    <a:lumMod val="40000"/>
                    <a:lumOff val="6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Navegação</a:t>
            </a: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IOS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2.2.2 — Modo de configuração e modos de subconfiguração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6918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25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2.2 - </a:t>
            </a:r>
            <a:r>
              <a:rPr sz="1200" kern="1200" lang="pt-BR">
                <a:solidFill>
                  <a:schemeClr val="accent5">
                    <a:lumMod val="40000"/>
                    <a:lumOff val="6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Navegação</a:t>
            </a: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IOS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2.2.3 - Vídeo - modos de comando primário da CLI do IOS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4801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2.2 - </a:t>
            </a:r>
            <a:r>
              <a:rPr sz="1200" kern="1200" lang="pt-BR">
                <a:solidFill>
                  <a:schemeClr val="accent5">
                    <a:lumMod val="40000"/>
                    <a:lumOff val="6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Navegação</a:t>
            </a: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IOS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2.2.4 – Navegar entre os modos do IOS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/>
              <a:t>26</a:t>
            </a:fld>
          </a:p>
        </p:txBody>
      </p:sp>
    </p:spTree>
    <p:extLst>
      <p:ext uri="{BB962C8B-B14F-4D97-AF65-F5344CB8AC3E}">
        <p14:creationId xmlns:p14="http://schemas.microsoft.com/office/powerpoint/2010/main" val="8765288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2.2 - </a:t>
            </a:r>
            <a:r>
              <a:rPr sz="1200" kern="1200" lang="pt-BR">
                <a:solidFill>
                  <a:schemeClr val="accent5">
                    <a:lumMod val="40000"/>
                    <a:lumOff val="6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Navegação</a:t>
            </a: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IOS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2.2.4 – Navegar entre os modos do IOS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/>
              <a:t>27</a:t>
            </a:fld>
          </a:p>
        </p:txBody>
      </p:sp>
    </p:spTree>
    <p:extLst>
      <p:ext uri="{BB962C8B-B14F-4D97-AF65-F5344CB8AC3E}">
        <p14:creationId xmlns:p14="http://schemas.microsoft.com/office/powerpoint/2010/main" val="7932355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28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2.2 - </a:t>
            </a:r>
            <a:r>
              <a:rPr sz="1200" kern="1200" lang="pt-BR">
                <a:solidFill>
                  <a:schemeClr val="accent5">
                    <a:lumMod val="40000"/>
                    <a:lumOff val="60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rPr>
              <a:t>Navegação</a:t>
            </a: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IOS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2.25 - Vídeo - Navegue entre os modos IOS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2.2.6 — Uma nota sobre o verificador de sintaxe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2.2.7 — Verificador de sintaxe — Navegar entre modos IOS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/>
              <a:t>2.2.8 — Verifique o seu entendimento - Navegação IOS</a:t>
            </a:r>
          </a:p>
        </p:txBody>
      </p:sp>
    </p:spTree>
    <p:extLst>
      <p:ext uri="{BB962C8B-B14F-4D97-AF65-F5344CB8AC3E}">
        <p14:creationId xmlns:p14="http://schemas.microsoft.com/office/powerpoint/2010/main" val="2284750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2.3 – A estrutura de comandos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/>
              <a:t>29</a:t>
            </a:fld>
          </a:p>
        </p:txBody>
      </p:sp>
    </p:spTree>
    <p:extLst>
      <p:ext uri="{BB962C8B-B14F-4D97-AF65-F5344CB8AC3E}">
        <p14:creationId xmlns:p14="http://schemas.microsoft.com/office/powerpoint/2010/main" val="10112177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2.3 – A estrutura de comandos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2.3.1 – Estrutura básica de comandos do IOS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/>
              <a:t>30</a:t>
            </a:fld>
          </a:p>
        </p:txBody>
      </p:sp>
    </p:spTree>
    <p:extLst>
      <p:ext uri="{BB962C8B-B14F-4D97-AF65-F5344CB8AC3E}">
        <p14:creationId xmlns:p14="http://schemas.microsoft.com/office/powerpoint/2010/main" val="21301549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2.3 – A estrutura de comandos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2.3.2 - Verificação de sintaxe do comando IOS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/>
              <a:t>31</a:t>
            </a:fld>
          </a:p>
        </p:txBody>
      </p:sp>
    </p:spTree>
    <p:extLst>
      <p:ext uri="{BB962C8B-B14F-4D97-AF65-F5344CB8AC3E}">
        <p14:creationId xmlns:p14="http://schemas.microsoft.com/office/powerpoint/2010/main" val="29275515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2.3 – A estrutura de comandos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2.3.2 - Verificação de sintaxe do comando IOS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/>
              <a:t>32</a:t>
            </a:fld>
          </a:p>
        </p:txBody>
      </p:sp>
    </p:spTree>
    <p:extLst>
      <p:ext uri="{BB962C8B-B14F-4D97-AF65-F5344CB8AC3E}">
        <p14:creationId xmlns:p14="http://schemas.microsoft.com/office/powerpoint/2010/main" val="13061491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2.3 – A estrutura de comandos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2.3.3 – Recursos da ajuda do IOS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/>
              <a:t>33</a:t>
            </a:fld>
          </a:p>
        </p:txBody>
      </p:sp>
    </p:spTree>
    <p:extLst>
      <p:ext uri="{BB962C8B-B14F-4D97-AF65-F5344CB8AC3E}">
        <p14:creationId xmlns:p14="http://schemas.microsoft.com/office/powerpoint/2010/main" val="26264463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34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2.3 – A estrutura de comandos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2.3.4 — Vídeo - Verificador de sintaxe de comando sensível ao contexto e ajuda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46509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2.3 – A estrutura de comandos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2.3.5 – Teclas de acesso e atalhos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/>
              <a:t>35</a:t>
            </a:fld>
          </a:p>
        </p:txBody>
      </p:sp>
    </p:spTree>
    <p:extLst>
      <p:ext uri="{BB962C8B-B14F-4D97-AF65-F5344CB8AC3E}">
        <p14:creationId xmlns:p14="http://schemas.microsoft.com/office/powerpoint/2010/main" val="31757654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2.3 – A estrutura de comandos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2.3.5 – Teclas de acesso e atalhos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/>
              <a:t>36</a:t>
            </a:fld>
          </a:p>
        </p:txBody>
      </p:sp>
    </p:spTree>
    <p:extLst>
      <p:ext uri="{BB962C8B-B14F-4D97-AF65-F5344CB8AC3E}">
        <p14:creationId xmlns:p14="http://schemas.microsoft.com/office/powerpoint/2010/main" val="13997017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2.3 – A estrutura de comandos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2.3.5 – Teclas de acesso e atalhos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/>
              <a:t>37</a:t>
            </a:fld>
          </a:p>
        </p:txBody>
      </p:sp>
    </p:spTree>
    <p:extLst>
      <p:ext uri="{BB962C8B-B14F-4D97-AF65-F5344CB8AC3E}">
        <p14:creationId xmlns:p14="http://schemas.microsoft.com/office/powerpoint/2010/main" val="345073836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38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2.3 – A estrutura de comandos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2.3.6 - Vídeo - Teclas de Atalho e Atalhos</a:t>
            </a:r>
          </a:p>
        </p:txBody>
      </p:sp>
    </p:spTree>
    <p:extLst>
      <p:ext uri="{BB962C8B-B14F-4D97-AF65-F5344CB8AC3E}">
        <p14:creationId xmlns:p14="http://schemas.microsoft.com/office/powerpoint/2010/main" val="6582806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39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2.3 – A estrutura de comandos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2.3.7 - Packet Tracer - Navegue no IOS</a:t>
            </a:r>
          </a:p>
        </p:txBody>
      </p:sp>
    </p:spTree>
    <p:extLst>
      <p:ext uri="{BB962C8B-B14F-4D97-AF65-F5344CB8AC3E}">
        <p14:creationId xmlns:p14="http://schemas.microsoft.com/office/powerpoint/2010/main" val="24686146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40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2.3 – A estrutura de comandos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2.3.8 — Laboratório — Navegue pelo IOS usando Tera Term para conectividade de console</a:t>
            </a:r>
          </a:p>
        </p:txBody>
      </p:sp>
    </p:spTree>
    <p:extLst>
      <p:ext uri="{BB962C8B-B14F-4D97-AF65-F5344CB8AC3E}">
        <p14:creationId xmlns:p14="http://schemas.microsoft.com/office/powerpoint/2010/main" val="9050904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2.4 – Configuração básica do dispositivo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41</a:t>
            </a:fld>
          </a:p>
        </p:txBody>
      </p:sp>
    </p:spTree>
    <p:extLst>
      <p:ext uri="{BB962C8B-B14F-4D97-AF65-F5344CB8AC3E}">
        <p14:creationId xmlns:p14="http://schemas.microsoft.com/office/powerpoint/2010/main" val="1764100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42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2.4 – Configuração básica do dispositivo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2.4.1 — Nomes de dispositivos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4485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43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2.4 – Configuração básica do dispositivo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2.4.2 - Diretrizes de senha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1254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44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2.4 – Configuração básica do dispositivo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2.4.3 - Configurar Senhas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9938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45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2.4 – Configuração básica do dispositivo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2.4.3 - Configurar Senhas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5516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46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2.4 – Configuração básica do dispositivo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2.4.4 - Criptografar as Senhas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66228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47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2.4 – Configuração básica do dispositivo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2.4.5 – Mensagens de banner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11554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48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2.4 – Configuração básica do dispositivo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2.4.6 - Vídeo - Acesso administrativo seguro a um switch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2.4.7 — Verificador de sintaxe - Configuração básica do dispositivo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2.4.8 — Verifique o seu entendimento - Configuração básica do dispositivo</a:t>
            </a:r>
          </a:p>
          <a:p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69944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2.5 - Salvar configurações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49</a:t>
            </a:fld>
          </a:p>
        </p:txBody>
      </p:sp>
    </p:spTree>
    <p:extLst>
      <p:ext uri="{BB962C8B-B14F-4D97-AF65-F5344CB8AC3E}">
        <p14:creationId xmlns:p14="http://schemas.microsoft.com/office/powerpoint/2010/main" val="155217565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50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2.5 - Salvar configurações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2.5.1 - Arquivos de configuração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0589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51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2.5 - Salvar configurações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2.5.2 - Alterar a Configuração Ativa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19915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52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2.5 - Salvar configurações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2.5.3 - Vídeo - Alterar a configuração em execução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15633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53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2.5 - Salvar configurações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2.5.4 – Capturar a Configuração em um arquivo de texto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53743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54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2.5 - Salvar configurações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2.5.4 – Capturar a Configuração em um arquivo de texto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38443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55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2.5 - Salvar configurações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2.5.5 - Packet Tracer - Definir configurações iniciais do switch</a:t>
            </a:r>
          </a:p>
        </p:txBody>
      </p:sp>
    </p:spTree>
    <p:extLst>
      <p:ext uri="{BB962C8B-B14F-4D97-AF65-F5344CB8AC3E}">
        <p14:creationId xmlns:p14="http://schemas.microsoft.com/office/powerpoint/2010/main" val="120737854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2.6 — Portas e Endereços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56</a:t>
            </a:fld>
          </a:p>
        </p:txBody>
      </p:sp>
    </p:spTree>
    <p:extLst>
      <p:ext uri="{BB962C8B-B14F-4D97-AF65-F5344CB8AC3E}">
        <p14:creationId xmlns:p14="http://schemas.microsoft.com/office/powerpoint/2010/main" val="176403250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57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2.6 — Portas e Endereços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2.6.1 — Endereços 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00497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58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2.6 — Portas e Endereços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2.6.1 — Endereços 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27360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59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2.6 — Portas e Endereços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2.3.1.2 Interfaces e Portas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2.6.3 — Verifique o seu entendimento - Portas e endereços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41152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2.7 - Configurar endereços 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60</a:t>
            </a:fld>
          </a:p>
        </p:txBody>
      </p:sp>
    </p:spTree>
    <p:extLst>
      <p:ext uri="{BB962C8B-B14F-4D97-AF65-F5344CB8AC3E}">
        <p14:creationId xmlns:p14="http://schemas.microsoft.com/office/powerpoint/2010/main" val="118663415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61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2.7 - Configurar endereços IP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2.7.1 - Configuração manual de endereço IP para dispositivos finais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97414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62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2.7 - Configurar endereços IP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2.7.2 - Configuração automática de endereço IP para dispositivos finais</a:t>
            </a:r>
          </a:p>
          <a:p>
            <a:pPr rtl="0"/>
            <a:r>
              <a:rPr lang="pt-BR"/>
              <a:t>2.7.3 — Verificador de sintaxe — Verifique a configuração de IP do PC Windows</a:t>
            </a:r>
          </a:p>
        </p:txBody>
      </p:sp>
    </p:spTree>
    <p:extLst>
      <p:ext uri="{BB962C8B-B14F-4D97-AF65-F5344CB8AC3E}">
        <p14:creationId xmlns:p14="http://schemas.microsoft.com/office/powerpoint/2010/main" val="273118475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63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2.7 - Configurar endereços IP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2.7.4 - Configuração da Interface Virtual de Switch</a:t>
            </a:r>
          </a:p>
          <a:p>
            <a:pPr rtl="0"/>
            <a:r>
              <a:rPr lang="pt-BR"/>
              <a:t>2.7.5 - Verificador de sintaxe - Configurar uma interface virtual do switch</a:t>
            </a:r>
          </a:p>
        </p:txBody>
      </p:sp>
    </p:spTree>
    <p:extLst>
      <p:ext uri="{BB962C8B-B14F-4D97-AF65-F5344CB8AC3E}">
        <p14:creationId xmlns:p14="http://schemas.microsoft.com/office/powerpoint/2010/main" val="304959890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64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2.7 - Configurar endereços IP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2.7.6 - Packet Tracer - Implementação da conectividade básica</a:t>
            </a:r>
          </a:p>
        </p:txBody>
      </p:sp>
    </p:spTree>
    <p:extLst>
      <p:ext uri="{BB962C8B-B14F-4D97-AF65-F5344CB8AC3E}">
        <p14:creationId xmlns:p14="http://schemas.microsoft.com/office/powerpoint/2010/main" val="285197310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2.8 - Verificar a conectividade.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>
                <a:solidFill>
                  <a:prstClr val="black"/>
                </a:solidFill>
              </a:rPr>
              <a:pPr/>
              <a:t>65</a:t>
            </a:fld>
          </a:p>
        </p:txBody>
      </p:sp>
    </p:spTree>
    <p:extLst>
      <p:ext uri="{BB962C8B-B14F-4D97-AF65-F5344CB8AC3E}">
        <p14:creationId xmlns:p14="http://schemas.microsoft.com/office/powerpoint/2010/main" val="3746769319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66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2.8 - Verificar a conectividade.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2.8.1 - Vídeo - Testar a atribuição de interface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20814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67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2.8 - Verificar a conectividade.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2.8.2 - Testar a conectividade de ponta a ponta.</a:t>
            </a:r>
          </a:p>
        </p:txBody>
      </p:sp>
    </p:spTree>
    <p:extLst>
      <p:ext uri="{BB962C8B-B14F-4D97-AF65-F5344CB8AC3E}">
        <p14:creationId xmlns:p14="http://schemas.microsoft.com/office/powerpoint/2010/main" val="152684169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2.9 - Módulo Prática e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68</a:t>
            </a:fld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69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2.9 - Módulo Prática e Quiz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2.9.1 - Packet Tracer - Configuração básica do switch e do dispositivo final</a:t>
            </a:r>
          </a:p>
        </p:txBody>
      </p:sp>
    </p:spTree>
    <p:extLst>
      <p:ext uri="{BB962C8B-B14F-4D97-AF65-F5344CB8AC3E}">
        <p14:creationId xmlns:p14="http://schemas.microsoft.com/office/powerpoint/2010/main" val="365203947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rtl="0"/>
            <a:fld id="{04267211-205D-47E8-9F29-7E4C01D43DC3}" type="slidenum">
              <a:rPr sz="800"/>
              <a:pPr/>
              <a:t>70</a:t>
            </a:fld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2.9 - Módulo Prática e Quiz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2.9.2 — Laboratório — Configuração básica de switch e dispositivo final</a:t>
            </a:r>
          </a:p>
        </p:txBody>
      </p:sp>
    </p:spTree>
    <p:extLst>
      <p:ext uri="{BB962C8B-B14F-4D97-AF65-F5344CB8AC3E}">
        <p14:creationId xmlns:p14="http://schemas.microsoft.com/office/powerpoint/2010/main" val="168164330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  <a:pPr/>
              <a:t>71</a:t>
            </a:fld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2.9 - Módulo Prática e Quiz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O que eu aprendi neste módulo?</a:t>
            </a:r>
          </a:p>
          <a:p>
            <a:pPr rtl="0">
              <a:lnSpc>
                <a:spcPct val="80000"/>
              </a:lnSpc>
              <a:buFontTx/>
              <a:buNone/>
            </a:pPr>
            <a:r>
              <a:rPr lang="pt-BR">
                <a:latin typeface="Arial" charset="0"/>
              </a:rPr>
              <a:t>2.9.4 - Teste do módulo - Configuração básica do switch e do dispositivo final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rtl="0"/>
            <a:fld id="{6C92755B-29FD-8743-9094-C0E3A734D22E}" type="slidenum">
              <a:rPr sz="800">
                <a:solidFill>
                  <a:prstClr val="black"/>
                </a:solidFill>
              </a:rPr>
              <a:pPr/>
              <a:t>72</a:t>
            </a:fld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200" kern="1200" lang="pt-BR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2 – Configuração básica do switch e do dispositivo final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Novos termos e comandos</a:t>
            </a:r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73</a:t>
            </a:fld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r>
              <a:rPr sz="600" lang="pt-BR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56028" y="4741653"/>
            <a:ext cx="286949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fontAlgn="auto" rtl="0">
              <a:spcBef>
                <a:spcPts val="0"/>
              </a:spcBef>
              <a:spcAft>
                <a:spcPts val="0"/>
              </a:spcAft>
              <a:defRPr/>
            </a:pPr>
            <a:r>
              <a:rPr sz="600" lang="pt-BR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2019, 2021 Cisco e/ou suas afiliadas. Todos os direitos reservados.   Documento confidencial da Cisco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?>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?>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?>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?>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5.xml.rels><?xml version="1.0" encoding="utf-8"?>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6.xml.rels><?xml version="1.0" encoding="utf-8"?>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7.xml.rels><?xml version="1.0" encoding="utf-8"?>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8.xml.rels><?xml version="1.0" encoding="utf-8"?>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9.xml.rels><?xml version="1.0" encoding="utf-8"?>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0.xml.rels><?xml version="1.0" encoding="utf-8"?>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11.xml.rels><?xml version="1.0" encoding="utf-8"?>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12.xml.rels><?xml version="1.0" encoding="utf-8"?>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/Relationships>
</file>

<file path=ppt/slides/_rels/slide13.xml.rels><?xml version="1.0" encoding="utf-8"?>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_rels/slide14.xml.rels><?xml version="1.0" encoding="utf-8"?>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5.xml.rels><?xml version="1.0" encoding="utf-8"?>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_rels/slide16.xml.rels><?xml version="1.0" encoding="utf-8"?>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17.xml.rels><?xml version="1.0" encoding="utf-8"?>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Relationship Id="rId4" Type="http://schemas.openxmlformats.org/officeDocument/2006/relationships/image" Target="../media/image3.tiff"/></Relationships>
</file>

<file path=ppt/slides/_rels/slide18.xml.rels><?xml version="1.0" encoding="utf-8"?>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Relationship Id="rId4" Type="http://schemas.openxmlformats.org/officeDocument/2006/relationships/image" Target="../media/image4.tiff"/></Relationships>
</file>

<file path=ppt/slides/_rels/slide19.xml.rels><?xml version="1.0" encoding="utf-8"?>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Relationship Id="rId5" Type="http://schemas.openxmlformats.org/officeDocument/2006/relationships/image" Target="../media/image4.tiff"/><Relationship Id="rId4" Type="http://schemas.openxmlformats.org/officeDocument/2006/relationships/image" Target="../media/image5.tiff"/></Relationships>
</file>

<file path=ppt/slides/_rels/slide20.xml.rels><?xml version="1.0" encoding="utf-8"?>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Relationship Id="rId5" Type="http://schemas.openxmlformats.org/officeDocument/2006/relationships/image" Target="../media/image7.gif"/><Relationship Id="rId4" Type="http://schemas.openxmlformats.org/officeDocument/2006/relationships/image" Target="../media/image6.jpeg"/></Relationships>
</file>

<file path=ppt/slides/_rels/slide21.xml.rels><?xml version="1.0" encoding="utf-8"?>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Relationship Id="rId5" Type="http://schemas.openxmlformats.org/officeDocument/2006/relationships/image" Target="../media/image9.tiff"/><Relationship Id="rId4" Type="http://schemas.openxmlformats.org/officeDocument/2006/relationships/image" Target="../media/image8.tiff"/></Relationships>
</file>

<file path=ppt/slides/_rels/slide22.xml.rels><?xml version="1.0" encoding="utf-8"?>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.xml"/></Relationships>
</file>

<file path=ppt/slides/_rels/slide23.xml.rels><?xml version="1.0" encoding="utf-8"?>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13.tif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.xml"/><Relationship Id="rId6" Type="http://schemas.openxmlformats.org/officeDocument/2006/relationships/image" Target="../media/image12.tiff"/><Relationship Id="rId5" Type="http://schemas.openxmlformats.org/officeDocument/2006/relationships/image" Target="../media/image11.tiff"/><Relationship Id="rId4" Type="http://schemas.openxmlformats.org/officeDocument/2006/relationships/image" Target="../media/image10.tiff"/></Relationships>
</file>

<file path=ppt/slides/_rels/slide24.xml.rels><?xml version="1.0" encoding="utf-8"?>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Relationship Id="rId6" Type="http://schemas.openxmlformats.org/officeDocument/2006/relationships/image" Target="../media/image16.tiff"/><Relationship Id="rId5" Type="http://schemas.openxmlformats.org/officeDocument/2006/relationships/image" Target="../media/image15.tiff"/><Relationship Id="rId4" Type="http://schemas.openxmlformats.org/officeDocument/2006/relationships/image" Target="../media/image14.tiff"/></Relationships>
</file>

<file path=ppt/slides/_rels/slide25.xml.rels><?xml version="1.0" encoding="utf-8"?>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6.xml"/></Relationships>
</file>

<file path=ppt/slides/_rels/slide26.xml.rels><?xml version="1.0" encoding="utf-8"?>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.xml"/><Relationship Id="rId6" Type="http://schemas.openxmlformats.org/officeDocument/2006/relationships/image" Target="../media/image19.tiff"/><Relationship Id="rId5" Type="http://schemas.openxmlformats.org/officeDocument/2006/relationships/image" Target="../media/image18.tiff"/><Relationship Id="rId4" Type="http://schemas.openxmlformats.org/officeDocument/2006/relationships/image" Target="../media/image17.tiff"/></Relationships>
</file>

<file path=ppt/slides/_rels/slide27.xml.rels><?xml version="1.0" encoding="utf-8"?>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8.xml"/><Relationship Id="rId5" Type="http://schemas.openxmlformats.org/officeDocument/2006/relationships/image" Target="../media/image21.tiff"/><Relationship Id="rId4" Type="http://schemas.openxmlformats.org/officeDocument/2006/relationships/image" Target="../media/image20.tiff"/></Relationships>
</file>

<file path=ppt/slides/_rels/slide28.xml.rels><?xml version="1.0" encoding="utf-8"?>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.xml"/></Relationships>
</file>

<file path=ppt/slides/_rels/slide29.xml.rels><?xml version="1.0" encoding="utf-8"?>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0.xml"/></Relationships>
</file>

<file path=ppt/slides/_rels/slide30.xml.rels><?xml version="1.0" encoding="utf-8"?>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1.xml"/><Relationship Id="rId4" Type="http://schemas.openxmlformats.org/officeDocument/2006/relationships/image" Target="../media/image22.png"/></Relationships>
</file>

<file path=ppt/slides/_rels/slide31.xml.rels><?xml version="1.0" encoding="utf-8"?>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2.xml"/></Relationships>
</file>

<file path=ppt/slides/_rels/slide32.xml.rels><?xml version="1.0" encoding="utf-8"?>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3.xml"/><Relationship Id="rId6" Type="http://schemas.openxmlformats.org/officeDocument/2006/relationships/image" Target="../media/image25.tiff"/><Relationship Id="rId5" Type="http://schemas.openxmlformats.org/officeDocument/2006/relationships/image" Target="../media/image24.tiff"/><Relationship Id="rId4" Type="http://schemas.openxmlformats.org/officeDocument/2006/relationships/image" Target="../media/image23.tiff"/></Relationships>
</file>

<file path=ppt/slides/_rels/slide33.xml.rels><?xml version="1.0" encoding="utf-8"?>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4.xml"/><Relationship Id="rId5" Type="http://schemas.openxmlformats.org/officeDocument/2006/relationships/image" Target="../media/image27.tiff"/><Relationship Id="rId4" Type="http://schemas.openxmlformats.org/officeDocument/2006/relationships/image" Target="../media/image26.tiff"/></Relationships>
</file>

<file path=ppt/slides/_rels/slide34.xml.rels><?xml version="1.0" encoding="utf-8"?>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5.xml"/></Relationships>
</file>

<file path=ppt/slides/_rels/slide35.xml.rels><?xml version="1.0" encoding="utf-8"?>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6.xml"/><Relationship Id="rId5" Type="http://schemas.openxmlformats.org/officeDocument/2006/relationships/image" Target="../media/image29.tiff"/><Relationship Id="rId4" Type="http://schemas.openxmlformats.org/officeDocument/2006/relationships/image" Target="../media/image28.tiff"/></Relationships>
</file>

<file path=ppt/slides/_rels/slide36.xml.rels><?xml version="1.0" encoding="utf-8"?>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7.xml"/></Relationships>
</file>

<file path=ppt/slides/_rels/slide37.xml.rels><?xml version="1.0" encoding="utf-8"?>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8.xml"/></Relationships>
</file>

<file path=ppt/slides/_rels/slide38.xml.rels><?xml version="1.0" encoding="utf-8"?>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9.xml"/></Relationships>
</file>

<file path=ppt/slides/_rels/slide39.xml.rels><?xml version="1.0" encoding="utf-8"?>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0.xml"/></Relationships>
</file>

<file path=ppt/slides/_rels/slide40.xml.rels><?xml version="1.0" encoding="utf-8"?>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1.xml"/></Relationships>
</file>

<file path=ppt/slides/_rels/slide41.xml.rels><?xml version="1.0" encoding="utf-8"?>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2.xml"/></Relationships>
</file>

<file path=ppt/slides/_rels/slide42.xml.rels><?xml version="1.0" encoding="utf-8"?>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3.xml"/><Relationship Id="rId4" Type="http://schemas.openxmlformats.org/officeDocument/2006/relationships/image" Target="../media/image30.tiff"/></Relationships>
</file>

<file path=ppt/slides/_rels/slide43.xml.rels><?xml version="1.0" encoding="utf-8"?>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4.xml"/><Relationship Id="rId4" Type="http://schemas.openxmlformats.org/officeDocument/2006/relationships/image" Target="../media/image31.png"/></Relationships>
</file>

<file path=ppt/slides/_rels/slide44.xml.rels><?xml version="1.0" encoding="utf-8"?>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5.xml"/><Relationship Id="rId5" Type="http://schemas.openxmlformats.org/officeDocument/2006/relationships/image" Target="../media/image33.tiff"/><Relationship Id="rId4" Type="http://schemas.openxmlformats.org/officeDocument/2006/relationships/image" Target="../media/image32.tiff"/></Relationships>
</file>

<file path=ppt/slides/_rels/slide45.xml.rels><?xml version="1.0" encoding="utf-8"?>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6.xml"/><Relationship Id="rId4" Type="http://schemas.openxmlformats.org/officeDocument/2006/relationships/image" Target="../media/image34.tiff"/></Relationships>
</file>

<file path=ppt/slides/_rels/slide46.xml.rels><?xml version="1.0" encoding="utf-8"?>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7.xml"/><Relationship Id="rId5" Type="http://schemas.openxmlformats.org/officeDocument/2006/relationships/image" Target="../media/image36.tiff"/><Relationship Id="rId4" Type="http://schemas.openxmlformats.org/officeDocument/2006/relationships/image" Target="../media/image35.tiff"/></Relationships>
</file>

<file path=ppt/slides/_rels/slide47.xml.rels><?xml version="1.0" encoding="utf-8"?>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8.xml.rels><?xml version="1.0" encoding="utf-8"?>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9.xml"/></Relationships>
</file>

<file path=ppt/slides/_rels/slide49.xml.rels><?xml version="1.0" encoding="utf-8"?>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0.xml"/></Relationships>
</file>

<file path=ppt/slides/_rels/slide50.xml.rels><?xml version="1.0" encoding="utf-8"?>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1.xml"/><Relationship Id="rId5" Type="http://schemas.openxmlformats.org/officeDocument/2006/relationships/image" Target="../media/image40.tiff"/><Relationship Id="rId4" Type="http://schemas.openxmlformats.org/officeDocument/2006/relationships/image" Target="../media/image39.tiff"/></Relationships>
</file>

<file path=ppt/slides/_rels/slide51.xml.rels><?xml version="1.0" encoding="utf-8"?>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2.xml"/><Relationship Id="rId5" Type="http://schemas.openxmlformats.org/officeDocument/2006/relationships/image" Target="../media/image42.png"/><Relationship Id="rId4" Type="http://schemas.openxmlformats.org/officeDocument/2006/relationships/image" Target="../media/image41.tiff"/></Relationships>
</file>

<file path=ppt/slides/_rels/slide52.xml.rels><?xml version="1.0" encoding="utf-8"?>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3.xml"/></Relationships>
</file>

<file path=ppt/slides/_rels/slide53.xml.rels><?xml version="1.0" encoding="utf-8"?>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4.xml"/><Relationship Id="rId4" Type="http://schemas.openxmlformats.org/officeDocument/2006/relationships/image" Target="../media/image43.tiff"/></Relationships>
</file>

<file path=ppt/slides/_rels/slide54.xml.rels><?xml version="1.0" encoding="utf-8"?>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5.xml"/><Relationship Id="rId5" Type="http://schemas.openxmlformats.org/officeDocument/2006/relationships/image" Target="../media/image45.tiff"/><Relationship Id="rId4" Type="http://schemas.openxmlformats.org/officeDocument/2006/relationships/image" Target="../media/image44.png"/></Relationships>
</file>

<file path=ppt/slides/_rels/slide55.xml.rels><?xml version="1.0" encoding="utf-8"?>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6.xml"/></Relationships>
</file>

<file path=ppt/slides/_rels/slide56.xml.rels><?xml version="1.0" encoding="utf-8"?>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7.xml"/></Relationships>
</file>

<file path=ppt/slides/_rels/slide57.xml.rels><?xml version="1.0" encoding="utf-8"?>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8.xml"/><Relationship Id="rId4" Type="http://schemas.openxmlformats.org/officeDocument/2006/relationships/image" Target="../media/image46.tiff"/></Relationships>
</file>

<file path=ppt/slides/_rels/slide58.xml.rels><?xml version="1.0" encoding="utf-8"?>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9.xml"/><Relationship Id="rId4" Type="http://schemas.openxmlformats.org/officeDocument/2006/relationships/image" Target="../media/image47.tiff"/></Relationships>
</file>

<file path=ppt/slides/_rels/slide59.xml.rels><?xml version="1.0" encoding="utf-8"?>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0.xml"/><Relationship Id="rId4" Type="http://schemas.openxmlformats.org/officeDocument/2006/relationships/image" Target="../media/image48.png"/></Relationships>
</file>

<file path=ppt/slides/_rels/slide60.xml.rels><?xml version="1.0" encoding="utf-8"?>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1.xml"/></Relationships>
</file>

<file path=ppt/slides/_rels/slide61.xml.rels><?xml version="1.0" encoding="utf-8"?>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2.xml"/><Relationship Id="rId4" Type="http://schemas.openxmlformats.org/officeDocument/2006/relationships/image" Target="../media/image49.tiff"/></Relationships>
</file>

<file path=ppt/slides/_rels/slide62.xml.rels><?xml version="1.0" encoding="utf-8"?>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3.xml"/><Relationship Id="rId4" Type="http://schemas.openxmlformats.org/officeDocument/2006/relationships/image" Target="../media/image50.tiff"/></Relationships>
</file>

<file path=ppt/slides/_rels/slide63.xml.rels><?xml version="1.0" encoding="utf-8"?>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4.xml"/><Relationship Id="rId4" Type="http://schemas.openxmlformats.org/officeDocument/2006/relationships/image" Target="../media/image51.png"/></Relationships>
</file>

<file path=ppt/slides/_rels/slide64.xml.rels><?xml version="1.0" encoding="utf-8"?>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5.xml"/></Relationships>
</file>

<file path=ppt/slides/_rels/slide65.xml.rels><?xml version="1.0" encoding="utf-8"?>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6.xml"/></Relationships>
</file>

<file path=ppt/slides/_rels/slide66.xml.rels><?xml version="1.0" encoding="utf-8"?>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7.xml"/></Relationships>
</file>

<file path=ppt/slides/_rels/slide67.xml.rels><?xml version="1.0" encoding="utf-8"?>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8.xml"/></Relationships>
</file>

<file path=ppt/slides/_rels/slide68.xml.rels><?xml version="1.0" encoding="utf-8"?>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9.xml"/></Relationships>
</file>

<file path=ppt/slides/_rels/slide69.xml.rels><?xml version="1.0" encoding="utf-8"?>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0.xml"/></Relationships>
</file>

<file path=ppt/slides/_rels/slide70.xml.rels><?xml version="1.0" encoding="utf-8"?>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1.xml"/></Relationships>
</file>

<file path=ppt/slides/_rels/slide71.xml.rels><?xml version="1.0" encoding="utf-8"?>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2.xml"/><Relationship Id="rId4" Type="http://schemas.openxmlformats.org/officeDocument/2006/relationships/image" Target="../media/image52.jpeg"/></Relationships>
</file>

<file path=ppt/slides/_rels/slide72.xml.rels><?xml version="1.0" encoding="utf-8"?>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3.xml"/></Relationships>
</file>

<file path=ppt/slides/_rels/slide73.xml.rels><?xml version="1.0" encoding="utf-8"?>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6557379" cy="1666626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2: Configuração Básica do Switch e do Dispositivo Final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pPr rtl="0"/>
            <a:r>
              <a:rPr lang="pt-BR">
                <a:solidFill>
                  <a:schemeClr val="bg2">
                    <a:lumMod val="40000"/>
                    <a:lumOff val="60000"/>
                  </a:schemeClr>
                </a:solidFill>
              </a:rPr>
              <a:t>Material do instrutor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>
          <a:xfrm>
            <a:off x="1" y="50629"/>
            <a:ext cx="9144000" cy="757551"/>
          </a:xfrm>
        </p:spPr>
        <p:txBody>
          <a:bodyPr/>
          <a:lstStyle/>
          <a:p>
            <a:pPr rtl="0"/>
            <a:r>
              <a:rPr lang="pt-BR"/>
              <a:t>Materiais do instrutor - Guia de planejamento do módulo 2</a:t>
            </a:r>
          </a:p>
        </p:txBody>
      </p:sp>
      <p:sp>
        <p:nvSpPr>
          <p:cNvPr id="4099" name="Rectangle 34"/>
          <p:cNvSpPr>
            <a:spLocks noGrp="1" noChangeArrowheads="1"/>
          </p:cNvSpPr>
          <p:nvPr>
            <p:ph idx="1"/>
          </p:nvPr>
        </p:nvSpPr>
        <p:spPr>
          <a:xfrm>
            <a:off x="145357" y="808180"/>
            <a:ext cx="8832388" cy="3193936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Esta apresentação de PowerPoint é dividida em duas partes: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Guia de planejamento do Instrutor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Informações para ajudá-lo a se familiarizar com o módulo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Material didático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Apresentação para aulas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Slides opcionais que você pode usar em sala de aula</a:t>
            </a:r>
          </a:p>
          <a:p>
            <a:pPr lvl="1" rtl="0">
              <a:buFont typeface="Arial" panose="020B0604020202020204" pitchFamily="34" charset="0"/>
              <a:buChar char="•"/>
            </a:pPr>
            <a:r>
              <a:rPr lang="pt-BR"/>
              <a:t>Começa no slide #</a:t>
            </a:r>
            <a:r>
              <a:rPr lang="pt-BR">
                <a:solidFill>
                  <a:schemeClr val="tx1"/>
                </a:solidFill>
              </a:rPr>
              <a:t>14</a:t>
            </a:r>
          </a:p>
          <a:p>
            <a:pPr marL="142875" lvl="1" indent="0" algn="ctr" rtl="0">
              <a:buNone/>
            </a:pPr>
            <a:r>
              <a:rPr sz="1600" b="true" lang="pt-BR"/>
              <a:t>Observação</a:t>
            </a:r>
            <a:r>
              <a:rPr sz="1600" lang="pt-BR"/>
              <a:t>: Remova o Guia de planejamento desta apresentação antes de compartilhar com outra pessoa.</a:t>
            </a:r>
          </a:p>
          <a:p>
            <a:pPr marL="0" indent="0" rtl="0">
              <a:buNone/>
            </a:pPr>
            <a:r>
              <a:rPr sz="1600" b="true" lang="pt-BR">
                <a:solidFill>
                  <a:schemeClr val="accent4"/>
                </a:solidFill>
              </a:rPr>
              <a:t>Para obter ajuda e recursos adicionais,  vá para a página inicial do instrutor e os recursos do curso para este curso. Você também pode visitar o site de desenvolvimento profissional em www.netacad.com, na página oficial da Cisco Networking Academy no Facebook ou no grupo FB Instructor Only.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958195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EDE137-350D-6D47-BD51-750CD1983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65" y="798945"/>
            <a:ext cx="8853286" cy="346366"/>
          </a:xfrm>
        </p:spPr>
        <p:txBody>
          <a:bodyPr/>
          <a:lstStyle/>
          <a:p>
            <a:pPr rtl="0"/>
            <a:r>
              <a:rPr lang="pt-BR"/>
              <a:t>Para facilitar a aprendizagem, os seguintes recursos dentro da GUI podem ser incluídos neste módulo: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DBD329-AB20-664C-9697-486FE5CE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9238"/>
            <a:ext cx="9144000" cy="609708"/>
          </a:xfrm>
        </p:spPr>
        <p:txBody>
          <a:bodyPr/>
          <a:lstStyle/>
          <a:p>
            <a:pPr rtl="0"/>
            <a:r>
              <a:rPr lang="pt-BR"/>
              <a:t>O que esperar neste módulo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EE699F-A87C-2246-9235-C1DFDF6B2651}"/>
              </a:ext>
            </a:extLst>
          </p:cNvPr>
          <p:cNvGraphicFramePr>
            <a:graphicFrameLocks noGrp="1"/>
          </p:cNvGraphicFramePr>
          <p:nvPr/>
        </p:nvGraphicFramePr>
        <p:xfrm>
          <a:off x="301658" y="1145310"/>
          <a:ext cx="8557528" cy="3006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558">
                  <a:extLst>
                    <a:ext uri="{9D8B030D-6E8A-4147-A177-3AD203B41FA5}">
                      <a16:colId xmlns:a16="http://schemas.microsoft.com/office/drawing/2014/main" val="200107645"/>
                    </a:ext>
                  </a:extLst>
                </a:gridCol>
                <a:gridCol w="6416970">
                  <a:extLst>
                    <a:ext uri="{9D8B030D-6E8A-4147-A177-3AD203B41FA5}">
                      <a16:colId xmlns:a16="http://schemas.microsoft.com/office/drawing/2014/main" val="2648404099"/>
                    </a:ext>
                  </a:extLst>
                </a:gridCol>
              </a:tblGrid>
              <a:tr h="265091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Recurso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10602"/>
                  </a:ext>
                </a:extLst>
              </a:tr>
              <a:tr h="331556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Animations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/>
                        <a:t>Expor os alunos a novas competências e conceitos.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35149"/>
                  </a:ext>
                </a:extLst>
              </a:tr>
              <a:tr h="37941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Vídeos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/>
                        <a:t>Exponha os alunos a novas habilidades e conceitos.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576505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Verifique seu entendimento (CYU)</a:t>
                      </a:r>
                    </a:p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Questionário online por tópico para ajudar os alunos a avaliar a compreensão do conteúdo.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586054"/>
                  </a:ext>
                </a:extLst>
              </a:tr>
              <a:tr h="178145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Atividades Interativas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Uma variedade de formatos para ajudar os alunos a avaliar a compreensão do conteúdo.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703549"/>
                  </a:ext>
                </a:extLst>
              </a:tr>
              <a:tr h="215293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Verificador de Sintaxe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Pequenas simulações que expõem os alunos à linha de comando da Cisco para praticar habilidades de configuração.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331658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 do PT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Atividades de simulação e modelagem projetadas para explorar, adquirir, reforçar e expandir habilidades.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13155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215396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D52CCD-9D1E-4CC4-815A-A5967A0831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7924476"/>
              </p:ext>
            </p:extLst>
          </p:nvPr>
        </p:nvGraphicFramePr>
        <p:xfrm>
          <a:off x="106756" y="1279280"/>
          <a:ext cx="8595235" cy="2386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265">
                  <a:extLst>
                    <a:ext uri="{9D8B030D-6E8A-4147-A177-3AD203B41FA5}">
                      <a16:colId xmlns:a16="http://schemas.microsoft.com/office/drawing/2014/main" val="3215831619"/>
                    </a:ext>
                  </a:extLst>
                </a:gridCol>
                <a:gridCol w="6416970">
                  <a:extLst>
                    <a:ext uri="{9D8B030D-6E8A-4147-A177-3AD203B41FA5}">
                      <a16:colId xmlns:a16="http://schemas.microsoft.com/office/drawing/2014/main" val="276475465"/>
                    </a:ext>
                  </a:extLst>
                </a:gridCol>
              </a:tblGrid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true" i="false" u="none" strike="noStrike" lang="pt-BR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Recurso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427975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 do modo físico do Packet Tracer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Estas atividades são concluídas usando o Packet Tracer no Modo Físico.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995017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Laboratórios práticos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Laboratórios projetados para trabalhar com equipamentos físicos.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594367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Atividades em sala de aula</a:t>
                      </a:r>
                    </a:p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Estes são encontrados na página Recursos do instrutor. As atividades de aula são projetadas para facilitar o aprendizado, a discussão em aula e a colaboração.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566603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Testes de módulo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Autoavaliações que integram conceitos e habilidades aprendidas ao longo da série de tópicos apresentados no módulo.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502776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 rtl="0"/>
                      <a:r>
                        <a:rPr sz="1400" b="false" i="false" u="none" strike="noStrike" lang="pt-BR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Resumo do módulo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Recapitula brevemente o conteúdo do módulo.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046280"/>
                  </a:ext>
                </a:extLst>
              </a:tr>
            </a:tbl>
          </a:graphicData>
        </a:graphic>
      </p:graphicFrame>
      <p:sp>
        <p:nvSpPr>
          <p:cNvPr id="5" name="Title 2">
            <a:extLst>
              <a:ext uri="{FF2B5EF4-FFF2-40B4-BE49-F238E27FC236}">
                <a16:creationId xmlns:a16="http://schemas.microsoft.com/office/drawing/2014/main" id="{2D10C50B-ED86-4E5D-BD0F-658911DFE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285"/>
            <a:ext cx="9144000" cy="757238"/>
          </a:xfrm>
        </p:spPr>
        <p:txBody>
          <a:bodyPr/>
          <a:lstStyle/>
          <a:p>
            <a:pPr rtl="0"/>
            <a:r>
              <a:rPr lang="pt-BR"/>
              <a:t>O que esperar neste módulo (Cont.)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31D3D35-BC84-421A-A5F0-48081A310F8E}"/>
              </a:ext>
            </a:extLst>
          </p:cNvPr>
          <p:cNvSpPr txBox="1">
            <a:spLocks/>
          </p:cNvSpPr>
          <p:nvPr/>
        </p:nvSpPr>
        <p:spPr bwMode="auto">
          <a:xfrm>
            <a:off x="106756" y="668963"/>
            <a:ext cx="8853286" cy="34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pt-BR"/>
              <a:t>Para facilitar a aprendizagem, os seguintes recursos podem ser incluídos neste módulo: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605805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Verifique seu entendimento</a:t>
            </a:r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08FDDB5E-A0F2-A445-A3E2-506D15157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15" y="982690"/>
            <a:ext cx="8878570" cy="3643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As atividades "Verifique sua compreensão" são projetadas para permitir que os alunos determinem rapidamente se entendem o conteúdo e podem prosseguir ou se precisam revisar.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Verifique se suas atividades de compreensão </a:t>
            </a:r>
            <a:r>
              <a:rPr b="true" i="true" lang="pt-BR"/>
              <a:t>não </a:t>
            </a:r>
            <a:r>
              <a:rPr lang="pt-BR"/>
              <a:t>afetam as notas do aluno.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Não há slides separados para essas atividades no PPT. Elas estão listadas na área de anotações do slide que aparece antes dessas atividades.</a:t>
            </a:r>
          </a:p>
          <a:p>
            <a:pPr marL="0" indent="0">
              <a:spcBef>
                <a:spcPct val="30000"/>
              </a:spcBef>
              <a:buFont typeface="Wingdings" panose="05000000000000000000" pitchFamily="2" charset="2"/>
              <a:buNone/>
            </a:pPr>
            <a:endParaRPr lang="en-US" dirty="0"/>
          </a:p>
          <a:p>
            <a:pPr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7270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Todas as atividades do Packet Tracer e do modo físico do Packet Tracer </a:t>
            </a:r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08FDDB5E-A0F2-A445-A3E2-506D15157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15" y="982690"/>
            <a:ext cx="8878570" cy="3643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Essas atividades são concluídas usando o rastreador de pacotes no modo físico.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Eles são projetados para emular os laboratórios correspondentes.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Eles podem ser usados em vez do laboratório quando o acesso ao equipamento físico não é possível. </a:t>
            </a:r>
          </a:p>
          <a:p>
            <a:pPr rtl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As atividades do Modo Físico do Packet Tracer podem não ter tanto andaimes quanto as atividades PT que as precedem imediatamente.</a:t>
            </a:r>
          </a:p>
          <a:p>
            <a:pPr marL="0" indent="0">
              <a:spcBef>
                <a:spcPct val="30000"/>
              </a:spcBef>
              <a:buFont typeface="Wingdings" panose="05000000000000000000" pitchFamily="2" charset="2"/>
              <a:buNone/>
            </a:pPr>
            <a:endParaRPr lang="en-US" dirty="0"/>
          </a:p>
          <a:p>
            <a:pPr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886678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Módulo 2: Atividades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5"/>
            <a:ext cx="8695135" cy="348414"/>
          </a:xfrm>
        </p:spPr>
        <p:txBody>
          <a:bodyPr/>
          <a:lstStyle/>
          <a:p>
            <a:pPr marL="0" indent="0" rtl="0">
              <a:spcBef>
                <a:spcPct val="30000"/>
              </a:spcBef>
              <a:buNone/>
            </a:pPr>
            <a:r>
              <a:rPr lang="pt-BR"/>
              <a:t>Quais atividades estão associadas a este módulo?</a:t>
            </a: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326009"/>
              </p:ext>
            </p:extLst>
          </p:nvPr>
        </p:nvGraphicFramePr>
        <p:xfrm>
          <a:off x="455999" y="1147358"/>
          <a:ext cx="8229418" cy="3107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736">
                  <a:extLst>
                    <a:ext uri="{9D8B030D-6E8A-4147-A177-3AD203B41FA5}">
                      <a16:colId xmlns:a16="http://schemas.microsoft.com/office/drawing/2014/main" val="3156509146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434">
                <a:tc>
                  <a:txBody>
                    <a:bodyPr/>
                    <a:lstStyle/>
                    <a:p>
                      <a:pPr marL="0" marR="0" lvl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Nº da página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Tipo de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Nome da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Opcional?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2.1.6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Verifique seu entendimento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Acesso ao Cisco IOS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2.2.3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Vídeo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Modos de Comando Primários CLI do IOS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Recomendada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2.2.5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Vídeo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Navegar Entre os Modos do IOS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2.2.7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Verificador de Sintaxe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Navegar Entre os Modos do IOS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582900979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2.2.8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Verifique seu entendimento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Navegação IOS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22544737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2.3.4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Vídeo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Ajuda contextual e verificação de sintaxe de comando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001172460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2.3.6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Vídeo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Teclas de Atalho e Atalhos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22206681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2.3.7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Navegar no IOS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40606860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4527372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Módulo 2: Atividades (Cont.)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4"/>
            <a:ext cx="8769026" cy="281711"/>
          </a:xfrm>
        </p:spPr>
        <p:txBody>
          <a:bodyPr/>
          <a:lstStyle/>
          <a:p>
            <a:pPr marL="0" indent="0" rtl="0">
              <a:spcBef>
                <a:spcPct val="30000"/>
              </a:spcBef>
              <a:buNone/>
            </a:pPr>
            <a:r>
              <a:rPr lang="pt-BR"/>
              <a:t>Quais atividades estão associadas a este módulo?</a:t>
            </a: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6332027"/>
              </p:ext>
            </p:extLst>
          </p:nvPr>
        </p:nvGraphicFramePr>
        <p:xfrm>
          <a:off x="455999" y="1147358"/>
          <a:ext cx="8229418" cy="3511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736">
                  <a:extLst>
                    <a:ext uri="{9D8B030D-6E8A-4147-A177-3AD203B41FA5}">
                      <a16:colId xmlns:a16="http://schemas.microsoft.com/office/drawing/2014/main" val="3156509146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434">
                <a:tc>
                  <a:txBody>
                    <a:bodyPr/>
                    <a:lstStyle/>
                    <a:p>
                      <a:pPr marL="0" marR="0" lvl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Nº da página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Tipo de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Nome da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Opcional?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2.3.8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Modo físico do rastreador de pacotes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Packet Tracer - Navegue o IOS usando um cliente terminal para a conectividade de console - modo físico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>
                          <a:solidFill>
                            <a:schemeClr val="tx1"/>
                          </a:solidFill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85923859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2.3.8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Laboratório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Navegue pelo IOS usando Teré Tera para Conectividade do Console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>
                          <a:solidFill>
                            <a:schemeClr val="tx1"/>
                          </a:solidFill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422392209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2.4.6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Vídeo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Proteção do acesso administrativo a um switch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2.4.7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Verificador de Sintaxe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Configuração básica de dispositivos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2.4.8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Verifique seu entendimento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Configuração básica de dispositivos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2.5.3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Vídeo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Alterar a Configuração Ativa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582900979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2.5.5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Definição das configurações iniciais do switch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22544737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2.6.3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Verifique seu entendimento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Portas e endereços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001172460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2.7.3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Verificador de Sintaxe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Verificando a Configuração IP de um PC com Windows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22206681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534722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Módulo 2: Atividades (Cont.)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4"/>
            <a:ext cx="8769026" cy="281711"/>
          </a:xfrm>
        </p:spPr>
        <p:txBody>
          <a:bodyPr/>
          <a:lstStyle/>
          <a:p>
            <a:pPr marL="0" indent="0" rtl="0">
              <a:spcBef>
                <a:spcPct val="30000"/>
              </a:spcBef>
              <a:buNone/>
            </a:pPr>
            <a:r>
              <a:rPr lang="pt-BR"/>
              <a:t>Quais atividades estão associadas a este módulo?</a:t>
            </a: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3891674"/>
              </p:ext>
            </p:extLst>
          </p:nvPr>
        </p:nvGraphicFramePr>
        <p:xfrm>
          <a:off x="455999" y="1147358"/>
          <a:ext cx="8229418" cy="3160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736">
                  <a:extLst>
                    <a:ext uri="{9D8B030D-6E8A-4147-A177-3AD203B41FA5}">
                      <a16:colId xmlns:a16="http://schemas.microsoft.com/office/drawing/2014/main" val="3156509146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1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434">
                <a:tc>
                  <a:txBody>
                    <a:bodyPr/>
                    <a:lstStyle/>
                    <a:p>
                      <a:pPr marL="0" marR="0" lvl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Nº da página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lang="pt-BR"/>
                        <a:t>Tipo de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Nome da atividade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Opcional?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2.7.5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Verificador de Sintaxe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Configure uma Interface Virtual do Switch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Recomendada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49158783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2.7.6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Implementação de Conectividade Básica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2.8.1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Vídeo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Testando a Atribuição de Interface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2.8.2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Vídeo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sz="1100" lang="pt-BR"/>
                        <a:t>Testar a conectividade de ponta a ponta.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2.9.1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Packet Tracer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Switch básico e configuração de dispositivo final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582900979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2.9.2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Modo físico do rastreador de pacotes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Packet Tracer - Configuração básica do switch e do dispositivo final - Modo Físico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b="false" i="false" u="none" strike="noStrike" kern="1200" cap="none" spc="0" normalizeH="false" baseline="0" lang="pt-BR">
                          <a:ln>
                            <a:noFill/>
                          </a:ln>
                          <a:solidFill>
                            <a:srgbClr val="58585B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109380776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2.9.2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Laboratório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Switch básico e configuração de dispositivo final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u="none" strike="noStrike" kern="1200" cap="none" spc="0" normalizeH="false" baseline="0" lang="pt-BR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522544737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 rtl="0"/>
                      <a:r>
                        <a:rPr sz="1100" lang="pt-BR"/>
                        <a:t>2.9.4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Teste do Módulo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lang="pt-BR"/>
                        <a:t>Switch básico e configuração de dispositivo final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false" sz="1100" b="false" i="false" u="none" strike="noStrike" kern="1200" cap="none" spc="0" normalizeH="false" baseline="0" lang="pt-BR">
                          <a:ln>
                            <a:noFill/>
                          </a:ln>
                          <a:solidFill>
                            <a:srgbClr val="58585B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Recomendado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1459470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5598693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2: Práticas recomendadas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4"/>
            <a:ext cx="8853286" cy="4016895"/>
          </a:xfrm>
        </p:spPr>
        <p:txBody>
          <a:bodyPr/>
          <a:lstStyle/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/>
              <a:t>Antes de ensinar o Módulo 2, o instrutor deve: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Revise as atividades e avaliações para este módulo.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Tente incluir o máximo de perguntas possível para manter os alunos envolvidos durante a apresentação em sala de aula.</a:t>
            </a:r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/>
              <a:t>Tópico 2.1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Quais são as vantagens e desvantagens de usar uma interface GUI ou CLI?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Por que o SSH é mais importante usar em vez de Telnet?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Se disponível, mostre à classe como acessar remotamente um switch usando um programa de emulação de terminal, como Tera Term ou PuTTY. </a:t>
            </a:r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5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670768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2: Melhores Práticas (cont.) 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4"/>
            <a:ext cx="8853286" cy="3818775"/>
          </a:xfrm>
        </p:spPr>
        <p:txBody>
          <a:bodyPr/>
          <a:lstStyle/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/>
              <a:t>Tópico 2.2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Explique as diferenças entre o modo EXEC do usuário e o modo de EXEC privilegiado. Você pode escrever os prompts do interruptor na placa e explicar que os prompts exibirão o modo atual. 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Por que você acha que os comandos disponíveis no modo User EXEC são limitados?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Quais são as diferenças entre o modo de Privilégio EXEC e o modo de configuração global? 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Desenhe as alertas diferentes do modo IOS na placa e explique as diferenças entre os modos de configuração e como dizer em que modo o interruptor está atualmente dentro. </a:t>
            </a:r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/>
              <a:t>Tópico 2.3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Desenhe a estrutura básica do comando IOS na placa e descreva a sintaxe</a:t>
            </a:r>
          </a:p>
          <a:p>
            <a:pPr lvl="2" algn="thaiDist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Quais teclas de atalho ou atalhos você usa em seus computadores? (F5 para atualizar, Ctrl+C para copiar, Ctrl+S para salvar etc.)</a:t>
            </a:r>
          </a:p>
          <a:p>
            <a:pPr lvl="2" algn="thaiDist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Se possível, indique o CLI de um interruptor e mostre a característica da ajuda para vários comandos. </a:t>
            </a:r>
          </a:p>
          <a:p>
            <a:pPr lvl="2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2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5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388794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2: Melhores Práticas (cont.) 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4"/>
            <a:ext cx="8853286" cy="3818775"/>
          </a:xfrm>
        </p:spPr>
        <p:txBody>
          <a:bodyPr/>
          <a:lstStyle/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/>
              <a:t>Tópico 2.4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Pergunte aos alunos ou faça uma discussão em aula</a:t>
            </a:r>
          </a:p>
          <a:p>
            <a:pPr lvl="2" algn="thaiDist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Explique as diretrizes para nomear um dispositivo de rede e por que o nome padrão deve ser alterado.</a:t>
            </a:r>
          </a:p>
          <a:p>
            <a:pPr lvl="2" algn="thaiDist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Por que você gostaria de criptografar todas as senhas em um interruptor?</a:t>
            </a:r>
          </a:p>
          <a:p>
            <a:pPr lvl="2" algn="thaiDist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Por que um banner é importante configurar em um dispositivo de rede?</a:t>
            </a:r>
          </a:p>
          <a:p>
            <a:pPr marL="261937" lvl="2" indent="0" algn="thaiDist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/>
              <a:t>Tópico 2.5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Qual seria uma desvantagem de recarregar um interruptor?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Qual é a diferença entre o running-config e o startup-config?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Se possível, passo a passo um exemplo de captura do running-config ou startup-config para um arquivo de texto. </a:t>
            </a:r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2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2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2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5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6234882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Módulo 2: Melhores Práticas (cont.) 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4"/>
            <a:ext cx="8853286" cy="3818775"/>
          </a:xfrm>
        </p:spPr>
        <p:txBody>
          <a:bodyPr/>
          <a:lstStyle/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/>
              <a:t>Tópico 2.6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Nomeie alguns dispositivos finais configurados com endereços IP. Por que eles precisam ser configurados com um endereço IP?</a:t>
            </a:r>
          </a:p>
          <a:p>
            <a:pPr lvl="2" algn="thaiDist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Se disponível, mostre várias mídias de rede, como cabos Ethernet ou cabos de fibra óptica e como eles se conectam a uma porta no switch. </a:t>
            </a:r>
          </a:p>
          <a:p>
            <a:pPr marL="261937" lvl="2" indent="0" algn="thaiDist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/>
              <a:t>Tópico 2.7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Pergunte aos alunos ou faça uma discussão em aula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Você já configurou seu computador com um endereço IP manual?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Por que você precisa de usar o comando </a:t>
            </a:r>
            <a:r>
              <a:rPr b="true" lang="pt-BR"/>
              <a:t>no shutdown </a:t>
            </a:r>
            <a:r>
              <a:rPr lang="pt-BR"/>
              <a:t>em uma interface?</a:t>
            </a:r>
          </a:p>
          <a:p>
            <a:pPr lvl="2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/>
              <a:t>Tópico 2.8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Pergunte aos alunos ou faça uma discussão em aula</a:t>
            </a:r>
          </a:p>
          <a:p>
            <a:pPr lvl="2" algn="thaiDist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Por que é importante testar a conectividade de ponta a ponta?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2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2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2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5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034417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2: Configuração Básica do Switch e do Dispositivo Final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 rtl="0"/>
            <a:r>
              <a:rPr lang="pt-BR"/>
              <a:t>Objetivos do módulo</a:t>
            </a:r>
          </a:p>
        </p:txBody>
      </p:sp>
      <p:sp>
        <p:nvSpPr>
          <p:cNvPr id="4099" name="Rectangle 34"/>
          <p:cNvSpPr>
            <a:spLocks noGrp="1" noChangeArrowheads="1"/>
          </p:cNvSpPr>
          <p:nvPr>
            <p:ph idx="1"/>
          </p:nvPr>
        </p:nvSpPr>
        <p:spPr>
          <a:xfrm>
            <a:off x="0" y="685775"/>
            <a:ext cx="9006840" cy="1128717"/>
          </a:xfrm>
        </p:spPr>
        <p:txBody>
          <a:bodyPr/>
          <a:lstStyle/>
          <a:p>
            <a:pPr marL="188912" lvl="1" indent="0" rtl="0">
              <a:buNone/>
            </a:pPr>
            <a:r>
              <a:rPr b="true" lang="pt-BR"/>
              <a:t>Título do Módulo</a:t>
            </a:r>
            <a:r>
              <a:rPr lang="pt-BR"/>
              <a:t>: Configuração Básica do Switch e do Dispositivo Final</a:t>
            </a:r>
          </a:p>
          <a:p>
            <a:pPr marL="188912" lvl="1" indent="0">
              <a:buNone/>
            </a:pPr>
            <a:endParaRPr lang="en-US" b="1" dirty="0"/>
          </a:p>
          <a:p>
            <a:pPr marL="188912" lvl="1" indent="0" rtl="0">
              <a:buNone/>
            </a:pPr>
            <a:r>
              <a:rPr b="true" lang="pt-BR"/>
              <a:t>Objetivo do Módulo: </a:t>
            </a:r>
            <a:r>
              <a:rPr lang="pt-BR"/>
              <a:t>Implementar as configurações iniciais, incluindo senhas, endereçamento IP e parâmetros de gateway padrão em um switch de rede e em dispositivos finais.</a:t>
            </a:r>
          </a:p>
          <a:p>
            <a:pPr marL="542131" lvl="2" indent="-214313">
              <a:buFont typeface="Arial" panose="020B0604020202020204" pitchFamily="34" charset="0"/>
              <a:buChar char="•"/>
            </a:pPr>
            <a:endParaRPr lang="en-US" sz="1150" dirty="0"/>
          </a:p>
          <a:p>
            <a:pPr marL="327818" lvl="2" indent="0">
              <a:buNone/>
            </a:pPr>
            <a:endParaRPr lang="en-US" sz="115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C07AB0-6822-FB4C-9445-25B1C20C9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300264"/>
              </p:ext>
            </p:extLst>
          </p:nvPr>
        </p:nvGraphicFramePr>
        <p:xfrm>
          <a:off x="690111" y="1949203"/>
          <a:ext cx="7456362" cy="27596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28181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3728181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134479"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lang="pt-BR">
                          <a:effectLst/>
                        </a:rPr>
                        <a:t>Título do Tópico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lang="pt-BR">
                          <a:effectLst/>
                        </a:rPr>
                        <a:t>Objetivo do Tópico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333554">
                <a:tc>
                  <a:txBody>
                    <a:bodyPr/>
                    <a:lstStyle/>
                    <a:p>
                      <a:pPr fontAlgn="ctr" rtl="0"/>
                      <a:r>
                        <a:rPr sz="1050" b="true" lang="pt-BR">
                          <a:effectLst/>
                        </a:rPr>
                        <a:t>Acesso ao Cisco IOS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Explicar como acessar um dispositivo Cisco IOS para fins de configuração.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33554">
                <a:tc>
                  <a:txBody>
                    <a:bodyPr/>
                    <a:lstStyle/>
                    <a:p>
                      <a:pPr fontAlgn="ctr" rtl="0"/>
                      <a:r>
                        <a:rPr sz="1050" b="true" lang="pt-BR">
                          <a:effectLst/>
                        </a:rPr>
                        <a:t>Navegação IOS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Explicar como navegar no Cisco IOS para configurar os dispositivos de rede.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216917477"/>
                  </a:ext>
                </a:extLst>
              </a:tr>
              <a:tr h="333554">
                <a:tc>
                  <a:txBody>
                    <a:bodyPr/>
                    <a:lstStyle/>
                    <a:p>
                      <a:pPr fontAlgn="ctr" rtl="0"/>
                      <a:r>
                        <a:rPr sz="1050" b="true" lang="pt-BR">
                          <a:effectLst/>
                        </a:rPr>
                        <a:t>A estrutura de comandos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Descrever a estrutura de comandos do software Cisco IOS.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23668542"/>
                  </a:ext>
                </a:extLst>
              </a:tr>
              <a:tr h="201235">
                <a:tc>
                  <a:txBody>
                    <a:bodyPr/>
                    <a:lstStyle/>
                    <a:p>
                      <a:pPr fontAlgn="ctr" rtl="0"/>
                      <a:r>
                        <a:rPr sz="1050" b="true" lang="pt-BR">
                          <a:effectLst/>
                        </a:rPr>
                        <a:t>Configuração básica de dispositivos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Configurar um dispositivo Cisco IOS usando CLI.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333554">
                <a:tc>
                  <a:txBody>
                    <a:bodyPr/>
                    <a:lstStyle/>
                    <a:p>
                      <a:pPr fontAlgn="ctr" rtl="0"/>
                      <a:r>
                        <a:rPr sz="1050" b="true" lang="pt-BR">
                          <a:effectLst/>
                        </a:rPr>
                        <a:t>Salvar configurações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Usar os comandos do IOS para salvar a configuração atual.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  <a:tr h="333554">
                <a:tc>
                  <a:txBody>
                    <a:bodyPr/>
                    <a:lstStyle/>
                    <a:p>
                      <a:pPr fontAlgn="ctr" rtl="0"/>
                      <a:r>
                        <a:rPr sz="1050" b="true" lang="pt-BR">
                          <a:effectLst/>
                        </a:rPr>
                        <a:t>Portas e endereços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Explicar como os dispositivos se comunicam no meio físico de rede.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818444524"/>
                  </a:ext>
                </a:extLst>
              </a:tr>
              <a:tr h="201235">
                <a:tc>
                  <a:txBody>
                    <a:bodyPr/>
                    <a:lstStyle/>
                    <a:p>
                      <a:pPr fontAlgn="ctr" rtl="0"/>
                      <a:r>
                        <a:rPr sz="1050" b="true" lang="pt-BR">
                          <a:effectLst/>
                        </a:rPr>
                        <a:t>Configurar endereços IP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Configurar um dispositivo de host com um endereço IP.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846877670"/>
                  </a:ext>
                </a:extLst>
              </a:tr>
              <a:tr h="201235">
                <a:tc>
                  <a:txBody>
                    <a:bodyPr/>
                    <a:lstStyle/>
                    <a:p>
                      <a:pPr fontAlgn="ctr" rtl="0"/>
                      <a:r>
                        <a:rPr sz="1050" b="true" lang="pt-BR">
                          <a:effectLst/>
                        </a:rPr>
                        <a:t>Verificar a conectividade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Verificar a conectividade entre dois dispositivos finais.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88605084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340030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2.1 – Acesso ao Cisco IOS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br>
              <a:rPr lang="en-US" altLang="en-US" dirty="0"/>
            </a:br>
            <a:r>
              <a:rPr lang="pt-BR"/>
              <a:t>Cisco IOS </a:t>
            </a:r>
            <a:r>
              <a:rPr sz="1600" lang="pt-BR"/>
              <a:t>Sistema operacional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4065" y="888396"/>
            <a:ext cx="3950857" cy="2967985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sz="1600" b="true" lang="pt-BR"/>
              <a:t>Shell</a:t>
            </a:r>
            <a:r>
              <a:rPr sz="1600" lang="pt-BR"/>
              <a:t> - A interface de usuário que permite que os usuários solicitem tarefas específicas do computador. Essas solicitações podem ser feitas por meio da interface CLI ou GUI.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600" b="true" lang="pt-BR"/>
              <a:t>Kernel</a:t>
            </a:r>
            <a:r>
              <a:rPr sz="1600" lang="pt-BR"/>
              <a:t> - comunica-se entre o hardware e o software de um computador e gerencia como os recursos de hardware são usados para atender aos requisitos de software.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600" b="true" lang="pt-BR"/>
              <a:t>Hardware</a:t>
            </a:r>
            <a:r>
              <a:rPr sz="1600" lang="pt-BR"/>
              <a:t> - A parte física de um computador, incluindo os componentes eletrônicos subjacentes.</a:t>
            </a:r>
          </a:p>
          <a:p>
            <a:endParaRPr lang="en-US" altLang="ja-JP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6C089F-8565-9F41-B04D-AD843C4D4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497" y="798944"/>
            <a:ext cx="4673438" cy="27222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9223303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Acesso à Cisco IOS </a:t>
            </a:r>
            <a:br>
              <a:rPr lang="en-US" altLang="en-US" dirty="0"/>
            </a:br>
            <a:r>
              <a:rPr lang="pt-BR"/>
              <a:t>GUI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5357" y="798944"/>
            <a:ext cx="3939626" cy="3735939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pt-BR"/>
              <a:t>Uma GUI permite que o usuário interaja com o sistema usando um ambiente de ícones gráficos, menus e janelas.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Uma GUI é mais amigável e requer menos conhecimento da estrutura de comando subjacente que controla o sistema.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Exemplos deles são: Windows, macOS, Linux KDE, Apple iOS e Android.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As GUIs podem falhar, travar ou simplesmente não funcionar como especificado. Por esses motivos, os dispositivos de rede geralmente são acessados por meio de uma CLI.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DEAEA9-9EB4-0945-AFC7-F32A24E8D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871" y="1179476"/>
            <a:ext cx="4640912" cy="27845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38466440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br>
              <a:rPr lang="en-US" altLang="en-US" dirty="0"/>
            </a:br>
            <a:r>
              <a:rPr lang="pt-BR"/>
              <a:t>Cisco IOS </a:t>
            </a:r>
            <a:r>
              <a:rPr sz="1600" lang="pt-BR"/>
              <a:t>Finalidade do SO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45357" y="925513"/>
            <a:ext cx="3939626" cy="1612619"/>
          </a:xfrm>
        </p:spPr>
        <p:txBody>
          <a:bodyPr/>
          <a:lstStyle/>
          <a:p>
            <a:pPr marL="0" indent="0" rtl="0">
              <a:spcAft>
                <a:spcPts val="100"/>
              </a:spcAft>
              <a:buNone/>
            </a:pPr>
            <a:r>
              <a:rPr lang="pt-BR"/>
              <a:t>O sistema operacional do PC permite que um usuário faça o seguinte:</a:t>
            </a:r>
          </a:p>
          <a:p>
            <a:pPr lvl="1" rtl="0">
              <a:spcAft>
                <a:spcPts val="100"/>
              </a:spcAft>
            </a:pPr>
            <a:r>
              <a:rPr sz="1600" lang="pt-BR"/>
              <a:t>Utilizar um mouse para fazer seleções e executar programas</a:t>
            </a:r>
          </a:p>
          <a:p>
            <a:pPr lvl="1" rtl="0">
              <a:spcAft>
                <a:spcPts val="100"/>
              </a:spcAft>
            </a:pPr>
            <a:r>
              <a:rPr sz="1600" lang="pt-BR"/>
              <a:t>Inserir texto e comandos baseados em texto</a:t>
            </a:r>
          </a:p>
          <a:p>
            <a:pPr lvl="1" rtl="0">
              <a:spcAft>
                <a:spcPts val="100"/>
              </a:spcAft>
            </a:pPr>
            <a:r>
              <a:rPr sz="1600" lang="pt-BR"/>
              <a:t>Exibir a saída em um monitor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CD1440-8B72-004C-856F-8B0CCDB57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7639" y="3277329"/>
            <a:ext cx="4572000" cy="4771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D2A273-C28D-844C-96D6-C04B52B686ED}"/>
              </a:ext>
            </a:extLst>
          </p:cNvPr>
          <p:cNvSpPr txBox="1"/>
          <p:nvPr/>
        </p:nvSpPr>
        <p:spPr>
          <a:xfrm>
            <a:off x="4651513" y="925513"/>
            <a:ext cx="42042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500" lang="pt-BR">
                <a:solidFill>
                  <a:srgbClr val="000000"/>
                </a:solidFill>
              </a:rPr>
              <a:t>O sistema operacional de rede baseado em CLI permite que um técnico de rede faça o seguinte:</a:t>
            </a:r>
          </a:p>
          <a:p>
            <a:pPr marL="742950" lvl="1" indent="-285750" rtl="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Use um teclado para executar programas de rede baseados na CLI</a:t>
            </a:r>
          </a:p>
          <a:p>
            <a:pPr marL="742950" lvl="1" indent="-285750" rtl="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Use um teclado para inserir texto e comandos baseados em texto</a:t>
            </a:r>
          </a:p>
          <a:p>
            <a:pPr marL="742950" lvl="1" indent="-285750" rtl="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sz="1600" lang="pt-BR">
                <a:solidFill>
                  <a:srgbClr val="000000"/>
                </a:solidFill>
              </a:rPr>
              <a:t>Exibir a saída em um monitor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56AB7-B6FD-7C4A-AE93-5B970B9CD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018" y="2605368"/>
            <a:ext cx="3035165" cy="18210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1678066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br>
              <a:rPr lang="en-US" altLang="en-US" dirty="0"/>
            </a:br>
            <a:r>
              <a:rPr lang="pt-BR"/>
              <a:t>Acesso ao Cisco IOS </a:t>
            </a:r>
            <a:r>
              <a:rPr sz="1600" lang="pt-BR"/>
              <a:t>Métodos de acesso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idx="1"/>
          </p:nvPr>
        </p:nvSpPr>
        <p:spPr>
          <a:xfrm>
            <a:off x="145357" y="823049"/>
            <a:ext cx="3939626" cy="3848341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b="true" lang="pt-BR"/>
              <a:t>Console</a:t>
            </a:r>
            <a:r>
              <a:rPr lang="pt-BR"/>
              <a:t> — Uma porta de gerenciamento física usada para acessar um dispositivo para fornecer manutenção, como executar as configurações iniciais.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b="true" lang="pt-BR"/>
              <a:t>Shell segura </a:t>
            </a:r>
            <a:r>
              <a:rPr lang="pt-BR"/>
              <a:t>(SSH) – Estabelece uma conexão CLI segura remota com um dispositivo, por meio de uma interface virtual, em uma rede. (</a:t>
            </a:r>
            <a:r>
              <a:rPr sz="1400" lang="pt-BR"/>
              <a:t>Nota: Este é o método recomendado para se conectar remotamente a um dispositivo.)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b="true" lang="pt-BR"/>
              <a:t>Telnet</a:t>
            </a:r>
            <a:r>
              <a:rPr lang="pt-BR"/>
              <a:t> — Estabelece uma conexão CLI remota insegura a um dispositivo através da rede. </a:t>
            </a:r>
            <a:r>
              <a:rPr b="true" lang="pt-BR"/>
              <a:t> </a:t>
            </a:r>
            <a:r>
              <a:rPr sz="1400" lang="pt-BR"/>
              <a:t>(Nota: a autenticação do usuário, senhas e comandos são enviados pela rede em texto sem formatação.)</a:t>
            </a:r>
            <a:r>
              <a:rPr b="true" lang="pt-BR"/>
              <a:t> </a:t>
            </a:r>
          </a:p>
          <a:p>
            <a:endParaRPr lang="en-US" dirty="0"/>
          </a:p>
        </p:txBody>
      </p:sp>
      <p:pic>
        <p:nvPicPr>
          <p:cNvPr id="1030" name="Picture 6" descr="Computer, Utp, Network, Cisco, Color, Jack, Electronics">
            <a:extLst>
              <a:ext uri="{FF2B5EF4-FFF2-40B4-BE49-F238E27FC236}">
                <a16:creationId xmlns:a16="http://schemas.microsoft.com/office/drawing/2014/main" id="{4C65664B-D975-564C-9CD3-D54002E34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719" y="420168"/>
            <a:ext cx="2255201" cy="1689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2">
            <a:extLst>
              <a:ext uri="{FF2B5EF4-FFF2-40B4-BE49-F238E27FC236}">
                <a16:creationId xmlns:a16="http://schemas.microsoft.com/office/drawing/2014/main" id="{278A32F5-A519-9740-94B3-F014EAE86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5114" y="2455883"/>
            <a:ext cx="4805378" cy="204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2420759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br>
              <a:rPr lang="en-US" altLang="en-US" dirty="0"/>
            </a:br>
            <a:r>
              <a:rPr lang="pt-BR"/>
              <a:t>Acesso ao Cisco IOS</a:t>
            </a:r>
            <a:r>
              <a:rPr sz="1600" lang="pt-BR"/>
              <a:t> Programa de emulação de terminal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idx="1"/>
          </p:nvPr>
        </p:nvSpPr>
        <p:spPr>
          <a:xfrm>
            <a:off x="145357" y="823049"/>
            <a:ext cx="8710408" cy="1125021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Programas de emulação de terminal são usados para se conectar a um dispositivo de rede por uma porta de console ou por uma conexão SSH/Telnet.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Existem vários programas de emulação de terminal para escolher, como PuTTY, Tera Term e SecureCRT. </a:t>
            </a:r>
          </a:p>
          <a:p>
            <a:endParaRPr lang="en-US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7F0AF5D8-D9EB-024A-817B-C5DEB0242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412" y="2255384"/>
            <a:ext cx="2353048" cy="2318343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A4A3A789-DD45-614B-B429-DF1B86DEE1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782" y="2255384"/>
            <a:ext cx="4091609" cy="229782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4716202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8231464" cy="929640"/>
          </a:xfrm>
        </p:spPr>
        <p:txBody>
          <a:bodyPr/>
          <a:lstStyle/>
          <a:p>
            <a:pPr rtl="0"/>
            <a:r>
              <a:rPr sz="400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2.2 - Navegação IOS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985433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br>
              <a:rPr lang="en-US" altLang="en-US" dirty="0"/>
            </a:br>
            <a:r>
              <a:rPr lang="pt-BR"/>
              <a:t>Navegação no IOS </a:t>
            </a:r>
            <a:r>
              <a:rPr sz="1600" lang="pt-BR"/>
              <a:t>Modos de comando primários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522435" y="798944"/>
            <a:ext cx="3085941" cy="1574604"/>
          </a:xfrm>
        </p:spPr>
        <p:txBody>
          <a:bodyPr/>
          <a:lstStyle/>
          <a:p>
            <a:pPr marL="0" indent="0" rtl="0">
              <a:buNone/>
            </a:pPr>
            <a:r>
              <a:rPr b="true" lang="pt-BR"/>
              <a:t>Modo EXEC do Usuário </a:t>
            </a:r>
          </a:p>
          <a:p>
            <a:pPr lvl="1" rtl="0"/>
            <a:r>
              <a:rPr lang="pt-BR"/>
              <a:t>Permite acesso a apenas um número limitado de comandos básicos de monitoramento</a:t>
            </a:r>
          </a:p>
          <a:p>
            <a:pPr lvl="1" rtl="0"/>
            <a:r>
              <a:rPr lang="pt-BR"/>
              <a:t>Identificado pelo prompt da CLI que termina com o símbolo &gt;</a:t>
            </a:r>
          </a:p>
          <a:p>
            <a:pPr lvl="1"/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42D0F156-D90C-5047-9BB3-63A540FE7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434" y="2575244"/>
            <a:ext cx="3085941" cy="1574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b="true" lang="pt-BR"/>
              <a:t>⁪modo EXEC com privilégios: </a:t>
            </a:r>
          </a:p>
          <a:p>
            <a:pPr lvl="1" rtl="0"/>
            <a:r>
              <a:rPr lang="pt-BR"/>
              <a:t>Permite acesso a todos os comandos e recursos</a:t>
            </a:r>
          </a:p>
          <a:p>
            <a:pPr lvl="1" rtl="0"/>
            <a:r>
              <a:rPr lang="pt-BR"/>
              <a:t>Identificado pelo prompt da CLI que termina com o símbolo #</a:t>
            </a:r>
          </a:p>
          <a:p>
            <a:pPr lvl="1"/>
            <a:endParaRPr lang="en-US" dirty="0"/>
          </a:p>
          <a:p>
            <a:endParaRPr lang="en-US" dirty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452C8CA-3845-FE4F-BF60-6D89C2D657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694" y="988595"/>
            <a:ext cx="2121408" cy="69450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8862851-51F3-B34C-8669-3E72C60F2E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948" y="1448758"/>
            <a:ext cx="2120900" cy="698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3A0C0C3-E181-E84E-9208-4792B7E7CC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4994" y="2898392"/>
            <a:ext cx="2133600" cy="698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EA24282-3258-8243-BECA-D551022599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4994" y="3362546"/>
            <a:ext cx="2133600" cy="6477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7270558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/>
              <a:t>Modo deconfiguração de navegação IOS e modos de subconfiguração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3EA599-9EF6-BE44-900E-A2949CF66B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518" y="1238227"/>
            <a:ext cx="3235526" cy="3433526"/>
          </a:xfrm>
        </p:spPr>
        <p:txBody>
          <a:bodyPr/>
          <a:lstStyle/>
          <a:p>
            <a:pPr marL="0" indent="0" rtl="0">
              <a:spcAft>
                <a:spcPts val="100"/>
              </a:spcAft>
              <a:buNone/>
            </a:pPr>
            <a:r>
              <a:rPr sz="1600" b="true" lang="pt-BR"/>
              <a:t>Modo de configuração global</a:t>
            </a:r>
          </a:p>
          <a:p>
            <a:pPr lvl="1" rtl="0">
              <a:spcAft>
                <a:spcPts val="100"/>
              </a:spcAft>
            </a:pPr>
            <a:r>
              <a:rPr sz="1600" lang="pt-BR"/>
              <a:t>Usado para acessar opções de configuração no dispositivo </a:t>
            </a:r>
          </a:p>
          <a:p>
            <a:pPr marL="142875" lvl="1" indent="0">
              <a:spcAft>
                <a:spcPts val="100"/>
              </a:spcAft>
              <a:buNone/>
            </a:pPr>
            <a:endParaRPr lang="en-US" sz="1600" dirty="0"/>
          </a:p>
          <a:p>
            <a:pPr marL="0" indent="0" rtl="0">
              <a:spcAft>
                <a:spcPts val="100"/>
              </a:spcAft>
              <a:buNone/>
            </a:pPr>
            <a:r>
              <a:rPr sz="1600" b="true" lang="pt-BR"/>
              <a:t>Modo de configuração de linhas </a:t>
            </a:r>
          </a:p>
          <a:p>
            <a:pPr lvl="1" rtl="0"/>
            <a:r>
              <a:rPr sz="1600" lang="pt-BR"/>
              <a:t>Usado para configurar o acesso ao console, SSH, Telnet ou AUX</a:t>
            </a:r>
          </a:p>
          <a:p>
            <a:pPr marL="142875" lvl="1" indent="0">
              <a:spcAft>
                <a:spcPts val="100"/>
              </a:spcAft>
              <a:buNone/>
            </a:pPr>
            <a:endParaRPr lang="en-US" sz="1600" dirty="0"/>
          </a:p>
          <a:p>
            <a:pPr marL="0" indent="0" rtl="0">
              <a:spcAft>
                <a:spcPts val="100"/>
              </a:spcAft>
              <a:buNone/>
            </a:pPr>
            <a:r>
              <a:rPr sz="1600" b="true" lang="pt-BR"/>
              <a:t>Modo de configuração de interface</a:t>
            </a:r>
            <a:r>
              <a:rPr sz="1600" lang="pt-BR"/>
              <a:t> </a:t>
            </a:r>
          </a:p>
          <a:p>
            <a:pPr lvl="1" rtl="0"/>
            <a:r>
              <a:rPr sz="1600" lang="pt-BR"/>
              <a:t>Usado para configurar uma porta de switch ou interface de roteador</a:t>
            </a:r>
          </a:p>
          <a:p>
            <a:pPr lvl="1"/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966FC2-4F98-F245-A162-5BB7C5881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2982" y="1422306"/>
            <a:ext cx="2857500" cy="774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E4C97E-6654-054B-91B6-B1B5807F41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2982" y="2598189"/>
            <a:ext cx="2857500" cy="774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1EA0E3-6FD1-244C-9DE6-99BF741C03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2982" y="3774073"/>
            <a:ext cx="2857500" cy="7747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4422524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18872"/>
            <a:ext cx="9144000" cy="592921"/>
          </a:xfrm>
        </p:spPr>
        <p:txBody>
          <a:bodyPr/>
          <a:lstStyle/>
          <a:p>
            <a:pPr rtl="0"/>
            <a:br>
              <a:rPr lang="en-US" altLang="en-US" sz="1600" dirty="0"/>
            </a:br>
            <a:r>
              <a:rPr lang="pt-BR"/>
              <a:t>Navegação no IOS </a:t>
            </a:r>
            <a:r>
              <a:rPr sz="1600" lang="pt-BR"/>
              <a:t>Modos de comando primários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D26DA6-0FF9-5641-9731-B0A4BDCFDD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Este vídeo aborda o seguinte: </a:t>
            </a:r>
          </a:p>
          <a:p>
            <a:pPr lvl="1" rtl="0"/>
            <a:r>
              <a:rPr sz="1500" lang="pt-BR"/>
              <a:t>Modo EXEC do Usuário</a:t>
            </a:r>
          </a:p>
          <a:p>
            <a:pPr lvl="1" rtl="0"/>
            <a:r>
              <a:rPr sz="1500" lang="pt-BR"/>
              <a:t>⁪modo EXEC com privilégios</a:t>
            </a:r>
          </a:p>
          <a:p>
            <a:pPr lvl="1" rtl="0"/>
            <a:r>
              <a:rPr sz="1500" lang="pt-BR"/>
              <a:t>ou modo de config global.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4275094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br>
              <a:rPr lang="en-US" altLang="en-US" sz="1600" dirty="0"/>
            </a:br>
            <a:r>
              <a:rPr lang="pt-BR"/>
              <a:t>Navegar no IOS </a:t>
            </a:r>
            <a:r>
              <a:rPr sz="1600" lang="pt-BR"/>
              <a:t>Navegar entre os modos do IOS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B50C7D-A789-1947-A197-D4C18A6B4C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337" y="896222"/>
            <a:ext cx="4096002" cy="3675778"/>
          </a:xfrm>
        </p:spPr>
        <p:txBody>
          <a:bodyPr/>
          <a:lstStyle/>
          <a:p>
            <a:pPr rtl="0"/>
            <a:r>
              <a:rPr b="true" lang="pt-BR"/>
              <a:t>⁪modo EXEC com privilégios:</a:t>
            </a:r>
          </a:p>
          <a:p>
            <a:pPr lvl="1" rtl="0">
              <a:spcAft>
                <a:spcPts val="400"/>
              </a:spcAft>
            </a:pPr>
            <a:r>
              <a:rPr lang="pt-BR"/>
              <a:t>Para passar do modo EXEC usuário para o modo EXEC privilegiado, use o comando </a:t>
            </a:r>
            <a:r>
              <a:rPr b="true" lang="pt-BR"/>
              <a:t>enable</a:t>
            </a:r>
            <a:r>
              <a:rPr lang="pt-BR"/>
              <a:t>.</a:t>
            </a:r>
          </a:p>
          <a:p>
            <a:pPr rtl="0"/>
            <a:r>
              <a:rPr b="true" lang="pt-BR"/>
              <a:t>Modo de configuração global </a:t>
            </a:r>
          </a:p>
          <a:p>
            <a:pPr lvl="1" rtl="0"/>
            <a:r>
              <a:rPr lang="pt-BR"/>
              <a:t>Para entrar e sair do modo de configuração global, use o comando </a:t>
            </a:r>
            <a:r>
              <a:rPr b="true" lang="pt-BR"/>
              <a:t>configure terminal</a:t>
            </a:r>
            <a:r>
              <a:rPr lang="pt-BR"/>
              <a:t> Retorne ao modo EXEC privilegiado com o comando </a:t>
            </a:r>
            <a:r>
              <a:rPr b="true" lang="pt-BR"/>
              <a:t>exit</a:t>
            </a:r>
            <a:r>
              <a:rPr lang="pt-BR"/>
              <a:t> </a:t>
            </a:r>
          </a:p>
          <a:p>
            <a:pPr rtl="0"/>
            <a:r>
              <a:rPr b="true" lang="pt-BR"/>
              <a:t>Modo de configuração de linhas </a:t>
            </a:r>
          </a:p>
          <a:p>
            <a:pPr lvl="1" rtl="0"/>
            <a:r>
              <a:rPr lang="pt-BR"/>
              <a:t>Para entrar e sair do modo de configuração de linha, use o comando de </a:t>
            </a:r>
            <a:r>
              <a:rPr b="true" lang="pt-BR"/>
              <a:t>linha </a:t>
            </a:r>
            <a:r>
              <a:rPr lang="pt-BR"/>
              <a:t>seguido pelo tipo de linha de gerenciamento. Retorne ao modo de configuração global usando o comando </a:t>
            </a:r>
            <a:r>
              <a:rPr b="true" lang="pt-BR"/>
              <a:t>exit</a:t>
            </a:r>
            <a:r>
              <a:rPr lang="pt-BR"/>
              <a:t>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FA3A149-BACA-2349-9D11-C0BE82F37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461" y="1019733"/>
            <a:ext cx="2908300" cy="546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F9FD8A-05C8-D44A-8F30-79A483FB6C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2736" y="2120447"/>
            <a:ext cx="2991751" cy="5577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0DB018-9109-864C-B0B8-85608C19AA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3662" y="3528446"/>
            <a:ext cx="3009900" cy="533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0830122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Navegar no IOS </a:t>
            </a:r>
            <a:br>
              <a:rPr lang="en-US" altLang="en-US" sz="1600" dirty="0"/>
            </a:br>
            <a:r>
              <a:rPr lang="pt-BR"/>
              <a:t>Navegar entre os modos do IOS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B50C7D-A789-1947-A197-D4C18A6B4C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4337" y="896222"/>
            <a:ext cx="4244686" cy="2928646"/>
          </a:xfrm>
        </p:spPr>
        <p:txBody>
          <a:bodyPr/>
          <a:lstStyle/>
          <a:p>
            <a:pPr marL="0" indent="0" rtl="0">
              <a:buNone/>
            </a:pPr>
            <a:r>
              <a:rPr b="true" lang="pt-BR"/>
              <a:t>modos de subconfiguração: </a:t>
            </a:r>
          </a:p>
          <a:p>
            <a:pPr lvl="1" rtl="0"/>
            <a:r>
              <a:rPr lang="pt-BR"/>
              <a:t>Para sair de qualquer modo de subconfiguração e voltar ao modo de configuração global, use o comando </a:t>
            </a:r>
            <a:r>
              <a:rPr b="true" lang="pt-BR"/>
              <a:t>exit</a:t>
            </a:r>
            <a:r>
              <a:rPr b="true" i="true" lang="pt-BR"/>
              <a:t> </a:t>
            </a:r>
            <a:r>
              <a:rPr lang="pt-BR"/>
              <a:t>. Para retornar ao modo EXEC de privilégio, use o comando </a:t>
            </a:r>
            <a:r>
              <a:rPr b="true" lang="pt-BR"/>
              <a:t>end</a:t>
            </a:r>
            <a:r>
              <a:rPr lang="pt-BR"/>
              <a:t> ou combinação de </a:t>
            </a:r>
            <a:r>
              <a:rPr b="true" lang="pt-BR"/>
              <a:t>teclas Ctrl +Z</a:t>
            </a:r>
            <a:r>
              <a:rPr lang="pt-BR"/>
              <a:t> . </a:t>
            </a:r>
          </a:p>
          <a:p>
            <a:pPr marL="142875" lvl="1" indent="0">
              <a:buNone/>
            </a:pPr>
            <a:endParaRPr lang="en-US" dirty="0"/>
          </a:p>
          <a:p>
            <a:pPr lvl="1" rtl="0"/>
            <a:r>
              <a:rPr lang="pt-BR"/>
              <a:t>Para mover diretamente de um modo de subconfiguração para outro, digite o comando de modo de subconfiguração desejado. No exemplo, o prompt de comando muda de </a:t>
            </a:r>
            <a:r>
              <a:rPr b="true" lang="pt-BR"/>
              <a:t>(config-line)#</a:t>
            </a:r>
            <a:r>
              <a:rPr lang="pt-BR"/>
              <a:t> para </a:t>
            </a:r>
            <a:r>
              <a:rPr b="true" lang="pt-BR"/>
              <a:t>(config-if)#</a:t>
            </a:r>
            <a:r>
              <a:rPr lang="pt-BR"/>
              <a:t>. </a:t>
            </a:r>
            <a:r>
              <a:rPr b="true" lang="pt-BR"/>
              <a:t> </a:t>
            </a:r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4761F0-3B51-F447-AF31-ED4259157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978" y="1649731"/>
            <a:ext cx="3784600" cy="482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E61373-4A92-7647-872A-CA2E86F983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978" y="2983119"/>
            <a:ext cx="3784600" cy="444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9333839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8872"/>
            <a:ext cx="9144000" cy="592921"/>
          </a:xfrm>
        </p:spPr>
        <p:txBody>
          <a:bodyPr/>
          <a:lstStyle/>
          <a:p>
            <a:pPr rtl="0"/>
            <a:br>
              <a:rPr lang="en-US" altLang="en-US" dirty="0"/>
            </a:br>
            <a:r>
              <a:rPr lang="pt-BR"/>
              <a:t>Vídeo de navegação IOS — Navegação entre modos IOS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879D50B-6D7A-D347-8410-C647A91484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Este vídeo aborda o seguinte: </a:t>
            </a:r>
          </a:p>
          <a:p>
            <a:pPr lvl="1" rtl="0"/>
            <a:r>
              <a:rPr sz="1500" lang="pt-BR"/>
              <a:t>enable</a:t>
            </a:r>
          </a:p>
          <a:p>
            <a:pPr lvl="1" rtl="0"/>
            <a:r>
              <a:rPr sz="1500" lang="pt-BR"/>
              <a:t>disable</a:t>
            </a:r>
          </a:p>
          <a:p>
            <a:pPr lvl="1" rtl="0"/>
            <a:r>
              <a:rPr sz="1500" lang="pt-BR"/>
              <a:t>configure terminal</a:t>
            </a:r>
          </a:p>
          <a:p>
            <a:pPr lvl="1" rtl="0"/>
            <a:r>
              <a:rPr sz="1500" lang="pt-BR"/>
              <a:t>exit</a:t>
            </a:r>
          </a:p>
          <a:p>
            <a:pPr lvl="1" rtl="0"/>
            <a:r>
              <a:rPr sz="1500" lang="pt-BR"/>
              <a:t>finalizar</a:t>
            </a:r>
          </a:p>
          <a:p>
            <a:pPr lvl="1" rtl="0"/>
            <a:r>
              <a:rPr sz="1500" lang="pt-BR"/>
              <a:t>Control + Z no teclado</a:t>
            </a:r>
          </a:p>
          <a:p>
            <a:pPr lvl="1" rtl="0"/>
            <a:r>
              <a:rPr sz="1500" lang="pt-BR"/>
              <a:t>Outros comandos para inserir modos de subconfiguração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8778067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98320"/>
            <a:ext cx="8231464" cy="919480"/>
          </a:xfrm>
        </p:spPr>
        <p:txBody>
          <a:bodyPr/>
          <a:lstStyle/>
          <a:p>
            <a:pPr rtl="0"/>
            <a:r>
              <a:rPr sz="400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2.3 – A estrutura de comandos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3693684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br>
              <a:rPr lang="en-US" dirty="0"/>
            </a:br>
            <a:r>
              <a:rPr lang="pt-BR"/>
              <a:t>A estrutura de comandos </a:t>
            </a:r>
            <a:r>
              <a:rPr sz="1600" lang="pt-BR"/>
              <a:t>Estrutura básica de comandos do IOS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A3AB3B0-9D4C-4845-86A8-9CDB13B2A8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0099" y="3123949"/>
            <a:ext cx="7543801" cy="1201518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b="true" lang="pt-BR"/>
              <a:t>Palavra-chave</a:t>
            </a:r>
            <a:r>
              <a:rPr lang="pt-BR"/>
              <a:t> - este é um parâmetro específico definido no sistema operacional (na figura, protocolos ip)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b="true" lang="pt-BR"/>
              <a:t>Argumento </a:t>
            </a:r>
            <a:r>
              <a:rPr lang="pt-BR"/>
              <a:t>- não predefinido; um valor ou variável definido pelo usuário (na figura, 192.168.10.5)</a:t>
            </a:r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FC5DF7-E4C5-654F-89C0-5DF1D6C2B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150" y="818033"/>
            <a:ext cx="5219700" cy="2108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61454137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br>
              <a:rPr lang="en-US" dirty="0"/>
            </a:br>
            <a:r>
              <a:rPr lang="pt-BR"/>
              <a:t>A estrutura de comandos </a:t>
            </a:r>
            <a:r>
              <a:rPr sz="1600" lang="pt-BR"/>
              <a:t>Sintaxe do comando do IOS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A3AB3B0-9D4C-4845-86A8-9CDB13B2A8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0560" y="798944"/>
            <a:ext cx="7518399" cy="1151776"/>
          </a:xfrm>
        </p:spPr>
        <p:txBody>
          <a:bodyPr/>
          <a:lstStyle/>
          <a:p>
            <a:pPr marL="0" indent="0" rtl="0">
              <a:buNone/>
            </a:pPr>
            <a:r>
              <a:rPr sz="1600" lang="pt-BR"/>
              <a:t>Um comando pode exigir um ou mais argumentos. Para determinar as palavras-chave e os argumentos necessários para um comando, consulte a sintaxe de comando. </a:t>
            </a:r>
          </a:p>
          <a:p>
            <a:pPr lvl="1" rtl="0"/>
            <a:r>
              <a:rPr sz="1600" lang="pt-BR"/>
              <a:t>O texto em negrito indica comandos e palavras-chave que são inseridos como mostrado. </a:t>
            </a:r>
          </a:p>
          <a:p>
            <a:pPr lvl="1" rtl="0"/>
            <a:r>
              <a:rPr sz="1600" lang="pt-BR"/>
              <a:t>O texto em itálico indica um argumento para o qual o usuário fornece o valor.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8EF1640-8E09-B446-B06E-259AF15A6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163771"/>
              </p:ext>
            </p:extLst>
          </p:nvPr>
        </p:nvGraphicFramePr>
        <p:xfrm>
          <a:off x="1195214" y="2177571"/>
          <a:ext cx="6469090" cy="2327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8281">
                  <a:extLst>
                    <a:ext uri="{9D8B030D-6E8A-4147-A177-3AD203B41FA5}">
                      <a16:colId xmlns:a16="http://schemas.microsoft.com/office/drawing/2014/main" val="1180500583"/>
                    </a:ext>
                  </a:extLst>
                </a:gridCol>
                <a:gridCol w="5370809">
                  <a:extLst>
                    <a:ext uri="{9D8B030D-6E8A-4147-A177-3AD203B41FA5}">
                      <a16:colId xmlns:a16="http://schemas.microsoft.com/office/drawing/2014/main" val="2741835617"/>
                    </a:ext>
                  </a:extLst>
                </a:gridCol>
              </a:tblGrid>
              <a:tr h="183316"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Convenção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626540"/>
                  </a:ext>
                </a:extLst>
              </a:tr>
              <a:tr h="308073">
                <a:tc>
                  <a:txBody>
                    <a:bodyPr/>
                    <a:lstStyle/>
                    <a:p>
                      <a:pPr fontAlgn="ctr" rtl="0"/>
                      <a:r>
                        <a:rPr sz="1200" b="true" lang="pt-BR">
                          <a:effectLst/>
                        </a:rPr>
                        <a:t>negrito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200" b="false" lang="pt-BR">
                          <a:effectLst/>
                        </a:rPr>
                        <a:t>O texto em negrito indica comandos e palavras-chave que você insere literalmente, como mostradas.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639080909"/>
                  </a:ext>
                </a:extLst>
              </a:tr>
              <a:tr h="308073">
                <a:tc>
                  <a:txBody>
                    <a:bodyPr/>
                    <a:lstStyle/>
                    <a:p>
                      <a:pPr fontAlgn="ctr" rtl="0"/>
                      <a:r>
                        <a:rPr sz="1200" b="false" i="true" lang="pt-BR">
                          <a:effectLst/>
                        </a:rPr>
                        <a:t>itálico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200" b="false" lang="pt-BR">
                          <a:effectLst/>
                        </a:rPr>
                        <a:t>O texto em itálico indica argumentos para os quais você fornece valores.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4082093158"/>
                  </a:ext>
                </a:extLst>
              </a:tr>
              <a:tr h="308073">
                <a:tc>
                  <a:txBody>
                    <a:bodyPr/>
                    <a:lstStyle/>
                    <a:p>
                      <a:pPr fontAlgn="ctr" rtl="0"/>
                      <a:r>
                        <a:rPr sz="1200" b="true" lang="pt-BR">
                          <a:effectLst/>
                        </a:rPr>
                        <a:t>[</a:t>
                      </a:r>
                      <a:r>
                        <a:rPr sz="1200" b="false" lang="pt-BR">
                          <a:effectLst/>
                        </a:rPr>
                        <a:t>x</a:t>
                      </a:r>
                      <a:r>
                        <a:rPr sz="1200" b="true" lang="pt-BR">
                          <a:effectLst/>
                        </a:rPr>
                        <a:t>]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200" b="false" lang="pt-BR">
                          <a:effectLst/>
                        </a:rPr>
                        <a:t>Colchetes indicam um elemento opcional (palavra-chave ou argumento).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021840048"/>
                  </a:ext>
                </a:extLst>
              </a:tr>
              <a:tr h="331663">
                <a:tc>
                  <a:txBody>
                    <a:bodyPr/>
                    <a:lstStyle/>
                    <a:p>
                      <a:pPr fontAlgn="ctr" rtl="0"/>
                      <a:r>
                        <a:rPr sz="1200" b="true" lang="pt-BR">
                          <a:effectLst/>
                        </a:rPr>
                        <a:t>{</a:t>
                      </a:r>
                      <a:r>
                        <a:rPr sz="1200" b="false" lang="pt-BR">
                          <a:effectLst/>
                        </a:rPr>
                        <a:t>x</a:t>
                      </a:r>
                      <a:r>
                        <a:rPr sz="1200" b="true" lang="pt-BR">
                          <a:effectLst/>
                        </a:rPr>
                        <a:t>}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200" b="false" lang="pt-BR">
                          <a:effectLst/>
                        </a:rPr>
                        <a:t>Chaves indicam um elemento necessário (palavra-chave ou argumento).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968577270"/>
                  </a:ext>
                </a:extLst>
              </a:tr>
              <a:tr h="552495">
                <a:tc>
                  <a:txBody>
                    <a:bodyPr/>
                    <a:lstStyle/>
                    <a:p>
                      <a:pPr fontAlgn="ctr" rtl="0"/>
                      <a:r>
                        <a:rPr sz="1200" b="true" lang="pt-BR">
                          <a:effectLst/>
                        </a:rPr>
                        <a:t>[</a:t>
                      </a:r>
                      <a:r>
                        <a:rPr sz="1200" b="false" lang="pt-BR">
                          <a:effectLst/>
                        </a:rPr>
                        <a:t>x</a:t>
                      </a:r>
                      <a:r>
                        <a:rPr sz="1200" b="true" lang="pt-BR">
                          <a:effectLst/>
                        </a:rPr>
                        <a:t> {</a:t>
                      </a:r>
                      <a:r>
                        <a:rPr sz="1200" b="false" lang="pt-BR">
                          <a:effectLst/>
                        </a:rPr>
                        <a:t>y</a:t>
                      </a:r>
                      <a:r>
                        <a:rPr sz="1200" b="true" lang="pt-BR">
                          <a:effectLst/>
                        </a:rPr>
                        <a:t> | </a:t>
                      </a:r>
                      <a:r>
                        <a:rPr sz="1200" b="false" lang="pt-BR">
                          <a:effectLst/>
                        </a:rPr>
                        <a:t>z</a:t>
                      </a:r>
                      <a:r>
                        <a:rPr sz="1200" b="true" lang="pt-BR">
                          <a:effectLst/>
                        </a:rPr>
                        <a:t> }]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200" b="false" lang="pt-BR">
                          <a:effectLst/>
                        </a:rPr>
                        <a:t>Chaves e linhas verticais entre colchetes indicam uma escolha obrigatória dentro de um elemento opcional. Espaços são usados para delinear claramente partes do comando.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22497077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88145085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A estrutura de comandos </a:t>
            </a:r>
            <a:br>
              <a:rPr lang="en-US" dirty="0"/>
            </a:br>
            <a:r>
              <a:rPr lang="pt-BR"/>
              <a:t>Sintaxe do comando do IOS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A3AB3B0-9D4C-4845-86A8-9CDB13B2A8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7040" y="810994"/>
            <a:ext cx="7724140" cy="435515"/>
          </a:xfrm>
        </p:spPr>
        <p:txBody>
          <a:bodyPr/>
          <a:lstStyle/>
          <a:p>
            <a:pPr rtl="0"/>
            <a:r>
              <a:rPr lang="pt-BR"/>
              <a:t>A sintaxe fornece o padrão, ou formato, que deve ser usado ao inserir um comando.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F13B8143-D541-D34B-B488-356F18766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40" y="1539328"/>
            <a:ext cx="4124960" cy="911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pt-BR"/>
              <a:t>O comando é </a:t>
            </a:r>
            <a:r>
              <a:rPr b="true" lang="pt-BR"/>
              <a:t>ping</a:t>
            </a:r>
            <a:r>
              <a:rPr lang="pt-BR"/>
              <a:t> e o argumento definido pelo usuário é o </a:t>
            </a:r>
            <a:r>
              <a:rPr i="true" lang="pt-BR"/>
              <a:t>ip-address</a:t>
            </a:r>
            <a:r>
              <a:rPr lang="pt-BR"/>
              <a:t> do dispositivo de destino. Por exemplo, </a:t>
            </a:r>
            <a:r>
              <a:rPr b="true" lang="pt-BR"/>
              <a:t>ping 10.10.10.5</a:t>
            </a:r>
            <a:r>
              <a:rPr lang="pt-BR"/>
              <a:t>.</a:t>
            </a:r>
          </a:p>
          <a:p>
            <a:endParaRPr lang="en-US" i="1"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359F58B2-0EF4-F34B-927B-FE08C36D8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40" y="2571750"/>
            <a:ext cx="3860800" cy="966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pt-BR"/>
              <a:t>O comando é </a:t>
            </a:r>
            <a:r>
              <a:rPr b="true" lang="pt-BR"/>
              <a:t>traceroute</a:t>
            </a:r>
            <a:r>
              <a:rPr lang="pt-BR"/>
              <a:t> e o argumento definido pelo usuário é o </a:t>
            </a:r>
            <a:r>
              <a:rPr i="true" lang="pt-BR"/>
              <a:t>ip-address</a:t>
            </a:r>
            <a:r>
              <a:rPr lang="pt-BR"/>
              <a:t> do dispositivo de destino. Por exemplo, </a:t>
            </a:r>
            <a:r>
              <a:rPr b="true" lang="pt-BR"/>
              <a:t>traceroute </a:t>
            </a:r>
            <a:r>
              <a:rPr lang="pt-BR"/>
              <a:t>192.168.254.254.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298B5B-2456-0C40-99DF-246F3AEEF0F3}"/>
              </a:ext>
            </a:extLst>
          </p:cNvPr>
          <p:cNvSpPr txBox="1"/>
          <p:nvPr/>
        </p:nvSpPr>
        <p:spPr>
          <a:xfrm>
            <a:off x="362350" y="3659497"/>
            <a:ext cx="785663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rtl="0">
              <a:buClr>
                <a:schemeClr val="tx1"/>
              </a:buClr>
              <a:buSzPct val="90000"/>
              <a:buFont typeface="Wingdings" pitchFamily="2" charset="2"/>
              <a:buChar char="§"/>
            </a:pPr>
            <a:r>
              <a:rPr sz="1500" lang="pt-BR">
                <a:solidFill>
                  <a:srgbClr val="000000"/>
                </a:solidFill>
              </a:rPr>
              <a:t>Se um comando é complexo com vários argumentos, você pode vê-lo representado assim: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B7B515-A62C-4647-8773-F21750D83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9380" y="1694878"/>
            <a:ext cx="2971800" cy="482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DCC989-9291-8144-A17B-A5F6191D9B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2777029"/>
            <a:ext cx="2959100" cy="444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E622BB-7278-3F4D-828E-B1AE378C8E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998" y="4103630"/>
            <a:ext cx="6400800" cy="42075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19708071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41393"/>
            <a:ext cx="9144000" cy="757551"/>
          </a:xfrm>
        </p:spPr>
        <p:txBody>
          <a:bodyPr/>
          <a:lstStyle/>
          <a:p>
            <a:pPr rtl="0"/>
            <a:r>
              <a:rPr sz="1600" lang="pt-BR"/>
              <a:t>A estrutura de comandos </a:t>
            </a:r>
            <a:br>
              <a:rPr lang="en-US" dirty="0"/>
            </a:br>
            <a:r>
              <a:rPr lang="pt-BR"/>
              <a:t>Recursos da ajuda do IOS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508BDD6-5B8B-CF4E-B525-A3D2A9FA98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65759" y="798944"/>
            <a:ext cx="7406641" cy="582816"/>
          </a:xfrm>
        </p:spPr>
        <p:txBody>
          <a:bodyPr/>
          <a:lstStyle/>
          <a:p>
            <a:pPr marL="0" indent="0" rtl="0">
              <a:buNone/>
            </a:pPr>
            <a:r>
              <a:rPr sz="1600" lang="pt-BR"/>
              <a:t>O IOS tem duas formas de ajuda disponíveis: ajuda sensível ao contexto e verificação da sintaxe do comando.</a:t>
            </a:r>
          </a:p>
          <a:p>
            <a:pPr marL="261937" lvl="2" indent="0">
              <a:buNone/>
            </a:pPr>
            <a:endParaRPr lang="en-US" dirty="0"/>
          </a:p>
          <a:p>
            <a:pPr marL="261937" lvl="2" indent="0">
              <a:buNone/>
            </a:pPr>
            <a:endParaRPr lang="en-US" dirty="0"/>
          </a:p>
          <a:p>
            <a:endParaRPr lang="en-US" dirty="0"/>
          </a:p>
          <a:p>
            <a:endParaRPr lang="en-US" altLang="ja-JP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37E77DC-6EC5-C740-A91D-90AA88B5D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59" y="1453572"/>
            <a:ext cx="4206241" cy="2016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buFont typeface="Arial" panose="020B0604020202020204" pitchFamily="34" charset="0"/>
              <a:buChar char="•"/>
            </a:pPr>
            <a:r>
              <a:rPr lang="pt-BR"/>
              <a:t>A ajuda contextual permite que você encontre rapidamente respostas para estas perguntas:</a:t>
            </a:r>
          </a:p>
          <a:p>
            <a:pPr lvl="2" rtl="0"/>
            <a:r>
              <a:rPr lang="pt-BR"/>
              <a:t>Quais comandos estão disponíveis em cada modo de comando?</a:t>
            </a:r>
          </a:p>
          <a:p>
            <a:pPr lvl="2" rtl="0"/>
            <a:r>
              <a:rPr lang="pt-BR"/>
              <a:t>Quais comandos começam com caracteres específicos ou grupo de caracteres?</a:t>
            </a:r>
          </a:p>
          <a:p>
            <a:pPr lvl="2" rtl="0"/>
            <a:r>
              <a:rPr lang="pt-BR"/>
              <a:t>Quais argumentos e palavras-chave estão disponíveis para comandos específicos?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ECCD72D-1F69-3241-8248-C477E21A6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0961" y="1453572"/>
            <a:ext cx="3535680" cy="181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buFont typeface="Arial" panose="020B0604020202020204" pitchFamily="34" charset="0"/>
              <a:buChar char="•"/>
            </a:pPr>
            <a:r>
              <a:rPr lang="pt-BR"/>
              <a:t>A verificação da sintaxe de comandos verifica se um comando válido foi inserido pelo usuário. </a:t>
            </a:r>
          </a:p>
          <a:p>
            <a:pPr lvl="2" rtl="0"/>
            <a:r>
              <a:rPr lang="pt-BR"/>
              <a:t>No entanto, se o interpretador não puder entender o comando sendo inserido, ele fornecerá feedback descrevendo o que está errado com o comando.</a:t>
            </a:r>
          </a:p>
          <a:p>
            <a:endParaRPr lang="en-US" altLang="ja-JP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E42013-82B1-204A-A187-92F88CF95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599" y="3563781"/>
            <a:ext cx="2743200" cy="4455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95D835-D284-C64C-8128-9D0E859F40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7201" y="3563781"/>
            <a:ext cx="2743200" cy="4453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18232113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8872"/>
            <a:ext cx="9144000" cy="592921"/>
          </a:xfrm>
        </p:spPr>
        <p:txBody>
          <a:bodyPr>
            <a:noAutofit/>
          </a:bodyPr>
          <a:lstStyle/>
          <a:p>
            <a:pPr rtl="0"/>
            <a:r>
              <a:rPr sz="1600" lang="pt-BR"/>
              <a:t>A Estrutura do Comando </a:t>
            </a:r>
            <a:br>
              <a:rPr lang="en-US" altLang="en-US" dirty="0"/>
            </a:br>
            <a:r>
              <a:rPr lang="pt-BR"/>
              <a:t>Vídeo - Ajuda sensível ao contexto e verificação de sintaxe de comando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6253261-DB79-E748-B9A7-9E22033D33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Este vídeo aborda o seguinte: </a:t>
            </a:r>
          </a:p>
          <a:p>
            <a:pPr lvl="1" rtl="0"/>
            <a:r>
              <a:rPr sz="1500" lang="pt-BR"/>
              <a:t>Use o comando help no EXEC do usuário, EXEC privilegiado e modo de configuração global</a:t>
            </a:r>
          </a:p>
          <a:p>
            <a:pPr lvl="1" rtl="0"/>
            <a:r>
              <a:rPr sz="1500" lang="pt-BR"/>
              <a:t>Concluir comandos e argumentos com o comando help</a:t>
            </a:r>
          </a:p>
          <a:p>
            <a:pPr lvl="1" rtl="0"/>
            <a:r>
              <a:rPr sz="1500" lang="pt-BR"/>
              <a:t>Use o verificador de sintaxe do comando para corrigir erros de sintaxe e comandos incompletos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2373206"/>
      </p:ext>
    </p:extLst>
  </p:cSld>
  <p:clrMapOvr>
    <a:masterClrMapping/>
  </p:clrMapOvr>
  <p:transition spd="slow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A estrutura de comandos </a:t>
            </a:r>
            <a:br>
              <a:rPr lang="en-US" dirty="0"/>
            </a:br>
            <a:r>
              <a:rPr lang="pt-BR"/>
              <a:t>Teclas de acesso e atalhos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24C0645-E185-E14D-BE57-D9D754DCF7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0399" y="852663"/>
            <a:ext cx="8107681" cy="1463817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A CLI do IOS fornece teclas de atalho e atalhos que facilitam a configuração, o monitoramento e a solução de problemas.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Os comandos e as palavras-chave podem ser abreviados para o número mínimo de caracteres que identifica uma seleção exclusiva. Por exemplo, o comando </a:t>
            </a:r>
            <a:r>
              <a:rPr sz="1600" b="true" lang="pt-BR"/>
              <a:t>configure</a:t>
            </a:r>
            <a:r>
              <a:rPr sz="1600" lang="pt-BR"/>
              <a:t> pode ser abreviado para </a:t>
            </a:r>
            <a:r>
              <a:rPr sz="1600" b="true" lang="pt-BR"/>
              <a:t>conf</a:t>
            </a:r>
            <a:r>
              <a:rPr sz="1600" lang="pt-BR"/>
              <a:t> porque </a:t>
            </a:r>
            <a:r>
              <a:rPr sz="1600" b="true" lang="pt-BR"/>
              <a:t>configure</a:t>
            </a:r>
            <a:r>
              <a:rPr sz="1600" lang="pt-BR"/>
              <a:t> é o único comando que se inicia com </a:t>
            </a:r>
            <a:r>
              <a:rPr sz="1600" b="true" lang="pt-BR"/>
              <a:t>conf</a:t>
            </a:r>
            <a:r>
              <a:rPr sz="1600" lang="pt-BR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endParaRPr lang="en-US" altLang="ja-JP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F01AB2-104C-D94E-AE37-A95B7349F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020" y="2571750"/>
            <a:ext cx="2717800" cy="63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FA3EFC-521E-2F4F-B03D-C10C9DA9E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0" y="3401060"/>
            <a:ext cx="48895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51826301"/>
      </p:ext>
    </p:ext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A estrutura de comandos </a:t>
            </a:r>
            <a:br>
              <a:rPr lang="en-US" dirty="0"/>
            </a:br>
            <a:r>
              <a:rPr lang="pt-BR"/>
              <a:t>Teclas de acesso e atalhos (Cont.)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24C0645-E185-E14D-BE57-D9D754DCF7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0399" y="852663"/>
            <a:ext cx="8107681" cy="346217"/>
          </a:xfrm>
        </p:spPr>
        <p:txBody>
          <a:bodyPr/>
          <a:lstStyle/>
          <a:p>
            <a:pPr rtl="0"/>
            <a:r>
              <a:rPr sz="1600" lang="pt-BR"/>
              <a:t>A tabela abaixo é uma breve lista de pressionamentos de teclas para melhorar a edição da linha de comando</a:t>
            </a:r>
            <a:r>
              <a:rPr lang="pt-BR"/>
              <a:t>. </a:t>
            </a:r>
          </a:p>
          <a:p>
            <a:endParaRPr lang="en-US" altLang="ja-JP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7926FB-C2EF-1548-A7A3-1FDF65CDA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881435"/>
              </p:ext>
            </p:extLst>
          </p:nvPr>
        </p:nvGraphicFramePr>
        <p:xfrm>
          <a:off x="1524000" y="1584689"/>
          <a:ext cx="6096000" cy="2315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748">
                  <a:extLst>
                    <a:ext uri="{9D8B030D-6E8A-4147-A177-3AD203B41FA5}">
                      <a16:colId xmlns:a16="http://schemas.microsoft.com/office/drawing/2014/main" val="1180500583"/>
                    </a:ext>
                  </a:extLst>
                </a:gridCol>
                <a:gridCol w="4187252">
                  <a:extLst>
                    <a:ext uri="{9D8B030D-6E8A-4147-A177-3AD203B41FA5}">
                      <a16:colId xmlns:a16="http://schemas.microsoft.com/office/drawing/2014/main" val="27418356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Toque de tecla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626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200" b="true" lang="pt-BR">
                          <a:effectLst/>
                        </a:rPr>
                        <a:t>Tab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200" b="false" lang="pt-BR">
                          <a:effectLst/>
                        </a:rPr>
                        <a:t>Completa um nome de comando parcialmente digitado.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639080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200" b="true" lang="pt-BR">
                          <a:effectLst/>
                        </a:rPr>
                        <a:t>Backspace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200" b="false" lang="pt-BR">
                          <a:effectLst/>
                        </a:rPr>
                        <a:t>Apaga o caractere à esquerda do cursor.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4082093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200" b="true" lang="pt-BR">
                          <a:effectLst/>
                        </a:rPr>
                        <a:t>Seta para a esquerda </a:t>
                      </a:r>
                      <a:r>
                        <a:rPr sz="1200" b="false" lang="pt-BR">
                          <a:effectLst/>
                        </a:rPr>
                        <a:t>ou</a:t>
                      </a:r>
                      <a:r>
                        <a:rPr sz="1200" b="true" lang="pt-BR">
                          <a:effectLst/>
                        </a:rPr>
                        <a:t> Ctrl-B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200" b="false" lang="pt-BR">
                          <a:effectLst/>
                        </a:rPr>
                        <a:t>Movem o cursor um caractere para a esquerda.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021840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200" b="true" lang="pt-BR">
                          <a:effectLst/>
                        </a:rPr>
                        <a:t>Seta para a direita </a:t>
                      </a:r>
                      <a:r>
                        <a:rPr sz="1200" b="false" lang="pt-BR">
                          <a:effectLst/>
                        </a:rPr>
                        <a:t>ou</a:t>
                      </a:r>
                      <a:r>
                        <a:rPr sz="1200" b="true" lang="pt-BR">
                          <a:effectLst/>
                        </a:rPr>
                        <a:t> Ctrl-F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200" b="false" lang="pt-BR">
                          <a:effectLst/>
                        </a:rPr>
                        <a:t>Movem o cursor um caractere para a direita.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968577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 rtl="0"/>
                      <a:r>
                        <a:rPr sz="1200" b="true" lang="pt-BR">
                          <a:effectLst/>
                        </a:rPr>
                        <a:t>Seta para cima </a:t>
                      </a:r>
                      <a:r>
                        <a:rPr sz="1200" b="false" lang="pt-BR">
                          <a:effectLst/>
                        </a:rPr>
                        <a:t>ou</a:t>
                      </a:r>
                      <a:r>
                        <a:rPr sz="1200" b="true" lang="pt-BR">
                          <a:effectLst/>
                        </a:rPr>
                        <a:t> Ctrl-P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200" b="false" lang="pt-BR">
                          <a:effectLst/>
                        </a:rPr>
                        <a:t>Relembram os comandos no buffer de histórico, a partir dos comandos mais recentes.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22497077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0944636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/>
              <a:t>A estrutura de comandos </a:t>
            </a:r>
            <a:br>
              <a:rPr lang="en-US" dirty="0"/>
            </a:br>
            <a:r>
              <a:rPr lang="pt-BR"/>
              <a:t>Teclas de acesso e atalhos (Cont.)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24C0645-E185-E14D-BE57-D9D754DCF7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7037" y="852663"/>
            <a:ext cx="4043687" cy="1310400"/>
          </a:xfrm>
        </p:spPr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sz="1400" lang="pt-BR"/>
              <a:t>Quando uma saída de comando produz mais texto do que pode ser exibido em uma janela de terminal, o IOS exibirá um prompt </a:t>
            </a:r>
            <a:r>
              <a:rPr sz="1400" b="true" lang="pt-BR"/>
              <a:t>“—More—”</a:t>
            </a:r>
            <a:r>
              <a:rPr sz="1400" lang="pt-BR"/>
              <a:t> . A tabela abaixo descreve os pressionamentos de teclas que podem ser usados quando esse prompt é exibido.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725177-1828-664C-8118-894B1B291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762" y="1092891"/>
            <a:ext cx="3759201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buFont typeface="Arial" panose="020B0604020202020204" pitchFamily="34" charset="0"/>
              <a:buChar char="•"/>
            </a:pPr>
            <a:r>
              <a:rPr sz="1400" lang="pt-BR"/>
              <a:t>A tabela abaixo lista comandos que podem ser usados para sair de uma operação.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B480E-7A6D-8D47-84A2-2A0D70DBA569}"/>
              </a:ext>
            </a:extLst>
          </p:cNvPr>
          <p:cNvSpPr txBox="1"/>
          <p:nvPr/>
        </p:nvSpPr>
        <p:spPr>
          <a:xfrm>
            <a:off x="1670858" y="4180010"/>
            <a:ext cx="665780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500" lang="pt-BR">
                <a:solidFill>
                  <a:srgbClr val="000000"/>
                </a:solidFill>
              </a:rPr>
              <a:t>Nota: Para ver mais teclas de atalho e atalhos, consulte o ponto 2.3.5.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E2A07B-4FCF-B84B-9C9F-0212AB070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721810"/>
              </p:ext>
            </p:extLst>
          </p:nvPr>
        </p:nvGraphicFramePr>
        <p:xfrm>
          <a:off x="4571998" y="2163063"/>
          <a:ext cx="4490728" cy="190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136">
                  <a:extLst>
                    <a:ext uri="{9D8B030D-6E8A-4147-A177-3AD203B41FA5}">
                      <a16:colId xmlns:a16="http://schemas.microsoft.com/office/drawing/2014/main" val="1180500583"/>
                    </a:ext>
                  </a:extLst>
                </a:gridCol>
                <a:gridCol w="3171592">
                  <a:extLst>
                    <a:ext uri="{9D8B030D-6E8A-4147-A177-3AD203B41FA5}">
                      <a16:colId xmlns:a16="http://schemas.microsoft.com/office/drawing/2014/main" val="2741835617"/>
                    </a:ext>
                  </a:extLst>
                </a:gridCol>
              </a:tblGrid>
              <a:tr h="227045"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Toque de tecla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626540"/>
                  </a:ext>
                </a:extLst>
              </a:tr>
              <a:tr h="502075">
                <a:tc>
                  <a:txBody>
                    <a:bodyPr/>
                    <a:lstStyle/>
                    <a:p>
                      <a:pPr fontAlgn="ctr" rtl="0"/>
                      <a:r>
                        <a:rPr sz="1050" b="true" lang="pt-BR">
                          <a:effectLst/>
                        </a:rPr>
                        <a:t>Ctrl-C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Em qualquer modo de configuração, finaliza o modo de configuração e retorna ao modo EXEC privilegiado. 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639080909"/>
                  </a:ext>
                </a:extLst>
              </a:tr>
              <a:tr h="476164">
                <a:tc>
                  <a:txBody>
                    <a:bodyPr/>
                    <a:lstStyle/>
                    <a:p>
                      <a:pPr fontAlgn="ctr" rtl="0"/>
                      <a:r>
                        <a:rPr sz="1050" b="true" lang="pt-BR">
                          <a:effectLst/>
                        </a:rPr>
                        <a:t>Ctrl-Z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Em qualquer modo de configuração, finaliza o modo de configuração e retorna ao modo EXEC privilegiado.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4082093158"/>
                  </a:ext>
                </a:extLst>
              </a:tr>
              <a:tr h="476164">
                <a:tc>
                  <a:txBody>
                    <a:bodyPr/>
                    <a:lstStyle/>
                    <a:p>
                      <a:pPr fontAlgn="ctr" rtl="0"/>
                      <a:r>
                        <a:rPr sz="1050" b="true" lang="pt-BR">
                          <a:effectLst/>
                        </a:rPr>
                        <a:t>Ctrl-Shift-6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Sequência de quebra para todas as finalidades usada para abortar pesquisas DNS, traceroutes, pings, etc.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02184004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0169B05-C0C2-8F40-9CAB-6506A2AF6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758243"/>
              </p:ext>
            </p:extLst>
          </p:nvPr>
        </p:nvGraphicFramePr>
        <p:xfrm>
          <a:off x="447037" y="2163063"/>
          <a:ext cx="3861462" cy="1901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018">
                  <a:extLst>
                    <a:ext uri="{9D8B030D-6E8A-4147-A177-3AD203B41FA5}">
                      <a16:colId xmlns:a16="http://schemas.microsoft.com/office/drawing/2014/main" val="1180500583"/>
                    </a:ext>
                  </a:extLst>
                </a:gridCol>
                <a:gridCol w="2391444">
                  <a:extLst>
                    <a:ext uri="{9D8B030D-6E8A-4147-A177-3AD203B41FA5}">
                      <a16:colId xmlns:a16="http://schemas.microsoft.com/office/drawing/2014/main" val="2741835617"/>
                    </a:ext>
                  </a:extLst>
                </a:gridCol>
              </a:tblGrid>
              <a:tr h="301674"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Toque de tecla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sz="1200" lang="pt-BR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626540"/>
                  </a:ext>
                </a:extLst>
              </a:tr>
              <a:tr h="552140"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Tecla</a:t>
                      </a:r>
                      <a:r>
                        <a:rPr sz="1050" b="true" lang="pt-BR">
                          <a:effectLst/>
                        </a:rPr>
                        <a:t> Enter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Exibe a próxima linha.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3639080909"/>
                  </a:ext>
                </a:extLst>
              </a:tr>
              <a:tr h="523645">
                <a:tc>
                  <a:txBody>
                    <a:bodyPr/>
                    <a:lstStyle/>
                    <a:p>
                      <a:pPr fontAlgn="ctr" rtl="0"/>
                      <a:r>
                        <a:rPr sz="1050" b="true" lang="pt-BR">
                          <a:effectLst/>
                        </a:rPr>
                        <a:t>Barra de </a:t>
                      </a:r>
                      <a:r>
                        <a:rPr sz="1050" b="false" lang="pt-BR">
                          <a:effectLst/>
                        </a:rPr>
                        <a:t>espaço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Exibe a próxima tela.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4082093158"/>
                  </a:ext>
                </a:extLst>
              </a:tr>
              <a:tr h="523645"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Qualquer outra chave</a:t>
                      </a: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fontAlgn="ctr" rtl="0"/>
                      <a:r>
                        <a:rPr sz="1050" b="false" lang="pt-BR">
                          <a:effectLst/>
                        </a:rPr>
                        <a:t>Encerra a sequência de exibição, retornando ao modo EXEC privilegiado.</a:t>
                      </a: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202184004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059582425"/>
      </p:ext>
    </p:extLst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8872"/>
            <a:ext cx="9144000" cy="592921"/>
          </a:xfrm>
        </p:spPr>
        <p:txBody>
          <a:bodyPr/>
          <a:lstStyle/>
          <a:p>
            <a:pPr rtl="0"/>
            <a:r>
              <a:rPr sz="1600" lang="pt-BR"/>
              <a:t>A estrutura de comandos </a:t>
            </a:r>
            <a:br>
              <a:rPr lang="en-US" altLang="en-US" dirty="0"/>
            </a:br>
            <a:r>
              <a:rPr lang="pt-BR"/>
              <a:t>Teclas de acesso e atalhos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Este vídeo aborda o seguinte: </a:t>
            </a:r>
          </a:p>
          <a:p>
            <a:pPr lvl="1" rtl="0"/>
            <a:r>
              <a:rPr sz="1500" lang="pt-BR"/>
              <a:t>Tecla Tab (completação de tabulação)</a:t>
            </a:r>
          </a:p>
          <a:p>
            <a:pPr lvl="1" rtl="0"/>
            <a:r>
              <a:rPr sz="1500" lang="pt-BR"/>
              <a:t>com a tecla Tab é a redução de comando.</a:t>
            </a:r>
          </a:p>
          <a:p>
            <a:pPr lvl="1" rtl="0"/>
            <a:r>
              <a:rPr sz="1500" lang="pt-BR"/>
              <a:t>Seta para baixo e para cima.</a:t>
            </a:r>
          </a:p>
          <a:p>
            <a:pPr lvl="1" rtl="0"/>
            <a:r>
              <a:rPr sz="1500" lang="pt-BR"/>
              <a:t>CTRL + C</a:t>
            </a:r>
          </a:p>
          <a:p>
            <a:pPr lvl="1" rtl="0"/>
            <a:r>
              <a:rPr sz="1500" lang="pt-BR"/>
              <a:t>CTRL + Z</a:t>
            </a:r>
          </a:p>
          <a:p>
            <a:pPr lvl="1" rtl="0"/>
            <a:r>
              <a:rPr sz="1500" lang="pt-BR"/>
              <a:t>Ctrl + Shift + 6</a:t>
            </a:r>
          </a:p>
          <a:p>
            <a:pPr lvl="1" rtl="0"/>
            <a:r>
              <a:rPr sz="1500" lang="pt-BR"/>
              <a:t>CTRL + 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927493"/>
      </p:ext>
    </p:extLst>
  </p:cSld>
  <p:clrMapOvr>
    <a:masterClrMapping/>
  </p:clrMapOvr>
  <p:transition spd="slow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8872"/>
            <a:ext cx="9144000" cy="592921"/>
          </a:xfrm>
        </p:spPr>
        <p:txBody>
          <a:bodyPr/>
          <a:lstStyle/>
          <a:p>
            <a:pPr rtl="0"/>
            <a:r>
              <a:rPr sz="1600" lang="pt-BR"/>
              <a:t>A estrutura de comandos </a:t>
            </a:r>
            <a:br>
              <a:rPr lang="en-US" altLang="en-US" dirty="0"/>
            </a:br>
            <a:r>
              <a:rPr lang="pt-BR"/>
              <a:t>Packet Tracer - Navegação no IOS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Neste Packet Tracer, você fará o seguinte: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Parte 1: estabelecer conexões básicas, acesso à CLI e explorar a ajuda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Explorar modos EXEC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Ajustar o Relógio.</a:t>
            </a:r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7996573"/>
      </p:ext>
    </p:extLst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8872"/>
            <a:ext cx="9144000" cy="1809820"/>
          </a:xfrm>
        </p:spPr>
        <p:txBody>
          <a:bodyPr/>
          <a:lstStyle/>
          <a:p>
            <a:pPr rtl="0"/>
            <a:r>
              <a:rPr sz="1600" lang="pt-BR"/>
              <a:t>O rastreador dopacote de informação da estrutura de comando</a:t>
            </a:r>
            <a:r>
              <a:rPr lang="pt-BR"/>
              <a:t>- navegue o IOS usando o termo de Tera para a conectividade do console —</a:t>
            </a:r>
            <a:br>
              <a:rPr lang="en-US" altLang="en-US" dirty="0"/>
            </a:br>
            <a:r>
              <a:rPr lang="pt-BR"/>
              <a:t>Laboratório do modo físico - navegue o IOS usando o termo de Tera para a conectividade do console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928692"/>
            <a:ext cx="8649325" cy="262831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rtl="0">
              <a:buNone/>
            </a:pPr>
            <a:r>
              <a:rPr lang="pt-BR"/>
              <a:t>Na atividade do modo físico do Packet Tracer e no laboratório, você completará os seguintes objetivos:</a:t>
            </a:r>
          </a:p>
          <a:p>
            <a:pPr rtl="0"/>
            <a:r>
              <a:rPr lang="pt-BR"/>
              <a:t>Acessar um Switch Cisco por meio da porta do console serial</a:t>
            </a:r>
          </a:p>
          <a:p>
            <a:pPr rtl="0"/>
            <a:r>
              <a:rPr lang="pt-BR"/>
              <a:t>Exibir e definir configurações básicas de dispositivos</a:t>
            </a:r>
          </a:p>
          <a:p>
            <a:pPr rtl="0"/>
            <a:r>
              <a:rPr lang="pt-BR"/>
              <a:t>Acesse um Cisco Router usando um cabo de console Mini-USB (Nota: Este objetivo é opcional no laboratório.)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6267582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828031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2.4 - Configuração Básica do Dispositivo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6944279"/>
      </p:ext>
    </p:ext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>
                <a:latin typeface="Arial" charset="0"/>
              </a:rPr>
              <a:t>Configuração Básica do Dispositivo - 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Nomes de dispositivos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77839" y="855701"/>
            <a:ext cx="5920163" cy="1102977"/>
          </a:xfrm>
        </p:spPr>
        <p:txBody>
          <a:bodyPr/>
          <a:lstStyle/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O primeiro comando de configuração em qualquer dispositivo deve ser dar a ele um nome de host exclusivo.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Por padrão, todos os dispositivos recebem um nome padrão de fábrica. Por exemplo, um switch Cisco IOS é “Switch”.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6431B1F-CF88-7348-B7DE-E17404CC367A}"/>
              </a:ext>
            </a:extLst>
          </p:cNvPr>
          <p:cNvSpPr txBox="1">
            <a:spLocks/>
          </p:cNvSpPr>
          <p:nvPr/>
        </p:nvSpPr>
        <p:spPr bwMode="auto">
          <a:xfrm>
            <a:off x="277838" y="2106592"/>
            <a:ext cx="4202721" cy="2251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Diretriz para dispositivos de nomeação: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600" lang="pt-BR"/>
              <a:t>Começar com uma letra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600" lang="pt-BR"/>
              <a:t>Não conter espaços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600" lang="pt-BR"/>
              <a:t>Terminar com uma letra ou dígito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600" lang="pt-BR"/>
              <a:t>Usar somente letras, números e traços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600" lang="pt-BR"/>
              <a:t>Ter menos de 64 caracteres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CDB78-5B44-2540-9744-45DBDB654D0E}"/>
              </a:ext>
            </a:extLst>
          </p:cNvPr>
          <p:cNvSpPr txBox="1"/>
          <p:nvPr/>
        </p:nvSpPr>
        <p:spPr>
          <a:xfrm>
            <a:off x="5068861" y="3310870"/>
            <a:ext cx="36134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500" b="true" lang="pt-BR">
                <a:solidFill>
                  <a:srgbClr val="000000"/>
                </a:solidFill>
              </a:rPr>
              <a:t>Nota</a:t>
            </a:r>
            <a:r>
              <a:rPr sz="1500" lang="pt-BR">
                <a:solidFill>
                  <a:srgbClr val="000000"/>
                </a:solidFill>
              </a:rPr>
              <a:t>: Para retornar o switch ao prompt padrão, use o comando </a:t>
            </a:r>
            <a:r>
              <a:rPr sz="1500" b="true" lang="pt-BR">
                <a:solidFill>
                  <a:srgbClr val="000000"/>
                </a:solidFill>
              </a:rPr>
              <a:t> no hostname</a:t>
            </a:r>
            <a:r>
              <a:rPr sz="1500" lang="pt-BR">
                <a:solidFill>
                  <a:srgbClr val="000000"/>
                </a:solidFill>
              </a:rPr>
              <a:t> global config</a:t>
            </a:r>
            <a:r>
              <a:rPr sz="1500" b="true" lang="pt-BR">
                <a:solidFill>
                  <a:srgbClr val="000000"/>
                </a:solidFill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C4244C-923F-EB45-BEF5-9FC7D9C28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340" y="2342912"/>
            <a:ext cx="3797300" cy="6223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99570505"/>
      </p:ext>
    </p:extLst>
  </p:cSld>
  <p:clrMapOvr>
    <a:masterClrMapping/>
  </p:clrMapOvr>
  <p:transition spd="slow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>
                <a:latin typeface="Arial" charset="0"/>
              </a:rPr>
              <a:t>Diretrizes desenha</a:t>
            </a:r>
            <a:r>
              <a:rPr sz="1600" lang="pt-BR">
                <a:latin typeface="Arial" charset="0"/>
              </a:rPr>
              <a:t>de configuração básica do dispositivo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357" y="938988"/>
            <a:ext cx="8602403" cy="1015663"/>
          </a:xfrm>
        </p:spPr>
        <p:txBody>
          <a:bodyPr/>
          <a:lstStyle/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O uso de senhas fracas ou facilmente adivinhadas é uma preocupação de segurança.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Todos os dispositivos de rede devem limitar o acesso administrativo protegendo EXEC privilegiado, EXEC de usuário e acesso remoto Telnet com senhas. Além disso, todas as senhas devem ser criptografadas e notificações legais fornecidas.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0CEA0DA-9080-6645-9105-927BD0003465}"/>
              </a:ext>
            </a:extLst>
          </p:cNvPr>
          <p:cNvSpPr txBox="1">
            <a:spLocks/>
          </p:cNvSpPr>
          <p:nvPr/>
        </p:nvSpPr>
        <p:spPr bwMode="auto">
          <a:xfrm>
            <a:off x="236797" y="2099935"/>
            <a:ext cx="4933719" cy="2646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buFont typeface="Arial" panose="020B0604020202020204" pitchFamily="34" charset="0"/>
              <a:buChar char="•"/>
            </a:pPr>
            <a:r>
              <a:rPr sz="1600" lang="pt-BR"/>
              <a:t>Diretrizes de senha 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600" lang="pt-BR"/>
              <a:t>Use senhas com mais de oito caracteres.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600" lang="pt-BR"/>
              <a:t>Use uma combinação de letras maiúsculas e minúsculas, números, caracteres especiais e/ou sequências numéricas.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600" lang="pt-BR"/>
              <a:t>Evite usar a mesma senha para todos os dispositivos.</a:t>
            </a:r>
          </a:p>
          <a:p>
            <a:pPr lvl="2" rtl="0">
              <a:buFont typeface="Arial" panose="020B0604020202020204" pitchFamily="34" charset="0"/>
              <a:buChar char="•"/>
            </a:pPr>
            <a:r>
              <a:rPr sz="1600" lang="pt-BR"/>
              <a:t>Não use palavras comuns, pois é fácil adivinhá-las.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318200-AE19-D542-A5B9-DE4D452C1D12}"/>
              </a:ext>
            </a:extLst>
          </p:cNvPr>
          <p:cNvSpPr/>
          <p:nvPr/>
        </p:nvSpPr>
        <p:spPr>
          <a:xfrm>
            <a:off x="5098473" y="3508289"/>
            <a:ext cx="404552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sz="1400" lang="pt-BR">
                <a:solidFill>
                  <a:srgbClr val="000000"/>
                </a:solidFill>
                <a:latin typeface="CiscoSans"/>
              </a:rPr>
              <a:t>Observação</a:t>
            </a:r>
            <a:r>
              <a:rPr sz="1400" b="true" lang="pt-BR">
                <a:solidFill>
                  <a:srgbClr val="000000"/>
                </a:solidFill>
                <a:latin typeface="CiscoSans"/>
              </a:rPr>
              <a:t>: a maioria dos laboratórios neste curso usa senhas simples, como </a:t>
            </a:r>
            <a:r>
              <a:rPr sz="1400" lang="pt-BR">
                <a:solidFill>
                  <a:srgbClr val="000000"/>
                </a:solidFill>
                <a:latin typeface="CiscoSans"/>
              </a:rPr>
              <a:t> cisco</a:t>
            </a:r>
            <a:r>
              <a:rPr sz="1400" b="true" lang="pt-BR">
                <a:solidFill>
                  <a:srgbClr val="000000"/>
                </a:solidFill>
                <a:latin typeface="CiscoSans"/>
              </a:rPr>
              <a:t> ou </a:t>
            </a:r>
            <a:r>
              <a:rPr sz="1400" lang="pt-BR">
                <a:solidFill>
                  <a:srgbClr val="000000"/>
                </a:solidFill>
                <a:latin typeface="CiscoSans"/>
              </a:rPr>
              <a:t>class. Essas senhas são consideradas fracas e facilmente adivinháveis e devem ser evitadas nos ambientes de produção.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4F98093-7DB0-3D42-9A83-D2B6958B9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760" y="2045670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35807511"/>
      </p:ext>
    </p:extLst>
  </p:cSld>
  <p:clrMapOvr>
    <a:masterClrMapping/>
  </p:clrMapOvr>
  <p:transition spd="slow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>
                <a:latin typeface="Arial" charset="0"/>
              </a:rPr>
              <a:t>Configuração básica do dispositivo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configurar senhas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356" y="938987"/>
            <a:ext cx="4426644" cy="1865173"/>
          </a:xfrm>
        </p:spPr>
        <p:txBody>
          <a:bodyPr/>
          <a:lstStyle/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/>
              <a:t>Acesso seguro ao modo EXEC do usuário.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400" lang="pt-BR"/>
              <a:t>Primeiro, entre no modo de configuração do console de linha usando o comando </a:t>
            </a:r>
            <a:r>
              <a:rPr sz="1400" b="true" lang="pt-BR"/>
              <a:t>line console 0</a:t>
            </a:r>
            <a:r>
              <a:rPr sz="1400" lang="pt-BR"/>
              <a:t> no modo de configuração global.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400" lang="pt-BR"/>
              <a:t>Em seguida, especifique a senha do modo EXEC usuário com o comando </a:t>
            </a:r>
            <a:r>
              <a:rPr sz="1400" b="true" lang="pt-BR"/>
              <a:t>password </a:t>
            </a:r>
            <a:r>
              <a:rPr sz="1400" i="true" lang="pt-BR"/>
              <a:t>password</a:t>
            </a:r>
            <a:r>
              <a:rPr sz="1400" lang="pt-BR"/>
              <a:t>. 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400" lang="pt-BR"/>
              <a:t>Por fim, use o comando </a:t>
            </a:r>
            <a:r>
              <a:rPr sz="1400" b="true" lang="pt-BR"/>
              <a:t>login</a:t>
            </a:r>
            <a:r>
              <a:rPr sz="1400" lang="pt-BR"/>
              <a:t> para permitir o acesso ao EXEC usuário.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315682D-8C23-7846-94B0-7798DE15A7B5}"/>
              </a:ext>
            </a:extLst>
          </p:cNvPr>
          <p:cNvSpPr txBox="1">
            <a:spLocks/>
          </p:cNvSpPr>
          <p:nvPr/>
        </p:nvSpPr>
        <p:spPr bwMode="auto">
          <a:xfrm>
            <a:off x="145356" y="2944203"/>
            <a:ext cx="4426644" cy="1079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Protegendo o acesso privilegiado no modo EXEC: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300" lang="pt-BR"/>
              <a:t> Primeiro entre no modo de configuração global.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300" lang="pt-BR"/>
              <a:t> Em seguida, use o comando </a:t>
            </a:r>
            <a:r>
              <a:rPr sz="1300" b="true" lang="pt-BR"/>
              <a:t>enable secret</a:t>
            </a:r>
            <a:r>
              <a:rPr sz="1300" i="true" lang="pt-BR"/>
              <a:t>password</a:t>
            </a:r>
            <a:r>
              <a:rPr sz="1300" lang="pt-BR"/>
              <a:t> 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2E8DCB-ADC8-5149-96DE-4E8790F2E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3" y="1223873"/>
            <a:ext cx="3937000" cy="1104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820BD9-091B-B44F-B1C1-A553064ED1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3" y="2944203"/>
            <a:ext cx="3937000" cy="762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74411612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>
                <a:latin typeface="Arial" charset="0"/>
              </a:rPr>
              <a:t>Configuração básica do dispositivo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configurar senhas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356" y="938987"/>
            <a:ext cx="4426644" cy="1865173"/>
          </a:xfrm>
        </p:spPr>
        <p:txBody>
          <a:bodyPr/>
          <a:lstStyle/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sz="1600" lang="pt-BR"/>
              <a:t>Protegendo o acesso à linha VTY: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Primeiro entre no modo de configuração VTY de </a:t>
            </a:r>
            <a:r>
              <a:rPr sz="1600" b="true" lang="pt-BR"/>
              <a:t>linha usando o comando line vty 0 15 </a:t>
            </a:r>
            <a:r>
              <a:rPr sz="1600" lang="pt-BR"/>
              <a:t>no modo de configuração global.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Em seguida, especifique a senha VTY com o comando </a:t>
            </a:r>
            <a:r>
              <a:rPr sz="1600" b="true" lang="pt-BR"/>
              <a:t>password </a:t>
            </a:r>
            <a:r>
              <a:rPr sz="1600" i="true" lang="pt-BR"/>
              <a:t>senha</a:t>
            </a:r>
            <a:r>
              <a:rPr sz="1600" lang="pt-BR"/>
              <a:t>. </a:t>
            </a:r>
          </a:p>
          <a:p>
            <a:pPr lvl="2"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Por fim, use o comando </a:t>
            </a:r>
            <a:r>
              <a:rPr sz="1600" b="true" lang="pt-BR"/>
              <a:t>login</a:t>
            </a:r>
            <a:r>
              <a:rPr sz="1600" lang="pt-BR"/>
              <a:t> para permitir o acesso via VTY.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315682D-8C23-7846-94B0-7798DE15A7B5}"/>
              </a:ext>
            </a:extLst>
          </p:cNvPr>
          <p:cNvSpPr txBox="1">
            <a:spLocks/>
          </p:cNvSpPr>
          <p:nvPr/>
        </p:nvSpPr>
        <p:spPr bwMode="auto">
          <a:xfrm>
            <a:off x="615142" y="3505895"/>
            <a:ext cx="8242329" cy="867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85000"/>
              </a:lnSpc>
              <a:spcBef>
                <a:spcPct val="30000"/>
              </a:spcBef>
            </a:pPr>
            <a:r>
              <a:rPr sz="1600" lang="pt-BR"/>
              <a:t>Observação: As linhas VTY permitem acesso remoto usando Telnet ou SSH ao dispositivo. Muitos switches Cisco são compatíveis com até 16 linhas VTY numeradas de 0 a 15.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2E3DC5-E488-A24E-A130-E6D55646C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060" y="1325473"/>
            <a:ext cx="3937000" cy="1092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79125942"/>
      </p:ext>
    </p:extLst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>
                <a:latin typeface="Arial" charset="0"/>
              </a:rPr>
              <a:t>Configuração básica do dispositivo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Criptografar senhas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357" y="938988"/>
            <a:ext cx="4572000" cy="1286052"/>
          </a:xfrm>
        </p:spPr>
        <p:txBody>
          <a:bodyPr/>
          <a:lstStyle/>
          <a:p>
            <a:pPr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Os arquivos startup-config e running-config exibem a maioria das senhas em texto simples.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Para criptografar senhas, use o comando de configuração global </a:t>
            </a:r>
            <a:r>
              <a:rPr b="true" lang="pt-BR"/>
              <a:t>service password-encryption</a:t>
            </a:r>
            <a:r>
              <a:rPr lang="pt-BR"/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666E54-D88F-184C-BDE9-F1AF6D4B45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57" y="2649220"/>
            <a:ext cx="4572000" cy="776378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E69F5FC-840B-2149-BCA9-4C8674310204}"/>
              </a:ext>
            </a:extLst>
          </p:cNvPr>
          <p:cNvSpPr txBox="1">
            <a:spLocks/>
          </p:cNvSpPr>
          <p:nvPr/>
        </p:nvSpPr>
        <p:spPr bwMode="auto">
          <a:xfrm>
            <a:off x="4815434" y="938988"/>
            <a:ext cx="4040563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Use o comando </a:t>
            </a:r>
            <a:r>
              <a:rPr b="true" lang="pt-BR"/>
              <a:t>show running-config</a:t>
            </a:r>
            <a:r>
              <a:rPr lang="pt-BR"/>
              <a:t> para verificar se as senhas do dispositivo agora estão criptografadas.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0F49EA-017E-5C47-97D3-D4F34278A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515" y="2031878"/>
            <a:ext cx="3200400" cy="20110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1913811"/>
      </p:ext>
    </p:ext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>
                <a:latin typeface="Arial" charset="0"/>
              </a:rPr>
              <a:t>Configuração básica de dispositivos 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Mensagens Banner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357" y="953416"/>
            <a:ext cx="3857686" cy="1656420"/>
          </a:xfrm>
        </p:spPr>
        <p:txBody>
          <a:bodyPr/>
          <a:lstStyle/>
          <a:p>
            <a:pPr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Uma mensagem de banner é importante para avisar que pessoas não autorizadas tentem acessar o dispositivo. </a:t>
            </a:r>
          </a:p>
          <a:p>
            <a:pPr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Para criar uma mensagem de banner do dia em um dispositivo de rede, use o comando de configuração global </a:t>
            </a:r>
            <a:r>
              <a:rPr b="true" lang="pt-BR"/>
              <a:t>banner motd # </a:t>
            </a:r>
            <a:r>
              <a:rPr i="true" lang="pt-BR"/>
              <a:t>A mensagem do dia</a:t>
            </a:r>
            <a:r>
              <a:rPr b="true" lang="pt-BR"/>
              <a:t> # </a:t>
            </a:r>
            <a:r>
              <a:rPr lang="pt-BR"/>
              <a:t>.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05F848-50A9-7F4C-A32B-E10093014FC5}"/>
              </a:ext>
            </a:extLst>
          </p:cNvPr>
          <p:cNvSpPr txBox="1"/>
          <p:nvPr/>
        </p:nvSpPr>
        <p:spPr>
          <a:xfrm>
            <a:off x="145357" y="3019213"/>
            <a:ext cx="38576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400" lang="pt-BR">
                <a:solidFill>
                  <a:srgbClr val="000000"/>
                </a:solidFill>
              </a:rPr>
              <a:t>O “#” na sintaxe do comando é denominado caractere de delimitação. Ele é inserido antes e depois da mensagem.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E83745-1DCA-1047-AA24-24BE15C677FD}"/>
              </a:ext>
            </a:extLst>
          </p:cNvPr>
          <p:cNvSpPr txBox="1"/>
          <p:nvPr/>
        </p:nvSpPr>
        <p:spPr>
          <a:xfrm>
            <a:off x="4268947" y="1849911"/>
            <a:ext cx="48750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sz="1300" lang="pt-BR">
                <a:solidFill>
                  <a:srgbClr val="000000"/>
                </a:solidFill>
              </a:rPr>
              <a:t>O banner será exibido nas tentativas de acessar o dispositivo.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4FB59-A7E8-A948-A91A-1A2DB32D2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119" y="1155127"/>
            <a:ext cx="4114800" cy="441924"/>
          </a:xfrm>
          <a:prstGeom prst="rect">
            <a:avLst/>
          </a:prstGeom>
        </p:spPr>
      </p:pic>
      <p:sp>
        <p:nvSpPr>
          <p:cNvPr id="20" name="Down Arrow 19">
            <a:extLst>
              <a:ext uri="{FF2B5EF4-FFF2-40B4-BE49-F238E27FC236}">
                <a16:creationId xmlns:a16="http://schemas.microsoft.com/office/drawing/2014/main" id="{042AFCFA-3C88-2746-8367-C4F01C2C5180}"/>
              </a:ext>
            </a:extLst>
          </p:cNvPr>
          <p:cNvSpPr/>
          <p:nvPr/>
        </p:nvSpPr>
        <p:spPr>
          <a:xfrm>
            <a:off x="6512558" y="2210830"/>
            <a:ext cx="187961" cy="292389"/>
          </a:xfrm>
          <a:prstGeom prst="downArrow">
            <a:avLst/>
          </a:prstGeom>
          <a:solidFill>
            <a:srgbClr val="36A4D7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C48511-93D1-C14A-B136-4967FBBB0A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0958" y="2571750"/>
            <a:ext cx="2743200" cy="163359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78650258"/>
      </p:ext>
    </p:ext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8872"/>
            <a:ext cx="9144000" cy="592921"/>
          </a:xfrm>
        </p:spPr>
        <p:txBody>
          <a:bodyPr/>
          <a:lstStyle/>
          <a:p>
            <a:pPr rtl="0"/>
            <a:br>
              <a:rPr lang="en-US" altLang="en-US" dirty="0"/>
            </a:br>
            <a:r>
              <a:rPr lang="pt-BR"/>
              <a:t>Vídeo de Configuração Básica do Dispositivo — Acesso Administrativo Seguro a um Switch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57D5E8-2FBB-CF40-8B61-E9D3CCDC75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Este vídeo aborda o seguinte: </a:t>
            </a:r>
          </a:p>
          <a:p>
            <a:pPr lvl="1" rtl="0"/>
            <a:r>
              <a:rPr sz="1500" lang="pt-BR"/>
              <a:t>Acesse a linha de comando para proteger o switch</a:t>
            </a:r>
          </a:p>
          <a:p>
            <a:pPr lvl="1" rtl="0"/>
            <a:r>
              <a:rPr sz="1500" lang="pt-BR"/>
              <a:t>Acesso seguro à porta do console.</a:t>
            </a:r>
          </a:p>
          <a:p>
            <a:pPr lvl="1" rtl="0"/>
            <a:r>
              <a:rPr sz="1500" lang="pt-BR"/>
              <a:t>Acesso seguro ao terminal virtual para acesso remoto</a:t>
            </a:r>
          </a:p>
          <a:p>
            <a:pPr lvl="1" rtl="0"/>
            <a:r>
              <a:rPr sz="1500" lang="pt-BR"/>
              <a:t>Criptografar senhas no switch</a:t>
            </a:r>
          </a:p>
          <a:p>
            <a:pPr lvl="1" rtl="0"/>
            <a:r>
              <a:rPr sz="1500" lang="pt-BR"/>
              <a:t>Configurar a mensagem de banner</a:t>
            </a:r>
          </a:p>
          <a:p>
            <a:pPr lvl="1" rtl="0"/>
            <a:r>
              <a:rPr sz="1500" lang="pt-BR"/>
              <a:t>Verificar as alterações de segurança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8154429"/>
      </p:ext>
    </p:extLst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849120"/>
            <a:ext cx="8280314" cy="8686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2.5 Salvar configurações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6760256"/>
      </p:ext>
    </p:extLst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>
                <a:latin typeface="Arial" charset="0"/>
              </a:rPr>
              <a:t>Salvar configurações 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Arquivos de Configuração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357" y="938988"/>
            <a:ext cx="8853286" cy="1844852"/>
          </a:xfrm>
        </p:spPr>
        <p:txBody>
          <a:bodyPr/>
          <a:lstStyle/>
          <a:p>
            <a:pPr rtl="0"/>
            <a:r>
              <a:rPr lang="pt-BR"/>
              <a:t>Há dois arquivos de sistema que armazenam a configuração do dispositivo:</a:t>
            </a:r>
          </a:p>
          <a:p>
            <a:pPr lvl="2" rtl="0"/>
            <a:r>
              <a:rPr b="true" lang="pt-BR"/>
              <a:t>startup-config</a:t>
            </a:r>
            <a:r>
              <a:rPr lang="pt-BR"/>
              <a:t> - Este é o arquivo de configuração salvo armazenado na NVRAM. Ele contém todos os comandos que serão usados pelo dispositivo na inicialização ou reinicialização. O flash não perde seu conteúdo quando o dispositivo está desligado.</a:t>
            </a:r>
            <a:r>
              <a:rPr b="true" lang="pt-BR"/>
              <a:t> </a:t>
            </a:r>
          </a:p>
          <a:p>
            <a:pPr lvl="2" rtl="0"/>
            <a:r>
              <a:rPr b="true" lang="pt-BR"/>
              <a:t>running-config</a:t>
            </a:r>
            <a:r>
              <a:rPr lang="pt-BR"/>
              <a:t> - Isto é armazenado na memória de acesso aleatório (RAM). Ele reflete a configuração atual. A modificação de uma configuração ativa afeta o funcionamento de um dispositivo Cisco imediatamente. A RAM é uma memória volátil. Ela perde todo o seu conteúdo quando o dispositivo é desligado ou reiniciado.</a:t>
            </a:r>
          </a:p>
          <a:p>
            <a:pPr lvl="2" rtl="0"/>
            <a:r>
              <a:rPr lang="pt-BR"/>
              <a:t>Para salvar as alterações feitas na configuração ativa no arquivo de configuração de inicialização, use o comando do modo EXEC privilegiado </a:t>
            </a:r>
            <a:r>
              <a:rPr b="true" lang="pt-BR"/>
              <a:t>copy running-config startup-config</a:t>
            </a:r>
            <a:r>
              <a:rPr lang="pt-BR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74511C-BFF5-1740-9D8D-5996599CE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49" y="2923884"/>
            <a:ext cx="3797300" cy="1587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10BADB-2ABF-2846-9C26-13D42A9976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351" y="2923884"/>
            <a:ext cx="3797300" cy="1587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01996907"/>
      </p:ext>
    </p:ext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>
                <a:latin typeface="Arial" charset="0"/>
              </a:rPr>
              <a:t>Salvar configurações 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Alterar a configuração de execução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5517" y="798944"/>
            <a:ext cx="4411993" cy="3693972"/>
          </a:xfrm>
        </p:spPr>
        <p:txBody>
          <a:bodyPr/>
          <a:lstStyle/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/>
              <a:t>Se as alterações feitas na configuração em execução não tiverem o efeito desejado e a configuração ainda não foi salva, você poderá restaurar o dispositivo para a configuração anterior. Para fazer isso, você pode: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Remova os comandos alterados individualmente.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Recarregar o dispositivo usando o comando do modo EXEC privilegiado </a:t>
            </a:r>
            <a:r>
              <a:rPr b="true" lang="pt-BR"/>
              <a:t>reload</a:t>
            </a:r>
            <a:r>
              <a:rPr lang="pt-BR"/>
              <a:t>. </a:t>
            </a:r>
            <a:r>
              <a:rPr i="true" lang="pt-BR"/>
              <a:t>Observação: Isso fará com que o dispositivo fique off-line brevemente, levando ao tempo de inatividade da rede. </a:t>
            </a:r>
            <a:r>
              <a:rPr lang="pt-BR"/>
              <a:t> </a:t>
            </a:r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/>
              <a:t>Se as alterações indesejadas foram salvas na startup-config, pode ser necessário limpar todas as configurações usando o comando </a:t>
            </a:r>
            <a:r>
              <a:rPr b="true" lang="pt-BR"/>
              <a:t>erase startup-config</a:t>
            </a:r>
            <a:r>
              <a:rPr lang="pt-BR"/>
              <a:t> no modo EXEC de privilégio. 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Depois de apagar o startup-config, recarregue o dispositivo para limpar o arquivo running-config da RAM.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34B416-7F0C-F94A-8800-45BC8F45B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6492" y="1279716"/>
            <a:ext cx="4403011" cy="5780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51490C5-758B-324F-9836-42699B3824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7510" y="3220977"/>
            <a:ext cx="4411993" cy="6428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6801152"/>
      </p:ext>
    </p:ext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8872"/>
            <a:ext cx="9144000" cy="592921"/>
          </a:xfrm>
        </p:spPr>
        <p:txBody>
          <a:bodyPr/>
          <a:lstStyle/>
          <a:p>
            <a:pPr rtl="0"/>
            <a:r>
              <a:rPr sz="1600" lang="pt-BR"/>
              <a:t>Salvar configurações </a:t>
            </a:r>
            <a:br>
              <a:rPr lang="en-US" altLang="en-US" dirty="0"/>
            </a:br>
            <a:r>
              <a:rPr lang="pt-BR"/>
              <a:t>Vídeo - Alterar a configuração de execução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E217619-873A-8243-BF56-AA8210C3E7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Este vídeo aborda o seguinte: </a:t>
            </a:r>
          </a:p>
          <a:p>
            <a:pPr lvl="1" rtl="0"/>
            <a:r>
              <a:rPr sz="1500" lang="pt-BR"/>
              <a:t>Copie o arquivo running-config para o arquivo startup-config</a:t>
            </a:r>
          </a:p>
          <a:p>
            <a:pPr lvl="1" rtl="0"/>
            <a:r>
              <a:rPr sz="1500" lang="pt-BR"/>
              <a:t>Mostrar os arquivos no diretório flash ou NVRAM</a:t>
            </a:r>
          </a:p>
          <a:p>
            <a:pPr lvl="1" rtl="0"/>
            <a:r>
              <a:rPr sz="1500" lang="pt-BR"/>
              <a:t>Usar encurtamento de comando</a:t>
            </a:r>
          </a:p>
          <a:p>
            <a:pPr lvl="1" rtl="0"/>
            <a:r>
              <a:rPr sz="1500" lang="pt-BR"/>
              <a:t>Apague o arquivo de configuração de inicialização</a:t>
            </a:r>
          </a:p>
          <a:p>
            <a:pPr lvl="1" rtl="0"/>
            <a:r>
              <a:rPr sz="1500" lang="pt-BR"/>
              <a:t>Copie o arquivo start-config para o arquivo running-config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4013740"/>
      </p:ext>
    </p:extLst>
  </p:cSld>
  <p:clrMapOvr>
    <a:masterClrMapping/>
  </p:clrMapOvr>
  <p:transition spd="slow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>
                <a:latin typeface="Arial" charset="0"/>
              </a:rPr>
              <a:t>Salvar configurações </a:t>
            </a:r>
            <a:br>
              <a:rPr lang="en-US" sz="1600" dirty="0">
                <a:latin typeface="Arial" charset="0"/>
              </a:rPr>
            </a:br>
            <a:r>
              <a:rPr lang="pt-BR">
                <a:latin typeface="Arial" charset="0"/>
              </a:rPr>
              <a:t>Capturar a configuração em um arquivo de texto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357" y="1025868"/>
            <a:ext cx="4426643" cy="2606852"/>
          </a:xfrm>
        </p:spPr>
        <p:txBody>
          <a:bodyPr/>
          <a:lstStyle/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/>
              <a:t>Os arquivos de configuração também podem ser salvos e armazenados em um documento de texto. 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b="true" lang="pt-BR"/>
              <a:t>Etapa 1.</a:t>
            </a:r>
            <a:r>
              <a:rPr lang="pt-BR"/>
              <a:t>Abra um software de emulação de terminal, como PuTTY ou Tera Term (Figura 1) que já está conectado a um switch.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b="true" lang="pt-BR"/>
              <a:t>Etapa 2.</a:t>
            </a:r>
            <a:r>
              <a:rPr lang="pt-BR"/>
              <a:t>Ative o registro no software do terminal e atribua um nome e um local para salvar o arquivo de log. A Figura 2 mostra que </a:t>
            </a:r>
            <a:r>
              <a:rPr b="true" lang="pt-BR"/>
              <a:t>All session output</a:t>
            </a:r>
            <a:r>
              <a:rPr lang="pt-BR"/>
              <a:t> será capturado no arquivo especificado (isto é, MySwitchLogs).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6032B8-D700-E144-B6B6-769AEAE14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2303" y="798944"/>
            <a:ext cx="3097246" cy="30607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6712653"/>
      </p:ext>
    </p:extLst>
  </p:cSld>
  <p:clrMapOvr>
    <a:masterClrMapping/>
  </p:clrMapOvr>
  <p:transition spd="slow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Salvar configurações </a:t>
            </a:r>
            <a:r>
              <a:rPr sz="1600" lang="pt-BR">
                <a:latin typeface="Arial" charset="0"/>
              </a:rPr>
              <a:t>Capturar a configuração em um arquivo de texto (continuação)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357" y="1025868"/>
            <a:ext cx="4426643" cy="2032292"/>
          </a:xfrm>
        </p:spPr>
        <p:txBody>
          <a:bodyPr/>
          <a:lstStyle/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b="true" lang="pt-BR"/>
              <a:t>Etapa 3.Execute o comando </a:t>
            </a:r>
            <a:r>
              <a:rPr lang="pt-BR"/>
              <a:t>show running-config</a:t>
            </a:r>
            <a:r>
              <a:rPr b="true" lang="pt-BR"/>
              <a:t> ou </a:t>
            </a:r>
            <a:r>
              <a:rPr lang="pt-BR"/>
              <a:t>show startup-config</a:t>
            </a:r>
            <a:r>
              <a:rPr b="true" lang="pt-BR"/>
              <a:t> </a:t>
            </a:r>
            <a:r>
              <a:rPr lang="pt-BR"/>
              <a:t>no prompt EXEC privilegiado. O texto exibido na janela do terminal será inserido no arquivo escolhido.</a:t>
            </a:r>
            <a:r>
              <a:rPr b="true" lang="pt-BR"/>
              <a:t> 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b="true" lang="pt-BR"/>
              <a:t>Etapa 4.</a:t>
            </a:r>
            <a:r>
              <a:rPr lang="pt-BR"/>
              <a:t>Desative o log no software de terminal. A Figura mostra como desativar o log escolhendo a </a:t>
            </a:r>
            <a:r>
              <a:rPr b="true" lang="pt-BR"/>
              <a:t>opção de log de sessão </a:t>
            </a:r>
            <a:r>
              <a:rPr lang="pt-BR"/>
              <a:t>None</a:t>
            </a:r>
            <a:r>
              <a:rPr b="true" lang="pt-BR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63EBE3-D0C8-1649-B1E6-3A809EA2B12E}"/>
              </a:ext>
            </a:extLst>
          </p:cNvPr>
          <p:cNvSpPr txBox="1"/>
          <p:nvPr/>
        </p:nvSpPr>
        <p:spPr>
          <a:xfrm>
            <a:off x="145357" y="3392887"/>
            <a:ext cx="46443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sz="1400" lang="pt-BR">
                <a:solidFill>
                  <a:srgbClr val="000000"/>
                </a:solidFill>
              </a:rPr>
              <a:t>Nota: O arquivo de texto criado pode ser usado como um registro de como o dispositivo está implementado atualmente. Talvez seja necessário editar o arquivo antes de usá-lo para restaurar uma configuração salva em um dispositivo.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F37528-5FAE-AF40-98B6-5AD607DD44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475" y="1207192"/>
            <a:ext cx="3302000" cy="50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B73C8A3-8D0C-BD49-BC45-77D5A34CE2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0870" y="2123440"/>
            <a:ext cx="2569210" cy="25388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19728335"/>
      </p:ext>
    </p:extLst>
  </p:cSld>
  <p:clrMapOvr>
    <a:masterClrMapping/>
  </p:clrMapOvr>
  <p:transition spd="slow">
    <p:wip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8872"/>
            <a:ext cx="9144000" cy="592921"/>
          </a:xfrm>
        </p:spPr>
        <p:txBody>
          <a:bodyPr/>
          <a:lstStyle/>
          <a:p>
            <a:pPr rtl="0"/>
            <a:r>
              <a:rPr sz="1600" lang="pt-BR"/>
              <a:t>Salvar configurações </a:t>
            </a:r>
            <a:br>
              <a:rPr lang="en-US" altLang="en-US" dirty="0"/>
            </a:br>
            <a:r>
              <a:rPr lang="pt-BR"/>
              <a:t>Packet Tracer: definição das configurações iniciais do switch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Neste Packet Tracer, você fará o seguinte: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Verificar a configuração padrão do switch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Definir uma configuração básica do switch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Configurar um banner MOTD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Salvar os arquivos de configuração na NVRAM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Configurar um segundo Switch</a:t>
            </a:r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979588"/>
      </p:ext>
    </p:extLst>
  </p:cSld>
  <p:clrMapOvr>
    <a:masterClrMapping/>
  </p:clrMapOvr>
  <p:transition spd="slow">
    <p:wip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98320"/>
            <a:ext cx="8280314" cy="9194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2.6 Portas e Endereços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7754946"/>
      </p:ext>
    </p:extLst>
  </p:cSld>
  <p:clrMapOvr>
    <a:masterClrMapping/>
  </p:clrMapOvr>
  <p:transition spd="slow">
    <p:wip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>
                <a:latin typeface="Arial" charset="0"/>
              </a:rPr>
              <a:t>Portas e endereços 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Endereços IP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357" y="878028"/>
            <a:ext cx="4966970" cy="3470452"/>
          </a:xfrm>
        </p:spPr>
        <p:txBody>
          <a:bodyPr/>
          <a:lstStyle/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O uso de endereços IP é o principal meio de permitir que os dispositivos se localizem e estabeleçam comunicação ponto a ponto na Internet. 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A estrutura de um endereço IPv4 é chamada notação decimal com ponto e é representada por quatro números decimais entre 0 e 255.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Uma máscara de sub-rede IPv4 é um valor de 32 bits que diferencia a parte da rede do endereço da parte do host. Juntamente com o endereço IPv4, a máscara de sub-rede determina a qual sub-rede o dispositivo é um membro.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O endereço de gateway padrão é o endereço IP do roteador que o host usará para acessar redes remotas, incluindo a Internet.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712ECD-1A31-894A-9A63-9B7391FF28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789" y="798944"/>
            <a:ext cx="2805347" cy="318597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532378"/>
      </p:ext>
    </p:extLst>
  </p:cSld>
  <p:clrMapOvr>
    <a:masterClrMapping/>
  </p:clrMapOvr>
  <p:transition spd="slow"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>
                <a:latin typeface="Arial" charset="0"/>
              </a:rPr>
              <a:t>Portas e endereços 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Endereços IP (Cont.)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357" y="878028"/>
            <a:ext cx="4426643" cy="2483330"/>
          </a:xfrm>
        </p:spPr>
        <p:txBody>
          <a:bodyPr/>
          <a:lstStyle/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Os endereços IPv6 têm 128 bits e são escritos como uma sequência de valores hexadecimais. A cada quatro bits é representado por um único dígito hexadecimal; para um total de 32 valores hexadecimais. Grupos de quatro dígitos hexadecimais são separados por dois pontos “:”. 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Os endereços IPv6 não diferenciam maiúsculas e minúsculas e podem ser escritos tanto em minúsculas como em maiúsculas.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52806-A70C-3F40-B8E0-3738FD2C1D8A}"/>
              </a:ext>
            </a:extLst>
          </p:cNvPr>
          <p:cNvSpPr/>
          <p:nvPr/>
        </p:nvSpPr>
        <p:spPr>
          <a:xfrm>
            <a:off x="355600" y="3361358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rtl="0"/>
            <a:r>
              <a:rPr sz="1400" b="true" lang="pt-BR">
                <a:solidFill>
                  <a:srgbClr val="000000"/>
                </a:solidFill>
                <a:latin typeface="CiscoSans"/>
              </a:rPr>
              <a:t>Observação</a:t>
            </a:r>
            <a:r>
              <a:rPr sz="1400" lang="pt-BR">
                <a:solidFill>
                  <a:srgbClr val="000000"/>
                </a:solidFill>
                <a:latin typeface="CiscoSans"/>
              </a:rPr>
              <a:t>: neste curso, o termo IP se refere tanto a protocolos IPv4 quanto IPv6. O IPv6 é a versão mais recente do IP e está substituindo o IPv4 mais comum.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6AA326-B67D-1641-A8A7-873233FFD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730" y="798944"/>
            <a:ext cx="3562384" cy="29929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88856760"/>
      </p:ext>
    </p:extLst>
  </p:cSld>
  <p:clrMapOvr>
    <a:masterClrMapping/>
  </p:clrMapOvr>
  <p:transition spd="slow">
    <p:wip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Portas e endereços </a:t>
            </a:r>
            <a:r>
              <a:rPr sz="1600" lang="pt-BR">
                <a:latin typeface="Arial" charset="0"/>
              </a:rPr>
              <a:t>Interfaces e portas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357" y="798944"/>
            <a:ext cx="3976376" cy="3823856"/>
          </a:xfrm>
        </p:spPr>
        <p:txBody>
          <a:bodyPr/>
          <a:lstStyle/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As comunicações em rede dependem de interfaces de dispositivos de usuário final, interfaces de dispositivos de rede e cabos para conectá-las.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Os tipos de meio físico de rede incluem cabos de cobre de par trançado, cabos de fibra óptica, cabos coaxiais ou sem fio.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Diferentes tipos de meio físico de rede oferecem características e benefícios diferentes. Algumas das diferenças entre os vários tipos de meios incluem:</a:t>
            </a:r>
          </a:p>
          <a:p>
            <a:pPr lvl="3" rtl="0">
              <a:spcAft>
                <a:spcPts val="100"/>
              </a:spcAft>
            </a:pPr>
            <a:r>
              <a:rPr lang="pt-BR"/>
              <a:t>A distância pela qual o meio físico consegue carregar um sinal com êxito</a:t>
            </a:r>
          </a:p>
          <a:p>
            <a:pPr lvl="3" rtl="0">
              <a:spcAft>
                <a:spcPts val="100"/>
              </a:spcAft>
            </a:pPr>
            <a:r>
              <a:rPr lang="pt-BR"/>
              <a:t>O ambiente no qual o meio físico deve ser instalado</a:t>
            </a:r>
          </a:p>
          <a:p>
            <a:pPr lvl="3" rtl="0">
              <a:spcAft>
                <a:spcPts val="100"/>
              </a:spcAft>
            </a:pPr>
            <a:r>
              <a:rPr lang="pt-BR"/>
              <a:t>A quantidade e a velocidade de dados nas quais eles devem ser transmitidos</a:t>
            </a:r>
          </a:p>
          <a:p>
            <a:pPr lvl="3" rtl="0">
              <a:spcAft>
                <a:spcPts val="100"/>
              </a:spcAft>
            </a:pPr>
            <a:r>
              <a:rPr lang="pt-BR"/>
              <a:t>O custo do meio físico e da instalação</a:t>
            </a:r>
          </a:p>
          <a:p>
            <a:endParaRPr lang="en-US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D3B82CF-0ABB-FE4B-81D3-C0C9C57EF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733" y="798944"/>
            <a:ext cx="4595547" cy="31327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17726597"/>
      </p:ext>
    </p:extLst>
  </p:cSld>
  <p:clrMapOvr>
    <a:masterClrMapping/>
  </p:clrMapOvr>
  <p:transition spd="slow">
    <p:wip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828800"/>
            <a:ext cx="8280314" cy="88900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2.7 - Configurar endereços IP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1001141"/>
      </p:ext>
    </p:extLst>
  </p:cSld>
  <p:clrMapOvr>
    <a:masterClrMapping/>
  </p:clrMapOvr>
  <p:transition spd="slow">
    <p:wip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>
                <a:latin typeface="Arial" charset="0"/>
              </a:rPr>
              <a:t>Configurar endereços IP 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Configuração manual de endereço IP para dispositivos finais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357" y="938988"/>
            <a:ext cx="5066723" cy="3511092"/>
          </a:xfrm>
        </p:spPr>
        <p:txBody>
          <a:bodyPr/>
          <a:lstStyle/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Os dispositivos finais na rede precisam de um endereço IP para se comunicar com outros dispositivos na rede. 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pt-BR"/>
              <a:t>As informações do endereço IPv4 podem ser inseridas nos dispositivos finais ou automaticamente usando o DHCP (Dynamic Host Configuration Protocol).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Para configurar manualmente um endereço IPv4 em um host do Windows, abra o </a:t>
            </a:r>
            <a:r>
              <a:rPr b="true" lang="pt-BR"/>
              <a:t>Painel de controle &gt; Central de Rede e Compartilhamento &gt; Alterar as configurações</a:t>
            </a:r>
            <a:r>
              <a:rPr lang="pt-BR"/>
              <a:t> do adaptador e escolha o adaptador. Clique com o botão direito e selecione </a:t>
            </a:r>
            <a:r>
              <a:rPr b="true" lang="pt-BR"/>
              <a:t>Propriedades</a:t>
            </a:r>
            <a:r>
              <a:rPr lang="pt-BR"/>
              <a:t> para exibir as </a:t>
            </a:r>
            <a:r>
              <a:rPr b="true" lang="pt-BR"/>
              <a:t>Propriedades da Conexão Local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Depois, Clique em</a:t>
            </a:r>
            <a:r>
              <a:rPr b="true" lang="pt-BR"/>
              <a:t> Propriedades</a:t>
            </a:r>
            <a:r>
              <a:rPr lang="pt-BR"/>
              <a:t> para abrir a janela de</a:t>
            </a:r>
            <a:r>
              <a:rPr b="true" lang="pt-BR"/>
              <a:t> Propriedades do Protocolo IP Versão 4 (TCP/IPv4)</a:t>
            </a:r>
            <a:r>
              <a:rPr lang="pt-BR"/>
              <a:t>. Em seguida, configure o endereço IPv4 e as informações da máscara de sub-rede e o gateway padrão.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FFDA38-6FB0-934C-B537-1EABA2C6C6FB}"/>
              </a:ext>
            </a:extLst>
          </p:cNvPr>
          <p:cNvSpPr/>
          <p:nvPr/>
        </p:nvSpPr>
        <p:spPr>
          <a:xfrm>
            <a:off x="5521613" y="3949232"/>
            <a:ext cx="316045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sz="1400" b="true" lang="pt-BR">
                <a:solidFill>
                  <a:srgbClr val="000000"/>
                </a:solidFill>
                <a:latin typeface="CiscoSans"/>
              </a:rPr>
              <a:t>Observação</a:t>
            </a:r>
            <a:r>
              <a:rPr sz="1400" lang="pt-BR">
                <a:solidFill>
                  <a:srgbClr val="000000"/>
                </a:solidFill>
                <a:latin typeface="CiscoSans"/>
              </a:rPr>
              <a:t>: as opções de endereçamento e configuração IPv6 são semelhantes ao IPv4.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9BBFFA-CC3E-764D-A8A3-A26771642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190" y="938988"/>
            <a:ext cx="2527300" cy="2870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36346141"/>
      </p:ext>
    </p:extLst>
  </p:cSld>
  <p:clrMapOvr>
    <a:masterClrMapping/>
  </p:clrMapOvr>
  <p:transition spd="slow">
    <p:wip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>
                <a:latin typeface="Arial" charset="0"/>
              </a:rPr>
              <a:t>Configurar endereços IP </a:t>
            </a:r>
            <a:br>
              <a:rPr lang="en-US" sz="1400" dirty="0">
                <a:latin typeface="Arial" charset="0"/>
              </a:rPr>
            </a:br>
            <a:r>
              <a:rPr lang="pt-BR">
                <a:latin typeface="Arial" charset="0"/>
              </a:rPr>
              <a:t>Configuração automática de endereço IP para dispositivos finais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357" y="938988"/>
            <a:ext cx="4142163" cy="3663492"/>
          </a:xfrm>
        </p:spPr>
        <p:txBody>
          <a:bodyPr/>
          <a:lstStyle/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O DHCP habilita a configuração automática de endereço IPv4 para todos os dispositivos finais com o DHCP ativo.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600" lang="pt-BR"/>
              <a:t>Os dispositivos finais são normalmente por padrão usando o DHCP para configuração automática de endereço IPv4.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Para configurar manualmente um endereço IPv4 em um host do Windows, abra o </a:t>
            </a:r>
            <a:r>
              <a:rPr b="true" lang="pt-BR"/>
              <a:t>Painel de controle &gt; Central de Rede e Compartilhamento &gt; Alterar as configurações</a:t>
            </a:r>
            <a:r>
              <a:rPr lang="pt-BR"/>
              <a:t> do adaptador e escolha o adaptador. Clique com o botão direito e selecione </a:t>
            </a:r>
            <a:r>
              <a:rPr b="true" lang="pt-BR"/>
              <a:t>Propriedades</a:t>
            </a:r>
            <a:r>
              <a:rPr lang="pt-BR"/>
              <a:t> para exibir as </a:t>
            </a:r>
            <a:r>
              <a:rPr b="true" lang="pt-BR"/>
              <a:t>Propriedades da Conexão Local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Em seguida, clique em </a:t>
            </a:r>
            <a:r>
              <a:rPr b="true" lang="pt-BR"/>
              <a:t>Preferência</a:t>
            </a:r>
            <a:r>
              <a:rPr lang="pt-BR"/>
              <a:t>s para abrir a janela </a:t>
            </a:r>
            <a:r>
              <a:rPr b="true" lang="pt-BR"/>
              <a:t>Propriedades da Internet Protocol Versão 4 (TCP / IPv4)</a:t>
            </a:r>
            <a:r>
              <a:rPr lang="pt-BR"/>
              <a:t> e selecione </a:t>
            </a:r>
            <a:r>
              <a:rPr b="true" lang="pt-BR"/>
              <a:t>Obter um endereço IP automaticamente</a:t>
            </a:r>
            <a:r>
              <a:rPr lang="pt-BR"/>
              <a:t> e </a:t>
            </a:r>
            <a:r>
              <a:rPr b="true" lang="pt-BR"/>
              <a:t>Obter automaticamente o endereço do servidor DNS.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7D8786-A352-1549-ACB6-B3928D449601}"/>
              </a:ext>
            </a:extLst>
          </p:cNvPr>
          <p:cNvSpPr/>
          <p:nvPr/>
        </p:nvSpPr>
        <p:spPr>
          <a:xfrm>
            <a:off x="4856480" y="3961932"/>
            <a:ext cx="41421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sz="1400" b="true" lang="pt-BR">
                <a:solidFill>
                  <a:srgbClr val="000000"/>
                </a:solidFill>
                <a:latin typeface="CiscoSans"/>
              </a:rPr>
              <a:t>Observação</a:t>
            </a:r>
            <a:r>
              <a:rPr sz="1400" lang="pt-BR">
                <a:solidFill>
                  <a:srgbClr val="000000"/>
                </a:solidFill>
                <a:latin typeface="CiscoSans"/>
              </a:rPr>
              <a:t>: o IPv6 usa DHCPv6 e SLAAC (Stateless Address Autoconfiguration) para alocação de endereços dinâmicos.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4E9A44-0E92-5E48-9CDF-6DB173E87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440" y="938988"/>
            <a:ext cx="2540000" cy="2882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36015740"/>
      </p:ext>
    </p:extLst>
  </p:cSld>
  <p:clrMapOvr>
    <a:masterClrMapping/>
  </p:clrMapOvr>
  <p:transition spd="slow">
    <p:wip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>
                <a:latin typeface="Arial" charset="0"/>
              </a:rPr>
              <a:t>Configurar endereços IP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 Interface virtual de switch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61958" y="982574"/>
            <a:ext cx="7820083" cy="1763572"/>
          </a:xfrm>
        </p:spPr>
        <p:txBody>
          <a:bodyPr/>
          <a:lstStyle/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/>
              <a:t>Para acessar o switch remotamente, um endereço IP e uma máscara de sub-rede devem ser configurados na SVI. </a:t>
            </a:r>
          </a:p>
          <a:p>
            <a:pPr marL="0" indent="0" rtl="0">
              <a:lnSpc>
                <a:spcPct val="85000"/>
              </a:lnSpc>
              <a:spcBef>
                <a:spcPct val="30000"/>
              </a:spcBef>
              <a:buNone/>
            </a:pPr>
            <a:r>
              <a:rPr lang="pt-BR"/>
              <a:t>Para configurar um SVI em um switch: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Digite o comando </a:t>
            </a:r>
            <a:r>
              <a:rPr b="true" lang="pt-BR"/>
              <a:t>interface vlan 1</a:t>
            </a:r>
            <a:r>
              <a:rPr lang="pt-BR"/>
              <a:t> no modo de configuração global.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Em seguida, atribua um endereço IPv4 usando o comando </a:t>
            </a:r>
            <a:r>
              <a:rPr b="true" lang="pt-BR"/>
              <a:t>ip address </a:t>
            </a:r>
            <a:r>
              <a:rPr lang="pt-BR"/>
              <a:t> </a:t>
            </a:r>
            <a:r>
              <a:rPr i="true" lang="pt-BR"/>
              <a:t>ip-address subnet-mask.</a:t>
            </a:r>
          </a:p>
          <a:p>
            <a:pPr lvl="1" rtl="0">
              <a:lnSpc>
                <a:spcPct val="85000"/>
              </a:lnSpc>
              <a:spcBef>
                <a:spcPct val="30000"/>
              </a:spcBef>
            </a:pPr>
            <a:r>
              <a:rPr lang="pt-BR"/>
              <a:t>Por fim, ative a interface virtual com o comando de configuração de interface </a:t>
            </a:r>
            <a:r>
              <a:rPr b="true" lang="pt-BR"/>
              <a:t>no shutdown</a:t>
            </a:r>
            <a:r>
              <a:rPr lang="pt-BR"/>
              <a:t>. </a:t>
            </a:r>
          </a:p>
          <a:p>
            <a:pPr>
              <a:lnSpc>
                <a:spcPct val="85000"/>
              </a:lnSpc>
              <a:spcBef>
                <a:spcPct val="30000"/>
              </a:spcBef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AFA39A-A4D6-AC42-B002-4D770021DB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799" y="3203284"/>
            <a:ext cx="5232400" cy="838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93823951"/>
      </p:ext>
    </p:extLst>
  </p:cSld>
  <p:clrMapOvr>
    <a:masterClrMapping/>
  </p:clrMapOvr>
  <p:transition spd="slow">
    <p:wip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8872"/>
            <a:ext cx="9144000" cy="592921"/>
          </a:xfrm>
        </p:spPr>
        <p:txBody>
          <a:bodyPr/>
          <a:lstStyle/>
          <a:p>
            <a:pPr rtl="0"/>
            <a:r>
              <a:rPr sz="1600" lang="pt-BR"/>
              <a:t>Configurar endereços IP </a:t>
            </a:r>
            <a:br>
              <a:rPr lang="en-US" altLang="en-US" sz="1600" dirty="0"/>
            </a:br>
            <a:r>
              <a:rPr lang="pt-BR"/>
              <a:t>Packet Tracer - Implementação da conectividade básica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Neste Packet Tracer, você fará o seguinte: </a:t>
            </a:r>
          </a:p>
          <a:p>
            <a:pPr rtl="0"/>
            <a:r>
              <a:rPr lang="pt-BR"/>
              <a:t>Executar uma configuração básica em dois switches</a:t>
            </a:r>
          </a:p>
          <a:p>
            <a:pPr rtl="0"/>
            <a:r>
              <a:rPr lang="pt-BR"/>
              <a:t>Configurar os PCs</a:t>
            </a:r>
          </a:p>
          <a:p>
            <a:pPr rtl="0"/>
            <a:r>
              <a:rPr lang="pt-BR"/>
              <a:t>Configurar a interface de gerenciamento do switch</a:t>
            </a:r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5222214"/>
      </p:ext>
    </p:extLst>
  </p:cSld>
  <p:clrMapOvr>
    <a:masterClrMapping/>
  </p:clrMapOvr>
  <p:transition spd="slow">
    <p:wip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838960"/>
            <a:ext cx="8231464" cy="878840"/>
          </a:xfrm>
        </p:spPr>
        <p:txBody>
          <a:bodyPr/>
          <a:lstStyle/>
          <a:p>
            <a:pPr rtl="0"/>
            <a:r>
              <a:rPr sz="4000"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2.8 - Verificar a conectividade.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1923369"/>
      </p:ext>
    </p:extLst>
  </p:cSld>
  <p:clrMapOvr>
    <a:masterClrMapping/>
  </p:clrMapOvr>
  <p:transition spd="slow">
    <p:wip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8872"/>
            <a:ext cx="9144000" cy="592921"/>
          </a:xfrm>
        </p:spPr>
        <p:txBody>
          <a:bodyPr/>
          <a:lstStyle/>
          <a:p>
            <a:pPr rtl="0"/>
            <a:r>
              <a:rPr sz="1600" lang="pt-BR"/>
              <a:t>Verificar</a:t>
            </a:r>
            <a:br>
              <a:rPr lang="en-US" altLang="en-US" dirty="0"/>
            </a:br>
            <a:r>
              <a:rPr lang="pt-BR"/>
              <a:t>vídeo de conectividade — teste a atribuição de interface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DFE6A00-3F69-8844-854B-25DE4C1FA2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Este vídeo aborda o seguinte: </a:t>
            </a:r>
          </a:p>
          <a:p>
            <a:pPr rtl="0"/>
            <a:r>
              <a:rPr lang="pt-BR"/>
              <a:t>Conecte um cabo do console do PC ao comutador</a:t>
            </a:r>
          </a:p>
          <a:p>
            <a:pPr rtl="0"/>
            <a:r>
              <a:rPr lang="pt-BR"/>
              <a:t>Use o programa de emulação de terminal e aceite os padrões para levá-lo para a linha de comando</a:t>
            </a:r>
          </a:p>
          <a:p>
            <a:pPr rtl="0"/>
            <a:r>
              <a:rPr lang="pt-BR"/>
              <a:t>Use enable para entrar no modo EXEC privilegiado</a:t>
            </a:r>
          </a:p>
          <a:p>
            <a:pPr rtl="0"/>
            <a:r>
              <a:rPr lang="pt-BR"/>
              <a:t>Use o modo de configuração global e o modo de configuração da interface para inserir o comando no shutdown</a:t>
            </a:r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0792515"/>
      </p:ext>
    </p:extLst>
  </p:cSld>
  <p:clrMapOvr>
    <a:masterClrMapping/>
  </p:clrMapOvr>
  <p:transition spd="slow">
    <p:wip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8872"/>
            <a:ext cx="9144000" cy="592921"/>
          </a:xfrm>
        </p:spPr>
        <p:txBody>
          <a:bodyPr/>
          <a:lstStyle/>
          <a:p>
            <a:pPr rtl="0"/>
            <a:r>
              <a:rPr sz="1600" lang="pt-BR"/>
              <a:t>Vídeo de Verificação </a:t>
            </a:r>
            <a:br>
              <a:rPr lang="en-US" altLang="en-US" dirty="0"/>
            </a:br>
            <a:r>
              <a:rPr lang="pt-BR"/>
              <a:t>de Conectividade - Testar a conectividade de ponta a ponta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B60464C-0A80-A940-A33A-E874557E1C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Este vídeo abordará o uso do comando ping para testar a conectividade em ambos os switches e em ambos os PCs.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4968395"/>
      </p:ext>
    </p:extLst>
  </p:cSld>
  <p:clrMapOvr>
    <a:masterClrMapping/>
  </p:clrMapOvr>
  <p:transition spd="slow">
    <p:wip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2.9 - Módulo Prática e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3862"/>
            <a:ext cx="9144000" cy="592921"/>
          </a:xfrm>
        </p:spPr>
        <p:txBody>
          <a:bodyPr/>
          <a:lstStyle/>
          <a:p>
            <a:pPr rtl="0"/>
            <a:r>
              <a:rPr sz="1600" lang="pt-BR"/>
              <a:t>Módulo Prática e Quiz - </a:t>
            </a:r>
            <a:br>
              <a:rPr lang="en-US" altLang="en-US" sz="1600" dirty="0"/>
            </a:br>
            <a:r>
              <a:rPr lang="pt-BR"/>
              <a:t> Packet Tracer - Configuração básica do switch e do dispositivo final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Neste Packet Tracer, você fará o seguinte:</a:t>
            </a:r>
          </a:p>
          <a:p>
            <a:pPr rtl="0"/>
            <a:r>
              <a:rPr lang="pt-BR"/>
              <a:t>Configurar nomes de host e endereços IP em dois switches</a:t>
            </a:r>
          </a:p>
          <a:p>
            <a:pPr rtl="0"/>
            <a:r>
              <a:rPr lang="pt-BR"/>
              <a:t>Usar comandos do Cisco IOS para especificar ou limitar o acesso às configurações de dispositivo.</a:t>
            </a:r>
          </a:p>
          <a:p>
            <a:pPr rtl="0"/>
            <a:r>
              <a:rPr lang="pt-BR"/>
              <a:t>Usar os comandos do IOS para salvar a configuração atual.</a:t>
            </a:r>
          </a:p>
          <a:p>
            <a:pPr rtl="0"/>
            <a:r>
              <a:rPr lang="pt-BR"/>
              <a:t>Configurar dois dispositivos host com endereços IP.</a:t>
            </a:r>
          </a:p>
          <a:p>
            <a:pPr rtl="0"/>
            <a:r>
              <a:rPr lang="pt-BR"/>
              <a:t>Verificar a conectividade entre os dois dispositivos finais de PC.</a:t>
            </a:r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7446697"/>
      </p:ext>
    </p:extLst>
  </p:cSld>
  <p:clrMapOvr>
    <a:masterClrMapping/>
  </p:clrMapOvr>
  <p:transition spd="slow">
    <p:wip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521439"/>
          </a:xfrm>
        </p:spPr>
        <p:txBody>
          <a:bodyPr/>
          <a:lstStyle/>
          <a:p>
            <a:pPr rtl="0"/>
            <a:r>
              <a:rPr sz="1600" lang="pt-BR"/>
              <a:t>Prática do Módulo e Quiz</a:t>
            </a:r>
            <a:br>
              <a:rPr lang="en-US" altLang="en-US" dirty="0"/>
            </a:br>
            <a:r>
              <a:rPr lang="pt-BR"/>
              <a:t> Packet Tracer - Configuração básica de switch e dispositivo final - Physical Mode</a:t>
            </a:r>
            <a:br>
              <a:rPr lang="en-US" altLang="en-US" dirty="0"/>
            </a:br>
            <a:r>
              <a:rPr lang="pt-BR"/>
              <a:t> Lab - Configuração básica de switch e dispositivo final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913010-55BD-654E-8C45-7CAB421D7C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47337" y="1902618"/>
            <a:ext cx="8649325" cy="2338969"/>
          </a:xfrm>
        </p:spPr>
        <p:txBody>
          <a:bodyPr/>
          <a:lstStyle/>
          <a:p>
            <a:pPr marL="0" indent="0" rtl="0">
              <a:buNone/>
            </a:pPr>
            <a:r>
              <a:rPr lang="pt-BR"/>
              <a:t>Na atividade do modo físico do Packet Tracer e no laboratório, você completará os seguintes objetivos: 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Configurar a topologia de rede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Configurar os hosts PC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pt-BR"/>
              <a:t>Configurar e verificar configurações básicas do switch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6380527"/>
      </p:ext>
    </p:extLst>
  </p:cSld>
  <p:clrMapOvr>
    <a:masterClrMapping/>
  </p:clrMapOvr>
  <p:transition spd="slow">
    <p:wip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sz="1600" lang="pt-BR">
                <a:latin typeface="Arial" charset="0"/>
              </a:rPr>
              <a:t>Módulo Prática e Quiz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O que aprendi neste módulo?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45357" y="798944"/>
            <a:ext cx="5859203" cy="3539376"/>
          </a:xfrm>
        </p:spPr>
        <p:txBody>
          <a:bodyPr/>
          <a:lstStyle/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350" lang="pt-BR"/>
              <a:t>Todos os dispositivos finais e de rede exigem um sistema operacional (SO).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350" lang="pt-BR"/>
              <a:t>O Cisco IOS Software separa o acesso de gerenciamento nos dois modos de comando a seguir: Modo EXEC de usuário e Modo EXEC privilegiado.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350" lang="pt-BR"/>
              <a:t>Esse modo é acessado antes de outros modos de configuração específicos. No modo global de configuração, o usuário pode inserir diferentes modos de subconfiguração.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350" lang="pt-BR"/>
              <a:t>Cada comando do IOS tem uma sintaxe ou formato específico e só pode ser executado no modo apropriado. 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350" lang="pt-BR"/>
              <a:t>Configurações básicas do dispositivo - nome do host, senha, criptografar senhas e banner. 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350" lang="pt-BR"/>
              <a:t>Existem dois arquivos de sistema que armazenam a configuração do dispositivo: startup-config e running-config.</a:t>
            </a:r>
          </a:p>
          <a:p>
            <a:pPr rtl="0"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sz="1350" lang="pt-BR"/>
              <a:t>Os endereços IP permitem que os dispositivos se localizem e estabeleçam comunicação ponto a ponto na Internet. Cada dispositivo final em uma rede deve ser configurado com um endereço IP. </a:t>
            </a:r>
          </a:p>
        </p:txBody>
      </p:sp>
      <p:pic>
        <p:nvPicPr>
          <p:cNvPr id="4098" name="Picture 2" descr="cisco 350x series stackable managed network switches">
            <a:extLst>
              <a:ext uri="{FF2B5EF4-FFF2-40B4-BE49-F238E27FC236}">
                <a16:creationId xmlns:a16="http://schemas.microsoft.com/office/drawing/2014/main" id="{6E891CCD-ED46-944C-8A2C-E9E0C037D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113" y="2825273"/>
            <a:ext cx="2858887" cy="162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 rtl="0"/>
            <a:r>
              <a:rPr sz="1600" lang="pt-BR">
                <a:latin typeface="Arial" charset="0"/>
              </a:rPr>
              <a:t>Módulo 2: Configuração Básica do Switch e do Dispositivo Final: </a:t>
            </a:r>
            <a:br>
              <a:rPr lang="en-US" dirty="0">
                <a:latin typeface="Arial" charset="0"/>
              </a:rPr>
            </a:br>
            <a:r>
              <a:rPr lang="pt-BR">
                <a:latin typeface="Arial" charset="0"/>
              </a:rPr>
              <a:t>Novos Termos e Comandos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2665612"/>
              </p:ext>
            </p:extLst>
          </p:nvPr>
        </p:nvGraphicFramePr>
        <p:xfrm>
          <a:off x="294640" y="650450"/>
          <a:ext cx="8520801" cy="39113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81436">
                  <a:extLst>
                    <a:ext uri="{9D8B030D-6E8A-4147-A177-3AD203B41FA5}">
                      <a16:colId xmlns:a16="http://schemas.microsoft.com/office/drawing/2014/main" val="2731093094"/>
                    </a:ext>
                  </a:extLst>
                </a:gridCol>
                <a:gridCol w="2878224">
                  <a:extLst>
                    <a:ext uri="{9D8B030D-6E8A-4147-A177-3AD203B41FA5}">
                      <a16:colId xmlns:a16="http://schemas.microsoft.com/office/drawing/2014/main" val="2353496225"/>
                    </a:ext>
                  </a:extLst>
                </a:gridCol>
                <a:gridCol w="3061141">
                  <a:extLst>
                    <a:ext uri="{9D8B030D-6E8A-4147-A177-3AD203B41FA5}">
                      <a16:colId xmlns:a16="http://schemas.microsoft.com/office/drawing/2014/main" val="572663217"/>
                    </a:ext>
                  </a:extLst>
                </a:gridCol>
              </a:tblGrid>
              <a:tr h="3911390">
                <a:tc>
                  <a:txBody>
                    <a:bodyPr/>
                    <a:lstStyle/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chemeClr val="tx1"/>
                          </a:solidFill>
                          <a:latin typeface="+mn-lt"/>
                        </a:rPr>
                        <a:t>Sistema Operacional (SO)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chemeClr val="tx1"/>
                          </a:solidFill>
                          <a:latin typeface="+mn-lt"/>
                        </a:rPr>
                        <a:t>CLI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chemeClr val="tx1"/>
                          </a:solidFill>
                          <a:latin typeface="+mn-lt"/>
                        </a:rPr>
                        <a:t>GUI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chemeClr val="tx1"/>
                          </a:solidFill>
                          <a:latin typeface="+mn-lt"/>
                        </a:rPr>
                        <a:t>shell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chemeClr val="tx1"/>
                          </a:solidFill>
                          <a:latin typeface="+mn-lt"/>
                        </a:rPr>
                        <a:t>kernel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chemeClr val="tx1"/>
                          </a:solidFill>
                          <a:latin typeface="+mn-lt"/>
                        </a:rPr>
                        <a:t>hardware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chemeClr val="tx1"/>
                          </a:solidFill>
                          <a:latin typeface="+mn-lt"/>
                        </a:rPr>
                        <a:t>Console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chemeClr val="tx1"/>
                          </a:solidFill>
                          <a:latin typeface="+mn-lt"/>
                        </a:rPr>
                        <a:t>Secure Shell (SSH)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chemeClr val="tx1"/>
                          </a:solidFill>
                          <a:latin typeface="+mn-lt"/>
                        </a:rPr>
                        <a:t>Telnet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chemeClr val="tx1"/>
                          </a:solidFill>
                          <a:latin typeface="+mn-lt"/>
                        </a:rPr>
                        <a:t>Programas de emulação de terminal</a:t>
                      </a:r>
                    </a:p>
                    <a:p>
                      <a:pPr marL="173038" indent="-173038" rtl="0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b="false" lang="pt-BR">
                          <a:solidFill>
                            <a:schemeClr val="tx1"/>
                          </a:solidFill>
                          <a:latin typeface="+mn-lt"/>
                        </a:rPr>
                        <a:t>modo EXEC do usuário</a:t>
                      </a:r>
                    </a:p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400" b="fals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modo EXEC privilegiado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400" b="fals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modo de configuração de linha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400" b="fals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modo de configuração de interface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400" b="fals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Viabilize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400" b="tru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configure terminal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400" b="tru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exit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400" b="tru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finalizar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400" b="fals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argumento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400" b="fals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palavra-chave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400" b="fals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Sintaxe de comando de banner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400" b="tru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ping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400" b="tru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traceroute</a:t>
                      </a:r>
                    </a:p>
                    <a:p>
                      <a:pPr marL="173038" indent="-173038" algn="l" defTabSz="685777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sz="1400" b="fals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comando help "?"</a:t>
                      </a:r>
                    </a:p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400" b="fals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teclas de atalho</a:t>
                      </a:r>
                    </a:p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400" b="tru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nome de host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400" b="tru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Console </a:t>
                      </a:r>
                    </a:p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400" b="tru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enable secret</a:t>
                      </a:r>
                    </a:p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400" b="tru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Linhas VTY </a:t>
                      </a:r>
                    </a:p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400" b="tru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running-config</a:t>
                      </a:r>
                    </a:p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400" b="tru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banner motd</a:t>
                      </a:r>
                    </a:p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400" b="tru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startup-config</a:t>
                      </a:r>
                    </a:p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400" b="tru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running-config</a:t>
                      </a:r>
                    </a:p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400" b="tru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reload</a:t>
                      </a:r>
                    </a:p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400" b="tru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erase startup-config</a:t>
                      </a:r>
                    </a:p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400" b="fals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DHCP</a:t>
                      </a:r>
                    </a:p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400" b="fals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Interface virtual do switch (SVI)</a:t>
                      </a:r>
                    </a:p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400" b="tru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Ipconfig</a:t>
                      </a:r>
                    </a:p>
                    <a:p>
                      <a:pPr marL="173038" marR="0" lvl="0" indent="-173038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sz="1400" b="true" kern="1200" lang="pt-BR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show ip int brief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079501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 xmlns:c15="http://schemas.microsoft.com/office/drawing/2012/chart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8475</TotalTime>
  <Words>6657</Words>
  <Application>Microsoft Office PowerPoint</Application>
  <PresentationFormat>On-screen Show (16:9)</PresentationFormat>
  <Paragraphs>911</Paragraphs>
  <Slides>73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9" baseType="lpstr">
      <vt:lpstr>CiscoSans</vt:lpstr>
      <vt:lpstr>CiscoSans ExtraLight</vt:lpstr>
      <vt:lpstr>Arial</vt:lpstr>
      <vt:lpstr>Calibri</vt:lpstr>
      <vt:lpstr>Wingdings</vt:lpstr>
      <vt:lpstr>Default Theme</vt:lpstr>
      <vt:lpstr>Module 2: Basic Switch and End Device Configuration</vt:lpstr>
      <vt:lpstr>Instructor Materials – Module 2 Planning Guide</vt:lpstr>
      <vt:lpstr>What to Expect in this Module</vt:lpstr>
      <vt:lpstr>What to Expect in this Module (Cont.)</vt:lpstr>
      <vt:lpstr>Check Your Understanding</vt:lpstr>
      <vt:lpstr>Packet Tracer Physical Mode Activities</vt:lpstr>
      <vt:lpstr>Module 2: Activities</vt:lpstr>
      <vt:lpstr>Module 2: Activities (Cont.)</vt:lpstr>
      <vt:lpstr>Module 2: Activities (Cont.)</vt:lpstr>
      <vt:lpstr>Module 2: Best Practices</vt:lpstr>
      <vt:lpstr>Module 2: Best Practices (Cont.) </vt:lpstr>
      <vt:lpstr>Module 2: Best Practices (Cont.) </vt:lpstr>
      <vt:lpstr>Module 2: Best Practices (Cont.) </vt:lpstr>
      <vt:lpstr>Module 2: Basic Switch and End Device Configuration</vt:lpstr>
      <vt:lpstr>Module Objectives</vt:lpstr>
      <vt:lpstr>2.1 Cisco IOS Access</vt:lpstr>
      <vt:lpstr>Cisco IOS Access Operating Systems</vt:lpstr>
      <vt:lpstr>Cisco IOS Access GUI</vt:lpstr>
      <vt:lpstr>Cisco IOS Access Purpose of an OS</vt:lpstr>
      <vt:lpstr>Cisco IOS Access Access Methods</vt:lpstr>
      <vt:lpstr>Cisco IOS Access Terminal Emulation Programs</vt:lpstr>
      <vt:lpstr>2.2 IOS Navigation</vt:lpstr>
      <vt:lpstr>IOS Navigation Primary Command Modes</vt:lpstr>
      <vt:lpstr>IOS Navigation Configuration Mode and Subconfiguration Modes</vt:lpstr>
      <vt:lpstr>IOS Navigation Video – IOS CLI Primary Command Modes</vt:lpstr>
      <vt:lpstr>IOS Navigation Navigation Between IOS Modes</vt:lpstr>
      <vt:lpstr>IOS Navigation Navigation Between IOS Modes (Cont.)</vt:lpstr>
      <vt:lpstr>IOS Navigation Video – Navigation Between IOS Modes</vt:lpstr>
      <vt:lpstr>2.3 The Command Structure</vt:lpstr>
      <vt:lpstr>The Command Structure Basic IOS Command Structure</vt:lpstr>
      <vt:lpstr>The Command Structure IOS Command Syntax Check</vt:lpstr>
      <vt:lpstr>The Command Structure IOS Command Syntax Check (Cont.)</vt:lpstr>
      <vt:lpstr>The Command Structure IOS Help Features</vt:lpstr>
      <vt:lpstr>The Command Structure Video – Context Sensitive Help and Command Syntax Checker</vt:lpstr>
      <vt:lpstr>The Command Structure Hot Keys and Shortcuts</vt:lpstr>
      <vt:lpstr>The Command Structure Hot Keys and Shortcuts (Cont.)</vt:lpstr>
      <vt:lpstr>The Command Structure Hot Keys and Shortcuts (Cont.)</vt:lpstr>
      <vt:lpstr>The Command Structure Video – Hot Keys and Shortcuts</vt:lpstr>
      <vt:lpstr>The Command Structure Packet Tracer – Navigate the IOS</vt:lpstr>
      <vt:lpstr>The Command Structure Packet Tracer - Navigate the IOS by Using Tera Term for Console Connectivity – Physical Mode Lab - Navigate the IOS by Using Tera Term for Console Connectivity</vt:lpstr>
      <vt:lpstr>2.4 Basic Device Configuration</vt:lpstr>
      <vt:lpstr>Basic Device Configuration Device Names</vt:lpstr>
      <vt:lpstr>Basic Device Configuration Password Guidelines</vt:lpstr>
      <vt:lpstr>Basic Device Configuration Configure Passwords</vt:lpstr>
      <vt:lpstr>Basic Device Configuration Configure Passwords (Cont.)</vt:lpstr>
      <vt:lpstr>Basic Device Configuration Encrypt Passwords</vt:lpstr>
      <vt:lpstr>Basic Device Configuration Banner Messages</vt:lpstr>
      <vt:lpstr>Basic Device Configuration Video – Secure Administrative Access to a Switch</vt:lpstr>
      <vt:lpstr>2.5 Save Configurations</vt:lpstr>
      <vt:lpstr>Save Configurations Configuration Files</vt:lpstr>
      <vt:lpstr>Save Configurations Alter the Running Configurations</vt:lpstr>
      <vt:lpstr>Save Configurations Video – Alter the Running Configuration</vt:lpstr>
      <vt:lpstr>Save Configurations Capture Configuration to a Text File</vt:lpstr>
      <vt:lpstr>Save Configurations Capture Configuration to a Text File (Cont.)</vt:lpstr>
      <vt:lpstr>Save Configurations Packet Tracer – Configure Initial Switch Settings</vt:lpstr>
      <vt:lpstr>2.6 Ports and Addresses</vt:lpstr>
      <vt:lpstr>Ports and Addresses IP Addresses</vt:lpstr>
      <vt:lpstr>Ports and Addresses IP Addresses (Cont.)</vt:lpstr>
      <vt:lpstr>Ports and Addresses Interfaces and Ports</vt:lpstr>
      <vt:lpstr>2.7 Configure IP Addressing</vt:lpstr>
      <vt:lpstr>Configure IP Addressing Manual IP Address Configuration for End Devices</vt:lpstr>
      <vt:lpstr>Configure IP Addressing  Automatic IP Address Configuration for End Devices</vt:lpstr>
      <vt:lpstr>Configure IP Addressing Switch Virtual Interface Configuration</vt:lpstr>
      <vt:lpstr>Configure IP Addressing Packet Tracer – Implement Basic Connectivity</vt:lpstr>
      <vt:lpstr>2.8 Verify Connectivity</vt:lpstr>
      <vt:lpstr>Verify Connectivity Video – Test the Interface Assignment</vt:lpstr>
      <vt:lpstr>Verify Connectivity Video – Test End-to-End Connectivity</vt:lpstr>
      <vt:lpstr>2.9 Module Practice and Quiz</vt:lpstr>
      <vt:lpstr>Module Practice and Quiz Packet Tracer – Basic Switch and End Device Configuration</vt:lpstr>
      <vt:lpstr>Module Practice and Quiz Packet Tracer - Basic Switch and End Device Configuration – Physical Mode Lab – Basic Switch and End Device Configuration</vt:lpstr>
      <vt:lpstr>Module Practice and Quiz What did I learn in this module?</vt:lpstr>
      <vt:lpstr>Module 2 : Basic Switch and End Device Configuration New Terms and Commands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Jeff Luman -X (jluman - UNICON INC at Cisco)</cp:lastModifiedBy>
  <cp:revision>229</cp:revision>
  <dcterms:created xsi:type="dcterms:W3CDTF">2019-10-18T06:21:22Z</dcterms:created>
  <dcterms:modified xsi:type="dcterms:W3CDTF">2021-02-03T18:31:38Z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