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4.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5.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6.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7.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8.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19.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tags/tag20.xml" ContentType="application/vnd.openxmlformats-officedocument.presentationml.tags+xml"/>
  <Override PartName="/ppt/notesSlides/notesSlide54.xml" ContentType="application/vnd.openxmlformats-officedocument.presentationml.notesSlide+xml"/>
  <Override PartName="/ppt/tags/tag21.xml" ContentType="application/vnd.openxmlformats-officedocument.presentationml.tags+xml"/>
  <Override PartName="/ppt/notesSlides/notesSlide55.xml" ContentType="application/vnd.openxmlformats-officedocument.presentationml.notesSlide+xml"/>
  <Override PartName="/ppt/tags/tag22.xml" ContentType="application/vnd.openxmlformats-officedocument.presentationml.tags+xml"/>
  <Override PartName="/ppt/notesSlides/notesSlide56.xml" ContentType="application/vnd.openxmlformats-officedocument.presentationml.notesSlide+xml"/>
  <Override PartName="/ppt/tags/tag23.xml" ContentType="application/vnd.openxmlformats-officedocument.presentationml.tags+xml"/>
  <Override PartName="/ppt/notesSlides/notesSlide57.xml" ContentType="application/vnd.openxmlformats-officedocument.presentationml.notesSlide+xml"/>
  <Override PartName="/ppt/tags/tag24.xml" ContentType="application/vnd.openxmlformats-officedocument.presentationml.tags+xml"/>
  <Override PartName="/ppt/notesSlides/notesSlide58.xml" ContentType="application/vnd.openxmlformats-officedocument.presentationml.notesSlide+xml"/>
  <Override PartName="/ppt/tags/tag25.xml" ContentType="application/vnd.openxmlformats-officedocument.presentationml.tags+xml"/>
  <Override PartName="/ppt/notesSlides/notesSlide5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3"/>
  </p:notesMasterIdLst>
  <p:sldIdLst>
    <p:sldId id="513" r:id="rId2"/>
    <p:sldId id="730" r:id="rId3"/>
    <p:sldId id="1070" r:id="rId4"/>
    <p:sldId id="1115" r:id="rId5"/>
    <p:sldId id="1053" r:id="rId6"/>
    <p:sldId id="763" r:id="rId7"/>
    <p:sldId id="1052" r:id="rId8"/>
    <p:sldId id="1069" r:id="rId9"/>
    <p:sldId id="1113" r:id="rId10"/>
    <p:sldId id="876" r:id="rId11"/>
    <p:sldId id="860" r:id="rId12"/>
    <p:sldId id="759" r:id="rId13"/>
    <p:sldId id="1054" r:id="rId14"/>
    <p:sldId id="1055" r:id="rId15"/>
    <p:sldId id="1095" r:id="rId16"/>
    <p:sldId id="1099" r:id="rId17"/>
    <p:sldId id="1097" r:id="rId18"/>
    <p:sldId id="1098" r:id="rId19"/>
    <p:sldId id="1056" r:id="rId20"/>
    <p:sldId id="1057" r:id="rId21"/>
    <p:sldId id="1058" r:id="rId22"/>
    <p:sldId id="1059" r:id="rId23"/>
    <p:sldId id="1060" r:id="rId24"/>
    <p:sldId id="1063" r:id="rId25"/>
    <p:sldId id="1064" r:id="rId26"/>
    <p:sldId id="1065" r:id="rId27"/>
    <p:sldId id="1066" r:id="rId28"/>
    <p:sldId id="1067" r:id="rId29"/>
    <p:sldId id="1071" r:id="rId30"/>
    <p:sldId id="1072" r:id="rId31"/>
    <p:sldId id="1073" r:id="rId32"/>
    <p:sldId id="1074" r:id="rId33"/>
    <p:sldId id="1114" r:id="rId34"/>
    <p:sldId id="1077" r:id="rId35"/>
    <p:sldId id="1078" r:id="rId36"/>
    <p:sldId id="1079" r:id="rId37"/>
    <p:sldId id="1080" r:id="rId38"/>
    <p:sldId id="1081" r:id="rId39"/>
    <p:sldId id="1082" r:id="rId40"/>
    <p:sldId id="1100" r:id="rId41"/>
    <p:sldId id="1101" r:id="rId42"/>
    <p:sldId id="1085" r:id="rId43"/>
    <p:sldId id="1086" r:id="rId44"/>
    <p:sldId id="1102" r:id="rId45"/>
    <p:sldId id="1103" r:id="rId46"/>
    <p:sldId id="1104" r:id="rId47"/>
    <p:sldId id="1105" r:id="rId48"/>
    <p:sldId id="1087" r:id="rId49"/>
    <p:sldId id="1106" r:id="rId50"/>
    <p:sldId id="1107" r:id="rId51"/>
    <p:sldId id="1108" r:id="rId52"/>
    <p:sldId id="1109" r:id="rId53"/>
    <p:sldId id="1110" r:id="rId54"/>
    <p:sldId id="1111" r:id="rId55"/>
    <p:sldId id="1112" r:id="rId56"/>
    <p:sldId id="957" r:id="rId57"/>
    <p:sldId id="1092" r:id="rId58"/>
    <p:sldId id="958" r:id="rId59"/>
    <p:sldId id="1089" r:id="rId60"/>
    <p:sldId id="874" r:id="rId61"/>
    <p:sldId id="291" r:id="rId62"/>
  </p:sldIdLst>
  <p:sldSz cx="9144000" cy="5143500" type="screen16x9"/>
  <p:notesSz cx="6858000" cy="9144000"/>
  <p:custDataLst>
    <p:tags r:id="rId64"/>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D5EDD7-1E7F-5AF0-F78C-4CFFE8F91D1A}" v="53" dt="2020-06-28T23:23:46.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90" autoAdjust="0"/>
    <p:restoredTop sz="77288" autoAdjust="0"/>
  </p:normalViewPr>
  <p:slideViewPr>
    <p:cSldViewPr snapToGrid="0" showGuides="1">
      <p:cViewPr varScale="1">
        <p:scale>
          <a:sx n="68" d="100"/>
          <a:sy n="68" d="100"/>
        </p:scale>
        <p:origin x="1004" y="6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notesViewPr>
    <p:cSldViewPr snapToGrid="0">
      <p:cViewPr varScale="1">
        <p:scale>
          <a:sx n="62" d="100"/>
          <a:sy n="62" d="100"/>
        </p:scale>
        <p:origin x="2184" y="4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lberto Neves Sudre Filho" userId="S::gilberto.neves@faesa.br::d3375f58-c24b-48d7-baef-871d87266953" providerId="AD" clId="Web-{32D5EDD7-1E7F-5AF0-F78C-4CFFE8F91D1A}"/>
    <pc:docChg chg="modSld">
      <pc:chgData name="Gilberto Neves Sudre Filho" userId="S::gilberto.neves@faesa.br::d3375f58-c24b-48d7-baef-871d87266953" providerId="AD" clId="Web-{32D5EDD7-1E7F-5AF0-F78C-4CFFE8F91D1A}" dt="2020-06-28T23:23:46.767" v="52" actId="1076"/>
      <pc:docMkLst>
        <pc:docMk/>
      </pc:docMkLst>
      <pc:sldChg chg="modSp">
        <pc:chgData name="Gilberto Neves Sudre Filho" userId="S::gilberto.neves@faesa.br::d3375f58-c24b-48d7-baef-871d87266953" providerId="AD" clId="Web-{32D5EDD7-1E7F-5AF0-F78C-4CFFE8F91D1A}" dt="2020-06-28T23:22:12.939" v="1" actId="1076"/>
        <pc:sldMkLst>
          <pc:docMk/>
          <pc:sldMk cId="2523690752" sldId="1058"/>
        </pc:sldMkLst>
        <pc:picChg chg="mod">
          <ac:chgData name="Gilberto Neves Sudre Filho" userId="S::gilberto.neves@faesa.br::d3375f58-c24b-48d7-baef-871d87266953" providerId="AD" clId="Web-{32D5EDD7-1E7F-5AF0-F78C-4CFFE8F91D1A}" dt="2020-06-28T23:22:12.939" v="1" actId="1076"/>
          <ac:picMkLst>
            <pc:docMk/>
            <pc:sldMk cId="2523690752" sldId="1058"/>
            <ac:picMk id="2" creationId="{C9ACDF39-5712-4BF3-B35B-6D3163C3B11D}"/>
          </ac:picMkLst>
        </pc:picChg>
      </pc:sldChg>
      <pc:sldChg chg="modSp">
        <pc:chgData name="Gilberto Neves Sudre Filho" userId="S::gilberto.neves@faesa.br::d3375f58-c24b-48d7-baef-871d87266953" providerId="AD" clId="Web-{32D5EDD7-1E7F-5AF0-F78C-4CFFE8F91D1A}" dt="2020-06-28T23:23:22.251" v="50" actId="14100"/>
        <pc:sldMkLst>
          <pc:docMk/>
          <pc:sldMk cId="2666050769" sldId="1087"/>
        </pc:sldMkLst>
        <pc:spChg chg="mod">
          <ac:chgData name="Gilberto Neves Sudre Filho" userId="S::gilberto.neves@faesa.br::d3375f58-c24b-48d7-baef-871d87266953" providerId="AD" clId="Web-{32D5EDD7-1E7F-5AF0-F78C-4CFFE8F91D1A}" dt="2020-06-28T23:23:22.251" v="50" actId="14100"/>
          <ac:spMkLst>
            <pc:docMk/>
            <pc:sldMk cId="2666050769" sldId="1087"/>
            <ac:spMk id="3" creationId="{C02AA8F8-1E43-384B-8982-C0BB94049B5C}"/>
          </ac:spMkLst>
        </pc:spChg>
      </pc:sldChg>
      <pc:sldChg chg="modSp">
        <pc:chgData name="Gilberto Neves Sudre Filho" userId="S::gilberto.neves@faesa.br::d3375f58-c24b-48d7-baef-871d87266953" providerId="AD" clId="Web-{32D5EDD7-1E7F-5AF0-F78C-4CFFE8F91D1A}" dt="2020-06-28T23:22:04.501" v="0" actId="1076"/>
        <pc:sldMkLst>
          <pc:docMk/>
          <pc:sldMk cId="881473659" sldId="1098"/>
        </pc:sldMkLst>
        <pc:spChg chg="mod">
          <ac:chgData name="Gilberto Neves Sudre Filho" userId="S::gilberto.neves@faesa.br::d3375f58-c24b-48d7-baef-871d87266953" providerId="AD" clId="Web-{32D5EDD7-1E7F-5AF0-F78C-4CFFE8F91D1A}" dt="2020-06-28T23:22:04.501" v="0" actId="1076"/>
          <ac:spMkLst>
            <pc:docMk/>
            <pc:sldMk cId="881473659" sldId="1098"/>
            <ac:spMk id="3" creationId="{C02AA8F8-1E43-384B-8982-C0BB94049B5C}"/>
          </ac:spMkLst>
        </pc:spChg>
      </pc:sldChg>
      <pc:sldChg chg="modSp">
        <pc:chgData name="Gilberto Neves Sudre Filho" userId="S::gilberto.neves@faesa.br::d3375f58-c24b-48d7-baef-871d87266953" providerId="AD" clId="Web-{32D5EDD7-1E7F-5AF0-F78C-4CFFE8F91D1A}" dt="2020-06-28T23:23:10.501" v="49" actId="1076"/>
        <pc:sldMkLst>
          <pc:docMk/>
          <pc:sldMk cId="2178463421" sldId="1101"/>
        </pc:sldMkLst>
        <pc:spChg chg="mod">
          <ac:chgData name="Gilberto Neves Sudre Filho" userId="S::gilberto.neves@faesa.br::d3375f58-c24b-48d7-baef-871d87266953" providerId="AD" clId="Web-{32D5EDD7-1E7F-5AF0-F78C-4CFFE8F91D1A}" dt="2020-06-28T23:23:10.501" v="49" actId="1076"/>
          <ac:spMkLst>
            <pc:docMk/>
            <pc:sldMk cId="2178463421" sldId="1101"/>
            <ac:spMk id="7" creationId="{F2DFF1A0-4C70-4946-92A6-AAA29E96E8BD}"/>
          </ac:spMkLst>
        </pc:spChg>
      </pc:sldChg>
      <pc:sldChg chg="modSp">
        <pc:chgData name="Gilberto Neves Sudre Filho" userId="S::gilberto.neves@faesa.br::d3375f58-c24b-48d7-baef-871d87266953" providerId="AD" clId="Web-{32D5EDD7-1E7F-5AF0-F78C-4CFFE8F91D1A}" dt="2020-06-28T23:23:46.767" v="52" actId="1076"/>
        <pc:sldMkLst>
          <pc:docMk/>
          <pc:sldMk cId="2396540309" sldId="1106"/>
        </pc:sldMkLst>
        <pc:spChg chg="mod">
          <ac:chgData name="Gilberto Neves Sudre Filho" userId="S::gilberto.neves@faesa.br::d3375f58-c24b-48d7-baef-871d87266953" providerId="AD" clId="Web-{32D5EDD7-1E7F-5AF0-F78C-4CFFE8F91D1A}" dt="2020-06-28T23:23:46.767" v="52" actId="1076"/>
          <ac:spMkLst>
            <pc:docMk/>
            <pc:sldMk cId="2396540309" sldId="1106"/>
            <ac:spMk id="3" creationId="{C02AA8F8-1E43-384B-8982-C0BB94049B5C}"/>
          </ac:spMkLst>
        </pc:spChg>
        <pc:spChg chg="mod">
          <ac:chgData name="Gilberto Neves Sudre Filho" userId="S::gilberto.neves@faesa.br::d3375f58-c24b-48d7-baef-871d87266953" providerId="AD" clId="Web-{32D5EDD7-1E7F-5AF0-F78C-4CFFE8F91D1A}" dt="2020-06-28T23:23:40.002" v="51" actId="1076"/>
          <ac:spMkLst>
            <pc:docMk/>
            <pc:sldMk cId="2396540309" sldId="1106"/>
            <ac:spMk id="4" creationId="{47C98538-A3BD-9F47-9419-316666EE7D5D}"/>
          </ac:spMkLst>
        </pc:spChg>
      </pc:sldChg>
      <pc:sldChg chg="modSp">
        <pc:chgData name="Gilberto Neves Sudre Filho" userId="S::gilberto.neves@faesa.br::d3375f58-c24b-48d7-baef-871d87266953" providerId="AD" clId="Web-{32D5EDD7-1E7F-5AF0-F78C-4CFFE8F91D1A}" dt="2020-06-28T23:22:44.814" v="47"/>
        <pc:sldMkLst>
          <pc:docMk/>
          <pc:sldMk cId="3081359447" sldId="1114"/>
        </pc:sldMkLst>
        <pc:graphicFrameChg chg="mod modGraphic">
          <ac:chgData name="Gilberto Neves Sudre Filho" userId="S::gilberto.neves@faesa.br::d3375f58-c24b-48d7-baef-871d87266953" providerId="AD" clId="Web-{32D5EDD7-1E7F-5AF0-F78C-4CFFE8F91D1A}" dt="2020-06-28T23:22:44.814" v="47"/>
          <ac:graphicFrameMkLst>
            <pc:docMk/>
            <pc:sldMk cId="3081359447" sldId="1114"/>
            <ac:graphicFrameMk id="5" creationId="{A94BA23F-8399-A849-B4AF-225C585B5893}"/>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a:t>	</a:t>
            </a:r>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7</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8</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9</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endParaRPr lang="en-GB" dirty="0"/>
          </a:p>
        </p:txBody>
      </p:sp>
    </p:spTree>
    <p:extLst>
      <p:ext uri="{BB962C8B-B14F-4D97-AF65-F5344CB8AC3E}">
        <p14:creationId xmlns:p14="http://schemas.microsoft.com/office/powerpoint/2010/main" val="869264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508118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a:t>11</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a:t>14 - Camada de transporte</a:t>
            </a:r>
          </a:p>
          <a:p>
            <a:pPr rtl="0">
              <a:buFontTx/>
              <a:buNone/>
            </a:pPr>
            <a:r>
              <a:rPr lang="pt-BR"/>
              <a:t>14.0.2- O que aprenderei a fazer neste módulo.</a:t>
            </a:r>
          </a:p>
        </p:txBody>
      </p:sp>
    </p:spTree>
    <p:extLst>
      <p:ext uri="{BB962C8B-B14F-4D97-AF65-F5344CB8AC3E}">
        <p14:creationId xmlns:p14="http://schemas.microsoft.com/office/powerpoint/2010/main" val="1734445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14.1 - Transporte de dados</a:t>
            </a:r>
          </a:p>
        </p:txBody>
      </p:sp>
      <p:sp>
        <p:nvSpPr>
          <p:cNvPr id="4" name="Slide Number Placeholder 3"/>
          <p:cNvSpPr>
            <a:spLocks noGrp="1"/>
          </p:cNvSpPr>
          <p:nvPr>
            <p:ph type="sldNum" sz="quarter" idx="10"/>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14.1 - Transporte de dados</a:t>
            </a:r>
          </a:p>
          <a:p>
            <a:pPr rtl="0"/>
            <a:r>
              <a:rPr lang="pt-BR"/>
              <a:t>14.1.1 – Propósito da camada de transporte</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3092312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14.1 - Transporte de dados</a:t>
            </a:r>
          </a:p>
          <a:p>
            <a:pPr rtl="0"/>
            <a:r>
              <a:rPr lang="pt-BR"/>
              <a:t>14.1.2 – Responsabilidades da camada de transporte</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1866435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D2AE65D2-E8A9-4DEA-8D3E-EAE0A86F4E33}"/>
              </a:ext>
            </a:extLst>
          </p:cNvPr>
          <p:cNvSpPr>
            <a:spLocks noGrp="1"/>
          </p:cNvSpPr>
          <p:nvPr>
            <p:ph type="body" idx="1"/>
          </p:nvPr>
        </p:nvSpPr>
        <p:spPr/>
        <p:txBody>
          <a:bodyPr/>
          <a:lstStyle/>
          <a:p>
            <a:pPr rtl="0"/>
            <a:r>
              <a:rPr lang="pt-BR"/>
              <a:t>14 - Camada de transporte</a:t>
            </a:r>
          </a:p>
          <a:p>
            <a:pPr rtl="0"/>
            <a:r>
              <a:rPr lang="pt-BR"/>
              <a:t>14.1 - Transporte de dados</a:t>
            </a:r>
          </a:p>
          <a:p>
            <a:pPr rtl="0"/>
            <a:r>
              <a:rPr lang="pt-BR"/>
              <a:t>14.1.3 – Protocolos de camada de transporte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B27BCDD-D2E0-4E2D-928E-1E27B4BF8740}"/>
              </a:ext>
            </a:extLst>
          </p:cNvPr>
          <p:cNvSpPr>
            <a:spLocks noGrp="1"/>
          </p:cNvSpPr>
          <p:nvPr>
            <p:ph type="body" idx="1"/>
          </p:nvPr>
        </p:nvSpPr>
        <p:spPr/>
        <p:txBody>
          <a:bodyPr/>
          <a:lstStyle/>
          <a:p>
            <a:pPr rtl="0"/>
            <a:r>
              <a:rPr lang="pt-BR"/>
              <a:t>14 - Camada de transporte</a:t>
            </a:r>
          </a:p>
          <a:p>
            <a:pPr rtl="0"/>
            <a:r>
              <a:rPr lang="pt-BR"/>
              <a:t>14.1 - Transporte de dados</a:t>
            </a:r>
          </a:p>
          <a:p>
            <a:pPr rtl="0"/>
            <a:r>
              <a:rPr lang="pt-BR"/>
              <a:t>14.1.4 - Protocolo TCP</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C9878DC3-8B4C-4358-8A3E-EF09D38A27B9}"/>
              </a:ext>
            </a:extLst>
          </p:cNvPr>
          <p:cNvSpPr>
            <a:spLocks noGrp="1"/>
          </p:cNvSpPr>
          <p:nvPr>
            <p:ph type="body" idx="1"/>
          </p:nvPr>
        </p:nvSpPr>
        <p:spPr/>
        <p:txBody>
          <a:bodyPr/>
          <a:lstStyle/>
          <a:p>
            <a:pPr rtl="0"/>
            <a:r>
              <a:rPr lang="pt-BR"/>
              <a:t>14 - Camada de transporte</a:t>
            </a:r>
          </a:p>
          <a:p>
            <a:pPr rtl="0"/>
            <a:r>
              <a:rPr lang="pt-BR"/>
              <a:t>14.1 - Transporte de dados</a:t>
            </a:r>
          </a:p>
          <a:p>
            <a:pPr rtl="0"/>
            <a:r>
              <a:rPr lang="pt-BR"/>
              <a:t>14.1.5 - Protocolo UDP (User Datagram Protocol)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AB12BD5F-4A37-4D96-A8D8-7F4E79363003}"/>
              </a:ext>
            </a:extLst>
          </p:cNvPr>
          <p:cNvSpPr>
            <a:spLocks noGrp="1"/>
          </p:cNvSpPr>
          <p:nvPr>
            <p:ph type="body" idx="1"/>
          </p:nvPr>
        </p:nvSpPr>
        <p:spPr/>
        <p:txBody>
          <a:bodyPr/>
          <a:lstStyle/>
          <a:p>
            <a:pPr rtl="0"/>
            <a:r>
              <a:rPr lang="pt-BR"/>
              <a:t>14 - Camada de transporte</a:t>
            </a:r>
          </a:p>
          <a:p>
            <a:pPr rtl="0"/>
            <a:r>
              <a:rPr lang="pt-BR"/>
              <a:t>14.1 - Transporte de dados</a:t>
            </a:r>
          </a:p>
          <a:p>
            <a:pPr rtl="0"/>
            <a:r>
              <a:rPr lang="pt-BR"/>
              <a:t>14.1.6 - O protocolo de Camada de Transporte Certo para a Aplicação Certa</a:t>
            </a:r>
          </a:p>
          <a:p>
            <a:pPr rtl="0"/>
            <a:r>
              <a:rPr lang="pt-BR"/>
              <a:t>14.1.7 — Verifique a sua Compreensão- Transporte de Dados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14.2 — Visão geral do TCP</a:t>
            </a:r>
          </a:p>
        </p:txBody>
      </p:sp>
      <p:sp>
        <p:nvSpPr>
          <p:cNvPr id="4" name="Slide Number Placeholder 3"/>
          <p:cNvSpPr>
            <a:spLocks noGrp="1"/>
          </p:cNvSpPr>
          <p:nvPr>
            <p:ph type="sldNum" sz="quarter" idx="10"/>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14.2 - TCP Overview</a:t>
            </a:r>
          </a:p>
          <a:p>
            <a:pPr rtl="0"/>
            <a:r>
              <a:rPr lang="pt-BR"/>
              <a:t>14.2.1 – Recursos TCP</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25521254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14.2 - TCP Overview</a:t>
            </a:r>
          </a:p>
          <a:p>
            <a:pPr rtl="0"/>
            <a:r>
              <a:rPr lang="pt-BR"/>
              <a:t>14.2.2 – Cabeçalho TCP</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41730398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14.2 - TCP Overview</a:t>
            </a:r>
          </a:p>
          <a:p>
            <a:pPr rtl="0"/>
            <a:r>
              <a:rPr lang="pt-BR"/>
              <a:t>14.2.3 — Cabeçalho TCP</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41369941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14.2 - TCP Overview</a:t>
            </a:r>
          </a:p>
          <a:p>
            <a:pPr rtl="0"/>
            <a:r>
              <a:rPr lang="pt-BR"/>
              <a:t>14.2.4 - Aplicações que usam TCP</a:t>
            </a:r>
          </a:p>
          <a:p>
            <a:pPr rtl="0"/>
            <a:r>
              <a:rPr lang="pt-BR"/>
              <a:t>14.2.5 Verifique seu entendimento — Visão geral do TCP</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41133187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14.3 — Visão geral do UDP</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9777554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14.3 - Visão geral do UDP</a:t>
            </a:r>
          </a:p>
          <a:p>
            <a:pPr rtl="0"/>
            <a:r>
              <a:rPr lang="pt-BR"/>
              <a:t>14.3.1 - Recursos UDP</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33155708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14.3 - Visão geral do UDP</a:t>
            </a:r>
          </a:p>
          <a:p>
            <a:pPr rtl="0"/>
            <a:r>
              <a:rPr lang="pt-BR"/>
              <a:t>14.3.2 — Cabeçalho UDP</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29810029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14.3 - Visão geral do UDP</a:t>
            </a:r>
          </a:p>
          <a:p>
            <a:pPr rtl="0"/>
            <a:r>
              <a:rPr lang="pt-BR"/>
              <a:t>14.3.3 - Campos de Cabeçalho UDP</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22228829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14.3 - Visão geral do UDP</a:t>
            </a:r>
          </a:p>
          <a:p>
            <a:pPr rtl="0"/>
            <a:r>
              <a:rPr lang="pt-BR"/>
              <a:t>14.3.4 – Aplicações que usam UDP</a:t>
            </a:r>
          </a:p>
          <a:p>
            <a:pPr rtl="0"/>
            <a:r>
              <a:rPr lang="pt-BR"/>
              <a:t>14.3.5 - Verifique seu entendimento — Visão geral do UDP</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33011971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14.4 — Números de Porta</a:t>
            </a:r>
          </a:p>
        </p:txBody>
      </p:sp>
      <p:sp>
        <p:nvSpPr>
          <p:cNvPr id="4" name="Slide Number Placeholder 3"/>
          <p:cNvSpPr>
            <a:spLocks noGrp="1"/>
          </p:cNvSpPr>
          <p:nvPr>
            <p:ph type="sldNum" sz="quarter" idx="10"/>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8155192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14.4 — Números de Porta</a:t>
            </a:r>
          </a:p>
          <a:p>
            <a:pPr rtl="0"/>
            <a:r>
              <a:rPr lang="pt-BR"/>
              <a:t>14.4.1 - Várias comunicações separadas</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8278725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14.4 — Números de Porta</a:t>
            </a:r>
          </a:p>
          <a:p>
            <a:pPr rtl="0"/>
            <a:r>
              <a:rPr lang="pt-BR"/>
              <a:t>14.4.2 - Pares de Sockets</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11347312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14.4 — Números de Porta</a:t>
            </a:r>
          </a:p>
          <a:p>
            <a:pPr rtl="0"/>
            <a:r>
              <a:rPr lang="pt-BR"/>
              <a:t>14.4.3 - Grupos de Números de Porta</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8900367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14.4 — Números de Porta</a:t>
            </a:r>
          </a:p>
          <a:p>
            <a:pPr rtl="0"/>
            <a:r>
              <a:rPr lang="pt-BR"/>
              <a:t>14.4.3 - Grupos de números de porta (Cont.)</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14860620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14.4 — Números de Porta</a:t>
            </a:r>
          </a:p>
          <a:p>
            <a:pPr rtl="0"/>
            <a:r>
              <a:rPr lang="pt-BR"/>
              <a:t>14.4.4 - O Comando netstat</a:t>
            </a:r>
          </a:p>
          <a:p>
            <a:pPr rtl="0"/>
            <a:r>
              <a:rPr lang="pt-BR"/>
              <a:t>14.4.5 — Verifique seu entendimento — Números de porta</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14120748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14.5 – Processo de comunicação TCP</a:t>
            </a:r>
          </a:p>
        </p:txBody>
      </p:sp>
      <p:sp>
        <p:nvSpPr>
          <p:cNvPr id="4" name="Slide Number Placeholder 3"/>
          <p:cNvSpPr>
            <a:spLocks noGrp="1"/>
          </p:cNvSpPr>
          <p:nvPr>
            <p:ph type="sldNum" sz="quarter" idx="10"/>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12009606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14.5 – Processo de comunicação TCP</a:t>
            </a:r>
          </a:p>
          <a:p>
            <a:pPr rtl="0"/>
            <a:r>
              <a:rPr lang="pt-BR"/>
              <a:t>14.5.1 - Processos em Servidores TCP</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610095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14.5 – Processo de comunicação TCP</a:t>
            </a:r>
          </a:p>
          <a:p>
            <a:pPr rtl="0"/>
            <a:r>
              <a:rPr lang="pt-BR"/>
              <a:t>14.5.2 - Estabelecimento de Conexão TCP</a:t>
            </a:r>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8782842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14.5 – Processo de comunicação TCP</a:t>
            </a:r>
          </a:p>
          <a:p>
            <a:pPr rtl="0"/>
            <a:r>
              <a:rPr lang="pt-BR"/>
              <a:t>14.5.3 - Encerramento da Sessão</a:t>
            </a:r>
          </a:p>
        </p:txBody>
      </p:sp>
      <p:sp>
        <p:nvSpPr>
          <p:cNvPr id="4" name="Slide Number Placeholder 3"/>
          <p:cNvSpPr>
            <a:spLocks noGrp="1"/>
          </p:cNvSpPr>
          <p:nvPr>
            <p:ph type="sldNum" sz="quarter" idx="5"/>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3186482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14.5 – Processo de comunicação TCP</a:t>
            </a:r>
          </a:p>
          <a:p>
            <a:pPr rtl="0"/>
            <a:r>
              <a:rPr lang="pt-BR"/>
              <a:t>14.5.4 — Estabelecimento de aperto de mão de três vias</a:t>
            </a:r>
          </a:p>
        </p:txBody>
      </p:sp>
      <p:sp>
        <p:nvSpPr>
          <p:cNvPr id="4" name="Slide Number Placeholder 3"/>
          <p:cNvSpPr>
            <a:spLocks noGrp="1"/>
          </p:cNvSpPr>
          <p:nvPr>
            <p:ph type="sldNum" sz="quarter" idx="5"/>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6055409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14.5 – Processo de comunicação TCP</a:t>
            </a:r>
          </a:p>
          <a:p>
            <a:pPr rtl="0"/>
            <a:r>
              <a:rPr lang="pt-BR"/>
              <a:t>14.5.4 - Análise do Handshake Triplo do TCP</a:t>
            </a:r>
          </a:p>
        </p:txBody>
      </p:sp>
      <p:sp>
        <p:nvSpPr>
          <p:cNvPr id="4" name="Slide Number Placeholder 3"/>
          <p:cNvSpPr>
            <a:spLocks noGrp="1"/>
          </p:cNvSpPr>
          <p:nvPr>
            <p:ph type="sldNum" sz="quarter" idx="5"/>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34056580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14.5 – Processo de comunicação TCP</a:t>
            </a:r>
          </a:p>
          <a:p>
            <a:pPr rtl="0"/>
            <a:r>
              <a:rPr lang="pt-BR"/>
              <a:t>14.5.5 - Análise do Aperto de mãos Triplo do TCP</a:t>
            </a:r>
          </a:p>
          <a:p>
            <a:pPr rtl="0"/>
            <a:r>
              <a:rPr lang="pt-BR"/>
              <a:t>14.5.6 — Verifique seu entendimento - Processo de comunicação TCP</a:t>
            </a:r>
          </a:p>
        </p:txBody>
      </p:sp>
      <p:sp>
        <p:nvSpPr>
          <p:cNvPr id="4" name="Slide Number Placeholder 3"/>
          <p:cNvSpPr>
            <a:spLocks noGrp="1"/>
          </p:cNvSpPr>
          <p:nvPr>
            <p:ph type="sldNum" sz="quarter" idx="5"/>
          </p:nvPr>
        </p:nvSpPr>
        <p:spPr/>
        <p:txBody>
          <a:bodyPr/>
          <a:lstStyle/>
          <a:p>
            <a:pPr rtl="0"/>
            <a:fld id="{5641018C-6CAF-B84E-B92C-ECB119457FBA}" type="slidenum">
              <a:rPr/>
              <a:t>41</a:t>
            </a:fld>
            <a:endParaRPr/>
          </a:p>
        </p:txBody>
      </p:sp>
    </p:spTree>
    <p:extLst>
      <p:ext uri="{BB962C8B-B14F-4D97-AF65-F5344CB8AC3E}">
        <p14:creationId xmlns:p14="http://schemas.microsoft.com/office/powerpoint/2010/main" val="21676416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14.6 – Controle de fluxo e confiabilidade</a:t>
            </a:r>
          </a:p>
        </p:txBody>
      </p:sp>
      <p:sp>
        <p:nvSpPr>
          <p:cNvPr id="4" name="Slide Number Placeholder 3"/>
          <p:cNvSpPr>
            <a:spLocks noGrp="1"/>
          </p:cNvSpPr>
          <p:nvPr>
            <p:ph type="sldNum" sz="quarter" idx="10"/>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17190075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14.6 – Controle de fluxo e confiabilidade</a:t>
            </a:r>
          </a:p>
          <a:p>
            <a:pPr rtl="0"/>
            <a:r>
              <a:rPr lang="pt-BR"/>
              <a:t>14.6.1 - Confiabilidade do TCP - Entrega garantida e solicitada</a:t>
            </a:r>
          </a:p>
        </p:txBody>
      </p:sp>
      <p:sp>
        <p:nvSpPr>
          <p:cNvPr id="4" name="Slide Number Placeholder 3"/>
          <p:cNvSpPr>
            <a:spLocks noGrp="1"/>
          </p:cNvSpPr>
          <p:nvPr>
            <p:ph type="sldNum" sz="quarter" idx="5"/>
          </p:nvPr>
        </p:nvSpPr>
        <p:spPr/>
        <p:txBody>
          <a:bodyPr/>
          <a:lstStyle/>
          <a:p>
            <a:pPr rtl="0"/>
            <a:fld id="{5641018C-6CAF-B84E-B92C-ECB119457FBA}" type="slidenum">
              <a:rPr/>
              <a:t>43</a:t>
            </a:fld>
            <a:endParaRPr/>
          </a:p>
        </p:txBody>
      </p:sp>
    </p:spTree>
    <p:extLst>
      <p:ext uri="{BB962C8B-B14F-4D97-AF65-F5344CB8AC3E}">
        <p14:creationId xmlns:p14="http://schemas.microsoft.com/office/powerpoint/2010/main" val="37829707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14.6 – Controle de fluxo e confiabilidade</a:t>
            </a:r>
          </a:p>
          <a:p>
            <a:pPr rtl="0"/>
            <a:r>
              <a:rPr lang="pt-BR"/>
              <a:t>14.6.2 - Vídeo - Confiabilidade do TCP - Números de seqüência e Confirmações</a:t>
            </a:r>
          </a:p>
        </p:txBody>
      </p:sp>
      <p:sp>
        <p:nvSpPr>
          <p:cNvPr id="4" name="Slide Number Placeholder 3"/>
          <p:cNvSpPr>
            <a:spLocks noGrp="1"/>
          </p:cNvSpPr>
          <p:nvPr>
            <p:ph type="sldNum" sz="quarter" idx="5"/>
          </p:nvPr>
        </p:nvSpPr>
        <p:spPr/>
        <p:txBody>
          <a:bodyPr/>
          <a:lstStyle/>
          <a:p>
            <a:pPr rtl="0"/>
            <a:fld id="{5641018C-6CAF-B84E-B92C-ECB119457FBA}" type="slidenum">
              <a:rPr/>
              <a:t>44</a:t>
            </a:fld>
            <a:endParaRPr/>
          </a:p>
        </p:txBody>
      </p:sp>
    </p:spTree>
    <p:extLst>
      <p:ext uri="{BB962C8B-B14F-4D97-AF65-F5344CB8AC3E}">
        <p14:creationId xmlns:p14="http://schemas.microsoft.com/office/powerpoint/2010/main" val="22083171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14.6 – Controle de fluxo e confiabilidade</a:t>
            </a:r>
          </a:p>
          <a:p>
            <a:pPr rtl="0"/>
            <a:r>
              <a:rPr lang="pt-BR"/>
              <a:t>14.6.3 - Confiabilidade do TCP - perda de dados e retransmissão</a:t>
            </a:r>
          </a:p>
        </p:txBody>
      </p:sp>
      <p:sp>
        <p:nvSpPr>
          <p:cNvPr id="4" name="Slide Number Placeholder 3"/>
          <p:cNvSpPr>
            <a:spLocks noGrp="1"/>
          </p:cNvSpPr>
          <p:nvPr>
            <p:ph type="sldNum" sz="quarter" idx="5"/>
          </p:nvPr>
        </p:nvSpPr>
        <p:spPr/>
        <p:txBody>
          <a:bodyPr/>
          <a:lstStyle/>
          <a:p>
            <a:pPr rtl="0"/>
            <a:fld id="{5641018C-6CAF-B84E-B92C-ECB119457FBA}" type="slidenum">
              <a:rPr/>
              <a:t>45</a:t>
            </a:fld>
            <a:endParaRPr/>
          </a:p>
        </p:txBody>
      </p:sp>
    </p:spTree>
    <p:extLst>
      <p:ext uri="{BB962C8B-B14F-4D97-AF65-F5344CB8AC3E}">
        <p14:creationId xmlns:p14="http://schemas.microsoft.com/office/powerpoint/2010/main" val="6081174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14.6 – Controle de fluxo e confiabilidade</a:t>
            </a:r>
          </a:p>
          <a:p>
            <a:pPr rtl="0"/>
            <a:r>
              <a:rPr lang="pt-BR"/>
              <a:t>14.6.3 - Confiabilidade do TCP - perda de dados e retransmissão (Cont.)</a:t>
            </a:r>
          </a:p>
        </p:txBody>
      </p:sp>
      <p:sp>
        <p:nvSpPr>
          <p:cNvPr id="4" name="Slide Number Placeholder 3"/>
          <p:cNvSpPr>
            <a:spLocks noGrp="1"/>
          </p:cNvSpPr>
          <p:nvPr>
            <p:ph type="sldNum" sz="quarter" idx="5"/>
          </p:nvPr>
        </p:nvSpPr>
        <p:spPr/>
        <p:txBody>
          <a:bodyPr/>
          <a:lstStyle/>
          <a:p>
            <a:pPr rtl="0"/>
            <a:fld id="{5641018C-6CAF-B84E-B92C-ECB119457FBA}" type="slidenum">
              <a:rPr/>
              <a:t>46</a:t>
            </a:fld>
            <a:endParaRPr/>
          </a:p>
        </p:txBody>
      </p:sp>
    </p:spTree>
    <p:extLst>
      <p:ext uri="{BB962C8B-B14F-4D97-AF65-F5344CB8AC3E}">
        <p14:creationId xmlns:p14="http://schemas.microsoft.com/office/powerpoint/2010/main" val="27746991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14.6 – Controle de fluxo e confiabilidade</a:t>
            </a:r>
          </a:p>
          <a:p>
            <a:pPr rtl="0"/>
            <a:r>
              <a:rPr lang="pt-BR"/>
              <a:t>14.6.4 - Vídeo - Confiabilidade TCP - Perda e retransmissão de dados</a:t>
            </a:r>
          </a:p>
        </p:txBody>
      </p:sp>
      <p:sp>
        <p:nvSpPr>
          <p:cNvPr id="4" name="Slide Number Placeholder 3"/>
          <p:cNvSpPr>
            <a:spLocks noGrp="1"/>
          </p:cNvSpPr>
          <p:nvPr>
            <p:ph type="sldNum" sz="quarter" idx="5"/>
          </p:nvPr>
        </p:nvSpPr>
        <p:spPr/>
        <p:txBody>
          <a:bodyPr/>
          <a:lstStyle/>
          <a:p>
            <a:pPr rtl="0"/>
            <a:fld id="{5641018C-6CAF-B84E-B92C-ECB119457FBA}" type="slidenum">
              <a:rPr/>
              <a:t>47</a:t>
            </a:fld>
            <a:endParaRPr/>
          </a:p>
        </p:txBody>
      </p:sp>
    </p:spTree>
    <p:extLst>
      <p:ext uri="{BB962C8B-B14F-4D97-AF65-F5344CB8AC3E}">
        <p14:creationId xmlns:p14="http://schemas.microsoft.com/office/powerpoint/2010/main" val="13131771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14.6 – Controle de fluxo e confiabilidade</a:t>
            </a:r>
          </a:p>
          <a:p>
            <a:pPr rtl="0"/>
            <a:r>
              <a:rPr lang="pt-BR"/>
              <a:t>14.6.5 – Controle de Fluxo TCP – Tamanho da janela e confirmações</a:t>
            </a:r>
          </a:p>
        </p:txBody>
      </p:sp>
      <p:sp>
        <p:nvSpPr>
          <p:cNvPr id="4" name="Slide Number Placeholder 3"/>
          <p:cNvSpPr>
            <a:spLocks noGrp="1"/>
          </p:cNvSpPr>
          <p:nvPr>
            <p:ph type="sldNum" sz="quarter" idx="5"/>
          </p:nvPr>
        </p:nvSpPr>
        <p:spPr/>
        <p:txBody>
          <a:bodyPr/>
          <a:lstStyle/>
          <a:p>
            <a:pPr rtl="0"/>
            <a:fld id="{5641018C-6CAF-B84E-B92C-ECB119457FBA}" type="slidenum">
              <a:rPr/>
              <a:t>48</a:t>
            </a:fld>
            <a:endParaRPr/>
          </a:p>
        </p:txBody>
      </p:sp>
    </p:spTree>
    <p:extLst>
      <p:ext uri="{BB962C8B-B14F-4D97-AF65-F5344CB8AC3E}">
        <p14:creationId xmlns:p14="http://schemas.microsoft.com/office/powerpoint/2010/main" val="34923342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14.6 – Controle de fluxo e confiabilidade</a:t>
            </a:r>
          </a:p>
          <a:p>
            <a:pPr rtl="0"/>
            <a:r>
              <a:rPr lang="pt-BR"/>
              <a:t>14.6.6 — Controle de fluxo TCP — Tamanho Máximo do Segmento (MSS)</a:t>
            </a:r>
          </a:p>
        </p:txBody>
      </p:sp>
      <p:sp>
        <p:nvSpPr>
          <p:cNvPr id="4" name="Slide Number Placeholder 3"/>
          <p:cNvSpPr>
            <a:spLocks noGrp="1"/>
          </p:cNvSpPr>
          <p:nvPr>
            <p:ph type="sldNum" sz="quarter" idx="5"/>
          </p:nvPr>
        </p:nvSpPr>
        <p:spPr/>
        <p:txBody>
          <a:bodyPr/>
          <a:lstStyle/>
          <a:p>
            <a:pPr rtl="0"/>
            <a:fld id="{5641018C-6CAF-B84E-B92C-ECB119457FBA}" type="slidenum">
              <a:rPr/>
              <a:t>49</a:t>
            </a:fld>
            <a:endParaRPr/>
          </a:p>
        </p:txBody>
      </p:sp>
    </p:spTree>
    <p:extLst>
      <p:ext uri="{BB962C8B-B14F-4D97-AF65-F5344CB8AC3E}">
        <p14:creationId xmlns:p14="http://schemas.microsoft.com/office/powerpoint/2010/main" val="2221130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14.6 – Controle de fluxo e confiabilidade</a:t>
            </a:r>
          </a:p>
          <a:p>
            <a:pPr rtl="0"/>
            <a:r>
              <a:rPr lang="pt-BR"/>
              <a:t>14.6.7 – Controle de fluxo do TCP - Prevenção de congestionamento</a:t>
            </a:r>
          </a:p>
          <a:p>
            <a:pPr rtl="0"/>
            <a:r>
              <a:rPr lang="pt-BR"/>
              <a:t>14.6.8 — Verifique se você entende — confiabilidade e controle de fluxo</a:t>
            </a:r>
          </a:p>
        </p:txBody>
      </p:sp>
      <p:sp>
        <p:nvSpPr>
          <p:cNvPr id="4" name="Slide Number Placeholder 3"/>
          <p:cNvSpPr>
            <a:spLocks noGrp="1"/>
          </p:cNvSpPr>
          <p:nvPr>
            <p:ph type="sldNum" sz="quarter" idx="5"/>
          </p:nvPr>
        </p:nvSpPr>
        <p:spPr/>
        <p:txBody>
          <a:bodyPr/>
          <a:lstStyle/>
          <a:p>
            <a:pPr rtl="0"/>
            <a:fld id="{5641018C-6CAF-B84E-B92C-ECB119457FBA}" type="slidenum">
              <a:rPr/>
              <a:t>50</a:t>
            </a:fld>
            <a:endParaRPr/>
          </a:p>
        </p:txBody>
      </p:sp>
    </p:spTree>
    <p:extLst>
      <p:ext uri="{BB962C8B-B14F-4D97-AF65-F5344CB8AC3E}">
        <p14:creationId xmlns:p14="http://schemas.microsoft.com/office/powerpoint/2010/main" val="20246334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14.7 - Comunicação UDP</a:t>
            </a:r>
          </a:p>
        </p:txBody>
      </p:sp>
      <p:sp>
        <p:nvSpPr>
          <p:cNvPr id="4" name="Slide Number Placeholder 3"/>
          <p:cNvSpPr>
            <a:spLocks noGrp="1"/>
          </p:cNvSpPr>
          <p:nvPr>
            <p:ph type="sldNum" sz="quarter" idx="10"/>
          </p:nvPr>
        </p:nvSpPr>
        <p:spPr/>
        <p:txBody>
          <a:bodyPr/>
          <a:lstStyle/>
          <a:p>
            <a:pPr rtl="0"/>
            <a:fld id="{5641018C-6CAF-B84E-B92C-ECB119457FBA}" type="slidenum">
              <a:rPr/>
              <a:t>51</a:t>
            </a:fld>
            <a:endParaRPr/>
          </a:p>
        </p:txBody>
      </p:sp>
    </p:spTree>
    <p:extLst>
      <p:ext uri="{BB962C8B-B14F-4D97-AF65-F5344CB8AC3E}">
        <p14:creationId xmlns:p14="http://schemas.microsoft.com/office/powerpoint/2010/main" val="12912282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14.7 - Comunicação UDP</a:t>
            </a:r>
          </a:p>
          <a:p>
            <a:pPr rtl="0"/>
            <a:r>
              <a:rPr lang="pt-BR"/>
              <a:t>14.7.1 - Baixa Sobrecarga do UDP Versus Confiabilidade</a:t>
            </a:r>
          </a:p>
        </p:txBody>
      </p:sp>
      <p:sp>
        <p:nvSpPr>
          <p:cNvPr id="4" name="Slide Number Placeholder 3"/>
          <p:cNvSpPr>
            <a:spLocks noGrp="1"/>
          </p:cNvSpPr>
          <p:nvPr>
            <p:ph type="sldNum" sz="quarter" idx="5"/>
          </p:nvPr>
        </p:nvSpPr>
        <p:spPr/>
        <p:txBody>
          <a:bodyPr/>
          <a:lstStyle/>
          <a:p>
            <a:pPr rtl="0"/>
            <a:fld id="{5641018C-6CAF-B84E-B92C-ECB119457FBA}" type="slidenum">
              <a:rPr/>
              <a:t>52</a:t>
            </a:fld>
            <a:endParaRPr/>
          </a:p>
        </p:txBody>
      </p:sp>
    </p:spTree>
    <p:extLst>
      <p:ext uri="{BB962C8B-B14F-4D97-AF65-F5344CB8AC3E}">
        <p14:creationId xmlns:p14="http://schemas.microsoft.com/office/powerpoint/2010/main" val="12585565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14.7 - Comunicação UDP</a:t>
            </a:r>
          </a:p>
          <a:p>
            <a:pPr rtl="0"/>
            <a:r>
              <a:rPr lang="pt-BR"/>
              <a:t>14.7.2 – Reagrupamento do datagrama UDP</a:t>
            </a:r>
          </a:p>
        </p:txBody>
      </p:sp>
      <p:sp>
        <p:nvSpPr>
          <p:cNvPr id="4" name="Slide Number Placeholder 3"/>
          <p:cNvSpPr>
            <a:spLocks noGrp="1"/>
          </p:cNvSpPr>
          <p:nvPr>
            <p:ph type="sldNum" sz="quarter" idx="5"/>
          </p:nvPr>
        </p:nvSpPr>
        <p:spPr/>
        <p:txBody>
          <a:bodyPr/>
          <a:lstStyle/>
          <a:p>
            <a:pPr rtl="0"/>
            <a:fld id="{5641018C-6CAF-B84E-B92C-ECB119457FBA}" type="slidenum">
              <a:rPr/>
              <a:t>53</a:t>
            </a:fld>
            <a:endParaRPr/>
          </a:p>
        </p:txBody>
      </p:sp>
    </p:spTree>
    <p:extLst>
      <p:ext uri="{BB962C8B-B14F-4D97-AF65-F5344CB8AC3E}">
        <p14:creationId xmlns:p14="http://schemas.microsoft.com/office/powerpoint/2010/main" val="3770027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14.7 - Comunicação UDP</a:t>
            </a:r>
          </a:p>
          <a:p>
            <a:pPr rtl="0"/>
            <a:r>
              <a:rPr lang="pt-BR"/>
              <a:t>14.7.3 – Solicitações e processos de servidor UDP</a:t>
            </a:r>
          </a:p>
        </p:txBody>
      </p:sp>
      <p:sp>
        <p:nvSpPr>
          <p:cNvPr id="4" name="Slide Number Placeholder 3"/>
          <p:cNvSpPr>
            <a:spLocks noGrp="1"/>
          </p:cNvSpPr>
          <p:nvPr>
            <p:ph type="sldNum" sz="quarter" idx="5"/>
          </p:nvPr>
        </p:nvSpPr>
        <p:spPr/>
        <p:txBody>
          <a:bodyPr/>
          <a:lstStyle/>
          <a:p>
            <a:pPr rtl="0"/>
            <a:fld id="{5641018C-6CAF-B84E-B92C-ECB119457FBA}" type="slidenum">
              <a:rPr/>
              <a:t>54</a:t>
            </a:fld>
            <a:endParaRPr/>
          </a:p>
        </p:txBody>
      </p:sp>
    </p:spTree>
    <p:extLst>
      <p:ext uri="{BB962C8B-B14F-4D97-AF65-F5344CB8AC3E}">
        <p14:creationId xmlns:p14="http://schemas.microsoft.com/office/powerpoint/2010/main" val="12164596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14 - Camada de transporte</a:t>
            </a:r>
          </a:p>
          <a:p>
            <a:pPr rtl="0"/>
            <a:r>
              <a:rPr lang="pt-BR"/>
              <a:t>14.7 - Comunicação UDP</a:t>
            </a:r>
          </a:p>
          <a:p>
            <a:pPr rtl="0"/>
            <a:r>
              <a:rPr lang="pt-BR"/>
              <a:t>14.7.4 –Processos de cliente UDP </a:t>
            </a:r>
          </a:p>
          <a:p>
            <a:pPr rtl="0"/>
            <a:r>
              <a:rPr lang="pt-BR"/>
              <a:t>14.7.5 Verifique seu entendimento — Comunicação UDP</a:t>
            </a:r>
          </a:p>
        </p:txBody>
      </p:sp>
      <p:sp>
        <p:nvSpPr>
          <p:cNvPr id="4" name="Slide Number Placeholder 3"/>
          <p:cNvSpPr>
            <a:spLocks noGrp="1"/>
          </p:cNvSpPr>
          <p:nvPr>
            <p:ph type="sldNum" sz="quarter" idx="5"/>
          </p:nvPr>
        </p:nvSpPr>
        <p:spPr/>
        <p:txBody>
          <a:bodyPr/>
          <a:lstStyle/>
          <a:p>
            <a:pPr rtl="0"/>
            <a:fld id="{5641018C-6CAF-B84E-B92C-ECB119457FBA}" type="slidenum">
              <a:rPr/>
              <a:t>55</a:t>
            </a:fld>
            <a:endParaRPr/>
          </a:p>
        </p:txBody>
      </p:sp>
    </p:spTree>
    <p:extLst>
      <p:ext uri="{BB962C8B-B14F-4D97-AF65-F5344CB8AC3E}">
        <p14:creationId xmlns:p14="http://schemas.microsoft.com/office/powerpoint/2010/main" val="35743973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a:t>14 - Camada de transporte</a:t>
            </a:r>
          </a:p>
          <a:p>
            <a:pPr rtl="0">
              <a:buFontTx/>
              <a:buNone/>
            </a:pPr>
            <a:r>
              <a:rPr lang="pt-BR"/>
              <a:t>14.8 - Módulo Prática e Quiz</a:t>
            </a:r>
          </a:p>
        </p:txBody>
      </p:sp>
      <p:sp>
        <p:nvSpPr>
          <p:cNvPr id="4" name="Slide Number Placeholder 3"/>
          <p:cNvSpPr>
            <a:spLocks noGrp="1"/>
          </p:cNvSpPr>
          <p:nvPr>
            <p:ph type="sldNum" sz="quarter" idx="10"/>
          </p:nvPr>
        </p:nvSpPr>
        <p:spPr/>
        <p:txBody>
          <a:bodyPr/>
          <a:lstStyle/>
          <a:p>
            <a:pPr rtl="0"/>
            <a:fld id="{5641018C-6CAF-B84E-B92C-ECB119457FBA}" type="slidenum">
              <a:rPr/>
              <a:t>56</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57</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a:t>14 - Camada de transporte</a:t>
            </a:r>
          </a:p>
          <a:p>
            <a:pPr rtl="0"/>
            <a:r>
              <a:rPr lang="pt-BR"/>
              <a:t>14.8 - Módulo Prática e Quiz</a:t>
            </a:r>
          </a:p>
          <a:p>
            <a:pPr rtl="0"/>
            <a:r>
              <a:rPr lang="pt-BR"/>
              <a:t>14.8.1 – Packet Tracer - Comunicações TCP e UDP</a:t>
            </a:r>
          </a:p>
        </p:txBody>
      </p:sp>
    </p:spTree>
    <p:extLst>
      <p:ext uri="{BB962C8B-B14F-4D97-AF65-F5344CB8AC3E}">
        <p14:creationId xmlns:p14="http://schemas.microsoft.com/office/powerpoint/2010/main" val="570636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58</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a:t>14 - Camada de transporte</a:t>
            </a:r>
          </a:p>
          <a:p>
            <a:pPr rtl="0"/>
            <a:r>
              <a:rPr lang="pt-BR"/>
              <a:t>14.8 - Módulo Prática e Quiz</a:t>
            </a:r>
          </a:p>
          <a:p>
            <a:pPr rtl="0"/>
            <a:r>
              <a:rPr lang="pt-BR"/>
              <a:t>14.8.2 - O que eu aprendi neste módulo?</a:t>
            </a:r>
          </a:p>
        </p:txBody>
      </p:sp>
    </p:spTree>
    <p:extLst>
      <p:ext uri="{BB962C8B-B14F-4D97-AF65-F5344CB8AC3E}">
        <p14:creationId xmlns:p14="http://schemas.microsoft.com/office/powerpoint/2010/main" val="14768241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59</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a:t>14 - Camada de transporte</a:t>
            </a:r>
          </a:p>
          <a:p>
            <a:pPr rtl="0"/>
            <a:r>
              <a:rPr lang="pt-BR"/>
              <a:t>14.8 - Módulo Prática e Quiz</a:t>
            </a:r>
          </a:p>
          <a:p>
            <a:pPr rtl="0"/>
            <a:r>
              <a:rPr lang="pt-BR"/>
              <a:t>14.8.2 - O que eu aprendi neste módulo? (continuação)</a:t>
            </a:r>
          </a:p>
          <a:p>
            <a:pPr rtl="0"/>
            <a:r>
              <a:rPr lang="pt-BR"/>
              <a:t>14.8.3 - Teste de Módulo - Camada de Transporte</a:t>
            </a:r>
          </a:p>
        </p:txBody>
      </p:sp>
    </p:spTree>
    <p:extLst>
      <p:ext uri="{BB962C8B-B14F-4D97-AF65-F5344CB8AC3E}">
        <p14:creationId xmlns:p14="http://schemas.microsoft.com/office/powerpoint/2010/main" val="27074346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60</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62410346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61</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5">
                    <a:lumMod val="50000"/>
                  </a:schemeClr>
                </a:solidFill>
                <a:latin typeface="+mn-lt"/>
                <a:ea typeface="+mn-ea"/>
                <a:cs typeface="CiscoSans Thin"/>
              </a:rPr>
              <a:t>© 2016 Cisco e/ou suas afiliadas. Todos os direitos reservados.   Confidencial da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3">
                    <a:lumMod val="85000"/>
                  </a:schemeClr>
                </a:solidFill>
                <a:latin typeface="+mn-lt"/>
                <a:ea typeface="+mn-ea"/>
                <a:cs typeface="CiscoSans Thin"/>
              </a:rPr>
              <a:t>© 2016 Cisco e/ou suas afiliadas. Todos os direitos reservados.   Confidencial da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pt-BR">
                <a:solidFill>
                  <a:schemeClr val="accent5">
                    <a:lumMod val="40000"/>
                    <a:lumOff val="60000"/>
                  </a:schemeClr>
                </a:solidFill>
              </a:rPr>
              <a:t>Módulo 14: Camada de Transporte</a:t>
            </a:r>
          </a:p>
        </p:txBody>
      </p:sp>
      <p:sp>
        <p:nvSpPr>
          <p:cNvPr id="5" name="Text Placeholder 4"/>
          <p:cNvSpPr>
            <a:spLocks noGrp="1"/>
          </p:cNvSpPr>
          <p:nvPr>
            <p:ph type="body" sz="quarter" idx="13"/>
          </p:nvPr>
        </p:nvSpPr>
        <p:spPr>
          <a:xfrm>
            <a:off x="469497" y="3127609"/>
            <a:ext cx="5925246" cy="299001"/>
          </a:xfrm>
        </p:spPr>
        <p:txBody>
          <a:bodyPr/>
          <a:lstStyle/>
          <a:p>
            <a:pPr rtl="0"/>
            <a:r>
              <a:rPr lang="pt-BR">
                <a:solidFill>
                  <a:schemeClr val="bg2">
                    <a:lumMod val="40000"/>
                    <a:lumOff val="60000"/>
                  </a:schemeClr>
                </a:solidFill>
              </a:rPr>
              <a:t>Material do instrutor</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pt-BR"/>
              <a:t>Instructor Materials – Module 14 Planning Guide</a:t>
            </a:r>
          </a:p>
        </p:txBody>
      </p:sp>
      <p:sp>
        <p:nvSpPr>
          <p:cNvPr id="4099" name="Rectangle 34"/>
          <p:cNvSpPr>
            <a:spLocks noGrp="1" noChangeArrowheads="1"/>
          </p:cNvSpPr>
          <p:nvPr>
            <p:ph idx="1"/>
          </p:nvPr>
        </p:nvSpPr>
        <p:spPr>
          <a:xfrm>
            <a:off x="145357" y="808179"/>
            <a:ext cx="8433035" cy="3773247"/>
          </a:xfrm>
        </p:spPr>
        <p:txBody>
          <a:bodyPr/>
          <a:lstStyle/>
          <a:p>
            <a:pPr marL="0" indent="0" rtl="0">
              <a:buNone/>
            </a:pPr>
            <a:r>
              <a:rPr lang="pt-BR"/>
              <a:t>This PowerPoint deck is divided in two parts:</a:t>
            </a:r>
          </a:p>
          <a:p>
            <a:pPr rtl="0">
              <a:buFont typeface="Arial" panose="020B0604020202020204" pitchFamily="34" charset="0"/>
              <a:buChar char="•"/>
            </a:pPr>
            <a:r>
              <a:rPr lang="pt-BR"/>
              <a:t>Instructor Planning Guide</a:t>
            </a:r>
          </a:p>
          <a:p>
            <a:pPr lvl="1" rtl="0">
              <a:buFont typeface="Arial" panose="020B0604020202020204" pitchFamily="34" charset="0"/>
              <a:buChar char="•"/>
            </a:pPr>
            <a:r>
              <a:rPr lang="pt-BR"/>
              <a:t>Information to help you become familiar with the module</a:t>
            </a:r>
          </a:p>
          <a:p>
            <a:pPr lvl="1" rtl="0">
              <a:buFont typeface="Arial" panose="020B0604020202020204" pitchFamily="34" charset="0"/>
              <a:buChar char="•"/>
            </a:pPr>
            <a:r>
              <a:rPr lang="pt-BR"/>
              <a:t>Teaching aids</a:t>
            </a:r>
          </a:p>
          <a:p>
            <a:pPr rtl="0">
              <a:buFont typeface="Arial" panose="020B0604020202020204" pitchFamily="34" charset="0"/>
              <a:buChar char="•"/>
            </a:pPr>
            <a:r>
              <a:rPr lang="pt-BR"/>
              <a:t>Instructor Class Presentation</a:t>
            </a:r>
          </a:p>
          <a:p>
            <a:pPr lvl="1" rtl="0"/>
            <a:r>
              <a:rPr lang="pt-BR"/>
              <a:t>Optional slides that you can use in the classroom</a:t>
            </a:r>
          </a:p>
          <a:p>
            <a:pPr lvl="1" rtl="0"/>
            <a:r>
              <a:rPr lang="pt-BR"/>
              <a:t>Begins on slide # 10</a:t>
            </a:r>
          </a:p>
          <a:p>
            <a:pPr marL="142875" lvl="1" indent="0" algn="ctr" rtl="0">
              <a:buNone/>
            </a:pPr>
            <a:r>
              <a:rPr lang="pt-BR" sz="1600" b="1"/>
              <a:t>Note</a:t>
            </a:r>
            <a:r>
              <a:rPr lang="pt-BR" sz="1600"/>
              <a:t>: Remove the Planning Guide from this presentation before sharing with anyone.</a:t>
            </a:r>
          </a:p>
          <a:p>
            <a:pPr marL="0" indent="0" rtl="0">
              <a:buNone/>
            </a:pPr>
            <a:r>
              <a:rPr lang="pt-BR"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rtl="0"/>
            <a:r>
              <a:rPr lang="pt-BR"/>
              <a:t>Para facilitar o aprendizado, os seguintes recursos da GUI podem ser incluídos neste módulo:</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pt-BR"/>
              <a:t>O que esperar neste módulo</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21985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pt-BR"/>
                        <a:t>Recurso</a:t>
                      </a:r>
                    </a:p>
                  </a:txBody>
                  <a:tcPr/>
                </a:tc>
                <a:tc>
                  <a:txBody>
                    <a:bodyPr/>
                    <a:lstStyle/>
                    <a:p>
                      <a:pPr rtl="0"/>
                      <a:r>
                        <a:rPr lang="pt-BR"/>
                        <a:t>Descrição</a:t>
                      </a:r>
                    </a:p>
                  </a:txBody>
                  <a:tcPr/>
                </a:tc>
                <a:extLst>
                  <a:ext uri="{0D108BD9-81ED-4DB2-BD59-A6C34878D82A}">
                    <a16:rowId xmlns:a16="http://schemas.microsoft.com/office/drawing/2014/main" val="367710602"/>
                  </a:ext>
                </a:extLst>
              </a:tr>
              <a:tr h="331556">
                <a:tc>
                  <a:txBody>
                    <a:bodyPr/>
                    <a:lstStyle/>
                    <a:p>
                      <a:pPr algn="l" rtl="0" fontAlgn="b"/>
                      <a:r>
                        <a:rPr lang="pt-BR" sz="1400" b="0" i="0" u="none" strike="noStrike">
                          <a:solidFill>
                            <a:srgbClr val="000000"/>
                          </a:solidFill>
                          <a:effectLst/>
                          <a:latin typeface="+mn-lt"/>
                        </a:rPr>
                        <a:t>Animações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Exponha os alunos a novas habilidades e conceitos.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Vídeos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Exponha os alunos a novas habilidades e conceitos.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Verifique sua compreensão (CYU)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Questionário on-line por tópico para ajudar os alunos a avaliar a compreensão do conteúdo.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Atividades Interativas</a:t>
                      </a:r>
                    </a:p>
                  </a:txBody>
                  <a:tcPr marL="9525" marR="9525" marT="9525" marB="0" anchor="b"/>
                </a:tc>
                <a:tc>
                  <a:txBody>
                    <a:bodyPr/>
                    <a:lstStyle/>
                    <a:p>
                      <a:pPr rtl="0"/>
                      <a:r>
                        <a:rPr lang="pt-BR"/>
                        <a:t>Uma variedade de formatos para ajudar os alunos a avaliar a compreensão do conteúdo.</a:t>
                      </a:r>
                    </a:p>
                  </a:txBody>
                  <a:tcPr/>
                </a:tc>
                <a:extLst>
                  <a:ext uri="{0D108BD9-81ED-4DB2-BD59-A6C34878D82A}">
                    <a16:rowId xmlns:a16="http://schemas.microsoft.com/office/drawing/2014/main" val="3454703549"/>
                  </a:ext>
                </a:extLst>
              </a:tr>
              <a:tr h="215293">
                <a:tc>
                  <a:txBody>
                    <a:bodyPr/>
                    <a:lstStyle/>
                    <a:p>
                      <a:pPr algn="l" rtl="0" fontAlgn="b"/>
                      <a:r>
                        <a:rPr lang="pt-BR" sz="1400" b="0" i="0" u="none" strike="noStrike">
                          <a:solidFill>
                            <a:srgbClr val="000000"/>
                          </a:solidFill>
                          <a:effectLst/>
                          <a:latin typeface="+mn-lt"/>
                        </a:rPr>
                        <a:t>Verificador de sintaxe</a:t>
                      </a:r>
                    </a:p>
                  </a:txBody>
                  <a:tcPr marL="9525" marR="9525" marT="9525" marB="0" anchor="b"/>
                </a:tc>
                <a:tc>
                  <a:txBody>
                    <a:bodyPr/>
                    <a:lstStyle/>
                    <a:p>
                      <a:pPr rtl="0"/>
                      <a:r>
                        <a:rPr lang="pt-BR"/>
                        <a:t>Pequenas simulações que expõem os alunos à linha de comando da Cisco para praticar habilidades de configuração.</a:t>
                      </a:r>
                    </a:p>
                  </a:txBody>
                  <a:tcPr/>
                </a:tc>
                <a:extLst>
                  <a:ext uri="{0D108BD9-81ED-4DB2-BD59-A6C34878D82A}">
                    <a16:rowId xmlns:a16="http://schemas.microsoft.com/office/drawing/2014/main" val="2195331658"/>
                  </a:ext>
                </a:extLst>
              </a:tr>
              <a:tr h="265091">
                <a:tc>
                  <a:txBody>
                    <a:bodyPr/>
                    <a:lstStyle/>
                    <a:p>
                      <a:pPr algn="l" rtl="0" fontAlgn="b"/>
                      <a:r>
                        <a:rPr lang="pt-BR" sz="1400" b="0" i="0" u="none" strike="noStrike">
                          <a:solidFill>
                            <a:srgbClr val="000000"/>
                          </a:solidFill>
                          <a:effectLst/>
                          <a:latin typeface="+mn-lt"/>
                        </a:rPr>
                        <a:t>Atividade do PT</a:t>
                      </a:r>
                    </a:p>
                  </a:txBody>
                  <a:tcPr marL="9525" marR="9525" marT="9525" marB="0" anchor="b"/>
                </a:tc>
                <a:tc>
                  <a:txBody>
                    <a:bodyPr/>
                    <a:lstStyle/>
                    <a:p>
                      <a:pPr rtl="0"/>
                      <a:r>
                        <a:rPr lang="pt-BR"/>
                        <a:t>Atividades de simulação e modelagem projetadas para explorar, adquirir, reforçar e expandir habilidades.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216408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pt-BR" sz="1400" b="1" i="0" u="none" strike="noStrike">
                          <a:solidFill>
                            <a:schemeClr val="bg1"/>
                          </a:solidFill>
                          <a:effectLst/>
                          <a:latin typeface="+mn-lt"/>
                        </a:rPr>
                        <a:t>Recurso</a:t>
                      </a:r>
                    </a:p>
                  </a:txBody>
                  <a:tcPr marL="9525" marR="9525" marT="9525" marB="0" anchor="b"/>
                </a:tc>
                <a:tc>
                  <a:txBody>
                    <a:bodyPr/>
                    <a:lstStyle/>
                    <a:p>
                      <a:pPr rtl="0"/>
                      <a:r>
                        <a:rPr lang="pt-BR"/>
                        <a:t>Descrição</a:t>
                      </a:r>
                    </a:p>
                  </a:txBody>
                  <a:tcPr/>
                </a:tc>
                <a:extLst>
                  <a:ext uri="{0D108BD9-81ED-4DB2-BD59-A6C34878D82A}">
                    <a16:rowId xmlns:a16="http://schemas.microsoft.com/office/drawing/2014/main" val="3768427975"/>
                  </a:ext>
                </a:extLst>
              </a:tr>
              <a:tr h="265091">
                <a:tc>
                  <a:txBody>
                    <a:bodyPr/>
                    <a:lstStyle/>
                    <a:p>
                      <a:pPr algn="l" rtl="0" fontAlgn="b"/>
                      <a:r>
                        <a:rPr lang="pt-BR" sz="1400" b="0" i="0" u="none" strike="noStrike">
                          <a:solidFill>
                            <a:srgbClr val="000000"/>
                          </a:solidFill>
                          <a:effectLst/>
                          <a:latin typeface="+mn-lt"/>
                        </a:rPr>
                        <a:t>Laboratórios práticos</a:t>
                      </a:r>
                    </a:p>
                  </a:txBody>
                  <a:tcPr marL="9525" marR="9525" marT="9525" marB="0" anchor="b"/>
                </a:tc>
                <a:tc>
                  <a:txBody>
                    <a:bodyPr/>
                    <a:lstStyle/>
                    <a:p>
                      <a:pPr rtl="0"/>
                      <a:r>
                        <a:rPr lang="pt-BR"/>
                        <a:t>Laboratórios projetados para trabalhar com equipamentos físicos.</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Atividades em sala de aula</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Estes são encontrados na página Recursos do instrutor. As atividades em classe são projetadas para facilitar o aprendizado, a discussão em classe e a colaboração.</a:t>
                      </a:r>
                    </a:p>
                  </a:txBody>
                  <a:tcPr/>
                </a:tc>
                <a:extLst>
                  <a:ext uri="{0D108BD9-81ED-4DB2-BD59-A6C34878D82A}">
                    <a16:rowId xmlns:a16="http://schemas.microsoft.com/office/drawing/2014/main" val="1125566603"/>
                  </a:ext>
                </a:extLst>
              </a:tr>
              <a:tr h="265091">
                <a:tc>
                  <a:txBody>
                    <a:bodyPr/>
                    <a:lstStyle/>
                    <a:p>
                      <a:pPr algn="l" rtl="0" fontAlgn="b"/>
                      <a:r>
                        <a:rPr lang="pt-BR" sz="1400" b="0" i="0" u="none" strike="noStrike">
                          <a:solidFill>
                            <a:srgbClr val="000000"/>
                          </a:solidFill>
                          <a:effectLst/>
                          <a:latin typeface="+mn-lt"/>
                        </a:rPr>
                        <a:t>Testes de módulo</a:t>
                      </a:r>
                    </a:p>
                  </a:txBody>
                  <a:tcPr marL="9525" marR="9525" marT="9525" marB="0" anchor="b"/>
                </a:tc>
                <a:tc>
                  <a:txBody>
                    <a:bodyPr/>
                    <a:lstStyle/>
                    <a:p>
                      <a:pPr rtl="0"/>
                      <a:r>
                        <a:rPr lang="pt-BR"/>
                        <a:t>Autoavaliações que integram conceitos e habilidades aprendidas ao longo da série de tópicos apresentados no módulo.</a:t>
                      </a:r>
                    </a:p>
                  </a:txBody>
                  <a:tcPr/>
                </a:tc>
                <a:extLst>
                  <a:ext uri="{0D108BD9-81ED-4DB2-BD59-A6C34878D82A}">
                    <a16:rowId xmlns:a16="http://schemas.microsoft.com/office/drawing/2014/main" val="831502776"/>
                  </a:ext>
                </a:extLst>
              </a:tr>
              <a:tr h="265091">
                <a:tc>
                  <a:txBody>
                    <a:bodyPr/>
                    <a:lstStyle/>
                    <a:p>
                      <a:pPr algn="l" rtl="0" fontAlgn="b"/>
                      <a:r>
                        <a:rPr lang="pt-BR" sz="1400" b="0" i="0" u="none" strike="noStrike">
                          <a:solidFill>
                            <a:srgbClr val="000000"/>
                          </a:solidFill>
                          <a:effectLst/>
                          <a:latin typeface="+mn-lt"/>
                        </a:rPr>
                        <a:t>Resumo do módulo</a:t>
                      </a:r>
                    </a:p>
                  </a:txBody>
                  <a:tcPr marL="9525" marR="9525" marT="9525" marB="0" anchor="b"/>
                </a:tc>
                <a:tc>
                  <a:txBody>
                    <a:bodyPr/>
                    <a:lstStyle/>
                    <a:p>
                      <a:pPr rtl="0"/>
                      <a:r>
                        <a:rPr lang="pt-BR"/>
                        <a:t>Recapitule brevemente o conteúdo do módulo.</a:t>
                      </a:r>
                    </a:p>
                  </a:txBody>
                  <a:tcPr/>
                </a:tc>
                <a:extLst>
                  <a:ext uri="{0D108BD9-81ED-4DB2-BD59-A6C34878D82A}">
                    <a16:rowId xmlns:a16="http://schemas.microsoft.com/office/drawing/2014/main" val="2267046280"/>
                  </a:ext>
                </a:extLst>
              </a:tr>
            </a:tbl>
          </a:graphicData>
        </a:graphic>
      </p:graphicFrame>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pt-BR"/>
              <a:t>O que esperar deste módulo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pt-BR"/>
              <a:t>Para facilitar o aprendizado, os seguintes recursos podem ser incluídos neste módulo:</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pt-BR"/>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pt-BR"/>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pt-BR"/>
              <a:t>Check Your Understanding activities </a:t>
            </a:r>
            <a:r>
              <a:rPr lang="pt-BR" b="1" i="1"/>
              <a:t>do not </a:t>
            </a:r>
            <a:r>
              <a:rPr lang="pt-BR"/>
              <a:t>affect student grades.</a:t>
            </a:r>
          </a:p>
          <a:p>
            <a:pPr rtl="0">
              <a:spcBef>
                <a:spcPct val="30000"/>
              </a:spcBef>
              <a:buFont typeface="Arial" panose="020B0604020202020204" pitchFamily="34" charset="0"/>
              <a:buChar char="•"/>
            </a:pPr>
            <a:r>
              <a:rPr lang="pt-BR"/>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3"/>
            <a:ext cx="9144000" cy="448801"/>
          </a:xfrm>
        </p:spPr>
        <p:txBody>
          <a:bodyPr/>
          <a:lstStyle/>
          <a:p>
            <a:pPr rtl="0" eaLnBrk="1" hangingPunct="1"/>
            <a:r>
              <a:rPr lang="pt-BR"/>
              <a:t>Module 14: Activities</a:t>
            </a:r>
          </a:p>
        </p:txBody>
      </p:sp>
      <p:sp>
        <p:nvSpPr>
          <p:cNvPr id="6147" name="Rectangle 34"/>
          <p:cNvSpPr>
            <a:spLocks noGrp="1" noChangeArrowheads="1"/>
          </p:cNvSpPr>
          <p:nvPr>
            <p:ph idx="1"/>
          </p:nvPr>
        </p:nvSpPr>
        <p:spPr>
          <a:xfrm>
            <a:off x="134638" y="490194"/>
            <a:ext cx="8695135" cy="348414"/>
          </a:xfrm>
        </p:spPr>
        <p:txBody>
          <a:bodyPr/>
          <a:lstStyle/>
          <a:p>
            <a:pPr marL="0" indent="0" rtl="0">
              <a:spcBef>
                <a:spcPct val="30000"/>
              </a:spcBef>
              <a:buNone/>
            </a:pPr>
            <a:r>
              <a:rPr lang="pt-B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114873900"/>
              </p:ext>
            </p:extLst>
          </p:nvPr>
        </p:nvGraphicFramePr>
        <p:xfrm>
          <a:off x="457291" y="838608"/>
          <a:ext cx="8229418" cy="4288706"/>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9432">
                  <a:extLst>
                    <a:ext uri="{9D8B030D-6E8A-4147-A177-3AD203B41FA5}">
                      <a16:colId xmlns:a16="http://schemas.microsoft.com/office/drawing/2014/main" val="3156509146"/>
                    </a:ext>
                  </a:extLst>
                </a:gridCol>
                <a:gridCol w="4078380">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pt-B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200"/>
                        <a:t>Activity Type</a:t>
                      </a:r>
                    </a:p>
                  </a:txBody>
                  <a:tcPr marL="68580" marR="68580" marT="34290" marB="34290" anchor="ctr"/>
                </a:tc>
                <a:tc>
                  <a:txBody>
                    <a:bodyPr/>
                    <a:lstStyle/>
                    <a:p>
                      <a:pPr rtl="0"/>
                      <a:r>
                        <a:rPr lang="pt-BR" sz="1200"/>
                        <a:t>Activity Name</a:t>
                      </a:r>
                    </a:p>
                  </a:txBody>
                  <a:tcPr marL="68580" marR="68580" marT="34290" marB="34290" anchor="ctr"/>
                </a:tc>
                <a:tc>
                  <a:txBody>
                    <a:bodyPr/>
                    <a:lstStyle/>
                    <a:p>
                      <a:pPr rtl="0"/>
                      <a:r>
                        <a:rPr lang="pt-BR" sz="1200"/>
                        <a:t>Optional?</a:t>
                      </a:r>
                    </a:p>
                  </a:txBody>
                  <a:tcPr marL="68580" marR="68580" marT="34290" marB="34290" anchor="ctr"/>
                </a:tc>
                <a:extLst>
                  <a:ext uri="{0D108BD9-81ED-4DB2-BD59-A6C34878D82A}">
                    <a16:rowId xmlns:a16="http://schemas.microsoft.com/office/drawing/2014/main" val="10000"/>
                  </a:ext>
                </a:extLst>
              </a:tr>
              <a:tr h="479432">
                <a:tc>
                  <a:txBody>
                    <a:bodyPr/>
                    <a:lstStyle/>
                    <a:p>
                      <a:pPr algn="ctr" rtl="0"/>
                      <a:r>
                        <a:rPr lang="pt-BR" sz="1100"/>
                        <a:t>14.1.7</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rtl="0"/>
                      <a:r>
                        <a:rPr lang="pt-BR" sz="1100"/>
                        <a:t>Transportation of Data</a:t>
                      </a:r>
                    </a:p>
                  </a:txBody>
                  <a:tcPr marL="68580" marR="68580" marT="34290" marB="34290" anchor="ctr"/>
                </a:tc>
                <a:tc>
                  <a:txBody>
                    <a:bodyPr/>
                    <a:lstStyle/>
                    <a:p>
                      <a:pPr rtl="0"/>
                      <a:r>
                        <a:rPr lang="pt-BR" sz="1100"/>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lang="pt-BR" sz="1100"/>
                        <a:t>14.2.5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rtl="0"/>
                      <a:r>
                        <a:rPr lang="pt-BR" sz="1100"/>
                        <a:t>TCP Overview</a:t>
                      </a:r>
                    </a:p>
                  </a:txBody>
                  <a:tcPr marL="68580" marR="68580" marT="34290" marB="34290" anchor="ctr"/>
                </a:tc>
                <a:tc>
                  <a:txBody>
                    <a:bodyPr/>
                    <a:lstStyle/>
                    <a:p>
                      <a:pPr rtl="0"/>
                      <a:r>
                        <a:rPr lang="pt-BR" sz="1100"/>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lang="pt-BR" sz="1100"/>
                        <a:t>14.3.5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UDP Overview</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10008"/>
                  </a:ext>
                </a:extLst>
              </a:tr>
              <a:tr h="350784">
                <a:tc>
                  <a:txBody>
                    <a:bodyPr/>
                    <a:lstStyle/>
                    <a:p>
                      <a:pPr algn="ctr" rtl="0"/>
                      <a:r>
                        <a:rPr lang="pt-BR" sz="1100"/>
                        <a:t>14.4.5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Port Numbers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lang="pt-BR" sz="1100"/>
                        <a:t>14.5.5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TCP 3- Handshake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959488627"/>
                  </a:ext>
                </a:extLst>
              </a:tr>
              <a:tr h="350784">
                <a:tc>
                  <a:txBody>
                    <a:bodyPr/>
                    <a:lstStyle/>
                    <a:p>
                      <a:pPr algn="ctr" rtl="0"/>
                      <a:r>
                        <a:rPr lang="pt-BR" sz="1100"/>
                        <a:t>14.5.6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TCP Communication Process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lang="pt-BR" sz="1100"/>
                        <a:t>14.6.2</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TCP Reliability- Sequence Numbers and Acknowledgments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722643385"/>
                  </a:ext>
                </a:extLst>
              </a:tr>
              <a:tr h="350784">
                <a:tc>
                  <a:txBody>
                    <a:bodyPr/>
                    <a:lstStyle/>
                    <a:p>
                      <a:pPr algn="ctr" rtl="0"/>
                      <a:r>
                        <a:rPr lang="pt-BR" sz="1100"/>
                        <a:t>14.6.4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TCP Reliability – Reliability and Flow control</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992775115"/>
                  </a:ext>
                </a:extLst>
              </a:tr>
              <a:tr h="350784">
                <a:tc>
                  <a:txBody>
                    <a:bodyPr/>
                    <a:lstStyle/>
                    <a:p>
                      <a:pPr algn="ctr" rtl="0"/>
                      <a:r>
                        <a:rPr lang="pt-BR" sz="1100"/>
                        <a:t>14.6.8</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Reliability and Flow Control</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001172460"/>
                  </a:ext>
                </a:extLst>
              </a:tr>
              <a:tr h="350784">
                <a:tc>
                  <a:txBody>
                    <a:bodyPr/>
                    <a:lstStyle/>
                    <a:p>
                      <a:pPr algn="ctr" rtl="0"/>
                      <a:r>
                        <a:rPr lang="pt-BR" sz="1100"/>
                        <a:t>14.7.5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UDP Communication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22206681"/>
                  </a:ext>
                </a:extLst>
              </a:tr>
              <a:tr h="350784">
                <a:tc>
                  <a:txBody>
                    <a:bodyPr/>
                    <a:lstStyle/>
                    <a:p>
                      <a:pPr algn="ctr" rtl="0"/>
                      <a:r>
                        <a:rPr lang="pt-BR" sz="1100"/>
                        <a:t>14.8.1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Packet Tracer - TCP and UDP Communications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406068602"/>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Module 14: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lang="pt-BR" sz="1600"/>
              <a:t>Prior to teaching Module 14, the instructor should:</a:t>
            </a:r>
          </a:p>
          <a:p>
            <a:pPr rtl="0" eaLnBrk="1" hangingPunct="1">
              <a:lnSpc>
                <a:spcPct val="85000"/>
              </a:lnSpc>
              <a:spcBef>
                <a:spcPct val="30000"/>
              </a:spcBef>
              <a:buFont typeface="Arial" panose="020B0604020202020204" pitchFamily="34" charset="0"/>
              <a:buChar char="•"/>
            </a:pPr>
            <a:r>
              <a:rPr lang="pt-BR" sz="1600"/>
              <a:t>Review the activities and assessments for this module.</a:t>
            </a:r>
          </a:p>
          <a:p>
            <a:pPr rtl="0" eaLnBrk="1" hangingPunct="1">
              <a:lnSpc>
                <a:spcPct val="85000"/>
              </a:lnSpc>
              <a:spcBef>
                <a:spcPct val="30000"/>
              </a:spcBef>
              <a:buFont typeface="Arial" panose="020B0604020202020204" pitchFamily="34" charset="0"/>
              <a:buChar char="•"/>
            </a:pPr>
            <a:r>
              <a:rPr lang="pt-BR" sz="1600"/>
              <a:t>Try to include as many questions as possible to keep students engaged during classroom presentation.</a:t>
            </a:r>
          </a:p>
          <a:p>
            <a:pPr marL="0" indent="0" rtl="0" eaLnBrk="1" hangingPunct="1">
              <a:lnSpc>
                <a:spcPct val="85000"/>
              </a:lnSpc>
              <a:spcBef>
                <a:spcPct val="30000"/>
              </a:spcBef>
              <a:buNone/>
            </a:pPr>
            <a:r>
              <a:rPr lang="pt-BR" sz="1600"/>
              <a:t>Topic 14.1</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How do we ensure reliable receipt of the data we send?</a:t>
            </a:r>
          </a:p>
          <a:p>
            <a:pPr lvl="2" rtl="0">
              <a:lnSpc>
                <a:spcPct val="85000"/>
              </a:lnSpc>
              <a:spcBef>
                <a:spcPct val="30000"/>
              </a:spcBef>
            </a:pPr>
            <a:r>
              <a:rPr lang="pt-BR" sz="1600"/>
              <a:t>What applications do we use TCP or UDP with and why do we choose them?</a:t>
            </a:r>
          </a:p>
          <a:p>
            <a:pPr marL="0" indent="0" rtl="0">
              <a:lnSpc>
                <a:spcPct val="85000"/>
              </a:lnSpc>
              <a:spcBef>
                <a:spcPct val="30000"/>
              </a:spcBef>
              <a:buNone/>
            </a:pPr>
            <a:r>
              <a:rPr lang="pt-BR" sz="1600"/>
              <a:t>Topic 14.2</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What features of TCP are most important?</a:t>
            </a:r>
          </a:p>
          <a:p>
            <a:pPr lvl="2" rtl="0">
              <a:lnSpc>
                <a:spcPct val="85000"/>
              </a:lnSpc>
              <a:spcBef>
                <a:spcPct val="30000"/>
              </a:spcBef>
            </a:pPr>
            <a:r>
              <a:rPr lang="pt-BR" sz="1600"/>
              <a:t>Why are the flags so important and how do we use them?</a:t>
            </a:r>
          </a:p>
          <a:p>
            <a:pPr eaLnBrk="1" hangingPunct="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643251"/>
          </a:xfrm>
        </p:spPr>
        <p:txBody>
          <a:bodyPr/>
          <a:lstStyle/>
          <a:p>
            <a:pPr rtl="0"/>
            <a:r>
              <a:rPr lang="pt-BR"/>
              <a:t>Module 14: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rtl="0" eaLnBrk="1" hangingPunct="1">
              <a:lnSpc>
                <a:spcPct val="85000"/>
              </a:lnSpc>
              <a:spcBef>
                <a:spcPct val="30000"/>
              </a:spcBef>
              <a:buNone/>
            </a:pPr>
            <a:r>
              <a:rPr lang="pt-BR" sz="1400"/>
              <a:t> </a:t>
            </a:r>
            <a:r>
              <a:rPr lang="pt-BR" sz="1600"/>
              <a:t>Topic 14.3</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What is the advantage of UDP over TCP?</a:t>
            </a:r>
          </a:p>
          <a:p>
            <a:pPr lvl="2" rtl="0">
              <a:lnSpc>
                <a:spcPct val="85000"/>
              </a:lnSpc>
              <a:spcBef>
                <a:spcPct val="30000"/>
              </a:spcBef>
            </a:pPr>
            <a:r>
              <a:rPr lang="pt-BR" sz="1600"/>
              <a:t>What applications do we use daily that make use of UCP?</a:t>
            </a:r>
          </a:p>
          <a:p>
            <a:pPr marL="0" indent="0" rtl="0">
              <a:lnSpc>
                <a:spcPct val="85000"/>
              </a:lnSpc>
              <a:spcBef>
                <a:spcPct val="30000"/>
              </a:spcBef>
              <a:buNone/>
            </a:pPr>
            <a:r>
              <a:rPr lang="pt-BR" sz="1600"/>
              <a:t>Topic 14.4</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What’s the difference between a socket and a port?</a:t>
            </a:r>
          </a:p>
          <a:p>
            <a:pPr lvl="2" rtl="0">
              <a:lnSpc>
                <a:spcPct val="85000"/>
              </a:lnSpc>
              <a:spcBef>
                <a:spcPct val="30000"/>
              </a:spcBef>
            </a:pPr>
            <a:r>
              <a:rPr lang="pt-BR" sz="1600"/>
              <a:t>What common ports are most important to remember?</a:t>
            </a:r>
          </a:p>
          <a:p>
            <a:pPr marL="0" indent="0" rtl="0">
              <a:lnSpc>
                <a:spcPct val="85000"/>
              </a:lnSpc>
              <a:spcBef>
                <a:spcPct val="30000"/>
              </a:spcBef>
              <a:buNone/>
            </a:pPr>
            <a:r>
              <a:rPr lang="pt-BR" sz="1600"/>
              <a:t>Topic 14.5</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What is the three-way handshake and how does it work?</a:t>
            </a:r>
          </a:p>
          <a:p>
            <a:pPr lvl="2" rtl="0">
              <a:lnSpc>
                <a:spcPct val="85000"/>
              </a:lnSpc>
              <a:spcBef>
                <a:spcPct val="30000"/>
              </a:spcBef>
            </a:pPr>
            <a:r>
              <a:rPr lang="pt-BR" sz="1600"/>
              <a:t>How is a session closed?</a:t>
            </a:r>
          </a:p>
          <a:p>
            <a:pPr marL="0" indent="0">
              <a:lnSpc>
                <a:spcPct val="85000"/>
              </a:lnSpc>
              <a:spcBef>
                <a:spcPct val="30000"/>
              </a:spcBef>
              <a:buNone/>
            </a:pPr>
            <a:endParaRPr lang="en-US" sz="1400" dirty="0"/>
          </a:p>
          <a:p>
            <a:pPr lvl="1">
              <a:lnSpc>
                <a:spcPct val="85000"/>
              </a:lnSpc>
              <a:spcBef>
                <a:spcPct val="30000"/>
              </a:spcBef>
            </a:pPr>
            <a:endParaRPr lang="en-US" sz="1200" dirty="0"/>
          </a:p>
          <a:p>
            <a:pPr eaLnBrk="1" hangingPunct="1">
              <a:lnSpc>
                <a:spcPct val="85000"/>
              </a:lnSpc>
              <a:spcBef>
                <a:spcPct val="30000"/>
              </a:spcBef>
            </a:pPr>
            <a:endParaRPr lang="en-US" sz="1400" dirty="0"/>
          </a:p>
          <a:p>
            <a:pPr lvl="1">
              <a:lnSpc>
                <a:spcPct val="85000"/>
              </a:lnSpc>
              <a:spcBef>
                <a:spcPct val="30000"/>
              </a:spcBef>
            </a:pPr>
            <a:endParaRPr lang="en-US" sz="1200" dirty="0"/>
          </a:p>
          <a:p>
            <a:pPr lvl="1">
              <a:lnSpc>
                <a:spcPct val="85000"/>
              </a:lnSpc>
              <a:spcBef>
                <a:spcPct val="30000"/>
              </a:spcBef>
            </a:pPr>
            <a:endParaRPr lang="en-US" sz="1200" dirty="0"/>
          </a:p>
          <a:p>
            <a:pPr lvl="1">
              <a:lnSpc>
                <a:spcPct val="85000"/>
              </a:lnSpc>
              <a:spcBef>
                <a:spcPct val="30000"/>
              </a:spcBef>
            </a:pPr>
            <a:endParaRPr lang="en-US" sz="12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643251"/>
          </a:xfrm>
        </p:spPr>
        <p:txBody>
          <a:bodyPr/>
          <a:lstStyle/>
          <a:p>
            <a:pPr rtl="0"/>
            <a:r>
              <a:rPr lang="pt-BR"/>
              <a:t>Module 14: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lang="pt-BR" sz="1400"/>
              <a:t> </a:t>
            </a:r>
            <a:r>
              <a:rPr lang="pt-BR" sz="1600"/>
              <a:t>Topic 14.6</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Why are sequence numbers so important?</a:t>
            </a:r>
          </a:p>
          <a:p>
            <a:pPr lvl="2" rtl="0">
              <a:lnSpc>
                <a:spcPct val="85000"/>
              </a:lnSpc>
              <a:spcBef>
                <a:spcPct val="30000"/>
              </a:spcBef>
            </a:pPr>
            <a:r>
              <a:rPr lang="pt-BR" sz="1600"/>
              <a:t>How do window size and MSS relate to each other?</a:t>
            </a:r>
          </a:p>
          <a:p>
            <a:pPr marL="0" indent="0" rtl="0">
              <a:lnSpc>
                <a:spcPct val="85000"/>
              </a:lnSpc>
              <a:spcBef>
                <a:spcPct val="30000"/>
              </a:spcBef>
              <a:buNone/>
            </a:pPr>
            <a:r>
              <a:rPr lang="pt-BR" sz="1600"/>
              <a:t>Topic 14.7</a:t>
            </a:r>
          </a:p>
          <a:p>
            <a:pPr marL="474662" lvl="1" indent="-285750" rtl="0">
              <a:lnSpc>
                <a:spcPct val="85000"/>
              </a:lnSpc>
              <a:spcBef>
                <a:spcPct val="30000"/>
              </a:spcBef>
            </a:pPr>
            <a:r>
              <a:rPr lang="pt-BR" sz="1600"/>
              <a:t>Ask the students or have a class discussion</a:t>
            </a:r>
          </a:p>
          <a:p>
            <a:pPr marL="547687" lvl="2" indent="-285750" rtl="0">
              <a:lnSpc>
                <a:spcPct val="85000"/>
              </a:lnSpc>
              <a:spcBef>
                <a:spcPct val="30000"/>
              </a:spcBef>
            </a:pPr>
            <a:r>
              <a:rPr lang="pt-BR" sz="1600"/>
              <a:t>Why is UDP an advantage over TCP?</a:t>
            </a:r>
          </a:p>
          <a:p>
            <a:pPr marL="547687" lvl="2" indent="-285750" rtl="0">
              <a:lnSpc>
                <a:spcPct val="85000"/>
              </a:lnSpc>
              <a:spcBef>
                <a:spcPct val="30000"/>
              </a:spcBef>
            </a:pPr>
            <a:r>
              <a:rPr lang="pt-BR" sz="1600"/>
              <a:t>What would happen if TCP were used instead of UDP for some applications</a:t>
            </a:r>
          </a:p>
          <a:p>
            <a:pPr marL="261937" lvl="2" indent="0" rtl="0">
              <a:lnSpc>
                <a:spcPct val="85000"/>
              </a:lnSpc>
              <a:spcBef>
                <a:spcPct val="30000"/>
              </a:spcBef>
              <a:buNone/>
            </a:pPr>
            <a:r>
              <a:rPr lang="pt-BR" sz="1600"/>
              <a:t>       that use UDP?</a:t>
            </a:r>
          </a:p>
          <a:p>
            <a:pPr lvl="2">
              <a:lnSpc>
                <a:spcPct val="85000"/>
              </a:lnSpc>
              <a:spcBef>
                <a:spcPct val="30000"/>
              </a:spcBef>
            </a:pPr>
            <a:endParaRPr lang="en-US" sz="1600" dirty="0"/>
          </a:p>
          <a:p>
            <a:pPr eaLnBrk="1" hangingPunct="1">
              <a:lnSpc>
                <a:spcPct val="85000"/>
              </a:lnSpc>
              <a:spcBef>
                <a:spcPct val="30000"/>
              </a:spcBef>
            </a:pPr>
            <a:endParaRPr lang="en-US" sz="1400" dirty="0"/>
          </a:p>
          <a:p>
            <a:pPr lvl="1">
              <a:lnSpc>
                <a:spcPct val="85000"/>
              </a:lnSpc>
              <a:spcBef>
                <a:spcPct val="30000"/>
              </a:spcBef>
            </a:pPr>
            <a:endParaRPr lang="en-US" sz="1200" dirty="0"/>
          </a:p>
          <a:p>
            <a:pPr lvl="1">
              <a:lnSpc>
                <a:spcPct val="85000"/>
              </a:lnSpc>
              <a:spcBef>
                <a:spcPct val="30000"/>
              </a:spcBef>
            </a:pPr>
            <a:endParaRPr lang="en-US" sz="1200" dirty="0"/>
          </a:p>
          <a:p>
            <a:pPr lvl="1">
              <a:lnSpc>
                <a:spcPct val="85000"/>
              </a:lnSpc>
              <a:spcBef>
                <a:spcPct val="30000"/>
              </a:spcBef>
            </a:pPr>
            <a:endParaRPr lang="en-US" sz="12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766185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pt-BR">
                <a:solidFill>
                  <a:schemeClr val="accent5">
                    <a:lumMod val="40000"/>
                    <a:lumOff val="60000"/>
                  </a:schemeClr>
                </a:solidFill>
              </a:rPr>
              <a:t>Módulo 14: Camada de Transporte</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41394"/>
            <a:ext cx="9144000" cy="605390"/>
          </a:xfrm>
        </p:spPr>
        <p:txBody>
          <a:bodyPr/>
          <a:lstStyle/>
          <a:p>
            <a:pPr rtl="0" eaLnBrk="1" hangingPunct="1"/>
            <a:r>
              <a:rPr lang="pt-BR"/>
              <a:t>Objetivos do módulo</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sz="1600" b="1"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Título do módulo: </a:t>
            </a:r>
            <a:r>
              <a:rPr kumimoji="0" lang="pt-BR" sz="1600" b="0"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Camada de transporte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rtl="0" eaLnBrk="0" hangingPunct="0"/>
            <a:r>
              <a:rPr kumimoji="0" lang="pt-BR" sz="1600" b="1"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Objetivo do módulo</a:t>
            </a:r>
            <a:r>
              <a:rPr kumimoji="0" lang="pt-BR" sz="1600" b="0"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a:t>
            </a:r>
            <a:r>
              <a:rPr lang="pt-BR" sz="1600"/>
              <a:t> comparar as operações dos protocolos da camada de transporte no suporte à comunicação de ponta a ponta.</a:t>
            </a: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4278512903"/>
              </p:ext>
            </p:extLst>
          </p:nvPr>
        </p:nvGraphicFramePr>
        <p:xfrm>
          <a:off x="575036" y="1724001"/>
          <a:ext cx="8276733" cy="2900768"/>
        </p:xfrm>
        <a:graphic>
          <a:graphicData uri="http://schemas.openxmlformats.org/drawingml/2006/table">
            <a:tbl>
              <a:tblPr firstRow="1" firstCol="1" bandRow="1">
                <a:tableStyleId>{5C22544A-7EE6-4342-B048-85BDC9FD1C3A}</a:tableStyleId>
              </a:tblPr>
              <a:tblGrid>
                <a:gridCol w="2745245">
                  <a:extLst>
                    <a:ext uri="{9D8B030D-6E8A-4147-A177-3AD203B41FA5}">
                      <a16:colId xmlns:a16="http://schemas.microsoft.com/office/drawing/2014/main" val="1523797708"/>
                    </a:ext>
                  </a:extLst>
                </a:gridCol>
                <a:gridCol w="5531488">
                  <a:extLst>
                    <a:ext uri="{9D8B030D-6E8A-4147-A177-3AD203B41FA5}">
                      <a16:colId xmlns:a16="http://schemas.microsoft.com/office/drawing/2014/main" val="2750207184"/>
                    </a:ext>
                  </a:extLst>
                </a:gridCol>
              </a:tblGrid>
              <a:tr h="219518">
                <a:tc>
                  <a:txBody>
                    <a:bodyPr/>
                    <a:lstStyle/>
                    <a:p>
                      <a:pPr marL="0" marR="0" algn="l" rtl="0">
                        <a:lnSpc>
                          <a:spcPct val="107000"/>
                        </a:lnSpc>
                        <a:spcBef>
                          <a:spcPts val="0"/>
                        </a:spcBef>
                        <a:spcAft>
                          <a:spcPts val="0"/>
                        </a:spcAft>
                      </a:pPr>
                      <a:r>
                        <a:rPr lang="pt-BR" sz="1200">
                          <a:effectLst/>
                        </a:rPr>
                        <a:t>Título do Tópico</a:t>
                      </a:r>
                    </a:p>
                  </a:txBody>
                  <a:tcPr marL="68580" marR="68580" marT="0" marB="0"/>
                </a:tc>
                <a:tc>
                  <a:txBody>
                    <a:bodyPr/>
                    <a:lstStyle/>
                    <a:p>
                      <a:pPr marL="0" marR="0" algn="l" rtl="0">
                        <a:lnSpc>
                          <a:spcPct val="107000"/>
                        </a:lnSpc>
                        <a:spcBef>
                          <a:spcPts val="0"/>
                        </a:spcBef>
                        <a:spcAft>
                          <a:spcPts val="0"/>
                        </a:spcAft>
                      </a:pPr>
                      <a:r>
                        <a:rPr lang="pt-BR" sz="1200">
                          <a:effectLst/>
                        </a:rPr>
                        <a:t>Objetivo do Tópico</a:t>
                      </a:r>
                    </a:p>
                  </a:txBody>
                  <a:tcPr marL="68580" marR="68580" marT="0" marB="0"/>
                </a:tc>
                <a:extLst>
                  <a:ext uri="{0D108BD9-81ED-4DB2-BD59-A6C34878D82A}">
                    <a16:rowId xmlns:a16="http://schemas.microsoft.com/office/drawing/2014/main" val="1874061904"/>
                  </a:ext>
                </a:extLst>
              </a:tr>
              <a:tr h="544489">
                <a:tc>
                  <a:txBody>
                    <a:bodyPr/>
                    <a:lstStyle/>
                    <a:p>
                      <a:pPr marL="0" marR="0" algn="l" rtl="0">
                        <a:lnSpc>
                          <a:spcPct val="107000"/>
                        </a:lnSpc>
                        <a:spcBef>
                          <a:spcPts val="0"/>
                        </a:spcBef>
                        <a:spcAft>
                          <a:spcPts val="0"/>
                        </a:spcAft>
                      </a:pPr>
                      <a:r>
                        <a:rPr lang="pt-BR" sz="1200">
                          <a:effectLst/>
                        </a:rPr>
                        <a:t>Transporte de dados</a:t>
                      </a:r>
                    </a:p>
                  </a:txBody>
                  <a:tcPr marL="68580" marR="68580" marT="0" marB="0"/>
                </a:tc>
                <a:tc>
                  <a:txBody>
                    <a:bodyPr/>
                    <a:lstStyle/>
                    <a:p>
                      <a:pPr marL="0" marR="0" algn="l" rtl="0">
                        <a:lnSpc>
                          <a:spcPct val="107000"/>
                        </a:lnSpc>
                        <a:spcBef>
                          <a:spcPts val="0"/>
                        </a:spcBef>
                        <a:spcAft>
                          <a:spcPts val="0"/>
                        </a:spcAft>
                      </a:pPr>
                      <a:r>
                        <a:rPr lang="pt-BR" sz="1200">
                          <a:solidFill>
                            <a:srgbClr val="080808"/>
                          </a:solidFill>
                          <a:effectLst/>
                          <a:latin typeface="+mn-lt"/>
                          <a:ea typeface="Calibri" panose="020F0502020204030204" pitchFamily="34" charset="0"/>
                          <a:cs typeface="Times New Roman" panose="02020603050405020304" pitchFamily="18" charset="0"/>
                        </a:rPr>
                        <a:t>Explicar a função da camada de transporte no gerenciamento do transporte de dados na comunicação de ponta a ponta.</a:t>
                      </a:r>
                    </a:p>
                  </a:txBody>
                  <a:tcPr marL="68580" marR="68580" marT="0" marB="0"/>
                </a:tc>
                <a:extLst>
                  <a:ext uri="{0D108BD9-81ED-4DB2-BD59-A6C34878D82A}">
                    <a16:rowId xmlns:a16="http://schemas.microsoft.com/office/drawing/2014/main" val="1646858405"/>
                  </a:ext>
                </a:extLst>
              </a:tr>
              <a:tr h="362611">
                <a:tc>
                  <a:txBody>
                    <a:bodyPr/>
                    <a:lstStyle/>
                    <a:p>
                      <a:pPr marL="0" marR="0" algn="l" rtl="0">
                        <a:lnSpc>
                          <a:spcPct val="107000"/>
                        </a:lnSpc>
                        <a:spcBef>
                          <a:spcPts val="0"/>
                        </a:spcBef>
                        <a:spcAft>
                          <a:spcPts val="0"/>
                        </a:spcAft>
                      </a:pPr>
                      <a:r>
                        <a:rPr lang="pt-BR" sz="1200">
                          <a:effectLst/>
                        </a:rPr>
                        <a:t>TCP Overview</a:t>
                      </a:r>
                    </a:p>
                  </a:txBody>
                  <a:tcPr marL="68580" marR="68580" marT="0" marB="0"/>
                </a:tc>
                <a:tc>
                  <a:txBody>
                    <a:bodyPr/>
                    <a:lstStyle/>
                    <a:p>
                      <a:pPr marL="0" marR="0" algn="l" rtl="0">
                        <a:lnSpc>
                          <a:spcPct val="107000"/>
                        </a:lnSpc>
                        <a:spcBef>
                          <a:spcPts val="0"/>
                        </a:spcBef>
                        <a:spcAft>
                          <a:spcPts val="0"/>
                        </a:spcAft>
                      </a:pPr>
                      <a:r>
                        <a:rPr lang="pt-BR" sz="1200">
                          <a:solidFill>
                            <a:srgbClr val="080808"/>
                          </a:solidFill>
                          <a:effectLst/>
                        </a:rPr>
                        <a:t>Explique as características do TCP.</a:t>
                      </a:r>
                    </a:p>
                  </a:txBody>
                  <a:tcPr marL="68580" marR="68580" marT="0" marB="0"/>
                </a:tc>
                <a:extLst>
                  <a:ext uri="{0D108BD9-81ED-4DB2-BD59-A6C34878D82A}">
                    <a16:rowId xmlns:a16="http://schemas.microsoft.com/office/drawing/2014/main" val="1435904258"/>
                  </a:ext>
                </a:extLst>
              </a:tr>
              <a:tr h="193382">
                <a:tc>
                  <a:txBody>
                    <a:bodyPr/>
                    <a:lstStyle/>
                    <a:p>
                      <a:pPr marL="0" marR="0" algn="l" rtl="0">
                        <a:lnSpc>
                          <a:spcPct val="107000"/>
                        </a:lnSpc>
                        <a:spcBef>
                          <a:spcPts val="0"/>
                        </a:spcBef>
                        <a:spcAft>
                          <a:spcPts val="0"/>
                        </a:spcAft>
                      </a:pPr>
                      <a:r>
                        <a:rPr lang="pt-BR" sz="1200">
                          <a:effectLst/>
                        </a:rPr>
                        <a:t>Visão Geral do UDP</a:t>
                      </a:r>
                    </a:p>
                  </a:txBody>
                  <a:tcPr marL="68580" marR="68580" marT="0" marB="0"/>
                </a:tc>
                <a:tc>
                  <a:txBody>
                    <a:bodyPr/>
                    <a:lstStyle/>
                    <a:p>
                      <a:pPr marL="0" marR="0" algn="l" rtl="0">
                        <a:lnSpc>
                          <a:spcPct val="107000"/>
                        </a:lnSpc>
                        <a:spcBef>
                          <a:spcPts val="0"/>
                        </a:spcBef>
                        <a:spcAft>
                          <a:spcPts val="0"/>
                        </a:spcAft>
                      </a:pPr>
                      <a:r>
                        <a:rPr lang="pt-BR" sz="1200">
                          <a:solidFill>
                            <a:srgbClr val="080808"/>
                          </a:solidFill>
                          <a:effectLst/>
                          <a:latin typeface="+mn-lt"/>
                          <a:ea typeface="Calibri" panose="020F0502020204030204" pitchFamily="34" charset="0"/>
                          <a:cs typeface="Times New Roman" panose="02020603050405020304" pitchFamily="18" charset="0"/>
                        </a:rPr>
                        <a:t>Explicar as características da UDP.</a:t>
                      </a:r>
                    </a:p>
                  </a:txBody>
                  <a:tcPr marL="68580" marR="68580" marT="0" marB="0"/>
                </a:tc>
                <a:extLst>
                  <a:ext uri="{0D108BD9-81ED-4DB2-BD59-A6C34878D82A}">
                    <a16:rowId xmlns:a16="http://schemas.microsoft.com/office/drawing/2014/main" val="131737215"/>
                  </a:ext>
                </a:extLst>
              </a:tr>
              <a:tr h="215562">
                <a:tc>
                  <a:txBody>
                    <a:bodyPr/>
                    <a:lstStyle/>
                    <a:p>
                      <a:pPr marL="0" marR="0" algn="l" rtl="0">
                        <a:lnSpc>
                          <a:spcPct val="107000"/>
                        </a:lnSpc>
                        <a:spcBef>
                          <a:spcPts val="0"/>
                        </a:spcBef>
                        <a:spcAft>
                          <a:spcPts val="0"/>
                        </a:spcAft>
                      </a:pPr>
                      <a:r>
                        <a:rPr lang="pt-BR" sz="1200">
                          <a:effectLst/>
                        </a:rPr>
                        <a:t>Números de porta</a:t>
                      </a:r>
                    </a:p>
                  </a:txBody>
                  <a:tcPr marL="68580" marR="68580" marT="0" marB="0"/>
                </a:tc>
                <a:tc>
                  <a:txBody>
                    <a:bodyPr/>
                    <a:lstStyle/>
                    <a:p>
                      <a:pPr marL="0" marR="0" algn="l" rtl="0">
                        <a:lnSpc>
                          <a:spcPct val="107000"/>
                        </a:lnSpc>
                        <a:spcBef>
                          <a:spcPts val="0"/>
                        </a:spcBef>
                        <a:spcAft>
                          <a:spcPts val="0"/>
                        </a:spcAft>
                      </a:pPr>
                      <a:r>
                        <a:rPr lang="pt-BR" sz="1200" b="0" i="0" kern="1200">
                          <a:solidFill>
                            <a:srgbClr val="080808"/>
                          </a:solidFill>
                          <a:effectLst/>
                          <a:latin typeface="+mn-lt"/>
                          <a:ea typeface="+mn-ea"/>
                          <a:cs typeface="+mn-cs"/>
                        </a:rPr>
                        <a:t>Explique como TCP e UDP usam números de porta.</a:t>
                      </a:r>
                    </a:p>
                  </a:txBody>
                  <a:tcPr marL="68580" marR="68580" marT="0" marB="0"/>
                </a:tc>
                <a:extLst>
                  <a:ext uri="{0D108BD9-81ED-4DB2-BD59-A6C34878D82A}">
                    <a16:rowId xmlns:a16="http://schemas.microsoft.com/office/drawing/2014/main" val="3818444524"/>
                  </a:ext>
                </a:extLst>
              </a:tr>
              <a:tr h="580536">
                <a:tc>
                  <a:txBody>
                    <a:bodyPr/>
                    <a:lstStyle/>
                    <a:p>
                      <a:pPr marL="0" marR="0" algn="l" rtl="0">
                        <a:lnSpc>
                          <a:spcPct val="107000"/>
                        </a:lnSpc>
                        <a:spcBef>
                          <a:spcPts val="0"/>
                        </a:spcBef>
                        <a:spcAft>
                          <a:spcPts val="0"/>
                        </a:spcAft>
                      </a:pPr>
                      <a:r>
                        <a:rPr lang="pt-BR" sz="1200">
                          <a:effectLst/>
                        </a:rPr>
                        <a:t>Processo de comunicação TCP</a:t>
                      </a:r>
                    </a:p>
                  </a:txBody>
                  <a:tcPr marL="68580" marR="68580" marT="0" marB="0"/>
                </a:tc>
                <a:tc>
                  <a:txBody>
                    <a:bodyPr/>
                    <a:lstStyle/>
                    <a:p>
                      <a:pPr marL="0" marR="0" algn="l" rtl="0">
                        <a:lnSpc>
                          <a:spcPct val="107000"/>
                        </a:lnSpc>
                        <a:spcBef>
                          <a:spcPts val="0"/>
                        </a:spcBef>
                        <a:spcAft>
                          <a:spcPts val="0"/>
                        </a:spcAft>
                      </a:pPr>
                      <a:r>
                        <a:rPr lang="pt-BR" sz="1200" b="0" i="0" kern="1200">
                          <a:solidFill>
                            <a:srgbClr val="080808"/>
                          </a:solidFill>
                          <a:effectLst/>
                          <a:latin typeface="+mn-lt"/>
                          <a:ea typeface="+mn-ea"/>
                          <a:cs typeface="+mn-cs"/>
                        </a:rPr>
                        <a:t>Explicar como os processos de estabelecimento e encerramento de sessão TCP tornam a comunicação confiável.</a:t>
                      </a:r>
                    </a:p>
                  </a:txBody>
                  <a:tcPr marL="68580" marR="68580" marT="0" marB="0"/>
                </a:tc>
                <a:extLst>
                  <a:ext uri="{0D108BD9-81ED-4DB2-BD59-A6C34878D82A}">
                    <a16:rowId xmlns:a16="http://schemas.microsoft.com/office/drawing/2014/main" val="1846877670"/>
                  </a:ext>
                </a:extLst>
              </a:tr>
              <a:tr h="362611">
                <a:tc>
                  <a:txBody>
                    <a:bodyPr/>
                    <a:lstStyle/>
                    <a:p>
                      <a:pPr marL="0" marR="0" algn="l" rtl="0">
                        <a:lnSpc>
                          <a:spcPct val="107000"/>
                        </a:lnSpc>
                        <a:spcBef>
                          <a:spcPts val="0"/>
                        </a:spcBef>
                        <a:spcAft>
                          <a:spcPts val="0"/>
                        </a:spcAft>
                      </a:pPr>
                      <a:r>
                        <a:rPr lang="pt-BR" sz="1200">
                          <a:effectLst/>
                        </a:rPr>
                        <a:t>Confiabilidade e controle de fluxo</a:t>
                      </a:r>
                    </a:p>
                  </a:txBody>
                  <a:tcPr marL="68580" marR="68580" marT="0" marB="0"/>
                </a:tc>
                <a:tc>
                  <a:txBody>
                    <a:bodyPr/>
                    <a:lstStyle/>
                    <a:p>
                      <a:pPr marL="0" marR="0" algn="l" rtl="0">
                        <a:lnSpc>
                          <a:spcPct val="107000"/>
                        </a:lnSpc>
                        <a:spcBef>
                          <a:spcPts val="0"/>
                        </a:spcBef>
                        <a:spcAft>
                          <a:spcPts val="0"/>
                        </a:spcAft>
                      </a:pPr>
                      <a:r>
                        <a:rPr lang="pt-BR" sz="1200" b="0" i="0" kern="1200">
                          <a:solidFill>
                            <a:srgbClr val="080808"/>
                          </a:solidFill>
                          <a:effectLst/>
                          <a:latin typeface="+mn-lt"/>
                          <a:ea typeface="+mn-ea"/>
                          <a:cs typeface="+mn-cs"/>
                        </a:rPr>
                        <a:t>Explicar como as unidades de dados de protocolo TCP são transmitidas e confirmadas para garantir a entrega.</a:t>
                      </a:r>
                    </a:p>
                  </a:txBody>
                  <a:tcPr marL="68580" marR="68580" marT="0" marB="0"/>
                </a:tc>
                <a:extLst>
                  <a:ext uri="{0D108BD9-81ED-4DB2-BD59-A6C34878D82A}">
                    <a16:rowId xmlns:a16="http://schemas.microsoft.com/office/drawing/2014/main" val="1886050846"/>
                  </a:ext>
                </a:extLst>
              </a:tr>
              <a:tr h="391998">
                <a:tc>
                  <a:txBody>
                    <a:bodyPr/>
                    <a:lstStyle/>
                    <a:p>
                      <a:pPr marL="0" marR="0" algn="l" rtl="0">
                        <a:lnSpc>
                          <a:spcPct val="107000"/>
                        </a:lnSpc>
                        <a:spcBef>
                          <a:spcPts val="0"/>
                        </a:spcBef>
                        <a:spcAft>
                          <a:spcPts val="0"/>
                        </a:spcAft>
                      </a:pPr>
                      <a:r>
                        <a:rPr lang="pt-BR" sz="1100">
                          <a:effectLst/>
                          <a:latin typeface="Arial" panose="020B0604020202020204" pitchFamily="34" charset="0"/>
                          <a:ea typeface="Calibri" panose="020F0502020204030204" pitchFamily="34" charset="0"/>
                          <a:cs typeface="Arial" panose="020B0604020202020204" pitchFamily="34" charset="0"/>
                        </a:rPr>
                        <a:t>Comunicação UDP</a:t>
                      </a:r>
                    </a:p>
                  </a:txBody>
                  <a:tcPr marL="68580" marR="68580" marT="0" marB="0"/>
                </a:tc>
                <a:tc>
                  <a:txBody>
                    <a:bodyPr/>
                    <a:lstStyle/>
                    <a:p>
                      <a:pPr marL="0" marR="0" algn="l" rtl="0">
                        <a:lnSpc>
                          <a:spcPct val="107000"/>
                        </a:lnSpc>
                        <a:spcBef>
                          <a:spcPts val="0"/>
                        </a:spcBef>
                        <a:spcAft>
                          <a:spcPts val="0"/>
                        </a:spcAft>
                      </a:pPr>
                      <a:r>
                        <a:rPr lang="pt-BR" sz="1200" b="0" i="0" kern="1200">
                          <a:solidFill>
                            <a:srgbClr val="080808"/>
                          </a:solidFill>
                          <a:effectLst/>
                          <a:latin typeface="+mn-lt"/>
                          <a:ea typeface="+mn-ea"/>
                          <a:cs typeface="+mn-cs"/>
                        </a:rPr>
                        <a:t>Comparar as operações de protocolos de camada de transporte no suporte da comunicação de ponta a ponta</a:t>
                      </a:r>
                      <a:r>
                        <a:rPr lang="pt-BR" sz="1400" b="0" i="0" kern="1200">
                          <a:solidFill>
                            <a:srgbClr val="080808"/>
                          </a:solidFill>
                          <a:effectLst/>
                          <a:latin typeface="+mn-lt"/>
                          <a:ea typeface="+mn-ea"/>
                          <a:cs typeface="+mn-cs"/>
                        </a:rPr>
                        <a:t>.</a:t>
                      </a:r>
                    </a:p>
                  </a:txBody>
                  <a:tcPr marL="68580" marR="68580" marT="0" marB="0"/>
                </a:tc>
                <a:extLst>
                  <a:ext uri="{0D108BD9-81ED-4DB2-BD59-A6C34878D82A}">
                    <a16:rowId xmlns:a16="http://schemas.microsoft.com/office/drawing/2014/main" val="917870198"/>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pt-BR">
                <a:solidFill>
                  <a:schemeClr val="accent5">
                    <a:lumMod val="40000"/>
                    <a:lumOff val="60000"/>
                  </a:schemeClr>
                </a:solidFill>
              </a:rPr>
              <a:t>14.1 - Transporte de dados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lang="pt-BR" sz="2400"/>
              <a:t>Transporte de dados </a:t>
            </a:r>
            <a:r>
              <a:rPr lang="pt-BR" sz="1600"/>
              <a:t>Propósito de camada de transporte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60219" y="855418"/>
            <a:ext cx="3602182" cy="3559563"/>
          </a:xfrm>
        </p:spPr>
        <p:txBody>
          <a:bodyPr/>
          <a:lstStyle/>
          <a:p>
            <a:pPr marL="0" indent="0" algn="l" rtl="0"/>
            <a:r>
              <a:rPr lang="pt-BR" sz="1800">
                <a:solidFill>
                  <a:srgbClr val="000000"/>
                </a:solidFill>
              </a:rPr>
              <a:t>A camada de transporte é:</a:t>
            </a:r>
          </a:p>
          <a:p>
            <a:pPr marL="285750" indent="-285750" algn="l" rtl="0">
              <a:buFont typeface="Arial" panose="020B0604020202020204" pitchFamily="34" charset="0"/>
              <a:buChar char="•"/>
            </a:pPr>
            <a:r>
              <a:rPr lang="pt-BR" sz="1800">
                <a:solidFill>
                  <a:srgbClr val="000000"/>
                </a:solidFill>
              </a:rPr>
              <a:t>responsável pela comunicação lógica entre aplicativos executados em hosts diferentes.</a:t>
            </a:r>
          </a:p>
          <a:p>
            <a:pPr marL="342900" indent="-342900" algn="l" rtl="0">
              <a:buFont typeface="Arial" panose="020B0604020202020204" pitchFamily="34" charset="0"/>
              <a:buChar char="•"/>
            </a:pPr>
            <a:r>
              <a:rPr lang="pt-BR" sz="1800">
                <a:solidFill>
                  <a:srgbClr val="000000"/>
                </a:solidFill>
              </a:rPr>
              <a:t>Link entre a camada de aplicação e as camadas inferiores responsáveis pela transmissão da rede.</a:t>
            </a:r>
          </a:p>
          <a:p>
            <a:pPr marL="0" indent="0" algn="l"/>
            <a:endParaRPr lang="en-US" sz="1800" dirty="0">
              <a:solidFill>
                <a:srgbClr val="000000"/>
              </a:solidFill>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303A6BBB-1052-C741-BFA6-942405352A31}"/>
              </a:ext>
            </a:extLst>
          </p:cNvPr>
          <p:cNvPicPr>
            <a:picLocks noChangeAspect="1"/>
          </p:cNvPicPr>
          <p:nvPr/>
        </p:nvPicPr>
        <p:blipFill>
          <a:blip r:embed="rId3"/>
          <a:stretch>
            <a:fillRect/>
          </a:stretch>
        </p:blipFill>
        <p:spPr>
          <a:xfrm>
            <a:off x="4304804" y="855418"/>
            <a:ext cx="4478977" cy="3559564"/>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lang="pt-BR" sz="2400"/>
              <a:t>Transporte de dados </a:t>
            </a:r>
            <a:r>
              <a:rPr lang="pt-BR" sz="1600"/>
              <a:t>Responsabilidades da camada de transporte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16817" y="801278"/>
            <a:ext cx="3770722" cy="3864990"/>
          </a:xfrm>
        </p:spPr>
        <p:txBody>
          <a:bodyPr/>
          <a:lstStyle/>
          <a:p>
            <a:pPr marL="0" indent="0" algn="l" rtl="0"/>
            <a:r>
              <a:rPr lang="pt-BR" sz="1600">
                <a:solidFill>
                  <a:srgbClr val="000000"/>
                </a:solidFill>
              </a:rPr>
              <a:t>A camada de transporte tem as seguintes responsabilidades:</a:t>
            </a:r>
          </a:p>
          <a:p>
            <a:pPr marL="342900" indent="-342900" algn="l" rtl="0">
              <a:buFont typeface="Arial" panose="020B0604020202020204" pitchFamily="34" charset="0"/>
              <a:buChar char="•"/>
            </a:pPr>
            <a:r>
              <a:rPr lang="pt-BR" sz="1600">
                <a:solidFill>
                  <a:srgbClr val="000000"/>
                </a:solidFill>
              </a:rPr>
              <a:t>Acompanhamento de conversas individuais</a:t>
            </a:r>
          </a:p>
          <a:p>
            <a:pPr marL="342900" indent="-342900" algn="l" rtl="0">
              <a:buFont typeface="Arial" panose="020B0604020202020204" pitchFamily="34" charset="0"/>
              <a:buChar char="•"/>
            </a:pPr>
            <a:r>
              <a:rPr lang="pt-BR" sz="1600">
                <a:solidFill>
                  <a:srgbClr val="000000"/>
                </a:solidFill>
              </a:rPr>
              <a:t>Segmentando dados e remontando segmentos</a:t>
            </a:r>
          </a:p>
          <a:p>
            <a:pPr marL="342900" indent="-342900" algn="l" rtl="0">
              <a:buFont typeface="Arial" panose="020B0604020202020204" pitchFamily="34" charset="0"/>
              <a:buChar char="•"/>
            </a:pPr>
            <a:r>
              <a:rPr lang="pt-BR" sz="1600">
                <a:solidFill>
                  <a:srgbClr val="000000"/>
                </a:solidFill>
              </a:rPr>
              <a:t>Adiciona informações de cabeçalho</a:t>
            </a:r>
          </a:p>
          <a:p>
            <a:pPr marL="342900" indent="-342900" algn="l" rtl="0">
              <a:buFont typeface="Arial" panose="020B0604020202020204" pitchFamily="34" charset="0"/>
              <a:buChar char="•"/>
            </a:pPr>
            <a:r>
              <a:rPr lang="pt-BR" sz="1600">
                <a:solidFill>
                  <a:srgbClr val="000000"/>
                </a:solidFill>
              </a:rPr>
              <a:t>Identificar, separar e gerenciar várias conversas</a:t>
            </a:r>
          </a:p>
          <a:p>
            <a:pPr marL="342900" indent="-342900" algn="l" rtl="0">
              <a:buFont typeface="Arial" panose="020B0604020202020204" pitchFamily="34" charset="0"/>
              <a:buChar char="•"/>
            </a:pPr>
            <a:r>
              <a:rPr lang="pt-BR" sz="1600">
                <a:solidFill>
                  <a:srgbClr val="000000"/>
                </a:solidFill>
              </a:rPr>
              <a:t>Usa segmentação e multiplexação para permitir que diferentes conversas de comunicação sejam intercaladas na mesma rede</a:t>
            </a: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6672350D-2CF8-5C48-A121-E84D1A7E0221}"/>
              </a:ext>
            </a:extLst>
          </p:cNvPr>
          <p:cNvPicPr>
            <a:picLocks noChangeAspect="1"/>
          </p:cNvPicPr>
          <p:nvPr/>
        </p:nvPicPr>
        <p:blipFill>
          <a:blip r:embed="rId3"/>
          <a:stretch>
            <a:fillRect/>
          </a:stretch>
        </p:blipFill>
        <p:spPr>
          <a:xfrm>
            <a:off x="4172744" y="1358231"/>
            <a:ext cx="4430019" cy="2427037"/>
          </a:xfrm>
          <a:prstGeom prst="rect">
            <a:avLst/>
          </a:prstGeom>
        </p:spPr>
      </p:pic>
    </p:spTree>
    <p:extLst>
      <p:ext uri="{BB962C8B-B14F-4D97-AF65-F5344CB8AC3E}">
        <p14:creationId xmlns:p14="http://schemas.microsoft.com/office/powerpoint/2010/main" val="1075820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Transporte de dados </a:t>
            </a:r>
            <a:br>
              <a:rPr lang="en-US" dirty="0"/>
            </a:br>
            <a:r>
              <a:rPr lang="pt-BR" sz="2400"/>
              <a:t>Protocolos de camada de transporte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401475" cy="3528045"/>
          </a:xfrm>
        </p:spPr>
        <p:txBody>
          <a:bodyPr/>
          <a:lstStyle/>
          <a:p>
            <a:pPr marL="342900" indent="-342900" algn="l" rtl="0">
              <a:buFont typeface="Arial" panose="020B0604020202020204" pitchFamily="34" charset="0"/>
              <a:buChar char="•"/>
            </a:pPr>
            <a:r>
              <a:rPr lang="pt-BR" sz="1600">
                <a:solidFill>
                  <a:srgbClr val="000000"/>
                </a:solidFill>
              </a:rPr>
              <a:t>O IP não especifica como a entrega ou o transporte de pacotes ocorrem.</a:t>
            </a:r>
          </a:p>
          <a:p>
            <a:pPr marL="342900" indent="-342900" algn="l" rtl="0">
              <a:buFont typeface="Arial" panose="020B0604020202020204" pitchFamily="34" charset="0"/>
              <a:buChar char="•"/>
            </a:pPr>
            <a:r>
              <a:rPr lang="pt-BR" sz="1600">
                <a:solidFill>
                  <a:srgbClr val="000000"/>
                </a:solidFill>
              </a:rPr>
              <a:t>Os protocolos de camada de transporte especificam como transferir mensagens entre hosts e são responsáveis pelo gerenciamento dos requisitos de confiabilidade de uma conversa.</a:t>
            </a:r>
          </a:p>
          <a:p>
            <a:pPr marL="342900" indent="-342900" algn="l" rtl="0">
              <a:buFont typeface="Arial" panose="020B0604020202020204" pitchFamily="34" charset="0"/>
              <a:buChar char="•"/>
            </a:pPr>
            <a:r>
              <a:rPr lang="pt-BR" sz="1600">
                <a:solidFill>
                  <a:srgbClr val="000000"/>
                </a:solidFill>
              </a:rPr>
              <a:t>A camada de transporte inclui os protocolos TCP e UDP.</a:t>
            </a:r>
          </a:p>
        </p:txBody>
      </p:sp>
      <p:pic>
        <p:nvPicPr>
          <p:cNvPr id="5" name="Picture 4">
            <a:extLst>
              <a:ext uri="{FF2B5EF4-FFF2-40B4-BE49-F238E27FC236}">
                <a16:creationId xmlns:a16="http://schemas.microsoft.com/office/drawing/2014/main" id="{196F018E-2DCA-4A80-BC76-C15B88C34050}"/>
              </a:ext>
            </a:extLst>
          </p:cNvPr>
          <p:cNvPicPr>
            <a:picLocks noChangeAspect="1"/>
          </p:cNvPicPr>
          <p:nvPr/>
        </p:nvPicPr>
        <p:blipFill>
          <a:blip r:embed="rId3"/>
          <a:stretch>
            <a:fillRect/>
          </a:stretch>
        </p:blipFill>
        <p:spPr>
          <a:xfrm>
            <a:off x="4471177" y="910836"/>
            <a:ext cx="3769959" cy="3277755"/>
          </a:xfrm>
          <a:prstGeom prst="rect">
            <a:avLst/>
          </a:prstGeom>
        </p:spPr>
      </p:pic>
    </p:spTree>
    <p:extLst>
      <p:ext uri="{BB962C8B-B14F-4D97-AF65-F5344CB8AC3E}">
        <p14:creationId xmlns:p14="http://schemas.microsoft.com/office/powerpoint/2010/main" val="2020265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Protocolode Controle de Transmissão deDados</a:t>
            </a:r>
            <a:br>
              <a:rPr lang="en-US" sz="1600" dirty="0"/>
            </a:br>
            <a:endParaRPr lang="en-US" sz="16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613555" cy="3624219"/>
          </a:xfrm>
        </p:spPr>
        <p:txBody>
          <a:bodyPr/>
          <a:lstStyle/>
          <a:p>
            <a:pPr marL="0" indent="0" algn="l" rtl="0"/>
            <a:r>
              <a:rPr lang="pt-BR" sz="1600">
                <a:solidFill>
                  <a:srgbClr val="000000"/>
                </a:solidFill>
              </a:rPr>
              <a:t>O TCP fornece confiabilidade e controle de fluxo. Operações básicas de TCP:</a:t>
            </a:r>
          </a:p>
          <a:p>
            <a:pPr marL="342900" indent="-342900" algn="l" rtl="0">
              <a:buFont typeface="Arial" panose="020B0604020202020204" pitchFamily="34" charset="0"/>
              <a:buChar char="•"/>
            </a:pPr>
            <a:r>
              <a:rPr lang="pt-BR" sz="1600">
                <a:solidFill>
                  <a:srgbClr val="000000"/>
                </a:solidFill>
              </a:rPr>
              <a:t>Número e rastreamento de segmentos de dados transmitidos para um host específico a partir de um aplicativo específico</a:t>
            </a:r>
          </a:p>
          <a:p>
            <a:pPr marL="342900" indent="-342900" algn="l" rtl="0">
              <a:buFont typeface="Arial" panose="020B0604020202020204" pitchFamily="34" charset="0"/>
              <a:buChar char="•"/>
            </a:pPr>
            <a:r>
              <a:rPr lang="pt-BR" sz="1600">
                <a:solidFill>
                  <a:srgbClr val="000000"/>
                </a:solidFill>
              </a:rPr>
              <a:t>Confirmar dados recebidos</a:t>
            </a:r>
          </a:p>
          <a:p>
            <a:pPr marL="342900" indent="-342900" algn="l" rtl="0">
              <a:buFont typeface="Arial" panose="020B0604020202020204" pitchFamily="34" charset="0"/>
              <a:buChar char="•"/>
            </a:pPr>
            <a:r>
              <a:rPr lang="pt-BR" sz="1600">
                <a:solidFill>
                  <a:srgbClr val="000000"/>
                </a:solidFill>
              </a:rPr>
              <a:t>Retransmitir quaisquer dados não reconhecidos após um certo período de tempo</a:t>
            </a:r>
          </a:p>
          <a:p>
            <a:pPr marL="342900" indent="-342900" algn="l" rtl="0">
              <a:buFont typeface="Arial" panose="020B0604020202020204" pitchFamily="34" charset="0"/>
              <a:buChar char="•"/>
            </a:pPr>
            <a:r>
              <a:rPr lang="pt-BR" sz="1600">
                <a:solidFill>
                  <a:srgbClr val="000000"/>
                </a:solidFill>
              </a:rPr>
              <a:t>Dados de sequência que podem chegar em ordem errada</a:t>
            </a:r>
          </a:p>
          <a:p>
            <a:pPr marL="342900" indent="-342900" algn="l" rtl="0">
              <a:buFont typeface="Arial" panose="020B0604020202020204" pitchFamily="34" charset="0"/>
              <a:buChar char="•"/>
            </a:pPr>
            <a:r>
              <a:rPr lang="pt-BR" sz="1600">
                <a:solidFill>
                  <a:srgbClr val="000000"/>
                </a:solidFill>
              </a:rPr>
              <a:t>Enviar dados a uma taxa eficiente que seja aceitável pelo receptor</a:t>
            </a:r>
          </a:p>
        </p:txBody>
      </p:sp>
      <p:pic>
        <p:nvPicPr>
          <p:cNvPr id="2" name="Picture 1">
            <a:extLst>
              <a:ext uri="{FF2B5EF4-FFF2-40B4-BE49-F238E27FC236}">
                <a16:creationId xmlns:a16="http://schemas.microsoft.com/office/drawing/2014/main" id="{9162D660-6159-4AA0-8DC5-FA2FF3768E88}"/>
              </a:ext>
            </a:extLst>
          </p:cNvPr>
          <p:cNvPicPr>
            <a:picLocks noChangeAspect="1"/>
          </p:cNvPicPr>
          <p:nvPr/>
        </p:nvPicPr>
        <p:blipFill>
          <a:blip r:embed="rId3"/>
          <a:stretch>
            <a:fillRect/>
          </a:stretch>
        </p:blipFill>
        <p:spPr>
          <a:xfrm>
            <a:off x="4244918" y="1093342"/>
            <a:ext cx="4773582" cy="2956816"/>
          </a:xfrm>
          <a:prstGeom prst="rect">
            <a:avLst/>
          </a:prstGeom>
        </p:spPr>
      </p:pic>
    </p:spTree>
    <p:extLst>
      <p:ext uri="{BB962C8B-B14F-4D97-AF65-F5344CB8AC3E}">
        <p14:creationId xmlns:p14="http://schemas.microsoft.com/office/powerpoint/2010/main" val="44946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Transporte de Dados </a:t>
            </a:r>
            <a:br>
              <a:rPr lang="en-US" sz="1600" dirty="0"/>
            </a:br>
            <a:r>
              <a:rPr lang="pt-BR" sz="2400"/>
              <a:t>UDP (User Datagram Protocol)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613555" cy="3624219"/>
          </a:xfrm>
        </p:spPr>
        <p:txBody>
          <a:bodyPr/>
          <a:lstStyle/>
          <a:p>
            <a:pPr marL="0" indent="0" algn="l" rtl="0"/>
            <a:r>
              <a:rPr lang="pt-BR" sz="1800">
                <a:solidFill>
                  <a:srgbClr val="000000"/>
                </a:solidFill>
              </a:rPr>
              <a:t>O UDP fornece as funções básicas para fornecer datagramas entre os aplicativos apropriados, com muito pouca sobrecarga e verificação de dados.</a:t>
            </a:r>
          </a:p>
          <a:p>
            <a:pPr marL="342900" indent="-342900" algn="l" rtl="0">
              <a:buFont typeface="Arial" panose="020B0604020202020204" pitchFamily="34" charset="0"/>
              <a:buChar char="•"/>
            </a:pPr>
            <a:r>
              <a:rPr lang="pt-BR" sz="1800">
                <a:solidFill>
                  <a:srgbClr val="000000"/>
                </a:solidFill>
              </a:rPr>
              <a:t>UDP é um protocolo sem conexão. </a:t>
            </a:r>
          </a:p>
          <a:p>
            <a:pPr marL="342900" indent="-342900" algn="l" rtl="0">
              <a:buFont typeface="Arial" panose="020B0604020202020204" pitchFamily="34" charset="0"/>
              <a:buChar char="•"/>
            </a:pPr>
            <a:r>
              <a:rPr lang="pt-BR" sz="1800">
                <a:solidFill>
                  <a:srgbClr val="000000"/>
                </a:solidFill>
              </a:rPr>
              <a:t>O UDP é conhecido como um protocolo de entrega de melhor esforço porque não há confirmação de que os dados são recebidos no destino.</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E6B47C15-00CA-4C66-871E-E0FBCA84BEA5}"/>
              </a:ext>
            </a:extLst>
          </p:cNvPr>
          <p:cNvPicPr>
            <a:picLocks noChangeAspect="1"/>
          </p:cNvPicPr>
          <p:nvPr/>
        </p:nvPicPr>
        <p:blipFill>
          <a:blip r:embed="rId3"/>
          <a:stretch>
            <a:fillRect/>
          </a:stretch>
        </p:blipFill>
        <p:spPr>
          <a:xfrm>
            <a:off x="4211867" y="910836"/>
            <a:ext cx="4738773" cy="2940728"/>
          </a:xfrm>
          <a:prstGeom prst="rect">
            <a:avLst/>
          </a:prstGeom>
        </p:spPr>
      </p:pic>
    </p:spTree>
    <p:extLst>
      <p:ext uri="{BB962C8B-B14F-4D97-AF65-F5344CB8AC3E}">
        <p14:creationId xmlns:p14="http://schemas.microsoft.com/office/powerpoint/2010/main" val="2217575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58615"/>
            <a:ext cx="8345488" cy="731837"/>
          </a:xfrm>
        </p:spPr>
        <p:txBody>
          <a:bodyPr/>
          <a:lstStyle/>
          <a:p>
            <a:pPr rtl="0"/>
            <a:r>
              <a:rPr lang="pt-BR" sz="1600"/>
              <a:t>Transporte de dados </a:t>
            </a:r>
            <a:br>
              <a:rPr lang="en-US" sz="1600" dirty="0"/>
            </a:br>
            <a:r>
              <a:rPr lang="pt-BR" sz="2400"/>
              <a:t>O protocolo de camada de transporte certo para a aplicação certa</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613555" cy="3624219"/>
          </a:xfrm>
        </p:spPr>
        <p:txBody>
          <a:bodyPr/>
          <a:lstStyle/>
          <a:p>
            <a:pPr marL="0" indent="0" algn="l" rtl="0"/>
            <a:r>
              <a:rPr lang="pt-BR" sz="1600">
                <a:solidFill>
                  <a:srgbClr val="000000"/>
                </a:solidFill>
              </a:rPr>
              <a:t>O UDP também é usado por aplicativos de solicitação e resposta onde os dados são mínimos, e a retransmissão pode ser feita rapidamente.</a:t>
            </a:r>
          </a:p>
          <a:p>
            <a:pPr marL="0" indent="0" algn="l"/>
            <a:endParaRPr lang="en-US" sz="1600" dirty="0">
              <a:solidFill>
                <a:srgbClr val="000000"/>
              </a:solidFill>
            </a:endParaRPr>
          </a:p>
          <a:p>
            <a:pPr marL="0" indent="0" algn="l" rtl="0"/>
            <a:r>
              <a:rPr lang="pt-BR" sz="1600">
                <a:solidFill>
                  <a:srgbClr val="000000"/>
                </a:solidFill>
              </a:rPr>
              <a:t>Se for importante que todos os dados cheguem e que possam ser processados em sua sequência adequada, TCP é usado como o protocolo de transporte.</a:t>
            </a:r>
          </a:p>
        </p:txBody>
      </p:sp>
      <p:pic>
        <p:nvPicPr>
          <p:cNvPr id="2" name="Picture 1">
            <a:extLst>
              <a:ext uri="{FF2B5EF4-FFF2-40B4-BE49-F238E27FC236}">
                <a16:creationId xmlns:a16="http://schemas.microsoft.com/office/drawing/2014/main" id="{C48877C7-3178-43FC-AA38-A2383A42DEA3}"/>
              </a:ext>
            </a:extLst>
          </p:cNvPr>
          <p:cNvPicPr>
            <a:picLocks noChangeAspect="1"/>
          </p:cNvPicPr>
          <p:nvPr/>
        </p:nvPicPr>
        <p:blipFill>
          <a:blip r:embed="rId3"/>
          <a:stretch>
            <a:fillRect/>
          </a:stretch>
        </p:blipFill>
        <p:spPr>
          <a:xfrm>
            <a:off x="4193309" y="910836"/>
            <a:ext cx="4442691" cy="3457964"/>
          </a:xfrm>
          <a:prstGeom prst="rect">
            <a:avLst/>
          </a:prstGeom>
        </p:spPr>
      </p:pic>
    </p:spTree>
    <p:extLst>
      <p:ext uri="{BB962C8B-B14F-4D97-AF65-F5344CB8AC3E}">
        <p14:creationId xmlns:p14="http://schemas.microsoft.com/office/powerpoint/2010/main" val="881473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14.2 Visão geral do TCP</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EAEF176-ED67-4FA3-B6ED-B4BCB95F4EE3}"/>
              </a:ext>
            </a:extLst>
          </p:cNvPr>
          <p:cNvSpPr>
            <a:spLocks noGrp="1"/>
          </p:cNvSpPr>
          <p:nvPr>
            <p:ph idx="1"/>
          </p:nvPr>
        </p:nvSpPr>
        <p:spPr/>
        <p:txBody>
          <a:bodyPr/>
          <a:lstStyle/>
          <a:p>
            <a:pPr rtl="0"/>
            <a:r>
              <a:rPr lang="pt-BR" sz="1600" b="1"/>
              <a:t>Estabelece uma sessão - </a:t>
            </a:r>
            <a:r>
              <a:rPr lang="pt-BR" sz="1600"/>
              <a:t>O TCP é um protocolo orientado à conexão que negocia e estabelece uma conexão (ou sessão) permanente entre os dispositivos de origem e de destino antes de encaminhar qualquer tráfego.</a:t>
            </a:r>
          </a:p>
          <a:p>
            <a:pPr rtl="0"/>
            <a:r>
              <a:rPr lang="pt-BR" sz="1600" b="1"/>
              <a:t>Garante a entrega confiável - </a:t>
            </a:r>
            <a:r>
              <a:rPr lang="pt-BR" sz="1600"/>
              <a:t>Por várias razões, é possível que um segmento seja corrompido ou perdido completamente, pois é transmitido pela rede. O TCP garante que cada segmento enviado pela fonte chegue ao destino.</a:t>
            </a:r>
          </a:p>
          <a:p>
            <a:pPr rtl="0"/>
            <a:r>
              <a:rPr lang="pt-BR" sz="1600" b="1"/>
              <a:t>Fornece entrega no mesmo pedido - </a:t>
            </a:r>
            <a:r>
              <a:rPr lang="pt-BR" sz="1600"/>
              <a:t>Como as redes podem fornecer várias rotas que podem ter taxas de transmissão diferentes, os dados podem chegar na ordem errada.</a:t>
            </a:r>
            <a:r>
              <a:rPr lang="pt-BR" sz="1600" b="1"/>
              <a:t> </a:t>
            </a:r>
          </a:p>
          <a:p>
            <a:pPr rtl="0"/>
            <a:r>
              <a:rPr lang="pt-BR" sz="1600" b="1"/>
              <a:t>Suporta controle de fluxo -</a:t>
            </a:r>
            <a:r>
              <a:rPr lang="pt-BR" sz="1600"/>
              <a:t> os hosts de rede têm recursos limitados (ou seja, memória e poder de processamento). Quando percebe que esses recursos estão sobrecarregados, o TCP pode requisitar que a aplicação emissora reduza a taxa de fluxo de dados.</a:t>
            </a:r>
            <a:r>
              <a:rPr lang="pt-BR" sz="1600" b="1"/>
              <a:t> </a:t>
            </a:r>
          </a:p>
        </p:txBody>
      </p:sp>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pPr rtl="0"/>
            <a:r>
              <a:rPr lang="pt-BR" sz="1600"/>
              <a:t>Visão Geral do TCP </a:t>
            </a:r>
            <a:br>
              <a:rPr lang="en-US" sz="1600" dirty="0"/>
            </a:br>
            <a:r>
              <a:rPr lang="pt-BR" sz="2400"/>
              <a:t> Características do TCP</a:t>
            </a:r>
          </a:p>
        </p:txBody>
      </p:sp>
    </p:spTree>
    <p:extLst>
      <p:ext uri="{BB962C8B-B14F-4D97-AF65-F5344CB8AC3E}">
        <p14:creationId xmlns:p14="http://schemas.microsoft.com/office/powerpoint/2010/main" val="256950394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Visão Geral do TCP  </a:t>
            </a:r>
            <a:br>
              <a:rPr lang="en-US" dirty="0"/>
            </a:br>
            <a:r>
              <a:rPr lang="pt-BR" sz="2400"/>
              <a:t>Cabeçalho do TCP</a:t>
            </a:r>
          </a:p>
        </p:txBody>
      </p:sp>
      <p:sp>
        <p:nvSpPr>
          <p:cNvPr id="4" name="Content Placeholder 3">
            <a:extLst>
              <a:ext uri="{FF2B5EF4-FFF2-40B4-BE49-F238E27FC236}">
                <a16:creationId xmlns:a16="http://schemas.microsoft.com/office/drawing/2014/main" id="{6BE9E597-CDF1-0047-B112-C9FD7F790CC7}"/>
              </a:ext>
            </a:extLst>
          </p:cNvPr>
          <p:cNvSpPr>
            <a:spLocks noGrp="1"/>
          </p:cNvSpPr>
          <p:nvPr>
            <p:ph idx="1"/>
          </p:nvPr>
        </p:nvSpPr>
        <p:spPr>
          <a:xfrm>
            <a:off x="474663" y="844062"/>
            <a:ext cx="3293774" cy="3577672"/>
          </a:xfrm>
        </p:spPr>
        <p:txBody>
          <a:bodyPr/>
          <a:lstStyle/>
          <a:p>
            <a:pPr marL="0" indent="0" algn="l" rtl="0"/>
            <a:r>
              <a:rPr lang="pt-BR" sz="1600">
                <a:solidFill>
                  <a:srgbClr val="000000"/>
                </a:solidFill>
              </a:rPr>
              <a:t>TCP é um protocolo stateful, o que significa que ele controla o estado da sessão de comunicação.</a:t>
            </a:r>
          </a:p>
          <a:p>
            <a:pPr marL="0" indent="0" algn="l"/>
            <a:endParaRPr lang="en-US" sz="1600" dirty="0">
              <a:solidFill>
                <a:srgbClr val="000000"/>
              </a:solidFill>
            </a:endParaRPr>
          </a:p>
          <a:p>
            <a:pPr marL="0" indent="0" algn="l" rtl="0"/>
            <a:r>
              <a:rPr lang="pt-BR" sz="1600">
                <a:solidFill>
                  <a:srgbClr val="000000"/>
                </a:solidFill>
              </a:rPr>
              <a:t>O TCP registra quais informações foram enviadas e quais foram confirmadas.</a:t>
            </a:r>
          </a:p>
        </p:txBody>
      </p:sp>
      <p:pic>
        <p:nvPicPr>
          <p:cNvPr id="2" name="Picture 1">
            <a:extLst>
              <a:ext uri="{FF2B5EF4-FFF2-40B4-BE49-F238E27FC236}">
                <a16:creationId xmlns:a16="http://schemas.microsoft.com/office/drawing/2014/main" id="{C9ACDF39-5712-4BF3-B35B-6D3163C3B11D}"/>
              </a:ext>
            </a:extLst>
          </p:cNvPr>
          <p:cNvPicPr>
            <a:picLocks noChangeAspect="1"/>
          </p:cNvPicPr>
          <p:nvPr/>
        </p:nvPicPr>
        <p:blipFill>
          <a:blip r:embed="rId3"/>
          <a:stretch>
            <a:fillRect/>
          </a:stretch>
        </p:blipFill>
        <p:spPr>
          <a:xfrm>
            <a:off x="3728967" y="591399"/>
            <a:ext cx="5333974" cy="3758911"/>
          </a:xfrm>
          <a:prstGeom prst="rect">
            <a:avLst/>
          </a:prstGeom>
        </p:spPr>
      </p:pic>
    </p:spTree>
    <p:extLst>
      <p:ext uri="{BB962C8B-B14F-4D97-AF65-F5344CB8AC3E}">
        <p14:creationId xmlns:p14="http://schemas.microsoft.com/office/powerpoint/2010/main" val="2523690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Visão Geral do TCP</a:t>
            </a:r>
            <a:r>
              <a:rPr lang="pt-BR" sz="2400"/>
              <a:t>Campos de CabeçalhoTCP</a:t>
            </a:r>
          </a:p>
        </p:txBody>
      </p:sp>
      <p:graphicFrame>
        <p:nvGraphicFramePr>
          <p:cNvPr id="6" name="Content Placeholder 5">
            <a:extLst>
              <a:ext uri="{FF2B5EF4-FFF2-40B4-BE49-F238E27FC236}">
                <a16:creationId xmlns:a16="http://schemas.microsoft.com/office/drawing/2014/main" id="{88B7DED4-161D-2E4C-8213-152A201EC6B4}"/>
              </a:ext>
            </a:extLst>
          </p:cNvPr>
          <p:cNvGraphicFramePr>
            <a:graphicFrameLocks noGrp="1"/>
          </p:cNvGraphicFramePr>
          <p:nvPr>
            <p:ph idx="1"/>
            <p:extLst>
              <p:ext uri="{D42A27DB-BD31-4B8C-83A1-F6EECF244321}">
                <p14:modId xmlns:p14="http://schemas.microsoft.com/office/powerpoint/2010/main" val="4122612176"/>
              </p:ext>
            </p:extLst>
          </p:nvPr>
        </p:nvGraphicFramePr>
        <p:xfrm>
          <a:off x="539751" y="763499"/>
          <a:ext cx="8280400" cy="3980154"/>
        </p:xfrm>
        <a:graphic>
          <a:graphicData uri="http://schemas.openxmlformats.org/drawingml/2006/table">
            <a:tbl>
              <a:tblPr firstRow="1" bandRow="1">
                <a:tableStyleId>{5C22544A-7EE6-4342-B048-85BDC9FD1C3A}</a:tableStyleId>
              </a:tblPr>
              <a:tblGrid>
                <a:gridCol w="2059070">
                  <a:extLst>
                    <a:ext uri="{9D8B030D-6E8A-4147-A177-3AD203B41FA5}">
                      <a16:colId xmlns:a16="http://schemas.microsoft.com/office/drawing/2014/main" val="2603652252"/>
                    </a:ext>
                  </a:extLst>
                </a:gridCol>
                <a:gridCol w="6221330">
                  <a:extLst>
                    <a:ext uri="{9D8B030D-6E8A-4147-A177-3AD203B41FA5}">
                      <a16:colId xmlns:a16="http://schemas.microsoft.com/office/drawing/2014/main" val="1473811734"/>
                    </a:ext>
                  </a:extLst>
                </a:gridCol>
              </a:tblGrid>
              <a:tr h="279184">
                <a:tc>
                  <a:txBody>
                    <a:bodyPr/>
                    <a:lstStyle/>
                    <a:p>
                      <a:pPr algn="l" rtl="0" fontAlgn="ctr"/>
                      <a:r>
                        <a:rPr lang="pt-BR" sz="1200" b="1">
                          <a:effectLst/>
                        </a:rPr>
                        <a:t>Campo de cabeçalho TCP</a:t>
                      </a:r>
                    </a:p>
                  </a:txBody>
                  <a:tcPr marL="47625" marR="47625" marT="47625" marB="47625" anchor="ctr"/>
                </a:tc>
                <a:tc>
                  <a:txBody>
                    <a:bodyPr/>
                    <a:lstStyle/>
                    <a:p>
                      <a:pPr algn="l" rtl="0" fontAlgn="ctr"/>
                      <a:r>
                        <a:rPr lang="pt-BR" sz="1200" b="1">
                          <a:effectLst/>
                        </a:rPr>
                        <a:t>Descrição</a:t>
                      </a:r>
                    </a:p>
                  </a:txBody>
                  <a:tcPr marL="47625" marR="47625" marT="47625" marB="47625" anchor="ctr"/>
                </a:tc>
                <a:extLst>
                  <a:ext uri="{0D108BD9-81ED-4DB2-BD59-A6C34878D82A}">
                    <a16:rowId xmlns:a16="http://schemas.microsoft.com/office/drawing/2014/main" val="2256964134"/>
                  </a:ext>
                </a:extLst>
              </a:tr>
              <a:tr h="279184">
                <a:tc>
                  <a:txBody>
                    <a:bodyPr/>
                    <a:lstStyle/>
                    <a:p>
                      <a:pPr rtl="0" fontAlgn="ctr"/>
                      <a:r>
                        <a:rPr lang="pt-BR" sz="1200" b="1">
                          <a:effectLst/>
                        </a:rPr>
                        <a:t>Porta de origem</a:t>
                      </a:r>
                    </a:p>
                  </a:txBody>
                  <a:tcPr marL="47625" marR="47625" marT="47625" marB="47625" anchor="ctr"/>
                </a:tc>
                <a:tc>
                  <a:txBody>
                    <a:bodyPr/>
                    <a:lstStyle/>
                    <a:p>
                      <a:pPr rtl="0" fontAlgn="ctr"/>
                      <a:r>
                        <a:rPr lang="pt-BR" sz="1200" b="0">
                          <a:effectLst/>
                        </a:rPr>
                        <a:t>Um campo de 16 bits usado para identificar o aplicativo de origem por número de porta.</a:t>
                      </a:r>
                    </a:p>
                  </a:txBody>
                  <a:tcPr marL="47625" marR="47625" marT="47625" marB="47625" anchor="ctr"/>
                </a:tc>
                <a:extLst>
                  <a:ext uri="{0D108BD9-81ED-4DB2-BD59-A6C34878D82A}">
                    <a16:rowId xmlns:a16="http://schemas.microsoft.com/office/drawing/2014/main" val="2864511980"/>
                  </a:ext>
                </a:extLst>
              </a:tr>
              <a:tr h="279184">
                <a:tc>
                  <a:txBody>
                    <a:bodyPr/>
                    <a:lstStyle/>
                    <a:p>
                      <a:pPr rtl="0" fontAlgn="ctr"/>
                      <a:r>
                        <a:rPr lang="pt-BR" sz="1200" b="1">
                          <a:effectLst/>
                        </a:rPr>
                        <a:t>Porta de destino</a:t>
                      </a:r>
                    </a:p>
                  </a:txBody>
                  <a:tcPr marL="47625" marR="47625" marT="47625" marB="47625" anchor="ctr"/>
                </a:tc>
                <a:tc>
                  <a:txBody>
                    <a:bodyPr/>
                    <a:lstStyle/>
                    <a:p>
                      <a:pPr rtl="0" fontAlgn="ctr"/>
                      <a:r>
                        <a:rPr lang="pt-BR" sz="1200" b="0">
                          <a:effectLst/>
                        </a:rPr>
                        <a:t>Um campo de 16 bits usado para identificar o aplicativo de destino por número de porta.</a:t>
                      </a:r>
                    </a:p>
                  </a:txBody>
                  <a:tcPr marL="47625" marR="47625" marT="47625" marB="47625" anchor="ctr"/>
                </a:tc>
                <a:extLst>
                  <a:ext uri="{0D108BD9-81ED-4DB2-BD59-A6C34878D82A}">
                    <a16:rowId xmlns:a16="http://schemas.microsoft.com/office/drawing/2014/main" val="827016096"/>
                  </a:ext>
                </a:extLst>
              </a:tr>
              <a:tr h="279184">
                <a:tc>
                  <a:txBody>
                    <a:bodyPr/>
                    <a:lstStyle/>
                    <a:p>
                      <a:pPr rtl="0" fontAlgn="ctr"/>
                      <a:r>
                        <a:rPr lang="pt-BR" sz="1200" b="1">
                          <a:effectLst/>
                        </a:rPr>
                        <a:t>Número de Sequência</a:t>
                      </a:r>
                    </a:p>
                  </a:txBody>
                  <a:tcPr marL="47625" marR="47625" marT="47625" marB="47625" anchor="ctr"/>
                </a:tc>
                <a:tc>
                  <a:txBody>
                    <a:bodyPr/>
                    <a:lstStyle/>
                    <a:p>
                      <a:pPr rtl="0" fontAlgn="ctr"/>
                      <a:r>
                        <a:rPr lang="pt-BR" sz="1200" b="0">
                          <a:effectLst/>
                        </a:rPr>
                        <a:t>Um campo de 32 bits usado para fins de remontagem de dados.</a:t>
                      </a:r>
                    </a:p>
                  </a:txBody>
                  <a:tcPr marL="47625" marR="47625" marT="47625" marB="47625" anchor="ctr"/>
                </a:tc>
                <a:extLst>
                  <a:ext uri="{0D108BD9-81ED-4DB2-BD59-A6C34878D82A}">
                    <a16:rowId xmlns:a16="http://schemas.microsoft.com/office/drawing/2014/main" val="384279451"/>
                  </a:ext>
                </a:extLst>
              </a:tr>
              <a:tr h="347068">
                <a:tc>
                  <a:txBody>
                    <a:bodyPr/>
                    <a:lstStyle/>
                    <a:p>
                      <a:pPr rtl="0" fontAlgn="ctr"/>
                      <a:r>
                        <a:rPr lang="pt-BR" sz="1200" b="1">
                          <a:effectLst/>
                        </a:rPr>
                        <a:t>Número de Confirmação</a:t>
                      </a:r>
                    </a:p>
                  </a:txBody>
                  <a:tcPr marL="47625" marR="47625" marT="47625" marB="47625" anchor="ctr"/>
                </a:tc>
                <a:tc>
                  <a:txBody>
                    <a:bodyPr/>
                    <a:lstStyle/>
                    <a:p>
                      <a:pPr rtl="0" fontAlgn="ctr"/>
                      <a:r>
                        <a:rPr lang="pt-BR" sz="1200" b="0">
                          <a:effectLst/>
                        </a:rPr>
                        <a:t>Um campo de 32 bits usado para indicar que os dados foram recebidos e o próximo byte esperado da origem.</a:t>
                      </a:r>
                    </a:p>
                  </a:txBody>
                  <a:tcPr marL="47625" marR="47625" marT="47625" marB="47625" anchor="ctr"/>
                </a:tc>
                <a:extLst>
                  <a:ext uri="{0D108BD9-81ED-4DB2-BD59-A6C34878D82A}">
                    <a16:rowId xmlns:a16="http://schemas.microsoft.com/office/drawing/2014/main" val="3864515935"/>
                  </a:ext>
                </a:extLst>
              </a:tr>
              <a:tr h="347068">
                <a:tc>
                  <a:txBody>
                    <a:bodyPr/>
                    <a:lstStyle/>
                    <a:p>
                      <a:pPr rtl="0" fontAlgn="ctr"/>
                      <a:r>
                        <a:rPr lang="pt-BR" sz="1200" b="1">
                          <a:effectLst/>
                        </a:rPr>
                        <a:t>Tamanho do cabeçalho</a:t>
                      </a:r>
                    </a:p>
                  </a:txBody>
                  <a:tcPr marL="47625" marR="47625" marT="47625" marB="47625" anchor="ctr"/>
                </a:tc>
                <a:tc>
                  <a:txBody>
                    <a:bodyPr/>
                    <a:lstStyle/>
                    <a:p>
                      <a:pPr rtl="0" fontAlgn="ctr"/>
                      <a:r>
                        <a:rPr lang="pt-BR" sz="1200" b="0">
                          <a:effectLst/>
                        </a:rPr>
                        <a:t>Um campo de 4 bits conhecido como “offset de dados” que indica o comprimento do cabeçalho de segmento TCP.</a:t>
                      </a:r>
                    </a:p>
                  </a:txBody>
                  <a:tcPr marL="47625" marR="47625" marT="47625" marB="47625" anchor="ctr"/>
                </a:tc>
                <a:extLst>
                  <a:ext uri="{0D108BD9-81ED-4DB2-BD59-A6C34878D82A}">
                    <a16:rowId xmlns:a16="http://schemas.microsoft.com/office/drawing/2014/main" val="2643635522"/>
                  </a:ext>
                </a:extLst>
              </a:tr>
              <a:tr h="279184">
                <a:tc>
                  <a:txBody>
                    <a:bodyPr/>
                    <a:lstStyle/>
                    <a:p>
                      <a:pPr rtl="0" fontAlgn="ctr"/>
                      <a:r>
                        <a:rPr lang="pt-BR" sz="1200" b="1">
                          <a:effectLst/>
                        </a:rPr>
                        <a:t>Reservado</a:t>
                      </a:r>
                    </a:p>
                  </a:txBody>
                  <a:tcPr marL="47625" marR="47625" marT="47625" marB="47625" anchor="ctr"/>
                </a:tc>
                <a:tc>
                  <a:txBody>
                    <a:bodyPr/>
                    <a:lstStyle/>
                    <a:p>
                      <a:pPr rtl="0" fontAlgn="ctr"/>
                      <a:r>
                        <a:rPr lang="pt-BR" sz="1200" b="0">
                          <a:effectLst/>
                        </a:rPr>
                        <a:t>Um campo de 6 bits que é reservado para uso futuro.</a:t>
                      </a:r>
                    </a:p>
                  </a:txBody>
                  <a:tcPr marL="47625" marR="47625" marT="47625" marB="47625" anchor="ctr"/>
                </a:tc>
                <a:extLst>
                  <a:ext uri="{0D108BD9-81ED-4DB2-BD59-A6C34878D82A}">
                    <a16:rowId xmlns:a16="http://schemas.microsoft.com/office/drawing/2014/main" val="362120262"/>
                  </a:ext>
                </a:extLst>
              </a:tr>
              <a:tr h="347068">
                <a:tc>
                  <a:txBody>
                    <a:bodyPr/>
                    <a:lstStyle/>
                    <a:p>
                      <a:pPr rtl="0" fontAlgn="ctr"/>
                      <a:r>
                        <a:rPr lang="pt-BR" sz="1200" b="1">
                          <a:effectLst/>
                        </a:rPr>
                        <a:t>Bits de controle</a:t>
                      </a:r>
                    </a:p>
                  </a:txBody>
                  <a:tcPr marL="47625" marR="47625" marT="47625" marB="47625" anchor="ctr"/>
                </a:tc>
                <a:tc>
                  <a:txBody>
                    <a:bodyPr/>
                    <a:lstStyle/>
                    <a:p>
                      <a:pPr rtl="0" fontAlgn="ctr"/>
                      <a:r>
                        <a:rPr lang="pt-BR" sz="1200" b="0">
                          <a:effectLst/>
                        </a:rPr>
                        <a:t>Um campo de 6 bits usado que inclui códigos de bits ou sinalizadores, que indicam a finalidade e a função do segmento TCP.</a:t>
                      </a:r>
                    </a:p>
                  </a:txBody>
                  <a:tcPr marL="47625" marR="47625" marT="47625" marB="47625" anchor="ctr"/>
                </a:tc>
                <a:extLst>
                  <a:ext uri="{0D108BD9-81ED-4DB2-BD59-A6C34878D82A}">
                    <a16:rowId xmlns:a16="http://schemas.microsoft.com/office/drawing/2014/main" val="2436611112"/>
                  </a:ext>
                </a:extLst>
              </a:tr>
              <a:tr h="279184">
                <a:tc>
                  <a:txBody>
                    <a:bodyPr/>
                    <a:lstStyle/>
                    <a:p>
                      <a:pPr rtl="0" fontAlgn="ctr"/>
                      <a:r>
                        <a:rPr lang="pt-BR" sz="1200" b="1">
                          <a:effectLst/>
                        </a:rPr>
                        <a:t>Tamanho da janela</a:t>
                      </a:r>
                    </a:p>
                  </a:txBody>
                  <a:tcPr marL="47625" marR="47625" marT="47625" marB="47625" anchor="ctr"/>
                </a:tc>
                <a:tc>
                  <a:txBody>
                    <a:bodyPr/>
                    <a:lstStyle/>
                    <a:p>
                      <a:pPr rtl="0" fontAlgn="ctr"/>
                      <a:r>
                        <a:rPr lang="pt-BR" sz="1200" b="0">
                          <a:effectLst/>
                        </a:rPr>
                        <a:t>Um campo de 16 bits usado para indicar o número de bytes que podem ser aceitos ao mesmo tempo.</a:t>
                      </a:r>
                    </a:p>
                  </a:txBody>
                  <a:tcPr marL="47625" marR="47625" marT="47625" marB="47625" anchor="ctr"/>
                </a:tc>
                <a:extLst>
                  <a:ext uri="{0D108BD9-81ED-4DB2-BD59-A6C34878D82A}">
                    <a16:rowId xmlns:a16="http://schemas.microsoft.com/office/drawing/2014/main" val="3574228208"/>
                  </a:ext>
                </a:extLst>
              </a:tr>
              <a:tr h="279184">
                <a:tc>
                  <a:txBody>
                    <a:bodyPr/>
                    <a:lstStyle/>
                    <a:p>
                      <a:pPr rtl="0" fontAlgn="ctr"/>
                      <a:r>
                        <a:rPr lang="pt-BR" sz="1200" b="1">
                          <a:effectLst/>
                        </a:rPr>
                        <a:t>Checksum</a:t>
                      </a:r>
                    </a:p>
                  </a:txBody>
                  <a:tcPr marL="47625" marR="47625" marT="47625" marB="47625" anchor="ctr"/>
                </a:tc>
                <a:tc>
                  <a:txBody>
                    <a:bodyPr/>
                    <a:lstStyle/>
                    <a:p>
                      <a:pPr rtl="0" fontAlgn="ctr"/>
                      <a:r>
                        <a:rPr lang="pt-BR" sz="1200" b="0">
                          <a:effectLst/>
                        </a:rPr>
                        <a:t>Um campo de 16 bits usado para verificação de erros do cabeçalho e dos dados do segmento.</a:t>
                      </a:r>
                    </a:p>
                  </a:txBody>
                  <a:tcPr marL="47625" marR="47625" marT="47625" marB="47625" anchor="ctr"/>
                </a:tc>
                <a:extLst>
                  <a:ext uri="{0D108BD9-81ED-4DB2-BD59-A6C34878D82A}">
                    <a16:rowId xmlns:a16="http://schemas.microsoft.com/office/drawing/2014/main" val="1171558268"/>
                  </a:ext>
                </a:extLst>
              </a:tr>
              <a:tr h="279184">
                <a:tc>
                  <a:txBody>
                    <a:bodyPr/>
                    <a:lstStyle/>
                    <a:p>
                      <a:pPr rtl="0" fontAlgn="ctr"/>
                      <a:r>
                        <a:rPr lang="pt-BR" sz="1200" b="1">
                          <a:effectLst/>
                        </a:rPr>
                        <a:t>Urgente</a:t>
                      </a:r>
                    </a:p>
                  </a:txBody>
                  <a:tcPr marL="47625" marR="47625" marT="47625" marB="47625" anchor="ctr"/>
                </a:tc>
                <a:tc>
                  <a:txBody>
                    <a:bodyPr/>
                    <a:lstStyle/>
                    <a:p>
                      <a:pPr rtl="0" fontAlgn="ctr"/>
                      <a:r>
                        <a:rPr lang="pt-BR" sz="1200" b="0">
                          <a:effectLst/>
                        </a:rPr>
                        <a:t>Um campo de 16 bits usado para indicar se os dados contidos são urgentes.</a:t>
                      </a:r>
                    </a:p>
                  </a:txBody>
                  <a:tcPr marL="47625" marR="47625" marT="47625" marB="47625" anchor="ctr"/>
                </a:tc>
                <a:extLst>
                  <a:ext uri="{0D108BD9-81ED-4DB2-BD59-A6C34878D82A}">
                    <a16:rowId xmlns:a16="http://schemas.microsoft.com/office/drawing/2014/main" val="3419997136"/>
                  </a:ext>
                </a:extLst>
              </a:tr>
            </a:tbl>
          </a:graphicData>
        </a:graphic>
      </p:graphicFrame>
    </p:spTree>
    <p:extLst>
      <p:ext uri="{BB962C8B-B14F-4D97-AF65-F5344CB8AC3E}">
        <p14:creationId xmlns:p14="http://schemas.microsoft.com/office/powerpoint/2010/main" val="1734700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pPr rtl="0"/>
            <a:r>
              <a:rPr lang="pt-BR" sz="1600"/>
              <a:t>Visão Geral do TCP </a:t>
            </a:r>
            <a:br>
              <a:rPr lang="en-US" dirty="0"/>
            </a:br>
            <a:r>
              <a:rPr lang="pt-BR" sz="2400"/>
              <a:t>Aplicações que usam TCP</a:t>
            </a:r>
          </a:p>
        </p:txBody>
      </p:sp>
      <p:sp>
        <p:nvSpPr>
          <p:cNvPr id="5" name="Content Placeholder 4">
            <a:extLst>
              <a:ext uri="{FF2B5EF4-FFF2-40B4-BE49-F238E27FC236}">
                <a16:creationId xmlns:a16="http://schemas.microsoft.com/office/drawing/2014/main" id="{3E427DE6-67B8-4D1B-A2DD-BEEC0526E711}"/>
              </a:ext>
            </a:extLst>
          </p:cNvPr>
          <p:cNvSpPr>
            <a:spLocks noGrp="1"/>
          </p:cNvSpPr>
          <p:nvPr>
            <p:ph idx="1"/>
          </p:nvPr>
        </p:nvSpPr>
        <p:spPr>
          <a:xfrm>
            <a:off x="144065" y="1151931"/>
            <a:ext cx="4042610" cy="3378126"/>
          </a:xfrm>
        </p:spPr>
        <p:txBody>
          <a:bodyPr/>
          <a:lstStyle/>
          <a:p>
            <a:pPr marL="0" indent="0" rtl="0">
              <a:buNone/>
            </a:pPr>
            <a:r>
              <a:rPr lang="pt-BR" sz="1800"/>
              <a:t>O TCP lida com todas as tarefas associadas à divisão do fluxo de dados em segmentos, fornecendo confiabilidade, controlando o fluxo de dados e reordenando segmentos.</a:t>
            </a:r>
          </a:p>
          <a:p>
            <a:pPr marL="0" indent="0">
              <a:buNone/>
            </a:pPr>
            <a:endParaRPr lang="en-US" dirty="0"/>
          </a:p>
        </p:txBody>
      </p:sp>
      <p:pic>
        <p:nvPicPr>
          <p:cNvPr id="7" name="Picture 6">
            <a:extLst>
              <a:ext uri="{FF2B5EF4-FFF2-40B4-BE49-F238E27FC236}">
                <a16:creationId xmlns:a16="http://schemas.microsoft.com/office/drawing/2014/main" id="{1ECE00DC-D55C-4A0A-9B55-EA4DCC646D6F}"/>
              </a:ext>
            </a:extLst>
          </p:cNvPr>
          <p:cNvPicPr>
            <a:picLocks noChangeAspect="1"/>
          </p:cNvPicPr>
          <p:nvPr/>
        </p:nvPicPr>
        <p:blipFill rotWithShape="1">
          <a:blip r:embed="rId3"/>
          <a:srcRect r="3352"/>
          <a:stretch/>
        </p:blipFill>
        <p:spPr>
          <a:xfrm>
            <a:off x="4379495" y="902857"/>
            <a:ext cx="4042610" cy="3337786"/>
          </a:xfrm>
          <a:prstGeom prst="rect">
            <a:avLst/>
          </a:prstGeom>
        </p:spPr>
      </p:pic>
    </p:spTree>
    <p:extLst>
      <p:ext uri="{BB962C8B-B14F-4D97-AF65-F5344CB8AC3E}">
        <p14:creationId xmlns:p14="http://schemas.microsoft.com/office/powerpoint/2010/main" val="4109067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14.3 - Visão geral do UDP</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Visão Geral do UDP </a:t>
            </a:r>
            <a:br>
              <a:rPr lang="en-US" sz="1600" dirty="0"/>
            </a:br>
            <a:r>
              <a:rPr lang="pt-BR"/>
              <a:t>Recursos de UDP</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8280057" cy="3505566"/>
          </a:xfrm>
        </p:spPr>
        <p:txBody>
          <a:bodyPr/>
          <a:lstStyle/>
          <a:p>
            <a:pPr marL="0" indent="0" algn="l" rtl="0"/>
            <a:r>
              <a:rPr lang="pt-BR" sz="1800">
                <a:solidFill>
                  <a:srgbClr val="000000"/>
                </a:solidFill>
              </a:rPr>
              <a:t>Os recursos UDP incluem o seguinte:</a:t>
            </a:r>
          </a:p>
          <a:p>
            <a:pPr marL="285750" indent="-285750" algn="l" rtl="0">
              <a:buFont typeface="Arial" panose="020B0604020202020204" pitchFamily="34" charset="0"/>
              <a:buChar char="•"/>
            </a:pPr>
            <a:r>
              <a:rPr lang="pt-BR" sz="1800">
                <a:solidFill>
                  <a:srgbClr val="000000"/>
                </a:solidFill>
              </a:rPr>
              <a:t>Os dados são reagrupados na ordem em que são recebidos.</a:t>
            </a:r>
          </a:p>
          <a:p>
            <a:pPr marL="285750" indent="-285750" algn="l" rtl="0">
              <a:buFont typeface="Arial" panose="020B0604020202020204" pitchFamily="34" charset="0"/>
              <a:buChar char="•"/>
            </a:pPr>
            <a:r>
              <a:rPr lang="pt-BR" sz="1800">
                <a:solidFill>
                  <a:srgbClr val="000000"/>
                </a:solidFill>
              </a:rPr>
              <a:t>Quaisquer segmentos perdidos não são reenviados.</a:t>
            </a:r>
          </a:p>
          <a:p>
            <a:pPr marL="285750" indent="-285750" algn="l" rtl="0">
              <a:buFont typeface="Arial" panose="020B0604020202020204" pitchFamily="34" charset="0"/>
              <a:buChar char="•"/>
            </a:pPr>
            <a:r>
              <a:rPr lang="pt-BR" sz="1800">
                <a:solidFill>
                  <a:srgbClr val="000000"/>
                </a:solidFill>
              </a:rPr>
              <a:t>Nenhum estabelecimento de seção.</a:t>
            </a:r>
          </a:p>
          <a:p>
            <a:pPr marL="285750" indent="-285750" algn="l" rtl="0">
              <a:buFont typeface="Arial" panose="020B0604020202020204" pitchFamily="34" charset="0"/>
              <a:buChar char="•"/>
            </a:pPr>
            <a:r>
              <a:rPr lang="pt-BR" sz="1800">
                <a:solidFill>
                  <a:srgbClr val="000000"/>
                </a:solidFill>
              </a:rPr>
              <a:t>O envio não é informado sobre a disponibilidade do recurso.</a:t>
            </a:r>
          </a:p>
        </p:txBody>
      </p:sp>
    </p:spTree>
    <p:extLst>
      <p:ext uri="{BB962C8B-B14F-4D97-AF65-F5344CB8AC3E}">
        <p14:creationId xmlns:p14="http://schemas.microsoft.com/office/powerpoint/2010/main" val="39457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Visão Geral do UDP </a:t>
            </a:r>
            <a:br>
              <a:rPr lang="en-US" dirty="0"/>
            </a:br>
            <a:r>
              <a:rPr lang="pt-BR" sz="2400"/>
              <a:t>Cabeçalho UDP</a:t>
            </a:r>
          </a:p>
        </p:txBody>
      </p:sp>
      <p:sp>
        <p:nvSpPr>
          <p:cNvPr id="2" name="TextBox 1">
            <a:extLst>
              <a:ext uri="{FF2B5EF4-FFF2-40B4-BE49-F238E27FC236}">
                <a16:creationId xmlns:a16="http://schemas.microsoft.com/office/drawing/2014/main" id="{BB0A503F-F65D-4ECE-8C28-6E1BC388ACB2}"/>
              </a:ext>
            </a:extLst>
          </p:cNvPr>
          <p:cNvSpPr txBox="1"/>
          <p:nvPr/>
        </p:nvSpPr>
        <p:spPr>
          <a:xfrm>
            <a:off x="498764" y="731837"/>
            <a:ext cx="7846724" cy="646331"/>
          </a:xfrm>
          <a:prstGeom prst="rect">
            <a:avLst/>
          </a:prstGeom>
          <a:noFill/>
        </p:spPr>
        <p:txBody>
          <a:bodyPr wrap="square" rtlCol="0">
            <a:spAutoFit/>
          </a:bodyPr>
          <a:lstStyle/>
          <a:p>
            <a:pPr rtl="0"/>
            <a:r>
              <a:rPr lang="pt-BR"/>
              <a:t>O cabeçalho UDP é muito mais simples do que o cabeçalho TCP porque só tem quatro campos e requer 8 bytes (ou seja, 64 bits).</a:t>
            </a:r>
          </a:p>
        </p:txBody>
      </p:sp>
      <p:pic>
        <p:nvPicPr>
          <p:cNvPr id="5" name="Content Placeholder 4">
            <a:extLst>
              <a:ext uri="{FF2B5EF4-FFF2-40B4-BE49-F238E27FC236}">
                <a16:creationId xmlns:a16="http://schemas.microsoft.com/office/drawing/2014/main" id="{9CE026F8-2EF7-429A-82BF-ABD2601766B8}"/>
              </a:ext>
            </a:extLst>
          </p:cNvPr>
          <p:cNvPicPr>
            <a:picLocks noGrp="1" noChangeAspect="1"/>
          </p:cNvPicPr>
          <p:nvPr>
            <p:ph idx="1"/>
          </p:nvPr>
        </p:nvPicPr>
        <p:blipFill rotWithShape="1">
          <a:blip r:embed="rId3"/>
          <a:srcRect l="1429" t="4187" r="1835" b="4117"/>
          <a:stretch/>
        </p:blipFill>
        <p:spPr>
          <a:xfrm>
            <a:off x="890337" y="1540042"/>
            <a:ext cx="7712242" cy="2358190"/>
          </a:xfrm>
          <a:prstGeom prst="rect">
            <a:avLst/>
          </a:prstGeom>
        </p:spPr>
      </p:pic>
    </p:spTree>
    <p:extLst>
      <p:ext uri="{BB962C8B-B14F-4D97-AF65-F5344CB8AC3E}">
        <p14:creationId xmlns:p14="http://schemas.microsoft.com/office/powerpoint/2010/main" val="276503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Visão Geral</a:t>
            </a:r>
            <a:br>
              <a:rPr lang="en-US" dirty="0"/>
            </a:br>
            <a:r>
              <a:rPr lang="pt-BR" sz="2400"/>
              <a:t>UDP Campos de Cabeçalho UDP</a:t>
            </a:r>
          </a:p>
        </p:txBody>
      </p:sp>
      <p:sp>
        <p:nvSpPr>
          <p:cNvPr id="2" name="TextBox 1">
            <a:extLst>
              <a:ext uri="{FF2B5EF4-FFF2-40B4-BE49-F238E27FC236}">
                <a16:creationId xmlns:a16="http://schemas.microsoft.com/office/drawing/2014/main" id="{7A79FB27-AB75-4676-A7DD-F32F8108A8E4}"/>
              </a:ext>
            </a:extLst>
          </p:cNvPr>
          <p:cNvSpPr txBox="1"/>
          <p:nvPr/>
        </p:nvSpPr>
        <p:spPr>
          <a:xfrm>
            <a:off x="193964" y="731837"/>
            <a:ext cx="7329054" cy="369332"/>
          </a:xfrm>
          <a:prstGeom prst="rect">
            <a:avLst/>
          </a:prstGeom>
          <a:noFill/>
        </p:spPr>
        <p:txBody>
          <a:bodyPr wrap="square" rtlCol="0">
            <a:spAutoFit/>
          </a:bodyPr>
          <a:lstStyle/>
          <a:p>
            <a:pPr rtl="0"/>
            <a:r>
              <a:rPr lang="pt-BR"/>
              <a:t>A tabela identifica e descreve os quatro campos em um cabeçalho UDP.</a:t>
            </a:r>
          </a:p>
        </p:txBody>
      </p:sp>
      <p:graphicFrame>
        <p:nvGraphicFramePr>
          <p:cNvPr id="6" name="Content Placeholder 5">
            <a:extLst>
              <a:ext uri="{FF2B5EF4-FFF2-40B4-BE49-F238E27FC236}">
                <a16:creationId xmlns:a16="http://schemas.microsoft.com/office/drawing/2014/main" id="{3F2E23C1-508F-7649-AE14-E808BD745B8C}"/>
              </a:ext>
            </a:extLst>
          </p:cNvPr>
          <p:cNvGraphicFramePr>
            <a:graphicFrameLocks noGrp="1"/>
          </p:cNvGraphicFramePr>
          <p:nvPr>
            <p:ph idx="1"/>
            <p:extLst>
              <p:ext uri="{D42A27DB-BD31-4B8C-83A1-F6EECF244321}">
                <p14:modId xmlns:p14="http://schemas.microsoft.com/office/powerpoint/2010/main" val="363268572"/>
              </p:ext>
            </p:extLst>
          </p:nvPr>
        </p:nvGraphicFramePr>
        <p:xfrm>
          <a:off x="431800" y="1644650"/>
          <a:ext cx="8280400" cy="2458720"/>
        </p:xfrm>
        <a:graphic>
          <a:graphicData uri="http://schemas.openxmlformats.org/drawingml/2006/table">
            <a:tbl>
              <a:tblPr firstRow="1" bandRow="1">
                <a:tableStyleId>{5C22544A-7EE6-4342-B048-85BDC9FD1C3A}</a:tableStyleId>
              </a:tblPr>
              <a:tblGrid>
                <a:gridCol w="1697789">
                  <a:extLst>
                    <a:ext uri="{9D8B030D-6E8A-4147-A177-3AD203B41FA5}">
                      <a16:colId xmlns:a16="http://schemas.microsoft.com/office/drawing/2014/main" val="672764447"/>
                    </a:ext>
                  </a:extLst>
                </a:gridCol>
                <a:gridCol w="6582611">
                  <a:extLst>
                    <a:ext uri="{9D8B030D-6E8A-4147-A177-3AD203B41FA5}">
                      <a16:colId xmlns:a16="http://schemas.microsoft.com/office/drawing/2014/main" val="1898767724"/>
                    </a:ext>
                  </a:extLst>
                </a:gridCol>
              </a:tblGrid>
              <a:tr h="370840">
                <a:tc>
                  <a:txBody>
                    <a:bodyPr/>
                    <a:lstStyle/>
                    <a:p>
                      <a:pPr algn="l" rtl="0" fontAlgn="ctr"/>
                      <a:r>
                        <a:rPr lang="pt-BR" b="1">
                          <a:effectLst/>
                        </a:rPr>
                        <a:t>Campo de Cabeçalho UDP</a:t>
                      </a:r>
                    </a:p>
                  </a:txBody>
                  <a:tcPr marL="47625" marR="47625" marT="47625" marB="47625" anchor="ctr"/>
                </a:tc>
                <a:tc>
                  <a:txBody>
                    <a:bodyPr/>
                    <a:lstStyle/>
                    <a:p>
                      <a:pPr algn="l" rtl="0" fontAlgn="ctr"/>
                      <a:r>
                        <a:rPr lang="pt-BR" b="1">
                          <a:effectLst/>
                        </a:rPr>
                        <a:t>Descrição</a:t>
                      </a:r>
                    </a:p>
                  </a:txBody>
                  <a:tcPr marL="47625" marR="47625" marT="47625" marB="47625" anchor="ctr"/>
                </a:tc>
                <a:extLst>
                  <a:ext uri="{0D108BD9-81ED-4DB2-BD59-A6C34878D82A}">
                    <a16:rowId xmlns:a16="http://schemas.microsoft.com/office/drawing/2014/main" val="899509290"/>
                  </a:ext>
                </a:extLst>
              </a:tr>
              <a:tr h="370840">
                <a:tc>
                  <a:txBody>
                    <a:bodyPr/>
                    <a:lstStyle/>
                    <a:p>
                      <a:pPr rtl="0" fontAlgn="ctr"/>
                      <a:r>
                        <a:rPr lang="pt-BR" b="1">
                          <a:effectLst/>
                        </a:rPr>
                        <a:t>Porta de origem</a:t>
                      </a:r>
                    </a:p>
                  </a:txBody>
                  <a:tcPr marL="47625" marR="47625" marT="47625" marB="47625" anchor="ctr"/>
                </a:tc>
                <a:tc>
                  <a:txBody>
                    <a:bodyPr/>
                    <a:lstStyle/>
                    <a:p>
                      <a:pPr rtl="0" fontAlgn="ctr"/>
                      <a:r>
                        <a:rPr lang="pt-BR" b="0">
                          <a:effectLst/>
                        </a:rPr>
                        <a:t>Um campo de 16 bits usado para identificar o aplicativo de origem por número de porta.</a:t>
                      </a:r>
                    </a:p>
                  </a:txBody>
                  <a:tcPr marL="47625" marR="47625" marT="47625" marB="47625" anchor="ctr"/>
                </a:tc>
                <a:extLst>
                  <a:ext uri="{0D108BD9-81ED-4DB2-BD59-A6C34878D82A}">
                    <a16:rowId xmlns:a16="http://schemas.microsoft.com/office/drawing/2014/main" val="3858658826"/>
                  </a:ext>
                </a:extLst>
              </a:tr>
              <a:tr h="370840">
                <a:tc>
                  <a:txBody>
                    <a:bodyPr/>
                    <a:lstStyle/>
                    <a:p>
                      <a:pPr rtl="0" fontAlgn="ctr"/>
                      <a:r>
                        <a:rPr lang="pt-BR" b="1">
                          <a:effectLst/>
                        </a:rPr>
                        <a:t>Porta de destino</a:t>
                      </a:r>
                    </a:p>
                  </a:txBody>
                  <a:tcPr marL="47625" marR="47625" marT="47625" marB="47625" anchor="ctr"/>
                </a:tc>
                <a:tc>
                  <a:txBody>
                    <a:bodyPr/>
                    <a:lstStyle/>
                    <a:p>
                      <a:pPr rtl="0" fontAlgn="ctr"/>
                      <a:r>
                        <a:rPr lang="pt-BR" b="0">
                          <a:effectLst/>
                        </a:rPr>
                        <a:t>Um campo de 16 bits usado para identificar o aplicativo de destino pelo número da porta.</a:t>
                      </a:r>
                    </a:p>
                  </a:txBody>
                  <a:tcPr marL="47625" marR="47625" marT="47625" marB="47625" anchor="ctr"/>
                </a:tc>
                <a:extLst>
                  <a:ext uri="{0D108BD9-81ED-4DB2-BD59-A6C34878D82A}">
                    <a16:rowId xmlns:a16="http://schemas.microsoft.com/office/drawing/2014/main" val="808665367"/>
                  </a:ext>
                </a:extLst>
              </a:tr>
              <a:tr h="370840">
                <a:tc>
                  <a:txBody>
                    <a:bodyPr/>
                    <a:lstStyle/>
                    <a:p>
                      <a:pPr rtl="0" fontAlgn="ctr"/>
                      <a:r>
                        <a:rPr lang="pt-BR" b="1">
                          <a:effectLst/>
                        </a:rPr>
                        <a:t>Duração</a:t>
                      </a:r>
                    </a:p>
                  </a:txBody>
                  <a:tcPr marL="47625" marR="47625" marT="47625" marB="47625" anchor="ctr"/>
                </a:tc>
                <a:tc>
                  <a:txBody>
                    <a:bodyPr/>
                    <a:lstStyle/>
                    <a:p>
                      <a:pPr rtl="0" fontAlgn="ctr"/>
                      <a:r>
                        <a:rPr lang="pt-BR" b="0">
                          <a:effectLst/>
                        </a:rPr>
                        <a:t>Um campo de 16 bits que indica o comprimento do cabeçalho do datagrama UDP.</a:t>
                      </a:r>
                    </a:p>
                  </a:txBody>
                  <a:tcPr marL="47625" marR="47625" marT="47625" marB="47625" anchor="ctr"/>
                </a:tc>
                <a:extLst>
                  <a:ext uri="{0D108BD9-81ED-4DB2-BD59-A6C34878D82A}">
                    <a16:rowId xmlns:a16="http://schemas.microsoft.com/office/drawing/2014/main" val="1521255676"/>
                  </a:ext>
                </a:extLst>
              </a:tr>
              <a:tr h="370840">
                <a:tc>
                  <a:txBody>
                    <a:bodyPr/>
                    <a:lstStyle/>
                    <a:p>
                      <a:pPr rtl="0" fontAlgn="ctr"/>
                      <a:r>
                        <a:rPr lang="pt-BR" b="1">
                          <a:effectLst/>
                        </a:rPr>
                        <a:t>Checksum</a:t>
                      </a:r>
                    </a:p>
                  </a:txBody>
                  <a:tcPr marL="47625" marR="47625" marT="47625" marB="47625" anchor="ctr"/>
                </a:tc>
                <a:tc>
                  <a:txBody>
                    <a:bodyPr/>
                    <a:lstStyle/>
                    <a:p>
                      <a:pPr rtl="0" fontAlgn="ctr"/>
                      <a:r>
                        <a:rPr lang="pt-BR" b="0">
                          <a:effectLst/>
                        </a:rPr>
                        <a:t>Um campo de 16 bits usado para verificação de erros do cabeçalho e dos dados do datagrama.</a:t>
                      </a:r>
                    </a:p>
                  </a:txBody>
                  <a:tcPr marL="47625" marR="47625" marT="47625" marB="47625" anchor="ctr"/>
                </a:tc>
                <a:extLst>
                  <a:ext uri="{0D108BD9-81ED-4DB2-BD59-A6C34878D82A}">
                    <a16:rowId xmlns:a16="http://schemas.microsoft.com/office/drawing/2014/main" val="14811281"/>
                  </a:ext>
                </a:extLst>
              </a:tr>
            </a:tbl>
          </a:graphicData>
        </a:graphic>
      </p:graphicFrame>
    </p:spTree>
    <p:extLst>
      <p:ext uri="{BB962C8B-B14F-4D97-AF65-F5344CB8AC3E}">
        <p14:creationId xmlns:p14="http://schemas.microsoft.com/office/powerpoint/2010/main" val="1775858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pPr rtl="0"/>
            <a:r>
              <a:rPr lang="pt-BR" sz="1600"/>
              <a:t>Visão Geral do UDP </a:t>
            </a:r>
            <a:br>
              <a:rPr lang="en-US" dirty="0"/>
            </a:br>
            <a:r>
              <a:rPr lang="pt-BR" sz="2400"/>
              <a:t>Aplicações que usam UDP</a:t>
            </a:r>
          </a:p>
        </p:txBody>
      </p:sp>
      <p:sp>
        <p:nvSpPr>
          <p:cNvPr id="5" name="Content Placeholder 4">
            <a:extLst>
              <a:ext uri="{FF2B5EF4-FFF2-40B4-BE49-F238E27FC236}">
                <a16:creationId xmlns:a16="http://schemas.microsoft.com/office/drawing/2014/main" id="{73138074-9455-4799-A477-AF110009D0E7}"/>
              </a:ext>
            </a:extLst>
          </p:cNvPr>
          <p:cNvSpPr>
            <a:spLocks noGrp="1"/>
          </p:cNvSpPr>
          <p:nvPr>
            <p:ph idx="1"/>
          </p:nvPr>
        </p:nvSpPr>
        <p:spPr>
          <a:xfrm>
            <a:off x="144065" y="798944"/>
            <a:ext cx="4922981" cy="4155319"/>
          </a:xfrm>
        </p:spPr>
        <p:txBody>
          <a:bodyPr/>
          <a:lstStyle/>
          <a:p>
            <a:pPr rtl="0"/>
            <a:r>
              <a:rPr lang="pt-BR" sz="1600"/>
              <a:t>Aplicativos de vídeo ao vivo e multimídia - Esses aplicativos podem tolerar a perda de alguns dados, mas exigem pouco ou nenhum atraso. Os exemplos incluem VoIP e transmissão de vídeo ao vivo.</a:t>
            </a:r>
          </a:p>
          <a:p>
            <a:pPr rtl="0"/>
            <a:r>
              <a:rPr lang="pt-BR" sz="1600"/>
              <a:t>Aplicações de solicitação e resposta simples - Aplicações com transações simples em que um host envia uma solicitação e pode ou não receber uma resposta. Os exemplos incluem DNS e DHCP.</a:t>
            </a:r>
          </a:p>
          <a:p>
            <a:pPr rtl="0"/>
            <a:r>
              <a:rPr lang="pt-BR" sz="1600"/>
              <a:t>Aplicações que lidam elas mesmas com a confiabilidade - Comunicações unidirecionais onde o controle de fluxo, detecção de erro, confirmações, e recuperação de erros não são necessárias ou podem ser executadas pela aplicação. Os exemplos incluem SNMP e TFTP.</a:t>
            </a:r>
          </a:p>
        </p:txBody>
      </p:sp>
      <p:pic>
        <p:nvPicPr>
          <p:cNvPr id="6" name="Picture 5">
            <a:extLst>
              <a:ext uri="{FF2B5EF4-FFF2-40B4-BE49-F238E27FC236}">
                <a16:creationId xmlns:a16="http://schemas.microsoft.com/office/drawing/2014/main" id="{85B2BC8D-C067-4AAD-8A3D-91BC798D4906}"/>
              </a:ext>
            </a:extLst>
          </p:cNvPr>
          <p:cNvPicPr>
            <a:picLocks noChangeAspect="1"/>
          </p:cNvPicPr>
          <p:nvPr/>
        </p:nvPicPr>
        <p:blipFill rotWithShape="1">
          <a:blip r:embed="rId3"/>
          <a:srcRect l="15105" t="3227" r="12047" b="3300"/>
          <a:stretch/>
        </p:blipFill>
        <p:spPr>
          <a:xfrm>
            <a:off x="5293290" y="568869"/>
            <a:ext cx="3380875" cy="3674684"/>
          </a:xfrm>
          <a:prstGeom prst="rect">
            <a:avLst/>
          </a:prstGeom>
        </p:spPr>
      </p:pic>
    </p:spTree>
    <p:extLst>
      <p:ext uri="{BB962C8B-B14F-4D97-AF65-F5344CB8AC3E}">
        <p14:creationId xmlns:p14="http://schemas.microsoft.com/office/powerpoint/2010/main" val="292594354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14.4 Números de Porta</a:t>
            </a:r>
          </a:p>
        </p:txBody>
      </p:sp>
    </p:spTree>
    <p:custDataLst>
      <p:tags r:id="rId1"/>
    </p:custDataLst>
    <p:extLst>
      <p:ext uri="{BB962C8B-B14F-4D97-AF65-F5344CB8AC3E}">
        <p14:creationId xmlns:p14="http://schemas.microsoft.com/office/powerpoint/2010/main" val="3049413720"/>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Número de Portas </a:t>
            </a:r>
            <a:br>
              <a:rPr lang="en-US" dirty="0"/>
            </a:br>
            <a:r>
              <a:rPr lang="pt-BR" sz="2400"/>
              <a:t>Várias comunicações separadas</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230861" y="892504"/>
            <a:ext cx="8517213" cy="1888404"/>
          </a:xfrm>
        </p:spPr>
        <p:txBody>
          <a:bodyPr/>
          <a:lstStyle/>
          <a:p>
            <a:pPr marL="0" indent="0" algn="l" rtl="0"/>
            <a:r>
              <a:rPr lang="pt-BR" sz="1600">
                <a:solidFill>
                  <a:srgbClr val="000000"/>
                </a:solidFill>
              </a:rPr>
              <a:t>Os protocolos de camada de transporte TCP e UDP usam números de porta para gerenciar várias conversas simultâneas.</a:t>
            </a:r>
          </a:p>
          <a:p>
            <a:pPr marL="0" indent="0" algn="l"/>
            <a:endParaRPr lang="en-US" sz="1600" dirty="0">
              <a:solidFill>
                <a:srgbClr val="000000"/>
              </a:solidFill>
            </a:endParaRPr>
          </a:p>
          <a:p>
            <a:pPr marL="0" indent="0" algn="l" rtl="0"/>
            <a:r>
              <a:rPr lang="pt-BR" sz="1600">
                <a:solidFill>
                  <a:srgbClr val="000000"/>
                </a:solidFill>
              </a:rPr>
              <a:t>O número da porta de origem está associado ao aplicativo de origem no host local, enquanto o número da porta de destino está associado ao aplicativo de destino no host remoto.</a:t>
            </a:r>
          </a:p>
        </p:txBody>
      </p:sp>
      <p:pic>
        <p:nvPicPr>
          <p:cNvPr id="2" name="Picture 1">
            <a:extLst>
              <a:ext uri="{FF2B5EF4-FFF2-40B4-BE49-F238E27FC236}">
                <a16:creationId xmlns:a16="http://schemas.microsoft.com/office/drawing/2014/main" id="{EC1712BE-425B-468A-9840-CA0161D62B86}"/>
              </a:ext>
            </a:extLst>
          </p:cNvPr>
          <p:cNvPicPr>
            <a:picLocks noChangeAspect="1"/>
          </p:cNvPicPr>
          <p:nvPr/>
        </p:nvPicPr>
        <p:blipFill>
          <a:blip r:embed="rId3"/>
          <a:stretch>
            <a:fillRect/>
          </a:stretch>
        </p:blipFill>
        <p:spPr>
          <a:xfrm>
            <a:off x="655696" y="2941575"/>
            <a:ext cx="7832608" cy="1362075"/>
          </a:xfrm>
          <a:prstGeom prst="rect">
            <a:avLst/>
          </a:prstGeom>
        </p:spPr>
      </p:pic>
    </p:spTree>
    <p:extLst>
      <p:ext uri="{BB962C8B-B14F-4D97-AF65-F5344CB8AC3E}">
        <p14:creationId xmlns:p14="http://schemas.microsoft.com/office/powerpoint/2010/main" val="4014795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5977851" cy="731837"/>
          </a:xfrm>
        </p:spPr>
        <p:txBody>
          <a:bodyPr/>
          <a:lstStyle/>
          <a:p>
            <a:pPr rtl="0"/>
            <a:r>
              <a:rPr lang="pt-BR" sz="1600"/>
              <a:t>Números de porta</a:t>
            </a:r>
            <a:r>
              <a:rPr lang="pt-BR" sz="2400"/>
              <a:t>Paresde soquete</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207391" y="864087"/>
            <a:ext cx="4179882" cy="3676040"/>
          </a:xfrm>
        </p:spPr>
        <p:txBody>
          <a:bodyPr/>
          <a:lstStyle/>
          <a:p>
            <a:pPr marL="285750" indent="-285750" algn="l" rtl="0">
              <a:buFont typeface="Arial" panose="020B0604020202020204" pitchFamily="34" charset="0"/>
              <a:buChar char="•"/>
            </a:pPr>
            <a:r>
              <a:rPr lang="pt-BR" sz="1600">
                <a:solidFill>
                  <a:srgbClr val="000000"/>
                </a:solidFill>
              </a:rPr>
              <a:t>As portas origem e destino são colocadas no segmento.</a:t>
            </a:r>
          </a:p>
          <a:p>
            <a:pPr marL="285750" indent="-285750" algn="l" rtl="0">
              <a:buFont typeface="Arial" panose="020B0604020202020204" pitchFamily="34" charset="0"/>
              <a:buChar char="•"/>
            </a:pPr>
            <a:r>
              <a:rPr lang="pt-BR" sz="1600">
                <a:solidFill>
                  <a:srgbClr val="000000"/>
                </a:solidFill>
              </a:rPr>
              <a:t>Os segmentos são encapsulados em um pacote IP.</a:t>
            </a:r>
          </a:p>
          <a:p>
            <a:pPr marL="285750" indent="-285750" algn="l" rtl="0">
              <a:buFont typeface="Arial" panose="020B0604020202020204" pitchFamily="34" charset="0"/>
              <a:buChar char="•"/>
            </a:pPr>
            <a:r>
              <a:rPr lang="pt-BR" sz="1600">
                <a:solidFill>
                  <a:srgbClr val="000000"/>
                </a:solidFill>
              </a:rPr>
              <a:t>A combinação do endereço IP de origem e o número de porta de origem, ou do endereço IP de destino e o número de porta de destino é conhecida como um socket.</a:t>
            </a:r>
          </a:p>
          <a:p>
            <a:pPr marL="285750" indent="-285750" algn="l" rtl="0">
              <a:buFont typeface="Arial" panose="020B0604020202020204" pitchFamily="34" charset="0"/>
              <a:buChar char="•"/>
            </a:pPr>
            <a:r>
              <a:rPr lang="pt-BR" sz="1600">
                <a:solidFill>
                  <a:srgbClr val="000000"/>
                </a:solidFill>
              </a:rPr>
              <a:t>Os sockets permitem que vários processos em execução em um cliente se diferenciem uns dos outros, e várias conexões com um processo no servidor sejam diferentes umas das outras.</a:t>
            </a:r>
          </a:p>
        </p:txBody>
      </p:sp>
      <p:pic>
        <p:nvPicPr>
          <p:cNvPr id="2" name="Picture 1">
            <a:extLst>
              <a:ext uri="{FF2B5EF4-FFF2-40B4-BE49-F238E27FC236}">
                <a16:creationId xmlns:a16="http://schemas.microsoft.com/office/drawing/2014/main" id="{0335C01A-D969-437E-A54C-4277C8E6FD19}"/>
              </a:ext>
            </a:extLst>
          </p:cNvPr>
          <p:cNvPicPr>
            <a:picLocks noChangeAspect="1"/>
          </p:cNvPicPr>
          <p:nvPr/>
        </p:nvPicPr>
        <p:blipFill>
          <a:blip r:embed="rId3"/>
          <a:stretch>
            <a:fillRect/>
          </a:stretch>
        </p:blipFill>
        <p:spPr>
          <a:xfrm>
            <a:off x="4503407" y="864086"/>
            <a:ext cx="4370394" cy="3550895"/>
          </a:xfrm>
          <a:prstGeom prst="rect">
            <a:avLst/>
          </a:prstGeom>
        </p:spPr>
      </p:pic>
    </p:spTree>
    <p:extLst>
      <p:ext uri="{BB962C8B-B14F-4D97-AF65-F5344CB8AC3E}">
        <p14:creationId xmlns:p14="http://schemas.microsoft.com/office/powerpoint/2010/main" val="460195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Números de Porta </a:t>
            </a:r>
            <a:br>
              <a:rPr lang="en-US" dirty="0"/>
            </a:br>
            <a:r>
              <a:rPr lang="pt-BR" sz="2400"/>
              <a:t>Grupos de Números de Porta</a:t>
            </a:r>
          </a:p>
        </p:txBody>
      </p:sp>
      <p:graphicFrame>
        <p:nvGraphicFramePr>
          <p:cNvPr id="4" name="Table 3">
            <a:extLst>
              <a:ext uri="{FF2B5EF4-FFF2-40B4-BE49-F238E27FC236}">
                <a16:creationId xmlns:a16="http://schemas.microsoft.com/office/drawing/2014/main" id="{DF331542-2CD8-CD45-BF9A-539BF0F0F046}"/>
              </a:ext>
            </a:extLst>
          </p:cNvPr>
          <p:cNvGraphicFramePr>
            <a:graphicFrameLocks noGrp="1"/>
          </p:cNvGraphicFramePr>
          <p:nvPr>
            <p:extLst>
              <p:ext uri="{D42A27DB-BD31-4B8C-83A1-F6EECF244321}">
                <p14:modId xmlns:p14="http://schemas.microsoft.com/office/powerpoint/2010/main" val="3254476963"/>
              </p:ext>
            </p:extLst>
          </p:nvPr>
        </p:nvGraphicFramePr>
        <p:xfrm>
          <a:off x="529388" y="744287"/>
          <a:ext cx="7988970" cy="4038600"/>
        </p:xfrm>
        <a:graphic>
          <a:graphicData uri="http://schemas.openxmlformats.org/drawingml/2006/table">
            <a:tbl>
              <a:tblPr firstRow="1" bandRow="1">
                <a:tableStyleId>{5C22544A-7EE6-4342-B048-85BDC9FD1C3A}</a:tableStyleId>
              </a:tblPr>
              <a:tblGrid>
                <a:gridCol w="1143001">
                  <a:extLst>
                    <a:ext uri="{9D8B030D-6E8A-4147-A177-3AD203B41FA5}">
                      <a16:colId xmlns:a16="http://schemas.microsoft.com/office/drawing/2014/main" val="2108364386"/>
                    </a:ext>
                  </a:extLst>
                </a:gridCol>
                <a:gridCol w="1636295">
                  <a:extLst>
                    <a:ext uri="{9D8B030D-6E8A-4147-A177-3AD203B41FA5}">
                      <a16:colId xmlns:a16="http://schemas.microsoft.com/office/drawing/2014/main" val="866492760"/>
                    </a:ext>
                  </a:extLst>
                </a:gridCol>
                <a:gridCol w="5209674">
                  <a:extLst>
                    <a:ext uri="{9D8B030D-6E8A-4147-A177-3AD203B41FA5}">
                      <a16:colId xmlns:a16="http://schemas.microsoft.com/office/drawing/2014/main" val="313730123"/>
                    </a:ext>
                  </a:extLst>
                </a:gridCol>
              </a:tblGrid>
              <a:tr h="370840">
                <a:tc>
                  <a:txBody>
                    <a:bodyPr/>
                    <a:lstStyle/>
                    <a:p>
                      <a:pPr algn="l" rtl="0" fontAlgn="ctr"/>
                      <a:r>
                        <a:rPr lang="pt-BR" sz="1200" b="1">
                          <a:effectLst/>
                        </a:rPr>
                        <a:t>Grupo de Portas</a:t>
                      </a:r>
                    </a:p>
                  </a:txBody>
                  <a:tcPr marL="47625" marR="47625" marT="47625" marB="47625" anchor="ctr"/>
                </a:tc>
                <a:tc>
                  <a:txBody>
                    <a:bodyPr/>
                    <a:lstStyle/>
                    <a:p>
                      <a:pPr algn="l" rtl="0" fontAlgn="ctr"/>
                      <a:r>
                        <a:rPr lang="pt-BR" sz="1200" b="1">
                          <a:effectLst/>
                        </a:rPr>
                        <a:t>Intervalo de números</a:t>
                      </a:r>
                    </a:p>
                  </a:txBody>
                  <a:tcPr marL="47625" marR="47625" marT="47625" marB="47625" anchor="ctr"/>
                </a:tc>
                <a:tc>
                  <a:txBody>
                    <a:bodyPr/>
                    <a:lstStyle/>
                    <a:p>
                      <a:pPr algn="l" rtl="0" fontAlgn="ctr"/>
                      <a:r>
                        <a:rPr lang="pt-BR" sz="1200" b="1">
                          <a:effectLst/>
                        </a:rPr>
                        <a:t>Descrição</a:t>
                      </a:r>
                    </a:p>
                  </a:txBody>
                  <a:tcPr marL="47625" marR="47625" marT="47625" marB="47625" anchor="ctr"/>
                </a:tc>
                <a:extLst>
                  <a:ext uri="{0D108BD9-81ED-4DB2-BD59-A6C34878D82A}">
                    <a16:rowId xmlns:a16="http://schemas.microsoft.com/office/drawing/2014/main" val="3297247114"/>
                  </a:ext>
                </a:extLst>
              </a:tr>
              <a:tr h="370840">
                <a:tc>
                  <a:txBody>
                    <a:bodyPr/>
                    <a:lstStyle/>
                    <a:p>
                      <a:pPr rtl="0" fontAlgn="ctr"/>
                      <a:r>
                        <a:rPr lang="pt-BR" sz="1200" b="1">
                          <a:effectLst/>
                        </a:rPr>
                        <a:t>Portas bem conhecidas</a:t>
                      </a:r>
                    </a:p>
                  </a:txBody>
                  <a:tcPr marL="47625" marR="47625" marT="47625" marB="47625" anchor="ctr"/>
                </a:tc>
                <a:tc>
                  <a:txBody>
                    <a:bodyPr/>
                    <a:lstStyle/>
                    <a:p>
                      <a:pPr rtl="0" fontAlgn="ctr"/>
                      <a:r>
                        <a:rPr lang="pt-BR" sz="1200" b="1">
                          <a:effectLst/>
                        </a:rPr>
                        <a:t>0 a 1023</a:t>
                      </a:r>
                    </a:p>
                  </a:txBody>
                  <a:tcPr marL="47625" marR="47625" marT="47625" marB="47625" anchor="ctr"/>
                </a:tc>
                <a:tc>
                  <a:txBody>
                    <a:bodyPr/>
                    <a:lstStyle/>
                    <a:p>
                      <a:pPr rtl="0" fontAlgn="ctr">
                        <a:buFont typeface="Arial" panose="020B0604020202020204" pitchFamily="34" charset="0"/>
                        <a:buChar char="•"/>
                      </a:pPr>
                      <a:r>
                        <a:rPr lang="pt-BR" sz="1200" b="0">
                          <a:effectLst/>
                        </a:rPr>
                        <a:t>Esses números de porta são reservados para serviços e aplicativos comuns ou populares, como navegadores da web, clientes de email e clientes de acesso remoto.</a:t>
                      </a:r>
                    </a:p>
                    <a:p>
                      <a:pPr rtl="0" fontAlgn="ctr">
                        <a:buFont typeface="Arial" panose="020B0604020202020204" pitchFamily="34" charset="0"/>
                        <a:buChar char="•"/>
                      </a:pPr>
                      <a:r>
                        <a:rPr lang="pt-BR" sz="1200" b="0">
                          <a:effectLst/>
                        </a:rPr>
                        <a:t>Portas bem conhecidas definidas para aplicativos comuns de servidor permite que os clientes identifiquem facilmente o serviço associado necessário.</a:t>
                      </a:r>
                    </a:p>
                  </a:txBody>
                  <a:tcPr marL="47625" marR="47625" marT="47625" marB="47625" anchor="ctr"/>
                </a:tc>
                <a:extLst>
                  <a:ext uri="{0D108BD9-81ED-4DB2-BD59-A6C34878D82A}">
                    <a16:rowId xmlns:a16="http://schemas.microsoft.com/office/drawing/2014/main" val="3767578845"/>
                  </a:ext>
                </a:extLst>
              </a:tr>
              <a:tr h="370840">
                <a:tc>
                  <a:txBody>
                    <a:bodyPr/>
                    <a:lstStyle/>
                    <a:p>
                      <a:pPr rtl="0" fontAlgn="ctr"/>
                      <a:r>
                        <a:rPr lang="pt-BR" sz="1200" b="1">
                          <a:effectLst/>
                        </a:rPr>
                        <a:t>Portas registradas</a:t>
                      </a:r>
                    </a:p>
                  </a:txBody>
                  <a:tcPr marL="47625" marR="47625" marT="47625" marB="47625" anchor="ctr"/>
                </a:tc>
                <a:tc>
                  <a:txBody>
                    <a:bodyPr/>
                    <a:lstStyle/>
                    <a:p>
                      <a:pPr rtl="0" fontAlgn="ctr"/>
                      <a:r>
                        <a:rPr lang="pt-BR" sz="1200" b="1">
                          <a:effectLst/>
                        </a:rPr>
                        <a:t>1.024 a 49.151</a:t>
                      </a:r>
                    </a:p>
                  </a:txBody>
                  <a:tcPr marL="47625" marR="47625" marT="47625" marB="47625" anchor="ctr"/>
                </a:tc>
                <a:tc>
                  <a:txBody>
                    <a:bodyPr/>
                    <a:lstStyle/>
                    <a:p>
                      <a:pPr rtl="0" fontAlgn="ctr">
                        <a:buFont typeface="Arial" panose="020B0604020202020204" pitchFamily="34" charset="0"/>
                        <a:buChar char="•"/>
                      </a:pPr>
                      <a:r>
                        <a:rPr lang="pt-BR" sz="1200" b="0">
                          <a:effectLst/>
                        </a:rPr>
                        <a:t>Esses números de porta são atribuídos pela IANA a uma entidade solicitante para uso com processos ou aplicativos específicos.</a:t>
                      </a:r>
                    </a:p>
                    <a:p>
                      <a:pPr rtl="0" fontAlgn="ctr">
                        <a:buFont typeface="Arial" panose="020B0604020202020204" pitchFamily="34" charset="0"/>
                        <a:buChar char="•"/>
                      </a:pPr>
                      <a:r>
                        <a:rPr lang="pt-BR" sz="1200" b="0">
                          <a:effectLst/>
                        </a:rPr>
                        <a:t>Esses processos são principalmente aplicações que o usuário optou por instalar , e não aplicações comuns que receberiam um número de porta muito conhecida.</a:t>
                      </a:r>
                    </a:p>
                    <a:p>
                      <a:pPr rtl="0" fontAlgn="ctr">
                        <a:buFont typeface="Arial" panose="020B0604020202020204" pitchFamily="34" charset="0"/>
                        <a:buChar char="•"/>
                      </a:pPr>
                      <a:r>
                        <a:rPr lang="pt-BR" sz="1200" b="0">
                          <a:effectLst/>
                        </a:rPr>
                        <a:t>Por exemplo, a Cisco registrou a porta 1812 para o processo de autenticação do servidor RADIUS.</a:t>
                      </a:r>
                    </a:p>
                  </a:txBody>
                  <a:tcPr marL="47625" marR="47625" marT="47625" marB="47625" anchor="ctr"/>
                </a:tc>
                <a:extLst>
                  <a:ext uri="{0D108BD9-81ED-4DB2-BD59-A6C34878D82A}">
                    <a16:rowId xmlns:a16="http://schemas.microsoft.com/office/drawing/2014/main" val="1370143426"/>
                  </a:ext>
                </a:extLst>
              </a:tr>
              <a:tr h="370840">
                <a:tc>
                  <a:txBody>
                    <a:bodyPr/>
                    <a:lstStyle/>
                    <a:p>
                      <a:pPr rtl="0" fontAlgn="ctr"/>
                      <a:r>
                        <a:rPr lang="pt-BR" sz="1200" b="1">
                          <a:effectLst/>
                        </a:rPr>
                        <a:t>Portas dinâmicas </a:t>
                      </a:r>
                      <a:r>
                        <a:rPr lang="pt-BR" sz="1200" b="0">
                          <a:effectLst/>
                        </a:rPr>
                        <a:t>e/ou</a:t>
                      </a:r>
                      <a:r>
                        <a:rPr lang="pt-BR" sz="1200" b="1">
                          <a:effectLst/>
                        </a:rPr>
                        <a:t> privadas</a:t>
                      </a:r>
                    </a:p>
                  </a:txBody>
                  <a:tcPr marL="47625" marR="47625" marT="47625" marB="47625" anchor="ctr"/>
                </a:tc>
                <a:tc>
                  <a:txBody>
                    <a:bodyPr/>
                    <a:lstStyle/>
                    <a:p>
                      <a:pPr rtl="0" fontAlgn="ctr"/>
                      <a:r>
                        <a:rPr lang="pt-BR" sz="1200" b="1">
                          <a:effectLst/>
                        </a:rPr>
                        <a:t>49.152 a 65.535</a:t>
                      </a:r>
                    </a:p>
                  </a:txBody>
                  <a:tcPr marL="47625" marR="47625" marT="47625" marB="47625" anchor="ctr"/>
                </a:tc>
                <a:tc>
                  <a:txBody>
                    <a:bodyPr/>
                    <a:lstStyle/>
                    <a:p>
                      <a:pPr rtl="0" fontAlgn="ctr">
                        <a:buFont typeface="Arial" panose="020B0604020202020204" pitchFamily="34" charset="0"/>
                        <a:buChar char="•"/>
                      </a:pPr>
                      <a:r>
                        <a:rPr lang="pt-BR" sz="1200" b="0">
                          <a:effectLst/>
                        </a:rPr>
                        <a:t>Essas portas também são conhecidas como </a:t>
                      </a:r>
                      <a:r>
                        <a:rPr lang="pt-BR" sz="1200" b="0" i="1">
                          <a:effectLst/>
                        </a:rPr>
                        <a:t>portas efêmeras</a:t>
                      </a:r>
                      <a:r>
                        <a:rPr lang="pt-BR" sz="1200" b="0">
                          <a:effectLst/>
                        </a:rPr>
                        <a:t>.</a:t>
                      </a:r>
                    </a:p>
                    <a:p>
                      <a:pPr rtl="0" fontAlgn="ctr">
                        <a:buFont typeface="Arial" panose="020B0604020202020204" pitchFamily="34" charset="0"/>
                        <a:buChar char="•"/>
                      </a:pPr>
                      <a:r>
                        <a:rPr lang="pt-BR" sz="1200" b="0">
                          <a:effectLst/>
                        </a:rPr>
                        <a:t>O sistema operacional do cliente geralmente atribui números de porta dinamicamente quando uma conexão a um serviço é iniciada.</a:t>
                      </a:r>
                    </a:p>
                    <a:p>
                      <a:pPr rtl="0" fontAlgn="ctr">
                        <a:buFont typeface="Arial" panose="020B0604020202020204" pitchFamily="34" charset="0"/>
                        <a:buChar char="•"/>
                      </a:pPr>
                      <a:r>
                        <a:rPr lang="pt-BR" sz="1200" b="0">
                          <a:effectLst/>
                        </a:rPr>
                        <a:t>A porta dinâmica é usada para identificar a aplicação cliente durante a comunicação.</a:t>
                      </a:r>
                    </a:p>
                  </a:txBody>
                  <a:tcPr marL="47625" marR="47625" marT="47625" marB="47625" anchor="ctr"/>
                </a:tc>
                <a:extLst>
                  <a:ext uri="{0D108BD9-81ED-4DB2-BD59-A6C34878D82A}">
                    <a16:rowId xmlns:a16="http://schemas.microsoft.com/office/drawing/2014/main" val="1654859365"/>
                  </a:ext>
                </a:extLst>
              </a:tr>
            </a:tbl>
          </a:graphicData>
        </a:graphic>
      </p:graphicFrame>
    </p:spTree>
    <p:extLst>
      <p:ext uri="{BB962C8B-B14F-4D97-AF65-F5344CB8AC3E}">
        <p14:creationId xmlns:p14="http://schemas.microsoft.com/office/powerpoint/2010/main" val="2560120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8345488" cy="577948"/>
          </a:xfrm>
        </p:spPr>
        <p:txBody>
          <a:bodyPr/>
          <a:lstStyle/>
          <a:p>
            <a:pPr rtl="0"/>
            <a:r>
              <a:rPr lang="pt-BR" sz="1600"/>
              <a:t>Números de</a:t>
            </a:r>
            <a:br>
              <a:rPr lang="en-US" dirty="0"/>
            </a:br>
            <a:r>
              <a:rPr lang="pt-BR" sz="2400"/>
              <a:t>Porta Grupos de Números de Porta (Cont.) </a:t>
            </a:r>
          </a:p>
        </p:txBody>
      </p:sp>
      <p:sp>
        <p:nvSpPr>
          <p:cNvPr id="6" name="TextBox 5">
            <a:extLst>
              <a:ext uri="{FF2B5EF4-FFF2-40B4-BE49-F238E27FC236}">
                <a16:creationId xmlns:a16="http://schemas.microsoft.com/office/drawing/2014/main" id="{777A3BC4-485B-E54C-B36A-54DFC73ED41E}"/>
              </a:ext>
            </a:extLst>
          </p:cNvPr>
          <p:cNvSpPr txBox="1"/>
          <p:nvPr/>
        </p:nvSpPr>
        <p:spPr>
          <a:xfrm>
            <a:off x="3026468" y="577948"/>
            <a:ext cx="2292551" cy="307777"/>
          </a:xfrm>
          <a:prstGeom prst="rect">
            <a:avLst/>
          </a:prstGeom>
          <a:noFill/>
        </p:spPr>
        <p:txBody>
          <a:bodyPr wrap="none" rtlCol="0">
            <a:spAutoFit/>
          </a:bodyPr>
          <a:lstStyle/>
          <a:p>
            <a:pPr rtl="0"/>
            <a:r>
              <a:rPr lang="pt-BR" sz="1400"/>
              <a:t>Números de Portas Bem Conhecidas</a:t>
            </a:r>
          </a:p>
        </p:txBody>
      </p:sp>
      <p:graphicFrame>
        <p:nvGraphicFramePr>
          <p:cNvPr id="5" name="Table 4">
            <a:extLst>
              <a:ext uri="{FF2B5EF4-FFF2-40B4-BE49-F238E27FC236}">
                <a16:creationId xmlns:a16="http://schemas.microsoft.com/office/drawing/2014/main" id="{A94BA23F-8399-A849-B4AF-225C585B5893}"/>
              </a:ext>
            </a:extLst>
          </p:cNvPr>
          <p:cNvGraphicFramePr>
            <a:graphicFrameLocks noGrp="1"/>
          </p:cNvGraphicFramePr>
          <p:nvPr>
            <p:extLst>
              <p:ext uri="{D42A27DB-BD31-4B8C-83A1-F6EECF244321}">
                <p14:modId xmlns:p14="http://schemas.microsoft.com/office/powerpoint/2010/main" val="408160216"/>
              </p:ext>
            </p:extLst>
          </p:nvPr>
        </p:nvGraphicFramePr>
        <p:xfrm>
          <a:off x="445169" y="852152"/>
          <a:ext cx="8049126" cy="4278630"/>
        </p:xfrm>
        <a:graphic>
          <a:graphicData uri="http://schemas.openxmlformats.org/drawingml/2006/table">
            <a:tbl>
              <a:tblPr firstRow="1" bandRow="1">
                <a:tableStyleId>{5C22544A-7EE6-4342-B048-85BDC9FD1C3A}</a:tableStyleId>
              </a:tblPr>
              <a:tblGrid>
                <a:gridCol w="1203158">
                  <a:extLst>
                    <a:ext uri="{9D8B030D-6E8A-4147-A177-3AD203B41FA5}">
                      <a16:colId xmlns:a16="http://schemas.microsoft.com/office/drawing/2014/main" val="1156822306"/>
                    </a:ext>
                  </a:extLst>
                </a:gridCol>
                <a:gridCol w="1058779">
                  <a:extLst>
                    <a:ext uri="{9D8B030D-6E8A-4147-A177-3AD203B41FA5}">
                      <a16:colId xmlns:a16="http://schemas.microsoft.com/office/drawing/2014/main" val="3577741380"/>
                    </a:ext>
                  </a:extLst>
                </a:gridCol>
                <a:gridCol w="5787189">
                  <a:extLst>
                    <a:ext uri="{9D8B030D-6E8A-4147-A177-3AD203B41FA5}">
                      <a16:colId xmlns:a16="http://schemas.microsoft.com/office/drawing/2014/main" val="4011775180"/>
                    </a:ext>
                  </a:extLst>
                </a:gridCol>
              </a:tblGrid>
              <a:tr h="313857">
                <a:tc>
                  <a:txBody>
                    <a:bodyPr/>
                    <a:lstStyle/>
                    <a:p>
                      <a:pPr algn="l" rtl="0" fontAlgn="ctr"/>
                      <a:r>
                        <a:rPr lang="pt-BR" sz="1100" b="1">
                          <a:effectLst/>
                        </a:rPr>
                        <a:t>Número da Porta</a:t>
                      </a:r>
                    </a:p>
                  </a:txBody>
                  <a:tcPr marL="47625" marR="47625" marT="47625" marB="47625" anchor="ctr"/>
                </a:tc>
                <a:tc>
                  <a:txBody>
                    <a:bodyPr/>
                    <a:lstStyle/>
                    <a:p>
                      <a:pPr algn="l" rtl="0" fontAlgn="ctr"/>
                      <a:r>
                        <a:rPr lang="pt-BR" sz="1100" b="1">
                          <a:effectLst/>
                        </a:rPr>
                        <a:t>Protocolo</a:t>
                      </a:r>
                    </a:p>
                  </a:txBody>
                  <a:tcPr marL="47625" marR="47625" marT="47625" marB="47625" anchor="ctr"/>
                </a:tc>
                <a:tc>
                  <a:txBody>
                    <a:bodyPr/>
                    <a:lstStyle/>
                    <a:p>
                      <a:pPr algn="l" rtl="0" fontAlgn="ctr"/>
                      <a:r>
                        <a:rPr lang="pt-BR" sz="1100" b="1">
                          <a:effectLst/>
                        </a:rPr>
                        <a:t>Aplicação</a:t>
                      </a:r>
                    </a:p>
                  </a:txBody>
                  <a:tcPr marL="47625" marR="47625" marT="47625" marB="47625" anchor="ctr"/>
                </a:tc>
                <a:extLst>
                  <a:ext uri="{0D108BD9-81ED-4DB2-BD59-A6C34878D82A}">
                    <a16:rowId xmlns:a16="http://schemas.microsoft.com/office/drawing/2014/main" val="3042150830"/>
                  </a:ext>
                </a:extLst>
              </a:tr>
              <a:tr h="256362">
                <a:tc>
                  <a:txBody>
                    <a:bodyPr/>
                    <a:lstStyle/>
                    <a:p>
                      <a:pPr rtl="0" fontAlgn="ctr"/>
                      <a:r>
                        <a:rPr lang="pt-BR" sz="1100" b="1">
                          <a:effectLst/>
                        </a:rPr>
                        <a:t>20</a:t>
                      </a:r>
                    </a:p>
                  </a:txBody>
                  <a:tcPr marL="47625" marR="47625" marT="47625" marB="47625" anchor="ctr"/>
                </a:tc>
                <a:tc>
                  <a:txBody>
                    <a:bodyPr/>
                    <a:lstStyle/>
                    <a:p>
                      <a:pPr rtl="0" fontAlgn="ctr"/>
                      <a:r>
                        <a:rPr lang="pt-BR" sz="1100" b="0">
                          <a:effectLst/>
                        </a:rPr>
                        <a:t>TCP</a:t>
                      </a:r>
                    </a:p>
                  </a:txBody>
                  <a:tcPr marL="47625" marR="47625" marT="47625" marB="47625" anchor="ctr"/>
                </a:tc>
                <a:tc>
                  <a:txBody>
                    <a:bodyPr/>
                    <a:lstStyle/>
                    <a:p>
                      <a:pPr rtl="0" fontAlgn="ctr"/>
                      <a:r>
                        <a:rPr lang="pt-BR" sz="1100" b="0">
                          <a:effectLst/>
                        </a:rPr>
                        <a:t>File Transfer Protocol (FTP) - Dados</a:t>
                      </a:r>
                    </a:p>
                  </a:txBody>
                  <a:tcPr marL="47625" marR="47625" marT="47625" marB="47625" anchor="ctr"/>
                </a:tc>
                <a:extLst>
                  <a:ext uri="{0D108BD9-81ED-4DB2-BD59-A6C34878D82A}">
                    <a16:rowId xmlns:a16="http://schemas.microsoft.com/office/drawing/2014/main" val="447324189"/>
                  </a:ext>
                </a:extLst>
              </a:tr>
              <a:tr h="256362">
                <a:tc>
                  <a:txBody>
                    <a:bodyPr/>
                    <a:lstStyle/>
                    <a:p>
                      <a:pPr rtl="0" fontAlgn="ctr"/>
                      <a:r>
                        <a:rPr lang="pt-BR" sz="1100" b="1">
                          <a:effectLst/>
                        </a:rPr>
                        <a:t>21</a:t>
                      </a:r>
                    </a:p>
                  </a:txBody>
                  <a:tcPr marL="47625" marR="47625" marT="47625" marB="47625" anchor="ctr"/>
                </a:tc>
                <a:tc>
                  <a:txBody>
                    <a:bodyPr/>
                    <a:lstStyle/>
                    <a:p>
                      <a:pPr rtl="0" fontAlgn="ctr"/>
                      <a:r>
                        <a:rPr lang="pt-BR" sz="1100" b="0">
                          <a:effectLst/>
                        </a:rPr>
                        <a:t>TCP</a:t>
                      </a:r>
                    </a:p>
                  </a:txBody>
                  <a:tcPr marL="47625" marR="47625" marT="47625" marB="47625" anchor="ctr"/>
                </a:tc>
                <a:tc>
                  <a:txBody>
                    <a:bodyPr/>
                    <a:lstStyle/>
                    <a:p>
                      <a:pPr rtl="0" fontAlgn="ctr"/>
                      <a:r>
                        <a:rPr lang="pt-BR" sz="1100" b="0">
                          <a:effectLst/>
                        </a:rPr>
                        <a:t>Protocolo de transferência de arquivos (FTP) - Controle</a:t>
                      </a:r>
                    </a:p>
                  </a:txBody>
                  <a:tcPr marL="47625" marR="47625" marT="47625" marB="47625" anchor="ctr"/>
                </a:tc>
                <a:extLst>
                  <a:ext uri="{0D108BD9-81ED-4DB2-BD59-A6C34878D82A}">
                    <a16:rowId xmlns:a16="http://schemas.microsoft.com/office/drawing/2014/main" val="260826436"/>
                  </a:ext>
                </a:extLst>
              </a:tr>
              <a:tr h="256362">
                <a:tc>
                  <a:txBody>
                    <a:bodyPr/>
                    <a:lstStyle/>
                    <a:p>
                      <a:pPr rtl="0" fontAlgn="ctr"/>
                      <a:r>
                        <a:rPr lang="pt-BR" sz="1100" b="1">
                          <a:effectLst/>
                        </a:rPr>
                        <a:t>22</a:t>
                      </a:r>
                    </a:p>
                  </a:txBody>
                  <a:tcPr marL="47625" marR="47625" marT="47625" marB="47625" anchor="ctr"/>
                </a:tc>
                <a:tc>
                  <a:txBody>
                    <a:bodyPr/>
                    <a:lstStyle/>
                    <a:p>
                      <a:pPr rtl="0" fontAlgn="ctr"/>
                      <a:r>
                        <a:rPr lang="pt-BR" sz="1100" b="0">
                          <a:effectLst/>
                        </a:rPr>
                        <a:t>TCP</a:t>
                      </a:r>
                    </a:p>
                  </a:txBody>
                  <a:tcPr marL="47625" marR="47625" marT="47625" marB="47625" anchor="ctr"/>
                </a:tc>
                <a:tc>
                  <a:txBody>
                    <a:bodyPr/>
                    <a:lstStyle/>
                    <a:p>
                      <a:pPr rtl="0" fontAlgn="ctr"/>
                      <a:r>
                        <a:rPr lang="pt-BR" sz="1100" b="0">
                          <a:effectLst/>
                        </a:rPr>
                        <a:t>Secure Shell (SSH)</a:t>
                      </a:r>
                    </a:p>
                  </a:txBody>
                  <a:tcPr marL="47625" marR="47625" marT="47625" marB="47625" anchor="ctr"/>
                </a:tc>
                <a:extLst>
                  <a:ext uri="{0D108BD9-81ED-4DB2-BD59-A6C34878D82A}">
                    <a16:rowId xmlns:a16="http://schemas.microsoft.com/office/drawing/2014/main" val="2532563834"/>
                  </a:ext>
                </a:extLst>
              </a:tr>
              <a:tr h="256362">
                <a:tc>
                  <a:txBody>
                    <a:bodyPr/>
                    <a:lstStyle/>
                    <a:p>
                      <a:pPr rtl="0" fontAlgn="ctr"/>
                      <a:r>
                        <a:rPr lang="pt-BR" sz="1100" b="1">
                          <a:effectLst/>
                        </a:rPr>
                        <a:t>23</a:t>
                      </a:r>
                    </a:p>
                  </a:txBody>
                  <a:tcPr marL="47625" marR="47625" marT="47625" marB="47625" anchor="ctr"/>
                </a:tc>
                <a:tc>
                  <a:txBody>
                    <a:bodyPr/>
                    <a:lstStyle/>
                    <a:p>
                      <a:pPr rtl="0" fontAlgn="ctr"/>
                      <a:r>
                        <a:rPr lang="pt-BR" sz="1100" b="0">
                          <a:effectLst/>
                        </a:rPr>
                        <a:t>TCP</a:t>
                      </a:r>
                    </a:p>
                  </a:txBody>
                  <a:tcPr marL="47625" marR="47625" marT="47625" marB="47625" anchor="ctr"/>
                </a:tc>
                <a:tc>
                  <a:txBody>
                    <a:bodyPr/>
                    <a:lstStyle/>
                    <a:p>
                      <a:pPr rtl="0" fontAlgn="ctr"/>
                      <a:r>
                        <a:rPr lang="pt-BR" sz="1100" b="0">
                          <a:effectLst/>
                        </a:rPr>
                        <a:t>Telnet</a:t>
                      </a:r>
                    </a:p>
                  </a:txBody>
                  <a:tcPr marL="47625" marR="47625" marT="47625" marB="47625" anchor="ctr"/>
                </a:tc>
                <a:extLst>
                  <a:ext uri="{0D108BD9-81ED-4DB2-BD59-A6C34878D82A}">
                    <a16:rowId xmlns:a16="http://schemas.microsoft.com/office/drawing/2014/main" val="650596279"/>
                  </a:ext>
                </a:extLst>
              </a:tr>
              <a:tr h="256362">
                <a:tc>
                  <a:txBody>
                    <a:bodyPr/>
                    <a:lstStyle/>
                    <a:p>
                      <a:pPr rtl="0" fontAlgn="ctr"/>
                      <a:r>
                        <a:rPr lang="pt-BR" sz="1100" b="1">
                          <a:effectLst/>
                        </a:rPr>
                        <a:t>25</a:t>
                      </a:r>
                    </a:p>
                  </a:txBody>
                  <a:tcPr marL="47625" marR="47625" marT="47625" marB="47625" anchor="ctr"/>
                </a:tc>
                <a:tc>
                  <a:txBody>
                    <a:bodyPr/>
                    <a:lstStyle/>
                    <a:p>
                      <a:pPr rtl="0" fontAlgn="ctr"/>
                      <a:r>
                        <a:rPr lang="pt-BR" sz="1100" b="0">
                          <a:effectLst/>
                        </a:rPr>
                        <a:t>TCP</a:t>
                      </a:r>
                    </a:p>
                  </a:txBody>
                  <a:tcPr marL="47625" marR="47625" marT="47625" marB="47625" anchor="ctr"/>
                </a:tc>
                <a:tc>
                  <a:txBody>
                    <a:bodyPr/>
                    <a:lstStyle/>
                    <a:p>
                      <a:pPr rtl="0" fontAlgn="ctr"/>
                      <a:r>
                        <a:rPr lang="pt-BR" sz="1100" b="0">
                          <a:effectLst/>
                        </a:rPr>
                        <a:t>Protocolo SMTP</a:t>
                      </a:r>
                    </a:p>
                  </a:txBody>
                  <a:tcPr marL="47625" marR="47625" marT="47625" marB="47625" anchor="ctr"/>
                </a:tc>
                <a:extLst>
                  <a:ext uri="{0D108BD9-81ED-4DB2-BD59-A6C34878D82A}">
                    <a16:rowId xmlns:a16="http://schemas.microsoft.com/office/drawing/2014/main" val="3717695529"/>
                  </a:ext>
                </a:extLst>
              </a:tr>
              <a:tr h="256362">
                <a:tc>
                  <a:txBody>
                    <a:bodyPr/>
                    <a:lstStyle/>
                    <a:p>
                      <a:pPr rtl="0" fontAlgn="ctr"/>
                      <a:r>
                        <a:rPr lang="pt-BR" sz="1100" b="1">
                          <a:effectLst/>
                        </a:rPr>
                        <a:t>53</a:t>
                      </a:r>
                    </a:p>
                  </a:txBody>
                  <a:tcPr marL="47625" marR="47625" marT="47625" marB="47625" anchor="ctr"/>
                </a:tc>
                <a:tc>
                  <a:txBody>
                    <a:bodyPr/>
                    <a:lstStyle/>
                    <a:p>
                      <a:pPr rtl="0" fontAlgn="ctr"/>
                      <a:r>
                        <a:rPr lang="pt-BR" sz="1100" b="0">
                          <a:effectLst/>
                        </a:rPr>
                        <a:t>UDP, TCP</a:t>
                      </a:r>
                    </a:p>
                  </a:txBody>
                  <a:tcPr marL="47625" marR="47625" marT="47625" marB="47625" anchor="ctr"/>
                </a:tc>
                <a:tc>
                  <a:txBody>
                    <a:bodyPr/>
                    <a:lstStyle/>
                    <a:p>
                      <a:pPr rtl="0" fontAlgn="ctr"/>
                      <a:r>
                        <a:rPr lang="pt-BR" sz="1100" b="0">
                          <a:effectLst/>
                        </a:rPr>
                        <a:t>Protocolo DNS</a:t>
                      </a:r>
                    </a:p>
                  </a:txBody>
                  <a:tcPr marL="47625" marR="47625" marT="47625" marB="47625" anchor="ctr"/>
                </a:tc>
                <a:extLst>
                  <a:ext uri="{0D108BD9-81ED-4DB2-BD59-A6C34878D82A}">
                    <a16:rowId xmlns:a16="http://schemas.microsoft.com/office/drawing/2014/main" val="2099667743"/>
                  </a:ext>
                </a:extLst>
              </a:tr>
              <a:tr h="256362">
                <a:tc>
                  <a:txBody>
                    <a:bodyPr/>
                    <a:lstStyle/>
                    <a:p>
                      <a:pPr rtl="0" fontAlgn="ctr"/>
                      <a:r>
                        <a:rPr lang="pt-BR" sz="1100" b="1">
                          <a:effectLst/>
                        </a:rPr>
                        <a:t>67</a:t>
                      </a:r>
                    </a:p>
                  </a:txBody>
                  <a:tcPr marL="47625" marR="47625" marT="47625" marB="47625" anchor="ctr"/>
                </a:tc>
                <a:tc>
                  <a:txBody>
                    <a:bodyPr/>
                    <a:lstStyle/>
                    <a:p>
                      <a:pPr rtl="0" fontAlgn="ctr"/>
                      <a:r>
                        <a:rPr lang="pt-BR" sz="1100" b="0">
                          <a:effectLst/>
                        </a:rPr>
                        <a:t>UDP</a:t>
                      </a:r>
                    </a:p>
                  </a:txBody>
                  <a:tcPr marL="47625" marR="47625" marT="47625" marB="47625" anchor="ctr"/>
                </a:tc>
                <a:tc>
                  <a:txBody>
                    <a:bodyPr/>
                    <a:lstStyle/>
                    <a:p>
                      <a:pPr rtl="0" fontAlgn="ctr"/>
                      <a:r>
                        <a:rPr lang="pt-BR" sz="1100" b="0">
                          <a:effectLst/>
                        </a:rPr>
                        <a:t>Dynamic Host Configuration Protocol (DHCP) - Servidor</a:t>
                      </a:r>
                    </a:p>
                  </a:txBody>
                  <a:tcPr marL="47625" marR="47625" marT="47625" marB="47625" anchor="ctr"/>
                </a:tc>
                <a:extLst>
                  <a:ext uri="{0D108BD9-81ED-4DB2-BD59-A6C34878D82A}">
                    <a16:rowId xmlns:a16="http://schemas.microsoft.com/office/drawing/2014/main" val="86902555"/>
                  </a:ext>
                </a:extLst>
              </a:tr>
              <a:tr h="256362">
                <a:tc>
                  <a:txBody>
                    <a:bodyPr/>
                    <a:lstStyle/>
                    <a:p>
                      <a:pPr rtl="0" fontAlgn="ctr"/>
                      <a:r>
                        <a:rPr lang="pt-BR" sz="1100" b="1">
                          <a:effectLst/>
                        </a:rPr>
                        <a:t>68</a:t>
                      </a:r>
                    </a:p>
                  </a:txBody>
                  <a:tcPr marL="47625" marR="47625" marT="47625" marB="47625" anchor="ctr"/>
                </a:tc>
                <a:tc>
                  <a:txBody>
                    <a:bodyPr/>
                    <a:lstStyle/>
                    <a:p>
                      <a:pPr rtl="0" fontAlgn="ctr"/>
                      <a:r>
                        <a:rPr lang="pt-BR" sz="1100" b="0">
                          <a:effectLst/>
                        </a:rPr>
                        <a:t>UDP</a:t>
                      </a:r>
                    </a:p>
                  </a:txBody>
                  <a:tcPr marL="47625" marR="47625" marT="47625" marB="47625" anchor="ctr"/>
                </a:tc>
                <a:tc>
                  <a:txBody>
                    <a:bodyPr/>
                    <a:lstStyle/>
                    <a:p>
                      <a:pPr rtl="0" fontAlgn="ctr"/>
                      <a:r>
                        <a:rPr lang="pt-BR" sz="1100" b="0">
                          <a:effectLst/>
                        </a:rPr>
                        <a:t>Protocolo de configuração dinâmica de host - cliente</a:t>
                      </a:r>
                    </a:p>
                  </a:txBody>
                  <a:tcPr marL="47625" marR="47625" marT="47625" marB="47625" anchor="ctr"/>
                </a:tc>
                <a:extLst>
                  <a:ext uri="{0D108BD9-81ED-4DB2-BD59-A6C34878D82A}">
                    <a16:rowId xmlns:a16="http://schemas.microsoft.com/office/drawing/2014/main" val="2286869978"/>
                  </a:ext>
                </a:extLst>
              </a:tr>
              <a:tr h="256362">
                <a:tc>
                  <a:txBody>
                    <a:bodyPr/>
                    <a:lstStyle/>
                    <a:p>
                      <a:pPr rtl="0" fontAlgn="ctr"/>
                      <a:r>
                        <a:rPr lang="pt-BR" sz="1100" b="1">
                          <a:effectLst/>
                        </a:rPr>
                        <a:t>69</a:t>
                      </a:r>
                    </a:p>
                  </a:txBody>
                  <a:tcPr marL="47625" marR="47625" marT="47625" marB="47625" anchor="ctr"/>
                </a:tc>
                <a:tc>
                  <a:txBody>
                    <a:bodyPr/>
                    <a:lstStyle/>
                    <a:p>
                      <a:pPr rtl="0" fontAlgn="ctr"/>
                      <a:r>
                        <a:rPr lang="pt-BR" sz="1100" b="0">
                          <a:effectLst/>
                        </a:rPr>
                        <a:t>UDP</a:t>
                      </a:r>
                    </a:p>
                  </a:txBody>
                  <a:tcPr marL="47625" marR="47625" marT="47625" marB="47625" anchor="ctr"/>
                </a:tc>
                <a:tc>
                  <a:txBody>
                    <a:bodyPr/>
                    <a:lstStyle/>
                    <a:p>
                      <a:pPr rtl="0" fontAlgn="ctr"/>
                      <a:r>
                        <a:rPr lang="pt-BR" sz="1100" b="0">
                          <a:effectLst/>
                        </a:rPr>
                        <a:t>Protocolo de Transferência Trivial de Arquivo (TFTP)</a:t>
                      </a:r>
                    </a:p>
                  </a:txBody>
                  <a:tcPr marL="47625" marR="47625" marT="47625" marB="47625" anchor="ctr"/>
                </a:tc>
                <a:extLst>
                  <a:ext uri="{0D108BD9-81ED-4DB2-BD59-A6C34878D82A}">
                    <a16:rowId xmlns:a16="http://schemas.microsoft.com/office/drawing/2014/main" val="778081186"/>
                  </a:ext>
                </a:extLst>
              </a:tr>
              <a:tr h="256362">
                <a:tc>
                  <a:txBody>
                    <a:bodyPr/>
                    <a:lstStyle/>
                    <a:p>
                      <a:pPr rtl="0" fontAlgn="ctr"/>
                      <a:r>
                        <a:rPr lang="pt-BR" sz="1100" b="1">
                          <a:effectLst/>
                        </a:rPr>
                        <a:t>80</a:t>
                      </a:r>
                    </a:p>
                  </a:txBody>
                  <a:tcPr marL="47625" marR="47625" marT="47625" marB="47625" anchor="ctr"/>
                </a:tc>
                <a:tc>
                  <a:txBody>
                    <a:bodyPr/>
                    <a:lstStyle/>
                    <a:p>
                      <a:pPr rtl="0" fontAlgn="ctr"/>
                      <a:r>
                        <a:rPr lang="pt-BR" sz="1100" b="0">
                          <a:effectLst/>
                        </a:rPr>
                        <a:t>TCP</a:t>
                      </a:r>
                    </a:p>
                  </a:txBody>
                  <a:tcPr marL="47625" marR="47625" marT="47625" marB="47625" anchor="ctr"/>
                </a:tc>
                <a:tc>
                  <a:txBody>
                    <a:bodyPr/>
                    <a:lstStyle/>
                    <a:p>
                      <a:pPr rtl="0" fontAlgn="ctr"/>
                      <a:r>
                        <a:rPr lang="pt-BR" sz="1100" b="0">
                          <a:effectLst/>
                        </a:rPr>
                        <a:t>Protocolo HTTP</a:t>
                      </a:r>
                    </a:p>
                  </a:txBody>
                  <a:tcPr marL="47625" marR="47625" marT="47625" marB="47625" anchor="ctr"/>
                </a:tc>
                <a:extLst>
                  <a:ext uri="{0D108BD9-81ED-4DB2-BD59-A6C34878D82A}">
                    <a16:rowId xmlns:a16="http://schemas.microsoft.com/office/drawing/2014/main" val="3074378529"/>
                  </a:ext>
                </a:extLst>
              </a:tr>
              <a:tr h="256362">
                <a:tc>
                  <a:txBody>
                    <a:bodyPr/>
                    <a:lstStyle/>
                    <a:p>
                      <a:pPr rtl="0" fontAlgn="ctr"/>
                      <a:r>
                        <a:rPr lang="pt-BR" sz="1100" b="1">
                          <a:effectLst/>
                        </a:rPr>
                        <a:t>110</a:t>
                      </a:r>
                    </a:p>
                  </a:txBody>
                  <a:tcPr marL="47625" marR="47625" marT="47625" marB="47625" anchor="ctr"/>
                </a:tc>
                <a:tc>
                  <a:txBody>
                    <a:bodyPr/>
                    <a:lstStyle/>
                    <a:p>
                      <a:pPr rtl="0" fontAlgn="ctr"/>
                      <a:r>
                        <a:rPr lang="pt-BR" sz="1100" b="0">
                          <a:effectLst/>
                        </a:rPr>
                        <a:t>TCP</a:t>
                      </a:r>
                    </a:p>
                  </a:txBody>
                  <a:tcPr marL="47625" marR="47625" marT="47625" marB="47625" anchor="ctr"/>
                </a:tc>
                <a:tc>
                  <a:txBody>
                    <a:bodyPr/>
                    <a:lstStyle/>
                    <a:p>
                      <a:pPr rtl="0" fontAlgn="ctr"/>
                      <a:r>
                        <a:rPr lang="pt-BR" sz="1100" b="0">
                          <a:effectLst/>
                        </a:rPr>
                        <a:t>Protocolo POP3 (Post Office Protocol - Protocolo dos Correios)</a:t>
                      </a:r>
                    </a:p>
                  </a:txBody>
                  <a:tcPr marL="47625" marR="47625" marT="47625" marB="47625" anchor="ctr"/>
                </a:tc>
                <a:extLst>
                  <a:ext uri="{0D108BD9-81ED-4DB2-BD59-A6C34878D82A}">
                    <a16:rowId xmlns:a16="http://schemas.microsoft.com/office/drawing/2014/main" val="1348475859"/>
                  </a:ext>
                </a:extLst>
              </a:tr>
              <a:tr h="256362">
                <a:tc>
                  <a:txBody>
                    <a:bodyPr/>
                    <a:lstStyle/>
                    <a:p>
                      <a:pPr rtl="0" fontAlgn="ctr"/>
                      <a:r>
                        <a:rPr lang="pt-BR" sz="1100" b="1">
                          <a:effectLst/>
                        </a:rPr>
                        <a:t>143</a:t>
                      </a:r>
                    </a:p>
                  </a:txBody>
                  <a:tcPr marL="47625" marR="47625" marT="47625" marB="47625" anchor="ctr"/>
                </a:tc>
                <a:tc>
                  <a:txBody>
                    <a:bodyPr/>
                    <a:lstStyle/>
                    <a:p>
                      <a:pPr rtl="0" fontAlgn="ctr"/>
                      <a:r>
                        <a:rPr lang="pt-BR" sz="1100" b="0">
                          <a:effectLst/>
                        </a:rPr>
                        <a:t>TCP</a:t>
                      </a:r>
                    </a:p>
                  </a:txBody>
                  <a:tcPr marL="47625" marR="47625" marT="47625" marB="47625" anchor="ctr"/>
                </a:tc>
                <a:tc>
                  <a:txBody>
                    <a:bodyPr/>
                    <a:lstStyle/>
                    <a:p>
                      <a:pPr rtl="0" fontAlgn="ctr"/>
                      <a:r>
                        <a:rPr lang="pt-BR" sz="1100" b="0">
                          <a:effectLst/>
                        </a:rPr>
                        <a:t>Protocolo IMAP</a:t>
                      </a:r>
                    </a:p>
                  </a:txBody>
                  <a:tcPr marL="47625" marR="47625" marT="47625" marB="47625" anchor="ctr"/>
                </a:tc>
                <a:extLst>
                  <a:ext uri="{0D108BD9-81ED-4DB2-BD59-A6C34878D82A}">
                    <a16:rowId xmlns:a16="http://schemas.microsoft.com/office/drawing/2014/main" val="420621283"/>
                  </a:ext>
                </a:extLst>
              </a:tr>
              <a:tr h="256362">
                <a:tc>
                  <a:txBody>
                    <a:bodyPr/>
                    <a:lstStyle/>
                    <a:p>
                      <a:pPr rtl="0" fontAlgn="ctr"/>
                      <a:r>
                        <a:rPr lang="pt-BR" sz="1100" b="1">
                          <a:effectLst/>
                        </a:rPr>
                        <a:t>161</a:t>
                      </a:r>
                    </a:p>
                  </a:txBody>
                  <a:tcPr marL="47625" marR="47625" marT="47625" marB="47625" anchor="ctr"/>
                </a:tc>
                <a:tc>
                  <a:txBody>
                    <a:bodyPr/>
                    <a:lstStyle/>
                    <a:p>
                      <a:pPr rtl="0" fontAlgn="ctr"/>
                      <a:r>
                        <a:rPr lang="pt-BR" sz="1100" b="0">
                          <a:effectLst/>
                        </a:rPr>
                        <a:t>UDP</a:t>
                      </a:r>
                    </a:p>
                  </a:txBody>
                  <a:tcPr marL="47625" marR="47625" marT="47625" marB="47625" anchor="ctr"/>
                </a:tc>
                <a:tc>
                  <a:txBody>
                    <a:bodyPr/>
                    <a:lstStyle/>
                    <a:p>
                      <a:pPr rtl="0" fontAlgn="ctr"/>
                      <a:r>
                        <a:rPr lang="pt-BR" sz="1100" b="0">
                          <a:effectLst/>
                        </a:rPr>
                        <a:t>Protocolo de Gerenciamento Simples de Rede (SNMP)</a:t>
                      </a:r>
                    </a:p>
                  </a:txBody>
                  <a:tcPr marL="47625" marR="47625" marT="47625" marB="47625" anchor="ctr"/>
                </a:tc>
                <a:extLst>
                  <a:ext uri="{0D108BD9-81ED-4DB2-BD59-A6C34878D82A}">
                    <a16:rowId xmlns:a16="http://schemas.microsoft.com/office/drawing/2014/main" val="286351555"/>
                  </a:ext>
                </a:extLst>
              </a:tr>
              <a:tr h="256362">
                <a:tc>
                  <a:txBody>
                    <a:bodyPr/>
                    <a:lstStyle/>
                    <a:p>
                      <a:pPr rtl="0" fontAlgn="ctr"/>
                      <a:r>
                        <a:rPr lang="pt-BR" sz="1100" b="1">
                          <a:effectLst/>
                        </a:rPr>
                        <a:t>443</a:t>
                      </a:r>
                    </a:p>
                  </a:txBody>
                  <a:tcPr marL="47625" marR="47625" marT="47625" marB="47625" anchor="ctr"/>
                </a:tc>
                <a:tc>
                  <a:txBody>
                    <a:bodyPr/>
                    <a:lstStyle/>
                    <a:p>
                      <a:pPr rtl="0" fontAlgn="ctr"/>
                      <a:r>
                        <a:rPr lang="pt-BR" sz="1100" b="0">
                          <a:effectLst/>
                        </a:rPr>
                        <a:t>TCP</a:t>
                      </a:r>
                    </a:p>
                  </a:txBody>
                  <a:tcPr marL="47625" marR="47625" marT="47625" marB="47625" anchor="ctr"/>
                </a:tc>
                <a:tc>
                  <a:txBody>
                    <a:bodyPr/>
                    <a:lstStyle/>
                    <a:p>
                      <a:pPr rtl="0" fontAlgn="ctr"/>
                      <a:r>
                        <a:rPr lang="pt-BR" sz="1100" b="0">
                          <a:effectLst/>
                        </a:rPr>
                        <a:t>HTTPS (Secure Hypertext Transfer Protocol - Protocolo de Transferência de Hipertexto Seguro)</a:t>
                      </a:r>
                    </a:p>
                  </a:txBody>
                  <a:tcPr marL="47625" marR="47625" marT="47625" marB="47625" anchor="ctr"/>
                </a:tc>
                <a:extLst>
                  <a:ext uri="{0D108BD9-81ED-4DB2-BD59-A6C34878D82A}">
                    <a16:rowId xmlns:a16="http://schemas.microsoft.com/office/drawing/2014/main" val="3823116889"/>
                  </a:ext>
                </a:extLst>
              </a:tr>
            </a:tbl>
          </a:graphicData>
        </a:graphic>
      </p:graphicFrame>
    </p:spTree>
    <p:extLst>
      <p:ext uri="{BB962C8B-B14F-4D97-AF65-F5344CB8AC3E}">
        <p14:creationId xmlns:p14="http://schemas.microsoft.com/office/powerpoint/2010/main" val="3081359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85060"/>
            <a:ext cx="8345488" cy="731837"/>
          </a:xfrm>
        </p:spPr>
        <p:txBody>
          <a:bodyPr/>
          <a:lstStyle/>
          <a:p>
            <a:pPr rtl="0"/>
            <a:r>
              <a:rPr lang="pt-BR" sz="1600"/>
              <a:t>Números de Porta</a:t>
            </a:r>
            <a:br>
              <a:rPr lang="en-US" dirty="0"/>
            </a:br>
            <a:r>
              <a:rPr lang="pt-BR" sz="2400"/>
              <a:t>O Comando netstat</a:t>
            </a:r>
          </a:p>
        </p:txBody>
      </p:sp>
      <p:sp>
        <p:nvSpPr>
          <p:cNvPr id="2" name="TextBox 1">
            <a:extLst>
              <a:ext uri="{FF2B5EF4-FFF2-40B4-BE49-F238E27FC236}">
                <a16:creationId xmlns:a16="http://schemas.microsoft.com/office/drawing/2014/main" id="{97D2B1BC-7EEE-49BD-A660-EFBBA481407F}"/>
              </a:ext>
            </a:extLst>
          </p:cNvPr>
          <p:cNvSpPr txBox="1"/>
          <p:nvPr/>
        </p:nvSpPr>
        <p:spPr>
          <a:xfrm>
            <a:off x="235670" y="816897"/>
            <a:ext cx="7843101" cy="646331"/>
          </a:xfrm>
          <a:prstGeom prst="rect">
            <a:avLst/>
          </a:prstGeom>
          <a:noFill/>
        </p:spPr>
        <p:txBody>
          <a:bodyPr wrap="square" rtlCol="0">
            <a:spAutoFit/>
          </a:bodyPr>
          <a:lstStyle/>
          <a:p>
            <a:pPr rtl="0"/>
            <a:r>
              <a:rPr lang="pt-BR"/>
              <a:t>Conexões TCP desconhecidas podem ser uma ameaça de segurança maior. Netstat é uma ferramenta importante para verificar conexões. </a:t>
            </a:r>
          </a:p>
        </p:txBody>
      </p:sp>
      <p:sp>
        <p:nvSpPr>
          <p:cNvPr id="4" name="Rectangle 3">
            <a:extLst>
              <a:ext uri="{FF2B5EF4-FFF2-40B4-BE49-F238E27FC236}">
                <a16:creationId xmlns:a16="http://schemas.microsoft.com/office/drawing/2014/main" id="{56F0B09A-F978-AB48-9E27-3798AD0AB9BD}"/>
              </a:ext>
            </a:extLst>
          </p:cNvPr>
          <p:cNvSpPr/>
          <p:nvPr/>
        </p:nvSpPr>
        <p:spPr>
          <a:xfrm>
            <a:off x="336884" y="2009644"/>
            <a:ext cx="8470232" cy="2031325"/>
          </a:xfrm>
          <a:prstGeom prst="rect">
            <a:avLst/>
          </a:prstGeom>
          <a:solidFill>
            <a:srgbClr val="080808"/>
          </a:solidFill>
        </p:spPr>
        <p:txBody>
          <a:bodyPr wrap="square">
            <a:spAutoFit/>
          </a:bodyPr>
          <a:lstStyle/>
          <a:p>
            <a:pPr rtl="0"/>
            <a:r>
              <a:rPr lang="pt-BR" sz="1400">
                <a:solidFill>
                  <a:schemeClr val="bg1"/>
                </a:solidFill>
                <a:latin typeface="Courier New" panose="02070309020205020404" pitchFamily="49" charset="0"/>
              </a:rPr>
              <a:t>C:\&gt; </a:t>
            </a:r>
            <a:r>
              <a:rPr lang="pt-BR" sz="1400" b="1">
                <a:solidFill>
                  <a:schemeClr val="bg1"/>
                </a:solidFill>
                <a:latin typeface="Courier New" panose="02070309020205020404" pitchFamily="49" charset="0"/>
              </a:rPr>
              <a:t>netstat</a:t>
            </a:r>
            <a:r>
              <a:rPr lang="pt-BR" sz="1400">
                <a:solidFill>
                  <a:schemeClr val="bg1"/>
                </a:solidFill>
                <a:latin typeface="Courier New" panose="02070309020205020404" pitchFamily="49" charset="0"/>
              </a:rPr>
              <a:t> </a:t>
            </a:r>
          </a:p>
          <a:p>
            <a:pPr rtl="0"/>
            <a:r>
              <a:rPr lang="pt-BR" sz="1400">
                <a:solidFill>
                  <a:schemeClr val="bg1"/>
                </a:solidFill>
                <a:latin typeface="Courier New" panose="02070309020205020404" pitchFamily="49" charset="0"/>
              </a:rPr>
              <a:t>Conexões Ativas </a:t>
            </a:r>
          </a:p>
          <a:p>
            <a:pPr rtl="0"/>
            <a:r>
              <a:rPr lang="pt-BR" sz="1400">
                <a:solidFill>
                  <a:schemeClr val="bg1"/>
                </a:solidFill>
                <a:latin typeface="Courier New" panose="02070309020205020404" pitchFamily="49" charset="0"/>
              </a:rPr>
              <a:t>Endereço Local Proto Estado do Endereço Estrangeiro </a:t>
            </a:r>
          </a:p>
          <a:p>
            <a:pPr rtl="0"/>
            <a:r>
              <a:rPr lang="pt-BR" sz="1400">
                <a:solidFill>
                  <a:schemeClr val="bg1"/>
                </a:solidFill>
                <a:latin typeface="Courier New" panose="02070309020205020404" pitchFamily="49" charset="0"/>
              </a:rPr>
              <a:t>TCP 192.168.1.124:3126 192.168.0.2:netbios-ssn ESTABLISHED </a:t>
            </a:r>
          </a:p>
          <a:p>
            <a:pPr rtl="0"/>
            <a:r>
              <a:rPr lang="pt-BR" sz="1400">
                <a:solidFill>
                  <a:schemeClr val="bg1"/>
                </a:solidFill>
                <a:latin typeface="Courier New" panose="02070309020205020404" pitchFamily="49" charset="0"/>
              </a:rPr>
              <a:t>TCP 192.168.1.124:3158 207.138.126.152:http ESTABLISHED </a:t>
            </a:r>
          </a:p>
          <a:p>
            <a:pPr rtl="0"/>
            <a:r>
              <a:rPr lang="pt-BR" sz="1400">
                <a:solidFill>
                  <a:schemeClr val="bg1"/>
                </a:solidFill>
                <a:latin typeface="Courier New" panose="02070309020205020404" pitchFamily="49" charset="0"/>
              </a:rPr>
              <a:t>TCP 192.168.1.124:3159 207.138.126.169:http ESTABLISHED </a:t>
            </a:r>
          </a:p>
          <a:p>
            <a:pPr rtl="0"/>
            <a:r>
              <a:rPr lang="pt-BR" sz="1400">
                <a:solidFill>
                  <a:schemeClr val="bg1"/>
                </a:solidFill>
                <a:latin typeface="Courier New" panose="02070309020205020404" pitchFamily="49" charset="0"/>
              </a:rPr>
              <a:t>TCP 192.168.1.124:3160 207.138.126.169:http ESTABLISHED </a:t>
            </a:r>
          </a:p>
          <a:p>
            <a:pPr rtl="0"/>
            <a:r>
              <a:rPr lang="pt-BR" sz="1400">
                <a:solidFill>
                  <a:schemeClr val="bg1"/>
                </a:solidFill>
                <a:latin typeface="Courier New" panose="02070309020205020404" pitchFamily="49" charset="0"/>
              </a:rPr>
              <a:t>TCP 192.168.1.124:3161 sc.msn.com:http ESTABLISHED </a:t>
            </a:r>
          </a:p>
          <a:p>
            <a:pPr rtl="0"/>
            <a:r>
              <a:rPr lang="pt-BR" sz="1400">
                <a:solidFill>
                  <a:schemeClr val="bg1"/>
                </a:solidFill>
                <a:latin typeface="Courier New" panose="02070309020205020404" pitchFamily="49" charset="0"/>
              </a:rPr>
              <a:t>TCP 192.168.1.124:3166 www.cisco.com:http ESTABLISHED</a:t>
            </a:r>
          </a:p>
        </p:txBody>
      </p:sp>
    </p:spTree>
    <p:extLst>
      <p:ext uri="{BB962C8B-B14F-4D97-AF65-F5344CB8AC3E}">
        <p14:creationId xmlns:p14="http://schemas.microsoft.com/office/powerpoint/2010/main" val="3826224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14.5 - Processo de comunicação TCP</a:t>
            </a:r>
          </a:p>
        </p:txBody>
      </p:sp>
    </p:spTree>
    <p:custDataLst>
      <p:tags r:id="rId1"/>
    </p:custDataLst>
    <p:extLst>
      <p:ext uri="{BB962C8B-B14F-4D97-AF65-F5344CB8AC3E}">
        <p14:creationId xmlns:p14="http://schemas.microsoft.com/office/powerpoint/2010/main" val="2549051537"/>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lang="pt-BR" sz="2400"/>
              <a:t>Processo de comunicação TCP </a:t>
            </a:r>
            <a:r>
              <a:rPr lang="pt-BR" sz="1600"/>
              <a:t>Processo de servidor TCP</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2" y="902311"/>
            <a:ext cx="4472538" cy="3505566"/>
          </a:xfrm>
        </p:spPr>
        <p:txBody>
          <a:bodyPr/>
          <a:lstStyle/>
          <a:p>
            <a:pPr marL="0" indent="0" algn="l" rtl="0"/>
            <a:r>
              <a:rPr lang="pt-BR" sz="1600">
                <a:solidFill>
                  <a:srgbClr val="000000"/>
                </a:solidFill>
              </a:rPr>
              <a:t>Cada processo de aplicativo em execução em um servidor está configurado para usar um número de porta. </a:t>
            </a:r>
          </a:p>
          <a:p>
            <a:pPr marL="342900" indent="-342900" algn="l" rtl="0">
              <a:buFont typeface="Arial" panose="020B0604020202020204" pitchFamily="34" charset="0"/>
              <a:buChar char="•"/>
            </a:pPr>
            <a:r>
              <a:rPr lang="pt-BR" sz="1600">
                <a:solidFill>
                  <a:srgbClr val="000000"/>
                </a:solidFill>
              </a:rPr>
              <a:t>Um servidor individual não pode ter dois serviços atribuídos ao mesmo número de porta dentro dos mesmos serviços de camada de transporte.</a:t>
            </a:r>
          </a:p>
          <a:p>
            <a:pPr marL="342900" indent="-342900" algn="l" rtl="0">
              <a:buFont typeface="Arial" panose="020B0604020202020204" pitchFamily="34" charset="0"/>
              <a:buChar char="•"/>
            </a:pPr>
            <a:r>
              <a:rPr lang="pt-BR" sz="1600">
                <a:solidFill>
                  <a:srgbClr val="000000"/>
                </a:solidFill>
              </a:rPr>
              <a:t>Um aplicativo de servidor ativo atribuído a uma porta específica é considerado aberto, o que significa que a camada de transporte aceita e processa os segmentos endereçados a essa porta. </a:t>
            </a:r>
          </a:p>
          <a:p>
            <a:pPr marL="342900" indent="-342900" algn="l" rtl="0">
              <a:buFont typeface="Arial" panose="020B0604020202020204" pitchFamily="34" charset="0"/>
              <a:buChar char="•"/>
            </a:pPr>
            <a:r>
              <a:rPr lang="pt-BR" sz="1600">
                <a:solidFill>
                  <a:srgbClr val="000000"/>
                </a:solidFill>
              </a:rPr>
              <a:t>Qualquer solicitação de cliente que chega endereçada ao socket correto é aceita e os dados são transmitidos à aplicação do servidor. </a:t>
            </a:r>
          </a:p>
        </p:txBody>
      </p:sp>
      <p:pic>
        <p:nvPicPr>
          <p:cNvPr id="2" name="Picture 1">
            <a:extLst>
              <a:ext uri="{FF2B5EF4-FFF2-40B4-BE49-F238E27FC236}">
                <a16:creationId xmlns:a16="http://schemas.microsoft.com/office/drawing/2014/main" id="{99FBF6C5-2BAD-4377-8A7E-1E562B9674FF}"/>
              </a:ext>
            </a:extLst>
          </p:cNvPr>
          <p:cNvPicPr>
            <a:picLocks noChangeAspect="1"/>
          </p:cNvPicPr>
          <p:nvPr/>
        </p:nvPicPr>
        <p:blipFill>
          <a:blip r:embed="rId3"/>
          <a:stretch>
            <a:fillRect/>
          </a:stretch>
        </p:blipFill>
        <p:spPr>
          <a:xfrm>
            <a:off x="5237340" y="902311"/>
            <a:ext cx="3795824" cy="2976962"/>
          </a:xfrm>
          <a:prstGeom prst="rect">
            <a:avLst/>
          </a:prstGeom>
        </p:spPr>
      </p:pic>
    </p:spTree>
    <p:extLst>
      <p:ext uri="{BB962C8B-B14F-4D97-AF65-F5344CB8AC3E}">
        <p14:creationId xmlns:p14="http://schemas.microsoft.com/office/powerpoint/2010/main" val="356696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pPr rtl="0"/>
            <a:br>
              <a:rPr lang="en-US" dirty="0"/>
            </a:br>
            <a:r>
              <a:rPr lang="pt-BR" sz="2400"/>
              <a:t>Processo de comunicação TCP </a:t>
            </a:r>
            <a:r>
              <a:rPr lang="pt-BR" sz="1600"/>
              <a:t>Estabelecimento de conexão TCP</a:t>
            </a:r>
          </a:p>
        </p:txBody>
      </p:sp>
      <p:sp>
        <p:nvSpPr>
          <p:cNvPr id="2" name="Content Placeholder 1">
            <a:extLst>
              <a:ext uri="{FF2B5EF4-FFF2-40B4-BE49-F238E27FC236}">
                <a16:creationId xmlns:a16="http://schemas.microsoft.com/office/drawing/2014/main" id="{22B4C1BD-6CD9-41BB-9847-E67604393FF9}"/>
              </a:ext>
            </a:extLst>
          </p:cNvPr>
          <p:cNvSpPr>
            <a:spLocks noGrp="1"/>
          </p:cNvSpPr>
          <p:nvPr>
            <p:ph idx="1"/>
          </p:nvPr>
        </p:nvSpPr>
        <p:spPr>
          <a:xfrm>
            <a:off x="144065" y="979055"/>
            <a:ext cx="4076953" cy="3975208"/>
          </a:xfrm>
        </p:spPr>
        <p:txBody>
          <a:bodyPr/>
          <a:lstStyle/>
          <a:p>
            <a:pPr marL="0" indent="0" rtl="0">
              <a:buNone/>
            </a:pPr>
            <a:r>
              <a:rPr lang="pt-BR"/>
              <a:t>Etapa 1: O cliente iniciador solicita uma sessão de comunicação cliente-servidor com o servidor.</a:t>
            </a:r>
          </a:p>
          <a:p>
            <a:pPr marL="0" indent="0" rtl="0">
              <a:buNone/>
            </a:pPr>
            <a:r>
              <a:rPr lang="pt-BR"/>
              <a:t>Etapa 2: O servidor confirma a sessão de comunicação cliente-servidor e solicita uma sessão de comunicação de servidor-cliente.</a:t>
            </a:r>
          </a:p>
          <a:p>
            <a:pPr marL="0" indent="0" rtl="0">
              <a:buNone/>
            </a:pPr>
            <a:r>
              <a:rPr lang="pt-BR"/>
              <a:t>Etapa 3: O cliente iniciador confirma a sessão de comunicação de servidor-cliente.</a:t>
            </a:r>
          </a:p>
        </p:txBody>
      </p:sp>
      <p:pic>
        <p:nvPicPr>
          <p:cNvPr id="6" name="Picture 5">
            <a:extLst>
              <a:ext uri="{FF2B5EF4-FFF2-40B4-BE49-F238E27FC236}">
                <a16:creationId xmlns:a16="http://schemas.microsoft.com/office/drawing/2014/main" id="{C6A9B416-7891-D340-B842-5C2C3A412A09}"/>
              </a:ext>
            </a:extLst>
          </p:cNvPr>
          <p:cNvPicPr>
            <a:picLocks noChangeAspect="1"/>
          </p:cNvPicPr>
          <p:nvPr/>
        </p:nvPicPr>
        <p:blipFill>
          <a:blip r:embed="rId3"/>
          <a:stretch>
            <a:fillRect/>
          </a:stretch>
        </p:blipFill>
        <p:spPr>
          <a:xfrm>
            <a:off x="4390331" y="1268997"/>
            <a:ext cx="4496457" cy="2605505"/>
          </a:xfrm>
          <a:prstGeom prst="rect">
            <a:avLst/>
          </a:prstGeom>
        </p:spPr>
      </p:pic>
    </p:spTree>
    <p:extLst>
      <p:ext uri="{BB962C8B-B14F-4D97-AF65-F5344CB8AC3E}">
        <p14:creationId xmlns:p14="http://schemas.microsoft.com/office/powerpoint/2010/main" val="93514130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lang="pt-BR" sz="2400"/>
              <a:t>Comunicação de TCP </a:t>
            </a:r>
            <a:r>
              <a:rPr lang="pt-BR" sz="1600"/>
              <a:t>Término da sessão de TCP</a:t>
            </a:r>
          </a:p>
        </p:txBody>
      </p:sp>
      <p:sp>
        <p:nvSpPr>
          <p:cNvPr id="4" name="Content Placeholder 3">
            <a:extLst>
              <a:ext uri="{FF2B5EF4-FFF2-40B4-BE49-F238E27FC236}">
                <a16:creationId xmlns:a16="http://schemas.microsoft.com/office/drawing/2014/main" id="{DFF076BC-3C2E-CE4F-A6DA-A339E2D4B22B}"/>
              </a:ext>
            </a:extLst>
          </p:cNvPr>
          <p:cNvSpPr>
            <a:spLocks noGrp="1"/>
          </p:cNvSpPr>
          <p:nvPr>
            <p:ph idx="1"/>
          </p:nvPr>
        </p:nvSpPr>
        <p:spPr>
          <a:xfrm>
            <a:off x="431971" y="933119"/>
            <a:ext cx="4140029" cy="3073946"/>
          </a:xfrm>
        </p:spPr>
        <p:txBody>
          <a:bodyPr/>
          <a:lstStyle/>
          <a:p>
            <a:pPr marL="0" indent="0" algn="l" rtl="0"/>
            <a:r>
              <a:rPr lang="pt-BR" sz="1600">
                <a:solidFill>
                  <a:srgbClr val="000000"/>
                </a:solidFill>
              </a:rPr>
              <a:t>Etapa 1: quando o cliente não tem mais dados para enviar no fluxo, ele envia um segmento com o sinalizador FIN definido.</a:t>
            </a:r>
          </a:p>
          <a:p>
            <a:pPr marL="0" indent="0" algn="l" rtl="0"/>
            <a:r>
              <a:rPr lang="pt-BR" sz="1600">
                <a:solidFill>
                  <a:srgbClr val="000000"/>
                </a:solidFill>
              </a:rPr>
              <a:t>Etapa 2: O servidor envia um ACK para confirmar o recebimento do FIN para encerrar a sessão do cliente para o servidor.</a:t>
            </a:r>
          </a:p>
          <a:p>
            <a:pPr marL="0" indent="0" algn="l" rtl="0"/>
            <a:r>
              <a:rPr lang="pt-BR" sz="1600">
                <a:solidFill>
                  <a:srgbClr val="000000"/>
                </a:solidFill>
              </a:rPr>
              <a:t>Etapa 3: O servidor envia um FIN ao cliente para finalizar a sessão servidor para cliente.</a:t>
            </a:r>
          </a:p>
          <a:p>
            <a:pPr marL="0" indent="0" algn="l" rtl="0"/>
            <a:r>
              <a:rPr lang="pt-BR" sz="1600">
                <a:solidFill>
                  <a:srgbClr val="000000"/>
                </a:solidFill>
              </a:rPr>
              <a:t>Etapa 4: O cliente responde com um ACK para confirmar o FIN do servidor.</a:t>
            </a:r>
          </a:p>
        </p:txBody>
      </p:sp>
      <p:pic>
        <p:nvPicPr>
          <p:cNvPr id="6" name="Picture 5">
            <a:extLst>
              <a:ext uri="{FF2B5EF4-FFF2-40B4-BE49-F238E27FC236}">
                <a16:creationId xmlns:a16="http://schemas.microsoft.com/office/drawing/2014/main" id="{488E7229-C633-8549-B035-25AF8DE13930}"/>
              </a:ext>
            </a:extLst>
          </p:cNvPr>
          <p:cNvPicPr>
            <a:picLocks noChangeAspect="1"/>
          </p:cNvPicPr>
          <p:nvPr/>
        </p:nvPicPr>
        <p:blipFill>
          <a:blip r:embed="rId3"/>
          <a:stretch>
            <a:fillRect/>
          </a:stretch>
        </p:blipFill>
        <p:spPr>
          <a:xfrm>
            <a:off x="4572000" y="1136435"/>
            <a:ext cx="3953695" cy="3073946"/>
          </a:xfrm>
          <a:prstGeom prst="rect">
            <a:avLst/>
          </a:prstGeom>
        </p:spPr>
      </p:pic>
    </p:spTree>
    <p:extLst>
      <p:ext uri="{BB962C8B-B14F-4D97-AF65-F5344CB8AC3E}">
        <p14:creationId xmlns:p14="http://schemas.microsoft.com/office/powerpoint/2010/main" val="42473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pPr rtl="0"/>
            <a:br>
              <a:rPr lang="en-US" dirty="0"/>
            </a:br>
            <a:r>
              <a:rPr lang="pt-BR" sz="2400"/>
              <a:t>Processo de comunicação TCP </a:t>
            </a:r>
            <a:r>
              <a:rPr lang="pt-BR" sz="1600"/>
              <a:t>Análise do handshake triplo do TCP</a:t>
            </a:r>
          </a:p>
        </p:txBody>
      </p:sp>
      <p:sp>
        <p:nvSpPr>
          <p:cNvPr id="2" name="Content Placeholder 1">
            <a:extLst>
              <a:ext uri="{FF2B5EF4-FFF2-40B4-BE49-F238E27FC236}">
                <a16:creationId xmlns:a16="http://schemas.microsoft.com/office/drawing/2014/main" id="{69BCA604-5AE4-48C6-B519-9F57FF340DF1}"/>
              </a:ext>
            </a:extLst>
          </p:cNvPr>
          <p:cNvSpPr>
            <a:spLocks noGrp="1"/>
          </p:cNvSpPr>
          <p:nvPr>
            <p:ph idx="1"/>
          </p:nvPr>
        </p:nvSpPr>
        <p:spPr/>
        <p:txBody>
          <a:bodyPr/>
          <a:lstStyle/>
          <a:p>
            <a:pPr marL="0" indent="0" rtl="0">
              <a:buNone/>
            </a:pPr>
            <a:r>
              <a:rPr lang="pt-BR" sz="1600"/>
              <a:t>Estas são as funções do handshake de três vias:</a:t>
            </a:r>
          </a:p>
          <a:p>
            <a:pPr lvl="1" rtl="0">
              <a:buFont typeface="Arial" panose="020B0604020202020204" pitchFamily="34" charset="0"/>
              <a:buChar char="•"/>
            </a:pPr>
            <a:r>
              <a:rPr lang="pt-BR"/>
              <a:t>Estabelece que o dispositivo de destino está presente na rede.</a:t>
            </a:r>
          </a:p>
          <a:p>
            <a:pPr lvl="1" rtl="0">
              <a:buFont typeface="Arial" panose="020B0604020202020204" pitchFamily="34" charset="0"/>
              <a:buChar char="•"/>
            </a:pPr>
            <a:r>
              <a:rPr lang="pt-BR"/>
              <a:t>Ele verifica se o dispositivo de destino possui um serviço ativo e está aceitando solicitações no número da porta de destino que o cliente inicial pretende usar.</a:t>
            </a:r>
          </a:p>
          <a:p>
            <a:pPr lvl="1" rtl="0">
              <a:buFont typeface="Arial" panose="020B0604020202020204" pitchFamily="34" charset="0"/>
              <a:buChar char="•"/>
            </a:pPr>
            <a:r>
              <a:rPr lang="pt-BR"/>
              <a:t>Ele informa ao dispositivo de destino que o cliente de origem pretende estabelecer uma sessão de comunicação nesse número de porta.</a:t>
            </a:r>
          </a:p>
          <a:p>
            <a:pPr marL="0" indent="0" rtl="0">
              <a:buNone/>
            </a:pPr>
            <a:r>
              <a:rPr lang="pt-BR"/>
              <a:t>Após a conclusão da comunicação, as sessões são fechadas e a conexão é encerrada. Os mecanismos de conexão e sessão ativam a função de confiabilidade do TCP.</a:t>
            </a:r>
          </a:p>
        </p:txBody>
      </p:sp>
    </p:spTree>
    <p:extLst>
      <p:ext uri="{BB962C8B-B14F-4D97-AF65-F5344CB8AC3E}">
        <p14:creationId xmlns:p14="http://schemas.microsoft.com/office/powerpoint/2010/main" val="117139954"/>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pPr rtl="0"/>
            <a:br>
              <a:rPr lang="en-US" dirty="0"/>
            </a:br>
            <a:r>
              <a:rPr lang="pt-BR" sz="2400"/>
              <a:t>Processo de comunicação TCP </a:t>
            </a:r>
            <a:r>
              <a:rPr lang="pt-BR" sz="1600"/>
              <a:t>Análise do handshake triplo do TCP</a:t>
            </a:r>
          </a:p>
        </p:txBody>
      </p:sp>
      <p:sp>
        <p:nvSpPr>
          <p:cNvPr id="2" name="Content Placeholder 1">
            <a:extLst>
              <a:ext uri="{FF2B5EF4-FFF2-40B4-BE49-F238E27FC236}">
                <a16:creationId xmlns:a16="http://schemas.microsoft.com/office/drawing/2014/main" id="{69BCA604-5AE4-48C6-B519-9F57FF340DF1}"/>
              </a:ext>
            </a:extLst>
          </p:cNvPr>
          <p:cNvSpPr>
            <a:spLocks noGrp="1"/>
          </p:cNvSpPr>
          <p:nvPr>
            <p:ph idx="1"/>
          </p:nvPr>
        </p:nvSpPr>
        <p:spPr>
          <a:xfrm>
            <a:off x="144065" y="798944"/>
            <a:ext cx="3850419" cy="4155319"/>
          </a:xfrm>
        </p:spPr>
        <p:txBody>
          <a:bodyPr/>
          <a:lstStyle/>
          <a:p>
            <a:pPr marL="0" indent="0" rtl="0">
              <a:buNone/>
            </a:pPr>
            <a:r>
              <a:rPr lang="pt-BR" sz="1600"/>
              <a:t>Os seis sinalizadores de bit de controle são os seguintes:</a:t>
            </a:r>
          </a:p>
          <a:p>
            <a:pPr lvl="1" rtl="0"/>
            <a:r>
              <a:rPr lang="pt-BR" sz="1500" b="1"/>
              <a:t>URG </a:t>
            </a:r>
            <a:r>
              <a:rPr lang="pt-BR" sz="1500"/>
              <a:t> - Campo indicador de urgência</a:t>
            </a:r>
          </a:p>
          <a:p>
            <a:pPr lvl="1" rtl="0"/>
            <a:r>
              <a:rPr lang="pt-BR" sz="1500" b="1"/>
              <a:t>ACK</a:t>
            </a:r>
            <a:r>
              <a:rPr lang="pt-BR" sz="1500"/>
              <a:t> - Indicador de confirmação usado no estabelecimento de conexão e encerramento de sessão</a:t>
            </a:r>
          </a:p>
          <a:p>
            <a:pPr lvl="1" rtl="0"/>
            <a:r>
              <a:rPr lang="pt-BR" sz="1500" b="1"/>
              <a:t>PSH</a:t>
            </a:r>
            <a:r>
              <a:rPr lang="pt-BR" sz="1500"/>
              <a:t>  - Função Push</a:t>
            </a:r>
          </a:p>
          <a:p>
            <a:pPr lvl="1" rtl="0"/>
            <a:r>
              <a:rPr lang="pt-BR" sz="1500" b="1"/>
              <a:t>RST</a:t>
            </a:r>
            <a:r>
              <a:rPr lang="pt-BR" sz="1500"/>
              <a:t> - Redefina a conexão quando ocorrer um erro ou tempo limite</a:t>
            </a:r>
          </a:p>
          <a:p>
            <a:pPr lvl="1" rtl="0"/>
            <a:r>
              <a:rPr lang="pt-BR" sz="1500" b="1"/>
              <a:t>SYN</a:t>
            </a:r>
            <a:r>
              <a:rPr lang="pt-BR" sz="1500"/>
              <a:t> - Sincronizar números de sequência usados no estabelecimento de conexão</a:t>
            </a:r>
          </a:p>
          <a:p>
            <a:pPr lvl="1" rtl="0"/>
            <a:r>
              <a:rPr lang="pt-BR" sz="1500" b="1"/>
              <a:t>FIN</a:t>
            </a:r>
            <a:r>
              <a:rPr lang="pt-BR" sz="1500"/>
              <a:t> - Não há mais dados do remetente e usados no encerramento da sessão</a:t>
            </a:r>
          </a:p>
          <a:p>
            <a:pPr>
              <a:buFont typeface="Arial" panose="020B0604020202020204" pitchFamily="34" charset="0"/>
              <a:buChar char="•"/>
            </a:pPr>
            <a:endParaRPr lang="en-US" sz="1600" dirty="0"/>
          </a:p>
        </p:txBody>
      </p:sp>
      <p:pic>
        <p:nvPicPr>
          <p:cNvPr id="6" name="Picture 5">
            <a:extLst>
              <a:ext uri="{FF2B5EF4-FFF2-40B4-BE49-F238E27FC236}">
                <a16:creationId xmlns:a16="http://schemas.microsoft.com/office/drawing/2014/main" id="{01616695-A4F8-A34A-B776-EF800675ACCC}"/>
              </a:ext>
            </a:extLst>
          </p:cNvPr>
          <p:cNvPicPr>
            <a:picLocks noChangeAspect="1"/>
          </p:cNvPicPr>
          <p:nvPr/>
        </p:nvPicPr>
        <p:blipFill>
          <a:blip r:embed="rId3"/>
          <a:stretch>
            <a:fillRect/>
          </a:stretch>
        </p:blipFill>
        <p:spPr>
          <a:xfrm>
            <a:off x="4110926" y="1369093"/>
            <a:ext cx="4974253" cy="2405313"/>
          </a:xfrm>
          <a:prstGeom prst="rect">
            <a:avLst/>
          </a:prstGeom>
        </p:spPr>
      </p:pic>
    </p:spTree>
    <p:extLst>
      <p:ext uri="{BB962C8B-B14F-4D97-AF65-F5344CB8AC3E}">
        <p14:creationId xmlns:p14="http://schemas.microsoft.com/office/powerpoint/2010/main" val="91960834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pPr rtl="0"/>
            <a:br>
              <a:rPr lang="en-US" dirty="0"/>
            </a:br>
            <a:r>
              <a:rPr lang="pt-BR" sz="2400"/>
              <a:t>Processo de comunicação TCP </a:t>
            </a:r>
            <a:r>
              <a:rPr lang="pt-BR" sz="1600"/>
              <a:t>Demonstração em vídeo - Handshake triplo do TCP</a:t>
            </a:r>
          </a:p>
        </p:txBody>
      </p:sp>
      <p:sp>
        <p:nvSpPr>
          <p:cNvPr id="7" name="Content Placeholder 6">
            <a:extLst>
              <a:ext uri="{FF2B5EF4-FFF2-40B4-BE49-F238E27FC236}">
                <a16:creationId xmlns:a16="http://schemas.microsoft.com/office/drawing/2014/main" id="{F2DFF1A0-4C70-4946-92A6-AAA29E96E8BD}"/>
              </a:ext>
            </a:extLst>
          </p:cNvPr>
          <p:cNvSpPr>
            <a:spLocks noGrp="1"/>
          </p:cNvSpPr>
          <p:nvPr>
            <p:ph idx="1"/>
          </p:nvPr>
        </p:nvSpPr>
        <p:spPr>
          <a:xfrm>
            <a:off x="144065" y="879541"/>
            <a:ext cx="8853286" cy="4155319"/>
          </a:xfrm>
        </p:spPr>
        <p:txBody>
          <a:bodyPr/>
          <a:lstStyle/>
          <a:p>
            <a:pPr marL="0" indent="0" rtl="0">
              <a:buNone/>
            </a:pPr>
            <a:r>
              <a:rPr lang="pt-BR" sz="1600"/>
              <a:t>Este vídeo aborda o seguinte:</a:t>
            </a:r>
          </a:p>
          <a:p>
            <a:pPr lvl="1" rtl="0"/>
            <a:r>
              <a:rPr lang="pt-BR" sz="1500"/>
              <a:t>Handshake triplo TCP</a:t>
            </a:r>
          </a:p>
          <a:p>
            <a:pPr lvl="1" rtl="0"/>
            <a:r>
              <a:rPr lang="pt-BR" sz="1500"/>
              <a:t>Encerramento de uma conversa TCP</a:t>
            </a:r>
          </a:p>
        </p:txBody>
      </p:sp>
    </p:spTree>
    <p:extLst>
      <p:ext uri="{BB962C8B-B14F-4D97-AF65-F5344CB8AC3E}">
        <p14:creationId xmlns:p14="http://schemas.microsoft.com/office/powerpoint/2010/main" val="217846342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14.6 - Confiabilidade e controle de fluxo</a:t>
            </a:r>
          </a:p>
        </p:txBody>
      </p:sp>
    </p:spTree>
    <p:custDataLst>
      <p:tags r:id="rId1"/>
    </p:custDataLst>
    <p:extLst>
      <p:ext uri="{BB962C8B-B14F-4D97-AF65-F5344CB8AC3E}">
        <p14:creationId xmlns:p14="http://schemas.microsoft.com/office/powerpoint/2010/main" val="335568059"/>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lang="pt-BR" sz="2400"/>
              <a:t>Controle de fluxo e confiabilidade </a:t>
            </a:r>
            <a:r>
              <a:rPr lang="pt-BR" sz="1600"/>
              <a:t>Confiabilidade de TCP – entrega ordenada</a:t>
            </a:r>
          </a:p>
        </p:txBody>
      </p:sp>
      <p:sp>
        <p:nvSpPr>
          <p:cNvPr id="5" name="Content Placeholder 4">
            <a:extLst>
              <a:ext uri="{FF2B5EF4-FFF2-40B4-BE49-F238E27FC236}">
                <a16:creationId xmlns:a16="http://schemas.microsoft.com/office/drawing/2014/main" id="{7FC66286-CFA0-104C-B29B-89853AF732B7}"/>
              </a:ext>
            </a:extLst>
          </p:cNvPr>
          <p:cNvSpPr>
            <a:spLocks noGrp="1"/>
          </p:cNvSpPr>
          <p:nvPr>
            <p:ph idx="1"/>
          </p:nvPr>
        </p:nvSpPr>
        <p:spPr>
          <a:xfrm>
            <a:off x="288414" y="979527"/>
            <a:ext cx="3884330" cy="3439047"/>
          </a:xfrm>
        </p:spPr>
        <p:txBody>
          <a:bodyPr/>
          <a:lstStyle/>
          <a:p>
            <a:pPr marL="285750" indent="-285750" algn="l" rtl="0">
              <a:buFont typeface="Arial" panose="020B0604020202020204" pitchFamily="34" charset="0"/>
              <a:buChar char="•"/>
            </a:pPr>
            <a:r>
              <a:rPr lang="pt-BR" sz="1600">
                <a:solidFill>
                  <a:srgbClr val="000000"/>
                </a:solidFill>
              </a:rPr>
              <a:t>O TCP também pode ajudar a manter o fluxo de pacotes para que os dispositivos não fiquem sobrecarregados.</a:t>
            </a:r>
          </a:p>
          <a:p>
            <a:pPr marL="285750" indent="-285750" algn="l" rtl="0">
              <a:buFont typeface="Arial" panose="020B0604020202020204" pitchFamily="34" charset="0"/>
              <a:buChar char="•"/>
            </a:pPr>
            <a:r>
              <a:rPr lang="pt-BR" sz="1600">
                <a:solidFill>
                  <a:srgbClr val="000000"/>
                </a:solidFill>
              </a:rPr>
              <a:t>Pode haver momentos em que os segmentos TCP não cheguem ao destino ou fora de ordem.</a:t>
            </a:r>
          </a:p>
          <a:p>
            <a:pPr marL="285750" indent="-285750" algn="l" rtl="0">
              <a:buFont typeface="Arial" panose="020B0604020202020204" pitchFamily="34" charset="0"/>
              <a:buChar char="•"/>
            </a:pPr>
            <a:r>
              <a:rPr lang="pt-BR" sz="1600">
                <a:solidFill>
                  <a:srgbClr val="000000"/>
                </a:solidFill>
              </a:rPr>
              <a:t>Todos os dados devem ser recebidos e os dados nesses segmentos devem ser remontados na ordem original.</a:t>
            </a:r>
          </a:p>
          <a:p>
            <a:pPr marL="285750" indent="-285750" algn="l" rtl="0">
              <a:buFont typeface="Arial" panose="020B0604020202020204" pitchFamily="34" charset="0"/>
              <a:buChar char="•"/>
            </a:pPr>
            <a:r>
              <a:rPr lang="pt-BR" sz="1600">
                <a:solidFill>
                  <a:srgbClr val="000000"/>
                </a:solidFill>
              </a:rPr>
              <a:t>Os números de sequência são atribuídos no cabeçalho de cada pacote para alcançar esse objetivo.</a:t>
            </a: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2FF3B309-07D8-3549-83BF-C082B2D0BD15}"/>
              </a:ext>
            </a:extLst>
          </p:cNvPr>
          <p:cNvPicPr>
            <a:picLocks noChangeAspect="1"/>
          </p:cNvPicPr>
          <p:nvPr/>
        </p:nvPicPr>
        <p:blipFill>
          <a:blip r:embed="rId3"/>
          <a:stretch>
            <a:fillRect/>
          </a:stretch>
        </p:blipFill>
        <p:spPr>
          <a:xfrm>
            <a:off x="4358993" y="1119907"/>
            <a:ext cx="4645376" cy="3158289"/>
          </a:xfrm>
          <a:prstGeom prst="rect">
            <a:avLst/>
          </a:prstGeom>
        </p:spPr>
      </p:pic>
    </p:spTree>
    <p:extLst>
      <p:ext uri="{BB962C8B-B14F-4D97-AF65-F5344CB8AC3E}">
        <p14:creationId xmlns:p14="http://schemas.microsoft.com/office/powerpoint/2010/main" val="3418942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6047"/>
            <a:ext cx="9144000" cy="757551"/>
          </a:xfrm>
        </p:spPr>
        <p:txBody>
          <a:bodyPr/>
          <a:lstStyle/>
          <a:p>
            <a:pPr rtl="0"/>
            <a:r>
              <a:rPr lang="pt-BR" sz="1600"/>
              <a:t>Controle de fluxo e confiabilidade </a:t>
            </a:r>
            <a:br>
              <a:rPr lang="en-US" dirty="0"/>
            </a:br>
            <a:r>
              <a:rPr lang="pt-BR"/>
              <a:t>Vídeo - confiabilidade do TCP - Números de sequência e confirmações</a:t>
            </a:r>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5357" y="1108426"/>
            <a:ext cx="8853286" cy="3929027"/>
          </a:xfrm>
        </p:spPr>
        <p:txBody>
          <a:bodyPr/>
          <a:lstStyle/>
          <a:p>
            <a:pPr marL="142875" lvl="1" indent="0" rtl="0">
              <a:buNone/>
            </a:pPr>
            <a:r>
              <a:rPr lang="pt-BR" sz="1800"/>
              <a:t>Este vídeo mostra um exemplo simplificado das operações TCP.</a:t>
            </a:r>
          </a:p>
        </p:txBody>
      </p:sp>
    </p:spTree>
    <p:extLst>
      <p:ext uri="{BB962C8B-B14F-4D97-AF65-F5344CB8AC3E}">
        <p14:creationId xmlns:p14="http://schemas.microsoft.com/office/powerpoint/2010/main" val="1140437566"/>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18473"/>
            <a:ext cx="9144000" cy="757551"/>
          </a:xfrm>
        </p:spPr>
        <p:txBody>
          <a:bodyPr/>
          <a:lstStyle/>
          <a:p>
            <a:pPr rtl="0"/>
            <a:r>
              <a:rPr lang="pt-BR" sz="1600"/>
              <a:t>Confiabilidade e controle de fluxo </a:t>
            </a:r>
            <a:br>
              <a:rPr lang="en-US" dirty="0"/>
            </a:br>
            <a:r>
              <a:rPr lang="pt-BR"/>
              <a:t>TCP Confiabilidade - Perda e retransmissão de dados</a:t>
            </a:r>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4065" y="1025236"/>
            <a:ext cx="3826356" cy="3929027"/>
          </a:xfrm>
        </p:spPr>
        <p:txBody>
          <a:bodyPr/>
          <a:lstStyle/>
          <a:p>
            <a:pPr marL="0" indent="0" rtl="0">
              <a:buNone/>
            </a:pPr>
            <a:r>
              <a:rPr lang="pt-BR" sz="1600"/>
              <a:t>Não importa o quão bem projetada uma rede é, a perda de dados ocasionalmente ocorre.</a:t>
            </a:r>
          </a:p>
          <a:p>
            <a:pPr marL="0" indent="0" rtl="0">
              <a:buNone/>
            </a:pPr>
            <a:r>
              <a:rPr lang="pt-BR" sz="1600"/>
              <a:t>O TCP fornece métodos de gerenciamento dessas perdas de segmento. Entre esses métodos há um mecanismo que retransmite segmentos dos dados não confirmados.</a:t>
            </a:r>
          </a:p>
          <a:p>
            <a:pPr marL="0" indent="0">
              <a:buNone/>
            </a:pPr>
            <a:endParaRPr lang="en-US" sz="1600" dirty="0"/>
          </a:p>
          <a:p>
            <a:endParaRPr lang="en-US" dirty="0"/>
          </a:p>
        </p:txBody>
      </p:sp>
      <p:pic>
        <p:nvPicPr>
          <p:cNvPr id="2" name="Picture 1">
            <a:extLst>
              <a:ext uri="{FF2B5EF4-FFF2-40B4-BE49-F238E27FC236}">
                <a16:creationId xmlns:a16="http://schemas.microsoft.com/office/drawing/2014/main" id="{4EE95D6D-2DD5-42B8-811A-F3F0865E3EC3}"/>
              </a:ext>
            </a:extLst>
          </p:cNvPr>
          <p:cNvPicPr>
            <a:picLocks noChangeAspect="1"/>
          </p:cNvPicPr>
          <p:nvPr/>
        </p:nvPicPr>
        <p:blipFill rotWithShape="1">
          <a:blip r:embed="rId3"/>
          <a:srcRect l="3125"/>
          <a:stretch/>
        </p:blipFill>
        <p:spPr>
          <a:xfrm>
            <a:off x="4078705" y="1025236"/>
            <a:ext cx="4921230" cy="3555317"/>
          </a:xfrm>
          <a:prstGeom prst="rect">
            <a:avLst/>
          </a:prstGeom>
        </p:spPr>
      </p:pic>
    </p:spTree>
    <p:extLst>
      <p:ext uri="{BB962C8B-B14F-4D97-AF65-F5344CB8AC3E}">
        <p14:creationId xmlns:p14="http://schemas.microsoft.com/office/powerpoint/2010/main" val="809214195"/>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18473"/>
            <a:ext cx="9144000" cy="757551"/>
          </a:xfrm>
        </p:spPr>
        <p:txBody>
          <a:bodyPr/>
          <a:lstStyle/>
          <a:p>
            <a:pPr rtl="0"/>
            <a:r>
              <a:rPr lang="pt-BR" sz="1600"/>
              <a:t>Confiabilidade e Controle de Fluxo</a:t>
            </a:r>
            <a:r>
              <a:rPr lang="pt-BR"/>
              <a:t>ConfiabilidadeTCP — Perda e Retransmissão de Dados (Cont.) </a:t>
            </a:r>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4065" y="1025236"/>
            <a:ext cx="3970735" cy="3929027"/>
          </a:xfrm>
        </p:spPr>
        <p:txBody>
          <a:bodyPr/>
          <a:lstStyle/>
          <a:p>
            <a:pPr marL="0" indent="0" rtl="0">
              <a:buNone/>
            </a:pPr>
            <a:r>
              <a:rPr lang="pt-BR" sz="1600"/>
              <a:t>Hoje em dia, os sistemas operacionais de host utilizam um recurso TCP opcional chamado reconhecimento seletivo (SACK), negociado durante o handshake de três vias.</a:t>
            </a:r>
          </a:p>
          <a:p>
            <a:pPr marL="0" indent="0" rtl="0">
              <a:buNone/>
            </a:pPr>
            <a:r>
              <a:rPr lang="pt-BR" sz="1600"/>
              <a:t>Se ambos os hosts suportarem SACK, o receptor pode reconhecer explicitamente quais segmentos (bytes) foram recebidos, incluindo quaisquer segmentos descontínuos.</a:t>
            </a:r>
          </a:p>
          <a:p>
            <a:endParaRPr lang="en-US" dirty="0"/>
          </a:p>
        </p:txBody>
      </p:sp>
      <p:pic>
        <p:nvPicPr>
          <p:cNvPr id="4" name="Picture 3">
            <a:extLst>
              <a:ext uri="{FF2B5EF4-FFF2-40B4-BE49-F238E27FC236}">
                <a16:creationId xmlns:a16="http://schemas.microsoft.com/office/drawing/2014/main" id="{87630375-E3B4-4146-88E6-2D11C8BDAEE9}"/>
              </a:ext>
            </a:extLst>
          </p:cNvPr>
          <p:cNvPicPr>
            <a:picLocks noChangeAspect="1"/>
          </p:cNvPicPr>
          <p:nvPr/>
        </p:nvPicPr>
        <p:blipFill rotWithShape="1">
          <a:blip r:embed="rId3"/>
          <a:srcRect l="6550" r="11057"/>
          <a:stretch/>
        </p:blipFill>
        <p:spPr>
          <a:xfrm>
            <a:off x="4235115" y="822789"/>
            <a:ext cx="4475747" cy="3726580"/>
          </a:xfrm>
          <a:prstGeom prst="rect">
            <a:avLst/>
          </a:prstGeom>
        </p:spPr>
      </p:pic>
    </p:spTree>
    <p:extLst>
      <p:ext uri="{BB962C8B-B14F-4D97-AF65-F5344CB8AC3E}">
        <p14:creationId xmlns:p14="http://schemas.microsoft.com/office/powerpoint/2010/main" val="3281566894"/>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18473"/>
            <a:ext cx="9144000" cy="757551"/>
          </a:xfrm>
        </p:spPr>
        <p:txBody>
          <a:bodyPr/>
          <a:lstStyle/>
          <a:p>
            <a:pPr rtl="0"/>
            <a:r>
              <a:rPr lang="pt-BR" sz="1600"/>
              <a:t>Confiabilidade e controle de fluxo </a:t>
            </a:r>
            <a:br>
              <a:rPr lang="en-US" dirty="0"/>
            </a:br>
            <a:r>
              <a:rPr lang="pt-BR"/>
              <a:t>Vídeo -Confiabilidade TCP - Perda e retransmissão de dados</a:t>
            </a:r>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4065" y="1025236"/>
            <a:ext cx="8491935" cy="3929027"/>
          </a:xfrm>
        </p:spPr>
        <p:txBody>
          <a:bodyPr/>
          <a:lstStyle/>
          <a:p>
            <a:pPr marL="0" indent="0" rtl="0">
              <a:buNone/>
            </a:pPr>
            <a:r>
              <a:rPr lang="pt-BR" sz="1600"/>
              <a:t>Este vídeo mostra o processo de reenvio de segmentos que não são recebidos inicialmente pelo destino.</a:t>
            </a:r>
          </a:p>
        </p:txBody>
      </p:sp>
    </p:spTree>
    <p:extLst>
      <p:ext uri="{BB962C8B-B14F-4D97-AF65-F5344CB8AC3E}">
        <p14:creationId xmlns:p14="http://schemas.microsoft.com/office/powerpoint/2010/main" val="3368304873"/>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026891" cy="731837"/>
          </a:xfrm>
        </p:spPr>
        <p:txBody>
          <a:bodyPr/>
          <a:lstStyle/>
          <a:p>
            <a:pPr rtl="0"/>
            <a:r>
              <a:rPr lang="pt-BR" sz="1600"/>
              <a:t>Confiabilidade e Controle de Fluxo </a:t>
            </a:r>
            <a:br>
              <a:rPr lang="en-US" dirty="0"/>
            </a:br>
            <a:r>
              <a:rPr lang="pt-BR" sz="2400"/>
              <a:t>Controle de Fluxo TCP- Tamanho da Janela e Reconhecimentos</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03695" y="912262"/>
            <a:ext cx="3667027" cy="3509472"/>
          </a:xfrm>
        </p:spPr>
        <p:txBody>
          <a:bodyPr/>
          <a:lstStyle/>
          <a:p>
            <a:pPr marL="0" indent="0" algn="l" rtl="0">
              <a:spcBef>
                <a:spcPts val="0"/>
              </a:spcBef>
            </a:pPr>
            <a:r>
              <a:rPr lang="pt-BR" sz="1600">
                <a:solidFill>
                  <a:srgbClr val="000000"/>
                </a:solidFill>
              </a:rPr>
              <a:t>O TCP também fornece mecanismos para controle de fluxo da seguinte maneira:</a:t>
            </a:r>
          </a:p>
          <a:p>
            <a:pPr marL="0" indent="0" algn="l">
              <a:spcBef>
                <a:spcPts val="0"/>
              </a:spcBef>
            </a:pPr>
            <a:endParaRPr lang="en-US" sz="1600" dirty="0">
              <a:solidFill>
                <a:srgbClr val="000000"/>
              </a:solidFill>
            </a:endParaRPr>
          </a:p>
          <a:p>
            <a:pPr marL="285750" indent="-285750" algn="l" rtl="0">
              <a:spcBef>
                <a:spcPts val="0"/>
              </a:spcBef>
              <a:buFont typeface="Arial" panose="020B0604020202020204" pitchFamily="34" charset="0"/>
              <a:buChar char="•"/>
            </a:pPr>
            <a:r>
              <a:rPr lang="pt-BR" sz="1600">
                <a:solidFill>
                  <a:srgbClr val="000000"/>
                </a:solidFill>
              </a:rPr>
              <a:t>Controle de fluxo é a quantidade de dados que o destino pode receber e processar de forma confiável.</a:t>
            </a:r>
          </a:p>
          <a:p>
            <a:pPr marL="285750" indent="-285750" algn="l">
              <a:spcBef>
                <a:spcPts val="0"/>
              </a:spcBef>
              <a:buFont typeface="Arial" panose="020B0604020202020204" pitchFamily="34" charset="0"/>
              <a:buChar char="•"/>
            </a:pPr>
            <a:endParaRPr lang="en-US" sz="1600" dirty="0">
              <a:solidFill>
                <a:srgbClr val="000000"/>
              </a:solidFill>
            </a:endParaRPr>
          </a:p>
          <a:p>
            <a:pPr marL="285750" indent="-285750" algn="l" rtl="0">
              <a:spcBef>
                <a:spcPts val="0"/>
              </a:spcBef>
              <a:buFont typeface="Arial" panose="020B0604020202020204" pitchFamily="34" charset="0"/>
              <a:buChar char="•"/>
            </a:pPr>
            <a:r>
              <a:rPr lang="pt-BR" sz="1600">
                <a:solidFill>
                  <a:srgbClr val="000000"/>
                </a:solidFill>
              </a:rPr>
              <a:t>O controle de fluxo ajuda a manter a confiabilidade da transmissão TCP definindo a taxa de fluxo de dados entre a origem e o destino em uma determinada sessão.</a:t>
            </a:r>
          </a:p>
        </p:txBody>
      </p:sp>
      <p:pic>
        <p:nvPicPr>
          <p:cNvPr id="6" name="Picture 5">
            <a:extLst>
              <a:ext uri="{FF2B5EF4-FFF2-40B4-BE49-F238E27FC236}">
                <a16:creationId xmlns:a16="http://schemas.microsoft.com/office/drawing/2014/main" id="{F1EBB4FB-76D3-E94D-9CFB-0B374985AD37}"/>
              </a:ext>
            </a:extLst>
          </p:cNvPr>
          <p:cNvPicPr>
            <a:picLocks noChangeAspect="1"/>
          </p:cNvPicPr>
          <p:nvPr/>
        </p:nvPicPr>
        <p:blipFill>
          <a:blip r:embed="rId3"/>
          <a:stretch>
            <a:fillRect/>
          </a:stretch>
        </p:blipFill>
        <p:spPr>
          <a:xfrm>
            <a:off x="3836710" y="912262"/>
            <a:ext cx="5195302" cy="3318975"/>
          </a:xfrm>
          <a:prstGeom prst="rect">
            <a:avLst/>
          </a:prstGeom>
        </p:spPr>
      </p:pic>
    </p:spTree>
    <p:extLst>
      <p:ext uri="{BB962C8B-B14F-4D97-AF65-F5344CB8AC3E}">
        <p14:creationId xmlns:p14="http://schemas.microsoft.com/office/powerpoint/2010/main" val="2666050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58615"/>
            <a:ext cx="8345488" cy="731837"/>
          </a:xfrm>
        </p:spPr>
        <p:txBody>
          <a:bodyPr/>
          <a:lstStyle/>
          <a:p>
            <a:pPr rtl="0"/>
            <a:r>
              <a:rPr lang="pt-BR" sz="1600"/>
              <a:t>Controle de Fluxo</a:t>
            </a:r>
            <a:br>
              <a:rPr lang="en-US" dirty="0"/>
            </a:br>
            <a:r>
              <a:rPr lang="pt-BR" sz="2400"/>
              <a:t>TCP de Confiabilidade e Controle de Fluxo — Tamanho Máximo do Segmento</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259590" y="885703"/>
            <a:ext cx="3541804" cy="3689896"/>
          </a:xfrm>
        </p:spPr>
        <p:txBody>
          <a:bodyPr/>
          <a:lstStyle/>
          <a:p>
            <a:pPr marL="0" indent="0" algn="l" rtl="0">
              <a:spcBef>
                <a:spcPts val="0"/>
              </a:spcBef>
            </a:pPr>
            <a:r>
              <a:rPr lang="pt-BR" sz="1600">
                <a:solidFill>
                  <a:srgbClr val="080808"/>
                </a:solidFill>
              </a:rPr>
              <a:t>Tamanho Máximo do Segmento (MSS) é a quantidade máxima de dados que o dispositivo de destino pode receber.</a:t>
            </a:r>
          </a:p>
          <a:p>
            <a:pPr marL="0" indent="0" algn="l">
              <a:spcBef>
                <a:spcPts val="0"/>
              </a:spcBef>
            </a:pPr>
            <a:endParaRPr lang="en-US" sz="1600" dirty="0">
              <a:solidFill>
                <a:srgbClr val="080808"/>
              </a:solidFill>
            </a:endParaRPr>
          </a:p>
          <a:p>
            <a:pPr marL="285750" indent="-285750" algn="l" rtl="0">
              <a:spcBef>
                <a:spcPts val="0"/>
              </a:spcBef>
              <a:buFont typeface="Arial" panose="020B0604020202020204" pitchFamily="34" charset="0"/>
              <a:buChar char="•"/>
            </a:pPr>
            <a:r>
              <a:rPr lang="pt-BR" sz="1600">
                <a:solidFill>
                  <a:srgbClr val="080808"/>
                </a:solidFill>
              </a:rPr>
              <a:t>Um MSS comum é 1.460 bytes ao usar IPv4.</a:t>
            </a:r>
          </a:p>
          <a:p>
            <a:pPr marL="285750" indent="-285750" algn="l" rtl="0">
              <a:spcBef>
                <a:spcPts val="0"/>
              </a:spcBef>
              <a:buFont typeface="Arial" panose="020B0604020202020204" pitchFamily="34" charset="0"/>
              <a:buChar char="•"/>
            </a:pPr>
            <a:r>
              <a:rPr lang="pt-BR" sz="1600">
                <a:solidFill>
                  <a:srgbClr val="080808"/>
                </a:solidFill>
              </a:rPr>
              <a:t>Um host determina o valor do seu campo MSS subtraindo os cabeçalhos IP e TCP da MTU (Ethernet Maximum Transmission Unit), que é de 1500 bytes como padrão. </a:t>
            </a:r>
          </a:p>
          <a:p>
            <a:pPr marL="285750" indent="-285750" algn="l" rtl="0">
              <a:spcBef>
                <a:spcPts val="0"/>
              </a:spcBef>
              <a:buFont typeface="Arial" panose="020B0604020202020204" pitchFamily="34" charset="0"/>
              <a:buChar char="•"/>
            </a:pPr>
            <a:r>
              <a:rPr lang="pt-BR" sz="1600">
                <a:solidFill>
                  <a:srgbClr val="080808"/>
                </a:solidFill>
              </a:rPr>
              <a:t>1500 menos 60 (20 bytes para o cabeçalho IPv4 e 20 bytes para o cabeçalho TCP) deixa 1460 bytes.</a:t>
            </a:r>
          </a:p>
        </p:txBody>
      </p:sp>
      <p:pic>
        <p:nvPicPr>
          <p:cNvPr id="6" name="Picture 5">
            <a:extLst>
              <a:ext uri="{FF2B5EF4-FFF2-40B4-BE49-F238E27FC236}">
                <a16:creationId xmlns:a16="http://schemas.microsoft.com/office/drawing/2014/main" id="{354D6845-C3CD-2540-82D8-B76E7144B603}"/>
              </a:ext>
            </a:extLst>
          </p:cNvPr>
          <p:cNvPicPr>
            <a:picLocks noChangeAspect="1"/>
          </p:cNvPicPr>
          <p:nvPr/>
        </p:nvPicPr>
        <p:blipFill>
          <a:blip r:embed="rId3"/>
          <a:stretch>
            <a:fillRect/>
          </a:stretch>
        </p:blipFill>
        <p:spPr>
          <a:xfrm>
            <a:off x="4018548" y="731837"/>
            <a:ext cx="4109786" cy="2697269"/>
          </a:xfrm>
          <a:prstGeom prst="rect">
            <a:avLst/>
          </a:prstGeom>
        </p:spPr>
      </p:pic>
      <p:pic>
        <p:nvPicPr>
          <p:cNvPr id="8" name="Picture 7">
            <a:extLst>
              <a:ext uri="{FF2B5EF4-FFF2-40B4-BE49-F238E27FC236}">
                <a16:creationId xmlns:a16="http://schemas.microsoft.com/office/drawing/2014/main" id="{BB932EB7-B233-3B4E-BF41-3671F09C3258}"/>
              </a:ext>
            </a:extLst>
          </p:cNvPr>
          <p:cNvPicPr>
            <a:picLocks noChangeAspect="1"/>
          </p:cNvPicPr>
          <p:nvPr/>
        </p:nvPicPr>
        <p:blipFill>
          <a:blip r:embed="rId4"/>
          <a:stretch>
            <a:fillRect/>
          </a:stretch>
        </p:blipFill>
        <p:spPr>
          <a:xfrm>
            <a:off x="4254834" y="3501368"/>
            <a:ext cx="3873500" cy="1319149"/>
          </a:xfrm>
          <a:prstGeom prst="rect">
            <a:avLst/>
          </a:prstGeom>
        </p:spPr>
      </p:pic>
    </p:spTree>
    <p:extLst>
      <p:ext uri="{BB962C8B-B14F-4D97-AF65-F5344CB8AC3E}">
        <p14:creationId xmlns:p14="http://schemas.microsoft.com/office/powerpoint/2010/main" val="2396540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lang="pt-BR" sz="2400"/>
              <a:t>Confiabilidade e controle de fluxo </a:t>
            </a:r>
            <a:r>
              <a:rPr lang="pt-BR" sz="1600"/>
              <a:t>Controle de fluxo de TCP - Prevenção de congestionamento</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259590" y="858982"/>
            <a:ext cx="3388774" cy="3562752"/>
          </a:xfrm>
        </p:spPr>
        <p:txBody>
          <a:bodyPr/>
          <a:lstStyle/>
          <a:p>
            <a:pPr marL="0" indent="0" algn="l" rtl="0">
              <a:spcBef>
                <a:spcPts val="0"/>
              </a:spcBef>
            </a:pPr>
            <a:r>
              <a:rPr lang="pt-BR" sz="1600">
                <a:solidFill>
                  <a:srgbClr val="000000"/>
                </a:solidFill>
              </a:rPr>
              <a:t>Quando ocorre um congestionamento em uma rede, isso resulta em pacotes sendo descartados pelo roteador sobrecarregado.</a:t>
            </a:r>
          </a:p>
          <a:p>
            <a:pPr marL="0" indent="0" algn="l">
              <a:spcBef>
                <a:spcPts val="0"/>
              </a:spcBef>
            </a:pPr>
            <a:endParaRPr lang="en-US" sz="1600" dirty="0">
              <a:solidFill>
                <a:srgbClr val="000000"/>
              </a:solidFill>
            </a:endParaRPr>
          </a:p>
          <a:p>
            <a:pPr marL="0" indent="0" algn="l" rtl="0">
              <a:spcBef>
                <a:spcPts val="0"/>
              </a:spcBef>
            </a:pPr>
            <a:r>
              <a:rPr lang="pt-BR" sz="1600">
                <a:solidFill>
                  <a:srgbClr val="000000"/>
                </a:solidFill>
              </a:rPr>
              <a:t>Para evitar e controlar o congestionamento, o TCP emprega alguns mecanismos para lidar com o congestionamento, temporizadores e algoritmos.</a:t>
            </a:r>
          </a:p>
        </p:txBody>
      </p:sp>
      <p:pic>
        <p:nvPicPr>
          <p:cNvPr id="6" name="Picture 5">
            <a:extLst>
              <a:ext uri="{FF2B5EF4-FFF2-40B4-BE49-F238E27FC236}">
                <a16:creationId xmlns:a16="http://schemas.microsoft.com/office/drawing/2014/main" id="{44B87FC3-C392-514C-AA30-06F95FD0D287}"/>
              </a:ext>
            </a:extLst>
          </p:cNvPr>
          <p:cNvPicPr>
            <a:picLocks noChangeAspect="1"/>
          </p:cNvPicPr>
          <p:nvPr/>
        </p:nvPicPr>
        <p:blipFill>
          <a:blip r:embed="rId3"/>
          <a:stretch>
            <a:fillRect/>
          </a:stretch>
        </p:blipFill>
        <p:spPr>
          <a:xfrm>
            <a:off x="3798486" y="981504"/>
            <a:ext cx="4847540" cy="3317708"/>
          </a:xfrm>
          <a:prstGeom prst="rect">
            <a:avLst/>
          </a:prstGeom>
        </p:spPr>
      </p:pic>
    </p:spTree>
    <p:extLst>
      <p:ext uri="{BB962C8B-B14F-4D97-AF65-F5344CB8AC3E}">
        <p14:creationId xmlns:p14="http://schemas.microsoft.com/office/powerpoint/2010/main" val="3842902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14.7 - Comunicação UDP</a:t>
            </a:r>
          </a:p>
        </p:txBody>
      </p:sp>
    </p:spTree>
    <p:custDataLst>
      <p:tags r:id="rId1"/>
    </p:custDataLst>
    <p:extLst>
      <p:ext uri="{BB962C8B-B14F-4D97-AF65-F5344CB8AC3E}">
        <p14:creationId xmlns:p14="http://schemas.microsoft.com/office/powerpoint/2010/main" val="2274503976"/>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lang="pt-BR" sz="2400"/>
              <a:t>Comunicação de UDP </a:t>
            </a:r>
            <a:r>
              <a:rPr lang="pt-BR" sz="1600"/>
              <a:t>Baixa sobrecarga do UDP versus confiabilidade</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887483"/>
            <a:ext cx="8345488" cy="731837"/>
          </a:xfrm>
        </p:spPr>
        <p:txBody>
          <a:bodyPr/>
          <a:lstStyle/>
          <a:p>
            <a:pPr marL="0" indent="0" algn="l" rtl="0">
              <a:spcBef>
                <a:spcPts val="0"/>
              </a:spcBef>
            </a:pPr>
            <a:r>
              <a:rPr lang="pt-BR" sz="1600">
                <a:solidFill>
                  <a:srgbClr val="000000"/>
                </a:solidFill>
              </a:rPr>
              <a:t>O UDP não estabelece uma conexão. O UDP fornece transporte de dados de baixa sobrecarga, porque tem um cabeçalho de datagrama pequeno e nenhum tráfego de gerenciamento de rede.</a:t>
            </a:r>
          </a:p>
        </p:txBody>
      </p:sp>
      <p:pic>
        <p:nvPicPr>
          <p:cNvPr id="6" name="Picture 5">
            <a:extLst>
              <a:ext uri="{FF2B5EF4-FFF2-40B4-BE49-F238E27FC236}">
                <a16:creationId xmlns:a16="http://schemas.microsoft.com/office/drawing/2014/main" id="{EFA7D8BE-B010-7449-A277-2CFEE3494077}"/>
              </a:ext>
            </a:extLst>
          </p:cNvPr>
          <p:cNvPicPr>
            <a:picLocks noChangeAspect="1"/>
          </p:cNvPicPr>
          <p:nvPr/>
        </p:nvPicPr>
        <p:blipFill>
          <a:blip r:embed="rId3"/>
          <a:stretch>
            <a:fillRect/>
          </a:stretch>
        </p:blipFill>
        <p:spPr>
          <a:xfrm>
            <a:off x="1663474" y="1971922"/>
            <a:ext cx="5389935" cy="2419603"/>
          </a:xfrm>
          <a:prstGeom prst="rect">
            <a:avLst/>
          </a:prstGeom>
        </p:spPr>
      </p:pic>
    </p:spTree>
    <p:extLst>
      <p:ext uri="{BB962C8B-B14F-4D97-AF65-F5344CB8AC3E}">
        <p14:creationId xmlns:p14="http://schemas.microsoft.com/office/powerpoint/2010/main" val="1474900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lang="pt-BR" sz="2400"/>
              <a:t>Comunicação de UDP </a:t>
            </a:r>
            <a:r>
              <a:rPr lang="pt-BR" sz="1600"/>
              <a:t>Reagrupamento de datagrama UDP</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941243"/>
            <a:ext cx="3423775" cy="3562752"/>
          </a:xfrm>
        </p:spPr>
        <p:txBody>
          <a:bodyPr/>
          <a:lstStyle/>
          <a:p>
            <a:pPr marL="285750" indent="-285750" algn="l" rtl="0">
              <a:spcBef>
                <a:spcPts val="0"/>
              </a:spcBef>
              <a:buFont typeface="Arial" panose="020B0604020202020204" pitchFamily="34" charset="0"/>
              <a:buChar char="•"/>
            </a:pPr>
            <a:r>
              <a:rPr lang="pt-BR" sz="1800">
                <a:solidFill>
                  <a:srgbClr val="000000"/>
                </a:solidFill>
              </a:rPr>
              <a:t>O UDP não rastreia os números de sequência da mesma maneira que o TCP.</a:t>
            </a:r>
          </a:p>
          <a:p>
            <a:pPr marL="285750" indent="-285750" algn="l" rtl="0">
              <a:spcBef>
                <a:spcPts val="0"/>
              </a:spcBef>
              <a:buFont typeface="Arial" panose="020B0604020202020204" pitchFamily="34" charset="0"/>
              <a:buChar char="•"/>
            </a:pPr>
            <a:r>
              <a:rPr lang="pt-BR" sz="1800">
                <a:solidFill>
                  <a:srgbClr val="000000"/>
                </a:solidFill>
              </a:rPr>
              <a:t>O UDP não tem um meio de reordenar os datagramas em sua ordem de transmissão.</a:t>
            </a:r>
          </a:p>
          <a:p>
            <a:pPr marL="285750" indent="-285750" algn="l" rtl="0">
              <a:spcBef>
                <a:spcPts val="0"/>
              </a:spcBef>
              <a:buFont typeface="Arial" panose="020B0604020202020204" pitchFamily="34" charset="0"/>
              <a:buChar char="•"/>
            </a:pPr>
            <a:r>
              <a:rPr lang="pt-BR" sz="1800">
                <a:solidFill>
                  <a:srgbClr val="000000"/>
                </a:solidFill>
              </a:rPr>
              <a:t>O UDP simplesmente remonta os dados na ordem em que foram recebidos e os encaminha para o aplicativo.</a:t>
            </a:r>
          </a:p>
        </p:txBody>
      </p:sp>
      <p:pic>
        <p:nvPicPr>
          <p:cNvPr id="6" name="Picture 5">
            <a:extLst>
              <a:ext uri="{FF2B5EF4-FFF2-40B4-BE49-F238E27FC236}">
                <a16:creationId xmlns:a16="http://schemas.microsoft.com/office/drawing/2014/main" id="{081E9179-0DF9-0A48-ABD1-1D2C43731401}"/>
              </a:ext>
            </a:extLst>
          </p:cNvPr>
          <p:cNvPicPr>
            <a:picLocks noChangeAspect="1"/>
          </p:cNvPicPr>
          <p:nvPr/>
        </p:nvPicPr>
        <p:blipFill>
          <a:blip r:embed="rId3"/>
          <a:stretch>
            <a:fillRect/>
          </a:stretch>
        </p:blipFill>
        <p:spPr>
          <a:xfrm>
            <a:off x="3823204" y="1062094"/>
            <a:ext cx="4902029" cy="3321050"/>
          </a:xfrm>
          <a:prstGeom prst="rect">
            <a:avLst/>
          </a:prstGeom>
        </p:spPr>
      </p:pic>
    </p:spTree>
    <p:extLst>
      <p:ext uri="{BB962C8B-B14F-4D97-AF65-F5344CB8AC3E}">
        <p14:creationId xmlns:p14="http://schemas.microsoft.com/office/powerpoint/2010/main" val="2770122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lang="pt-BR" sz="2400"/>
              <a:t>Comunicação UDP </a:t>
            </a:r>
            <a:r>
              <a:rPr lang="pt-BR" sz="1600"/>
              <a:t>Solicitações e processos de servidor UDP</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1092199"/>
            <a:ext cx="3628919" cy="3411795"/>
          </a:xfrm>
        </p:spPr>
        <p:txBody>
          <a:bodyPr/>
          <a:lstStyle/>
          <a:p>
            <a:pPr marL="0" indent="0" algn="l" rtl="0">
              <a:spcBef>
                <a:spcPts val="0"/>
              </a:spcBef>
            </a:pPr>
            <a:r>
              <a:rPr lang="pt-BR" sz="1800">
                <a:solidFill>
                  <a:srgbClr val="000000"/>
                </a:solidFill>
              </a:rPr>
              <a:t>Os aplicativos de servidor baseados em UDP recebem números de porta conhecidos ou registrados.</a:t>
            </a:r>
          </a:p>
          <a:p>
            <a:pPr marL="0" indent="0" algn="l">
              <a:spcBef>
                <a:spcPts val="0"/>
              </a:spcBef>
            </a:pPr>
            <a:endParaRPr lang="en-US" sz="1800" dirty="0">
              <a:solidFill>
                <a:srgbClr val="000000"/>
              </a:solidFill>
            </a:endParaRPr>
          </a:p>
          <a:p>
            <a:pPr marL="0" indent="0" algn="l" rtl="0">
              <a:spcBef>
                <a:spcPts val="0"/>
              </a:spcBef>
            </a:pPr>
            <a:r>
              <a:rPr lang="pt-BR" sz="1800">
                <a:solidFill>
                  <a:srgbClr val="000000"/>
                </a:solidFill>
              </a:rPr>
              <a:t>Quando o UDP recebe um datagrama destinado a uma destas portas, ele encaminha os dados à aplicação apropriada com base em seu número de porta</a:t>
            </a:r>
            <a:r>
              <a:rPr lang="pt-BR" sz="1600">
                <a:solidFill>
                  <a:srgbClr val="000000"/>
                </a:solidFill>
              </a:rPr>
              <a:t>.</a:t>
            </a:r>
          </a:p>
        </p:txBody>
      </p:sp>
      <p:pic>
        <p:nvPicPr>
          <p:cNvPr id="6" name="Picture 5">
            <a:extLst>
              <a:ext uri="{FF2B5EF4-FFF2-40B4-BE49-F238E27FC236}">
                <a16:creationId xmlns:a16="http://schemas.microsoft.com/office/drawing/2014/main" id="{5F777B4A-1B47-5148-8B97-0DDC74204220}"/>
              </a:ext>
            </a:extLst>
          </p:cNvPr>
          <p:cNvPicPr>
            <a:picLocks noChangeAspect="1"/>
          </p:cNvPicPr>
          <p:nvPr/>
        </p:nvPicPr>
        <p:blipFill>
          <a:blip r:embed="rId3"/>
          <a:stretch>
            <a:fillRect/>
          </a:stretch>
        </p:blipFill>
        <p:spPr>
          <a:xfrm>
            <a:off x="3931250" y="1087521"/>
            <a:ext cx="4866742" cy="2968458"/>
          </a:xfrm>
          <a:prstGeom prst="rect">
            <a:avLst/>
          </a:prstGeom>
        </p:spPr>
      </p:pic>
    </p:spTree>
    <p:extLst>
      <p:ext uri="{BB962C8B-B14F-4D97-AF65-F5344CB8AC3E}">
        <p14:creationId xmlns:p14="http://schemas.microsoft.com/office/powerpoint/2010/main" val="3708613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lang="pt-BR" sz="2400"/>
              <a:t>Comunicação UDP </a:t>
            </a:r>
            <a:r>
              <a:rPr lang="pt-BR" sz="1600"/>
              <a:t>Processos de cliente UDP</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941243"/>
            <a:ext cx="3628919" cy="3562752"/>
          </a:xfrm>
        </p:spPr>
        <p:txBody>
          <a:bodyPr/>
          <a:lstStyle/>
          <a:p>
            <a:pPr marL="285750" indent="-285750" algn="l" rtl="0">
              <a:spcBef>
                <a:spcPts val="0"/>
              </a:spcBef>
              <a:buFont typeface="Arial" panose="020B0604020202020204" pitchFamily="34" charset="0"/>
              <a:buChar char="•"/>
            </a:pPr>
            <a:r>
              <a:rPr lang="pt-BR" sz="1600">
                <a:solidFill>
                  <a:srgbClr val="000000"/>
                </a:solidFill>
              </a:rPr>
              <a:t>O processo no cliente UDP seleciona dinamicamente um número de porta a partir de uma faixa de números de portas e a usa como a porta de origem para a conversa.</a:t>
            </a:r>
          </a:p>
          <a:p>
            <a:pPr marL="285750" indent="-285750" algn="l" rtl="0">
              <a:spcBef>
                <a:spcPts val="0"/>
              </a:spcBef>
              <a:buFont typeface="Arial" panose="020B0604020202020204" pitchFamily="34" charset="0"/>
              <a:buChar char="•"/>
            </a:pPr>
            <a:r>
              <a:rPr lang="pt-BR" sz="1600">
                <a:solidFill>
                  <a:srgbClr val="000000"/>
                </a:solidFill>
              </a:rPr>
              <a:t>A porta de destino será geralmente o número de porta muito conhecida ou registrada atribuído ao processo no servidor.</a:t>
            </a:r>
          </a:p>
          <a:p>
            <a:pPr marL="285750" indent="-285750" algn="l" rtl="0">
              <a:spcBef>
                <a:spcPts val="0"/>
              </a:spcBef>
              <a:buFont typeface="Arial" panose="020B0604020202020204" pitchFamily="34" charset="0"/>
              <a:buChar char="•"/>
            </a:pPr>
            <a:r>
              <a:rPr lang="pt-BR" sz="1600">
                <a:solidFill>
                  <a:srgbClr val="000000"/>
                </a:solidFill>
              </a:rPr>
              <a:t>Depois que um cliente seleciona as portas de origem e de destino, o mesmo par de portas é usado no cabeçalho de todos os datagramas na transação.</a:t>
            </a:r>
          </a:p>
        </p:txBody>
      </p:sp>
      <p:pic>
        <p:nvPicPr>
          <p:cNvPr id="6" name="Picture 5">
            <a:extLst>
              <a:ext uri="{FF2B5EF4-FFF2-40B4-BE49-F238E27FC236}">
                <a16:creationId xmlns:a16="http://schemas.microsoft.com/office/drawing/2014/main" id="{172E8324-8935-B940-A12D-AED56F8063B7}"/>
              </a:ext>
            </a:extLst>
          </p:cNvPr>
          <p:cNvPicPr>
            <a:picLocks noChangeAspect="1"/>
          </p:cNvPicPr>
          <p:nvPr/>
        </p:nvPicPr>
        <p:blipFill>
          <a:blip r:embed="rId3"/>
          <a:stretch>
            <a:fillRect/>
          </a:stretch>
        </p:blipFill>
        <p:spPr>
          <a:xfrm>
            <a:off x="3898234" y="1499777"/>
            <a:ext cx="4869411" cy="2796673"/>
          </a:xfrm>
          <a:prstGeom prst="rect">
            <a:avLst/>
          </a:prstGeom>
        </p:spPr>
      </p:pic>
    </p:spTree>
    <p:extLst>
      <p:ext uri="{BB962C8B-B14F-4D97-AF65-F5344CB8AC3E}">
        <p14:creationId xmlns:p14="http://schemas.microsoft.com/office/powerpoint/2010/main" val="3320401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pt-BR">
                <a:solidFill>
                  <a:schemeClr val="accent5">
                    <a:lumMod val="40000"/>
                    <a:lumOff val="60000"/>
                  </a:schemeClr>
                </a:solidFill>
              </a:rPr>
              <a:t>14.8 - Módulo Prática e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 y="189237"/>
            <a:ext cx="9144000" cy="609707"/>
          </a:xfrm>
        </p:spPr>
        <p:txBody>
          <a:bodyPr/>
          <a:lstStyle/>
          <a:p>
            <a:pPr rtl="0"/>
            <a:r>
              <a:rPr lang="pt-BR" sz="1400">
                <a:latin typeface="Arial" charset="0"/>
              </a:rPr>
              <a:t>Módulo de Prática e Quiz </a:t>
            </a:r>
            <a:br>
              <a:rPr lang="en-US" dirty="0">
                <a:latin typeface="Arial" charset="0"/>
              </a:rPr>
            </a:br>
            <a:r>
              <a:rPr lang="pt-BR"/>
              <a:t>Packet Tracer - Comunicações TCP e UDP</a:t>
            </a:r>
            <a:br>
              <a:rPr lang="en-US" dirty="0"/>
            </a:br>
            <a:endParaRPr lang="en-US" dirty="0"/>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0" indent="0" rtl="0">
              <a:spcBef>
                <a:spcPts val="0"/>
              </a:spcBef>
              <a:spcAft>
                <a:spcPts val="0"/>
              </a:spcAft>
              <a:buNone/>
            </a:pPr>
            <a:r>
              <a:rPr lang="pt-BR" sz="1600"/>
              <a:t>Neste Packet Tracer, você fará o seguinte:</a:t>
            </a:r>
          </a:p>
          <a:p>
            <a:pPr marL="0" indent="0">
              <a:spcBef>
                <a:spcPts val="0"/>
              </a:spcBef>
              <a:spcAft>
                <a:spcPts val="0"/>
              </a:spcAft>
              <a:buNone/>
            </a:pPr>
            <a:endParaRPr lang="en-US" sz="1600" dirty="0"/>
          </a:p>
          <a:p>
            <a:pPr rtl="0"/>
            <a:r>
              <a:rPr lang="pt-BR" sz="1600"/>
              <a:t>Gerar Tráfego de Rede no Modo de Simulação</a:t>
            </a:r>
          </a:p>
          <a:p>
            <a:pPr rtl="0"/>
            <a:r>
              <a:rPr lang="pt-BR" sz="1600"/>
              <a:t>Examinar a Funcionalidade dos Protocolos TCP e UDP</a:t>
            </a:r>
          </a:p>
        </p:txBody>
      </p:sp>
    </p:spTree>
    <p:custDataLst>
      <p:tags r:id="rId1"/>
    </p:custDataLst>
    <p:extLst>
      <p:ext uri="{BB962C8B-B14F-4D97-AF65-F5344CB8AC3E}">
        <p14:creationId xmlns:p14="http://schemas.microsoft.com/office/powerpoint/2010/main" val="1352804588"/>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400">
                <a:latin typeface="Arial" charset="0"/>
              </a:rPr>
              <a:t>Módulo Prática e Quiz</a:t>
            </a:r>
            <a:br>
              <a:rPr lang="en-US" dirty="0">
                <a:latin typeface="Arial" charset="0"/>
              </a:rPr>
            </a:br>
            <a:r>
              <a:rPr lang="pt-BR">
                <a:latin typeface="Arial" charset="0"/>
              </a:rPr>
              <a:t>O que aprendi neste módulo?</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pt-BR"/>
              <a:t>A camada de transporte é o link entre a camada de aplicativo e as camadas inferiores responsáveis pela transmissão da rede.</a:t>
            </a:r>
          </a:p>
          <a:p>
            <a:pPr rtl="0">
              <a:spcBef>
                <a:spcPts val="0"/>
              </a:spcBef>
              <a:spcAft>
                <a:spcPts val="0"/>
              </a:spcAft>
              <a:buFont typeface="Arial" panose="020B0604020202020204" pitchFamily="34" charset="0"/>
              <a:buChar char="•"/>
            </a:pPr>
            <a:r>
              <a:rPr lang="pt-BR"/>
              <a:t>A camada de transporte inclui TCP e UDP.</a:t>
            </a:r>
          </a:p>
          <a:p>
            <a:pPr rtl="0">
              <a:spcBef>
                <a:spcPts val="0"/>
              </a:spcBef>
              <a:spcAft>
                <a:spcPts val="0"/>
              </a:spcAft>
              <a:buFont typeface="Arial" panose="020B0604020202020204" pitchFamily="34" charset="0"/>
              <a:buChar char="•"/>
            </a:pPr>
            <a:r>
              <a:rPr lang="pt-BR"/>
              <a:t>O TCP estabelece sessões, garante confiabilidade, fornece entrega de mesma ordem e oferece suporte ao controle de fluxo.</a:t>
            </a:r>
          </a:p>
          <a:p>
            <a:pPr rtl="0">
              <a:spcBef>
                <a:spcPts val="0"/>
              </a:spcBef>
              <a:spcAft>
                <a:spcPts val="0"/>
              </a:spcAft>
              <a:buFont typeface="Arial" panose="020B0604020202020204" pitchFamily="34" charset="0"/>
              <a:buChar char="•"/>
            </a:pPr>
            <a:r>
              <a:rPr lang="pt-BR"/>
              <a:t>O UDP é um protocolo simples que fornece as funções básicas da camada de transporte.</a:t>
            </a:r>
          </a:p>
          <a:p>
            <a:pPr rtl="0">
              <a:spcBef>
                <a:spcPts val="0"/>
              </a:spcBef>
              <a:spcAft>
                <a:spcPts val="0"/>
              </a:spcAft>
              <a:buFont typeface="Arial" panose="020B0604020202020204" pitchFamily="34" charset="0"/>
              <a:buChar char="•"/>
            </a:pPr>
            <a:r>
              <a:rPr lang="pt-BR"/>
              <a:t>O UDP reconstrói os dados na ordem em que são recebidos, os segmentos perdidos não são reenviados, nenhum estabelecimento de sessão e o UPD não informa o remetente da disponibilidade de recursos.</a:t>
            </a:r>
          </a:p>
          <a:p>
            <a:pPr rtl="0">
              <a:spcBef>
                <a:spcPts val="0"/>
              </a:spcBef>
              <a:spcAft>
                <a:spcPts val="0"/>
              </a:spcAft>
              <a:buFont typeface="Arial" panose="020B0604020202020204" pitchFamily="34" charset="0"/>
              <a:buChar char="•"/>
            </a:pPr>
            <a:r>
              <a:rPr lang="pt-BR"/>
              <a:t>Os protocolos de camada de transporte TCP e UDP usam números de porta para gerenciar várias conversas simultâneas. </a:t>
            </a:r>
          </a:p>
          <a:p>
            <a:pPr rtl="0">
              <a:spcBef>
                <a:spcPts val="0"/>
              </a:spcBef>
              <a:spcAft>
                <a:spcPts val="0"/>
              </a:spcAft>
              <a:buFont typeface="Arial" panose="020B0604020202020204" pitchFamily="34" charset="0"/>
              <a:buChar char="•"/>
            </a:pPr>
            <a:r>
              <a:rPr lang="pt-BR"/>
              <a:t>Cada processo de aplicativo em execução em um servidor está configurado para usar um número de porta.</a:t>
            </a:r>
          </a:p>
          <a:p>
            <a:pPr rtl="0">
              <a:spcBef>
                <a:spcPts val="0"/>
              </a:spcBef>
              <a:spcAft>
                <a:spcPts val="0"/>
              </a:spcAft>
              <a:buFont typeface="Arial" panose="020B0604020202020204" pitchFamily="34" charset="0"/>
              <a:buChar char="•"/>
            </a:pPr>
            <a:r>
              <a:rPr lang="pt-BR"/>
              <a:t>O número da porta é atribuído automaticamente ou configurado manualmente por um administrador do sistema.</a:t>
            </a:r>
          </a:p>
          <a:p>
            <a:pPr rtl="0">
              <a:spcBef>
                <a:spcPts val="0"/>
              </a:spcBef>
              <a:spcAft>
                <a:spcPts val="0"/>
              </a:spcAft>
              <a:buFont typeface="Arial" panose="020B0604020202020204" pitchFamily="34" charset="0"/>
              <a:buChar char="•"/>
            </a:pPr>
            <a:r>
              <a:rPr lang="pt-BR"/>
              <a:t>Para que a mensagem original seja entendida pelo destinatário, todos os dados devem ser recebidos e os dados nesses segmentos devem ser remontados na ordem original.</a:t>
            </a:r>
          </a:p>
          <a:p>
            <a:pPr marL="0">
              <a:spcBef>
                <a:spcPts val="0"/>
              </a:spcBef>
              <a:spcAft>
                <a:spcPts val="0"/>
              </a:spcAft>
            </a:pPr>
            <a:endParaRPr lang="en-US"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400">
                <a:latin typeface="Arial" charset="0"/>
              </a:rPr>
              <a:t>Módulo Prática e Quiz</a:t>
            </a:r>
            <a:br>
              <a:rPr lang="en-US" dirty="0">
                <a:latin typeface="Arial" charset="0"/>
              </a:rPr>
            </a:br>
            <a:r>
              <a:rPr lang="pt-BR">
                <a:latin typeface="Arial" charset="0"/>
              </a:rPr>
              <a:t>O que eu aprendi neste módulo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pt-BR" sz="1600"/>
              <a:t>Os números de sequência são atribuídos no cabeçalho de cada pacote.</a:t>
            </a:r>
          </a:p>
          <a:p>
            <a:pPr rtl="0">
              <a:spcBef>
                <a:spcPts val="0"/>
              </a:spcBef>
              <a:spcAft>
                <a:spcPts val="0"/>
              </a:spcAft>
              <a:buFont typeface="Arial" panose="020B0604020202020204" pitchFamily="34" charset="0"/>
              <a:buChar char="•"/>
            </a:pPr>
            <a:r>
              <a:rPr lang="pt-BR" sz="1600"/>
              <a:t>O controle de fluxo ajuda a manter a confiabilidade da transmissão TCP, ajustando a taxa de fluxo de dados entre a origem e o destino.</a:t>
            </a:r>
          </a:p>
          <a:p>
            <a:pPr rtl="0">
              <a:spcBef>
                <a:spcPts val="0"/>
              </a:spcBef>
              <a:spcAft>
                <a:spcPts val="0"/>
              </a:spcAft>
              <a:buFont typeface="Arial" panose="020B0604020202020204" pitchFamily="34" charset="0"/>
              <a:buChar char="•"/>
            </a:pPr>
            <a:r>
              <a:rPr lang="pt-BR" sz="1600"/>
              <a:t>Uma fonte pode estar transmitindo 1.460 bytes de dados dentro de cada segmento TCP. Este é o MSS típico que um dispositivo de destino pode receber.</a:t>
            </a:r>
          </a:p>
          <a:p>
            <a:pPr rtl="0">
              <a:spcBef>
                <a:spcPts val="0"/>
              </a:spcBef>
              <a:spcAft>
                <a:spcPts val="0"/>
              </a:spcAft>
              <a:buFont typeface="Arial" panose="020B0604020202020204" pitchFamily="34" charset="0"/>
              <a:buChar char="•"/>
            </a:pPr>
            <a:r>
              <a:rPr lang="pt-BR" sz="1600"/>
              <a:t>O processo de envio de confirmações pelo destino enquanto processa os bytes recebidos, e o ajuste contínuo da janela de envio da origem é conhecido como janelas deslizantes.</a:t>
            </a:r>
          </a:p>
          <a:p>
            <a:pPr rtl="0">
              <a:spcBef>
                <a:spcPts val="0"/>
              </a:spcBef>
              <a:spcAft>
                <a:spcPts val="0"/>
              </a:spcAft>
              <a:buFont typeface="Arial" panose="020B0604020202020204" pitchFamily="34" charset="0"/>
              <a:buChar char="•"/>
            </a:pPr>
            <a:r>
              <a:rPr lang="pt-BR" sz="1600"/>
              <a:t>Para evitar e controlar o congestionamento, o TCP emprega vários mecanismos de manipulação de congestionamento.</a:t>
            </a:r>
          </a:p>
          <a:p>
            <a:endParaRPr lang="en-US" sz="1600" dirty="0"/>
          </a:p>
        </p:txBody>
      </p:sp>
    </p:spTree>
    <p:custDataLst>
      <p:tags r:id="rId1"/>
    </p:custDataLst>
    <p:extLst>
      <p:ext uri="{BB962C8B-B14F-4D97-AF65-F5344CB8AC3E}">
        <p14:creationId xmlns:p14="http://schemas.microsoft.com/office/powerpoint/2010/main" val="409109726"/>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rtl="0" eaLnBrk="1" hangingPunct="1"/>
            <a:r>
              <a:rPr lang="pt-BR" sz="1400">
                <a:latin typeface="Arial" charset="0"/>
              </a:rPr>
              <a:t>Module 14: Transport Layer</a:t>
            </a:r>
            <a:br>
              <a:rPr lang="en-US" dirty="0">
                <a:latin typeface="Arial" charset="0"/>
              </a:rPr>
            </a:br>
            <a:r>
              <a:rPr lang="pt-BR">
                <a:latin typeface="Arial" charset="0"/>
              </a:rPr>
              <a:t>New Terms and Commands</a:t>
            </a:r>
          </a:p>
        </p:txBody>
      </p:sp>
      <p:sp>
        <p:nvSpPr>
          <p:cNvPr id="2" name="Content Placeholder 1">
            <a:extLst>
              <a:ext uri="{FF2B5EF4-FFF2-40B4-BE49-F238E27FC236}">
                <a16:creationId xmlns:a16="http://schemas.microsoft.com/office/drawing/2014/main" id="{3B960391-D8C1-E343-B782-8D7FE2854A7B}"/>
              </a:ext>
            </a:extLst>
          </p:cNvPr>
          <p:cNvSpPr>
            <a:spLocks noGrp="1"/>
          </p:cNvSpPr>
          <p:nvPr>
            <p:ph idx="1"/>
          </p:nvPr>
        </p:nvSpPr>
        <p:spPr>
          <a:xfrm>
            <a:off x="502284" y="798945"/>
            <a:ext cx="4069716" cy="3754873"/>
          </a:xfrm>
          <a:ln>
            <a:solidFill>
              <a:srgbClr val="080808"/>
            </a:solidFill>
          </a:ln>
        </p:spPr>
        <p:txBody>
          <a:bodyPr/>
          <a:lstStyle/>
          <a:p>
            <a:pPr rtl="0">
              <a:spcBef>
                <a:spcPts val="0"/>
              </a:spcBef>
              <a:spcAft>
                <a:spcPts val="0"/>
              </a:spcAft>
              <a:buFont typeface="Arial" panose="020B0604020202020204" pitchFamily="34" charset="0"/>
              <a:buChar char="•"/>
            </a:pPr>
            <a:r>
              <a:rPr lang="pt-BR" sz="1600"/>
              <a:t>Conversation Multiplexing</a:t>
            </a:r>
          </a:p>
          <a:p>
            <a:pPr rtl="0">
              <a:spcBef>
                <a:spcPts val="0"/>
              </a:spcBef>
              <a:spcAft>
                <a:spcPts val="0"/>
              </a:spcAft>
              <a:buFont typeface="Arial" panose="020B0604020202020204" pitchFamily="34" charset="0"/>
              <a:buChar char="•"/>
            </a:pPr>
            <a:r>
              <a:rPr lang="pt-BR" sz="1600"/>
              <a:t>Segments</a:t>
            </a:r>
          </a:p>
          <a:p>
            <a:pPr rtl="0">
              <a:spcBef>
                <a:spcPts val="0"/>
              </a:spcBef>
              <a:spcAft>
                <a:spcPts val="0"/>
              </a:spcAft>
              <a:buFont typeface="Arial" panose="020B0604020202020204" pitchFamily="34" charset="0"/>
              <a:buChar char="•"/>
            </a:pPr>
            <a:r>
              <a:rPr lang="pt-BR" sz="1600"/>
              <a:t>Datagrams</a:t>
            </a:r>
          </a:p>
          <a:p>
            <a:pPr rtl="0">
              <a:spcBef>
                <a:spcPts val="0"/>
              </a:spcBef>
              <a:spcAft>
                <a:spcPts val="0"/>
              </a:spcAft>
              <a:buFont typeface="Arial" panose="020B0604020202020204" pitchFamily="34" charset="0"/>
              <a:buChar char="•"/>
            </a:pPr>
            <a:r>
              <a:rPr lang="pt-BR" sz="1600"/>
              <a:t>Connection-Oriented Protocol</a:t>
            </a:r>
          </a:p>
          <a:p>
            <a:pPr rtl="0">
              <a:spcBef>
                <a:spcPts val="0"/>
              </a:spcBef>
              <a:spcAft>
                <a:spcPts val="0"/>
              </a:spcAft>
              <a:buFont typeface="Arial" panose="020B0604020202020204" pitchFamily="34" charset="0"/>
              <a:buChar char="•"/>
            </a:pPr>
            <a:r>
              <a:rPr lang="pt-BR" sz="1600"/>
              <a:t>Connectionless Protocol</a:t>
            </a:r>
          </a:p>
          <a:p>
            <a:pPr rtl="0">
              <a:spcBef>
                <a:spcPts val="0"/>
              </a:spcBef>
              <a:spcAft>
                <a:spcPts val="0"/>
              </a:spcAft>
              <a:buFont typeface="Arial" panose="020B0604020202020204" pitchFamily="34" charset="0"/>
              <a:buChar char="•"/>
            </a:pPr>
            <a:r>
              <a:rPr lang="pt-BR" sz="1600"/>
              <a:t>Stateless Protocol</a:t>
            </a:r>
          </a:p>
          <a:p>
            <a:pPr rtl="0">
              <a:spcBef>
                <a:spcPts val="0"/>
              </a:spcBef>
              <a:spcAft>
                <a:spcPts val="0"/>
              </a:spcAft>
              <a:buFont typeface="Arial" panose="020B0604020202020204" pitchFamily="34" charset="0"/>
              <a:buChar char="•"/>
            </a:pPr>
            <a:r>
              <a:rPr lang="pt-BR" sz="1600"/>
              <a:t>Flow Control</a:t>
            </a:r>
          </a:p>
          <a:p>
            <a:pPr rtl="0">
              <a:spcBef>
                <a:spcPts val="0"/>
              </a:spcBef>
              <a:spcAft>
                <a:spcPts val="0"/>
              </a:spcAft>
              <a:buFont typeface="Arial" panose="020B0604020202020204" pitchFamily="34" charset="0"/>
              <a:buChar char="•"/>
            </a:pPr>
            <a:r>
              <a:rPr lang="pt-BR" sz="1600"/>
              <a:t>Same-Order Delivery</a:t>
            </a:r>
          </a:p>
          <a:p>
            <a:pPr rtl="0">
              <a:spcBef>
                <a:spcPts val="0"/>
              </a:spcBef>
              <a:spcAft>
                <a:spcPts val="0"/>
              </a:spcAft>
              <a:buFont typeface="Arial" panose="020B0604020202020204" pitchFamily="34" charset="0"/>
              <a:buChar char="•"/>
            </a:pPr>
            <a:r>
              <a:rPr lang="pt-BR" sz="1600"/>
              <a:t>Socket Pairs</a:t>
            </a:r>
          </a:p>
          <a:p>
            <a:pPr rtl="0">
              <a:spcBef>
                <a:spcPts val="0"/>
              </a:spcBef>
              <a:spcAft>
                <a:spcPts val="0"/>
              </a:spcAft>
              <a:buFont typeface="Arial" panose="020B0604020202020204" pitchFamily="34" charset="0"/>
              <a:buChar char="•"/>
            </a:pPr>
            <a:r>
              <a:rPr lang="pt-BR" sz="1600"/>
              <a:t>netstat</a:t>
            </a:r>
          </a:p>
          <a:p>
            <a:pPr>
              <a:spcBef>
                <a:spcPts val="0"/>
              </a:spcBef>
              <a:spcAft>
                <a:spcPts val="0"/>
              </a:spcAft>
            </a:pPr>
            <a:endParaRPr lang="en-US" sz="1600" dirty="0"/>
          </a:p>
        </p:txBody>
      </p:sp>
      <p:sp>
        <p:nvSpPr>
          <p:cNvPr id="3" name="Rectangle 2">
            <a:extLst>
              <a:ext uri="{FF2B5EF4-FFF2-40B4-BE49-F238E27FC236}">
                <a16:creationId xmlns:a16="http://schemas.microsoft.com/office/drawing/2014/main" id="{80D84143-187A-1A4A-B0AB-CA7EC458C216}"/>
              </a:ext>
            </a:extLst>
          </p:cNvPr>
          <p:cNvSpPr/>
          <p:nvPr/>
        </p:nvSpPr>
        <p:spPr>
          <a:xfrm>
            <a:off x="4637987" y="798944"/>
            <a:ext cx="3997957" cy="3724096"/>
          </a:xfrm>
          <a:prstGeom prst="rect">
            <a:avLst/>
          </a:prstGeom>
          <a:ln>
            <a:solidFill>
              <a:srgbClr val="080808"/>
            </a:solidFill>
          </a:ln>
        </p:spPr>
        <p:txBody>
          <a:bodyPr wrap="square">
            <a:spAutoFit/>
          </a:bodyPr>
          <a:lstStyle/>
          <a:p>
            <a:pPr marL="285750" indent="-285750" rtl="0">
              <a:spcBef>
                <a:spcPts val="0"/>
              </a:spcBef>
              <a:spcAft>
                <a:spcPts val="0"/>
              </a:spcAft>
              <a:buFont typeface="Arial" panose="020B0604020202020204" pitchFamily="34" charset="0"/>
              <a:buChar char="•"/>
            </a:pPr>
            <a:r>
              <a:rPr lang="pt-BR" sz="1600"/>
              <a:t>Three-Way Handshake</a:t>
            </a:r>
          </a:p>
          <a:p>
            <a:pPr marL="285750" indent="-285750" rtl="0">
              <a:spcBef>
                <a:spcPts val="0"/>
              </a:spcBef>
              <a:spcAft>
                <a:spcPts val="0"/>
              </a:spcAft>
              <a:buFont typeface="Arial" panose="020B0604020202020204" pitchFamily="34" charset="0"/>
              <a:buChar char="•"/>
            </a:pPr>
            <a:r>
              <a:rPr lang="pt-BR" sz="1600"/>
              <a:t>SYN</a:t>
            </a:r>
          </a:p>
          <a:p>
            <a:pPr marL="285750" indent="-285750" rtl="0">
              <a:spcBef>
                <a:spcPts val="0"/>
              </a:spcBef>
              <a:spcAft>
                <a:spcPts val="0"/>
              </a:spcAft>
              <a:buFont typeface="Arial" panose="020B0604020202020204" pitchFamily="34" charset="0"/>
              <a:buChar char="•"/>
            </a:pPr>
            <a:r>
              <a:rPr lang="pt-BR" sz="1600"/>
              <a:t>ACK</a:t>
            </a:r>
          </a:p>
          <a:p>
            <a:pPr marL="285750" indent="-285750" rtl="0">
              <a:spcBef>
                <a:spcPts val="0"/>
              </a:spcBef>
              <a:spcAft>
                <a:spcPts val="0"/>
              </a:spcAft>
              <a:buFont typeface="Arial" panose="020B0604020202020204" pitchFamily="34" charset="0"/>
              <a:buChar char="•"/>
            </a:pPr>
            <a:r>
              <a:rPr lang="pt-BR" sz="1600"/>
              <a:t>FIN</a:t>
            </a:r>
          </a:p>
          <a:p>
            <a:pPr marL="285750" indent="-285750" rtl="0">
              <a:spcBef>
                <a:spcPts val="0"/>
              </a:spcBef>
              <a:spcAft>
                <a:spcPts val="0"/>
              </a:spcAft>
              <a:buFont typeface="Arial" panose="020B0604020202020204" pitchFamily="34" charset="0"/>
              <a:buChar char="•"/>
            </a:pPr>
            <a:r>
              <a:rPr lang="pt-BR" sz="1600"/>
              <a:t>URG</a:t>
            </a:r>
          </a:p>
          <a:p>
            <a:pPr marL="285750" indent="-285750" rtl="0">
              <a:spcBef>
                <a:spcPts val="0"/>
              </a:spcBef>
              <a:spcAft>
                <a:spcPts val="0"/>
              </a:spcAft>
              <a:buFont typeface="Arial" panose="020B0604020202020204" pitchFamily="34" charset="0"/>
              <a:buChar char="•"/>
            </a:pPr>
            <a:r>
              <a:rPr lang="pt-BR" sz="1600"/>
              <a:t>PSH</a:t>
            </a:r>
          </a:p>
          <a:p>
            <a:pPr marL="285750" indent="-285750" rtl="0">
              <a:spcBef>
                <a:spcPts val="0"/>
              </a:spcBef>
              <a:spcAft>
                <a:spcPts val="0"/>
              </a:spcAft>
              <a:buFont typeface="Arial" panose="020B0604020202020204" pitchFamily="34" charset="0"/>
              <a:buChar char="•"/>
            </a:pPr>
            <a:r>
              <a:rPr lang="pt-BR" sz="1600"/>
              <a:t>RST</a:t>
            </a:r>
          </a:p>
          <a:p>
            <a:pPr marL="285750" indent="-285750" rtl="0">
              <a:spcBef>
                <a:spcPts val="0"/>
              </a:spcBef>
              <a:spcAft>
                <a:spcPts val="0"/>
              </a:spcAft>
              <a:buFont typeface="Arial" panose="020B0604020202020204" pitchFamily="34" charset="0"/>
              <a:buChar char="•"/>
            </a:pPr>
            <a:r>
              <a:rPr lang="pt-BR" sz="1600">
                <a:solidFill>
                  <a:srgbClr val="080808"/>
                </a:solidFill>
              </a:rPr>
              <a:t>Initial Sequence Number (ISN)</a:t>
            </a:r>
          </a:p>
          <a:p>
            <a:pPr marL="285750" indent="-285750" rtl="0">
              <a:spcBef>
                <a:spcPts val="0"/>
              </a:spcBef>
              <a:spcAft>
                <a:spcPts val="0"/>
              </a:spcAft>
              <a:buFont typeface="Arial" panose="020B0604020202020204" pitchFamily="34" charset="0"/>
              <a:buChar char="•"/>
            </a:pPr>
            <a:r>
              <a:rPr lang="pt-BR" sz="1600">
                <a:solidFill>
                  <a:srgbClr val="080808"/>
                </a:solidFill>
              </a:rPr>
              <a:t>Selective Acknowledgement (SACK)</a:t>
            </a:r>
          </a:p>
          <a:p>
            <a:pPr marL="285750" indent="-285750" rtl="0">
              <a:spcBef>
                <a:spcPts val="0"/>
              </a:spcBef>
              <a:spcAft>
                <a:spcPts val="0"/>
              </a:spcAft>
              <a:buFont typeface="Arial" panose="020B0604020202020204" pitchFamily="34" charset="0"/>
              <a:buChar char="•"/>
            </a:pPr>
            <a:r>
              <a:rPr lang="pt-BR" sz="1600">
                <a:solidFill>
                  <a:srgbClr val="080808"/>
                </a:solidFill>
              </a:rPr>
              <a:t>Sliding Window</a:t>
            </a:r>
          </a:p>
          <a:p>
            <a:pPr marL="285750" indent="-285750" rtl="0">
              <a:spcBef>
                <a:spcPts val="0"/>
              </a:spcBef>
              <a:spcAft>
                <a:spcPts val="0"/>
              </a:spcAft>
              <a:buFont typeface="Arial" panose="020B0604020202020204" pitchFamily="34" charset="0"/>
              <a:buChar char="•"/>
            </a:pPr>
            <a:r>
              <a:rPr lang="pt-BR" sz="1600">
                <a:solidFill>
                  <a:srgbClr val="080808"/>
                </a:solidFill>
              </a:rPr>
              <a:t>Maximum Segment Size (MSS)</a:t>
            </a:r>
          </a:p>
          <a:p>
            <a:pPr marL="285750" indent="-285750" rtl="0">
              <a:spcBef>
                <a:spcPts val="0"/>
              </a:spcBef>
              <a:spcAft>
                <a:spcPts val="0"/>
              </a:spcAft>
              <a:buFont typeface="Arial" panose="020B0604020202020204" pitchFamily="34" charset="0"/>
              <a:buChar char="•"/>
            </a:pPr>
            <a:r>
              <a:rPr lang="pt-BR" sz="1600">
                <a:solidFill>
                  <a:srgbClr val="080808"/>
                </a:solidFill>
              </a:rPr>
              <a:t>Maximum Transmission Unit (MTU)</a:t>
            </a:r>
          </a:p>
          <a:p>
            <a:pPr marL="285750" indent="-285750" rtl="0">
              <a:spcBef>
                <a:spcPts val="0"/>
              </a:spcBef>
              <a:spcAft>
                <a:spcPts val="0"/>
              </a:spcAft>
              <a:buFont typeface="Arial" panose="020B0604020202020204" pitchFamily="34" charset="0"/>
              <a:buChar char="•"/>
            </a:pPr>
            <a:r>
              <a:rPr lang="pt-BR" sz="1600">
                <a:solidFill>
                  <a:srgbClr val="080808"/>
                </a:solidFill>
              </a:rPr>
              <a:t>Congestion Avoidance</a:t>
            </a:r>
          </a:p>
          <a:p>
            <a:pPr marL="285750" indent="-285750">
              <a:spcBef>
                <a:spcPts val="0"/>
              </a:spcBef>
              <a:spcAft>
                <a:spcPts val="0"/>
              </a:spcAft>
              <a:buFont typeface="Arial" panose="020B0604020202020204" pitchFamily="34" charset="0"/>
              <a:buChar char="•"/>
            </a:pPr>
            <a:endParaRPr lang="en-US" sz="1400" dirty="0">
              <a:solidFill>
                <a:srgbClr val="080808"/>
              </a:solidFill>
            </a:endParaRPr>
          </a:p>
          <a:p>
            <a:pPr>
              <a:spcBef>
                <a:spcPts val="0"/>
              </a:spcBef>
              <a:spcAft>
                <a:spcPts val="0"/>
              </a:spcAft>
            </a:pPr>
            <a:endParaRPr lang="en-US" sz="1400" dirty="0">
              <a:solidFill>
                <a:srgbClr val="080808"/>
              </a:solidFill>
            </a:endParaRPr>
          </a:p>
        </p:txBody>
      </p:sp>
    </p:spTree>
    <p:custDataLst>
      <p:tags r:id="rId1"/>
    </p:custDataLst>
    <p:extLst>
      <p:ext uri="{BB962C8B-B14F-4D97-AF65-F5344CB8AC3E}">
        <p14:creationId xmlns:p14="http://schemas.microsoft.com/office/powerpoint/2010/main" val="2054017943"/>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6473</TotalTime>
  <Words>4356</Words>
  <Application>Microsoft Office PowerPoint</Application>
  <PresentationFormat>On-screen Show (16:9)</PresentationFormat>
  <Paragraphs>683</Paragraphs>
  <Slides>61</Slides>
  <Notes>59</Notes>
  <HiddenSlides>7</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Default Theme</vt:lpstr>
      <vt:lpstr>Módulo 14: Camada de Transporte</vt:lpstr>
      <vt:lpstr>Instructor Materials – Module 14 Planning Guide</vt:lpstr>
      <vt:lpstr>O que esperar neste módulo</vt:lpstr>
      <vt:lpstr>O que esperar deste módulo (cont.)</vt:lpstr>
      <vt:lpstr>Check Your Understanding</vt:lpstr>
      <vt:lpstr>Module 14: Activities</vt:lpstr>
      <vt:lpstr>Module 14: Best Practices</vt:lpstr>
      <vt:lpstr>Module 14: Best Practices (Cont.)</vt:lpstr>
      <vt:lpstr>Module 14: Best Practices (Cont.)</vt:lpstr>
      <vt:lpstr>Módulo 14: Camada de Transporte</vt:lpstr>
      <vt:lpstr>Objetivos do módulo</vt:lpstr>
      <vt:lpstr>14.1 - Transporte de dados</vt:lpstr>
      <vt:lpstr> Transporte de dados Propósito de camada de transporte</vt:lpstr>
      <vt:lpstr> Transporte de dados Responsabilidades da camada de transporte</vt:lpstr>
      <vt:lpstr>Transporte de dados  Protocolos de camada de transporte</vt:lpstr>
      <vt:lpstr>Protocolode Controle de Transmissão deDados </vt:lpstr>
      <vt:lpstr>Transporte de Dados  UDP (User Datagram Protocol)</vt:lpstr>
      <vt:lpstr>Transporte de dados  O protocolo de camada de transporte certo para a aplicação certa</vt:lpstr>
      <vt:lpstr>14.2 Visão geral do TCP</vt:lpstr>
      <vt:lpstr>Visão Geral do TCP   Características do TCP</vt:lpstr>
      <vt:lpstr>Visão Geral do TCP   Cabeçalho do TCP</vt:lpstr>
      <vt:lpstr>Visão Geral do TCPCampos de CabeçalhoTCP</vt:lpstr>
      <vt:lpstr>Visão Geral do TCP  Aplicações que usam TCP</vt:lpstr>
      <vt:lpstr>14.3 - Visão geral do UDP</vt:lpstr>
      <vt:lpstr>Visão Geral do UDP  Recursos de UDP</vt:lpstr>
      <vt:lpstr>Visão Geral do UDP  Cabeçalho UDP</vt:lpstr>
      <vt:lpstr>Visão Geral UDP Campos de Cabeçalho UDP</vt:lpstr>
      <vt:lpstr>Visão Geral do UDP  Aplicações que usam UDP</vt:lpstr>
      <vt:lpstr>14.4 Números de Porta</vt:lpstr>
      <vt:lpstr>Número de Portas  Várias comunicações separadas</vt:lpstr>
      <vt:lpstr>Números de portaParesde soquete</vt:lpstr>
      <vt:lpstr>Números de Porta  Grupos de Números de Porta</vt:lpstr>
      <vt:lpstr>Números de Porta Grupos de Números de Porta (Cont.) </vt:lpstr>
      <vt:lpstr>Números de Porta O Comando netstat</vt:lpstr>
      <vt:lpstr>14.5 - Processo de comunicação TCP</vt:lpstr>
      <vt:lpstr> Processo de comunicação TCP Processo de servidor TCP</vt:lpstr>
      <vt:lpstr> Processo de comunicação TCP Estabelecimento de conexão TCP</vt:lpstr>
      <vt:lpstr> Comunicação de TCP Término da sessão de TCP</vt:lpstr>
      <vt:lpstr> Processo de comunicação TCP Análise do handshake triplo do TCP</vt:lpstr>
      <vt:lpstr> Processo de comunicação TCP Análise do handshake triplo do TCP</vt:lpstr>
      <vt:lpstr> Processo de comunicação TCP Demonstração em vídeo - Handshake triplo do TCP</vt:lpstr>
      <vt:lpstr>14.6 - Confiabilidade e controle de fluxo</vt:lpstr>
      <vt:lpstr> Controle de fluxo e confiabilidade Confiabilidade de TCP – entrega ordenada</vt:lpstr>
      <vt:lpstr>Controle de fluxo e confiabilidade  Vídeo - confiabilidade do TCP - Números de sequência e confirmações</vt:lpstr>
      <vt:lpstr>Confiabilidade e controle de fluxo  TCP Confiabilidade - Perda e retransmissão de dados</vt:lpstr>
      <vt:lpstr>Confiabilidade e Controle de FluxoConfiabilidadeTCP — Perda e Retransmissão de Dados (Cont.) </vt:lpstr>
      <vt:lpstr>Confiabilidade e controle de fluxo  Vídeo -Confiabilidade TCP - Perda e retransmissão de dados</vt:lpstr>
      <vt:lpstr>Confiabilidade e Controle de Fluxo  Controle de Fluxo TCP- Tamanho da Janela e Reconhecimentos</vt:lpstr>
      <vt:lpstr>Controle de Fluxo TCP de Confiabilidade e Controle de Fluxo — Tamanho Máximo do Segmento</vt:lpstr>
      <vt:lpstr> Confiabilidade e controle de fluxo Controle de fluxo de TCP - Prevenção de congestionamento</vt:lpstr>
      <vt:lpstr>14.7 - Comunicação UDP</vt:lpstr>
      <vt:lpstr> Comunicação de UDP Baixa sobrecarga do UDP versus confiabilidade</vt:lpstr>
      <vt:lpstr> Comunicação de UDP Reagrupamento de datagrama UDP</vt:lpstr>
      <vt:lpstr> Comunicação UDP Solicitações e processos de servidor UDP</vt:lpstr>
      <vt:lpstr> Comunicação UDP Processos de cliente UDP</vt:lpstr>
      <vt:lpstr>14.8 - Módulo Prática e Quiz</vt:lpstr>
      <vt:lpstr>Módulo de Prática e Quiz  Packet Tracer - Comunicações TCP e UDP </vt:lpstr>
      <vt:lpstr>Módulo Prática e Quiz O que aprendi neste módulo?</vt:lpstr>
      <vt:lpstr>Módulo Prática e Quiz O que eu aprendi neste módulo (Cont.)?</vt:lpstr>
      <vt:lpstr>Module 14: Transport Layer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Sue Livingston -X (suliving - UNICON INC at Cisco)</cp:lastModifiedBy>
  <cp:revision>278</cp:revision>
  <dcterms:created xsi:type="dcterms:W3CDTF">2019-10-18T06:21:22Z</dcterms:created>
  <dcterms:modified xsi:type="dcterms:W3CDTF">2020-06-28T23:23:47Z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