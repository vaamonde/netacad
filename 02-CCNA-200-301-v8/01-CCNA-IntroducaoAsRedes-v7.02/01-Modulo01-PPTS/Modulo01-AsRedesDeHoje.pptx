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63" r:id="rId3"/>
  </p:sldMasterIdLst>
  <p:notesMasterIdLst>
    <p:notesMasterId r:id="rId5"/>
  </p:notesMasterIdLst>
  <p:sldIdLst>
    <p:sldId id="876" r:id="rId4"/>
    <p:sldId id="759" r:id="rId6"/>
    <p:sldId id="628" r:id="rId7"/>
    <p:sldId id="927" r:id="rId8"/>
    <p:sldId id="788" r:id="rId9"/>
    <p:sldId id="928" r:id="rId10"/>
    <p:sldId id="956" r:id="rId11"/>
    <p:sldId id="930" r:id="rId12"/>
    <p:sldId id="932" r:id="rId13"/>
    <p:sldId id="886" r:id="rId14"/>
    <p:sldId id="936" r:id="rId15"/>
    <p:sldId id="955" r:id="rId16"/>
    <p:sldId id="942" r:id="rId17"/>
    <p:sldId id="957" r:id="rId18"/>
    <p:sldId id="944" r:id="rId19"/>
    <p:sldId id="946" r:id="rId20"/>
    <p:sldId id="947" r:id="rId21"/>
    <p:sldId id="948" r:id="rId22"/>
    <p:sldId id="952" r:id="rId23"/>
    <p:sldId id="966" r:id="rId24"/>
    <p:sldId id="967" r:id="rId25"/>
    <p:sldId id="968" r:id="rId26"/>
    <p:sldId id="972" r:id="rId27"/>
    <p:sldId id="976" r:id="rId28"/>
    <p:sldId id="980" r:id="rId29"/>
    <p:sldId id="981" r:id="rId30"/>
    <p:sldId id="987" r:id="rId31"/>
    <p:sldId id="984" r:id="rId32"/>
    <p:sldId id="985" r:id="rId33"/>
    <p:sldId id="990" r:id="rId34"/>
    <p:sldId id="995" r:id="rId35"/>
    <p:sldId id="996" r:id="rId36"/>
    <p:sldId id="1015" r:id="rId37"/>
    <p:sldId id="998" r:id="rId38"/>
    <p:sldId id="999" r:id="rId39"/>
    <p:sldId id="1000" r:id="rId40"/>
    <p:sldId id="1001" r:id="rId41"/>
    <p:sldId id="1002" r:id="rId42"/>
    <p:sldId id="1003" r:id="rId43"/>
    <p:sldId id="1004" r:id="rId44"/>
    <p:sldId id="1021" r:id="rId45"/>
    <p:sldId id="1022" r:id="rId46"/>
    <p:sldId id="1035" r:id="rId47"/>
    <p:sldId id="1024" r:id="rId48"/>
    <p:sldId id="1025" r:id="rId49"/>
    <p:sldId id="1041" r:id="rId50"/>
    <p:sldId id="1026" r:id="rId51"/>
    <p:sldId id="1027" r:id="rId52"/>
    <p:sldId id="291" r:id="rId53"/>
  </p:sldIdLst>
  <p:sldSz cx="9144000" cy="5143500" type="screen16x9"/>
  <p:notesSz cx="6858000" cy="9144000"/>
  <p:custDataLst>
    <p:tags r:id="rId58"/>
  </p:custDataLst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itchFamily="34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itchFamily="34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itchFamily="34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itchFamily="34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itchFamily="34" charset="-128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Barbara Reif" initials="BR" lastIdx="3" clrIdx="0"/>
  <p:cmAuthor id="1" name="Jane Gibbons -X (jagibbon - DEL ORO CONSULTING INC at Cisco)" initials="JG-(-DOCIaC" lastIdx="28" clrIdx="1"/>
  <p:cmAuthor id="2" name="Bob Vachon" initials="BV" lastIdx="24" clrIdx="2"/>
  <p:cmAuthor id="3" name="Sue Livingston -X (suliving - UNICON INC at Cisco)" initials="SL-(-UIaC" lastIdx="4" clrIdx="3"/>
  <p:cmAuthor id="4" name="jagibbon" initials="jmg" lastIdx="3" clrIdx="4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0000CC"/>
    <a:srgbClr val="000099"/>
    <a:srgbClr val="CC99FF"/>
    <a:srgbClr val="CC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25E5076-3810-47DD-B79F-674D7AD40C01}" styleName="深色样式 1 - 强调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913" autoAdjust="0"/>
    <p:restoredTop sz="84965" autoAdjust="0"/>
  </p:normalViewPr>
  <p:slideViewPr>
    <p:cSldViewPr snapToGrid="0" showGuides="1">
      <p:cViewPr varScale="1">
        <p:scale>
          <a:sx n="76" d="100"/>
          <a:sy n="76" d="100"/>
        </p:scale>
        <p:origin x="1296" y="56"/>
      </p:cViewPr>
      <p:guideLst>
        <p:guide orient="horz" pos="1596"/>
        <p:guide pos="336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11" d="100"/>
        <a:sy n="111" d="100"/>
      </p:scale>
      <p:origin x="0" y="-512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8" Type="http://schemas.openxmlformats.org/officeDocument/2006/relationships/tags" Target="tags/tag21.xml"/><Relationship Id="rId57" Type="http://schemas.openxmlformats.org/officeDocument/2006/relationships/commentAuthors" Target="commentAuthors.xml"/><Relationship Id="rId56" Type="http://schemas.openxmlformats.org/officeDocument/2006/relationships/tableStyles" Target="tableStyles.xml"/><Relationship Id="rId55" Type="http://schemas.openxmlformats.org/officeDocument/2006/relationships/viewProps" Target="viewProps.xml"/><Relationship Id="rId54" Type="http://schemas.openxmlformats.org/officeDocument/2006/relationships/presProps" Target="presProps.xml"/><Relationship Id="rId53" Type="http://schemas.openxmlformats.org/officeDocument/2006/relationships/slide" Target="slides/slide49.xml"/><Relationship Id="rId52" Type="http://schemas.openxmlformats.org/officeDocument/2006/relationships/slide" Target="slides/slide48.xml"/><Relationship Id="rId51" Type="http://schemas.openxmlformats.org/officeDocument/2006/relationships/slide" Target="slides/slide47.xml"/><Relationship Id="rId50" Type="http://schemas.openxmlformats.org/officeDocument/2006/relationships/slide" Target="slides/slide46.xml"/><Relationship Id="rId5" Type="http://schemas.openxmlformats.org/officeDocument/2006/relationships/notesMaster" Target="notesMasters/notesMaster1.xml"/><Relationship Id="rId49" Type="http://schemas.openxmlformats.org/officeDocument/2006/relationships/slide" Target="slides/slide45.xml"/><Relationship Id="rId48" Type="http://schemas.openxmlformats.org/officeDocument/2006/relationships/slide" Target="slides/slide44.xml"/><Relationship Id="rId47" Type="http://schemas.openxmlformats.org/officeDocument/2006/relationships/slide" Target="slides/slide43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0" Type="http://schemas.openxmlformats.org/officeDocument/2006/relationships/slide" Target="slides/slide36.xml"/><Relationship Id="rId4" Type="http://schemas.openxmlformats.org/officeDocument/2006/relationships/slide" Target="slides/slide1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6337D9-3022-3D41-8D8A-BDF2F3B0DD8E}" type="datetimeFigureOut">
              <a:rPr lang="en-US" smtClean="0"/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41018C-6CAF-B84E-B92C-ECB119457FBA}" type="slidenum">
              <a:rPr lang="en-US" smtClean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4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5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6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7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>
              <a:buFontTx/>
              <a:buNone/>
            </a:pPr>
            <a:r>
              <a:rPr lang="pt-BR" b="0"/>
              <a:t>Programa da Cisco Networking Academy</a:t>
            </a:r>
            <a:endParaRPr lang="pt-BR" b="0"/>
          </a:p>
          <a:p>
            <a:pPr rtl="0">
              <a:buFontTx/>
              <a:buNone/>
            </a:pPr>
            <a:r>
              <a:rPr lang="pt-BR" b="0"/>
              <a:t>Introdução às redes v7.0 (ITN)</a:t>
            </a:r>
            <a:endParaRPr lang="pt-BR" b="0"/>
          </a:p>
          <a:p>
            <a:pPr rtl="0">
              <a:buFontTx/>
              <a:buNone/>
            </a:pPr>
            <a:r>
              <a:rPr lang="pt-BR" sz="1200" b="0"/>
              <a:t>Módulo 1: As redes </a:t>
            </a:r>
            <a:r>
              <a:rPr lang="pt-BR" sz="1200" b="0" baseline="0"/>
              <a:t>de hoje</a:t>
            </a:r>
            <a:endParaRPr lang="pt-BR" sz="1200" b="0" baseline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>
              <a:buFontTx/>
              <a:buNone/>
            </a:pPr>
            <a:r>
              <a:rPr lang="pt-BR" sz="1200" b="0"/>
              <a:t>1 – As redes de hoje</a:t>
            </a:r>
            <a:endParaRPr lang="pt-BR" sz="1200" b="0"/>
          </a:p>
          <a:p>
            <a:pPr rtl="0">
              <a:buFontTx/>
              <a:buNone/>
            </a:pPr>
            <a:r>
              <a:rPr lang="pt-BR" sz="1200" b="0"/>
              <a:t>1.1 - As redes</a:t>
            </a:r>
            <a:r>
              <a:rPr lang="pt-BR" sz="1200" b="0" baseline="0"/>
              <a:t> afetam nossas vidas</a:t>
            </a:r>
            <a:endParaRPr lang="pt-BR" sz="1200" b="0" baseline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26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826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826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826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826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rtl="0"/>
            <a:fld id="{04267211-205D-47E8-9F29-7E4C01D43DC3}" type="slidenum">
              <a:rPr sz="800"/>
            </a:fld>
            <a:endParaRPr sz="800"/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1 – As redes de hoje</a:t>
            </a:r>
            <a:endParaRPr lang="pt-BR" sz="1200" kern="1200">
              <a:solidFill>
                <a:schemeClr val="tx1"/>
              </a:solidFill>
              <a:latin typeface="Arial" panose="020B0604020202020204" pitchFamily="34" charset="0"/>
              <a:ea typeface="MS PGothic" charset="0"/>
              <a:cs typeface="MS PGothic" charset="0"/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1.1 - As redes afetam nossas vidas</a:t>
            </a:r>
            <a:endParaRPr lang="pt-BR" sz="1200" kern="1200">
              <a:solidFill>
                <a:schemeClr val="tx1"/>
              </a:solidFill>
              <a:latin typeface="Arial" panose="020B0604020202020204" pitchFamily="34" charset="0"/>
              <a:ea typeface="MS PGothic" charset="0"/>
              <a:cs typeface="MS PGothic" charset="0"/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1.1.1 — </a:t>
            </a:r>
            <a:r>
              <a:rPr lang="pt-BR"/>
              <a:t>Redes nos conectam</a:t>
            </a:r>
            <a:endParaRPr lang="pt-BR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1 – As redes de hoje</a:t>
            </a:r>
            <a:endParaRPr lang="pt-BR" sz="1200" kern="1200">
              <a:solidFill>
                <a:schemeClr val="tx1"/>
              </a:solidFill>
              <a:latin typeface="Arial" panose="020B0604020202020204" pitchFamily="34" charset="0"/>
              <a:ea typeface="MS PGothic" charset="0"/>
              <a:cs typeface="MS PGothic" charset="0"/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1.2 - Componentes</a:t>
            </a:r>
            <a:r>
              <a:rPr lang="pt-BR" sz="1200" kern="1200" baseline="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 de rede</a:t>
            </a:r>
            <a:endParaRPr lang="pt-BR" sz="1200" kern="1200" baseline="0">
              <a:solidFill>
                <a:schemeClr val="tx1"/>
              </a:solidFill>
              <a:latin typeface="Arial" panose="020B0604020202020204" pitchFamily="34" charset="0"/>
              <a:ea typeface="MS PGothic" charset="0"/>
              <a:cs typeface="MS PGothic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26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826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826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826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826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rtl="0"/>
            <a:fld id="{04267211-205D-47E8-9F29-7E4C01D43DC3}" type="slidenum">
              <a:rPr sz="800">
                <a:solidFill>
                  <a:prstClr val="black"/>
                </a:solidFill>
              </a:rPr>
            </a:fld>
            <a:endParaRPr sz="800">
              <a:solidFill>
                <a:prstClr val="black"/>
              </a:solidFill>
            </a:endParaRPr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1 – As redes de hoje</a:t>
            </a:r>
            <a:endParaRPr lang="pt-BR" sz="1200" kern="1200">
              <a:solidFill>
                <a:schemeClr val="tx1"/>
              </a:solidFill>
              <a:latin typeface="Arial" panose="020B0604020202020204" pitchFamily="34" charset="0"/>
              <a:ea typeface="MS PGothic" charset="0"/>
              <a:cs typeface="MS PGothic" charset="0"/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1.2 - Componentes</a:t>
            </a:r>
            <a:r>
              <a:rPr lang="pt-BR" sz="1200" kern="1200" baseline="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 de rede</a:t>
            </a:r>
            <a:endParaRPr lang="pt-BR" sz="1200" kern="1200" baseline="0">
              <a:solidFill>
                <a:schemeClr val="tx1"/>
              </a:solidFill>
              <a:latin typeface="Arial" panose="020B0604020202020204" pitchFamily="34" charset="0"/>
              <a:ea typeface="MS PGothic" charset="0"/>
              <a:cs typeface="MS PGothic" charset="0"/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1.2.1— Funções de host</a:t>
            </a:r>
            <a:endParaRPr lang="pt-BR" sz="1200" kern="1200">
              <a:solidFill>
                <a:schemeClr val="tx1"/>
              </a:solidFill>
              <a:latin typeface="Arial" panose="020B0604020202020204" pitchFamily="34" charset="0"/>
              <a:ea typeface="MS PGothic" charset="0"/>
              <a:cs typeface="MS PGothic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26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826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826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826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826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rtl="0"/>
            <a:fld id="{04267211-205D-47E8-9F29-7E4C01D43DC3}" type="slidenum">
              <a:rPr sz="800">
                <a:solidFill>
                  <a:prstClr val="black"/>
                </a:solidFill>
              </a:rPr>
            </a:fld>
            <a:endParaRPr sz="800">
              <a:solidFill>
                <a:prstClr val="black"/>
              </a:solidFill>
            </a:endParaRPr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1 – As redes de hoje</a:t>
            </a:r>
            <a:endParaRPr lang="pt-BR" sz="1200" kern="1200">
              <a:solidFill>
                <a:schemeClr val="tx1"/>
              </a:solidFill>
              <a:latin typeface="Arial" panose="020B0604020202020204" pitchFamily="34" charset="0"/>
              <a:ea typeface="MS PGothic" charset="0"/>
              <a:cs typeface="MS PGothic" charset="0"/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1.2 - Componentes</a:t>
            </a:r>
            <a:r>
              <a:rPr lang="pt-BR" sz="1200" kern="1200" baseline="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 de rede</a:t>
            </a:r>
            <a:endParaRPr lang="pt-BR" sz="1200" kern="1200" baseline="0">
              <a:solidFill>
                <a:schemeClr val="tx1"/>
              </a:solidFill>
              <a:latin typeface="Arial" panose="020B0604020202020204" pitchFamily="34" charset="0"/>
              <a:ea typeface="MS PGothic" charset="0"/>
              <a:cs typeface="MS PGothic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1.2.2 - Ponto a ponto</a:t>
            </a:r>
            <a:endParaRPr lang="pt-BR" sz="1200" kern="1200">
              <a:solidFill>
                <a:schemeClr val="tx1"/>
              </a:solidFill>
              <a:latin typeface="Arial" panose="020B0604020202020204" pitchFamily="34" charset="0"/>
              <a:ea typeface="MS PGothic" charset="0"/>
              <a:cs typeface="MS PGothic" charset="0"/>
            </a:endParaRPr>
          </a:p>
          <a:p>
            <a:pPr>
              <a:lnSpc>
                <a:spcPct val="80000"/>
              </a:lnSpc>
              <a:buFontTx/>
              <a:buNone/>
            </a:pPr>
            <a:endParaRPr lang="en-US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26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826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826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826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826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rtl="0"/>
            <a:fld id="{04267211-205D-47E8-9F29-7E4C01D43DC3}" type="slidenum">
              <a:rPr sz="800">
                <a:solidFill>
                  <a:prstClr val="black"/>
                </a:solidFill>
              </a:rPr>
            </a:fld>
            <a:endParaRPr sz="800">
              <a:solidFill>
                <a:prstClr val="black"/>
              </a:solidFill>
            </a:endParaRPr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1 – As redes de hoje</a:t>
            </a:r>
            <a:endParaRPr lang="pt-BR" sz="1200" kern="1200">
              <a:solidFill>
                <a:schemeClr val="tx1"/>
              </a:solidFill>
              <a:latin typeface="Arial" panose="020B0604020202020204" pitchFamily="34" charset="0"/>
              <a:ea typeface="MS PGothic" charset="0"/>
              <a:cs typeface="MS PGothic" charset="0"/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1.2 - Componentes</a:t>
            </a:r>
            <a:r>
              <a:rPr lang="pt-BR" sz="1200" kern="1200" baseline="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 de rede</a:t>
            </a:r>
            <a:endParaRPr lang="pt-BR" sz="1200" kern="1200" baseline="0">
              <a:solidFill>
                <a:schemeClr val="tx1"/>
              </a:solidFill>
              <a:latin typeface="Arial" panose="020B0604020202020204" pitchFamily="34" charset="0"/>
              <a:ea typeface="MS PGothic" charset="0"/>
              <a:cs typeface="MS PGothic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1.2.3 — Dispositivos finais</a:t>
            </a:r>
            <a:endParaRPr lang="pt-BR" sz="1200" kern="1200">
              <a:solidFill>
                <a:schemeClr val="tx1"/>
              </a:solidFill>
              <a:latin typeface="Arial" panose="020B0604020202020204" pitchFamily="34" charset="0"/>
              <a:ea typeface="MS PGothic" charset="0"/>
              <a:cs typeface="MS PGothic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1 – As redes de hoje</a:t>
            </a:r>
            <a:endParaRPr lang="pt-BR" sz="1200" kern="1200">
              <a:solidFill>
                <a:schemeClr val="tx1"/>
              </a:solidFill>
              <a:latin typeface="Arial" panose="020B0604020202020204" pitchFamily="34" charset="0"/>
              <a:ea typeface="MS PGothic" charset="0"/>
              <a:cs typeface="MS PGothic" charset="0"/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1.2 - Componentes</a:t>
            </a:r>
            <a:r>
              <a:rPr lang="pt-BR" sz="1200" kern="1200" baseline="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 de rede</a:t>
            </a:r>
            <a:endParaRPr lang="pt-BR" sz="1200" kern="1200" baseline="0">
              <a:solidFill>
                <a:schemeClr val="tx1"/>
              </a:solidFill>
              <a:latin typeface="Arial" panose="020B0604020202020204" pitchFamily="34" charset="0"/>
              <a:ea typeface="MS PGothic" charset="0"/>
              <a:cs typeface="MS PGothic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1.2.4 – </a:t>
            </a:r>
            <a:r>
              <a:rPr lang="pt-BR"/>
              <a:t>Dispositivos de rede intermediários</a:t>
            </a:r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>
                <a:solidFill>
                  <a:prstClr val="black"/>
                </a:solidFill>
              </a:rPr>
            </a:fld>
            <a:endParaRPr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26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826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826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826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826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rtl="0"/>
            <a:fld id="{04267211-205D-47E8-9F29-7E4C01D43DC3}" type="slidenum">
              <a:rPr sz="800">
                <a:solidFill>
                  <a:prstClr val="black"/>
                </a:solidFill>
              </a:rPr>
            </a:fld>
            <a:endParaRPr sz="800">
              <a:solidFill>
                <a:prstClr val="black"/>
              </a:solidFill>
            </a:endParaRPr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1 – As redes de hoje</a:t>
            </a:r>
            <a:endParaRPr lang="pt-BR" sz="1200" kern="1200">
              <a:solidFill>
                <a:schemeClr val="tx1"/>
              </a:solidFill>
              <a:latin typeface="Arial" panose="020B0604020202020204" pitchFamily="34" charset="0"/>
              <a:ea typeface="MS PGothic" charset="0"/>
              <a:cs typeface="MS PGothic" charset="0"/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1.2 - Componentes</a:t>
            </a:r>
            <a:r>
              <a:rPr lang="pt-BR" sz="1200" kern="1200" baseline="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 de rede</a:t>
            </a:r>
            <a:endParaRPr lang="pt-BR" sz="1200" kern="1200" baseline="0">
              <a:solidFill>
                <a:schemeClr val="tx1"/>
              </a:solidFill>
              <a:latin typeface="Arial" panose="020B0604020202020204" pitchFamily="34" charset="0"/>
              <a:ea typeface="MS PGothic" charset="0"/>
              <a:cs typeface="MS PGothic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1.2.5 — </a:t>
            </a:r>
            <a:r>
              <a:rPr lang="pt-BR"/>
              <a:t>Mídia de rede</a:t>
            </a:r>
            <a:endParaRPr lang="pt-BR"/>
          </a:p>
          <a:p>
            <a:pPr marL="0" marR="0" lvl="0" indent="0" algn="l" defTabSz="4572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pt-BR" sz="1200">
                <a:effectLst/>
              </a:rPr>
              <a:t>1.2.6 - Verifique sua compreensão - Componentes de rede</a:t>
            </a:r>
            <a:endParaRPr lang="pt-BR" sz="1200">
              <a:effectLst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1 – As redes de hoje</a:t>
            </a:r>
            <a:endParaRPr lang="pt-BR" sz="1200" kern="1200">
              <a:solidFill>
                <a:schemeClr val="tx1"/>
              </a:solidFill>
              <a:latin typeface="Arial" panose="020B0604020202020204" pitchFamily="34" charset="0"/>
              <a:ea typeface="MS PGothic" charset="0"/>
              <a:cs typeface="MS PGothic" charset="0"/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1.3 – </a:t>
            </a:r>
            <a:r>
              <a:rPr lang="pt-BR" sz="1200">
                <a:solidFill>
                  <a:schemeClr val="accent5">
                    <a:lumMod val="40000"/>
                    <a:lumOff val="60000"/>
                  </a:schemeClr>
                </a:solidFill>
              </a:rPr>
              <a:t>Representações e topologias de rede</a:t>
            </a:r>
            <a:endParaRPr lang="pt-BR" sz="1200">
              <a:solidFill>
                <a:schemeClr val="accent5">
                  <a:lumMod val="40000"/>
                  <a:lumOff val="60000"/>
                </a:schemeClr>
              </a:solidFill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>
                <a:solidFill>
                  <a:prstClr val="black"/>
                </a:solidFill>
              </a:rPr>
            </a:fld>
            <a:endParaRPr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1 – As redes de hoje</a:t>
            </a:r>
            <a:endParaRPr lang="pt-BR" sz="1200" kern="1200">
              <a:solidFill>
                <a:schemeClr val="tx1"/>
              </a:solidFill>
              <a:latin typeface="Arial" panose="020B0604020202020204" pitchFamily="34" charset="0"/>
              <a:ea typeface="MS PGothic" charset="0"/>
              <a:cs typeface="MS PGothic" charset="0"/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1.3 – </a:t>
            </a:r>
            <a:r>
              <a:rPr lang="pt-BR" sz="1200">
                <a:solidFill>
                  <a:schemeClr val="accent5">
                    <a:lumMod val="40000"/>
                    <a:lumOff val="60000"/>
                  </a:schemeClr>
                </a:solidFill>
              </a:rPr>
              <a:t>Representações e topologias de rede</a:t>
            </a:r>
            <a:endParaRPr lang="pt-BR" sz="1200">
              <a:solidFill>
                <a:schemeClr val="accent5">
                  <a:lumMod val="40000"/>
                  <a:lumOff val="60000"/>
                </a:schemeClr>
              </a:solidFill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>
                <a:latin typeface="Arial" panose="020B0604020202020204" pitchFamily="34" charset="0"/>
              </a:rPr>
              <a:t>1.3.1 – Representações</a:t>
            </a:r>
            <a:r>
              <a:rPr lang="pt-BR" baseline="0">
                <a:latin typeface="Arial" panose="020B0604020202020204" pitchFamily="34" charset="0"/>
              </a:rPr>
              <a:t> de Rede</a:t>
            </a:r>
            <a:endParaRPr lang="pt-BR" baseline="0">
              <a:latin typeface="Arial" panose="020B0604020202020204" pitchFamily="34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>
                <a:solidFill>
                  <a:prstClr val="black"/>
                </a:solidFill>
              </a:rPr>
            </a:fld>
            <a:endParaRPr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1 – As redes de hoje</a:t>
            </a:r>
            <a:endParaRPr lang="pt-BR" sz="1200" kern="1200">
              <a:solidFill>
                <a:schemeClr val="tx1"/>
              </a:solidFill>
              <a:latin typeface="Arial" panose="020B0604020202020204" pitchFamily="34" charset="0"/>
              <a:ea typeface="MS PGothic" charset="0"/>
              <a:cs typeface="MS PGothic" charset="0"/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1.3 – </a:t>
            </a:r>
            <a:r>
              <a:rPr lang="pt-BR" sz="1200">
                <a:solidFill>
                  <a:schemeClr val="accent5">
                    <a:lumMod val="40000"/>
                    <a:lumOff val="60000"/>
                  </a:schemeClr>
                </a:solidFill>
              </a:rPr>
              <a:t>Representações e topologias de rede</a:t>
            </a:r>
            <a:endParaRPr lang="pt-BR" sz="1200">
              <a:solidFill>
                <a:schemeClr val="accent5">
                  <a:lumMod val="40000"/>
                  <a:lumOff val="60000"/>
                </a:schemeClr>
              </a:solidFill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>
                <a:latin typeface="Arial" panose="020B0604020202020204" pitchFamily="34" charset="0"/>
              </a:rPr>
              <a:t>1.3.2 - Diagramas de topologia</a:t>
            </a:r>
            <a:endParaRPr lang="pt-BR">
              <a:latin typeface="Arial" panose="020B0604020202020204" pitchFamily="34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pt-BR" sz="1200">
                <a:effectLst/>
              </a:rPr>
              <a:t>1.3.3 — Verifique o seu entendimento — Representação e topologias de rede</a:t>
            </a:r>
            <a:endParaRPr lang="pt-BR" sz="1200">
              <a:effectLst/>
            </a:endParaRPr>
          </a:p>
          <a:p>
            <a:pPr>
              <a:lnSpc>
                <a:spcPct val="80000"/>
              </a:lnSpc>
              <a:buFontTx/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>
                <a:solidFill>
                  <a:prstClr val="black"/>
                </a:solidFill>
              </a:rPr>
            </a:fld>
            <a:endParaRPr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1 – As redes de hoje</a:t>
            </a:r>
            <a:endParaRPr lang="pt-BR" sz="1200" kern="1200">
              <a:solidFill>
                <a:schemeClr val="tx1"/>
              </a:solidFill>
              <a:latin typeface="Arial" panose="020B0604020202020204" pitchFamily="34" charset="0"/>
              <a:ea typeface="MS PGothic" charset="0"/>
              <a:cs typeface="MS PGothic" charset="0"/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1.4 – </a:t>
            </a:r>
            <a:r>
              <a:rPr lang="pt-BR" sz="1200">
                <a:solidFill>
                  <a:schemeClr val="accent5">
                    <a:lumMod val="40000"/>
                    <a:lumOff val="60000"/>
                  </a:schemeClr>
                </a:solidFill>
              </a:rPr>
              <a:t>Tipos comuns de redes</a:t>
            </a:r>
            <a:endParaRPr lang="pt-BR" sz="1200">
              <a:solidFill>
                <a:schemeClr val="accent5">
                  <a:lumMod val="40000"/>
                  <a:lumOff val="60000"/>
                </a:schemeClr>
              </a:solidFill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>
                <a:solidFill>
                  <a:prstClr val="black"/>
                </a:solidFill>
              </a:rPr>
            </a:fld>
            <a:endParaRPr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1 – As redes de hoje</a:t>
            </a:r>
            <a:endParaRPr lang="pt-BR" sz="1200" kern="1200">
              <a:solidFill>
                <a:schemeClr val="tx1"/>
              </a:solidFill>
              <a:latin typeface="Arial" panose="020B0604020202020204" pitchFamily="34" charset="0"/>
              <a:ea typeface="MS PGothic" charset="0"/>
              <a:cs typeface="MS PGothic" charset="0"/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1.4 – </a:t>
            </a:r>
            <a:r>
              <a:rPr lang="pt-BR" sz="1200">
                <a:solidFill>
                  <a:schemeClr val="accent5">
                    <a:lumMod val="40000"/>
                    <a:lumOff val="60000"/>
                  </a:schemeClr>
                </a:solidFill>
              </a:rPr>
              <a:t>Tipos comuns de redes</a:t>
            </a:r>
            <a:endParaRPr lang="pt-BR" sz="1200">
              <a:solidFill>
                <a:schemeClr val="accent5">
                  <a:lumMod val="40000"/>
                  <a:lumOff val="60000"/>
                </a:schemeClr>
              </a:solidFill>
            </a:endParaRPr>
          </a:p>
          <a:p>
            <a:pPr rtl="0"/>
            <a:r>
              <a:rPr lang="pt-BR"/>
              <a:t>1.4.1</a:t>
            </a:r>
            <a:r>
              <a:rPr lang="pt-BR" baseline="0"/>
              <a:t> – Redes de vários tamanhos</a:t>
            </a:r>
            <a:endParaRPr lang="pt-BR" baseline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>
                <a:solidFill>
                  <a:prstClr val="black"/>
                </a:solidFill>
              </a:rPr>
            </a:fld>
            <a:endParaRPr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26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826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826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826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826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rtl="0"/>
            <a:fld id="{04267211-205D-47E8-9F29-7E4C01D43DC3}" type="slidenum">
              <a:rPr sz="800">
                <a:solidFill>
                  <a:prstClr val="black"/>
                </a:solidFill>
              </a:rPr>
            </a:fld>
            <a:endParaRPr sz="800">
              <a:solidFill>
                <a:prstClr val="black"/>
              </a:solidFill>
            </a:endParaRPr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1 – As redes de hoje</a:t>
            </a:r>
            <a:endParaRPr lang="pt-BR" sz="1200" kern="1200">
              <a:solidFill>
                <a:schemeClr val="tx1"/>
              </a:solidFill>
              <a:latin typeface="Arial" panose="020B0604020202020204" pitchFamily="34" charset="0"/>
              <a:ea typeface="MS PGothic" charset="0"/>
              <a:cs typeface="MS PGothic" charset="0"/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1.4 – </a:t>
            </a:r>
            <a:r>
              <a:rPr lang="pt-BR" sz="1200">
                <a:solidFill>
                  <a:schemeClr val="accent5">
                    <a:lumMod val="40000"/>
                    <a:lumOff val="60000"/>
                  </a:schemeClr>
                </a:solidFill>
              </a:rPr>
              <a:t>Tipos comuns de redes</a:t>
            </a:r>
            <a:endParaRPr lang="pt-BR" sz="1200">
              <a:solidFill>
                <a:schemeClr val="accent5">
                  <a:lumMod val="40000"/>
                  <a:lumOff val="60000"/>
                </a:schemeClr>
              </a:solidFill>
            </a:endParaRPr>
          </a:p>
          <a:p>
            <a:pPr rtl="0"/>
            <a:r>
              <a:rPr lang="pt-BR"/>
              <a:t>1.4.2</a:t>
            </a:r>
            <a:r>
              <a:rPr lang="pt-BR" baseline="0"/>
              <a:t> – </a:t>
            </a:r>
            <a:r>
              <a:rPr lang="pt-BR"/>
              <a:t>LANs e WANs</a:t>
            </a:r>
            <a:endParaRPr lang="pt-BR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1 – As redes de hoje</a:t>
            </a:r>
            <a:endParaRPr lang="pt-BR" sz="1200" kern="1200">
              <a:solidFill>
                <a:schemeClr val="tx1"/>
              </a:solidFill>
              <a:latin typeface="Arial" panose="020B0604020202020204" pitchFamily="34" charset="0"/>
              <a:ea typeface="MS PGothic" charset="0"/>
              <a:cs typeface="MS PGothic" charset="0"/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1.4 – </a:t>
            </a:r>
            <a:r>
              <a:rPr lang="pt-BR" sz="1200">
                <a:solidFill>
                  <a:schemeClr val="accent5">
                    <a:lumMod val="40000"/>
                    <a:lumOff val="60000"/>
                  </a:schemeClr>
                </a:solidFill>
              </a:rPr>
              <a:t>Tipos comuns de redes</a:t>
            </a:r>
            <a:endParaRPr lang="pt-BR" sz="1200">
              <a:solidFill>
                <a:schemeClr val="accent5">
                  <a:lumMod val="40000"/>
                  <a:lumOff val="60000"/>
                </a:schemeClr>
              </a:solidFill>
            </a:endParaRPr>
          </a:p>
          <a:p>
            <a:pPr rtl="0"/>
            <a:r>
              <a:rPr lang="pt-BR"/>
              <a:t>1.4.2</a:t>
            </a:r>
            <a:r>
              <a:rPr lang="pt-BR" baseline="0"/>
              <a:t> — </a:t>
            </a:r>
            <a:r>
              <a:rPr lang="pt-BR"/>
              <a:t>LANs e WANs (cont.)</a:t>
            </a:r>
            <a:endParaRPr lang="pt-BR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>
                <a:solidFill>
                  <a:prstClr val="black"/>
                </a:solidFill>
              </a:rPr>
            </a:fld>
            <a:endParaRPr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1 – As redes de hoje</a:t>
            </a:r>
            <a:endParaRPr lang="pt-BR" sz="1200" kern="1200">
              <a:solidFill>
                <a:schemeClr val="tx1"/>
              </a:solidFill>
              <a:latin typeface="Arial" panose="020B0604020202020204" pitchFamily="34" charset="0"/>
              <a:ea typeface="MS PGothic" charset="0"/>
              <a:cs typeface="MS PGothic" charset="0"/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1.4 – </a:t>
            </a:r>
            <a:r>
              <a:rPr lang="pt-BR" sz="1200">
                <a:solidFill>
                  <a:schemeClr val="accent5">
                    <a:lumMod val="40000"/>
                    <a:lumOff val="60000"/>
                  </a:schemeClr>
                </a:solidFill>
              </a:rPr>
              <a:t>Tipos comuns de redes</a:t>
            </a:r>
            <a:endParaRPr lang="pt-BR" sz="1200">
              <a:solidFill>
                <a:schemeClr val="accent5">
                  <a:lumMod val="40000"/>
                  <a:lumOff val="60000"/>
                </a:schemeClr>
              </a:solidFill>
            </a:endParaRPr>
          </a:p>
          <a:p>
            <a:pPr rtl="0"/>
            <a:r>
              <a:rPr lang="pt-BR"/>
              <a:t>1.4.3</a:t>
            </a:r>
            <a:r>
              <a:rPr lang="pt-BR" baseline="0"/>
              <a:t> — </a:t>
            </a:r>
            <a:r>
              <a:rPr lang="pt-BR">
                <a:latin typeface="Arial" panose="020B0604020202020204" pitchFamily="34" charset="0"/>
              </a:rPr>
              <a:t>A </a:t>
            </a:r>
            <a:r>
              <a:rPr lang="pt-BR" baseline="0">
                <a:latin typeface="Arial" panose="020B0604020202020204" pitchFamily="34" charset="0"/>
              </a:rPr>
              <a:t> Internet </a:t>
            </a:r>
            <a:endParaRPr lang="pt-BR" baseline="0">
              <a:latin typeface="Arial" panose="020B0604020202020204" pitchFamily="34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>
                <a:solidFill>
                  <a:prstClr val="black"/>
                </a:solidFill>
              </a:rPr>
            </a:fld>
            <a:endParaRPr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1 – As redes de hoje</a:t>
            </a:r>
            <a:endParaRPr lang="pt-BR" sz="1200" kern="1200">
              <a:solidFill>
                <a:schemeClr val="tx1"/>
              </a:solidFill>
              <a:latin typeface="Arial" panose="020B0604020202020204" pitchFamily="34" charset="0"/>
              <a:ea typeface="MS PGothic" charset="0"/>
              <a:cs typeface="MS PGothic" charset="0"/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1.4 – </a:t>
            </a:r>
            <a:r>
              <a:rPr lang="pt-BR" sz="1200">
                <a:solidFill>
                  <a:schemeClr val="accent5">
                    <a:lumMod val="40000"/>
                    <a:lumOff val="60000"/>
                  </a:schemeClr>
                </a:solidFill>
              </a:rPr>
              <a:t>Tipos comuns de redes</a:t>
            </a:r>
            <a:endParaRPr lang="pt-BR" sz="1200">
              <a:solidFill>
                <a:schemeClr val="accent5">
                  <a:lumMod val="40000"/>
                  <a:lumOff val="60000"/>
                </a:schemeClr>
              </a:solidFill>
            </a:endParaRPr>
          </a:p>
          <a:p>
            <a:pPr rtl="0"/>
            <a:r>
              <a:rPr lang="pt-BR"/>
              <a:t>1.4.4</a:t>
            </a:r>
            <a:r>
              <a:rPr lang="pt-BR" baseline="0"/>
              <a:t> </a:t>
            </a:r>
            <a:r>
              <a:rPr lang="pt-BR">
                <a:latin typeface="Arial" panose="020B0604020202020204" pitchFamily="34" charset="0"/>
              </a:rPr>
              <a:t>– Intranets</a:t>
            </a:r>
            <a:r>
              <a:rPr lang="pt-BR" baseline="0">
                <a:latin typeface="Arial" panose="020B0604020202020204" pitchFamily="34" charset="0"/>
              </a:rPr>
              <a:t> e Extranets</a:t>
            </a:r>
            <a:endParaRPr lang="pt-BR" baseline="0">
              <a:latin typeface="Arial" panose="020B0604020202020204" pitchFamily="34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pt-BR" sz="1200">
                <a:effectLst/>
              </a:rPr>
              <a:t>1.4.5 - Verifique sua compreensão - Tipos comuns de redes</a:t>
            </a:r>
            <a:endParaRPr lang="pt-BR" sz="1200">
              <a:effectLst/>
            </a:endParaRP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>
                <a:solidFill>
                  <a:prstClr val="black"/>
                </a:solidFill>
              </a:rPr>
            </a:fld>
            <a:endParaRPr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1 – As redes de hoje</a:t>
            </a:r>
            <a:endParaRPr lang="pt-BR" sz="1200" kern="1200">
              <a:solidFill>
                <a:schemeClr val="tx1"/>
              </a:solidFill>
              <a:latin typeface="Arial" panose="020B0604020202020204" pitchFamily="34" charset="0"/>
              <a:ea typeface="MS PGothic" charset="0"/>
              <a:cs typeface="MS PGothic" charset="0"/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1.5 – </a:t>
            </a:r>
            <a:r>
              <a:rPr lang="pt-BR" sz="1200">
                <a:solidFill>
                  <a:schemeClr val="accent5">
                    <a:lumMod val="40000"/>
                    <a:lumOff val="60000"/>
                  </a:schemeClr>
                </a:solidFill>
              </a:rPr>
              <a:t>Conexões à Internet</a:t>
            </a:r>
            <a:endParaRPr lang="pt-BR" sz="1200">
              <a:solidFill>
                <a:schemeClr val="accent5">
                  <a:lumMod val="40000"/>
                  <a:lumOff val="60000"/>
                </a:schemeClr>
              </a:solidFill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>
                <a:solidFill>
                  <a:prstClr val="black"/>
                </a:solidFill>
              </a:rPr>
            </a:fld>
            <a:endParaRPr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1 – As redes de hoje</a:t>
            </a:r>
            <a:endParaRPr lang="pt-BR" sz="1200" kern="1200">
              <a:solidFill>
                <a:schemeClr val="tx1"/>
              </a:solidFill>
              <a:latin typeface="Arial" panose="020B0604020202020204" pitchFamily="34" charset="0"/>
              <a:ea typeface="MS PGothic" charset="0"/>
              <a:cs typeface="MS PGothic" charset="0"/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1.5 – </a:t>
            </a:r>
            <a:r>
              <a:rPr lang="pt-BR" sz="1200">
                <a:solidFill>
                  <a:schemeClr val="accent5">
                    <a:lumMod val="40000"/>
                    <a:lumOff val="60000"/>
                  </a:schemeClr>
                </a:solidFill>
              </a:rPr>
              <a:t>Conexões à Internet</a:t>
            </a:r>
            <a:endParaRPr lang="pt-BR" sz="1200">
              <a:solidFill>
                <a:schemeClr val="accent5">
                  <a:lumMod val="40000"/>
                  <a:lumOff val="60000"/>
                </a:schemeClr>
              </a:solidFill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>
                <a:latin typeface="Arial" panose="020B0604020202020204" pitchFamily="34" charset="0"/>
              </a:rPr>
              <a:t>1.5.1 – Tecnologias de acesso à internet</a:t>
            </a:r>
            <a:endParaRPr lang="pt-BR">
              <a:latin typeface="Arial" panose="020B0604020202020204" pitchFamily="34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>
                <a:solidFill>
                  <a:prstClr val="black"/>
                </a:solidFill>
              </a:rPr>
            </a:fld>
            <a:endParaRPr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1 – As redes de hoje</a:t>
            </a:r>
            <a:endParaRPr lang="pt-BR" sz="1200" kern="1200">
              <a:solidFill>
                <a:schemeClr val="tx1"/>
              </a:solidFill>
              <a:latin typeface="Arial" panose="020B0604020202020204" pitchFamily="34" charset="0"/>
              <a:ea typeface="MS PGothic" charset="0"/>
              <a:cs typeface="MS PGothic" charset="0"/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1.5 – </a:t>
            </a:r>
            <a:r>
              <a:rPr lang="pt-BR" sz="1200">
                <a:solidFill>
                  <a:schemeClr val="accent5">
                    <a:lumMod val="40000"/>
                    <a:lumOff val="60000"/>
                  </a:schemeClr>
                </a:solidFill>
              </a:rPr>
              <a:t>Conexões à Internet</a:t>
            </a:r>
            <a:endParaRPr lang="pt-BR" sz="1200">
              <a:solidFill>
                <a:schemeClr val="accent5">
                  <a:lumMod val="40000"/>
                  <a:lumOff val="60000"/>
                </a:schemeClr>
              </a:solidFill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>
                <a:latin typeface="Arial" panose="020B0604020202020204" pitchFamily="34" charset="0"/>
              </a:rPr>
              <a:t>1.5.2 – Conexões com a Internet para residências e pequenos escritórios</a:t>
            </a:r>
            <a:endParaRPr lang="pt-BR">
              <a:latin typeface="Arial" panose="020B0604020202020204" pitchFamily="34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>
                <a:solidFill>
                  <a:prstClr val="black"/>
                </a:solidFill>
              </a:rPr>
            </a:fld>
            <a:endParaRPr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1 – As redes de hoje</a:t>
            </a:r>
            <a:endParaRPr lang="pt-BR" sz="1200" kern="1200">
              <a:solidFill>
                <a:schemeClr val="tx1"/>
              </a:solidFill>
              <a:latin typeface="Arial" panose="020B0604020202020204" pitchFamily="34" charset="0"/>
              <a:ea typeface="MS PGothic" charset="0"/>
              <a:cs typeface="MS PGothic" charset="0"/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1.5 – </a:t>
            </a:r>
            <a:r>
              <a:rPr lang="pt-BR" sz="1200">
                <a:solidFill>
                  <a:schemeClr val="accent5">
                    <a:lumMod val="40000"/>
                    <a:lumOff val="60000"/>
                  </a:schemeClr>
                </a:solidFill>
              </a:rPr>
              <a:t>Conexões à Internet</a:t>
            </a:r>
            <a:endParaRPr lang="pt-BR" sz="1200">
              <a:solidFill>
                <a:schemeClr val="accent5">
                  <a:lumMod val="40000"/>
                  <a:lumOff val="60000"/>
                </a:schemeClr>
              </a:solidFill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>
                <a:latin typeface="Arial" panose="020B0604020202020204" pitchFamily="34" charset="0"/>
              </a:rPr>
              <a:t>1.5.3 – Conexões corporativas com a Internet</a:t>
            </a:r>
            <a:endParaRPr lang="pt-BR">
              <a:latin typeface="Arial" panose="020B0604020202020204" pitchFamily="34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>
                <a:solidFill>
                  <a:prstClr val="black"/>
                </a:solidFill>
              </a:rPr>
            </a:fld>
            <a:endParaRPr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1 – As redes de hoje</a:t>
            </a:r>
            <a:endParaRPr lang="pt-BR" sz="1200" kern="1200">
              <a:solidFill>
                <a:schemeClr val="tx1"/>
              </a:solidFill>
              <a:latin typeface="Arial" panose="020B0604020202020204" pitchFamily="34" charset="0"/>
              <a:ea typeface="MS PGothic" charset="0"/>
              <a:cs typeface="MS PGothic" charset="0"/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1.5 – </a:t>
            </a:r>
            <a:r>
              <a:rPr lang="pt-BR" sz="1200">
                <a:solidFill>
                  <a:schemeClr val="accent5">
                    <a:lumMod val="40000"/>
                    <a:lumOff val="60000"/>
                  </a:schemeClr>
                </a:solidFill>
              </a:rPr>
              <a:t>Conexões à Internet</a:t>
            </a:r>
            <a:endParaRPr lang="pt-BR" sz="1200">
              <a:solidFill>
                <a:schemeClr val="accent5">
                  <a:lumMod val="40000"/>
                  <a:lumOff val="60000"/>
                </a:schemeClr>
              </a:solidFill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>
                <a:latin typeface="Arial" panose="020B0604020202020204" pitchFamily="34" charset="0"/>
              </a:rPr>
              <a:t>1.5.5 - A rede convergente</a:t>
            </a:r>
            <a:endParaRPr lang="pt-BR">
              <a:latin typeface="Arial" panose="020B0604020202020204" pitchFamily="34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>
                <a:solidFill>
                  <a:prstClr val="black"/>
                </a:solidFill>
              </a:rPr>
            </a:fld>
            <a:endParaRPr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1 – As redes de hoje</a:t>
            </a:r>
            <a:endParaRPr lang="pt-BR" sz="1200" kern="1200">
              <a:solidFill>
                <a:schemeClr val="tx1"/>
              </a:solidFill>
              <a:latin typeface="Arial" panose="020B0604020202020204" pitchFamily="34" charset="0"/>
              <a:ea typeface="MS PGothic" charset="0"/>
              <a:cs typeface="MS PGothic" charset="0"/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1.5 – </a:t>
            </a:r>
            <a:r>
              <a:rPr lang="pt-BR" sz="1200">
                <a:solidFill>
                  <a:schemeClr val="accent5">
                    <a:lumMod val="40000"/>
                    <a:lumOff val="60000"/>
                  </a:schemeClr>
                </a:solidFill>
              </a:rPr>
              <a:t>Conexões à Internet</a:t>
            </a:r>
            <a:endParaRPr lang="pt-BR" sz="1200">
              <a:solidFill>
                <a:schemeClr val="accent5">
                  <a:lumMod val="40000"/>
                  <a:lumOff val="60000"/>
                </a:schemeClr>
              </a:solidFill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>
                <a:latin typeface="Arial" panose="020B0604020202020204" pitchFamily="34" charset="0"/>
              </a:rPr>
              <a:t>1.5.5 — A Rede Convergente (Cont.)</a:t>
            </a:r>
            <a:endParaRPr lang="pt-BR">
              <a:latin typeface="Arial" panose="020B0604020202020204" pitchFamily="34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>
                <a:solidFill>
                  <a:prstClr val="black"/>
                </a:solidFill>
              </a:rPr>
            </a:fld>
            <a:endParaRPr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1 – As redes de hoje</a:t>
            </a:r>
            <a:endParaRPr lang="pt-BR" sz="1200" kern="1200">
              <a:solidFill>
                <a:schemeClr val="tx1"/>
              </a:solidFill>
              <a:latin typeface="Arial" panose="020B0604020202020204" pitchFamily="34" charset="0"/>
              <a:ea typeface="MS PGothic" charset="0"/>
              <a:cs typeface="MS PGothic" charset="0"/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1.6 – </a:t>
            </a:r>
            <a:r>
              <a:rPr lang="pt-BR" sz="1200">
                <a:solidFill>
                  <a:schemeClr val="accent5">
                    <a:lumMod val="40000"/>
                    <a:lumOff val="60000"/>
                  </a:schemeClr>
                </a:solidFill>
              </a:rPr>
              <a:t>Redes confiáveis</a:t>
            </a:r>
            <a:endParaRPr lang="pt-BR" sz="1200">
              <a:solidFill>
                <a:schemeClr val="accent5">
                  <a:lumMod val="40000"/>
                  <a:lumOff val="60000"/>
                </a:schemeClr>
              </a:solidFill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>
                <a:solidFill>
                  <a:prstClr val="black"/>
                </a:solidFill>
              </a:rPr>
            </a:fld>
            <a:endParaRPr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1 – As redes de hoje</a:t>
            </a:r>
            <a:endParaRPr lang="pt-BR" sz="1200" kern="1200">
              <a:solidFill>
                <a:schemeClr val="tx1"/>
              </a:solidFill>
              <a:latin typeface="Arial" panose="020B0604020202020204" pitchFamily="34" charset="0"/>
              <a:ea typeface="MS PGothic" charset="0"/>
              <a:cs typeface="MS PGothic" charset="0"/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1.6 – </a:t>
            </a:r>
            <a:r>
              <a:rPr lang="pt-BR" sz="1200">
                <a:solidFill>
                  <a:schemeClr val="accent5">
                    <a:lumMod val="40000"/>
                    <a:lumOff val="60000"/>
                  </a:schemeClr>
                </a:solidFill>
              </a:rPr>
              <a:t>Redes confiáveis</a:t>
            </a:r>
            <a:endParaRPr lang="pt-BR" sz="1200">
              <a:solidFill>
                <a:schemeClr val="accent5">
                  <a:lumMod val="40000"/>
                  <a:lumOff val="60000"/>
                </a:schemeClr>
              </a:solidFill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>
                <a:latin typeface="Arial" panose="020B0604020202020204" pitchFamily="34" charset="0"/>
              </a:rPr>
              <a:t>1.6.1 - Arquitetura de rede</a:t>
            </a:r>
            <a:endParaRPr lang="pt-BR">
              <a:latin typeface="Arial" panose="020B0604020202020204" pitchFamily="34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>
                <a:solidFill>
                  <a:prstClr val="black"/>
                </a:solidFill>
              </a:rPr>
            </a:fld>
            <a:endParaRPr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1 – As redes de hoje</a:t>
            </a:r>
            <a:endParaRPr lang="pt-BR" sz="1200" kern="1200">
              <a:solidFill>
                <a:schemeClr val="tx1"/>
              </a:solidFill>
              <a:latin typeface="Arial" panose="020B0604020202020204" pitchFamily="34" charset="0"/>
              <a:ea typeface="MS PGothic" charset="0"/>
              <a:cs typeface="MS PGothic" charset="0"/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1.6 – </a:t>
            </a:r>
            <a:r>
              <a:rPr lang="pt-BR" sz="1200">
                <a:solidFill>
                  <a:schemeClr val="accent5">
                    <a:lumMod val="40000"/>
                    <a:lumOff val="60000"/>
                  </a:schemeClr>
                </a:solidFill>
              </a:rPr>
              <a:t>Redes confiáveis</a:t>
            </a:r>
            <a:endParaRPr lang="pt-BR" sz="1200">
              <a:solidFill>
                <a:schemeClr val="accent5">
                  <a:lumMod val="40000"/>
                  <a:lumOff val="60000"/>
                </a:schemeClr>
              </a:solidFill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>
                <a:latin typeface="Arial" panose="020B0604020202020204" pitchFamily="34" charset="0"/>
              </a:rPr>
              <a:t>1.6.2 - Tolerância</a:t>
            </a:r>
            <a:r>
              <a:rPr lang="pt-BR" baseline="0">
                <a:latin typeface="Arial" panose="020B0604020202020204" pitchFamily="34" charset="0"/>
              </a:rPr>
              <a:t> a falhas</a:t>
            </a:r>
            <a:endParaRPr lang="pt-BR" baseline="0">
              <a:latin typeface="Arial" panose="020B0604020202020204" pitchFamily="34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>
                <a:solidFill>
                  <a:prstClr val="black"/>
                </a:solidFill>
              </a:rPr>
            </a:fld>
            <a:endParaRPr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1 – As redes de hoje</a:t>
            </a:r>
            <a:endParaRPr lang="pt-BR" sz="1200" kern="1200">
              <a:solidFill>
                <a:schemeClr val="tx1"/>
              </a:solidFill>
              <a:latin typeface="Arial" panose="020B0604020202020204" pitchFamily="34" charset="0"/>
              <a:ea typeface="MS PGothic" charset="0"/>
              <a:cs typeface="MS PGothic" charset="0"/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1.6 – </a:t>
            </a:r>
            <a:r>
              <a:rPr lang="pt-BR" sz="1200">
                <a:solidFill>
                  <a:schemeClr val="accent5">
                    <a:lumMod val="40000"/>
                    <a:lumOff val="60000"/>
                  </a:schemeClr>
                </a:solidFill>
              </a:rPr>
              <a:t>Redes confiáveis</a:t>
            </a:r>
            <a:endParaRPr lang="pt-BR" sz="1200">
              <a:solidFill>
                <a:schemeClr val="accent5">
                  <a:lumMod val="40000"/>
                  <a:lumOff val="60000"/>
                </a:schemeClr>
              </a:solidFill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>
                <a:latin typeface="Arial" panose="020B0604020202020204" pitchFamily="34" charset="0"/>
              </a:rPr>
              <a:t>1.6.3 - Escalabilidade</a:t>
            </a:r>
            <a:endParaRPr lang="pt-BR">
              <a:latin typeface="Arial" panose="020B0604020202020204" pitchFamily="34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>
                <a:solidFill>
                  <a:prstClr val="black"/>
                </a:solidFill>
              </a:rPr>
            </a:fld>
            <a:endParaRPr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1 – As redes de hoje</a:t>
            </a:r>
            <a:endParaRPr lang="pt-BR" sz="1200" kern="1200">
              <a:solidFill>
                <a:schemeClr val="tx1"/>
              </a:solidFill>
              <a:latin typeface="Arial" panose="020B0604020202020204" pitchFamily="34" charset="0"/>
              <a:ea typeface="MS PGothic" charset="0"/>
              <a:cs typeface="MS PGothic" charset="0"/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1.6 – </a:t>
            </a:r>
            <a:r>
              <a:rPr lang="pt-BR" sz="1200">
                <a:solidFill>
                  <a:schemeClr val="accent5">
                    <a:lumMod val="40000"/>
                    <a:lumOff val="60000"/>
                  </a:schemeClr>
                </a:solidFill>
              </a:rPr>
              <a:t>Redes confiáveis</a:t>
            </a:r>
            <a:endParaRPr lang="pt-BR" sz="1200">
              <a:solidFill>
                <a:schemeClr val="accent5">
                  <a:lumMod val="40000"/>
                  <a:lumOff val="60000"/>
                </a:schemeClr>
              </a:solidFill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>
                <a:latin typeface="Arial" panose="020B0604020202020204" pitchFamily="34" charset="0"/>
              </a:rPr>
              <a:t>1.6.4 - Qualidade de serviço</a:t>
            </a:r>
            <a:endParaRPr lang="pt-BR">
              <a:latin typeface="Arial" panose="020B0604020202020204" pitchFamily="34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>
                <a:solidFill>
                  <a:prstClr val="black"/>
                </a:solidFill>
              </a:rPr>
            </a:fld>
            <a:endParaRPr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1 – As redes de hoje</a:t>
            </a:r>
            <a:endParaRPr lang="pt-BR" sz="1200" kern="1200">
              <a:solidFill>
                <a:schemeClr val="tx1"/>
              </a:solidFill>
              <a:latin typeface="Arial" panose="020B0604020202020204" pitchFamily="34" charset="0"/>
              <a:ea typeface="MS PGothic" charset="0"/>
              <a:cs typeface="MS PGothic" charset="0"/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1.6 – </a:t>
            </a:r>
            <a:r>
              <a:rPr lang="pt-BR" sz="1200">
                <a:solidFill>
                  <a:schemeClr val="accent5">
                    <a:lumMod val="40000"/>
                    <a:lumOff val="60000"/>
                  </a:schemeClr>
                </a:solidFill>
              </a:rPr>
              <a:t>Redes confiáveis</a:t>
            </a:r>
            <a:endParaRPr lang="pt-BR" sz="1200">
              <a:solidFill>
                <a:schemeClr val="accent5">
                  <a:lumMod val="40000"/>
                  <a:lumOff val="60000"/>
                </a:schemeClr>
              </a:solidFill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>
                <a:latin typeface="Arial" panose="020B0604020202020204" pitchFamily="34" charset="0"/>
              </a:rPr>
              <a:t>1.6.5 — Segurança de rede</a:t>
            </a:r>
            <a:endParaRPr lang="pt-BR">
              <a:latin typeface="Arial" panose="020B0604020202020204" pitchFamily="34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pt-BR" sz="1200">
                <a:effectLst/>
              </a:rPr>
              <a:t>1.6.6 — Verifique seu entendimento — Redes confiáveis</a:t>
            </a:r>
            <a:endParaRPr lang="pt-BR" sz="1200">
              <a:effectLst/>
            </a:endParaRPr>
          </a:p>
          <a:p>
            <a:pPr>
              <a:lnSpc>
                <a:spcPct val="80000"/>
              </a:lnSpc>
              <a:buFontTx/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>
                <a:solidFill>
                  <a:prstClr val="black"/>
                </a:solidFill>
              </a:rPr>
            </a:fld>
            <a:endParaRPr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1 – As redes de hoje</a:t>
            </a:r>
            <a:endParaRPr lang="pt-BR" sz="1200" kern="1200">
              <a:solidFill>
                <a:schemeClr val="tx1"/>
              </a:solidFill>
              <a:latin typeface="Arial" panose="020B0604020202020204" pitchFamily="34" charset="0"/>
              <a:ea typeface="MS PGothic" charset="0"/>
              <a:cs typeface="MS PGothic" charset="0"/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1.7 – </a:t>
            </a:r>
            <a:r>
              <a:rPr lang="pt-BR" sz="1200">
                <a:solidFill>
                  <a:schemeClr val="accent5">
                    <a:lumMod val="40000"/>
                    <a:lumOff val="60000"/>
                  </a:schemeClr>
                </a:solidFill>
              </a:rPr>
              <a:t>Tendências de rede</a:t>
            </a:r>
            <a:endParaRPr lang="pt-BR" sz="1200">
              <a:solidFill>
                <a:schemeClr val="accent5">
                  <a:lumMod val="40000"/>
                  <a:lumOff val="60000"/>
                </a:schemeClr>
              </a:solidFill>
            </a:endParaRPr>
          </a:p>
          <a:p>
            <a:pPr>
              <a:buFontTx/>
              <a:buNone/>
            </a:pPr>
            <a:endParaRPr lang="en-GB" b="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>
                <a:solidFill>
                  <a:prstClr val="black"/>
                </a:solidFill>
              </a:rPr>
            </a:fld>
            <a:endParaRPr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1 – As redes de hoje</a:t>
            </a:r>
            <a:endParaRPr lang="pt-BR" sz="1200" kern="1200">
              <a:solidFill>
                <a:schemeClr val="tx1"/>
              </a:solidFill>
              <a:latin typeface="Arial" panose="020B0604020202020204" pitchFamily="34" charset="0"/>
              <a:ea typeface="MS PGothic" charset="0"/>
              <a:cs typeface="MS PGothic" charset="0"/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1.7 – </a:t>
            </a:r>
            <a:r>
              <a:rPr lang="pt-BR" sz="1200">
                <a:solidFill>
                  <a:schemeClr val="accent5">
                    <a:lumMod val="40000"/>
                    <a:lumOff val="60000"/>
                  </a:schemeClr>
                </a:solidFill>
              </a:rPr>
              <a:t>Tendências de rede</a:t>
            </a:r>
            <a:endParaRPr lang="pt-BR" sz="1200">
              <a:solidFill>
                <a:schemeClr val="accent5">
                  <a:lumMod val="40000"/>
                  <a:lumOff val="60000"/>
                </a:schemeClr>
              </a:solidFill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>
                <a:latin typeface="Arial" panose="020B0604020202020204" pitchFamily="34" charset="0"/>
              </a:rPr>
              <a:t>1.7.1 —</a:t>
            </a:r>
            <a:r>
              <a:rPr lang="pt-BR" baseline="0">
                <a:latin typeface="Arial" panose="020B0604020202020204" pitchFamily="34" charset="0"/>
              </a:rPr>
              <a:t> Tendências</a:t>
            </a:r>
            <a:r>
              <a:rPr lang="pt-BR">
                <a:latin typeface="Arial" panose="020B0604020202020204" pitchFamily="34" charset="0"/>
              </a:rPr>
              <a:t>recentes</a:t>
            </a:r>
            <a:endParaRPr lang="pt-BR">
              <a:latin typeface="Arial" panose="020B0604020202020204" pitchFamily="34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>
                <a:solidFill>
                  <a:prstClr val="black"/>
                </a:solidFill>
              </a:rPr>
            </a:fld>
            <a:endParaRPr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1 – As redes de hoje</a:t>
            </a:r>
            <a:endParaRPr lang="pt-BR" sz="1200" kern="1200">
              <a:solidFill>
                <a:schemeClr val="tx1"/>
              </a:solidFill>
              <a:latin typeface="Arial" panose="020B0604020202020204" pitchFamily="34" charset="0"/>
              <a:ea typeface="MS PGothic" charset="0"/>
              <a:cs typeface="MS PGothic" charset="0"/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1.7 – </a:t>
            </a:r>
            <a:r>
              <a:rPr lang="pt-BR" sz="1200">
                <a:solidFill>
                  <a:schemeClr val="accent5">
                    <a:lumMod val="40000"/>
                    <a:lumOff val="60000"/>
                  </a:schemeClr>
                </a:solidFill>
              </a:rPr>
              <a:t>Tendências de rede</a:t>
            </a:r>
            <a:endParaRPr lang="pt-BR" sz="1200">
              <a:solidFill>
                <a:schemeClr val="accent5">
                  <a:lumMod val="40000"/>
                  <a:lumOff val="60000"/>
                </a:schemeClr>
              </a:solidFill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>
                <a:latin typeface="Arial" panose="020B0604020202020204" pitchFamily="34" charset="0"/>
              </a:rPr>
              <a:t>1.7.2 - Traga seu próprio dispositivo (BYOD)</a:t>
            </a:r>
            <a:endParaRPr lang="pt-BR">
              <a:latin typeface="Arial" panose="020B0604020202020204" pitchFamily="34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>
                <a:solidFill>
                  <a:prstClr val="black"/>
                </a:solidFill>
              </a:rPr>
            </a:fld>
            <a:endParaRPr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1 – As redes de hoje</a:t>
            </a:r>
            <a:endParaRPr lang="pt-BR" sz="1200" kern="1200">
              <a:solidFill>
                <a:schemeClr val="tx1"/>
              </a:solidFill>
              <a:latin typeface="Arial" panose="020B0604020202020204" pitchFamily="34" charset="0"/>
              <a:ea typeface="MS PGothic" charset="0"/>
              <a:cs typeface="MS PGothic" charset="0"/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1.7 – </a:t>
            </a:r>
            <a:r>
              <a:rPr lang="pt-BR" sz="1200">
                <a:solidFill>
                  <a:schemeClr val="accent5">
                    <a:lumMod val="40000"/>
                    <a:lumOff val="60000"/>
                  </a:schemeClr>
                </a:solidFill>
              </a:rPr>
              <a:t>Tendências de rede</a:t>
            </a:r>
            <a:endParaRPr lang="pt-BR" sz="1200">
              <a:solidFill>
                <a:schemeClr val="accent5">
                  <a:lumMod val="40000"/>
                  <a:lumOff val="60000"/>
                </a:schemeClr>
              </a:solidFill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>
                <a:latin typeface="Arial" panose="020B0604020202020204" pitchFamily="34" charset="0"/>
              </a:rPr>
              <a:t>1.7.3 – Colaboração on-line</a:t>
            </a:r>
            <a:endParaRPr lang="pt-BR">
              <a:latin typeface="Arial" panose="020B0604020202020204" pitchFamily="34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>
                <a:solidFill>
                  <a:prstClr val="black"/>
                </a:solidFill>
              </a:rPr>
            </a:fld>
            <a:endParaRPr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1 – As redes de hoje</a:t>
            </a:r>
            <a:endParaRPr lang="pt-BR" sz="1200" kern="1200">
              <a:solidFill>
                <a:schemeClr val="tx1"/>
              </a:solidFill>
              <a:latin typeface="Arial" panose="020B0604020202020204" pitchFamily="34" charset="0"/>
              <a:ea typeface="MS PGothic" charset="0"/>
              <a:cs typeface="MS PGothic" charset="0"/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1.7 – </a:t>
            </a:r>
            <a:r>
              <a:rPr lang="pt-BR" sz="1200">
                <a:solidFill>
                  <a:schemeClr val="accent5">
                    <a:lumMod val="40000"/>
                    <a:lumOff val="60000"/>
                  </a:schemeClr>
                </a:solidFill>
              </a:rPr>
              <a:t>Tendências de rede</a:t>
            </a:r>
            <a:endParaRPr lang="pt-BR" sz="1200">
              <a:solidFill>
                <a:schemeClr val="accent5">
                  <a:lumMod val="40000"/>
                  <a:lumOff val="60000"/>
                </a:schemeClr>
              </a:solidFill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>
                <a:latin typeface="Arial" panose="020B0604020202020204" pitchFamily="34" charset="0"/>
              </a:rPr>
              <a:t>1.7.4 - Comunicação por vídeo</a:t>
            </a:r>
            <a:endParaRPr lang="pt-BR">
              <a:latin typeface="Arial" panose="020B0604020202020204" pitchFamily="34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>
                <a:solidFill>
                  <a:prstClr val="black"/>
                </a:solidFill>
              </a:rPr>
            </a:fld>
            <a:endParaRPr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1 – As redes de hoje</a:t>
            </a:r>
            <a:endParaRPr lang="pt-BR" sz="1200" kern="1200">
              <a:solidFill>
                <a:schemeClr val="tx1"/>
              </a:solidFill>
              <a:latin typeface="Arial" panose="020B0604020202020204" pitchFamily="34" charset="0"/>
              <a:ea typeface="MS PGothic" charset="0"/>
              <a:cs typeface="MS PGothic" charset="0"/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1.7 – </a:t>
            </a:r>
            <a:r>
              <a:rPr lang="pt-BR" sz="1200">
                <a:solidFill>
                  <a:schemeClr val="accent5">
                    <a:lumMod val="40000"/>
                    <a:lumOff val="60000"/>
                  </a:schemeClr>
                </a:solidFill>
              </a:rPr>
              <a:t>Tendências de rede</a:t>
            </a:r>
            <a:endParaRPr lang="pt-BR" sz="1200">
              <a:solidFill>
                <a:schemeClr val="accent5">
                  <a:lumMod val="40000"/>
                  <a:lumOff val="60000"/>
                </a:schemeClr>
              </a:solidFill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>
                <a:latin typeface="Arial" panose="020B0604020202020204" pitchFamily="34" charset="0"/>
              </a:rPr>
              <a:t>1.7.6 - Computação em nuvem</a:t>
            </a:r>
            <a:endParaRPr lang="pt-BR">
              <a:latin typeface="Arial" panose="020B0604020202020204" pitchFamily="34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>
                <a:solidFill>
                  <a:prstClr val="black"/>
                </a:solidFill>
              </a:rPr>
            </a:fld>
            <a:endParaRPr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1 – As redes de hoje</a:t>
            </a:r>
            <a:endParaRPr lang="pt-BR" sz="1200" kern="1200">
              <a:solidFill>
                <a:schemeClr val="tx1"/>
              </a:solidFill>
              <a:latin typeface="Arial" panose="020B0604020202020204" pitchFamily="34" charset="0"/>
              <a:ea typeface="MS PGothic" charset="0"/>
              <a:cs typeface="MS PGothic" charset="0"/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1.7 – </a:t>
            </a:r>
            <a:r>
              <a:rPr lang="pt-BR" sz="1200">
                <a:solidFill>
                  <a:schemeClr val="accent5">
                    <a:lumMod val="40000"/>
                    <a:lumOff val="60000"/>
                  </a:schemeClr>
                </a:solidFill>
              </a:rPr>
              <a:t>Tendências de rede</a:t>
            </a:r>
            <a:endParaRPr lang="pt-BR" sz="1200">
              <a:solidFill>
                <a:schemeClr val="accent5">
                  <a:lumMod val="40000"/>
                  <a:lumOff val="60000"/>
                </a:schemeClr>
              </a:solidFill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>
                <a:latin typeface="Arial" panose="020B0604020202020204" pitchFamily="34" charset="0"/>
              </a:rPr>
              <a:t>1.7.6 — Computação em nuvem (Cont.)</a:t>
            </a:r>
            <a:endParaRPr lang="pt-BR">
              <a:latin typeface="Arial" panose="020B0604020202020204" pitchFamily="34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>
                <a:solidFill>
                  <a:prstClr val="black"/>
                </a:solidFill>
              </a:rPr>
            </a:fld>
            <a:endParaRPr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1 – As redes de hoje</a:t>
            </a:r>
            <a:endParaRPr lang="pt-BR" sz="1200" kern="1200">
              <a:solidFill>
                <a:schemeClr val="tx1"/>
              </a:solidFill>
              <a:latin typeface="Arial" panose="020B0604020202020204" pitchFamily="34" charset="0"/>
              <a:ea typeface="MS PGothic" charset="0"/>
              <a:cs typeface="MS PGothic" charset="0"/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1.7 – </a:t>
            </a:r>
            <a:r>
              <a:rPr lang="pt-BR" sz="1200">
                <a:solidFill>
                  <a:schemeClr val="accent5">
                    <a:lumMod val="40000"/>
                    <a:lumOff val="60000"/>
                  </a:schemeClr>
                </a:solidFill>
              </a:rPr>
              <a:t>Tendências de rede</a:t>
            </a:r>
            <a:endParaRPr lang="pt-BR" sz="1200">
              <a:solidFill>
                <a:schemeClr val="accent5">
                  <a:lumMod val="40000"/>
                  <a:lumOff val="60000"/>
                </a:schemeClr>
              </a:solidFill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>
                <a:latin typeface="Arial" panose="020B0604020202020204" pitchFamily="34" charset="0"/>
              </a:rPr>
              <a:t>1.7.7 - Tendências</a:t>
            </a:r>
            <a:r>
              <a:rPr lang="pt-BR" baseline="0">
                <a:latin typeface="Arial" panose="020B0604020202020204" pitchFamily="34" charset="0"/>
              </a:rPr>
              <a:t> tecnológicas em casa</a:t>
            </a:r>
            <a:endParaRPr lang="pt-BR" baseline="0">
              <a:latin typeface="Arial" panose="020B0604020202020204" pitchFamily="34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>
                <a:solidFill>
                  <a:prstClr val="black"/>
                </a:solidFill>
              </a:rPr>
            </a:fld>
            <a:endParaRPr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1 – As redes de hoje</a:t>
            </a:r>
            <a:endParaRPr lang="pt-BR" sz="1200" kern="1200">
              <a:solidFill>
                <a:schemeClr val="tx1"/>
              </a:solidFill>
              <a:latin typeface="Arial" panose="020B0604020202020204" pitchFamily="34" charset="0"/>
              <a:ea typeface="MS PGothic" charset="0"/>
              <a:cs typeface="MS PGothic" charset="0"/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1.7 – </a:t>
            </a:r>
            <a:r>
              <a:rPr lang="pt-BR" sz="1200">
                <a:solidFill>
                  <a:schemeClr val="accent5">
                    <a:lumMod val="40000"/>
                    <a:lumOff val="60000"/>
                  </a:schemeClr>
                </a:solidFill>
              </a:rPr>
              <a:t>Tendências de rede</a:t>
            </a:r>
            <a:endParaRPr lang="pt-BR" sz="1200">
              <a:solidFill>
                <a:schemeClr val="accent5">
                  <a:lumMod val="40000"/>
                  <a:lumOff val="60000"/>
                </a:schemeClr>
              </a:solidFill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>
                <a:latin typeface="Arial" panose="020B0604020202020204" pitchFamily="34" charset="0"/>
              </a:rPr>
              <a:t>1.7.8 – Rede powerline</a:t>
            </a:r>
            <a:endParaRPr lang="pt-BR"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>
                <a:solidFill>
                  <a:prstClr val="black"/>
                </a:solidFill>
              </a:rPr>
            </a:fld>
            <a:endParaRPr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1 – As redes de hoje</a:t>
            </a:r>
            <a:endParaRPr lang="pt-BR" sz="1200" kern="1200">
              <a:solidFill>
                <a:schemeClr val="tx1"/>
              </a:solidFill>
              <a:latin typeface="Arial" panose="020B0604020202020204" pitchFamily="34" charset="0"/>
              <a:ea typeface="MS PGothic" charset="0"/>
              <a:cs typeface="MS PGothic" charset="0"/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1.7 – </a:t>
            </a:r>
            <a:r>
              <a:rPr lang="pt-BR" sz="1200">
                <a:solidFill>
                  <a:schemeClr val="accent5">
                    <a:lumMod val="40000"/>
                    <a:lumOff val="60000"/>
                  </a:schemeClr>
                </a:solidFill>
              </a:rPr>
              <a:t>Tendências de rede</a:t>
            </a:r>
            <a:endParaRPr lang="pt-BR" sz="1200">
              <a:solidFill>
                <a:schemeClr val="accent5">
                  <a:lumMod val="40000"/>
                  <a:lumOff val="60000"/>
                </a:schemeClr>
              </a:solidFill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>
                <a:latin typeface="Arial" panose="020B0604020202020204" pitchFamily="34" charset="0"/>
              </a:rPr>
              <a:t>1.7.9 – Banda larga sem fio</a:t>
            </a:r>
            <a:endParaRPr lang="pt-BR">
              <a:latin typeface="Arial" panose="020B0604020202020204" pitchFamily="34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pt-BR" sz="1200">
                <a:effectLst/>
              </a:rPr>
              <a:t>1.7.10 — Verifique seu entendimento — Tendências de rede</a:t>
            </a:r>
            <a:endParaRPr lang="pt-BR" sz="1200">
              <a:effectLst/>
            </a:endParaRPr>
          </a:p>
          <a:p>
            <a:pPr>
              <a:lnSpc>
                <a:spcPct val="80000"/>
              </a:lnSpc>
              <a:buFontTx/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>
                <a:solidFill>
                  <a:prstClr val="black"/>
                </a:solidFill>
              </a:rPr>
            </a:fld>
            <a:endParaRPr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1 – As redes de hoje</a:t>
            </a:r>
            <a:endParaRPr lang="pt-BR" sz="1200" kern="1200">
              <a:solidFill>
                <a:schemeClr val="tx1"/>
              </a:solidFill>
              <a:latin typeface="Arial" panose="020B0604020202020204" pitchFamily="34" charset="0"/>
              <a:ea typeface="MS PGothic" charset="0"/>
              <a:cs typeface="MS PGothic" charset="0"/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1.8 – </a:t>
            </a:r>
            <a:r>
              <a:rPr lang="pt-BR" sz="1200">
                <a:solidFill>
                  <a:schemeClr val="accent5">
                    <a:lumMod val="40000"/>
                    <a:lumOff val="60000"/>
                  </a:schemeClr>
                </a:solidFill>
              </a:rPr>
              <a:t>Segurança de rede</a:t>
            </a:r>
            <a:endParaRPr lang="pt-BR" sz="1200">
              <a:solidFill>
                <a:schemeClr val="accent5">
                  <a:lumMod val="40000"/>
                  <a:lumOff val="60000"/>
                </a:schemeClr>
              </a:solidFill>
            </a:endParaRPr>
          </a:p>
          <a:p>
            <a:pPr>
              <a:buFontTx/>
              <a:buNone/>
            </a:pPr>
            <a:endParaRPr lang="en-GB" b="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>
                <a:solidFill>
                  <a:prstClr val="black"/>
                </a:solidFill>
              </a:rPr>
            </a:fld>
            <a:endParaRPr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1 – As redes de hoje</a:t>
            </a:r>
            <a:endParaRPr lang="pt-BR" sz="1200" kern="1200">
              <a:solidFill>
                <a:schemeClr val="tx1"/>
              </a:solidFill>
              <a:latin typeface="Arial" panose="020B0604020202020204" pitchFamily="34" charset="0"/>
              <a:ea typeface="MS PGothic" charset="0"/>
              <a:cs typeface="MS PGothic" charset="0"/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1.8 – </a:t>
            </a:r>
            <a:r>
              <a:rPr lang="pt-BR" sz="1200">
                <a:solidFill>
                  <a:schemeClr val="accent5">
                    <a:lumMod val="40000"/>
                    <a:lumOff val="60000"/>
                  </a:schemeClr>
                </a:solidFill>
              </a:rPr>
              <a:t>Segurança de rede</a:t>
            </a:r>
            <a:endParaRPr lang="pt-BR" sz="1200">
              <a:solidFill>
                <a:schemeClr val="accent5">
                  <a:lumMod val="40000"/>
                  <a:lumOff val="60000"/>
                </a:schemeClr>
              </a:solidFill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>
                <a:latin typeface="Arial" panose="020B0604020202020204" pitchFamily="34" charset="0"/>
              </a:rPr>
              <a:t>1.8.1 - Ameaças</a:t>
            </a:r>
            <a:r>
              <a:rPr lang="pt-BR" baseline="0">
                <a:latin typeface="Arial" panose="020B0604020202020204" pitchFamily="34" charset="0"/>
              </a:rPr>
              <a:t> à segurança</a:t>
            </a:r>
            <a:endParaRPr lang="pt-BR" baseline="0"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>
                <a:solidFill>
                  <a:prstClr val="black"/>
                </a:solidFill>
              </a:rPr>
            </a:fld>
            <a:endParaRPr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1 – As redes de hoje</a:t>
            </a:r>
            <a:endParaRPr lang="pt-BR" sz="1200" kern="1200">
              <a:solidFill>
                <a:schemeClr val="tx1"/>
              </a:solidFill>
              <a:latin typeface="Arial" panose="020B0604020202020204" pitchFamily="34" charset="0"/>
              <a:ea typeface="MS PGothic" charset="0"/>
              <a:cs typeface="MS PGothic" charset="0"/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1.8 – </a:t>
            </a:r>
            <a:r>
              <a:rPr lang="pt-BR" sz="1200">
                <a:solidFill>
                  <a:schemeClr val="accent5">
                    <a:lumMod val="40000"/>
                    <a:lumOff val="60000"/>
                  </a:schemeClr>
                </a:solidFill>
              </a:rPr>
              <a:t>Segurança de rede</a:t>
            </a:r>
            <a:endParaRPr lang="pt-BR" sz="1200">
              <a:solidFill>
                <a:schemeClr val="accent5">
                  <a:lumMod val="40000"/>
                  <a:lumOff val="60000"/>
                </a:schemeClr>
              </a:solidFill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>
                <a:latin typeface="Arial" panose="020B0604020202020204" pitchFamily="34" charset="0"/>
              </a:rPr>
              <a:t>1.8.1 – Ameaças</a:t>
            </a:r>
            <a:r>
              <a:rPr lang="pt-BR" baseline="0">
                <a:latin typeface="Arial" panose="020B0604020202020204" pitchFamily="34" charset="0"/>
              </a:rPr>
              <a:t> à segurança (Cont.)</a:t>
            </a:r>
            <a:endParaRPr lang="pt-BR" baseline="0"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>
                <a:solidFill>
                  <a:prstClr val="black"/>
                </a:solidFill>
              </a:rPr>
            </a:fld>
            <a:endParaRPr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1 – As redes de hoje</a:t>
            </a:r>
            <a:endParaRPr lang="pt-BR" sz="1200" kern="1200">
              <a:solidFill>
                <a:schemeClr val="tx1"/>
              </a:solidFill>
              <a:latin typeface="Arial" panose="020B0604020202020204" pitchFamily="34" charset="0"/>
              <a:ea typeface="MS PGothic" charset="0"/>
              <a:cs typeface="MS PGothic" charset="0"/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1.8 – </a:t>
            </a:r>
            <a:r>
              <a:rPr lang="pt-BR" sz="1200">
                <a:solidFill>
                  <a:schemeClr val="accent5">
                    <a:lumMod val="40000"/>
                    <a:lumOff val="60000"/>
                  </a:schemeClr>
                </a:solidFill>
              </a:rPr>
              <a:t>Segurança de rede</a:t>
            </a:r>
            <a:endParaRPr lang="pt-BR" sz="1200">
              <a:solidFill>
                <a:schemeClr val="accent5">
                  <a:lumMod val="40000"/>
                  <a:lumOff val="60000"/>
                </a:schemeClr>
              </a:solidFill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>
                <a:latin typeface="Arial" panose="020B0604020202020204" pitchFamily="34" charset="0"/>
              </a:rPr>
              <a:t>1.8.2 - Soluções</a:t>
            </a:r>
            <a:r>
              <a:rPr lang="pt-BR" baseline="0">
                <a:latin typeface="Arial" panose="020B0604020202020204" pitchFamily="34" charset="0"/>
              </a:rPr>
              <a:t> de segurança</a:t>
            </a:r>
            <a:endParaRPr lang="pt-BR" baseline="0"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>
                <a:solidFill>
                  <a:prstClr val="black"/>
                </a:solidFill>
              </a:rPr>
            </a:fld>
            <a:endParaRPr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1 – As redes de hoje</a:t>
            </a:r>
            <a:endParaRPr lang="pt-BR" sz="1200" kern="1200">
              <a:solidFill>
                <a:schemeClr val="tx1"/>
              </a:solidFill>
              <a:latin typeface="Arial" panose="020B0604020202020204" pitchFamily="34" charset="0"/>
              <a:ea typeface="MS PGothic" charset="0"/>
              <a:cs typeface="MS PGothic" charset="0"/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1.8 – </a:t>
            </a:r>
            <a:r>
              <a:rPr lang="pt-BR" sz="1200">
                <a:solidFill>
                  <a:schemeClr val="accent5">
                    <a:lumMod val="40000"/>
                    <a:lumOff val="60000"/>
                  </a:schemeClr>
                </a:solidFill>
              </a:rPr>
              <a:t>Segurança de rede</a:t>
            </a:r>
            <a:endParaRPr lang="pt-BR" sz="1200">
              <a:solidFill>
                <a:schemeClr val="accent5">
                  <a:lumMod val="40000"/>
                  <a:lumOff val="60000"/>
                </a:schemeClr>
              </a:solidFill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>
                <a:latin typeface="Arial" panose="020B0604020202020204" pitchFamily="34" charset="0"/>
              </a:rPr>
              <a:t>1.8.2 - </a:t>
            </a:r>
            <a:r>
              <a:rPr lang="pt-BR" baseline="0">
                <a:latin typeface="Arial" panose="020B0604020202020204" pitchFamily="34" charset="0"/>
              </a:rPr>
              <a:t> Soluções de segurança (Cont.) </a:t>
            </a:r>
            <a:endParaRPr lang="pt-BR" baseline="0">
              <a:latin typeface="Arial" panose="020B0604020202020204" pitchFamily="34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pt-BR" sz="1200">
                <a:effectLst/>
              </a:rPr>
              <a:t>1.8.3 - Verifique sua compreensão - Segurança de rede</a:t>
            </a:r>
            <a:endParaRPr lang="pt-BR" sz="1200">
              <a:effectLst/>
            </a:endParaRPr>
          </a:p>
          <a:p>
            <a:pPr>
              <a:lnSpc>
                <a:spcPct val="80000"/>
              </a:lnSpc>
              <a:buFontTx/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>
                <a:solidFill>
                  <a:prstClr val="black"/>
                </a:solidFill>
              </a:rPr>
            </a:fld>
            <a:endParaRPr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1 – As redes de hoje</a:t>
            </a:r>
            <a:endParaRPr lang="pt-BR" sz="1200" kern="1200">
              <a:solidFill>
                <a:schemeClr val="tx1"/>
              </a:solidFill>
              <a:latin typeface="Arial" panose="020B0604020202020204" pitchFamily="34" charset="0"/>
              <a:ea typeface="MS PGothic" charset="0"/>
              <a:cs typeface="MS PGothic" charset="0"/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1.9 - </a:t>
            </a:r>
            <a:r>
              <a:rPr lang="pt-BR" sz="1200">
                <a:solidFill>
                  <a:schemeClr val="accent5">
                    <a:lumMod val="40000"/>
                    <a:lumOff val="60000"/>
                  </a:schemeClr>
                </a:solidFill>
              </a:rPr>
              <a:t>O profissional de TI</a:t>
            </a:r>
            <a:endParaRPr lang="pt-BR" sz="1200">
              <a:solidFill>
                <a:schemeClr val="accent5">
                  <a:lumMod val="40000"/>
                  <a:lumOff val="60000"/>
                </a:schemeClr>
              </a:solidFill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>
                <a:solidFill>
                  <a:prstClr val="black"/>
                </a:solidFill>
              </a:rPr>
            </a:fld>
            <a:endParaRPr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1 – As redes de hoje</a:t>
            </a:r>
            <a:endParaRPr lang="pt-BR" sz="1200" kern="1200">
              <a:solidFill>
                <a:schemeClr val="tx1"/>
              </a:solidFill>
              <a:latin typeface="Arial" panose="020B0604020202020204" pitchFamily="34" charset="0"/>
              <a:ea typeface="MS PGothic" charset="0"/>
              <a:cs typeface="MS PGothic" charset="0"/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1.9 - </a:t>
            </a:r>
            <a:r>
              <a:rPr lang="pt-BR" sz="1200">
                <a:solidFill>
                  <a:schemeClr val="accent5">
                    <a:lumMod val="40000"/>
                    <a:lumOff val="60000"/>
                  </a:schemeClr>
                </a:solidFill>
              </a:rPr>
              <a:t>O profissional de TI</a:t>
            </a:r>
            <a:endParaRPr lang="pt-BR" sz="1200">
              <a:solidFill>
                <a:schemeClr val="accent5">
                  <a:lumMod val="40000"/>
                  <a:lumOff val="60000"/>
                </a:schemeClr>
              </a:solidFill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 baseline="0">
                <a:latin typeface="Arial" panose="020B0604020202020204" pitchFamily="34" charset="0"/>
              </a:rPr>
              <a:t>1.9.1 - CCNA</a:t>
            </a:r>
            <a:endParaRPr lang="pt-BR" baseline="0">
              <a:latin typeface="Arial" panose="020B0604020202020204" pitchFamily="34" charset="0"/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 baseline="0">
                <a:latin typeface="Arial" panose="020B0604020202020204" pitchFamily="34" charset="0"/>
              </a:rPr>
              <a:t>Diagrama de https://newsroom.cisco.com/press-release-content?type=webcontent&amp;articleId=1993077</a:t>
            </a:r>
            <a:endParaRPr lang="pt-BR" baseline="0">
              <a:latin typeface="Arial" panose="020B0604020202020204" pitchFamily="34" charset="0"/>
            </a:endParaRPr>
          </a:p>
          <a:p>
            <a:pPr>
              <a:lnSpc>
                <a:spcPct val="80000"/>
              </a:lnSpc>
              <a:buFontTx/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>
                <a:solidFill>
                  <a:prstClr val="black"/>
                </a:solidFill>
              </a:rPr>
            </a:fld>
            <a:endParaRPr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1 – As redes de hoje</a:t>
            </a:r>
            <a:endParaRPr lang="pt-BR" sz="1200" kern="1200">
              <a:solidFill>
                <a:schemeClr val="tx1"/>
              </a:solidFill>
              <a:latin typeface="Arial" panose="020B0604020202020204" pitchFamily="34" charset="0"/>
              <a:ea typeface="MS PGothic" charset="0"/>
              <a:cs typeface="MS PGothic" charset="0"/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1.9 - </a:t>
            </a:r>
            <a:r>
              <a:rPr lang="pt-BR" sz="1200">
                <a:solidFill>
                  <a:schemeClr val="accent5">
                    <a:lumMod val="40000"/>
                    <a:lumOff val="60000"/>
                  </a:schemeClr>
                </a:solidFill>
              </a:rPr>
              <a:t>O profissional de TI</a:t>
            </a:r>
            <a:endParaRPr lang="pt-BR" sz="1200">
              <a:solidFill>
                <a:schemeClr val="accent5">
                  <a:lumMod val="40000"/>
                  <a:lumOff val="60000"/>
                </a:schemeClr>
              </a:solidFill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 baseline="0">
                <a:latin typeface="Arial" panose="020B0604020202020204" pitchFamily="34" charset="0"/>
              </a:rPr>
              <a:t>1.9.2 — </a:t>
            </a:r>
            <a:r>
              <a:rPr lang="pt-BR"/>
              <a:t>Trabalhos em rede</a:t>
            </a:r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>
                <a:solidFill>
                  <a:prstClr val="black"/>
                </a:solidFill>
              </a:rPr>
            </a:fld>
            <a:endParaRPr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>
  <p:cSld name="3_Title Slide-animated gradient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6" name="Subtitle 2"/>
          <p:cNvSpPr>
            <a:spLocks noGrp="1"/>
          </p:cNvSpPr>
          <p:nvPr>
            <p:ph type="subTitle" idx="1"/>
          </p:nvPr>
        </p:nvSpPr>
        <p:spPr>
          <a:xfrm>
            <a:off x="469496" y="3809526"/>
            <a:ext cx="4319105" cy="288131"/>
          </a:xfrm>
          <a:prstGeom prst="rect">
            <a:avLst/>
          </a:prstGeom>
        </p:spPr>
        <p:txBody>
          <a:bodyPr lIns="91420" tIns="45710" rIns="91420" bIns="45710" anchor="b" anchorCtr="0">
            <a:noAutofit/>
          </a:bodyPr>
          <a:lstStyle>
            <a:lvl1pPr marL="0" indent="0" algn="l">
              <a:buNone/>
              <a:defRPr sz="1200" b="0" i="0">
                <a:solidFill>
                  <a:schemeClr val="accent5"/>
                </a:solidFill>
                <a:latin typeface="+mn-lt"/>
                <a:cs typeface="CiscoSans"/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25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  <a:endParaRPr lang="en-US" dirty="0"/>
          </a:p>
        </p:txBody>
      </p:sp>
      <p:sp>
        <p:nvSpPr>
          <p:cNvPr id="17" name="Text Placeholder 38"/>
          <p:cNvSpPr>
            <a:spLocks noGrp="1"/>
          </p:cNvSpPr>
          <p:nvPr>
            <p:ph type="body" sz="quarter" idx="11"/>
          </p:nvPr>
        </p:nvSpPr>
        <p:spPr>
          <a:xfrm>
            <a:off x="469496" y="4049523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5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8" name="Text Placeholder 40"/>
          <p:cNvSpPr>
            <a:spLocks noGrp="1"/>
          </p:cNvSpPr>
          <p:nvPr>
            <p:ph type="body" sz="quarter" idx="12"/>
          </p:nvPr>
        </p:nvSpPr>
        <p:spPr>
          <a:xfrm>
            <a:off x="469496" y="4289520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5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9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463292" y="2872236"/>
            <a:ext cx="5925246" cy="29900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>
              <a:buFont typeface="Arial" panose="020B0604020202020204" pitchFamily="34" charset="0"/>
              <a:buNone/>
              <a:defRPr sz="2000" baseline="0">
                <a:solidFill>
                  <a:schemeClr val="bg2"/>
                </a:solidFill>
                <a:latin typeface="+mj-lt"/>
              </a:defRPr>
            </a:lvl1pPr>
            <a:lvl2pPr marL="304800" indent="0">
              <a:buNone/>
              <a:defRPr/>
            </a:lvl2pPr>
            <a:lvl3pPr marL="427355" indent="0">
              <a:buNone/>
              <a:defRPr/>
            </a:lvl3pPr>
            <a:lvl4pPr marL="516890" indent="0">
              <a:buNone/>
              <a:defRPr/>
            </a:lvl4pPr>
            <a:lvl5pPr marL="601345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20" name="Title 1"/>
          <p:cNvSpPr>
            <a:spLocks noGrp="1"/>
          </p:cNvSpPr>
          <p:nvPr>
            <p:ph type="ctrTitle"/>
          </p:nvPr>
        </p:nvSpPr>
        <p:spPr>
          <a:xfrm>
            <a:off x="425765" y="2300750"/>
            <a:ext cx="5955513" cy="644730"/>
          </a:xfrm>
          <a:prstGeom prst="rect">
            <a:avLst/>
          </a:prstGeom>
        </p:spPr>
        <p:txBody>
          <a:bodyPr anchor="b"/>
          <a:lstStyle>
            <a:lvl1pPr marL="0" indent="0" algn="l">
              <a:lnSpc>
                <a:spcPct val="90000"/>
              </a:lnSpc>
              <a:buFont typeface="Arial" panose="020B0604020202020204" pitchFamily="34" charset="0"/>
              <a:buNone/>
              <a:defRPr sz="3600" b="0" i="0" spc="0" baseline="0">
                <a:solidFill>
                  <a:srgbClr val="38C6F4"/>
                </a:solidFill>
                <a:latin typeface="+mj-lt"/>
                <a:cs typeface="CiscoSans Thin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grpSp>
        <p:nvGrpSpPr>
          <p:cNvPr id="6" name="Group 4"/>
          <p:cNvGrpSpPr>
            <a:grpSpLocks noChangeAspect="1"/>
          </p:cNvGrpSpPr>
          <p:nvPr userDrawn="1"/>
        </p:nvGrpSpPr>
        <p:grpSpPr bwMode="auto">
          <a:xfrm>
            <a:off x="492125" y="395288"/>
            <a:ext cx="796924" cy="423863"/>
            <a:chOff x="310" y="249"/>
            <a:chExt cx="502" cy="267"/>
          </a:xfrm>
          <a:solidFill>
            <a:schemeClr val="accent5"/>
          </a:solidFill>
        </p:grpSpPr>
        <p:sp>
          <p:nvSpPr>
            <p:cNvPr id="9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0" name="Freeform 6"/>
            <p:cNvSpPr/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2" name="Freeform 7"/>
            <p:cNvSpPr/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3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4" name="Freeform 9"/>
            <p:cNvSpPr/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5" name="Freeform 10"/>
            <p:cNvSpPr/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1" name="Freeform 11"/>
            <p:cNvSpPr/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2" name="Freeform 12"/>
            <p:cNvSpPr/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3" name="Freeform 13"/>
            <p:cNvSpPr/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4" name="Freeform 14"/>
            <p:cNvSpPr/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5" name="Freeform 15"/>
            <p:cNvSpPr/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6" name="Freeform 16"/>
            <p:cNvSpPr/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7" name="Freeform 17"/>
            <p:cNvSpPr/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8" name="Freeform 18"/>
            <p:cNvSpPr/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</p:grpSp>
    </p:spTree>
  </p:cSld>
  <p:clrMapOvr>
    <a:masterClrMapping/>
  </p:clrMapOvr>
  <p:transition spd="slow">
    <p:wip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5_Title Slide-animated gradient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ubtitle 2"/>
          <p:cNvSpPr>
            <a:spLocks noGrp="1"/>
          </p:cNvSpPr>
          <p:nvPr>
            <p:ph type="subTitle" idx="1"/>
          </p:nvPr>
        </p:nvSpPr>
        <p:spPr>
          <a:xfrm>
            <a:off x="469496" y="3809526"/>
            <a:ext cx="4319105" cy="288131"/>
          </a:xfrm>
          <a:prstGeom prst="rect">
            <a:avLst/>
          </a:prstGeom>
        </p:spPr>
        <p:txBody>
          <a:bodyPr lIns="91420" tIns="45710" rIns="91420" bIns="45710" anchor="b" anchorCtr="0">
            <a:noAutofit/>
          </a:bodyPr>
          <a:lstStyle>
            <a:lvl1pPr marL="0" indent="0" algn="l">
              <a:buNone/>
              <a:defRPr sz="1200" b="0" i="0">
                <a:solidFill>
                  <a:schemeClr val="accent1"/>
                </a:solidFill>
                <a:latin typeface="+mn-lt"/>
                <a:cs typeface="CiscoSans"/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25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  <a:endParaRPr lang="en-US" dirty="0"/>
          </a:p>
        </p:txBody>
      </p:sp>
      <p:sp>
        <p:nvSpPr>
          <p:cNvPr id="17" name="Text Placeholder 38"/>
          <p:cNvSpPr>
            <a:spLocks noGrp="1"/>
          </p:cNvSpPr>
          <p:nvPr>
            <p:ph type="body" sz="quarter" idx="11"/>
          </p:nvPr>
        </p:nvSpPr>
        <p:spPr>
          <a:xfrm>
            <a:off x="469496" y="4049523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1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8" name="Text Placeholder 40"/>
          <p:cNvSpPr>
            <a:spLocks noGrp="1"/>
          </p:cNvSpPr>
          <p:nvPr>
            <p:ph type="body" sz="quarter" idx="12"/>
          </p:nvPr>
        </p:nvSpPr>
        <p:spPr>
          <a:xfrm>
            <a:off x="469496" y="4289520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1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grpSp>
        <p:nvGrpSpPr>
          <p:cNvPr id="6" name="Group 4"/>
          <p:cNvGrpSpPr>
            <a:grpSpLocks noChangeAspect="1"/>
          </p:cNvGrpSpPr>
          <p:nvPr userDrawn="1"/>
        </p:nvGrpSpPr>
        <p:grpSpPr bwMode="auto">
          <a:xfrm>
            <a:off x="492125" y="395288"/>
            <a:ext cx="796924" cy="423863"/>
            <a:chOff x="310" y="249"/>
            <a:chExt cx="502" cy="267"/>
          </a:xfrm>
          <a:solidFill>
            <a:srgbClr val="004C69"/>
          </a:solidFill>
        </p:grpSpPr>
        <p:sp>
          <p:nvSpPr>
            <p:cNvPr id="9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0" name="Freeform 6"/>
            <p:cNvSpPr/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2" name="Freeform 7"/>
            <p:cNvSpPr/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3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4" name="Freeform 9"/>
            <p:cNvSpPr/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5" name="Freeform 10"/>
            <p:cNvSpPr/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1" name="Freeform 11"/>
            <p:cNvSpPr/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2" name="Freeform 12"/>
            <p:cNvSpPr/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3" name="Freeform 13"/>
            <p:cNvSpPr/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4" name="Freeform 14"/>
            <p:cNvSpPr/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5" name="Freeform 15"/>
            <p:cNvSpPr/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6" name="Freeform 16"/>
            <p:cNvSpPr/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7" name="Freeform 17"/>
            <p:cNvSpPr/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8" name="Freeform 18"/>
            <p:cNvSpPr/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</p:grpSp>
      <p:sp>
        <p:nvSpPr>
          <p:cNvPr id="29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463292" y="2872236"/>
            <a:ext cx="5925246" cy="29900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>
              <a:buFont typeface="Arial" panose="020B0604020202020204" pitchFamily="34" charset="0"/>
              <a:buNone/>
              <a:defRPr sz="2000" baseline="0">
                <a:solidFill>
                  <a:schemeClr val="accent1"/>
                </a:solidFill>
                <a:latin typeface="+mj-lt"/>
              </a:defRPr>
            </a:lvl1pPr>
            <a:lvl2pPr marL="304800" indent="0">
              <a:buNone/>
              <a:defRPr/>
            </a:lvl2pPr>
            <a:lvl3pPr marL="427355" indent="0">
              <a:buNone/>
              <a:defRPr/>
            </a:lvl3pPr>
            <a:lvl4pPr marL="516890" indent="0">
              <a:buNone/>
              <a:defRPr/>
            </a:lvl4pPr>
            <a:lvl5pPr marL="601345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30" name="Title 1"/>
          <p:cNvSpPr>
            <a:spLocks noGrp="1"/>
          </p:cNvSpPr>
          <p:nvPr>
            <p:ph type="ctrTitle"/>
          </p:nvPr>
        </p:nvSpPr>
        <p:spPr>
          <a:xfrm>
            <a:off x="425765" y="2300750"/>
            <a:ext cx="5955513" cy="644730"/>
          </a:xfrm>
          <a:prstGeom prst="rect">
            <a:avLst/>
          </a:prstGeom>
        </p:spPr>
        <p:txBody>
          <a:bodyPr anchor="b"/>
          <a:lstStyle>
            <a:lvl1pPr marL="0" indent="0" algn="l">
              <a:lnSpc>
                <a:spcPct val="90000"/>
              </a:lnSpc>
              <a:buFont typeface="Arial" panose="020B0604020202020204" pitchFamily="34" charset="0"/>
              <a:buNone/>
              <a:defRPr sz="3600" b="0" i="0" spc="0" baseline="0">
                <a:solidFill>
                  <a:schemeClr val="accent1"/>
                </a:solidFill>
                <a:latin typeface="+mj-lt"/>
                <a:cs typeface="CiscoSans Thin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</p:spTree>
  </p:cSld>
  <p:clrMapOvr>
    <a:masterClrMapping/>
  </p:clrMapOvr>
  <p:transition spd="slow">
    <p:wip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6_Title Slide-animated gradient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Subtitle 2"/>
          <p:cNvSpPr>
            <a:spLocks noGrp="1"/>
          </p:cNvSpPr>
          <p:nvPr>
            <p:ph type="subTitle" idx="1"/>
          </p:nvPr>
        </p:nvSpPr>
        <p:spPr>
          <a:xfrm>
            <a:off x="469496" y="3809526"/>
            <a:ext cx="4319105" cy="288131"/>
          </a:xfrm>
          <a:prstGeom prst="rect">
            <a:avLst/>
          </a:prstGeom>
        </p:spPr>
        <p:txBody>
          <a:bodyPr lIns="91420" tIns="45710" rIns="91420" bIns="45710" anchor="b" anchorCtr="0">
            <a:noAutofit/>
          </a:bodyPr>
          <a:lstStyle>
            <a:lvl1pPr marL="0" indent="0" algn="l">
              <a:buNone/>
              <a:defRPr sz="1200" b="0" i="0">
                <a:solidFill>
                  <a:schemeClr val="accent5"/>
                </a:solidFill>
                <a:latin typeface="+mn-lt"/>
                <a:cs typeface="CiscoSans"/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25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  <a:endParaRPr lang="en-US" dirty="0"/>
          </a:p>
        </p:txBody>
      </p:sp>
      <p:sp>
        <p:nvSpPr>
          <p:cNvPr id="17" name="Text Placeholder 38"/>
          <p:cNvSpPr>
            <a:spLocks noGrp="1"/>
          </p:cNvSpPr>
          <p:nvPr>
            <p:ph type="body" sz="quarter" idx="11"/>
          </p:nvPr>
        </p:nvSpPr>
        <p:spPr>
          <a:xfrm>
            <a:off x="469496" y="4049523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5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8" name="Text Placeholder 40"/>
          <p:cNvSpPr>
            <a:spLocks noGrp="1"/>
          </p:cNvSpPr>
          <p:nvPr>
            <p:ph type="body" sz="quarter" idx="12"/>
          </p:nvPr>
        </p:nvSpPr>
        <p:spPr>
          <a:xfrm>
            <a:off x="469496" y="4289520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5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grpSp>
        <p:nvGrpSpPr>
          <p:cNvPr id="6" name="Group 4"/>
          <p:cNvGrpSpPr>
            <a:grpSpLocks noChangeAspect="1"/>
          </p:cNvGrpSpPr>
          <p:nvPr userDrawn="1"/>
        </p:nvGrpSpPr>
        <p:grpSpPr bwMode="auto">
          <a:xfrm>
            <a:off x="492125" y="395288"/>
            <a:ext cx="796924" cy="423863"/>
            <a:chOff x="310" y="249"/>
            <a:chExt cx="502" cy="267"/>
          </a:xfrm>
          <a:solidFill>
            <a:schemeClr val="accent5"/>
          </a:solidFill>
        </p:grpSpPr>
        <p:sp>
          <p:nvSpPr>
            <p:cNvPr id="9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0" name="Freeform 6"/>
            <p:cNvSpPr/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2" name="Freeform 7"/>
            <p:cNvSpPr/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3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4" name="Freeform 9"/>
            <p:cNvSpPr/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5" name="Freeform 10"/>
            <p:cNvSpPr/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1" name="Freeform 11"/>
            <p:cNvSpPr/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2" name="Freeform 12"/>
            <p:cNvSpPr/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3" name="Freeform 13"/>
            <p:cNvSpPr/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4" name="Freeform 14"/>
            <p:cNvSpPr/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5" name="Freeform 15"/>
            <p:cNvSpPr/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6" name="Freeform 16"/>
            <p:cNvSpPr/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7" name="Freeform 17"/>
            <p:cNvSpPr/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8" name="Freeform 18"/>
            <p:cNvSpPr/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</p:grpSp>
      <p:sp>
        <p:nvSpPr>
          <p:cNvPr id="29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463292" y="2872236"/>
            <a:ext cx="5925246" cy="29900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>
              <a:buFont typeface="Arial" panose="020B0604020202020204" pitchFamily="34" charset="0"/>
              <a:buNone/>
              <a:defRPr sz="2000" baseline="0">
                <a:solidFill>
                  <a:schemeClr val="bg2"/>
                </a:solidFill>
                <a:latin typeface="+mj-lt"/>
              </a:defRPr>
            </a:lvl1pPr>
            <a:lvl2pPr marL="304800" indent="0">
              <a:buNone/>
              <a:defRPr/>
            </a:lvl2pPr>
            <a:lvl3pPr marL="427355" indent="0">
              <a:buNone/>
              <a:defRPr/>
            </a:lvl3pPr>
            <a:lvl4pPr marL="516890" indent="0">
              <a:buNone/>
              <a:defRPr/>
            </a:lvl4pPr>
            <a:lvl5pPr marL="601345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30" name="Title 1"/>
          <p:cNvSpPr>
            <a:spLocks noGrp="1"/>
          </p:cNvSpPr>
          <p:nvPr>
            <p:ph type="ctrTitle"/>
          </p:nvPr>
        </p:nvSpPr>
        <p:spPr>
          <a:xfrm>
            <a:off x="425765" y="2300750"/>
            <a:ext cx="5955513" cy="644730"/>
          </a:xfrm>
          <a:prstGeom prst="rect">
            <a:avLst/>
          </a:prstGeom>
        </p:spPr>
        <p:txBody>
          <a:bodyPr anchor="b"/>
          <a:lstStyle>
            <a:lvl1pPr marL="0" indent="0" algn="l">
              <a:lnSpc>
                <a:spcPct val="90000"/>
              </a:lnSpc>
              <a:buFont typeface="Arial" panose="020B0604020202020204" pitchFamily="34" charset="0"/>
              <a:buNone/>
              <a:defRPr sz="3600" b="0" i="0" spc="0" baseline="0">
                <a:solidFill>
                  <a:srgbClr val="38C6F4"/>
                </a:solidFill>
                <a:latin typeface="+mj-lt"/>
                <a:cs typeface="CiscoSans Thin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</p:spTree>
  </p:cSld>
  <p:clrMapOvr>
    <a:masterClrMapping/>
  </p:clrMapOvr>
  <p:transition spd="slow">
    <p:wip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>
  <p:cSld name="3_Segu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0"/>
            <a:ext cx="9144000" cy="5143499"/>
          </a:xfrm>
          <a:prstGeom prst="rect">
            <a:avLst/>
          </a:prstGeom>
          <a:solidFill>
            <a:srgbClr val="00394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itle 1"/>
          <p:cNvSpPr>
            <a:spLocks noGrp="1"/>
          </p:cNvSpPr>
          <p:nvPr>
            <p:ph type="ctrTitle"/>
          </p:nvPr>
        </p:nvSpPr>
        <p:spPr>
          <a:xfrm>
            <a:off x="416425" y="915409"/>
            <a:ext cx="7598042" cy="2569946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90000"/>
              </a:lnSpc>
              <a:buFont typeface="Arial" panose="020B0604020202020204" pitchFamily="34" charset="0"/>
              <a:buNone/>
              <a:defRPr sz="4600" b="0" i="0" spc="0" baseline="0">
                <a:solidFill>
                  <a:schemeClr val="accent5"/>
                </a:solidFill>
                <a:latin typeface="+mj-lt"/>
                <a:cs typeface="CiscoSans Thin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8" name="Rectangle 7"/>
          <p:cNvSpPr>
            <a:spLocks noChangeArrowheads="1"/>
          </p:cNvSpPr>
          <p:nvPr userDrawn="1"/>
        </p:nvSpPr>
        <p:spPr bwMode="ltGray">
          <a:xfrm>
            <a:off x="8515707" y="4742907"/>
            <a:ext cx="218414" cy="154518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 lIns="61586" tIns="30792" rIns="61586" bIns="30792" anchor="b">
            <a:spAutoFit/>
          </a:bodyPr>
          <a:lstStyle/>
          <a:p>
            <a:pPr algn="r" defTabSz="610870" rtl="0" fontAlgn="auto">
              <a:spcBef>
                <a:spcPts val="0"/>
              </a:spcBef>
              <a:spcAft>
                <a:spcPts val="0"/>
              </a:spcAft>
              <a:defRPr/>
            </a:pPr>
            <a:fld id="{6A1E46DC-7EF6-4EA2-B285-14272867D133}" type="slidenum">
              <a:rPr sz="600">
                <a:solidFill>
                  <a:schemeClr val="accent5">
                    <a:lumMod val="50000"/>
                  </a:schemeClr>
                </a:solidFill>
                <a:latin typeface="+mn-lt"/>
                <a:ea typeface="+mn-ea"/>
                <a:cs typeface="CiscoSans Thin"/>
              </a:rPr>
            </a:fld>
            <a:endParaRPr sz="600">
              <a:solidFill>
                <a:schemeClr val="accent5">
                  <a:lumMod val="50000"/>
                </a:schemeClr>
              </a:solidFill>
              <a:latin typeface="+mn-lt"/>
              <a:ea typeface="+mn-ea"/>
              <a:cs typeface="CiscoSans Thin"/>
            </a:endParaRPr>
          </a:p>
        </p:txBody>
      </p:sp>
      <p:sp>
        <p:nvSpPr>
          <p:cNvPr id="9" name="Rectangle 4"/>
          <p:cNvSpPr>
            <a:spLocks noChangeArrowheads="1"/>
          </p:cNvSpPr>
          <p:nvPr userDrawn="1"/>
        </p:nvSpPr>
        <p:spPr bwMode="ltGray">
          <a:xfrm>
            <a:off x="5867508" y="4741653"/>
            <a:ext cx="2658018" cy="15451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61586" tIns="30792" rIns="61586" bIns="30792" anchor="b">
            <a:spAutoFit/>
          </a:bodyPr>
          <a:lstStyle/>
          <a:p>
            <a:pPr defTabSz="610870" rt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600">
                <a:solidFill>
                  <a:schemeClr val="accent5">
                    <a:lumMod val="50000"/>
                  </a:schemeClr>
                </a:solidFill>
                <a:latin typeface="+mn-lt"/>
                <a:ea typeface="+mn-ea"/>
                <a:cs typeface="CiscoSans Thin"/>
              </a:rPr>
              <a:t>© 2016 Cisco e/ou suas afiliadas. Todos os direitos reservados.   Documento confidencial da Cisco</a:t>
            </a:r>
            <a:endParaRPr lang="pt-BR" sz="600">
              <a:solidFill>
                <a:schemeClr val="accent5">
                  <a:lumMod val="50000"/>
                </a:schemeClr>
              </a:solidFill>
              <a:latin typeface="+mn-lt"/>
              <a:ea typeface="+mn-ea"/>
              <a:cs typeface="CiscoSans Thin"/>
            </a:endParaRPr>
          </a:p>
        </p:txBody>
      </p:sp>
      <p:grpSp>
        <p:nvGrpSpPr>
          <p:cNvPr id="11" name="Group 4"/>
          <p:cNvGrpSpPr>
            <a:grpSpLocks noChangeAspect="1"/>
          </p:cNvGrpSpPr>
          <p:nvPr userDrawn="1"/>
        </p:nvGrpSpPr>
        <p:grpSpPr bwMode="auto">
          <a:xfrm>
            <a:off x="508039" y="4715197"/>
            <a:ext cx="340257" cy="180974"/>
            <a:chOff x="310" y="249"/>
            <a:chExt cx="502" cy="267"/>
          </a:xfrm>
          <a:solidFill>
            <a:srgbClr val="086D8E"/>
          </a:solidFill>
        </p:grpSpPr>
        <p:sp>
          <p:nvSpPr>
            <p:cNvPr id="12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3" name="Freeform 6"/>
            <p:cNvSpPr/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4" name="Freeform 7"/>
            <p:cNvSpPr/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5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6" name="Freeform 9"/>
            <p:cNvSpPr/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7" name="Freeform 10"/>
            <p:cNvSpPr/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8" name="Freeform 11"/>
            <p:cNvSpPr/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9" name="Freeform 12"/>
            <p:cNvSpPr/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0" name="Freeform 13"/>
            <p:cNvSpPr/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1" name="Freeform 14"/>
            <p:cNvSpPr/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2" name="Freeform 15"/>
            <p:cNvSpPr/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3" name="Freeform 16"/>
            <p:cNvSpPr/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4" name="Freeform 17"/>
            <p:cNvSpPr/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5" name="Freeform 18"/>
            <p:cNvSpPr/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</p:grpSp>
    </p:spTree>
  </p:cSld>
  <p:clrMapOvr>
    <a:masterClrMapping/>
  </p:clrMapOvr>
  <p:transition spd="slow">
    <p:wip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ulti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474662" y="1347788"/>
            <a:ext cx="8280057" cy="3073946"/>
          </a:xfrm>
          <a:prstGeom prst="rect">
            <a:avLst/>
          </a:prstGeom>
        </p:spPr>
        <p:txBody>
          <a:bodyPr lIns="91420" tIns="45710" rIns="91420" bIns="45710">
            <a:noAutofit/>
          </a:bodyPr>
          <a:lstStyle>
            <a:lvl1pPr marL="285750" marR="0" indent="-285750" algn="ct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/>
              <a:buNone/>
              <a:defRPr sz="2000" b="0" i="0" baseline="0">
                <a:solidFill>
                  <a:schemeClr val="bg1"/>
                </a:solidFill>
                <a:latin typeface="+mn-lt"/>
                <a:cs typeface="CiscoSans ExtraLight"/>
              </a:defRPr>
            </a:lvl1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Title Placeholder 5"/>
          <p:cNvSpPr>
            <a:spLocks noGrp="1"/>
          </p:cNvSpPr>
          <p:nvPr>
            <p:ph type="title"/>
          </p:nvPr>
        </p:nvSpPr>
        <p:spPr bwMode="auto">
          <a:xfrm>
            <a:off x="437766" y="341313"/>
            <a:ext cx="8345488" cy="731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rgbClr val="004C69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  <a:endParaRPr lang="en-GB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Circled_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12" name="Oval 11"/>
          <p:cNvSpPr/>
          <p:nvPr/>
        </p:nvSpPr>
        <p:spPr>
          <a:xfrm>
            <a:off x="575610" y="2552550"/>
            <a:ext cx="698624" cy="698624"/>
          </a:xfrm>
          <a:prstGeom prst="ellipse">
            <a:avLst/>
          </a:prstGeom>
          <a:solidFill>
            <a:schemeClr val="bg2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solidFill>
                <a:srgbClr val="FFFFFF"/>
              </a:solidFill>
              <a:cs typeface="Arial" panose="020B0604020202020204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575610" y="1426607"/>
            <a:ext cx="698624" cy="698624"/>
          </a:xfrm>
          <a:prstGeom prst="ellipse">
            <a:avLst/>
          </a:prstGeom>
          <a:solidFill>
            <a:srgbClr val="00394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bg1"/>
              </a:solidFill>
              <a:cs typeface="Arial" panose="020B0604020202020204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575610" y="3653093"/>
            <a:ext cx="698624" cy="698624"/>
          </a:xfrm>
          <a:prstGeom prst="ellipse">
            <a:avLst/>
          </a:prstGeom>
          <a:solidFill>
            <a:schemeClr val="accent5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solidFill>
                <a:srgbClr val="049FD9"/>
              </a:solidFill>
              <a:cs typeface="Arial" panose="020B0604020202020204"/>
            </a:endParaRPr>
          </a:p>
        </p:txBody>
      </p:sp>
      <p:sp>
        <p:nvSpPr>
          <p:cNvPr id="24" name="Text Placeholder 17"/>
          <p:cNvSpPr>
            <a:spLocks noGrp="1"/>
          </p:cNvSpPr>
          <p:nvPr>
            <p:ph type="body" sz="quarter" idx="13"/>
          </p:nvPr>
        </p:nvSpPr>
        <p:spPr>
          <a:xfrm>
            <a:off x="1365250" y="1432522"/>
            <a:ext cx="5473700" cy="6933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25" name="Text Placeholder 17"/>
          <p:cNvSpPr>
            <a:spLocks noGrp="1"/>
          </p:cNvSpPr>
          <p:nvPr>
            <p:ph type="body" sz="quarter" idx="14"/>
          </p:nvPr>
        </p:nvSpPr>
        <p:spPr>
          <a:xfrm>
            <a:off x="1365250" y="2557793"/>
            <a:ext cx="5473700" cy="6933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26" name="Text Placeholder 17"/>
          <p:cNvSpPr>
            <a:spLocks noGrp="1"/>
          </p:cNvSpPr>
          <p:nvPr>
            <p:ph type="body" sz="quarter" idx="15"/>
          </p:nvPr>
        </p:nvSpPr>
        <p:spPr>
          <a:xfrm>
            <a:off x="1365250" y="3653093"/>
            <a:ext cx="5473700" cy="6933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28" name="Text Placeholder 17"/>
          <p:cNvSpPr>
            <a:spLocks noGrp="1"/>
          </p:cNvSpPr>
          <p:nvPr>
            <p:ph type="body" sz="quarter" idx="17" hasCustomPrompt="1"/>
          </p:nvPr>
        </p:nvSpPr>
        <p:spPr>
          <a:xfrm>
            <a:off x="575610" y="2552550"/>
            <a:ext cx="698624" cy="6933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4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2</a:t>
            </a:r>
            <a:endParaRPr lang="en-US" dirty="0"/>
          </a:p>
        </p:txBody>
      </p:sp>
      <p:sp>
        <p:nvSpPr>
          <p:cNvPr id="29" name="Text Placeholder 17"/>
          <p:cNvSpPr>
            <a:spLocks noGrp="1"/>
          </p:cNvSpPr>
          <p:nvPr>
            <p:ph type="body" sz="quarter" idx="18" hasCustomPrompt="1"/>
          </p:nvPr>
        </p:nvSpPr>
        <p:spPr>
          <a:xfrm>
            <a:off x="575611" y="3651140"/>
            <a:ext cx="698624" cy="693381"/>
          </a:xfrm>
          <a:prstGeom prst="rect">
            <a:avLst/>
          </a:prstGeom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4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3</a:t>
            </a:r>
            <a:endParaRPr lang="en-US" dirty="0"/>
          </a:p>
        </p:txBody>
      </p:sp>
      <p:sp>
        <p:nvSpPr>
          <p:cNvPr id="13" name="Text Placeholder 17"/>
          <p:cNvSpPr>
            <a:spLocks noGrp="1"/>
          </p:cNvSpPr>
          <p:nvPr>
            <p:ph type="body" sz="quarter" idx="19" hasCustomPrompt="1"/>
          </p:nvPr>
        </p:nvSpPr>
        <p:spPr>
          <a:xfrm>
            <a:off x="575610" y="1427248"/>
            <a:ext cx="698624" cy="6933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4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1</a:t>
            </a:r>
            <a:endParaRPr lang="en-US" dirty="0"/>
          </a:p>
        </p:txBody>
      </p:sp>
    </p:spTree>
  </p:cSld>
  <p:clrMapOvr>
    <a:masterClrMapping/>
  </p:clrMapOvr>
  <p:transition spd="slow">
    <p:wip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Circled_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12" name="Oval 11"/>
          <p:cNvSpPr/>
          <p:nvPr/>
        </p:nvSpPr>
        <p:spPr>
          <a:xfrm>
            <a:off x="575611" y="1979318"/>
            <a:ext cx="464815" cy="464815"/>
          </a:xfrm>
          <a:prstGeom prst="ellipse">
            <a:avLst/>
          </a:prstGeom>
          <a:solidFill>
            <a:srgbClr val="38C6F4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accent5"/>
              </a:solidFill>
              <a:cs typeface="Arial" panose="020B0604020202020204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575610" y="1328927"/>
            <a:ext cx="464815" cy="464815"/>
          </a:xfrm>
          <a:prstGeom prst="ellipse">
            <a:avLst/>
          </a:prstGeom>
          <a:solidFill>
            <a:srgbClr val="00394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accent5"/>
              </a:solidFill>
              <a:cs typeface="Arial" panose="020B0604020202020204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575611" y="2627446"/>
            <a:ext cx="464815" cy="464815"/>
          </a:xfrm>
          <a:prstGeom prst="ellipse">
            <a:avLst/>
          </a:prstGeom>
          <a:solidFill>
            <a:schemeClr val="bg2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accent5"/>
              </a:solidFill>
              <a:cs typeface="Arial" panose="020B0604020202020204"/>
            </a:endParaRPr>
          </a:p>
        </p:txBody>
      </p:sp>
      <p:sp>
        <p:nvSpPr>
          <p:cNvPr id="24" name="Text Placeholder 17"/>
          <p:cNvSpPr>
            <a:spLocks noGrp="1"/>
          </p:cNvSpPr>
          <p:nvPr>
            <p:ph type="body" sz="quarter" idx="13"/>
          </p:nvPr>
        </p:nvSpPr>
        <p:spPr>
          <a:xfrm>
            <a:off x="1172384" y="1334842"/>
            <a:ext cx="5678748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25" name="Text Placeholder 17"/>
          <p:cNvSpPr>
            <a:spLocks noGrp="1"/>
          </p:cNvSpPr>
          <p:nvPr>
            <p:ph type="body" sz="quarter" idx="14"/>
          </p:nvPr>
        </p:nvSpPr>
        <p:spPr>
          <a:xfrm>
            <a:off x="1172385" y="1984561"/>
            <a:ext cx="5678748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26" name="Text Placeholder 17"/>
          <p:cNvSpPr>
            <a:spLocks noGrp="1"/>
          </p:cNvSpPr>
          <p:nvPr>
            <p:ph type="body" sz="quarter" idx="15"/>
          </p:nvPr>
        </p:nvSpPr>
        <p:spPr>
          <a:xfrm>
            <a:off x="1172385" y="2627446"/>
            <a:ext cx="5678748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27" name="Text Placeholder 17"/>
          <p:cNvSpPr>
            <a:spLocks noGrp="1"/>
          </p:cNvSpPr>
          <p:nvPr>
            <p:ph type="body" sz="quarter" idx="16" hasCustomPrompt="1"/>
          </p:nvPr>
        </p:nvSpPr>
        <p:spPr>
          <a:xfrm>
            <a:off x="575611" y="1327521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1</a:t>
            </a:r>
            <a:endParaRPr lang="en-US" dirty="0"/>
          </a:p>
        </p:txBody>
      </p:sp>
      <p:sp>
        <p:nvSpPr>
          <p:cNvPr id="28" name="Text Placeholder 17"/>
          <p:cNvSpPr>
            <a:spLocks noGrp="1"/>
          </p:cNvSpPr>
          <p:nvPr>
            <p:ph type="body" sz="quarter" idx="17" hasCustomPrompt="1"/>
          </p:nvPr>
        </p:nvSpPr>
        <p:spPr>
          <a:xfrm>
            <a:off x="575611" y="1979318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2</a:t>
            </a:r>
            <a:endParaRPr lang="en-US" dirty="0"/>
          </a:p>
        </p:txBody>
      </p:sp>
      <p:sp>
        <p:nvSpPr>
          <p:cNvPr id="29" name="Text Placeholder 17"/>
          <p:cNvSpPr>
            <a:spLocks noGrp="1"/>
          </p:cNvSpPr>
          <p:nvPr>
            <p:ph type="body" sz="quarter" idx="18" hasCustomPrompt="1"/>
          </p:nvPr>
        </p:nvSpPr>
        <p:spPr>
          <a:xfrm>
            <a:off x="575612" y="2625493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3</a:t>
            </a:r>
            <a:endParaRPr lang="en-US" dirty="0"/>
          </a:p>
        </p:txBody>
      </p:sp>
      <p:sp>
        <p:nvSpPr>
          <p:cNvPr id="13" name="Oval 12"/>
          <p:cNvSpPr/>
          <p:nvPr/>
        </p:nvSpPr>
        <p:spPr>
          <a:xfrm>
            <a:off x="575612" y="3274581"/>
            <a:ext cx="464815" cy="464815"/>
          </a:xfrm>
          <a:prstGeom prst="ellipse">
            <a:avLst/>
          </a:prstGeom>
          <a:solidFill>
            <a:schemeClr val="accent6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accent5"/>
              </a:solidFill>
              <a:cs typeface="Arial" panose="020B0604020202020204"/>
            </a:endParaRPr>
          </a:p>
        </p:txBody>
      </p:sp>
      <p:sp>
        <p:nvSpPr>
          <p:cNvPr id="14" name="Text Placeholder 17"/>
          <p:cNvSpPr>
            <a:spLocks noGrp="1"/>
          </p:cNvSpPr>
          <p:nvPr>
            <p:ph type="body" sz="quarter" idx="19"/>
          </p:nvPr>
        </p:nvSpPr>
        <p:spPr>
          <a:xfrm>
            <a:off x="1172386" y="3274581"/>
            <a:ext cx="5678748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6" name="Text Placeholder 17"/>
          <p:cNvSpPr>
            <a:spLocks noGrp="1"/>
          </p:cNvSpPr>
          <p:nvPr>
            <p:ph type="body" sz="quarter" idx="20" hasCustomPrompt="1"/>
          </p:nvPr>
        </p:nvSpPr>
        <p:spPr>
          <a:xfrm>
            <a:off x="575613" y="3272628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4</a:t>
            </a:r>
            <a:endParaRPr lang="en-US" dirty="0"/>
          </a:p>
        </p:txBody>
      </p:sp>
      <p:sp>
        <p:nvSpPr>
          <p:cNvPr id="17" name="Oval 16"/>
          <p:cNvSpPr/>
          <p:nvPr/>
        </p:nvSpPr>
        <p:spPr>
          <a:xfrm>
            <a:off x="575613" y="3921716"/>
            <a:ext cx="464815" cy="464815"/>
          </a:xfrm>
          <a:prstGeom prst="ellipse">
            <a:avLst/>
          </a:prstGeom>
          <a:solidFill>
            <a:srgbClr val="00394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accent5"/>
              </a:solidFill>
              <a:cs typeface="Arial" panose="020B0604020202020204"/>
            </a:endParaRPr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21"/>
          </p:nvPr>
        </p:nvSpPr>
        <p:spPr>
          <a:xfrm>
            <a:off x="1172387" y="3921716"/>
            <a:ext cx="5678748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9" name="Text Placeholder 17"/>
          <p:cNvSpPr>
            <a:spLocks noGrp="1"/>
          </p:cNvSpPr>
          <p:nvPr>
            <p:ph type="body" sz="quarter" idx="22" hasCustomPrompt="1"/>
          </p:nvPr>
        </p:nvSpPr>
        <p:spPr>
          <a:xfrm>
            <a:off x="575614" y="3919763"/>
            <a:ext cx="464815" cy="461327"/>
          </a:xfrm>
          <a:prstGeom prst="rect">
            <a:avLst/>
          </a:prstGeom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5</a:t>
            </a:r>
            <a:endParaRPr lang="en-US" dirty="0"/>
          </a:p>
        </p:txBody>
      </p:sp>
    </p:spTree>
  </p:cSld>
  <p:clrMapOvr>
    <a:masterClrMapping/>
  </p:clrMapOvr>
  <p:transition spd="slow">
    <p:wip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Circled_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04C69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42" name="Oval 41"/>
          <p:cNvSpPr/>
          <p:nvPr/>
        </p:nvSpPr>
        <p:spPr>
          <a:xfrm>
            <a:off x="575611" y="1979318"/>
            <a:ext cx="464815" cy="464815"/>
          </a:xfrm>
          <a:prstGeom prst="ellipse">
            <a:avLst/>
          </a:prstGeom>
          <a:solidFill>
            <a:srgbClr val="38C6F4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 panose="020B0604020202020204"/>
            </a:endParaRPr>
          </a:p>
        </p:txBody>
      </p:sp>
      <p:sp>
        <p:nvSpPr>
          <p:cNvPr id="43" name="Oval 42"/>
          <p:cNvSpPr/>
          <p:nvPr/>
        </p:nvSpPr>
        <p:spPr>
          <a:xfrm>
            <a:off x="575610" y="1328927"/>
            <a:ext cx="464815" cy="464815"/>
          </a:xfrm>
          <a:prstGeom prst="ellipse">
            <a:avLst/>
          </a:prstGeom>
          <a:solidFill>
            <a:srgbClr val="00394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rgbClr val="FFFFFF"/>
              </a:solidFill>
              <a:cs typeface="Arial" panose="020B0604020202020204"/>
            </a:endParaRPr>
          </a:p>
        </p:txBody>
      </p:sp>
      <p:sp>
        <p:nvSpPr>
          <p:cNvPr id="44" name="Oval 43"/>
          <p:cNvSpPr/>
          <p:nvPr/>
        </p:nvSpPr>
        <p:spPr>
          <a:xfrm>
            <a:off x="575611" y="2627446"/>
            <a:ext cx="464815" cy="464815"/>
          </a:xfrm>
          <a:prstGeom prst="ellipse">
            <a:avLst/>
          </a:prstGeom>
          <a:solidFill>
            <a:schemeClr val="bg2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 panose="020B0604020202020204"/>
            </a:endParaRPr>
          </a:p>
        </p:txBody>
      </p:sp>
      <p:sp>
        <p:nvSpPr>
          <p:cNvPr id="45" name="Text Placeholder 17"/>
          <p:cNvSpPr>
            <a:spLocks noGrp="1"/>
          </p:cNvSpPr>
          <p:nvPr>
            <p:ph type="body" sz="quarter" idx="13"/>
          </p:nvPr>
        </p:nvSpPr>
        <p:spPr>
          <a:xfrm>
            <a:off x="1172384" y="1334842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46" name="Text Placeholder 17"/>
          <p:cNvSpPr>
            <a:spLocks noGrp="1"/>
          </p:cNvSpPr>
          <p:nvPr>
            <p:ph type="body" sz="quarter" idx="14"/>
          </p:nvPr>
        </p:nvSpPr>
        <p:spPr>
          <a:xfrm>
            <a:off x="1172385" y="1984561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7" name="Text Placeholder 17"/>
          <p:cNvSpPr>
            <a:spLocks noGrp="1"/>
          </p:cNvSpPr>
          <p:nvPr>
            <p:ph type="body" sz="quarter" idx="15"/>
          </p:nvPr>
        </p:nvSpPr>
        <p:spPr>
          <a:xfrm>
            <a:off x="1172385" y="2627446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8" name="Text Placeholder 17"/>
          <p:cNvSpPr>
            <a:spLocks noGrp="1"/>
          </p:cNvSpPr>
          <p:nvPr>
            <p:ph type="body" sz="quarter" idx="16" hasCustomPrompt="1"/>
          </p:nvPr>
        </p:nvSpPr>
        <p:spPr>
          <a:xfrm>
            <a:off x="575611" y="1327521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1</a:t>
            </a:r>
            <a:endParaRPr lang="en-US" dirty="0"/>
          </a:p>
        </p:txBody>
      </p:sp>
      <p:sp>
        <p:nvSpPr>
          <p:cNvPr id="49" name="Text Placeholder 17"/>
          <p:cNvSpPr>
            <a:spLocks noGrp="1"/>
          </p:cNvSpPr>
          <p:nvPr>
            <p:ph type="body" sz="quarter" idx="17" hasCustomPrompt="1"/>
          </p:nvPr>
        </p:nvSpPr>
        <p:spPr>
          <a:xfrm>
            <a:off x="575611" y="1979318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2</a:t>
            </a:r>
            <a:endParaRPr lang="en-US" dirty="0"/>
          </a:p>
        </p:txBody>
      </p:sp>
      <p:sp>
        <p:nvSpPr>
          <p:cNvPr id="50" name="Text Placeholder 17"/>
          <p:cNvSpPr>
            <a:spLocks noGrp="1"/>
          </p:cNvSpPr>
          <p:nvPr>
            <p:ph type="body" sz="quarter" idx="18" hasCustomPrompt="1"/>
          </p:nvPr>
        </p:nvSpPr>
        <p:spPr>
          <a:xfrm>
            <a:off x="575612" y="2625493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3</a:t>
            </a:r>
            <a:endParaRPr lang="en-US" dirty="0"/>
          </a:p>
        </p:txBody>
      </p:sp>
      <p:sp>
        <p:nvSpPr>
          <p:cNvPr id="51" name="Oval 50"/>
          <p:cNvSpPr/>
          <p:nvPr/>
        </p:nvSpPr>
        <p:spPr>
          <a:xfrm>
            <a:off x="575612" y="3274581"/>
            <a:ext cx="464815" cy="464815"/>
          </a:xfrm>
          <a:prstGeom prst="ellipse">
            <a:avLst/>
          </a:prstGeom>
          <a:solidFill>
            <a:schemeClr val="accent6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 panose="020B0604020202020204"/>
            </a:endParaRPr>
          </a:p>
        </p:txBody>
      </p:sp>
      <p:sp>
        <p:nvSpPr>
          <p:cNvPr id="52" name="Text Placeholder 17"/>
          <p:cNvSpPr>
            <a:spLocks noGrp="1"/>
          </p:cNvSpPr>
          <p:nvPr>
            <p:ph type="body" sz="quarter" idx="19"/>
          </p:nvPr>
        </p:nvSpPr>
        <p:spPr>
          <a:xfrm>
            <a:off x="1172386" y="3274581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3" name="Text Placeholder 17"/>
          <p:cNvSpPr>
            <a:spLocks noGrp="1"/>
          </p:cNvSpPr>
          <p:nvPr>
            <p:ph type="body" sz="quarter" idx="20" hasCustomPrompt="1"/>
          </p:nvPr>
        </p:nvSpPr>
        <p:spPr>
          <a:xfrm>
            <a:off x="575613" y="3272628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4</a:t>
            </a:r>
            <a:endParaRPr lang="en-US" dirty="0"/>
          </a:p>
        </p:txBody>
      </p:sp>
      <p:sp>
        <p:nvSpPr>
          <p:cNvPr id="54" name="Oval 53"/>
          <p:cNvSpPr/>
          <p:nvPr/>
        </p:nvSpPr>
        <p:spPr>
          <a:xfrm>
            <a:off x="575613" y="3921716"/>
            <a:ext cx="464815" cy="464815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 panose="020B0604020202020204"/>
            </a:endParaRPr>
          </a:p>
        </p:txBody>
      </p:sp>
      <p:sp>
        <p:nvSpPr>
          <p:cNvPr id="55" name="Text Placeholder 17"/>
          <p:cNvSpPr>
            <a:spLocks noGrp="1"/>
          </p:cNvSpPr>
          <p:nvPr>
            <p:ph type="body" sz="quarter" idx="21"/>
          </p:nvPr>
        </p:nvSpPr>
        <p:spPr>
          <a:xfrm>
            <a:off x="1172387" y="3921716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6" name="Text Placeholder 17"/>
          <p:cNvSpPr>
            <a:spLocks noGrp="1"/>
          </p:cNvSpPr>
          <p:nvPr>
            <p:ph type="body" sz="quarter" idx="22" hasCustomPrompt="1"/>
          </p:nvPr>
        </p:nvSpPr>
        <p:spPr>
          <a:xfrm>
            <a:off x="575614" y="3919763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5</a:t>
            </a:r>
            <a:endParaRPr lang="en-US" dirty="0"/>
          </a:p>
        </p:txBody>
      </p:sp>
      <p:sp>
        <p:nvSpPr>
          <p:cNvPr id="57" name="Oval 56"/>
          <p:cNvSpPr/>
          <p:nvPr/>
        </p:nvSpPr>
        <p:spPr>
          <a:xfrm>
            <a:off x="4414576" y="1983084"/>
            <a:ext cx="464815" cy="464815"/>
          </a:xfrm>
          <a:prstGeom prst="ellipse">
            <a:avLst/>
          </a:prstGeom>
          <a:solidFill>
            <a:schemeClr val="accent6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 panose="020B0604020202020204"/>
            </a:endParaRPr>
          </a:p>
        </p:txBody>
      </p:sp>
      <p:sp>
        <p:nvSpPr>
          <p:cNvPr id="58" name="Oval 57"/>
          <p:cNvSpPr/>
          <p:nvPr/>
        </p:nvSpPr>
        <p:spPr>
          <a:xfrm>
            <a:off x="4414575" y="1332693"/>
            <a:ext cx="464815" cy="464815"/>
          </a:xfrm>
          <a:prstGeom prst="ellipse">
            <a:avLst/>
          </a:prstGeom>
          <a:solidFill>
            <a:srgbClr val="00394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 panose="020B0604020202020204"/>
            </a:endParaRPr>
          </a:p>
        </p:txBody>
      </p:sp>
      <p:sp>
        <p:nvSpPr>
          <p:cNvPr id="59" name="Oval 58"/>
          <p:cNvSpPr/>
          <p:nvPr/>
        </p:nvSpPr>
        <p:spPr>
          <a:xfrm>
            <a:off x="4414576" y="2631212"/>
            <a:ext cx="464815" cy="464815"/>
          </a:xfrm>
          <a:prstGeom prst="ellipse">
            <a:avLst/>
          </a:prstGeom>
          <a:solidFill>
            <a:schemeClr val="accent5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 panose="020B0604020202020204"/>
            </a:endParaRPr>
          </a:p>
        </p:txBody>
      </p:sp>
      <p:sp>
        <p:nvSpPr>
          <p:cNvPr id="60" name="Text Placeholder 17"/>
          <p:cNvSpPr>
            <a:spLocks noGrp="1"/>
          </p:cNvSpPr>
          <p:nvPr>
            <p:ph type="body" sz="quarter" idx="23"/>
          </p:nvPr>
        </p:nvSpPr>
        <p:spPr>
          <a:xfrm>
            <a:off x="5011349" y="1338608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1" name="Text Placeholder 17"/>
          <p:cNvSpPr>
            <a:spLocks noGrp="1"/>
          </p:cNvSpPr>
          <p:nvPr>
            <p:ph type="body" sz="quarter" idx="24"/>
          </p:nvPr>
        </p:nvSpPr>
        <p:spPr>
          <a:xfrm>
            <a:off x="5011350" y="1988327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2" name="Text Placeholder 17"/>
          <p:cNvSpPr>
            <a:spLocks noGrp="1"/>
          </p:cNvSpPr>
          <p:nvPr>
            <p:ph type="body" sz="quarter" idx="25"/>
          </p:nvPr>
        </p:nvSpPr>
        <p:spPr>
          <a:xfrm>
            <a:off x="5011350" y="2631212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3" name="Text Placeholder 17"/>
          <p:cNvSpPr>
            <a:spLocks noGrp="1"/>
          </p:cNvSpPr>
          <p:nvPr>
            <p:ph type="body" sz="quarter" idx="26" hasCustomPrompt="1"/>
          </p:nvPr>
        </p:nvSpPr>
        <p:spPr>
          <a:xfrm>
            <a:off x="4414576" y="1331287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6</a:t>
            </a:r>
            <a:endParaRPr lang="en-US" dirty="0"/>
          </a:p>
        </p:txBody>
      </p:sp>
      <p:sp>
        <p:nvSpPr>
          <p:cNvPr id="64" name="Text Placeholder 17"/>
          <p:cNvSpPr>
            <a:spLocks noGrp="1"/>
          </p:cNvSpPr>
          <p:nvPr>
            <p:ph type="body" sz="quarter" idx="27" hasCustomPrompt="1"/>
          </p:nvPr>
        </p:nvSpPr>
        <p:spPr>
          <a:xfrm>
            <a:off x="4414576" y="1983084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7</a:t>
            </a:r>
            <a:endParaRPr lang="en-US" dirty="0"/>
          </a:p>
        </p:txBody>
      </p:sp>
      <p:sp>
        <p:nvSpPr>
          <p:cNvPr id="65" name="Text Placeholder 17"/>
          <p:cNvSpPr>
            <a:spLocks noGrp="1"/>
          </p:cNvSpPr>
          <p:nvPr>
            <p:ph type="body" sz="quarter" idx="28" hasCustomPrompt="1"/>
          </p:nvPr>
        </p:nvSpPr>
        <p:spPr>
          <a:xfrm>
            <a:off x="4414577" y="2629259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8</a:t>
            </a:r>
            <a:endParaRPr lang="en-US" dirty="0"/>
          </a:p>
        </p:txBody>
      </p:sp>
      <p:sp>
        <p:nvSpPr>
          <p:cNvPr id="66" name="Oval 65"/>
          <p:cNvSpPr/>
          <p:nvPr/>
        </p:nvSpPr>
        <p:spPr>
          <a:xfrm>
            <a:off x="4414577" y="3278347"/>
            <a:ext cx="464815" cy="464815"/>
          </a:xfrm>
          <a:prstGeom prst="ellipse">
            <a:avLst/>
          </a:prstGeom>
          <a:solidFill>
            <a:schemeClr val="bg2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 panose="020B0604020202020204"/>
            </a:endParaRPr>
          </a:p>
        </p:txBody>
      </p:sp>
      <p:sp>
        <p:nvSpPr>
          <p:cNvPr id="67" name="Text Placeholder 17"/>
          <p:cNvSpPr>
            <a:spLocks noGrp="1"/>
          </p:cNvSpPr>
          <p:nvPr>
            <p:ph type="body" sz="quarter" idx="29"/>
          </p:nvPr>
        </p:nvSpPr>
        <p:spPr>
          <a:xfrm>
            <a:off x="5011351" y="3278347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8" name="Text Placeholder 17"/>
          <p:cNvSpPr>
            <a:spLocks noGrp="1"/>
          </p:cNvSpPr>
          <p:nvPr>
            <p:ph type="body" sz="quarter" idx="30" hasCustomPrompt="1"/>
          </p:nvPr>
        </p:nvSpPr>
        <p:spPr>
          <a:xfrm>
            <a:off x="4414578" y="3276394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9</a:t>
            </a:r>
            <a:endParaRPr lang="en-US" dirty="0"/>
          </a:p>
        </p:txBody>
      </p:sp>
      <p:sp>
        <p:nvSpPr>
          <p:cNvPr id="69" name="Oval 68"/>
          <p:cNvSpPr/>
          <p:nvPr/>
        </p:nvSpPr>
        <p:spPr>
          <a:xfrm>
            <a:off x="4414578" y="3925482"/>
            <a:ext cx="464815" cy="464815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 panose="020B0604020202020204"/>
            </a:endParaRPr>
          </a:p>
        </p:txBody>
      </p:sp>
      <p:sp>
        <p:nvSpPr>
          <p:cNvPr id="70" name="Text Placeholder 17"/>
          <p:cNvSpPr>
            <a:spLocks noGrp="1"/>
          </p:cNvSpPr>
          <p:nvPr>
            <p:ph type="body" sz="quarter" idx="31"/>
          </p:nvPr>
        </p:nvSpPr>
        <p:spPr>
          <a:xfrm>
            <a:off x="5011352" y="3925482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71" name="Text Placeholder 17"/>
          <p:cNvSpPr>
            <a:spLocks noGrp="1"/>
          </p:cNvSpPr>
          <p:nvPr>
            <p:ph type="body" sz="quarter" idx="32" hasCustomPrompt="1"/>
          </p:nvPr>
        </p:nvSpPr>
        <p:spPr>
          <a:xfrm>
            <a:off x="4414579" y="3923529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10</a:t>
            </a:r>
            <a:endParaRPr lang="en-US" dirty="0"/>
          </a:p>
        </p:txBody>
      </p:sp>
    </p:spTree>
  </p:cSld>
  <p:clrMapOvr>
    <a:masterClrMapping/>
  </p:clrMapOvr>
  <p:transition spd="slow">
    <p:wip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>
  <p:cSld name="1_Closing Slid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1"/>
            <a:ext cx="9143999" cy="5165874"/>
          </a:xfrm>
          <a:prstGeom prst="rect">
            <a:avLst/>
          </a:prstGeom>
        </p:spPr>
      </p:pic>
      <p:grpSp>
        <p:nvGrpSpPr>
          <p:cNvPr id="4" name="Group 4"/>
          <p:cNvGrpSpPr>
            <a:grpSpLocks noChangeAspect="1"/>
          </p:cNvGrpSpPr>
          <p:nvPr userDrawn="1"/>
        </p:nvGrpSpPr>
        <p:grpSpPr bwMode="auto">
          <a:xfrm>
            <a:off x="3746294" y="2129856"/>
            <a:ext cx="1617944" cy="860542"/>
            <a:chOff x="310" y="249"/>
            <a:chExt cx="502" cy="267"/>
          </a:xfrm>
          <a:solidFill>
            <a:schemeClr val="accent5"/>
          </a:solidFill>
        </p:grpSpPr>
        <p:sp>
          <p:nvSpPr>
            <p:cNvPr id="5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6" name="Freeform 6"/>
            <p:cNvSpPr/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7" name="Freeform 7"/>
            <p:cNvSpPr/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8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9" name="Freeform 9"/>
            <p:cNvSpPr/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0" name="Freeform 10"/>
            <p:cNvSpPr/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1" name="Freeform 11"/>
            <p:cNvSpPr/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2" name="Freeform 12"/>
            <p:cNvSpPr/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3" name="Freeform 13"/>
            <p:cNvSpPr/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4" name="Freeform 14"/>
            <p:cNvSpPr/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5" name="Freeform 15"/>
            <p:cNvSpPr/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6" name="Freeform 16"/>
            <p:cNvSpPr/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7" name="Freeform 17"/>
            <p:cNvSpPr/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8" name="Freeform 18"/>
            <p:cNvSpPr/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</p:grpSp>
    </p:spTree>
  </p:cSld>
  <p:clrMapOvr>
    <a:masterClrMapping/>
  </p:clrMapOvr>
  <p:transition spd="slow">
    <p:wip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>
  <p:cSld name="Closing Slid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394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4" name="Group 4"/>
          <p:cNvGrpSpPr>
            <a:grpSpLocks noChangeAspect="1"/>
          </p:cNvGrpSpPr>
          <p:nvPr userDrawn="1"/>
        </p:nvGrpSpPr>
        <p:grpSpPr bwMode="auto">
          <a:xfrm>
            <a:off x="3746294" y="2129856"/>
            <a:ext cx="1617944" cy="860542"/>
            <a:chOff x="310" y="249"/>
            <a:chExt cx="502" cy="267"/>
          </a:xfrm>
          <a:solidFill>
            <a:schemeClr val="accent5"/>
          </a:solidFill>
        </p:grpSpPr>
        <p:sp>
          <p:nvSpPr>
            <p:cNvPr id="5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6" name="Freeform 6"/>
            <p:cNvSpPr/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7" name="Freeform 7"/>
            <p:cNvSpPr/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8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9" name="Freeform 9"/>
            <p:cNvSpPr/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0" name="Freeform 10"/>
            <p:cNvSpPr/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1" name="Freeform 11"/>
            <p:cNvSpPr/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2" name="Freeform 12"/>
            <p:cNvSpPr/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3" name="Freeform 13"/>
            <p:cNvSpPr/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4" name="Freeform 14"/>
            <p:cNvSpPr/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5" name="Freeform 15"/>
            <p:cNvSpPr/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6" name="Freeform 16"/>
            <p:cNvSpPr/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7" name="Freeform 17"/>
            <p:cNvSpPr/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8" name="Freeform 18"/>
            <p:cNvSpPr/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</p:grpSp>
    </p:spTree>
  </p:cSld>
  <p:clrMapOvr>
    <a:masterClrMapping/>
  </p:clrMapOvr>
  <p:transition spd="slow">
    <p:wip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>
  <p:cSld name="3_Closing Slid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>
            <a:grpSpLocks noChangeAspect="1"/>
          </p:cNvGrpSpPr>
          <p:nvPr userDrawn="1"/>
        </p:nvGrpSpPr>
        <p:grpSpPr bwMode="auto">
          <a:xfrm>
            <a:off x="3746294" y="2129856"/>
            <a:ext cx="1617944" cy="860542"/>
            <a:chOff x="310" y="249"/>
            <a:chExt cx="502" cy="267"/>
          </a:xfrm>
          <a:solidFill>
            <a:schemeClr val="accent1">
              <a:lumMod val="75000"/>
            </a:schemeClr>
          </a:solidFill>
        </p:grpSpPr>
        <p:sp>
          <p:nvSpPr>
            <p:cNvPr id="5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6" name="Freeform 6"/>
            <p:cNvSpPr/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7" name="Freeform 7"/>
            <p:cNvSpPr/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8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9" name="Freeform 9"/>
            <p:cNvSpPr/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0" name="Freeform 10"/>
            <p:cNvSpPr/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1" name="Freeform 11"/>
            <p:cNvSpPr/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2" name="Freeform 12"/>
            <p:cNvSpPr/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3" name="Freeform 13"/>
            <p:cNvSpPr/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4" name="Freeform 14"/>
            <p:cNvSpPr/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5" name="Freeform 15"/>
            <p:cNvSpPr/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6" name="Freeform 16"/>
            <p:cNvSpPr/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7" name="Freeform 17"/>
            <p:cNvSpPr/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8" name="Freeform 18"/>
            <p:cNvSpPr/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</p:grpSp>
    </p:spTree>
  </p:cSld>
  <p:clrMapOvr>
    <a:masterClrMapping/>
  </p:clrMapOvr>
  <p:transition spd="slow">
    <p:wip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6"/>
          <p:cNvSpPr>
            <a:spLocks noGrp="1"/>
          </p:cNvSpPr>
          <p:nvPr>
            <p:ph type="sldNum" sz="quarter" idx="4"/>
          </p:nvPr>
        </p:nvSpPr>
        <p:spPr>
          <a:xfrm>
            <a:off x="8473441" y="4954263"/>
            <a:ext cx="676910" cy="1892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25">
                <a:solidFill>
                  <a:schemeClr val="tx2"/>
                </a:solidFill>
              </a:defRPr>
            </a:lvl1pPr>
          </a:lstStyle>
          <a:p>
            <a:pPr defTabSz="386080">
              <a:defRPr/>
            </a:pPr>
            <a:fld id="{2F5CCB13-0A32-4557-88E9-079F0C330695}" type="slidenum">
              <a:rPr lang="en-US" kern="0" smtClean="0">
                <a:solidFill>
                  <a:srgbClr val="595959"/>
                </a:solidFill>
              </a:rPr>
            </a:fld>
            <a:endParaRPr lang="en-US" kern="0" dirty="0">
              <a:solidFill>
                <a:srgbClr val="595959"/>
              </a:solidFill>
            </a:endParaRPr>
          </a:p>
        </p:txBody>
      </p:sp>
      <p:sp>
        <p:nvSpPr>
          <p:cNvPr id="5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144065" y="798944"/>
            <a:ext cx="8853286" cy="41553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182880" bIns="45720" numCol="1" anchor="t" anchorCtr="0" compatLnSpc="1"/>
          <a:lstStyle>
            <a:lvl1pPr marL="170180" indent="-17018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>
                <a:solidFill>
                  <a:srgbClr val="000000"/>
                </a:solidFill>
              </a:defRPr>
            </a:lvl1pPr>
            <a:lvl2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>
                <a:solidFill>
                  <a:srgbClr val="000000"/>
                </a:solidFill>
              </a:defRPr>
            </a:lvl2pPr>
            <a:lvl3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>
                <a:solidFill>
                  <a:srgbClr val="000000"/>
                </a:solidFill>
              </a:defRPr>
            </a:lvl3pPr>
            <a:lvl4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>
                <a:solidFill>
                  <a:srgbClr val="000000"/>
                </a:solidFill>
              </a:defRPr>
            </a:lvl4pPr>
          </a:lstStyle>
          <a:p>
            <a:pPr lvl="0"/>
            <a:r>
              <a:rPr lang="en-US" dirty="0">
                <a:sym typeface="Arial" panose="020B0604020202020204" pitchFamily="34" charset="0"/>
              </a:rPr>
              <a:t>Click to edit Master text styles</a:t>
            </a:r>
            <a:endParaRPr lang="en-US" dirty="0">
              <a:sym typeface="Arial" panose="020B0604020202020204" pitchFamily="34" charset="0"/>
            </a:endParaRPr>
          </a:p>
          <a:p>
            <a:pPr lvl="1"/>
            <a:r>
              <a:rPr lang="en-US" dirty="0">
                <a:sym typeface="Arial" panose="020B0604020202020204" pitchFamily="34" charset="0"/>
              </a:rPr>
              <a:t>Second level</a:t>
            </a:r>
            <a:endParaRPr lang="en-US" dirty="0">
              <a:sym typeface="Arial" panose="020B0604020202020204" pitchFamily="34" charset="0"/>
            </a:endParaRPr>
          </a:p>
          <a:p>
            <a:pPr lvl="2"/>
            <a:r>
              <a:rPr lang="en-US" dirty="0">
                <a:sym typeface="Arial" panose="020B0604020202020204" pitchFamily="34" charset="0"/>
              </a:rPr>
              <a:t>Third level</a:t>
            </a:r>
            <a:endParaRPr lang="en-US" dirty="0">
              <a:sym typeface="Arial" panose="020B0604020202020204" pitchFamily="34" charset="0"/>
            </a:endParaRPr>
          </a:p>
          <a:p>
            <a:pPr lvl="3"/>
            <a:r>
              <a:rPr lang="en-US" dirty="0">
                <a:sym typeface="Arial" panose="020B0604020202020204" pitchFamily="34" charset="0"/>
              </a:rPr>
              <a:t>Fourth level</a:t>
            </a:r>
            <a:endParaRPr lang="en-US" dirty="0">
              <a:sym typeface="Arial" panose="020B0604020202020204" pitchFamily="34" charset="0"/>
            </a:endParaRPr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" y="41393"/>
            <a:ext cx="9144000" cy="7575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lnSpc>
                <a:spcPct val="100000"/>
              </a:lnSpc>
              <a:defRPr sz="2400"/>
            </a:lvl1pPr>
          </a:lstStyle>
          <a:p>
            <a:pPr lvl="0"/>
            <a:r>
              <a:rPr lang="en-US" dirty="0">
                <a:sym typeface="Arial" panose="020B0604020202020204" pitchFamily="34" charset="0"/>
              </a:rPr>
              <a:t>Click to edit Master title style</a:t>
            </a:r>
            <a:endParaRPr lang="en-US" dirty="0">
              <a:sym typeface="Arial" panose="020B0604020202020204" pitchFamily="34" charset="0"/>
            </a:endParaRPr>
          </a:p>
        </p:txBody>
      </p:sp>
    </p:spTree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</p:spTree>
  </p:cSld>
  <p:clrMapOvr>
    <a:masterClrMapping/>
  </p:clrMapOvr>
  <p:transition spd="slow">
    <p:wip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>
  <p:cSld name="3_Title Slide-animated gradient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6" name="Subtitle 2"/>
          <p:cNvSpPr>
            <a:spLocks noGrp="1"/>
          </p:cNvSpPr>
          <p:nvPr>
            <p:ph type="subTitle" idx="1"/>
          </p:nvPr>
        </p:nvSpPr>
        <p:spPr>
          <a:xfrm>
            <a:off x="469496" y="3809526"/>
            <a:ext cx="4319105" cy="288131"/>
          </a:xfrm>
          <a:prstGeom prst="rect">
            <a:avLst/>
          </a:prstGeom>
        </p:spPr>
        <p:txBody>
          <a:bodyPr lIns="91420" tIns="45710" rIns="91420" bIns="45710" anchor="b" anchorCtr="0">
            <a:noAutofit/>
          </a:bodyPr>
          <a:lstStyle>
            <a:lvl1pPr marL="0" indent="0" algn="l">
              <a:buNone/>
              <a:defRPr sz="1200" b="0" i="0">
                <a:solidFill>
                  <a:schemeClr val="accent5"/>
                </a:solidFill>
                <a:latin typeface="+mn-lt"/>
                <a:cs typeface="CiscoSans"/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25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7" name="Text Placeholder 38"/>
          <p:cNvSpPr>
            <a:spLocks noGrp="1"/>
          </p:cNvSpPr>
          <p:nvPr>
            <p:ph type="body" sz="quarter" idx="11"/>
          </p:nvPr>
        </p:nvSpPr>
        <p:spPr>
          <a:xfrm>
            <a:off x="469496" y="4049523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5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8" name="Text Placeholder 40"/>
          <p:cNvSpPr>
            <a:spLocks noGrp="1"/>
          </p:cNvSpPr>
          <p:nvPr>
            <p:ph type="body" sz="quarter" idx="12"/>
          </p:nvPr>
        </p:nvSpPr>
        <p:spPr>
          <a:xfrm>
            <a:off x="469496" y="4289520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5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9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463292" y="2872236"/>
            <a:ext cx="5925246" cy="29900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>
              <a:buFont typeface="Arial" panose="020B0604020202020204" pitchFamily="34" charset="0"/>
              <a:buNone/>
              <a:defRPr sz="2000" baseline="0">
                <a:solidFill>
                  <a:schemeClr val="bg2"/>
                </a:solidFill>
                <a:latin typeface="+mj-lt"/>
              </a:defRPr>
            </a:lvl1pPr>
            <a:lvl2pPr marL="304800" indent="0">
              <a:buNone/>
              <a:defRPr/>
            </a:lvl2pPr>
            <a:lvl3pPr marL="427355" indent="0">
              <a:buNone/>
              <a:defRPr/>
            </a:lvl3pPr>
            <a:lvl4pPr marL="516890" indent="0">
              <a:buNone/>
              <a:defRPr/>
            </a:lvl4pPr>
            <a:lvl5pPr marL="601345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20" name="Title 1"/>
          <p:cNvSpPr>
            <a:spLocks noGrp="1"/>
          </p:cNvSpPr>
          <p:nvPr>
            <p:ph type="ctrTitle"/>
          </p:nvPr>
        </p:nvSpPr>
        <p:spPr>
          <a:xfrm>
            <a:off x="425765" y="2300750"/>
            <a:ext cx="5955513" cy="644730"/>
          </a:xfrm>
          <a:prstGeom prst="rect">
            <a:avLst/>
          </a:prstGeom>
        </p:spPr>
        <p:txBody>
          <a:bodyPr anchor="b"/>
          <a:lstStyle>
            <a:lvl1pPr marL="0" indent="0" algn="l">
              <a:lnSpc>
                <a:spcPct val="90000"/>
              </a:lnSpc>
              <a:buFont typeface="Arial" panose="020B0604020202020204" pitchFamily="34" charset="0"/>
              <a:buNone/>
              <a:defRPr sz="3600" b="0" i="0" spc="0" baseline="0">
                <a:solidFill>
                  <a:srgbClr val="38C6F4"/>
                </a:solidFill>
                <a:latin typeface="+mj-lt"/>
                <a:cs typeface="CiscoSans Thin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grpSp>
        <p:nvGrpSpPr>
          <p:cNvPr id="6" name="Group 4"/>
          <p:cNvGrpSpPr>
            <a:grpSpLocks noChangeAspect="1"/>
          </p:cNvGrpSpPr>
          <p:nvPr userDrawn="1"/>
        </p:nvGrpSpPr>
        <p:grpSpPr bwMode="auto">
          <a:xfrm>
            <a:off x="492125" y="395288"/>
            <a:ext cx="796924" cy="423863"/>
            <a:chOff x="310" y="249"/>
            <a:chExt cx="502" cy="267"/>
          </a:xfrm>
          <a:solidFill>
            <a:schemeClr val="accent5"/>
          </a:solidFill>
        </p:grpSpPr>
        <p:sp>
          <p:nvSpPr>
            <p:cNvPr id="9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0" name="Freeform 6"/>
            <p:cNvSpPr/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2" name="Freeform 7"/>
            <p:cNvSpPr/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3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4" name="Freeform 9"/>
            <p:cNvSpPr/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5" name="Freeform 10"/>
            <p:cNvSpPr/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1" name="Freeform 11"/>
            <p:cNvSpPr/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2" name="Freeform 12"/>
            <p:cNvSpPr/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3" name="Freeform 13"/>
            <p:cNvSpPr/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4" name="Freeform 14"/>
            <p:cNvSpPr/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5" name="Freeform 15"/>
            <p:cNvSpPr/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6" name="Freeform 16"/>
            <p:cNvSpPr/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7" name="Freeform 17"/>
            <p:cNvSpPr/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8" name="Freeform 18"/>
            <p:cNvSpPr/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</p:grpSp>
    </p:spTree>
  </p:cSld>
  <p:clrMapOvr>
    <a:masterClrMapping/>
  </p:clrMapOvr>
  <p:transition spd="slow">
    <p:wip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5_Title Slide-animated gradient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ubtitle 2"/>
          <p:cNvSpPr>
            <a:spLocks noGrp="1"/>
          </p:cNvSpPr>
          <p:nvPr>
            <p:ph type="subTitle" idx="1"/>
          </p:nvPr>
        </p:nvSpPr>
        <p:spPr>
          <a:xfrm>
            <a:off x="469496" y="3809526"/>
            <a:ext cx="4319105" cy="288131"/>
          </a:xfrm>
          <a:prstGeom prst="rect">
            <a:avLst/>
          </a:prstGeom>
        </p:spPr>
        <p:txBody>
          <a:bodyPr lIns="91420" tIns="45710" rIns="91420" bIns="45710" anchor="b" anchorCtr="0">
            <a:noAutofit/>
          </a:bodyPr>
          <a:lstStyle>
            <a:lvl1pPr marL="0" indent="0" algn="l">
              <a:buNone/>
              <a:defRPr sz="1200" b="0" i="0">
                <a:solidFill>
                  <a:schemeClr val="accent1"/>
                </a:solidFill>
                <a:latin typeface="+mn-lt"/>
                <a:cs typeface="CiscoSans"/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25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7" name="Text Placeholder 38"/>
          <p:cNvSpPr>
            <a:spLocks noGrp="1"/>
          </p:cNvSpPr>
          <p:nvPr>
            <p:ph type="body" sz="quarter" idx="11"/>
          </p:nvPr>
        </p:nvSpPr>
        <p:spPr>
          <a:xfrm>
            <a:off x="469496" y="4049523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1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8" name="Text Placeholder 40"/>
          <p:cNvSpPr>
            <a:spLocks noGrp="1"/>
          </p:cNvSpPr>
          <p:nvPr>
            <p:ph type="body" sz="quarter" idx="12"/>
          </p:nvPr>
        </p:nvSpPr>
        <p:spPr>
          <a:xfrm>
            <a:off x="469496" y="4289520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1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grpSp>
        <p:nvGrpSpPr>
          <p:cNvPr id="6" name="Group 4"/>
          <p:cNvGrpSpPr>
            <a:grpSpLocks noChangeAspect="1"/>
          </p:cNvGrpSpPr>
          <p:nvPr userDrawn="1"/>
        </p:nvGrpSpPr>
        <p:grpSpPr bwMode="auto">
          <a:xfrm>
            <a:off x="492125" y="395288"/>
            <a:ext cx="796924" cy="423863"/>
            <a:chOff x="310" y="249"/>
            <a:chExt cx="502" cy="267"/>
          </a:xfrm>
          <a:solidFill>
            <a:srgbClr val="004C69"/>
          </a:solidFill>
        </p:grpSpPr>
        <p:sp>
          <p:nvSpPr>
            <p:cNvPr id="9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0" name="Freeform 6"/>
            <p:cNvSpPr/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2" name="Freeform 7"/>
            <p:cNvSpPr/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3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4" name="Freeform 9"/>
            <p:cNvSpPr/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5" name="Freeform 10"/>
            <p:cNvSpPr/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1" name="Freeform 11"/>
            <p:cNvSpPr/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2" name="Freeform 12"/>
            <p:cNvSpPr/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3" name="Freeform 13"/>
            <p:cNvSpPr/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4" name="Freeform 14"/>
            <p:cNvSpPr/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5" name="Freeform 15"/>
            <p:cNvSpPr/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6" name="Freeform 16"/>
            <p:cNvSpPr/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7" name="Freeform 17"/>
            <p:cNvSpPr/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8" name="Freeform 18"/>
            <p:cNvSpPr/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</p:grpSp>
      <p:sp>
        <p:nvSpPr>
          <p:cNvPr id="29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463292" y="2872236"/>
            <a:ext cx="5925246" cy="29900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>
              <a:buFont typeface="Arial" panose="020B0604020202020204" pitchFamily="34" charset="0"/>
              <a:buNone/>
              <a:defRPr sz="2000" baseline="0">
                <a:solidFill>
                  <a:schemeClr val="accent1"/>
                </a:solidFill>
                <a:latin typeface="+mj-lt"/>
              </a:defRPr>
            </a:lvl1pPr>
            <a:lvl2pPr marL="304800" indent="0">
              <a:buNone/>
              <a:defRPr/>
            </a:lvl2pPr>
            <a:lvl3pPr marL="427355" indent="0">
              <a:buNone/>
              <a:defRPr/>
            </a:lvl3pPr>
            <a:lvl4pPr marL="516890" indent="0">
              <a:buNone/>
              <a:defRPr/>
            </a:lvl4pPr>
            <a:lvl5pPr marL="601345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30" name="Title 1"/>
          <p:cNvSpPr>
            <a:spLocks noGrp="1"/>
          </p:cNvSpPr>
          <p:nvPr>
            <p:ph type="ctrTitle"/>
          </p:nvPr>
        </p:nvSpPr>
        <p:spPr>
          <a:xfrm>
            <a:off x="425765" y="2300750"/>
            <a:ext cx="5955513" cy="644730"/>
          </a:xfrm>
          <a:prstGeom prst="rect">
            <a:avLst/>
          </a:prstGeom>
        </p:spPr>
        <p:txBody>
          <a:bodyPr anchor="b"/>
          <a:lstStyle>
            <a:lvl1pPr marL="0" indent="0" algn="l">
              <a:lnSpc>
                <a:spcPct val="90000"/>
              </a:lnSpc>
              <a:buFont typeface="Arial" panose="020B0604020202020204" pitchFamily="34" charset="0"/>
              <a:buNone/>
              <a:defRPr sz="3600" b="0" i="0" spc="0" baseline="0">
                <a:solidFill>
                  <a:schemeClr val="accent1"/>
                </a:solidFill>
                <a:latin typeface="+mj-lt"/>
                <a:cs typeface="CiscoSans Thin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  <p:transition spd="slow">
    <p:wip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6_Title Slide-animated gradient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Subtitle 2"/>
          <p:cNvSpPr>
            <a:spLocks noGrp="1"/>
          </p:cNvSpPr>
          <p:nvPr>
            <p:ph type="subTitle" idx="1"/>
          </p:nvPr>
        </p:nvSpPr>
        <p:spPr>
          <a:xfrm>
            <a:off x="469496" y="3809526"/>
            <a:ext cx="4319105" cy="288131"/>
          </a:xfrm>
          <a:prstGeom prst="rect">
            <a:avLst/>
          </a:prstGeom>
        </p:spPr>
        <p:txBody>
          <a:bodyPr lIns="91420" tIns="45710" rIns="91420" bIns="45710" anchor="b" anchorCtr="0">
            <a:noAutofit/>
          </a:bodyPr>
          <a:lstStyle>
            <a:lvl1pPr marL="0" indent="0" algn="l">
              <a:buNone/>
              <a:defRPr sz="1200" b="0" i="0">
                <a:solidFill>
                  <a:schemeClr val="accent5"/>
                </a:solidFill>
                <a:latin typeface="+mn-lt"/>
                <a:cs typeface="CiscoSans"/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25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7" name="Text Placeholder 38"/>
          <p:cNvSpPr>
            <a:spLocks noGrp="1"/>
          </p:cNvSpPr>
          <p:nvPr>
            <p:ph type="body" sz="quarter" idx="11"/>
          </p:nvPr>
        </p:nvSpPr>
        <p:spPr>
          <a:xfrm>
            <a:off x="469496" y="4049523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5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8" name="Text Placeholder 40"/>
          <p:cNvSpPr>
            <a:spLocks noGrp="1"/>
          </p:cNvSpPr>
          <p:nvPr>
            <p:ph type="body" sz="quarter" idx="12"/>
          </p:nvPr>
        </p:nvSpPr>
        <p:spPr>
          <a:xfrm>
            <a:off x="469496" y="4289520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5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grpSp>
        <p:nvGrpSpPr>
          <p:cNvPr id="6" name="Group 4"/>
          <p:cNvGrpSpPr>
            <a:grpSpLocks noChangeAspect="1"/>
          </p:cNvGrpSpPr>
          <p:nvPr userDrawn="1"/>
        </p:nvGrpSpPr>
        <p:grpSpPr bwMode="auto">
          <a:xfrm>
            <a:off x="492125" y="395288"/>
            <a:ext cx="796924" cy="423863"/>
            <a:chOff x="310" y="249"/>
            <a:chExt cx="502" cy="267"/>
          </a:xfrm>
          <a:solidFill>
            <a:schemeClr val="accent5"/>
          </a:solidFill>
        </p:grpSpPr>
        <p:sp>
          <p:nvSpPr>
            <p:cNvPr id="9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0" name="Freeform 6"/>
            <p:cNvSpPr/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2" name="Freeform 7"/>
            <p:cNvSpPr/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3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4" name="Freeform 9"/>
            <p:cNvSpPr/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5" name="Freeform 10"/>
            <p:cNvSpPr/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1" name="Freeform 11"/>
            <p:cNvSpPr/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2" name="Freeform 12"/>
            <p:cNvSpPr/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3" name="Freeform 13"/>
            <p:cNvSpPr/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4" name="Freeform 14"/>
            <p:cNvSpPr/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5" name="Freeform 15"/>
            <p:cNvSpPr/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6" name="Freeform 16"/>
            <p:cNvSpPr/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7" name="Freeform 17"/>
            <p:cNvSpPr/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8" name="Freeform 18"/>
            <p:cNvSpPr/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</p:grpSp>
      <p:sp>
        <p:nvSpPr>
          <p:cNvPr id="29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463292" y="2872236"/>
            <a:ext cx="5925246" cy="29900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>
              <a:buFont typeface="Arial" panose="020B0604020202020204" pitchFamily="34" charset="0"/>
              <a:buNone/>
              <a:defRPr sz="2000" baseline="0">
                <a:solidFill>
                  <a:schemeClr val="bg2"/>
                </a:solidFill>
                <a:latin typeface="+mj-lt"/>
              </a:defRPr>
            </a:lvl1pPr>
            <a:lvl2pPr marL="304800" indent="0">
              <a:buNone/>
              <a:defRPr/>
            </a:lvl2pPr>
            <a:lvl3pPr marL="427355" indent="0">
              <a:buNone/>
              <a:defRPr/>
            </a:lvl3pPr>
            <a:lvl4pPr marL="516890" indent="0">
              <a:buNone/>
              <a:defRPr/>
            </a:lvl4pPr>
            <a:lvl5pPr marL="601345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30" name="Title 1"/>
          <p:cNvSpPr>
            <a:spLocks noGrp="1"/>
          </p:cNvSpPr>
          <p:nvPr>
            <p:ph type="ctrTitle"/>
          </p:nvPr>
        </p:nvSpPr>
        <p:spPr>
          <a:xfrm>
            <a:off x="425765" y="2300750"/>
            <a:ext cx="5955513" cy="644730"/>
          </a:xfrm>
          <a:prstGeom prst="rect">
            <a:avLst/>
          </a:prstGeom>
        </p:spPr>
        <p:txBody>
          <a:bodyPr anchor="b"/>
          <a:lstStyle>
            <a:lvl1pPr marL="0" indent="0" algn="l">
              <a:lnSpc>
                <a:spcPct val="90000"/>
              </a:lnSpc>
              <a:buFont typeface="Arial" panose="020B0604020202020204" pitchFamily="34" charset="0"/>
              <a:buNone/>
              <a:defRPr sz="3600" b="0" i="0" spc="0" baseline="0">
                <a:solidFill>
                  <a:srgbClr val="38C6F4"/>
                </a:solidFill>
                <a:latin typeface="+mj-lt"/>
                <a:cs typeface="CiscoSans Thin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  <p:transition spd="slow">
    <p:wip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>
  <p:cSld name="3_Segu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0"/>
            <a:ext cx="9144000" cy="5143499"/>
          </a:xfrm>
          <a:prstGeom prst="rect">
            <a:avLst/>
          </a:prstGeom>
          <a:solidFill>
            <a:srgbClr val="00394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itle 1"/>
          <p:cNvSpPr>
            <a:spLocks noGrp="1"/>
          </p:cNvSpPr>
          <p:nvPr>
            <p:ph type="ctrTitle"/>
          </p:nvPr>
        </p:nvSpPr>
        <p:spPr>
          <a:xfrm>
            <a:off x="416425" y="915409"/>
            <a:ext cx="7598042" cy="2569946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90000"/>
              </a:lnSpc>
              <a:buFont typeface="Arial" panose="020B0604020202020204" pitchFamily="34" charset="0"/>
              <a:buNone/>
              <a:defRPr sz="4600" b="0" i="0" spc="0" baseline="0">
                <a:solidFill>
                  <a:schemeClr val="accent5"/>
                </a:solidFill>
                <a:latin typeface="+mj-lt"/>
                <a:cs typeface="CiscoSans Thin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Rectangle 7"/>
          <p:cNvSpPr>
            <a:spLocks noChangeArrowheads="1"/>
          </p:cNvSpPr>
          <p:nvPr userDrawn="1"/>
        </p:nvSpPr>
        <p:spPr bwMode="ltGray">
          <a:xfrm>
            <a:off x="8515707" y="4742907"/>
            <a:ext cx="218414" cy="154518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 lIns="61586" tIns="30792" rIns="61586" bIns="30792" anchor="b">
            <a:spAutoFit/>
          </a:bodyPr>
          <a:lstStyle/>
          <a:p>
            <a:pPr algn="r" defTabSz="610870" fontAlgn="auto">
              <a:spcBef>
                <a:spcPts val="0"/>
              </a:spcBef>
              <a:spcAft>
                <a:spcPts val="0"/>
              </a:spcAft>
              <a:defRPr/>
            </a:pPr>
            <a:fld id="{6A1E46DC-7EF6-4EA2-B285-14272867D133}" type="slidenum">
              <a:rPr lang="en-US" sz="600">
                <a:solidFill>
                  <a:schemeClr val="accent5">
                    <a:lumMod val="50000"/>
                  </a:schemeClr>
                </a:solidFill>
                <a:latin typeface="+mn-lt"/>
                <a:ea typeface="+mn-ea"/>
                <a:cs typeface="CiscoSans Thin"/>
              </a:rPr>
            </a:fld>
            <a:endParaRPr lang="en-US" sz="600" dirty="0">
              <a:solidFill>
                <a:schemeClr val="accent5">
                  <a:lumMod val="50000"/>
                </a:schemeClr>
              </a:solidFill>
              <a:latin typeface="+mn-lt"/>
              <a:ea typeface="+mn-ea"/>
              <a:cs typeface="CiscoSans Thin"/>
            </a:endParaRPr>
          </a:p>
        </p:txBody>
      </p:sp>
      <p:sp>
        <p:nvSpPr>
          <p:cNvPr id="9" name="Rectangle 4"/>
          <p:cNvSpPr>
            <a:spLocks noChangeArrowheads="1"/>
          </p:cNvSpPr>
          <p:nvPr userDrawn="1"/>
        </p:nvSpPr>
        <p:spPr bwMode="ltGray">
          <a:xfrm>
            <a:off x="5867508" y="4741653"/>
            <a:ext cx="2658018" cy="15451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61586" tIns="30792" rIns="61586" bIns="30792" anchor="b">
            <a:spAutoFit/>
          </a:bodyPr>
          <a:lstStyle/>
          <a:p>
            <a:pPr defTabSz="61087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600" dirty="0">
                <a:solidFill>
                  <a:schemeClr val="accent5">
                    <a:lumMod val="50000"/>
                  </a:schemeClr>
                </a:solidFill>
                <a:latin typeface="+mn-lt"/>
                <a:ea typeface="+mn-ea"/>
                <a:cs typeface="CiscoSans Thin"/>
              </a:rPr>
              <a:t>© 2016  Cisco and/or its affiliates. All rights reserved.   Cisco Confidential</a:t>
            </a:r>
            <a:endParaRPr lang="en-US" sz="600" dirty="0">
              <a:solidFill>
                <a:schemeClr val="accent5">
                  <a:lumMod val="50000"/>
                </a:schemeClr>
              </a:solidFill>
              <a:latin typeface="+mn-lt"/>
              <a:ea typeface="+mn-ea"/>
              <a:cs typeface="CiscoSans Thin"/>
            </a:endParaRPr>
          </a:p>
        </p:txBody>
      </p:sp>
      <p:grpSp>
        <p:nvGrpSpPr>
          <p:cNvPr id="11" name="Group 4"/>
          <p:cNvGrpSpPr>
            <a:grpSpLocks noChangeAspect="1"/>
          </p:cNvGrpSpPr>
          <p:nvPr userDrawn="1"/>
        </p:nvGrpSpPr>
        <p:grpSpPr bwMode="auto">
          <a:xfrm>
            <a:off x="508039" y="4715197"/>
            <a:ext cx="340257" cy="180974"/>
            <a:chOff x="310" y="249"/>
            <a:chExt cx="502" cy="267"/>
          </a:xfrm>
          <a:solidFill>
            <a:srgbClr val="086D8E"/>
          </a:solidFill>
        </p:grpSpPr>
        <p:sp>
          <p:nvSpPr>
            <p:cNvPr id="12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3" name="Freeform 6"/>
            <p:cNvSpPr/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4" name="Freeform 7"/>
            <p:cNvSpPr/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5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6" name="Freeform 9"/>
            <p:cNvSpPr/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7" name="Freeform 10"/>
            <p:cNvSpPr/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8" name="Freeform 11"/>
            <p:cNvSpPr/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9" name="Freeform 12"/>
            <p:cNvSpPr/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0" name="Freeform 13"/>
            <p:cNvSpPr/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1" name="Freeform 14"/>
            <p:cNvSpPr/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2" name="Freeform 15"/>
            <p:cNvSpPr/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3" name="Freeform 16"/>
            <p:cNvSpPr/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4" name="Freeform 17"/>
            <p:cNvSpPr/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5" name="Freeform 18"/>
            <p:cNvSpPr/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</p:grpSp>
    </p:spTree>
  </p:cSld>
  <p:clrMapOvr>
    <a:masterClrMapping/>
  </p:clrMapOvr>
  <p:transition spd="slow">
    <p:wip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ulti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474662" y="1347788"/>
            <a:ext cx="8280057" cy="3073946"/>
          </a:xfrm>
          <a:prstGeom prst="rect">
            <a:avLst/>
          </a:prstGeom>
        </p:spPr>
        <p:txBody>
          <a:bodyPr lIns="91420" tIns="45710" rIns="91420" bIns="45710">
            <a:noAutofit/>
          </a:bodyPr>
          <a:lstStyle>
            <a:lvl1pPr marL="285750" marR="0" indent="-285750" algn="ct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/>
              <a:buNone/>
              <a:defRPr sz="2000" b="0" i="0" baseline="0">
                <a:solidFill>
                  <a:schemeClr val="bg1"/>
                </a:solidFill>
                <a:latin typeface="+mn-lt"/>
                <a:cs typeface="CiscoSans ExtraLight"/>
              </a:defRPr>
            </a:lvl1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Title Placeholder 5"/>
          <p:cNvSpPr>
            <a:spLocks noGrp="1"/>
          </p:cNvSpPr>
          <p:nvPr>
            <p:ph type="title"/>
          </p:nvPr>
        </p:nvSpPr>
        <p:spPr bwMode="auto">
          <a:xfrm>
            <a:off x="437766" y="341313"/>
            <a:ext cx="8345488" cy="731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rgbClr val="004C69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GB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>
    <p:fade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Circled_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Oval 11"/>
          <p:cNvSpPr/>
          <p:nvPr/>
        </p:nvSpPr>
        <p:spPr>
          <a:xfrm>
            <a:off x="575610" y="2552550"/>
            <a:ext cx="698624" cy="698624"/>
          </a:xfrm>
          <a:prstGeom prst="ellipse">
            <a:avLst/>
          </a:prstGeom>
          <a:solidFill>
            <a:schemeClr val="bg2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solidFill>
                <a:srgbClr val="FFFFFF"/>
              </a:solidFill>
              <a:cs typeface="Arial" panose="020B0604020202020204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575610" y="1426607"/>
            <a:ext cx="698624" cy="698624"/>
          </a:xfrm>
          <a:prstGeom prst="ellipse">
            <a:avLst/>
          </a:prstGeom>
          <a:solidFill>
            <a:srgbClr val="00394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bg1"/>
              </a:solidFill>
              <a:cs typeface="Arial" panose="020B0604020202020204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575610" y="3653093"/>
            <a:ext cx="698624" cy="698624"/>
          </a:xfrm>
          <a:prstGeom prst="ellipse">
            <a:avLst/>
          </a:prstGeom>
          <a:solidFill>
            <a:schemeClr val="accent5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solidFill>
                <a:srgbClr val="049FD9"/>
              </a:solidFill>
              <a:cs typeface="Arial" panose="020B0604020202020204"/>
            </a:endParaRPr>
          </a:p>
        </p:txBody>
      </p:sp>
      <p:sp>
        <p:nvSpPr>
          <p:cNvPr id="24" name="Text Placeholder 17"/>
          <p:cNvSpPr>
            <a:spLocks noGrp="1"/>
          </p:cNvSpPr>
          <p:nvPr>
            <p:ph type="body" sz="quarter" idx="13"/>
          </p:nvPr>
        </p:nvSpPr>
        <p:spPr>
          <a:xfrm>
            <a:off x="1365250" y="1432522"/>
            <a:ext cx="5473700" cy="6933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25" name="Text Placeholder 17"/>
          <p:cNvSpPr>
            <a:spLocks noGrp="1"/>
          </p:cNvSpPr>
          <p:nvPr>
            <p:ph type="body" sz="quarter" idx="14"/>
          </p:nvPr>
        </p:nvSpPr>
        <p:spPr>
          <a:xfrm>
            <a:off x="1365250" y="2557793"/>
            <a:ext cx="5473700" cy="6933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26" name="Text Placeholder 17"/>
          <p:cNvSpPr>
            <a:spLocks noGrp="1"/>
          </p:cNvSpPr>
          <p:nvPr>
            <p:ph type="body" sz="quarter" idx="15"/>
          </p:nvPr>
        </p:nvSpPr>
        <p:spPr>
          <a:xfrm>
            <a:off x="1365250" y="3653093"/>
            <a:ext cx="5473700" cy="6933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28" name="Text Placeholder 17"/>
          <p:cNvSpPr>
            <a:spLocks noGrp="1"/>
          </p:cNvSpPr>
          <p:nvPr>
            <p:ph type="body" sz="quarter" idx="17" hasCustomPrompt="1"/>
          </p:nvPr>
        </p:nvSpPr>
        <p:spPr>
          <a:xfrm>
            <a:off x="575610" y="2552550"/>
            <a:ext cx="698624" cy="6933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4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2</a:t>
            </a:r>
            <a:endParaRPr lang="en-US" dirty="0"/>
          </a:p>
        </p:txBody>
      </p:sp>
      <p:sp>
        <p:nvSpPr>
          <p:cNvPr id="29" name="Text Placeholder 17"/>
          <p:cNvSpPr>
            <a:spLocks noGrp="1"/>
          </p:cNvSpPr>
          <p:nvPr>
            <p:ph type="body" sz="quarter" idx="18" hasCustomPrompt="1"/>
          </p:nvPr>
        </p:nvSpPr>
        <p:spPr>
          <a:xfrm>
            <a:off x="575611" y="3651140"/>
            <a:ext cx="698624" cy="693381"/>
          </a:xfrm>
          <a:prstGeom prst="rect">
            <a:avLst/>
          </a:prstGeom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4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3</a:t>
            </a:r>
            <a:endParaRPr lang="en-US" dirty="0"/>
          </a:p>
        </p:txBody>
      </p:sp>
      <p:sp>
        <p:nvSpPr>
          <p:cNvPr id="13" name="Text Placeholder 17"/>
          <p:cNvSpPr>
            <a:spLocks noGrp="1"/>
          </p:cNvSpPr>
          <p:nvPr>
            <p:ph type="body" sz="quarter" idx="19" hasCustomPrompt="1"/>
          </p:nvPr>
        </p:nvSpPr>
        <p:spPr>
          <a:xfrm>
            <a:off x="575610" y="1427248"/>
            <a:ext cx="698624" cy="6933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4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1</a:t>
            </a:r>
            <a:endParaRPr lang="en-US" dirty="0"/>
          </a:p>
        </p:txBody>
      </p:sp>
    </p:spTree>
  </p:cSld>
  <p:clrMapOvr>
    <a:masterClrMapping/>
  </p:clrMapOvr>
  <p:transition spd="slow">
    <p:wipe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Circled_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Oval 11"/>
          <p:cNvSpPr/>
          <p:nvPr/>
        </p:nvSpPr>
        <p:spPr>
          <a:xfrm>
            <a:off x="575611" y="1979318"/>
            <a:ext cx="464815" cy="464815"/>
          </a:xfrm>
          <a:prstGeom prst="ellipse">
            <a:avLst/>
          </a:prstGeom>
          <a:solidFill>
            <a:srgbClr val="38C6F4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accent5"/>
              </a:solidFill>
              <a:cs typeface="Arial" panose="020B0604020202020204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575610" y="1328927"/>
            <a:ext cx="464815" cy="464815"/>
          </a:xfrm>
          <a:prstGeom prst="ellipse">
            <a:avLst/>
          </a:prstGeom>
          <a:solidFill>
            <a:srgbClr val="00394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accent5"/>
              </a:solidFill>
              <a:cs typeface="Arial" panose="020B0604020202020204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575611" y="2627446"/>
            <a:ext cx="464815" cy="464815"/>
          </a:xfrm>
          <a:prstGeom prst="ellipse">
            <a:avLst/>
          </a:prstGeom>
          <a:solidFill>
            <a:schemeClr val="bg2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accent5"/>
              </a:solidFill>
              <a:cs typeface="Arial" panose="020B0604020202020204"/>
            </a:endParaRPr>
          </a:p>
        </p:txBody>
      </p:sp>
      <p:sp>
        <p:nvSpPr>
          <p:cNvPr id="24" name="Text Placeholder 17"/>
          <p:cNvSpPr>
            <a:spLocks noGrp="1"/>
          </p:cNvSpPr>
          <p:nvPr>
            <p:ph type="body" sz="quarter" idx="13"/>
          </p:nvPr>
        </p:nvSpPr>
        <p:spPr>
          <a:xfrm>
            <a:off x="1172384" y="1334842"/>
            <a:ext cx="5678748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25" name="Text Placeholder 17"/>
          <p:cNvSpPr>
            <a:spLocks noGrp="1"/>
          </p:cNvSpPr>
          <p:nvPr>
            <p:ph type="body" sz="quarter" idx="14"/>
          </p:nvPr>
        </p:nvSpPr>
        <p:spPr>
          <a:xfrm>
            <a:off x="1172385" y="1984561"/>
            <a:ext cx="5678748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26" name="Text Placeholder 17"/>
          <p:cNvSpPr>
            <a:spLocks noGrp="1"/>
          </p:cNvSpPr>
          <p:nvPr>
            <p:ph type="body" sz="quarter" idx="15"/>
          </p:nvPr>
        </p:nvSpPr>
        <p:spPr>
          <a:xfrm>
            <a:off x="1172385" y="2627446"/>
            <a:ext cx="5678748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27" name="Text Placeholder 17"/>
          <p:cNvSpPr>
            <a:spLocks noGrp="1"/>
          </p:cNvSpPr>
          <p:nvPr>
            <p:ph type="body" sz="quarter" idx="16" hasCustomPrompt="1"/>
          </p:nvPr>
        </p:nvSpPr>
        <p:spPr>
          <a:xfrm>
            <a:off x="575611" y="1327521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1</a:t>
            </a:r>
            <a:endParaRPr lang="en-US" dirty="0"/>
          </a:p>
        </p:txBody>
      </p:sp>
      <p:sp>
        <p:nvSpPr>
          <p:cNvPr id="28" name="Text Placeholder 17"/>
          <p:cNvSpPr>
            <a:spLocks noGrp="1"/>
          </p:cNvSpPr>
          <p:nvPr>
            <p:ph type="body" sz="quarter" idx="17" hasCustomPrompt="1"/>
          </p:nvPr>
        </p:nvSpPr>
        <p:spPr>
          <a:xfrm>
            <a:off x="575611" y="1979318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2</a:t>
            </a:r>
            <a:endParaRPr lang="en-US" dirty="0"/>
          </a:p>
        </p:txBody>
      </p:sp>
      <p:sp>
        <p:nvSpPr>
          <p:cNvPr id="29" name="Text Placeholder 17"/>
          <p:cNvSpPr>
            <a:spLocks noGrp="1"/>
          </p:cNvSpPr>
          <p:nvPr>
            <p:ph type="body" sz="quarter" idx="18" hasCustomPrompt="1"/>
          </p:nvPr>
        </p:nvSpPr>
        <p:spPr>
          <a:xfrm>
            <a:off x="575612" y="2625493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3</a:t>
            </a:r>
            <a:endParaRPr lang="en-US" dirty="0"/>
          </a:p>
        </p:txBody>
      </p:sp>
      <p:sp>
        <p:nvSpPr>
          <p:cNvPr id="13" name="Oval 12"/>
          <p:cNvSpPr/>
          <p:nvPr/>
        </p:nvSpPr>
        <p:spPr>
          <a:xfrm>
            <a:off x="575612" y="3274581"/>
            <a:ext cx="464815" cy="464815"/>
          </a:xfrm>
          <a:prstGeom prst="ellipse">
            <a:avLst/>
          </a:prstGeom>
          <a:solidFill>
            <a:schemeClr val="accent6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accent5"/>
              </a:solidFill>
              <a:cs typeface="Arial" panose="020B0604020202020204"/>
            </a:endParaRPr>
          </a:p>
        </p:txBody>
      </p:sp>
      <p:sp>
        <p:nvSpPr>
          <p:cNvPr id="14" name="Text Placeholder 17"/>
          <p:cNvSpPr>
            <a:spLocks noGrp="1"/>
          </p:cNvSpPr>
          <p:nvPr>
            <p:ph type="body" sz="quarter" idx="19"/>
          </p:nvPr>
        </p:nvSpPr>
        <p:spPr>
          <a:xfrm>
            <a:off x="1172386" y="3274581"/>
            <a:ext cx="5678748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6" name="Text Placeholder 17"/>
          <p:cNvSpPr>
            <a:spLocks noGrp="1"/>
          </p:cNvSpPr>
          <p:nvPr>
            <p:ph type="body" sz="quarter" idx="20" hasCustomPrompt="1"/>
          </p:nvPr>
        </p:nvSpPr>
        <p:spPr>
          <a:xfrm>
            <a:off x="575613" y="3272628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4</a:t>
            </a:r>
            <a:endParaRPr lang="en-US" dirty="0"/>
          </a:p>
        </p:txBody>
      </p:sp>
      <p:sp>
        <p:nvSpPr>
          <p:cNvPr id="17" name="Oval 16"/>
          <p:cNvSpPr/>
          <p:nvPr/>
        </p:nvSpPr>
        <p:spPr>
          <a:xfrm>
            <a:off x="575613" y="3921716"/>
            <a:ext cx="464815" cy="464815"/>
          </a:xfrm>
          <a:prstGeom prst="ellipse">
            <a:avLst/>
          </a:prstGeom>
          <a:solidFill>
            <a:srgbClr val="00394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accent5"/>
              </a:solidFill>
              <a:cs typeface="Arial" panose="020B0604020202020204"/>
            </a:endParaRPr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21"/>
          </p:nvPr>
        </p:nvSpPr>
        <p:spPr>
          <a:xfrm>
            <a:off x="1172387" y="3921716"/>
            <a:ext cx="5678748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9" name="Text Placeholder 17"/>
          <p:cNvSpPr>
            <a:spLocks noGrp="1"/>
          </p:cNvSpPr>
          <p:nvPr>
            <p:ph type="body" sz="quarter" idx="22" hasCustomPrompt="1"/>
          </p:nvPr>
        </p:nvSpPr>
        <p:spPr>
          <a:xfrm>
            <a:off x="575614" y="3919763"/>
            <a:ext cx="464815" cy="461327"/>
          </a:xfrm>
          <a:prstGeom prst="rect">
            <a:avLst/>
          </a:prstGeom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5</a:t>
            </a:r>
            <a:endParaRPr lang="en-US" dirty="0"/>
          </a:p>
        </p:txBody>
      </p:sp>
    </p:spTree>
  </p:cSld>
  <p:clrMapOvr>
    <a:masterClrMapping/>
  </p:clrMapOvr>
  <p:transition spd="slow">
    <p:wipe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Circled_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04C69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2" name="Oval 41"/>
          <p:cNvSpPr/>
          <p:nvPr/>
        </p:nvSpPr>
        <p:spPr>
          <a:xfrm>
            <a:off x="575611" y="1979318"/>
            <a:ext cx="464815" cy="464815"/>
          </a:xfrm>
          <a:prstGeom prst="ellipse">
            <a:avLst/>
          </a:prstGeom>
          <a:solidFill>
            <a:srgbClr val="38C6F4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 panose="020B0604020202020204"/>
            </a:endParaRPr>
          </a:p>
        </p:txBody>
      </p:sp>
      <p:sp>
        <p:nvSpPr>
          <p:cNvPr id="43" name="Oval 42"/>
          <p:cNvSpPr/>
          <p:nvPr/>
        </p:nvSpPr>
        <p:spPr>
          <a:xfrm>
            <a:off x="575610" y="1328927"/>
            <a:ext cx="464815" cy="464815"/>
          </a:xfrm>
          <a:prstGeom prst="ellipse">
            <a:avLst/>
          </a:prstGeom>
          <a:solidFill>
            <a:srgbClr val="00394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rgbClr val="FFFFFF"/>
              </a:solidFill>
              <a:cs typeface="Arial" panose="020B0604020202020204"/>
            </a:endParaRPr>
          </a:p>
        </p:txBody>
      </p:sp>
      <p:sp>
        <p:nvSpPr>
          <p:cNvPr id="44" name="Oval 43"/>
          <p:cNvSpPr/>
          <p:nvPr/>
        </p:nvSpPr>
        <p:spPr>
          <a:xfrm>
            <a:off x="575611" y="2627446"/>
            <a:ext cx="464815" cy="464815"/>
          </a:xfrm>
          <a:prstGeom prst="ellipse">
            <a:avLst/>
          </a:prstGeom>
          <a:solidFill>
            <a:schemeClr val="bg2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 panose="020B0604020202020204"/>
            </a:endParaRPr>
          </a:p>
        </p:txBody>
      </p:sp>
      <p:sp>
        <p:nvSpPr>
          <p:cNvPr id="45" name="Text Placeholder 17"/>
          <p:cNvSpPr>
            <a:spLocks noGrp="1"/>
          </p:cNvSpPr>
          <p:nvPr>
            <p:ph type="body" sz="quarter" idx="13"/>
          </p:nvPr>
        </p:nvSpPr>
        <p:spPr>
          <a:xfrm>
            <a:off x="1172384" y="1334842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6" name="Text Placeholder 17"/>
          <p:cNvSpPr>
            <a:spLocks noGrp="1"/>
          </p:cNvSpPr>
          <p:nvPr>
            <p:ph type="body" sz="quarter" idx="14"/>
          </p:nvPr>
        </p:nvSpPr>
        <p:spPr>
          <a:xfrm>
            <a:off x="1172385" y="1984561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7" name="Text Placeholder 17"/>
          <p:cNvSpPr>
            <a:spLocks noGrp="1"/>
          </p:cNvSpPr>
          <p:nvPr>
            <p:ph type="body" sz="quarter" idx="15"/>
          </p:nvPr>
        </p:nvSpPr>
        <p:spPr>
          <a:xfrm>
            <a:off x="1172385" y="2627446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8" name="Text Placeholder 17"/>
          <p:cNvSpPr>
            <a:spLocks noGrp="1"/>
          </p:cNvSpPr>
          <p:nvPr>
            <p:ph type="body" sz="quarter" idx="16" hasCustomPrompt="1"/>
          </p:nvPr>
        </p:nvSpPr>
        <p:spPr>
          <a:xfrm>
            <a:off x="575611" y="1327521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1</a:t>
            </a:r>
            <a:endParaRPr lang="en-US" dirty="0"/>
          </a:p>
        </p:txBody>
      </p:sp>
      <p:sp>
        <p:nvSpPr>
          <p:cNvPr id="49" name="Text Placeholder 17"/>
          <p:cNvSpPr>
            <a:spLocks noGrp="1"/>
          </p:cNvSpPr>
          <p:nvPr>
            <p:ph type="body" sz="quarter" idx="17" hasCustomPrompt="1"/>
          </p:nvPr>
        </p:nvSpPr>
        <p:spPr>
          <a:xfrm>
            <a:off x="575611" y="1979318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2</a:t>
            </a:r>
            <a:endParaRPr lang="en-US" dirty="0"/>
          </a:p>
        </p:txBody>
      </p:sp>
      <p:sp>
        <p:nvSpPr>
          <p:cNvPr id="50" name="Text Placeholder 17"/>
          <p:cNvSpPr>
            <a:spLocks noGrp="1"/>
          </p:cNvSpPr>
          <p:nvPr>
            <p:ph type="body" sz="quarter" idx="18" hasCustomPrompt="1"/>
          </p:nvPr>
        </p:nvSpPr>
        <p:spPr>
          <a:xfrm>
            <a:off x="575612" y="2625493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3</a:t>
            </a:r>
            <a:endParaRPr lang="en-US" dirty="0"/>
          </a:p>
        </p:txBody>
      </p:sp>
      <p:sp>
        <p:nvSpPr>
          <p:cNvPr id="51" name="Oval 50"/>
          <p:cNvSpPr/>
          <p:nvPr/>
        </p:nvSpPr>
        <p:spPr>
          <a:xfrm>
            <a:off x="575612" y="3274581"/>
            <a:ext cx="464815" cy="464815"/>
          </a:xfrm>
          <a:prstGeom prst="ellipse">
            <a:avLst/>
          </a:prstGeom>
          <a:solidFill>
            <a:schemeClr val="accent6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 panose="020B0604020202020204"/>
            </a:endParaRPr>
          </a:p>
        </p:txBody>
      </p:sp>
      <p:sp>
        <p:nvSpPr>
          <p:cNvPr id="52" name="Text Placeholder 17"/>
          <p:cNvSpPr>
            <a:spLocks noGrp="1"/>
          </p:cNvSpPr>
          <p:nvPr>
            <p:ph type="body" sz="quarter" idx="19"/>
          </p:nvPr>
        </p:nvSpPr>
        <p:spPr>
          <a:xfrm>
            <a:off x="1172386" y="3274581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3" name="Text Placeholder 17"/>
          <p:cNvSpPr>
            <a:spLocks noGrp="1"/>
          </p:cNvSpPr>
          <p:nvPr>
            <p:ph type="body" sz="quarter" idx="20" hasCustomPrompt="1"/>
          </p:nvPr>
        </p:nvSpPr>
        <p:spPr>
          <a:xfrm>
            <a:off x="575613" y="3272628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4</a:t>
            </a:r>
            <a:endParaRPr lang="en-US" dirty="0"/>
          </a:p>
        </p:txBody>
      </p:sp>
      <p:sp>
        <p:nvSpPr>
          <p:cNvPr id="54" name="Oval 53"/>
          <p:cNvSpPr/>
          <p:nvPr/>
        </p:nvSpPr>
        <p:spPr>
          <a:xfrm>
            <a:off x="575613" y="3921716"/>
            <a:ext cx="464815" cy="464815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 panose="020B0604020202020204"/>
            </a:endParaRPr>
          </a:p>
        </p:txBody>
      </p:sp>
      <p:sp>
        <p:nvSpPr>
          <p:cNvPr id="55" name="Text Placeholder 17"/>
          <p:cNvSpPr>
            <a:spLocks noGrp="1"/>
          </p:cNvSpPr>
          <p:nvPr>
            <p:ph type="body" sz="quarter" idx="21"/>
          </p:nvPr>
        </p:nvSpPr>
        <p:spPr>
          <a:xfrm>
            <a:off x="1172387" y="3921716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6" name="Text Placeholder 17"/>
          <p:cNvSpPr>
            <a:spLocks noGrp="1"/>
          </p:cNvSpPr>
          <p:nvPr>
            <p:ph type="body" sz="quarter" idx="22" hasCustomPrompt="1"/>
          </p:nvPr>
        </p:nvSpPr>
        <p:spPr>
          <a:xfrm>
            <a:off x="575614" y="3919763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5</a:t>
            </a:r>
            <a:endParaRPr lang="en-US" dirty="0"/>
          </a:p>
        </p:txBody>
      </p:sp>
      <p:sp>
        <p:nvSpPr>
          <p:cNvPr id="57" name="Oval 56"/>
          <p:cNvSpPr/>
          <p:nvPr/>
        </p:nvSpPr>
        <p:spPr>
          <a:xfrm>
            <a:off x="4414576" y="1983084"/>
            <a:ext cx="464815" cy="464815"/>
          </a:xfrm>
          <a:prstGeom prst="ellipse">
            <a:avLst/>
          </a:prstGeom>
          <a:solidFill>
            <a:schemeClr val="accent6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 panose="020B0604020202020204"/>
            </a:endParaRPr>
          </a:p>
        </p:txBody>
      </p:sp>
      <p:sp>
        <p:nvSpPr>
          <p:cNvPr id="58" name="Oval 57"/>
          <p:cNvSpPr/>
          <p:nvPr/>
        </p:nvSpPr>
        <p:spPr>
          <a:xfrm>
            <a:off x="4414575" y="1332693"/>
            <a:ext cx="464815" cy="464815"/>
          </a:xfrm>
          <a:prstGeom prst="ellipse">
            <a:avLst/>
          </a:prstGeom>
          <a:solidFill>
            <a:srgbClr val="00394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 panose="020B0604020202020204"/>
            </a:endParaRPr>
          </a:p>
        </p:txBody>
      </p:sp>
      <p:sp>
        <p:nvSpPr>
          <p:cNvPr id="59" name="Oval 58"/>
          <p:cNvSpPr/>
          <p:nvPr/>
        </p:nvSpPr>
        <p:spPr>
          <a:xfrm>
            <a:off x="4414576" y="2631212"/>
            <a:ext cx="464815" cy="464815"/>
          </a:xfrm>
          <a:prstGeom prst="ellipse">
            <a:avLst/>
          </a:prstGeom>
          <a:solidFill>
            <a:schemeClr val="accent5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 panose="020B0604020202020204"/>
            </a:endParaRPr>
          </a:p>
        </p:txBody>
      </p:sp>
      <p:sp>
        <p:nvSpPr>
          <p:cNvPr id="60" name="Text Placeholder 17"/>
          <p:cNvSpPr>
            <a:spLocks noGrp="1"/>
          </p:cNvSpPr>
          <p:nvPr>
            <p:ph type="body" sz="quarter" idx="23"/>
          </p:nvPr>
        </p:nvSpPr>
        <p:spPr>
          <a:xfrm>
            <a:off x="5011349" y="1338608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1" name="Text Placeholder 17"/>
          <p:cNvSpPr>
            <a:spLocks noGrp="1"/>
          </p:cNvSpPr>
          <p:nvPr>
            <p:ph type="body" sz="quarter" idx="24"/>
          </p:nvPr>
        </p:nvSpPr>
        <p:spPr>
          <a:xfrm>
            <a:off x="5011350" y="1988327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2" name="Text Placeholder 17"/>
          <p:cNvSpPr>
            <a:spLocks noGrp="1"/>
          </p:cNvSpPr>
          <p:nvPr>
            <p:ph type="body" sz="quarter" idx="25"/>
          </p:nvPr>
        </p:nvSpPr>
        <p:spPr>
          <a:xfrm>
            <a:off x="5011350" y="2631212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3" name="Text Placeholder 17"/>
          <p:cNvSpPr>
            <a:spLocks noGrp="1"/>
          </p:cNvSpPr>
          <p:nvPr>
            <p:ph type="body" sz="quarter" idx="26" hasCustomPrompt="1"/>
          </p:nvPr>
        </p:nvSpPr>
        <p:spPr>
          <a:xfrm>
            <a:off x="4414576" y="1331287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6</a:t>
            </a:r>
            <a:endParaRPr lang="en-US" dirty="0"/>
          </a:p>
        </p:txBody>
      </p:sp>
      <p:sp>
        <p:nvSpPr>
          <p:cNvPr id="64" name="Text Placeholder 17"/>
          <p:cNvSpPr>
            <a:spLocks noGrp="1"/>
          </p:cNvSpPr>
          <p:nvPr>
            <p:ph type="body" sz="quarter" idx="27" hasCustomPrompt="1"/>
          </p:nvPr>
        </p:nvSpPr>
        <p:spPr>
          <a:xfrm>
            <a:off x="4414576" y="1983084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7</a:t>
            </a:r>
            <a:endParaRPr lang="en-US" dirty="0"/>
          </a:p>
        </p:txBody>
      </p:sp>
      <p:sp>
        <p:nvSpPr>
          <p:cNvPr id="65" name="Text Placeholder 17"/>
          <p:cNvSpPr>
            <a:spLocks noGrp="1"/>
          </p:cNvSpPr>
          <p:nvPr>
            <p:ph type="body" sz="quarter" idx="28" hasCustomPrompt="1"/>
          </p:nvPr>
        </p:nvSpPr>
        <p:spPr>
          <a:xfrm>
            <a:off x="4414577" y="2629259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8</a:t>
            </a:r>
            <a:endParaRPr lang="en-US" dirty="0"/>
          </a:p>
        </p:txBody>
      </p:sp>
      <p:sp>
        <p:nvSpPr>
          <p:cNvPr id="66" name="Oval 65"/>
          <p:cNvSpPr/>
          <p:nvPr/>
        </p:nvSpPr>
        <p:spPr>
          <a:xfrm>
            <a:off x="4414577" y="3278347"/>
            <a:ext cx="464815" cy="464815"/>
          </a:xfrm>
          <a:prstGeom prst="ellipse">
            <a:avLst/>
          </a:prstGeom>
          <a:solidFill>
            <a:schemeClr val="bg2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 panose="020B0604020202020204"/>
            </a:endParaRPr>
          </a:p>
        </p:txBody>
      </p:sp>
      <p:sp>
        <p:nvSpPr>
          <p:cNvPr id="67" name="Text Placeholder 17"/>
          <p:cNvSpPr>
            <a:spLocks noGrp="1"/>
          </p:cNvSpPr>
          <p:nvPr>
            <p:ph type="body" sz="quarter" idx="29"/>
          </p:nvPr>
        </p:nvSpPr>
        <p:spPr>
          <a:xfrm>
            <a:off x="5011351" y="3278347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8" name="Text Placeholder 17"/>
          <p:cNvSpPr>
            <a:spLocks noGrp="1"/>
          </p:cNvSpPr>
          <p:nvPr>
            <p:ph type="body" sz="quarter" idx="30" hasCustomPrompt="1"/>
          </p:nvPr>
        </p:nvSpPr>
        <p:spPr>
          <a:xfrm>
            <a:off x="4414578" y="3276394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9</a:t>
            </a:r>
            <a:endParaRPr lang="en-US" dirty="0"/>
          </a:p>
        </p:txBody>
      </p:sp>
      <p:sp>
        <p:nvSpPr>
          <p:cNvPr id="69" name="Oval 68"/>
          <p:cNvSpPr/>
          <p:nvPr/>
        </p:nvSpPr>
        <p:spPr>
          <a:xfrm>
            <a:off x="4414578" y="3925482"/>
            <a:ext cx="464815" cy="464815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 panose="020B0604020202020204"/>
            </a:endParaRPr>
          </a:p>
        </p:txBody>
      </p:sp>
      <p:sp>
        <p:nvSpPr>
          <p:cNvPr id="70" name="Text Placeholder 17"/>
          <p:cNvSpPr>
            <a:spLocks noGrp="1"/>
          </p:cNvSpPr>
          <p:nvPr>
            <p:ph type="body" sz="quarter" idx="31"/>
          </p:nvPr>
        </p:nvSpPr>
        <p:spPr>
          <a:xfrm>
            <a:off x="5011352" y="3925482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71" name="Text Placeholder 17"/>
          <p:cNvSpPr>
            <a:spLocks noGrp="1"/>
          </p:cNvSpPr>
          <p:nvPr>
            <p:ph type="body" sz="quarter" idx="32" hasCustomPrompt="1"/>
          </p:nvPr>
        </p:nvSpPr>
        <p:spPr>
          <a:xfrm>
            <a:off x="4414579" y="3923529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10</a:t>
            </a:r>
            <a:endParaRPr lang="en-US" dirty="0"/>
          </a:p>
        </p:txBody>
      </p:sp>
    </p:spTree>
  </p:cSld>
  <p:clrMapOvr>
    <a:masterClrMapping/>
  </p:clrMapOvr>
  <p:transition spd="slow">
    <p:wipe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>
  <p:cSld name="1_Closing Slid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1"/>
            <a:ext cx="9143999" cy="5165874"/>
          </a:xfrm>
          <a:prstGeom prst="rect">
            <a:avLst/>
          </a:prstGeom>
        </p:spPr>
      </p:pic>
      <p:grpSp>
        <p:nvGrpSpPr>
          <p:cNvPr id="4" name="Group 4"/>
          <p:cNvGrpSpPr>
            <a:grpSpLocks noChangeAspect="1"/>
          </p:cNvGrpSpPr>
          <p:nvPr userDrawn="1"/>
        </p:nvGrpSpPr>
        <p:grpSpPr bwMode="auto">
          <a:xfrm>
            <a:off x="3746294" y="2129856"/>
            <a:ext cx="1617944" cy="860542"/>
            <a:chOff x="310" y="249"/>
            <a:chExt cx="502" cy="267"/>
          </a:xfrm>
          <a:solidFill>
            <a:schemeClr val="accent5"/>
          </a:solidFill>
        </p:grpSpPr>
        <p:sp>
          <p:nvSpPr>
            <p:cNvPr id="5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6" name="Freeform 6"/>
            <p:cNvSpPr/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7" name="Freeform 7"/>
            <p:cNvSpPr/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8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9" name="Freeform 9"/>
            <p:cNvSpPr/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0" name="Freeform 10"/>
            <p:cNvSpPr/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1" name="Freeform 11"/>
            <p:cNvSpPr/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2" name="Freeform 12"/>
            <p:cNvSpPr/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3" name="Freeform 13"/>
            <p:cNvSpPr/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4" name="Freeform 14"/>
            <p:cNvSpPr/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5" name="Freeform 15"/>
            <p:cNvSpPr/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6" name="Freeform 16"/>
            <p:cNvSpPr/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7" name="Freeform 17"/>
            <p:cNvSpPr/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8" name="Freeform 18"/>
            <p:cNvSpPr/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</p:grpSp>
    </p:spTree>
  </p:cSld>
  <p:clrMapOvr>
    <a:masterClrMapping/>
  </p:clrMapOvr>
  <p:transition spd="slow">
    <p:wipe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>
  <p:cSld name="Closing Slid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394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4" name="Group 4"/>
          <p:cNvGrpSpPr>
            <a:grpSpLocks noChangeAspect="1"/>
          </p:cNvGrpSpPr>
          <p:nvPr userDrawn="1"/>
        </p:nvGrpSpPr>
        <p:grpSpPr bwMode="auto">
          <a:xfrm>
            <a:off x="3746294" y="2129856"/>
            <a:ext cx="1617944" cy="860542"/>
            <a:chOff x="310" y="249"/>
            <a:chExt cx="502" cy="267"/>
          </a:xfrm>
          <a:solidFill>
            <a:schemeClr val="accent5"/>
          </a:solidFill>
        </p:grpSpPr>
        <p:sp>
          <p:nvSpPr>
            <p:cNvPr id="5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6" name="Freeform 6"/>
            <p:cNvSpPr/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7" name="Freeform 7"/>
            <p:cNvSpPr/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8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9" name="Freeform 9"/>
            <p:cNvSpPr/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0" name="Freeform 10"/>
            <p:cNvSpPr/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1" name="Freeform 11"/>
            <p:cNvSpPr/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2" name="Freeform 12"/>
            <p:cNvSpPr/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3" name="Freeform 13"/>
            <p:cNvSpPr/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4" name="Freeform 14"/>
            <p:cNvSpPr/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5" name="Freeform 15"/>
            <p:cNvSpPr/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6" name="Freeform 16"/>
            <p:cNvSpPr/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7" name="Freeform 17"/>
            <p:cNvSpPr/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8" name="Freeform 18"/>
            <p:cNvSpPr/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</p:grpSp>
    </p:spTree>
  </p:cSld>
  <p:clrMapOvr>
    <a:masterClrMapping/>
  </p:clrMapOvr>
  <p:transition spd="slow">
    <p:wipe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>
  <p:cSld name="3_Closing Slid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>
            <a:grpSpLocks noChangeAspect="1"/>
          </p:cNvGrpSpPr>
          <p:nvPr userDrawn="1"/>
        </p:nvGrpSpPr>
        <p:grpSpPr bwMode="auto">
          <a:xfrm>
            <a:off x="3746294" y="2129856"/>
            <a:ext cx="1617944" cy="860542"/>
            <a:chOff x="310" y="249"/>
            <a:chExt cx="502" cy="267"/>
          </a:xfrm>
          <a:solidFill>
            <a:schemeClr val="accent1">
              <a:lumMod val="75000"/>
            </a:schemeClr>
          </a:solidFill>
        </p:grpSpPr>
        <p:sp>
          <p:nvSpPr>
            <p:cNvPr id="5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6" name="Freeform 6"/>
            <p:cNvSpPr/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7" name="Freeform 7"/>
            <p:cNvSpPr/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8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9" name="Freeform 9"/>
            <p:cNvSpPr/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0" name="Freeform 10"/>
            <p:cNvSpPr/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1" name="Freeform 11"/>
            <p:cNvSpPr/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2" name="Freeform 12"/>
            <p:cNvSpPr/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3" name="Freeform 13"/>
            <p:cNvSpPr/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4" name="Freeform 14"/>
            <p:cNvSpPr/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5" name="Freeform 15"/>
            <p:cNvSpPr/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6" name="Freeform 16"/>
            <p:cNvSpPr/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7" name="Freeform 17"/>
            <p:cNvSpPr/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8" name="Freeform 18"/>
            <p:cNvSpPr/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</p:grpSp>
    </p:spTree>
  </p:cSld>
  <p:clrMapOvr>
    <a:masterClrMapping/>
  </p:clrMapOvr>
  <p:transition spd="slow">
    <p:wipe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6"/>
          <p:cNvSpPr>
            <a:spLocks noGrp="1"/>
          </p:cNvSpPr>
          <p:nvPr>
            <p:ph type="sldNum" sz="quarter" idx="4"/>
          </p:nvPr>
        </p:nvSpPr>
        <p:spPr>
          <a:xfrm>
            <a:off x="8473441" y="4954263"/>
            <a:ext cx="676910" cy="1892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25">
                <a:solidFill>
                  <a:schemeClr val="tx2"/>
                </a:solidFill>
              </a:defRPr>
            </a:lvl1pPr>
          </a:lstStyle>
          <a:p>
            <a:pPr defTabSz="386080">
              <a:defRPr/>
            </a:pPr>
            <a:fld id="{2F5CCB13-0A32-4557-88E9-079F0C330695}" type="slidenum">
              <a:rPr lang="en-US" kern="0" smtClean="0">
                <a:solidFill>
                  <a:srgbClr val="595959"/>
                </a:solidFill>
              </a:rPr>
            </a:fld>
            <a:endParaRPr lang="en-US" kern="0" dirty="0">
              <a:solidFill>
                <a:srgbClr val="595959"/>
              </a:solidFill>
            </a:endParaRPr>
          </a:p>
        </p:txBody>
      </p:sp>
      <p:sp>
        <p:nvSpPr>
          <p:cNvPr id="5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144065" y="798944"/>
            <a:ext cx="8853286" cy="41553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182880" bIns="45720" numCol="1" anchor="t" anchorCtr="0" compatLnSpc="1"/>
          <a:lstStyle>
            <a:lvl1pPr marL="170180" indent="-17018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>
                <a:solidFill>
                  <a:srgbClr val="000000"/>
                </a:solidFill>
              </a:defRPr>
            </a:lvl1pPr>
            <a:lvl2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>
                <a:solidFill>
                  <a:srgbClr val="000000"/>
                </a:solidFill>
              </a:defRPr>
            </a:lvl2pPr>
            <a:lvl3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>
                <a:solidFill>
                  <a:srgbClr val="000000"/>
                </a:solidFill>
              </a:defRPr>
            </a:lvl3pPr>
            <a:lvl4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>
                <a:solidFill>
                  <a:srgbClr val="000000"/>
                </a:solidFill>
              </a:defRPr>
            </a:lvl4pPr>
          </a:lstStyle>
          <a:p>
            <a:pPr lvl="0"/>
            <a:r>
              <a:rPr lang="en-US">
                <a:sym typeface="Arial" panose="020B0604020202020204" pitchFamily="34" charset="0"/>
              </a:rPr>
              <a:t>Click to edit Master text styles</a:t>
            </a:r>
            <a:endParaRPr lang="en-US">
              <a:sym typeface="Arial" panose="020B0604020202020204" pitchFamily="34" charset="0"/>
            </a:endParaRPr>
          </a:p>
          <a:p>
            <a:pPr lvl="1"/>
            <a:r>
              <a:rPr lang="en-US">
                <a:sym typeface="Arial" panose="020B0604020202020204" pitchFamily="34" charset="0"/>
              </a:rPr>
              <a:t>Second level</a:t>
            </a:r>
            <a:endParaRPr lang="en-US">
              <a:sym typeface="Arial" panose="020B0604020202020204" pitchFamily="34" charset="0"/>
            </a:endParaRPr>
          </a:p>
          <a:p>
            <a:pPr lvl="2"/>
            <a:r>
              <a:rPr lang="en-US">
                <a:sym typeface="Arial" panose="020B0604020202020204" pitchFamily="34" charset="0"/>
              </a:rPr>
              <a:t>Third level</a:t>
            </a:r>
            <a:endParaRPr lang="en-US">
              <a:sym typeface="Arial" panose="020B0604020202020204" pitchFamily="34" charset="0"/>
            </a:endParaRPr>
          </a:p>
          <a:p>
            <a:pPr lvl="3"/>
            <a:r>
              <a:rPr lang="en-US">
                <a:sym typeface="Arial" panose="020B0604020202020204" pitchFamily="34" charset="0"/>
              </a:rPr>
              <a:t>Fourth level</a:t>
            </a:r>
            <a:endParaRPr lang="en-US">
              <a:sym typeface="Arial" panose="020B0604020202020204" pitchFamily="34" charset="0"/>
            </a:endParaRPr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" y="41393"/>
            <a:ext cx="9144000" cy="7575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lnSpc>
                <a:spcPct val="100000"/>
              </a:lnSpc>
              <a:defRPr sz="2400"/>
            </a:lvl1pPr>
          </a:lstStyle>
          <a:p>
            <a:pPr lvl="0"/>
            <a:r>
              <a:rPr lang="en-US">
                <a:sym typeface="Arial" panose="020B0604020202020204" pitchFamily="34" charset="0"/>
              </a:rPr>
              <a:t>Click to edit Master title style</a:t>
            </a:r>
            <a:endParaRPr lang="en-US" dirty="0">
              <a:sym typeface="Arial" panose="020B0604020202020204" pitchFamily="34" charset="0"/>
            </a:endParaRPr>
          </a:p>
        </p:txBody>
      </p:sp>
    </p:spTree>
  </p:cSld>
  <p:clrMapOvr>
    <a:masterClrMapping/>
  </p:clrMapOvr>
  <p:transition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</p:spTree>
  </p:cSld>
  <p:clrMapOvr>
    <a:masterClrMapping/>
  </p:clrMapOvr>
  <p:transition spd="slow">
    <p:wipe/>
  </p:transition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5" Type="http://schemas.openxmlformats.org/officeDocument/2006/relationships/theme" Target="../theme/theme1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3.xml"/><Relationship Id="rId8" Type="http://schemas.openxmlformats.org/officeDocument/2006/relationships/slideLayout" Target="../slideLayouts/slideLayout22.xml"/><Relationship Id="rId7" Type="http://schemas.openxmlformats.org/officeDocument/2006/relationships/slideLayout" Target="../slideLayouts/slideLayout21.xml"/><Relationship Id="rId6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9.xml"/><Relationship Id="rId4" Type="http://schemas.openxmlformats.org/officeDocument/2006/relationships/slideLayout" Target="../slideLayouts/slideLayout18.xml"/><Relationship Id="rId3" Type="http://schemas.openxmlformats.org/officeDocument/2006/relationships/slideLayout" Target="../slideLayouts/slideLayout17.xml"/><Relationship Id="rId2" Type="http://schemas.openxmlformats.org/officeDocument/2006/relationships/slideLayout" Target="../slideLayouts/slideLayout16.xml"/><Relationship Id="rId15" Type="http://schemas.openxmlformats.org/officeDocument/2006/relationships/theme" Target="../theme/theme2.xml"/><Relationship Id="rId14" Type="http://schemas.openxmlformats.org/officeDocument/2006/relationships/slideLayout" Target="../slideLayouts/slideLayout28.xml"/><Relationship Id="rId13" Type="http://schemas.openxmlformats.org/officeDocument/2006/relationships/slideLayout" Target="../slideLayouts/slideLayout27.xml"/><Relationship Id="rId12" Type="http://schemas.openxmlformats.org/officeDocument/2006/relationships/slideLayout" Target="../slideLayouts/slideLayout26.xml"/><Relationship Id="rId11" Type="http://schemas.openxmlformats.org/officeDocument/2006/relationships/slideLayout" Target="../slideLayouts/slideLayout25.xml"/><Relationship Id="rId10" Type="http://schemas.openxmlformats.org/officeDocument/2006/relationships/slideLayout" Target="../slideLayouts/slideLayout24.xml"/><Relationship Id="rId1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5"/>
          <p:cNvSpPr>
            <a:spLocks noGrp="1"/>
          </p:cNvSpPr>
          <p:nvPr>
            <p:ph type="title"/>
          </p:nvPr>
        </p:nvSpPr>
        <p:spPr bwMode="auto">
          <a:xfrm>
            <a:off x="438150" y="341313"/>
            <a:ext cx="8345488" cy="731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4" tIns="45712" rIns="91424" bIns="45712" numCol="1" anchor="ctr" anchorCtr="0" compatLnSpc="1"/>
          <a:lstStyle/>
          <a:p>
            <a:pPr lvl="0"/>
            <a:r>
              <a:rPr lang="en-GB" altLang="en-US" dirty="0"/>
              <a:t>Title Goes Here</a:t>
            </a:r>
            <a:endParaRPr lang="en-GB" altLang="en-US" dirty="0"/>
          </a:p>
        </p:txBody>
      </p:sp>
      <p:sp>
        <p:nvSpPr>
          <p:cNvPr id="12" name="Rectangle 7"/>
          <p:cNvSpPr>
            <a:spLocks noChangeArrowheads="1"/>
          </p:cNvSpPr>
          <p:nvPr/>
        </p:nvSpPr>
        <p:spPr bwMode="ltGray">
          <a:xfrm>
            <a:off x="8515707" y="4742907"/>
            <a:ext cx="218414" cy="154518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 lIns="61586" tIns="30792" rIns="61586" bIns="30792" anchor="b">
            <a:spAutoFit/>
          </a:bodyPr>
          <a:lstStyle/>
          <a:p>
            <a:pPr algn="r" defTabSz="610870" rtl="0" fontAlgn="auto">
              <a:spcBef>
                <a:spcPts val="0"/>
              </a:spcBef>
              <a:spcAft>
                <a:spcPts val="0"/>
              </a:spcAft>
              <a:defRPr/>
            </a:pPr>
            <a:fld id="{6A1E46DC-7EF6-4EA2-B285-14272867D133}" type="slidenum">
              <a:rPr sz="600">
                <a:solidFill>
                  <a:schemeClr val="accent3">
                    <a:lumMod val="85000"/>
                  </a:schemeClr>
                </a:solidFill>
                <a:latin typeface="+mn-lt"/>
                <a:ea typeface="+mn-ea"/>
                <a:cs typeface="CiscoSans Thin"/>
              </a:rPr>
            </a:fld>
            <a:endParaRPr sz="600">
              <a:solidFill>
                <a:schemeClr val="accent3">
                  <a:lumMod val="85000"/>
                </a:schemeClr>
              </a:solidFill>
              <a:latin typeface="+mn-lt"/>
              <a:ea typeface="+mn-ea"/>
              <a:cs typeface="CiscoSans Thin"/>
            </a:endParaRPr>
          </a:p>
        </p:txBody>
      </p:sp>
      <p:sp>
        <p:nvSpPr>
          <p:cNvPr id="13" name="Rectangle 4"/>
          <p:cNvSpPr>
            <a:spLocks noChangeArrowheads="1"/>
          </p:cNvSpPr>
          <p:nvPr/>
        </p:nvSpPr>
        <p:spPr bwMode="ltGray">
          <a:xfrm>
            <a:off x="5493429" y="4741653"/>
            <a:ext cx="3032097" cy="15451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lIns="61586" tIns="30792" rIns="61586" bIns="30792" anchor="b">
            <a:spAutoFit/>
          </a:bodyPr>
          <a:lstStyle/>
          <a:p>
            <a:pPr defTabSz="610870" rt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600">
                <a:solidFill>
                  <a:schemeClr val="accent3">
                    <a:lumMod val="85000"/>
                  </a:schemeClr>
                </a:solidFill>
                <a:latin typeface="+mn-lt"/>
                <a:ea typeface="+mn-ea"/>
                <a:cs typeface="CiscoSans Thin"/>
              </a:rPr>
              <a:t>© 2019, 2021 Cisco e/ou suas afiliadas. Todos os direitos reservados.   Documento confidencial da Cisco</a:t>
            </a:r>
            <a:endParaRPr lang="pt-BR" sz="600">
              <a:solidFill>
                <a:schemeClr val="accent3">
                  <a:lumMod val="85000"/>
                </a:schemeClr>
              </a:solidFill>
              <a:latin typeface="+mn-lt"/>
              <a:ea typeface="+mn-ea"/>
              <a:cs typeface="CiscoSans Thin"/>
            </a:endParaRPr>
          </a:p>
        </p:txBody>
      </p:sp>
      <p:grpSp>
        <p:nvGrpSpPr>
          <p:cNvPr id="6" name="Group 4"/>
          <p:cNvGrpSpPr>
            <a:grpSpLocks noChangeAspect="1"/>
          </p:cNvGrpSpPr>
          <p:nvPr/>
        </p:nvGrpSpPr>
        <p:grpSpPr bwMode="auto">
          <a:xfrm>
            <a:off x="508039" y="4715197"/>
            <a:ext cx="340257" cy="180974"/>
            <a:chOff x="310" y="249"/>
            <a:chExt cx="502" cy="267"/>
          </a:xfrm>
          <a:solidFill>
            <a:schemeClr val="accent5"/>
          </a:solidFill>
        </p:grpSpPr>
        <p:sp>
          <p:nvSpPr>
            <p:cNvPr id="7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8" name="Freeform 6"/>
            <p:cNvSpPr/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9" name="Freeform 7"/>
            <p:cNvSpPr/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0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1" name="Freeform 9"/>
            <p:cNvSpPr/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4" name="Freeform 10"/>
            <p:cNvSpPr/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5" name="Freeform 11"/>
            <p:cNvSpPr/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6" name="Freeform 12"/>
            <p:cNvSpPr/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7" name="Freeform 13"/>
            <p:cNvSpPr/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8" name="Freeform 14"/>
            <p:cNvSpPr/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9" name="Freeform 15"/>
            <p:cNvSpPr/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0" name="Freeform 16"/>
            <p:cNvSpPr/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1" name="Freeform 17"/>
            <p:cNvSpPr/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2" name="Freeform 18"/>
            <p:cNvSpPr/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ransition spd="slow">
    <p:wipe/>
  </p:transition>
  <p:txStyles>
    <p:titleStyle>
      <a:lvl1pPr algn="l" defTabSz="684530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lang="en-US" sz="3200" kern="1200" dirty="0">
          <a:solidFill>
            <a:schemeClr val="accent4"/>
          </a:solidFill>
          <a:latin typeface="+mj-lt"/>
          <a:ea typeface="MS PGothic" charset="0"/>
          <a:cs typeface="CiscoSans"/>
        </a:defRPr>
      </a:lvl1pPr>
      <a:lvl2pPr algn="l" defTabSz="684530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panose="020B0604020202020204" pitchFamily="34" charset="0"/>
          <a:ea typeface="MS PGothic" charset="0"/>
          <a:cs typeface="CiscoSans" pitchFamily="34" charset="0"/>
        </a:defRPr>
      </a:lvl2pPr>
      <a:lvl3pPr algn="l" defTabSz="684530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panose="020B0604020202020204" pitchFamily="34" charset="0"/>
          <a:ea typeface="MS PGothic" charset="0"/>
          <a:cs typeface="CiscoSans" pitchFamily="34" charset="0"/>
        </a:defRPr>
      </a:lvl3pPr>
      <a:lvl4pPr algn="l" defTabSz="684530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panose="020B0604020202020204" pitchFamily="34" charset="0"/>
          <a:ea typeface="MS PGothic" charset="0"/>
          <a:cs typeface="CiscoSans" pitchFamily="34" charset="0"/>
        </a:defRPr>
      </a:lvl4pPr>
      <a:lvl5pPr algn="l" defTabSz="684530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panose="020B0604020202020204" pitchFamily="34" charset="0"/>
          <a:ea typeface="MS PGothic" charset="0"/>
          <a:cs typeface="CiscoSans" pitchFamily="34" charset="0"/>
        </a:defRPr>
      </a:lvl5pPr>
      <a:lvl6pPr marL="457200" algn="l" defTabSz="684530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panose="020B0604020202020204" pitchFamily="34" charset="0"/>
          <a:ea typeface="MS PGothic" charset="0"/>
        </a:defRPr>
      </a:lvl6pPr>
      <a:lvl7pPr marL="914400" algn="l" defTabSz="684530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panose="020B0604020202020204" pitchFamily="34" charset="0"/>
          <a:ea typeface="MS PGothic" charset="0"/>
        </a:defRPr>
      </a:lvl7pPr>
      <a:lvl8pPr marL="1371600" algn="l" defTabSz="684530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panose="020B0604020202020204" pitchFamily="34" charset="0"/>
          <a:ea typeface="MS PGothic" charset="0"/>
        </a:defRPr>
      </a:lvl8pPr>
      <a:lvl9pPr marL="1828800" algn="l" defTabSz="684530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panose="020B0604020202020204" pitchFamily="34" charset="0"/>
          <a:ea typeface="MS PGothic" charset="0"/>
        </a:defRPr>
      </a:lvl9pPr>
    </p:titleStyle>
    <p:bodyStyle>
      <a:lvl1pPr marL="170180" indent="-170180" algn="l" defTabSz="684530" rtl="0" eaLnBrk="1" fontAlgn="base" hangingPunct="1">
        <a:lnSpc>
          <a:spcPct val="95000"/>
        </a:lnSpc>
        <a:spcBef>
          <a:spcPts val="1075"/>
        </a:spcBef>
        <a:spcAft>
          <a:spcPct val="0"/>
        </a:spcAft>
        <a:buClr>
          <a:schemeClr val="tx2"/>
        </a:buClr>
        <a:buSzPct val="90000"/>
        <a:buFont typeface="Arial" panose="020B0604020202020204" pitchFamily="34" charset="0"/>
        <a:buChar char="•"/>
        <a:defRPr lang="en-US" sz="1500" kern="1200" dirty="0">
          <a:solidFill>
            <a:schemeClr val="tx1"/>
          </a:solidFill>
          <a:latin typeface="+mn-lt"/>
          <a:ea typeface="MS PGothic" charset="0"/>
          <a:cs typeface="CiscoSans"/>
        </a:defRPr>
      </a:lvl1pPr>
      <a:lvl2pPr marL="358775" indent="-215900" algn="l" defTabSz="684530" rtl="0" eaLnBrk="1" fontAlgn="base" hangingPunct="1">
        <a:lnSpc>
          <a:spcPct val="95000"/>
        </a:lnSpc>
        <a:spcBef>
          <a:spcPts val="600"/>
        </a:spcBef>
        <a:spcAft>
          <a:spcPct val="0"/>
        </a:spcAft>
        <a:buClr>
          <a:schemeClr val="tx2"/>
        </a:buClr>
        <a:buFont typeface="Arial" panose="020B0604020202020204" pitchFamily="34" charset="0"/>
        <a:buChar char="•"/>
        <a:defRPr lang="en-US" sz="1400" kern="1200" dirty="0">
          <a:solidFill>
            <a:schemeClr val="tx1"/>
          </a:solidFill>
          <a:latin typeface="+mn-lt"/>
          <a:ea typeface="MS PGothic" charset="0"/>
          <a:cs typeface="CiscoSans"/>
        </a:defRPr>
      </a:lvl2pPr>
      <a:lvl3pPr marL="431800" indent="-170180" algn="l" defTabSz="684530" rtl="0" eaLnBrk="1" fontAlgn="base" hangingPunct="1">
        <a:lnSpc>
          <a:spcPct val="95000"/>
        </a:lnSpc>
        <a:spcBef>
          <a:spcPts val="625"/>
        </a:spcBef>
        <a:spcAft>
          <a:spcPct val="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+mn-lt"/>
          <a:ea typeface="MS PGothic" charset="0"/>
          <a:cs typeface="CiscoSans"/>
        </a:defRPr>
      </a:lvl3pPr>
      <a:lvl4pPr marL="503555" indent="-170180" algn="l" defTabSz="684530" rtl="0" eaLnBrk="1" fontAlgn="base" hangingPunct="1">
        <a:lnSpc>
          <a:spcPct val="95000"/>
        </a:lnSpc>
        <a:spcBef>
          <a:spcPts val="625"/>
        </a:spcBef>
        <a:spcAft>
          <a:spcPct val="0"/>
        </a:spcAft>
        <a:buFont typeface="Arial" panose="020B0604020202020204" pitchFamily="34" charset="0"/>
        <a:buChar char="•"/>
        <a:defRPr lang="en-US" sz="1100" kern="1200" dirty="0">
          <a:solidFill>
            <a:schemeClr val="tx1"/>
          </a:solidFill>
          <a:latin typeface="+mn-lt"/>
          <a:ea typeface="MS PGothic" charset="0"/>
          <a:cs typeface="CiscoSans"/>
        </a:defRPr>
      </a:lvl4pPr>
      <a:lvl5pPr marL="574675" indent="-170180" algn="l" defTabSz="684530" rtl="0" eaLnBrk="1" fontAlgn="base" hangingPunct="1">
        <a:lnSpc>
          <a:spcPct val="95000"/>
        </a:lnSpc>
        <a:spcBef>
          <a:spcPts val="625"/>
        </a:spcBef>
        <a:spcAft>
          <a:spcPct val="0"/>
        </a:spcAft>
        <a:buFont typeface="Arial" panose="020B0604020202020204" pitchFamily="34" charset="0"/>
        <a:buChar char="•"/>
        <a:defRPr lang="en-US" sz="1100" kern="1200" dirty="0">
          <a:solidFill>
            <a:schemeClr val="tx1"/>
          </a:solidFill>
          <a:latin typeface="+mn-lt"/>
          <a:ea typeface="MS PGothic" charset="0"/>
          <a:cs typeface="CiscoSans"/>
        </a:defRPr>
      </a:lvl5pPr>
      <a:lvl6pPr marL="863600" indent="-171450" algn="l" defTabSz="685800" rtl="0" eaLnBrk="1" latinLnBrk="0" hangingPunct="1">
        <a:spcBef>
          <a:spcPts val="600"/>
        </a:spcBef>
        <a:buFont typeface="Arial" panose="020B0604020202020204" pitchFamily="34" charset="0"/>
        <a:buChar char="•"/>
        <a:defRPr sz="9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935990" indent="-171450" algn="l" defTabSz="685800" rtl="0" eaLnBrk="1" latinLnBrk="0" hangingPunct="1">
        <a:spcBef>
          <a:spcPts val="600"/>
        </a:spcBef>
        <a:buFont typeface="Arial" panose="020B0604020202020204" pitchFamily="34" charset="0"/>
        <a:buChar char="•"/>
        <a:defRPr sz="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400300" indent="0" algn="l" defTabSz="685800" rtl="0" eaLnBrk="1" latinLnBrk="0" hangingPunct="1">
        <a:spcBef>
          <a:spcPct val="20000"/>
        </a:spcBef>
        <a:buFont typeface="Arial" panose="020B0604020202020204" pitchFamily="34" charset="0"/>
        <a:buNone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5"/>
          <p:cNvSpPr>
            <a:spLocks noGrp="1"/>
          </p:cNvSpPr>
          <p:nvPr>
            <p:ph type="title"/>
          </p:nvPr>
        </p:nvSpPr>
        <p:spPr bwMode="auto">
          <a:xfrm>
            <a:off x="438150" y="341313"/>
            <a:ext cx="8345488" cy="731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4" tIns="45712" rIns="91424" bIns="45712" numCol="1" anchor="ctr" anchorCtr="0" compatLnSpc="1"/>
          <a:lstStyle/>
          <a:p>
            <a:pPr lvl="0"/>
            <a:r>
              <a:rPr lang="en-GB" altLang="en-US" dirty="0"/>
              <a:t>Title Goes Here</a:t>
            </a:r>
            <a:endParaRPr lang="en-GB" altLang="en-US" dirty="0"/>
          </a:p>
        </p:txBody>
      </p:sp>
      <p:sp>
        <p:nvSpPr>
          <p:cNvPr id="12" name="Rectangle 7"/>
          <p:cNvSpPr>
            <a:spLocks noChangeArrowheads="1"/>
          </p:cNvSpPr>
          <p:nvPr/>
        </p:nvSpPr>
        <p:spPr bwMode="ltGray">
          <a:xfrm>
            <a:off x="8515707" y="4742907"/>
            <a:ext cx="218414" cy="154518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 lIns="61586" tIns="30792" rIns="61586" bIns="30792" anchor="b">
            <a:spAutoFit/>
          </a:bodyPr>
          <a:lstStyle/>
          <a:p>
            <a:pPr algn="r" defTabSz="610870" rtl="0" fontAlgn="auto">
              <a:spcBef>
                <a:spcPts val="0"/>
              </a:spcBef>
              <a:spcAft>
                <a:spcPts val="0"/>
              </a:spcAft>
              <a:defRPr/>
            </a:pPr>
            <a:fld id="{6A1E46DC-7EF6-4EA2-B285-14272867D133}" type="slidenum">
              <a:rPr sz="600">
                <a:solidFill>
                  <a:schemeClr val="accent3">
                    <a:lumMod val="85000"/>
                  </a:schemeClr>
                </a:solidFill>
                <a:latin typeface="+mn-lt"/>
                <a:ea typeface="+mn-ea"/>
                <a:cs typeface="CiscoSans Thin"/>
              </a:rPr>
            </a:fld>
            <a:endParaRPr sz="600">
              <a:solidFill>
                <a:schemeClr val="accent3">
                  <a:lumMod val="85000"/>
                </a:schemeClr>
              </a:solidFill>
              <a:latin typeface="+mn-lt"/>
              <a:ea typeface="+mn-ea"/>
              <a:cs typeface="CiscoSans Thin"/>
            </a:endParaRPr>
          </a:p>
        </p:txBody>
      </p:sp>
      <p:sp>
        <p:nvSpPr>
          <p:cNvPr id="13" name="Rectangle 4"/>
          <p:cNvSpPr>
            <a:spLocks noChangeArrowheads="1"/>
          </p:cNvSpPr>
          <p:nvPr/>
        </p:nvSpPr>
        <p:spPr bwMode="ltGray">
          <a:xfrm>
            <a:off x="5622226" y="4741653"/>
            <a:ext cx="2903300" cy="15451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lIns="61586" tIns="30792" rIns="61586" bIns="30792" anchor="b">
            <a:spAutoFit/>
          </a:bodyPr>
          <a:lstStyle/>
          <a:p>
            <a:pPr defTabSz="610870" rt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600">
                <a:solidFill>
                  <a:schemeClr val="accent3">
                    <a:lumMod val="85000"/>
                  </a:schemeClr>
                </a:solidFill>
                <a:latin typeface="+mn-lt"/>
                <a:ea typeface="+mn-ea"/>
                <a:cs typeface="CiscoSans Thin"/>
              </a:rPr>
              <a:t>© 2019, 2021 Cisco e/ou suas afiliadas.  Todos os direitos reservados.   Documento confidencial da Cisco</a:t>
            </a:r>
            <a:endParaRPr lang="pt-BR" sz="600">
              <a:solidFill>
                <a:schemeClr val="accent3">
                  <a:lumMod val="85000"/>
                </a:schemeClr>
              </a:solidFill>
              <a:latin typeface="+mn-lt"/>
              <a:ea typeface="+mn-ea"/>
              <a:cs typeface="CiscoSans Thin"/>
            </a:endParaRPr>
          </a:p>
        </p:txBody>
      </p:sp>
      <p:grpSp>
        <p:nvGrpSpPr>
          <p:cNvPr id="6" name="Group 4"/>
          <p:cNvGrpSpPr>
            <a:grpSpLocks noChangeAspect="1"/>
          </p:cNvGrpSpPr>
          <p:nvPr userDrawn="1"/>
        </p:nvGrpSpPr>
        <p:grpSpPr bwMode="auto">
          <a:xfrm>
            <a:off x="508039" y="4715197"/>
            <a:ext cx="340257" cy="180974"/>
            <a:chOff x="310" y="249"/>
            <a:chExt cx="502" cy="267"/>
          </a:xfrm>
          <a:solidFill>
            <a:schemeClr val="accent5"/>
          </a:solidFill>
        </p:grpSpPr>
        <p:sp>
          <p:nvSpPr>
            <p:cNvPr id="7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8" name="Freeform 6"/>
            <p:cNvSpPr/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9" name="Freeform 7"/>
            <p:cNvSpPr/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0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1" name="Freeform 9"/>
            <p:cNvSpPr/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4" name="Freeform 10"/>
            <p:cNvSpPr/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5" name="Freeform 11"/>
            <p:cNvSpPr/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6" name="Freeform 12"/>
            <p:cNvSpPr/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7" name="Freeform 13"/>
            <p:cNvSpPr/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8" name="Freeform 14"/>
            <p:cNvSpPr/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9" name="Freeform 15"/>
            <p:cNvSpPr/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0" name="Freeform 16"/>
            <p:cNvSpPr/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1" name="Freeform 17"/>
            <p:cNvSpPr/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2" name="Freeform 18"/>
            <p:cNvSpPr/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  <p:sldLayoutId id="2147483675" r:id="rId12"/>
    <p:sldLayoutId id="2147483676" r:id="rId13"/>
    <p:sldLayoutId id="2147483677" r:id="rId14"/>
  </p:sldLayoutIdLst>
  <p:transition spd="slow">
    <p:wipe/>
  </p:transition>
  <p:txStyles>
    <p:titleStyle>
      <a:lvl1pPr algn="l" defTabSz="684530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lang="en-US" sz="3200" kern="1200" dirty="0">
          <a:solidFill>
            <a:schemeClr val="accent4"/>
          </a:solidFill>
          <a:latin typeface="+mj-lt"/>
          <a:ea typeface="MS PGothic" charset="0"/>
          <a:cs typeface="CiscoSans"/>
        </a:defRPr>
      </a:lvl1pPr>
      <a:lvl2pPr algn="l" defTabSz="684530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panose="020B0604020202020204" pitchFamily="34" charset="0"/>
          <a:ea typeface="MS PGothic" charset="0"/>
          <a:cs typeface="CiscoSans" pitchFamily="34" charset="0"/>
        </a:defRPr>
      </a:lvl2pPr>
      <a:lvl3pPr algn="l" defTabSz="684530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panose="020B0604020202020204" pitchFamily="34" charset="0"/>
          <a:ea typeface="MS PGothic" charset="0"/>
          <a:cs typeface="CiscoSans" pitchFamily="34" charset="0"/>
        </a:defRPr>
      </a:lvl3pPr>
      <a:lvl4pPr algn="l" defTabSz="684530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panose="020B0604020202020204" pitchFamily="34" charset="0"/>
          <a:ea typeface="MS PGothic" charset="0"/>
          <a:cs typeface="CiscoSans" pitchFamily="34" charset="0"/>
        </a:defRPr>
      </a:lvl4pPr>
      <a:lvl5pPr algn="l" defTabSz="684530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panose="020B0604020202020204" pitchFamily="34" charset="0"/>
          <a:ea typeface="MS PGothic" charset="0"/>
          <a:cs typeface="CiscoSans" pitchFamily="34" charset="0"/>
        </a:defRPr>
      </a:lvl5pPr>
      <a:lvl6pPr marL="457200" algn="l" defTabSz="684530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panose="020B0604020202020204" pitchFamily="34" charset="0"/>
          <a:ea typeface="MS PGothic" charset="0"/>
        </a:defRPr>
      </a:lvl6pPr>
      <a:lvl7pPr marL="914400" algn="l" defTabSz="684530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panose="020B0604020202020204" pitchFamily="34" charset="0"/>
          <a:ea typeface="MS PGothic" charset="0"/>
        </a:defRPr>
      </a:lvl7pPr>
      <a:lvl8pPr marL="1371600" algn="l" defTabSz="684530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panose="020B0604020202020204" pitchFamily="34" charset="0"/>
          <a:ea typeface="MS PGothic" charset="0"/>
        </a:defRPr>
      </a:lvl8pPr>
      <a:lvl9pPr marL="1828800" algn="l" defTabSz="684530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panose="020B0604020202020204" pitchFamily="34" charset="0"/>
          <a:ea typeface="MS PGothic" charset="0"/>
        </a:defRPr>
      </a:lvl9pPr>
    </p:titleStyle>
    <p:bodyStyle>
      <a:lvl1pPr marL="170180" indent="-170180" algn="l" defTabSz="684530" rtl="0" eaLnBrk="1" fontAlgn="base" hangingPunct="1">
        <a:lnSpc>
          <a:spcPct val="95000"/>
        </a:lnSpc>
        <a:spcBef>
          <a:spcPts val="1075"/>
        </a:spcBef>
        <a:spcAft>
          <a:spcPct val="0"/>
        </a:spcAft>
        <a:buClr>
          <a:schemeClr val="tx2"/>
        </a:buClr>
        <a:buSzPct val="90000"/>
        <a:buFont typeface="Arial" panose="020B0604020202020204" pitchFamily="34" charset="0"/>
        <a:buChar char="•"/>
        <a:defRPr lang="en-US" sz="1500" kern="1200" dirty="0">
          <a:solidFill>
            <a:schemeClr val="tx1"/>
          </a:solidFill>
          <a:latin typeface="+mn-lt"/>
          <a:ea typeface="MS PGothic" charset="0"/>
          <a:cs typeface="CiscoSans"/>
        </a:defRPr>
      </a:lvl1pPr>
      <a:lvl2pPr marL="358775" indent="-215900" algn="l" defTabSz="684530" rtl="0" eaLnBrk="1" fontAlgn="base" hangingPunct="1">
        <a:lnSpc>
          <a:spcPct val="95000"/>
        </a:lnSpc>
        <a:spcBef>
          <a:spcPts val="600"/>
        </a:spcBef>
        <a:spcAft>
          <a:spcPct val="0"/>
        </a:spcAft>
        <a:buClr>
          <a:schemeClr val="tx2"/>
        </a:buClr>
        <a:buFont typeface="Arial" panose="020B0604020202020204" pitchFamily="34" charset="0"/>
        <a:buChar char="•"/>
        <a:defRPr lang="en-US" sz="1400" kern="1200" dirty="0">
          <a:solidFill>
            <a:schemeClr val="tx1"/>
          </a:solidFill>
          <a:latin typeface="+mn-lt"/>
          <a:ea typeface="MS PGothic" charset="0"/>
          <a:cs typeface="CiscoSans"/>
        </a:defRPr>
      </a:lvl2pPr>
      <a:lvl3pPr marL="431800" indent="-170180" algn="l" defTabSz="684530" rtl="0" eaLnBrk="1" fontAlgn="base" hangingPunct="1">
        <a:lnSpc>
          <a:spcPct val="95000"/>
        </a:lnSpc>
        <a:spcBef>
          <a:spcPts val="625"/>
        </a:spcBef>
        <a:spcAft>
          <a:spcPct val="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+mn-lt"/>
          <a:ea typeface="MS PGothic" charset="0"/>
          <a:cs typeface="CiscoSans"/>
        </a:defRPr>
      </a:lvl3pPr>
      <a:lvl4pPr marL="503555" indent="-170180" algn="l" defTabSz="684530" rtl="0" eaLnBrk="1" fontAlgn="base" hangingPunct="1">
        <a:lnSpc>
          <a:spcPct val="95000"/>
        </a:lnSpc>
        <a:spcBef>
          <a:spcPts val="625"/>
        </a:spcBef>
        <a:spcAft>
          <a:spcPct val="0"/>
        </a:spcAft>
        <a:buFont typeface="Arial" panose="020B0604020202020204" pitchFamily="34" charset="0"/>
        <a:buChar char="•"/>
        <a:defRPr lang="en-US" sz="1100" kern="1200" dirty="0">
          <a:solidFill>
            <a:schemeClr val="tx1"/>
          </a:solidFill>
          <a:latin typeface="+mn-lt"/>
          <a:ea typeface="MS PGothic" charset="0"/>
          <a:cs typeface="CiscoSans"/>
        </a:defRPr>
      </a:lvl4pPr>
      <a:lvl5pPr marL="574675" indent="-170180" algn="l" defTabSz="684530" rtl="0" eaLnBrk="1" fontAlgn="base" hangingPunct="1">
        <a:lnSpc>
          <a:spcPct val="95000"/>
        </a:lnSpc>
        <a:spcBef>
          <a:spcPts val="625"/>
        </a:spcBef>
        <a:spcAft>
          <a:spcPct val="0"/>
        </a:spcAft>
        <a:buFont typeface="Arial" panose="020B0604020202020204" pitchFamily="34" charset="0"/>
        <a:buChar char="•"/>
        <a:defRPr lang="en-US" sz="1100" kern="1200" dirty="0">
          <a:solidFill>
            <a:schemeClr val="tx1"/>
          </a:solidFill>
          <a:latin typeface="+mn-lt"/>
          <a:ea typeface="MS PGothic" charset="0"/>
          <a:cs typeface="CiscoSans"/>
        </a:defRPr>
      </a:lvl5pPr>
      <a:lvl6pPr marL="863600" indent="-171450" algn="l" defTabSz="685800" rtl="0" eaLnBrk="1" latinLnBrk="0" hangingPunct="1">
        <a:spcBef>
          <a:spcPts val="600"/>
        </a:spcBef>
        <a:buFont typeface="Arial" panose="020B0604020202020204" pitchFamily="34" charset="0"/>
        <a:buChar char="•"/>
        <a:defRPr sz="9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935990" indent="-171450" algn="l" defTabSz="685800" rtl="0" eaLnBrk="1" latinLnBrk="0" hangingPunct="1">
        <a:spcBef>
          <a:spcPts val="600"/>
        </a:spcBef>
        <a:buFont typeface="Arial" panose="020B0604020202020204" pitchFamily="34" charset="0"/>
        <a:buChar char="•"/>
        <a:defRPr sz="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400300" indent="0" algn="l" defTabSz="685800" rtl="0" eaLnBrk="1" latinLnBrk="0" hangingPunct="1">
        <a:spcBef>
          <a:spcPct val="20000"/>
        </a:spcBef>
        <a:buFont typeface="Arial" panose="020B0604020202020204" pitchFamily="34" charset="0"/>
        <a:buNone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13.xml"/><Relationship Id="rId3" Type="http://schemas.openxmlformats.org/officeDocument/2006/relationships/tags" Target="../tags/tag3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4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13.xml"/><Relationship Id="rId2" Type="http://schemas.openxmlformats.org/officeDocument/2006/relationships/tags" Target="../tags/tag5.xml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13.xml"/><Relationship Id="rId2" Type="http://schemas.openxmlformats.org/officeDocument/2006/relationships/tags" Target="../tags/tag6.xml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13.xml"/><Relationship Id="rId2" Type="http://schemas.openxmlformats.org/officeDocument/2006/relationships/tags" Target="../tags/tag7.xml"/><Relationship Id="rId1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13.xml"/><Relationship Id="rId2" Type="http://schemas.openxmlformats.org/officeDocument/2006/relationships/tags" Target="../tags/tag8.xml"/><Relationship Id="rId1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2.xml"/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10.xml"/></Relationships>
</file>

<file path=ppt/slides/_rels/slide1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4.xml"/><Relationship Id="rId5" Type="http://schemas.openxmlformats.org/officeDocument/2006/relationships/slideLayout" Target="../slideLayouts/slideLayout13.xml"/><Relationship Id="rId4" Type="http://schemas.openxmlformats.org/officeDocument/2006/relationships/image" Target="../media/image16.png"/><Relationship Id="rId3" Type="http://schemas.openxmlformats.org/officeDocument/2006/relationships/image" Target="../media/image15.jpeg"/><Relationship Id="rId2" Type="http://schemas.openxmlformats.org/officeDocument/2006/relationships/image" Target="../media/image14.jpeg"/><Relationship Id="rId1" Type="http://schemas.openxmlformats.org/officeDocument/2006/relationships/image" Target="../media/image13.jpeg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5.xml"/><Relationship Id="rId3" Type="http://schemas.openxmlformats.org/officeDocument/2006/relationships/slideLayout" Target="../slideLayouts/slideLayout13.xml"/><Relationship Id="rId2" Type="http://schemas.openxmlformats.org/officeDocument/2006/relationships/tags" Target="../tags/tag11.xml"/><Relationship Id="rId1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6.xml"/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19.png"/><Relationship Id="rId1" Type="http://schemas.openxmlformats.org/officeDocument/2006/relationships/image" Target="../media/image1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2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2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2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2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24.png"/></Relationships>
</file>

<file path=ppt/slides/_rels/slide2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3.xml"/><Relationship Id="rId3" Type="http://schemas.openxmlformats.org/officeDocument/2006/relationships/slideLayout" Target="../slideLayouts/slideLayout13.xml"/><Relationship Id="rId2" Type="http://schemas.openxmlformats.org/officeDocument/2006/relationships/tags" Target="../tags/tag13.xml"/><Relationship Id="rId1" Type="http://schemas.openxmlformats.org/officeDocument/2006/relationships/image" Target="../media/image25.png"/></Relationships>
</file>

<file path=ppt/slides/_rels/slide2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4.xml"/><Relationship Id="rId3" Type="http://schemas.openxmlformats.org/officeDocument/2006/relationships/slideLayout" Target="../slideLayouts/slideLayout13.xml"/><Relationship Id="rId2" Type="http://schemas.openxmlformats.org/officeDocument/2006/relationships/tags" Target="../tags/tag14.xml"/><Relationship Id="rId1" Type="http://schemas.openxmlformats.org/officeDocument/2006/relationships/image" Target="../media/image26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15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27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7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28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8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29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9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30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0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31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1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16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2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32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3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33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4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34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5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35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6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36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7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37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8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38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9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39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0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40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1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17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2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41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3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41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4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42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5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42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6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18.xml"/></Relationships>
</file>

<file path=ppt/slides/_rels/slide4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7.xml"/><Relationship Id="rId4" Type="http://schemas.openxmlformats.org/officeDocument/2006/relationships/slideLayout" Target="../slideLayouts/slideLayout13.xml"/><Relationship Id="rId3" Type="http://schemas.openxmlformats.org/officeDocument/2006/relationships/tags" Target="../tags/tag19.xml"/><Relationship Id="rId2" Type="http://schemas.openxmlformats.org/officeDocument/2006/relationships/image" Target="../media/image44.png"/><Relationship Id="rId1" Type="http://schemas.openxmlformats.org/officeDocument/2006/relationships/image" Target="../media/image43.png"/></Relationships>
</file>

<file path=ppt/slides/_rels/slide4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8.xml"/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45.png"/><Relationship Id="rId1" Type="http://schemas.openxmlformats.org/officeDocument/2006/relationships/hyperlink" Target="http://www.netacad.com/" TargetMode="Externa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ctrTitle"/>
          </p:nvPr>
        </p:nvSpPr>
        <p:spPr>
          <a:xfrm>
            <a:off x="469265" y="1605280"/>
            <a:ext cx="6672580" cy="1556385"/>
          </a:xfrm>
        </p:spPr>
        <p:txBody>
          <a:bodyPr/>
          <a:lstStyle/>
          <a:p>
            <a:pPr algn="just" rtl="0"/>
            <a:r>
              <a:rPr lang="pt-BR">
                <a:solidFill>
                  <a:schemeClr val="accent5">
                    <a:lumMod val="40000"/>
                    <a:lumOff val="60000"/>
                  </a:schemeClr>
                </a:solidFill>
              </a:rPr>
              <a:t>Módulo 1: Introdução das Redes de Computadores de Hoje</a:t>
            </a:r>
            <a:endParaRPr lang="pt-BR">
              <a:solidFill>
                <a:schemeClr val="accent5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7" name="Subtitle 6"/>
          <p:cNvSpPr>
            <a:spLocks noGrp="1"/>
          </p:cNvSpPr>
          <p:nvPr>
            <p:ph type="subTitle" idx="1"/>
          </p:nvPr>
        </p:nvSpPr>
        <p:spPr>
          <a:xfrm>
            <a:off x="469497" y="3809526"/>
            <a:ext cx="2368954" cy="902174"/>
          </a:xfrm>
        </p:spPr>
        <p:txBody>
          <a:bodyPr/>
          <a:lstStyle/>
          <a:p>
            <a:pPr rtl="0"/>
            <a:r>
              <a:rPr lang="pt-BR">
                <a:solidFill>
                  <a:schemeClr val="accent5">
                    <a:lumMod val="40000"/>
                    <a:lumOff val="60000"/>
                  </a:schemeClr>
                </a:solidFill>
              </a:rPr>
              <a:t>Introdução às redes v7.0 (ITN)</a:t>
            </a:r>
            <a:endParaRPr lang="pt-BR">
              <a:solidFill>
                <a:schemeClr val="accent5">
                  <a:lumMod val="40000"/>
                  <a:lumOff val="60000"/>
                </a:schemeClr>
              </a:solidFill>
            </a:endParaRPr>
          </a:p>
          <a:p>
            <a:pPr rtl="0"/>
            <a:r>
              <a:rPr lang="pt-BR">
                <a:solidFill>
                  <a:schemeClr val="accent5">
                    <a:lumMod val="40000"/>
                    <a:lumOff val="60000"/>
                  </a:schemeClr>
                </a:solidFill>
              </a:rPr>
              <a:t>Versão: 1.2 - 03/07/2026</a:t>
            </a:r>
            <a:endParaRPr lang="en-US" dirty="0"/>
          </a:p>
        </p:txBody>
      </p:sp>
    </p:spTree>
    <p:custDataLst>
      <p:tags r:id="rId1"/>
    </p:custDataLst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6425" y="1582159"/>
            <a:ext cx="7598042" cy="1802391"/>
          </a:xfrm>
        </p:spPr>
        <p:txBody>
          <a:bodyPr/>
          <a:lstStyle/>
          <a:p>
            <a:pPr rtl="0"/>
            <a:r>
              <a:rPr lang="pt-BR">
                <a:solidFill>
                  <a:schemeClr val="accent5">
                    <a:lumMod val="40000"/>
                    <a:lumOff val="60000"/>
                  </a:schemeClr>
                </a:solidFill>
              </a:rPr>
              <a:t>1.1 - Redes Afetam Nossas Vidas</a:t>
            </a:r>
            <a:endParaRPr lang="pt-BR">
              <a:solidFill>
                <a:schemeClr val="accent5">
                  <a:lumMod val="40000"/>
                  <a:lumOff val="60000"/>
                </a:schemeClr>
              </a:solidFill>
            </a:endParaRPr>
          </a:p>
        </p:txBody>
      </p:sp>
    </p:spTree>
    <p:custDataLst>
      <p:tags r:id="rId1"/>
    </p:custDataLst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44145" y="798830"/>
            <a:ext cx="8853170" cy="962660"/>
          </a:xfrm>
        </p:spPr>
        <p:txBody>
          <a:bodyPr/>
          <a:lstStyle/>
          <a:p>
            <a:pPr marL="0" indent="0" algn="ctr">
              <a:buNone/>
            </a:pPr>
            <a:r>
              <a:rPr lang="pt-BR" sz="1800"/>
              <a:t>A </a:t>
            </a:r>
            <a:r>
              <a:rPr lang="pt-BR" sz="1800" b="1">
                <a:solidFill>
                  <a:srgbClr val="FF0000"/>
                </a:solidFill>
              </a:rPr>
              <a:t>Comunicação é Quase tão Importante</a:t>
            </a:r>
            <a:r>
              <a:rPr lang="pt-BR" sz="1800"/>
              <a:t> para nós quanto nossa dependência de </a:t>
            </a:r>
            <a:r>
              <a:rPr lang="pt-BR" sz="1800" b="1">
                <a:solidFill>
                  <a:srgbClr val="0070C0"/>
                </a:solidFill>
              </a:rPr>
              <a:t>Ar, Água, Comida e Abrigo</a:t>
            </a:r>
            <a:r>
              <a:rPr lang="pt-BR" sz="1800"/>
              <a:t>. No mundo de hoje, com o uso de redes, estamos </a:t>
            </a:r>
            <a:r>
              <a:rPr lang="pt-BR" sz="1800" b="1"/>
              <a:t>Conectados como Nunca Estivemos</a:t>
            </a:r>
            <a:r>
              <a:rPr lang="pt-BR" sz="1800"/>
              <a:t>.</a:t>
            </a:r>
            <a:endParaRPr lang="pt-BR" sz="1800"/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-635" y="63500"/>
            <a:ext cx="9144635" cy="7575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l" defTabSz="68453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en-US" sz="2400" kern="1200">
                <a:solidFill>
                  <a:schemeClr val="accent4"/>
                </a:solidFill>
                <a:latin typeface="+mj-lt"/>
                <a:ea typeface="MS PGothic" charset="0"/>
                <a:cs typeface="CiscoSans"/>
              </a:defRPr>
            </a:lvl1pPr>
            <a:lvl2pPr algn="l" defTabSz="684530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panose="020B0604020202020204" pitchFamily="34" charset="0"/>
                <a:ea typeface="MS PGothic" charset="0"/>
                <a:cs typeface="CiscoSans" pitchFamily="34" charset="0"/>
              </a:defRPr>
            </a:lvl2pPr>
            <a:lvl3pPr algn="l" defTabSz="684530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panose="020B0604020202020204" pitchFamily="34" charset="0"/>
                <a:ea typeface="MS PGothic" charset="0"/>
                <a:cs typeface="CiscoSans" pitchFamily="34" charset="0"/>
              </a:defRPr>
            </a:lvl3pPr>
            <a:lvl4pPr algn="l" defTabSz="684530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panose="020B0604020202020204" pitchFamily="34" charset="0"/>
                <a:ea typeface="MS PGothic" charset="0"/>
                <a:cs typeface="CiscoSans" pitchFamily="34" charset="0"/>
              </a:defRPr>
            </a:lvl4pPr>
            <a:lvl5pPr algn="l" defTabSz="684530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panose="020B0604020202020204" pitchFamily="34" charset="0"/>
                <a:ea typeface="MS PGothic" charset="0"/>
                <a:cs typeface="CiscoSans" pitchFamily="34" charset="0"/>
              </a:defRPr>
            </a:lvl5pPr>
            <a:lvl6pPr marL="457200" algn="l" defTabSz="684530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panose="020B0604020202020204" pitchFamily="34" charset="0"/>
                <a:ea typeface="MS PGothic" charset="0"/>
              </a:defRPr>
            </a:lvl6pPr>
            <a:lvl7pPr marL="914400" algn="l" defTabSz="684530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panose="020B0604020202020204" pitchFamily="34" charset="0"/>
                <a:ea typeface="MS PGothic" charset="0"/>
              </a:defRPr>
            </a:lvl7pPr>
            <a:lvl8pPr marL="1371600" algn="l" defTabSz="684530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panose="020B0604020202020204" pitchFamily="34" charset="0"/>
                <a:ea typeface="MS PGothic" charset="0"/>
              </a:defRPr>
            </a:lvl8pPr>
            <a:lvl9pPr marL="1828800" algn="l" defTabSz="684530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panose="020B0604020202020204" pitchFamily="34" charset="0"/>
                <a:ea typeface="MS PGothic" charset="0"/>
              </a:defRPr>
            </a:lvl9pPr>
          </a:lstStyle>
          <a:p>
            <a:pPr rtl="0"/>
            <a:r>
              <a:rPr lang="pt-BR" sz="1600"/>
              <a:t>As redes de hoje</a:t>
            </a:r>
            <a:br>
              <a:rPr lang="en-US" altLang="en-US" dirty="0"/>
            </a:br>
            <a:r>
              <a:rPr lang="pt-BR"/>
              <a:t>Redes nos Conectam</a:t>
            </a:r>
            <a:endParaRPr lang="pt-BR"/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1615" y="1761490"/>
            <a:ext cx="4291330" cy="2860675"/>
          </a:xfrm>
          <a:prstGeom prst="rect">
            <a:avLst/>
          </a:prstGeom>
        </p:spPr>
      </p:pic>
      <p:pic>
        <p:nvPicPr>
          <p:cNvPr id="7" name="Imagem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0885" y="1770380"/>
            <a:ext cx="4272915" cy="285242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6425" y="915409"/>
            <a:ext cx="7598042" cy="1802391"/>
          </a:xfrm>
        </p:spPr>
        <p:txBody>
          <a:bodyPr/>
          <a:lstStyle/>
          <a:p>
            <a:pPr rtl="0"/>
            <a:r>
              <a:rPr lang="pt-BR">
                <a:solidFill>
                  <a:schemeClr val="accent5">
                    <a:lumMod val="40000"/>
                    <a:lumOff val="60000"/>
                  </a:schemeClr>
                </a:solidFill>
              </a:rPr>
              <a:t>1.2 - Componentes de Rede</a:t>
            </a:r>
            <a:endParaRPr lang="pt-BR">
              <a:solidFill>
                <a:schemeClr val="accent5">
                  <a:lumMod val="40000"/>
                  <a:lumOff val="60000"/>
                </a:schemeClr>
              </a:solidFill>
            </a:endParaRPr>
          </a:p>
        </p:txBody>
      </p:sp>
    </p:spTree>
    <p:custDataLst>
      <p:tags r:id="rId1"/>
    </p:custDataLst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6"/>
          <p:cNvSpPr>
            <a:spLocks noGrp="1" noChangeArrowheads="1"/>
          </p:cNvSpPr>
          <p:nvPr>
            <p:ph idx="1"/>
          </p:nvPr>
        </p:nvSpPr>
        <p:spPr>
          <a:xfrm>
            <a:off x="86995" y="741680"/>
            <a:ext cx="3556000" cy="4152900"/>
          </a:xfrm>
        </p:spPr>
        <p:txBody>
          <a:bodyPr/>
          <a:lstStyle/>
          <a:p>
            <a:pPr marL="0" indent="0" algn="just" rtl="0">
              <a:buNone/>
            </a:pPr>
            <a:r>
              <a:rPr lang="pt-BR" sz="1450"/>
              <a:t>Todo </a:t>
            </a:r>
            <a:r>
              <a:rPr lang="pt-BR" sz="1450" b="1">
                <a:solidFill>
                  <a:srgbClr val="0070C0"/>
                </a:solidFill>
              </a:rPr>
              <a:t>Computador em uma Rede</a:t>
            </a:r>
            <a:r>
              <a:rPr lang="pt-BR" sz="1450"/>
              <a:t> é chamado de </a:t>
            </a:r>
            <a:r>
              <a:rPr lang="pt-BR" sz="1450" b="1">
                <a:solidFill>
                  <a:srgbClr val="FF0000"/>
                </a:solidFill>
              </a:rPr>
              <a:t>Host </a:t>
            </a:r>
            <a:r>
              <a:rPr lang="pt-BR" sz="1450"/>
              <a:t>ou </a:t>
            </a:r>
            <a:r>
              <a:rPr lang="pt-BR" sz="1450" b="1"/>
              <a:t>Dispositivo Final </a:t>
            </a:r>
            <a:r>
              <a:rPr lang="pt-BR" sz="1450" b="1">
                <a:solidFill>
                  <a:srgbClr val="FF0000"/>
                </a:solidFill>
              </a:rPr>
              <a:t>(Endpoint)</a:t>
            </a:r>
            <a:r>
              <a:rPr lang="pt-BR" sz="1450"/>
              <a:t>.</a:t>
            </a:r>
            <a:endParaRPr lang="pt-BR" sz="1450"/>
          </a:p>
          <a:p>
            <a:pPr marL="0" indent="0" algn="just" rtl="0">
              <a:buNone/>
            </a:pPr>
            <a:r>
              <a:rPr lang="pt-BR" sz="1450" b="1">
                <a:solidFill>
                  <a:srgbClr val="FF0000"/>
                </a:solidFill>
              </a:rPr>
              <a:t>Servidores </a:t>
            </a:r>
            <a:r>
              <a:rPr lang="pt-BR" sz="1450"/>
              <a:t>são computadores que fornecem informações aos </a:t>
            </a:r>
            <a:r>
              <a:rPr lang="pt-BR" sz="1450" b="1"/>
              <a:t>Dispositivos Finais</a:t>
            </a:r>
            <a:r>
              <a:rPr lang="pt-BR" sz="1450"/>
              <a:t>:</a:t>
            </a:r>
            <a:endParaRPr lang="pt-BR" sz="1450"/>
          </a:p>
          <a:p>
            <a:pPr lvl="1" algn="just" rtl="0">
              <a:buFont typeface="Arial" panose="020B0604020202020204" pitchFamily="34" charset="0"/>
              <a:buChar char="•"/>
            </a:pPr>
            <a:r>
              <a:rPr lang="pt-BR" sz="1450" b="1">
                <a:solidFill>
                  <a:srgbClr val="0070C0"/>
                </a:solidFill>
              </a:rPr>
              <a:t>Servidores de Email;</a:t>
            </a:r>
            <a:endParaRPr lang="pt-BR" sz="1450" b="1">
              <a:solidFill>
                <a:srgbClr val="0070C0"/>
              </a:solidFill>
            </a:endParaRPr>
          </a:p>
          <a:p>
            <a:pPr lvl="1" algn="just" rtl="0">
              <a:buFont typeface="Arial" panose="020B0604020202020204" pitchFamily="34" charset="0"/>
              <a:buChar char="•"/>
            </a:pPr>
            <a:r>
              <a:rPr lang="pt-BR" sz="1450" b="1">
                <a:solidFill>
                  <a:srgbClr val="0070C0"/>
                </a:solidFill>
              </a:rPr>
              <a:t>Servidores Web;</a:t>
            </a:r>
            <a:endParaRPr lang="pt-BR" sz="1450" b="1">
              <a:solidFill>
                <a:srgbClr val="0070C0"/>
              </a:solidFill>
            </a:endParaRPr>
          </a:p>
          <a:p>
            <a:pPr lvl="1" algn="just" rtl="0">
              <a:buFont typeface="Arial" panose="020B0604020202020204" pitchFamily="34" charset="0"/>
              <a:buChar char="•"/>
            </a:pPr>
            <a:r>
              <a:rPr lang="pt-BR" sz="1450" b="1">
                <a:solidFill>
                  <a:srgbClr val="0070C0"/>
                </a:solidFill>
              </a:rPr>
              <a:t>Servidor de Arquivos.</a:t>
            </a:r>
            <a:endParaRPr lang="pt-BR" sz="1450" b="1">
              <a:solidFill>
                <a:srgbClr val="0070C0"/>
              </a:solidFill>
            </a:endParaRPr>
          </a:p>
          <a:p>
            <a:pPr marL="0" indent="0" algn="just" rtl="0">
              <a:buNone/>
            </a:pPr>
            <a:r>
              <a:rPr lang="pt-BR" sz="1450"/>
              <a:t>Os </a:t>
            </a:r>
            <a:r>
              <a:rPr lang="pt-BR" sz="1450" b="1">
                <a:solidFill>
                  <a:srgbClr val="FF0000"/>
                </a:solidFill>
              </a:rPr>
              <a:t>Clientes </a:t>
            </a:r>
            <a:r>
              <a:rPr lang="pt-BR" sz="1450"/>
              <a:t>são computadores que enviam solicitações aos </a:t>
            </a:r>
            <a:r>
              <a:rPr lang="pt-BR" sz="1450" b="1"/>
              <a:t>Servidores</a:t>
            </a:r>
            <a:r>
              <a:rPr lang="pt-BR" sz="1450"/>
              <a:t> para recuperar informações:</a:t>
            </a:r>
            <a:endParaRPr lang="pt-BR" sz="1450"/>
          </a:p>
          <a:p>
            <a:pPr lvl="1" algn="just" rtl="0">
              <a:buFont typeface="Arial" panose="020B0604020202020204" pitchFamily="34" charset="0"/>
              <a:buChar char="•"/>
            </a:pPr>
            <a:r>
              <a:rPr lang="pt-BR" sz="1450" b="1">
                <a:solidFill>
                  <a:srgbClr val="0070C0"/>
                </a:solidFill>
              </a:rPr>
              <a:t>A partir de um Servidor Web;</a:t>
            </a:r>
            <a:endParaRPr lang="pt-BR" sz="1450" b="1">
              <a:solidFill>
                <a:srgbClr val="0070C0"/>
              </a:solidFill>
            </a:endParaRPr>
          </a:p>
          <a:p>
            <a:pPr lvl="1" algn="just" rtl="0"/>
            <a:r>
              <a:rPr lang="pt-BR" sz="1450" b="1">
                <a:solidFill>
                  <a:srgbClr val="0070C0"/>
                </a:solidFill>
              </a:rPr>
              <a:t>A partir de um Servidor de E-mail.</a:t>
            </a:r>
            <a:endParaRPr lang="pt-BR" sz="1450" b="1">
              <a:solidFill>
                <a:srgbClr val="0070C0"/>
              </a:solidFill>
            </a:endParaRPr>
          </a:p>
        </p:txBody>
      </p:sp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3699932" y="1653117"/>
          <a:ext cx="5300003" cy="240786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6567"/>
                <a:gridCol w="4403436"/>
              </a:tblGrid>
              <a:tr h="527050">
                <a:tc>
                  <a:txBody>
                    <a:bodyPr/>
                    <a:lstStyle/>
                    <a:p>
                      <a:pPr algn="ctr" rtl="0"/>
                      <a:r>
                        <a:rPr lang="pt-BR"/>
                        <a:t>Tipo de servidor</a:t>
                      </a:r>
                      <a:endParaRPr lang="pt-BR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/>
                        <a:t>Descrição</a:t>
                      </a:r>
                      <a:endParaRPr lang="pt-BR"/>
                    </a:p>
                  </a:txBody>
                  <a:tcPr anchor="ctr" anchorCtr="0"/>
                </a:tc>
              </a:tr>
              <a:tr h="527016">
                <a:tc>
                  <a:txBody>
                    <a:bodyPr/>
                    <a:lstStyle/>
                    <a:p>
                      <a:pPr algn="ctr" rtl="0"/>
                      <a:r>
                        <a:rPr lang="pt-BR" b="1">
                          <a:solidFill>
                            <a:srgbClr val="FF0000"/>
                          </a:solidFill>
                        </a:rPr>
                        <a:t>E-mail</a:t>
                      </a:r>
                      <a:endParaRPr lang="pt-BR" b="1">
                        <a:solidFill>
                          <a:srgbClr val="FF0000"/>
                        </a:solidFill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4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 servidor de email executa o software do servidor de email. </a:t>
                      </a:r>
                      <a:endParaRPr lang="pt-BR" sz="1400" b="0" i="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 rtl="0"/>
                      <a:r>
                        <a:rPr lang="pt-BR" sz="14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Os clientes usam</a:t>
                      </a:r>
                      <a:r>
                        <a:rPr lang="pt-BR" sz="1400" b="0" i="0" kern="1200" baseline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pt-BR" sz="14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 software cliente para acessar o e-mail.</a:t>
                      </a:r>
                      <a:endParaRPr lang="pt-BR" sz="1400" b="0" i="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 anchorCtr="0"/>
                </a:tc>
              </a:tr>
              <a:tr h="744023">
                <a:tc>
                  <a:txBody>
                    <a:bodyPr/>
                    <a:lstStyle/>
                    <a:p>
                      <a:pPr algn="ctr" rtl="0"/>
                      <a:r>
                        <a:rPr lang="pt-BR" b="1">
                          <a:solidFill>
                            <a:srgbClr val="FF0000"/>
                          </a:solidFill>
                        </a:rPr>
                        <a:t>Web</a:t>
                      </a:r>
                      <a:endParaRPr lang="pt-BR" b="1">
                        <a:solidFill>
                          <a:srgbClr val="FF0000"/>
                        </a:solidFill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4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 servidor Web executa software de servidor web. </a:t>
                      </a:r>
                      <a:endParaRPr lang="pt-BR" sz="1400" b="0" i="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 rtl="0"/>
                      <a:r>
                        <a:rPr lang="pt-BR" sz="14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Os clientes usam software do navegador para acessar páginas da Web.</a:t>
                      </a:r>
                      <a:endParaRPr lang="pt-BR" sz="1400" b="0" i="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 anchorCtr="0"/>
                </a:tc>
              </a:tr>
              <a:tr h="609777">
                <a:tc>
                  <a:txBody>
                    <a:bodyPr/>
                    <a:lstStyle/>
                    <a:p>
                      <a:pPr algn="ctr" rtl="0"/>
                      <a:r>
                        <a:rPr lang="pt-BR" b="1">
                          <a:solidFill>
                            <a:srgbClr val="FF0000"/>
                          </a:solidFill>
                        </a:rPr>
                        <a:t>Arquivo</a:t>
                      </a:r>
                      <a:endParaRPr lang="pt-BR" b="1">
                        <a:solidFill>
                          <a:srgbClr val="FF0000"/>
                        </a:solidFill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4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 servidor de arquivos armazena arquivos corporativos e de usuário.</a:t>
                      </a:r>
                      <a:endParaRPr lang="pt-BR" sz="1400" b="0" i="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 rtl="0"/>
                      <a:r>
                        <a:rPr lang="pt-BR" sz="14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Os dispositivos cliente acessam esses arquivos.</a:t>
                      </a:r>
                      <a:endParaRPr lang="pt-BR" sz="1400" b="0" i="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 anchorCtr="0"/>
                </a:tc>
              </a:tr>
            </a:tbl>
          </a:graphicData>
        </a:graphic>
      </p:graphicFrame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0" y="34925"/>
            <a:ext cx="9143365" cy="7575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l" defTabSz="68453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en-US" sz="2400" kern="1200">
                <a:solidFill>
                  <a:schemeClr val="accent4"/>
                </a:solidFill>
                <a:latin typeface="+mj-lt"/>
                <a:ea typeface="MS PGothic" charset="0"/>
                <a:cs typeface="CiscoSans"/>
              </a:defRPr>
            </a:lvl1pPr>
            <a:lvl2pPr algn="l" defTabSz="684530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panose="020B0604020202020204" pitchFamily="34" charset="0"/>
                <a:ea typeface="MS PGothic" charset="0"/>
                <a:cs typeface="CiscoSans" pitchFamily="34" charset="0"/>
              </a:defRPr>
            </a:lvl2pPr>
            <a:lvl3pPr algn="l" defTabSz="684530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panose="020B0604020202020204" pitchFamily="34" charset="0"/>
                <a:ea typeface="MS PGothic" charset="0"/>
                <a:cs typeface="CiscoSans" pitchFamily="34" charset="0"/>
              </a:defRPr>
            </a:lvl3pPr>
            <a:lvl4pPr algn="l" defTabSz="684530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panose="020B0604020202020204" pitchFamily="34" charset="0"/>
                <a:ea typeface="MS PGothic" charset="0"/>
                <a:cs typeface="CiscoSans" pitchFamily="34" charset="0"/>
              </a:defRPr>
            </a:lvl4pPr>
            <a:lvl5pPr algn="l" defTabSz="684530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panose="020B0604020202020204" pitchFamily="34" charset="0"/>
                <a:ea typeface="MS PGothic" charset="0"/>
                <a:cs typeface="CiscoSans" pitchFamily="34" charset="0"/>
              </a:defRPr>
            </a:lvl5pPr>
            <a:lvl6pPr marL="457200" algn="l" defTabSz="684530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panose="020B0604020202020204" pitchFamily="34" charset="0"/>
                <a:ea typeface="MS PGothic" charset="0"/>
              </a:defRPr>
            </a:lvl6pPr>
            <a:lvl7pPr marL="914400" algn="l" defTabSz="684530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panose="020B0604020202020204" pitchFamily="34" charset="0"/>
                <a:ea typeface="MS PGothic" charset="0"/>
              </a:defRPr>
            </a:lvl7pPr>
            <a:lvl8pPr marL="1371600" algn="l" defTabSz="684530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panose="020B0604020202020204" pitchFamily="34" charset="0"/>
                <a:ea typeface="MS PGothic" charset="0"/>
              </a:defRPr>
            </a:lvl8pPr>
            <a:lvl9pPr marL="1828800" algn="l" defTabSz="684530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panose="020B0604020202020204" pitchFamily="34" charset="0"/>
                <a:ea typeface="MS PGothic" charset="0"/>
              </a:defRPr>
            </a:lvl9pPr>
          </a:lstStyle>
          <a:p>
            <a:pPr rtl="0"/>
            <a:r>
              <a:rPr lang="pt-BR" sz="1600"/>
              <a:t>Componentes de Rede</a:t>
            </a:r>
            <a:br>
              <a:rPr lang="en-US" altLang="en-US" dirty="0"/>
            </a:br>
            <a:r>
              <a:rPr lang="pt-BR"/>
              <a:t>Funções de Host</a:t>
            </a:r>
            <a:endParaRPr lang="pt-BR"/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 l="44792" t="47593" r="13229" b="35000"/>
          <a:stretch>
            <a:fillRect/>
          </a:stretch>
        </p:blipFill>
        <p:spPr>
          <a:xfrm>
            <a:off x="3700145" y="416560"/>
            <a:ext cx="5299075" cy="123634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1" y="41394"/>
            <a:ext cx="9144000" cy="709974"/>
          </a:xfrm>
        </p:spPr>
        <p:txBody>
          <a:bodyPr/>
          <a:lstStyle/>
          <a:p>
            <a:pPr rtl="0"/>
            <a:r>
              <a:rPr lang="pt-BR" sz="1600"/>
              <a:t>Componentes de rede</a:t>
            </a:r>
            <a:br>
              <a:rPr lang="en-US" altLang="en-US" dirty="0"/>
            </a:br>
            <a:r>
              <a:rPr lang="pt-BR" altLang="en-US" dirty="0"/>
              <a:t>Rede P</a:t>
            </a:r>
            <a:r>
              <a:rPr lang="pt-BR"/>
              <a:t>onto-a-Ponto (Básica/Simples)</a:t>
            </a:r>
            <a:endParaRPr lang="pt-BR"/>
          </a:p>
        </p:txBody>
      </p:sp>
      <p:sp>
        <p:nvSpPr>
          <p:cNvPr id="8195" name="Rectangle 6"/>
          <p:cNvSpPr>
            <a:spLocks noGrp="1" noChangeArrowheads="1"/>
          </p:cNvSpPr>
          <p:nvPr>
            <p:ph idx="1"/>
          </p:nvPr>
        </p:nvSpPr>
        <p:spPr>
          <a:xfrm>
            <a:off x="130175" y="728345"/>
            <a:ext cx="8853170" cy="585470"/>
          </a:xfrm>
        </p:spPr>
        <p:txBody>
          <a:bodyPr/>
          <a:lstStyle/>
          <a:p>
            <a:pPr marL="0" indent="0" algn="ctr" rtl="0">
              <a:buNone/>
            </a:pPr>
            <a:r>
              <a:rPr lang="pt-BR" sz="1600"/>
              <a:t>É possível que um dispositivo seja um </a:t>
            </a:r>
            <a:r>
              <a:rPr lang="pt-BR" sz="1600" b="1">
                <a:solidFill>
                  <a:srgbClr val="FF0000"/>
                </a:solidFill>
              </a:rPr>
              <a:t>Cliente e um Servidor</a:t>
            </a:r>
            <a:r>
              <a:rPr lang="pt-BR" sz="1600"/>
              <a:t> em uma </a:t>
            </a:r>
            <a:r>
              <a:rPr lang="pt-BR" sz="1600" b="1"/>
              <a:t>Rede Ponto-a-Ponto</a:t>
            </a:r>
            <a:r>
              <a:rPr lang="pt-BR" sz="1600"/>
              <a:t>. Este tipo de design de rede é recomendado apenas para </a:t>
            </a:r>
            <a:r>
              <a:rPr lang="pt-BR" sz="1600" b="1">
                <a:solidFill>
                  <a:srgbClr val="0070C0"/>
                </a:solidFill>
              </a:rPr>
              <a:t>Redes Muito Pequenas</a:t>
            </a:r>
            <a:r>
              <a:rPr lang="pt-BR" sz="1600"/>
              <a:t>. </a:t>
            </a:r>
            <a:endParaRPr lang="pt-BR" sz="1600"/>
          </a:p>
        </p:txBody>
      </p:sp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129888" y="2743199"/>
          <a:ext cx="8853286" cy="190295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71774"/>
                <a:gridCol w="4481512"/>
              </a:tblGrid>
              <a:tr h="276705">
                <a:tc>
                  <a:txBody>
                    <a:bodyPr/>
                    <a:lstStyle/>
                    <a:p>
                      <a:pPr algn="ctr" rtl="0"/>
                      <a:r>
                        <a:rPr lang="pt-BR"/>
                        <a:t>Vantagens</a:t>
                      </a:r>
                      <a:endParaRPr lang="pt-BR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/>
                        <a:t>Desvantagens</a:t>
                      </a:r>
                      <a:endParaRPr lang="pt-BR"/>
                    </a:p>
                  </a:txBody>
                  <a:tcPr anchor="ctr" anchorCtr="0"/>
                </a:tc>
              </a:tr>
              <a:tr h="289977">
                <a:tc>
                  <a:txBody>
                    <a:bodyPr/>
                    <a:lstStyle/>
                    <a:p>
                      <a:pPr algn="ctr" rtl="0">
                        <a:buFont typeface="Arial" panose="020B0604020202020204"/>
                        <a:buNone/>
                      </a:pPr>
                      <a:r>
                        <a:rPr lang="pt-BR" b="1" i="0">
                          <a:solidFill>
                            <a:srgbClr val="00B050"/>
                          </a:solidFill>
                          <a:effectLst/>
                          <a:latin typeface="CiscoSans"/>
                        </a:rPr>
                        <a:t>Fácil de configurar</a:t>
                      </a:r>
                      <a:endParaRPr lang="pt-BR" b="1" i="0">
                        <a:solidFill>
                          <a:srgbClr val="00B050"/>
                        </a:solidFill>
                        <a:effectLst/>
                        <a:latin typeface="CiscoSans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400" b="1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Nenhuma administração centralizada</a:t>
                      </a:r>
                      <a:endParaRPr lang="pt-BR" sz="1400" b="1" i="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 anchorCtr="0"/>
                </a:tc>
              </a:tr>
              <a:tr h="276705">
                <a:tc>
                  <a:txBody>
                    <a:bodyPr/>
                    <a:lstStyle/>
                    <a:p>
                      <a:pPr algn="ctr" rtl="0">
                        <a:buFont typeface="Arial" panose="020B0604020202020204"/>
                        <a:buNone/>
                      </a:pPr>
                      <a:r>
                        <a:rPr lang="pt-BR" b="1" i="0">
                          <a:solidFill>
                            <a:srgbClr val="7030A0"/>
                          </a:solidFill>
                          <a:effectLst/>
                          <a:latin typeface="CiscoSans"/>
                        </a:rPr>
                        <a:t>Menos complexo</a:t>
                      </a:r>
                      <a:endParaRPr lang="pt-BR" b="1" i="0">
                        <a:solidFill>
                          <a:srgbClr val="7030A0"/>
                        </a:solidFill>
                        <a:effectLst/>
                        <a:latin typeface="CiscoSans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400" b="1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Não é tão segura</a:t>
                      </a:r>
                      <a:endParaRPr lang="pt-BR" sz="1400" b="1" i="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 anchorCtr="0"/>
                </a:tc>
              </a:tr>
              <a:tr h="470398">
                <a:tc>
                  <a:txBody>
                    <a:bodyPr/>
                    <a:lstStyle/>
                    <a:p>
                      <a:pPr algn="ctr" rtl="0">
                        <a:buFont typeface="Arial" panose="020B0604020202020204"/>
                        <a:buNone/>
                      </a:pPr>
                      <a:r>
                        <a:rPr lang="pt-BR" b="1" i="0">
                          <a:solidFill>
                            <a:srgbClr val="FF0000"/>
                          </a:solidFill>
                          <a:effectLst/>
                          <a:latin typeface="CiscoSans"/>
                        </a:rPr>
                        <a:t>Custo mais baixo</a:t>
                      </a:r>
                      <a:endParaRPr lang="pt-BR" b="1" i="0">
                        <a:solidFill>
                          <a:srgbClr val="FF0000"/>
                        </a:solidFill>
                        <a:effectLst/>
                        <a:latin typeface="CiscoSans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400" b="1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Não é escalável</a:t>
                      </a:r>
                      <a:endParaRPr lang="pt-BR" sz="1400" b="1" i="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 anchorCtr="0"/>
                </a:tc>
              </a:tr>
              <a:tr h="470398">
                <a:tc>
                  <a:txBody>
                    <a:bodyPr/>
                    <a:lstStyle/>
                    <a:p>
                      <a:pPr algn="ctr" rtl="0">
                        <a:buFont typeface="Arial" panose="020B0604020202020204"/>
                        <a:buNone/>
                      </a:pPr>
                      <a:r>
                        <a:rPr lang="pt-BR" b="1" i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CiscoSans"/>
                        </a:rPr>
                        <a:t>Usado para tarefas simples: transferência de arquivos e compartilhamento de impressoras</a:t>
                      </a:r>
                      <a:endParaRPr lang="pt-BR" b="1" i="0">
                        <a:solidFill>
                          <a:schemeClr val="accent6">
                            <a:lumMod val="50000"/>
                          </a:schemeClr>
                        </a:solidFill>
                        <a:effectLst/>
                        <a:latin typeface="CiscoSans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400" b="1" i="0" kern="1200" baseline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pt-BR" sz="1400" b="1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Desempenho mais lento</a:t>
                      </a:r>
                      <a:endParaRPr lang="pt-BR" sz="1400" b="1" i="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 anchorCtr="0"/>
                </a:tc>
              </a:tr>
            </a:tbl>
          </a:graphicData>
        </a:graphic>
      </p:graphicFrame>
      <p:pic>
        <p:nvPicPr>
          <p:cNvPr id="4" name="Imagem 3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 l="41347" t="43481" r="8917" b="32969"/>
          <a:stretch>
            <a:fillRect/>
          </a:stretch>
        </p:blipFill>
        <p:spPr>
          <a:xfrm>
            <a:off x="1821180" y="1286510"/>
            <a:ext cx="5470525" cy="145669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  <p:transition spd="slow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6"/>
          <p:cNvSpPr>
            <a:spLocks noGrp="1" noChangeArrowheads="1"/>
          </p:cNvSpPr>
          <p:nvPr>
            <p:ph idx="1"/>
          </p:nvPr>
        </p:nvSpPr>
        <p:spPr>
          <a:xfrm>
            <a:off x="144145" y="754380"/>
            <a:ext cx="8853170" cy="556895"/>
          </a:xfrm>
        </p:spPr>
        <p:txBody>
          <a:bodyPr/>
          <a:lstStyle/>
          <a:p>
            <a:pPr marL="0" lvl="1" indent="0" algn="ctr" rtl="0">
              <a:spcBef>
                <a:spcPts val="600"/>
              </a:spcBef>
              <a:spcAft>
                <a:spcPts val="600"/>
              </a:spcAft>
              <a:buSzPct val="90000"/>
              <a:buNone/>
            </a:pPr>
            <a:r>
              <a:rPr lang="pt-BR" sz="1600"/>
              <a:t>Um </a:t>
            </a:r>
            <a:r>
              <a:rPr lang="pt-BR" sz="1600" b="1">
                <a:solidFill>
                  <a:srgbClr val="FF0000"/>
                </a:solidFill>
              </a:rPr>
              <a:t>Dispositivo Final</a:t>
            </a:r>
            <a:r>
              <a:rPr lang="pt-BR" sz="1600"/>
              <a:t> é onde uma mensagem se </a:t>
            </a:r>
            <a:r>
              <a:rPr lang="pt-BR" sz="1600" b="1">
                <a:solidFill>
                  <a:srgbClr val="0070C0"/>
                </a:solidFill>
              </a:rPr>
              <a:t>Origina </a:t>
            </a:r>
            <a:r>
              <a:rPr lang="pt-BR" sz="1600"/>
              <a:t>ou onde ela é </a:t>
            </a:r>
            <a:r>
              <a:rPr lang="pt-BR" sz="1600" b="1">
                <a:solidFill>
                  <a:srgbClr val="0070C0"/>
                </a:solidFill>
              </a:rPr>
              <a:t>Recebida</a:t>
            </a:r>
            <a:r>
              <a:rPr lang="pt-BR" sz="1600"/>
              <a:t>. Os dados se originam em um </a:t>
            </a:r>
            <a:r>
              <a:rPr lang="pt-BR" sz="1600" b="1"/>
              <a:t>Dispositivo Final</a:t>
            </a:r>
            <a:r>
              <a:rPr lang="pt-BR" sz="1600"/>
              <a:t>, fluem pela rede e chegam a outro </a:t>
            </a:r>
            <a:r>
              <a:rPr lang="pt-BR" sz="1600" b="1"/>
              <a:t>Dispositivo Final</a:t>
            </a:r>
            <a:r>
              <a:rPr lang="pt-BR" sz="1600"/>
              <a:t>.</a:t>
            </a:r>
            <a:endParaRPr lang="en-US" altLang="en-US" sz="1600" dirty="0"/>
          </a:p>
          <a:p>
            <a:pPr algn="ctr"/>
            <a:endParaRPr lang="en-US" altLang="en-US" sz="1600" dirty="0"/>
          </a:p>
          <a:p>
            <a:pPr marL="0" indent="0" algn="ctr" rtl="0">
              <a:buNone/>
            </a:pPr>
            <a:r>
              <a:rPr lang="pt-BR" sz="1600"/>
              <a:t> </a:t>
            </a:r>
            <a:endParaRPr lang="pt-BR" sz="1600"/>
          </a:p>
        </p:txBody>
      </p:sp>
      <p:sp>
        <p:nvSpPr>
          <p:cNvPr id="3" name="Rectangle 2"/>
          <p:cNvSpPr>
            <a:spLocks noGrp="1" noChangeArrowheads="1"/>
          </p:cNvSpPr>
          <p:nvPr>
            <p:ph type="title"/>
          </p:nvPr>
        </p:nvSpPr>
        <p:spPr>
          <a:xfrm>
            <a:off x="1" y="41394"/>
            <a:ext cx="9144000" cy="709974"/>
          </a:xfrm>
        </p:spPr>
        <p:txBody>
          <a:bodyPr/>
          <a:p>
            <a:pPr rtl="0"/>
            <a:r>
              <a:rPr lang="pt-BR" sz="1600"/>
              <a:t>Componentes de rede</a:t>
            </a:r>
            <a:br>
              <a:rPr lang="en-US" altLang="en-US" dirty="0"/>
            </a:br>
            <a:r>
              <a:rPr lang="pt-BR" altLang="en-US" dirty="0"/>
              <a:t>Dispositivos Finais</a:t>
            </a:r>
            <a:r>
              <a:rPr lang="pt-BR"/>
              <a:t> (Hosts / Endpoints)</a:t>
            </a:r>
            <a:endParaRPr lang="pt-BR"/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 l="40003" t="27068" r="7573" b="23426"/>
          <a:stretch>
            <a:fillRect/>
          </a:stretch>
        </p:blipFill>
        <p:spPr>
          <a:xfrm>
            <a:off x="1306195" y="1314450"/>
            <a:ext cx="6315075" cy="335470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  <p:transition spd="slow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0"/>
            <a:r>
              <a:rPr lang="pt-BR" sz="1600"/>
              <a:t>Componentes de rede</a:t>
            </a:r>
            <a:br>
              <a:rPr lang="en-US" altLang="en-US" dirty="0"/>
            </a:br>
            <a:r>
              <a:rPr lang="pt-BR"/>
              <a:t>Dispositivos de Rede Intermediários</a:t>
            </a:r>
            <a:endParaRPr lang="pt-BR"/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>
          <a:xfrm>
            <a:off x="97790" y="798830"/>
            <a:ext cx="8874760" cy="2098675"/>
          </a:xfrm>
        </p:spPr>
        <p:txBody>
          <a:bodyPr/>
          <a:lstStyle/>
          <a:p>
            <a:pPr marL="0" indent="0" algn="just" rtl="0">
              <a:buNone/>
            </a:pPr>
            <a:r>
              <a:rPr lang="pt-BR" sz="1500"/>
              <a:t>Um </a:t>
            </a:r>
            <a:r>
              <a:rPr lang="pt-BR" sz="1500" b="1">
                <a:solidFill>
                  <a:srgbClr val="FF0000"/>
                </a:solidFill>
              </a:rPr>
              <a:t>Dispositivo Intermediário</a:t>
            </a:r>
            <a:r>
              <a:rPr lang="pt-BR" sz="1500"/>
              <a:t> interconecta </a:t>
            </a:r>
            <a:r>
              <a:rPr lang="pt-BR" sz="1500" b="1"/>
              <a:t>Dispositivos Finais</a:t>
            </a:r>
            <a:r>
              <a:rPr lang="pt-BR" sz="1500"/>
              <a:t>. Os exemplos incluem </a:t>
            </a:r>
            <a:r>
              <a:rPr lang="pt-BR" sz="1500" b="1">
                <a:solidFill>
                  <a:srgbClr val="0070C0"/>
                </a:solidFill>
              </a:rPr>
              <a:t>Comutadores (Switch), Pontos de Acesso Sem-Fio (Access Point), Roteadores e Firewalls.</a:t>
            </a:r>
            <a:endParaRPr lang="pt-BR" sz="1500"/>
          </a:p>
          <a:p>
            <a:pPr marL="0" indent="0" algn="just" rtl="0">
              <a:buNone/>
            </a:pPr>
            <a:r>
              <a:rPr lang="pt-BR" sz="1500"/>
              <a:t>O</a:t>
            </a:r>
            <a:r>
              <a:rPr lang="pt-BR" sz="1500" b="1">
                <a:solidFill>
                  <a:srgbClr val="FF0000"/>
                </a:solidFill>
              </a:rPr>
              <a:t> Gerenciamento de Dados</a:t>
            </a:r>
            <a:r>
              <a:rPr lang="pt-BR" sz="1500"/>
              <a:t> à medida que flui através de uma rede também é o papel de um </a:t>
            </a:r>
            <a:r>
              <a:rPr lang="pt-BR" sz="1500" b="1"/>
              <a:t>Dispositivo Intermediário</a:t>
            </a:r>
            <a:r>
              <a:rPr lang="pt-BR" sz="1500"/>
              <a:t>, incluindo:</a:t>
            </a:r>
            <a:endParaRPr lang="pt-BR" sz="1500"/>
          </a:p>
          <a:p>
            <a:pPr lvl="1" algn="just" rtl="0"/>
            <a:r>
              <a:rPr lang="pt-BR" sz="1500" b="1"/>
              <a:t>Regenerar e Retransmitir</a:t>
            </a:r>
            <a:r>
              <a:rPr lang="pt-BR" sz="1500"/>
              <a:t> sinais de dados.</a:t>
            </a:r>
            <a:endParaRPr lang="pt-BR" sz="1500"/>
          </a:p>
          <a:p>
            <a:pPr lvl="1" algn="just" rtl="0"/>
            <a:r>
              <a:rPr lang="pt-BR" sz="1500" b="1"/>
              <a:t>Mantenha informações</a:t>
            </a:r>
            <a:r>
              <a:rPr lang="pt-BR" sz="1500"/>
              <a:t> sobre quais </a:t>
            </a:r>
            <a:r>
              <a:rPr lang="pt-BR" sz="1500" b="1">
                <a:solidFill>
                  <a:srgbClr val="FF0000"/>
                </a:solidFill>
              </a:rPr>
              <a:t>Caminhos Existem</a:t>
            </a:r>
            <a:r>
              <a:rPr lang="pt-BR" sz="1500"/>
              <a:t> na rede.</a:t>
            </a:r>
            <a:endParaRPr lang="pt-BR" sz="1500"/>
          </a:p>
          <a:p>
            <a:pPr lvl="1" algn="just" rtl="0"/>
            <a:r>
              <a:rPr lang="pt-BR" sz="1500" b="1"/>
              <a:t>Notificar outros Dispositivos</a:t>
            </a:r>
            <a:r>
              <a:rPr lang="pt-BR" sz="1500"/>
              <a:t> sobre </a:t>
            </a:r>
            <a:r>
              <a:rPr lang="pt-BR" sz="1500" b="1">
                <a:solidFill>
                  <a:srgbClr val="FF0000"/>
                </a:solidFill>
              </a:rPr>
              <a:t>Erros e Falhas</a:t>
            </a:r>
            <a:r>
              <a:rPr lang="pt-BR" sz="1500"/>
              <a:t> de comunicação.</a:t>
            </a:r>
            <a:endParaRPr lang="en-CA" altLang="en-US" sz="1500" dirty="0"/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 l="43247" t="44506" r="12753" b="33611"/>
          <a:stretch>
            <a:fillRect/>
          </a:stretch>
        </p:blipFill>
        <p:spPr>
          <a:xfrm>
            <a:off x="1569085" y="2989580"/>
            <a:ext cx="5931535" cy="1659890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rtl="0"/>
            <a:r>
              <a:rPr lang="pt-BR" sz="1600"/>
              <a:t>Componentes de rede</a:t>
            </a:r>
            <a:br>
              <a:rPr lang="en-US" altLang="en-US" dirty="0"/>
            </a:br>
            <a:r>
              <a:rPr lang="pt-BR"/>
              <a:t>Meio Físico de Rede</a:t>
            </a:r>
            <a:endParaRPr lang="pt-BR"/>
          </a:p>
        </p:txBody>
      </p:sp>
      <p:sp>
        <p:nvSpPr>
          <p:cNvPr id="8195" name="Rectangle 6"/>
          <p:cNvSpPr>
            <a:spLocks noGrp="1" noChangeArrowheads="1"/>
          </p:cNvSpPr>
          <p:nvPr>
            <p:ph idx="1"/>
          </p:nvPr>
        </p:nvSpPr>
        <p:spPr>
          <a:xfrm>
            <a:off x="106045" y="798830"/>
            <a:ext cx="8781415" cy="608965"/>
          </a:xfrm>
        </p:spPr>
        <p:txBody>
          <a:bodyPr/>
          <a:lstStyle/>
          <a:p>
            <a:pPr marL="0" indent="0" algn="ctr" rtl="0">
              <a:buNone/>
            </a:pPr>
            <a:r>
              <a:rPr lang="pt-BR" sz="2000"/>
              <a:t>A comunicação através de uma rede é </a:t>
            </a:r>
            <a:r>
              <a:rPr lang="pt-BR" sz="2000" b="1">
                <a:solidFill>
                  <a:srgbClr val="FF0000"/>
                </a:solidFill>
              </a:rPr>
              <a:t>Transmitida por um Meio</a:t>
            </a:r>
            <a:r>
              <a:rPr lang="pt-BR" sz="2000"/>
              <a:t> que permite a uma mensagem se deslocar da</a:t>
            </a:r>
            <a:r>
              <a:rPr lang="pt-BR" sz="2000" b="1"/>
              <a:t> Origem até o Destino</a:t>
            </a:r>
            <a:r>
              <a:rPr lang="pt-BR" sz="2000"/>
              <a:t>. </a:t>
            </a:r>
            <a:endParaRPr lang="pt-BR" sz="2000"/>
          </a:p>
          <a:p>
            <a:pPr marL="0" indent="0" algn="ctr" rtl="0">
              <a:buNone/>
            </a:pPr>
            <a:r>
              <a:rPr lang="pt-BR" sz="2000"/>
              <a:t> </a:t>
            </a:r>
            <a:endParaRPr lang="pt-BR" sz="2000"/>
          </a:p>
        </p:txBody>
      </p:sp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106045" y="1598295"/>
          <a:ext cx="4813300" cy="29997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54910"/>
                <a:gridCol w="2358390"/>
              </a:tblGrid>
              <a:tr h="458470">
                <a:tc>
                  <a:txBody>
                    <a:bodyPr/>
                    <a:lstStyle/>
                    <a:p>
                      <a:pPr algn="ctr" rtl="0"/>
                      <a:r>
                        <a:rPr lang="pt-BR"/>
                        <a:t>Tipos de mídia</a:t>
                      </a:r>
                      <a:endParaRPr lang="pt-BR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/>
                        <a:t>Descrição</a:t>
                      </a:r>
                      <a:endParaRPr lang="pt-BR"/>
                    </a:p>
                  </a:txBody>
                  <a:tcPr anchor="ctr" anchorCtr="0"/>
                </a:tc>
              </a:tr>
              <a:tr h="637540">
                <a:tc>
                  <a:txBody>
                    <a:bodyPr/>
                    <a:lstStyle/>
                    <a:p>
                      <a:pPr algn="ctr" rtl="0"/>
                      <a:r>
                        <a:rPr lang="pt-BR" sz="1400" b="1" i="0" kern="120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Fios Metálicos de Cobre dentro de Cabos</a:t>
                      </a:r>
                      <a:endParaRPr lang="pt-BR" sz="1400" b="1" i="0" kern="1200">
                        <a:solidFill>
                          <a:srgbClr val="00B05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4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Usa impulsos elétricos</a:t>
                      </a:r>
                      <a:endParaRPr lang="pt-BR" sz="1400" b="0" i="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 anchorCtr="0"/>
                </a:tc>
              </a:tr>
              <a:tr h="899795">
                <a:tc>
                  <a:txBody>
                    <a:bodyPr/>
                    <a:lstStyle/>
                    <a:p>
                      <a:pPr algn="ctr" rtl="0"/>
                      <a:r>
                        <a:rPr lang="pt-BR" sz="1400" b="1" i="0" kern="1200">
                          <a:solidFill>
                            <a:srgbClr val="7030A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Fibras de Vidro ou Plástico nos Cabos </a:t>
                      </a:r>
                      <a:endParaRPr lang="pt-BR" sz="1400" b="1" i="0" kern="1200">
                        <a:solidFill>
                          <a:srgbClr val="7030A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 rtl="0"/>
                      <a:r>
                        <a:rPr lang="pt-BR" sz="1400" b="1" i="0" kern="1200">
                          <a:solidFill>
                            <a:srgbClr val="7030A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(cabo de fibra óptica)</a:t>
                      </a:r>
                      <a:endParaRPr lang="pt-BR" sz="1400" b="1" i="0" kern="1200">
                        <a:solidFill>
                          <a:srgbClr val="7030A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4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Usa pulsos de luz.</a:t>
                      </a:r>
                      <a:endParaRPr lang="pt-BR" sz="1400" b="0" i="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 anchorCtr="0"/>
                </a:tc>
              </a:tr>
              <a:tr h="1003935">
                <a:tc>
                  <a:txBody>
                    <a:bodyPr/>
                    <a:lstStyle/>
                    <a:p>
                      <a:pPr algn="ctr" rtl="0"/>
                      <a:r>
                        <a:rPr lang="pt-BR" sz="1400" b="1" i="0" kern="120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Transmissão Sem Fio (Wilress/Wi-Fi - Rádio Frequência)</a:t>
                      </a:r>
                      <a:endParaRPr lang="pt-BR" sz="1400" b="1" i="0" kern="1200">
                        <a:solidFill>
                          <a:schemeClr val="accent6">
                            <a:lumMod val="50000"/>
                          </a:schemeClr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4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Usa modulação de frequências específicas de ondas eletromagnéticas.</a:t>
                      </a:r>
                      <a:endParaRPr lang="pt-BR" sz="1400" b="0" i="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 anchorCtr="0"/>
                </a:tc>
              </a:tr>
            </a:tbl>
          </a:graphicData>
        </a:graphic>
      </p:graphicFrame>
      <p:pic>
        <p:nvPicPr>
          <p:cNvPr id="3" name="Imagem 2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 l="40903" t="31235" r="8333" b="5556"/>
          <a:stretch>
            <a:fillRect/>
          </a:stretch>
        </p:blipFill>
        <p:spPr>
          <a:xfrm>
            <a:off x="4919345" y="1598295"/>
            <a:ext cx="4120515" cy="305244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  <p:transition spd="slow">
    <p:wip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6425" y="1518659"/>
            <a:ext cx="8231464" cy="1802391"/>
          </a:xfrm>
        </p:spPr>
        <p:txBody>
          <a:bodyPr/>
          <a:lstStyle/>
          <a:p>
            <a:pPr rtl="0"/>
            <a:r>
              <a:rPr lang="pt-BR">
                <a:solidFill>
                  <a:schemeClr val="accent5">
                    <a:lumMod val="40000"/>
                    <a:lumOff val="60000"/>
                  </a:schemeClr>
                </a:solidFill>
              </a:rPr>
              <a:t>1.3 Representações e Topologias de Rede</a:t>
            </a:r>
            <a:endParaRPr lang="pt-BR">
              <a:solidFill>
                <a:schemeClr val="accent5">
                  <a:lumMod val="40000"/>
                  <a:lumOff val="60000"/>
                </a:schemeClr>
              </a:solidFill>
            </a:endParaRPr>
          </a:p>
        </p:txBody>
      </p:sp>
    </p:spTree>
    <p:custDataLst>
      <p:tags r:id="rId1"/>
    </p:custDataLst>
  </p:cSld>
  <p:clrMapOvr>
    <a:masterClrMapping/>
  </p:clrMapOvr>
  <p:transition spd="slow">
    <p:wip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0"/>
            <a:r>
              <a:rPr lang="pt-BR" sz="1600"/>
              <a:t>Representações e Topologias de Rede</a:t>
            </a:r>
            <a:br>
              <a:rPr lang="en-US" altLang="en-US" dirty="0"/>
            </a:br>
            <a:r>
              <a:rPr lang="pt-BR"/>
              <a:t>Representações de Rede</a:t>
            </a:r>
            <a:endParaRPr lang="pt-BR"/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>
          <a:xfrm>
            <a:off x="70485" y="798830"/>
            <a:ext cx="3997325" cy="3886200"/>
          </a:xfrm>
        </p:spPr>
        <p:txBody>
          <a:bodyPr/>
          <a:lstStyle/>
          <a:p>
            <a:pPr marL="0" indent="0" algn="just" rtl="0">
              <a:buNone/>
            </a:pPr>
            <a:r>
              <a:rPr lang="pt-BR" sz="1600"/>
              <a:t>Os </a:t>
            </a:r>
            <a:r>
              <a:rPr lang="pt-BR" sz="1600" b="1">
                <a:solidFill>
                  <a:srgbClr val="FF0000"/>
                </a:solidFill>
              </a:rPr>
              <a:t>Diagramas de Rede</a:t>
            </a:r>
            <a:r>
              <a:rPr lang="pt-BR" sz="1600"/>
              <a:t>, muitas vezes chamados de </a:t>
            </a:r>
            <a:r>
              <a:rPr lang="pt-BR" sz="1600" b="1"/>
              <a:t>Diagramas de Topologia</a:t>
            </a:r>
            <a:r>
              <a:rPr lang="pt-BR" sz="1600"/>
              <a:t>, usam símbolos para representar os </a:t>
            </a:r>
            <a:r>
              <a:rPr lang="pt-BR" sz="1600" b="1">
                <a:solidFill>
                  <a:srgbClr val="0070C0"/>
                </a:solidFill>
              </a:rPr>
              <a:t>Dispositivos na Rede</a:t>
            </a:r>
            <a:r>
              <a:rPr lang="pt-BR" sz="1600"/>
              <a:t>.</a:t>
            </a:r>
            <a:endParaRPr lang="pt-BR" sz="1600"/>
          </a:p>
          <a:p>
            <a:pPr marL="0" indent="0" algn="just" rtl="0">
              <a:buNone/>
            </a:pPr>
            <a:r>
              <a:rPr lang="pt-BR" sz="1600"/>
              <a:t>Os termos importantes a serem conhecidos incluem:</a:t>
            </a:r>
            <a:endParaRPr lang="pt-BR" sz="1600"/>
          </a:p>
          <a:p>
            <a:pPr lvl="2" algn="just" rtl="0"/>
            <a:r>
              <a:rPr lang="pt-BR" sz="1600" b="1"/>
              <a:t>Placa de Interface de Rede (NIC);</a:t>
            </a:r>
            <a:endParaRPr lang="pt-BR" sz="1600" b="1"/>
          </a:p>
          <a:p>
            <a:pPr lvl="2" algn="just" rtl="0"/>
            <a:r>
              <a:rPr lang="pt-BR" sz="1600" b="1"/>
              <a:t>Porta Física de Rede (Switch);</a:t>
            </a:r>
            <a:endParaRPr lang="pt-BR" sz="1600" b="1"/>
          </a:p>
          <a:p>
            <a:pPr lvl="2" algn="just" rtl="0"/>
            <a:r>
              <a:rPr lang="pt-BR" sz="1600" b="1"/>
              <a:t>Interface Física (Router).</a:t>
            </a:r>
            <a:endParaRPr lang="pt-BR" sz="1600" b="1"/>
          </a:p>
          <a:p>
            <a:pPr marL="261620" lvl="2" indent="0" algn="just">
              <a:buNone/>
            </a:pPr>
            <a:endParaRPr lang="en-US" sz="1600" b="1" dirty="0"/>
          </a:p>
          <a:p>
            <a:pPr marL="0" lvl="2" indent="0" algn="just" rtl="0">
              <a:buNone/>
            </a:pPr>
            <a:r>
              <a:rPr lang="pt-BR" sz="1600" b="1"/>
              <a:t>Nota</a:t>
            </a:r>
            <a:r>
              <a:rPr lang="pt-BR" sz="1600"/>
              <a:t>: Frequentemente, os termos</a:t>
            </a:r>
            <a:r>
              <a:rPr lang="pt-BR" sz="1600" b="1">
                <a:solidFill>
                  <a:srgbClr val="FF0000"/>
                </a:solidFill>
              </a:rPr>
              <a:t> Porta e Interface</a:t>
            </a:r>
            <a:r>
              <a:rPr lang="pt-BR" sz="1600"/>
              <a:t> são usados de forma </a:t>
            </a:r>
            <a:r>
              <a:rPr lang="pt-BR" sz="1600" b="1">
                <a:solidFill>
                  <a:srgbClr val="0070C0"/>
                </a:solidFill>
              </a:rPr>
              <a:t>Intercambiável</a:t>
            </a:r>
            <a:endParaRPr lang="pt-BR" altLang="en-US" sz="1600" b="1" dirty="0">
              <a:solidFill>
                <a:srgbClr val="0070C0"/>
              </a:solidFill>
            </a:endParaRPr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 l="40972" t="30370" r="8333" b="6667"/>
          <a:stretch>
            <a:fillRect/>
          </a:stretch>
        </p:blipFill>
        <p:spPr>
          <a:xfrm>
            <a:off x="3969385" y="953135"/>
            <a:ext cx="5003165" cy="3495675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0"/>
            <a:r>
              <a:rPr lang="pt-BR" sz="1600"/>
              <a:t>Representações e Topologias de Tede</a:t>
            </a:r>
            <a:br>
              <a:rPr lang="en-US" altLang="en-US" dirty="0"/>
            </a:br>
            <a:r>
              <a:rPr lang="pt-BR"/>
              <a:t>Diagramas de Topologia (Física e Lógica)</a:t>
            </a:r>
            <a:endParaRPr lang="pt-BR"/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>
          <a:xfrm>
            <a:off x="101600" y="816610"/>
            <a:ext cx="4432935" cy="740410"/>
          </a:xfrm>
        </p:spPr>
        <p:txBody>
          <a:bodyPr/>
          <a:lstStyle/>
          <a:p>
            <a:pPr marL="0" indent="0" algn="ctr" rtl="0">
              <a:buNone/>
            </a:pPr>
            <a:r>
              <a:rPr lang="pt-BR" sz="1600"/>
              <a:t>Os diagramas de </a:t>
            </a:r>
            <a:r>
              <a:rPr lang="pt-BR" sz="1600" b="1">
                <a:solidFill>
                  <a:srgbClr val="FF0000"/>
                </a:solidFill>
              </a:rPr>
              <a:t>Topologia Física</a:t>
            </a:r>
            <a:r>
              <a:rPr lang="pt-BR" sz="1600"/>
              <a:t> ilustram a </a:t>
            </a:r>
            <a:r>
              <a:rPr lang="pt-BR" sz="1600" b="1"/>
              <a:t>Localização Física</a:t>
            </a:r>
            <a:r>
              <a:rPr lang="pt-BR" sz="1600"/>
              <a:t> de dispositivos intermediários e a instalação de cabos.</a:t>
            </a:r>
            <a:endParaRPr lang="pt-BR" sz="1600"/>
          </a:p>
          <a:p>
            <a:pPr lvl="1" algn="ctr"/>
            <a:endParaRPr lang="en-CA" altLang="en-US" sz="1600" dirty="0"/>
          </a:p>
          <a:p>
            <a:pPr lvl="1" algn="ctr"/>
            <a:endParaRPr lang="en-CA" altLang="en-US" sz="1600" dirty="0"/>
          </a:p>
          <a:p>
            <a:pPr lvl="1" algn="ctr"/>
            <a:endParaRPr lang="en-CA" altLang="en-US" sz="1600" dirty="0"/>
          </a:p>
          <a:p>
            <a:pPr lvl="1" algn="ctr"/>
            <a:endParaRPr lang="en-CA" altLang="en-US" sz="1600" dirty="0"/>
          </a:p>
          <a:p>
            <a:pPr lvl="1" algn="ctr"/>
            <a:endParaRPr lang="en-CA" altLang="en-US" sz="1600" dirty="0"/>
          </a:p>
          <a:p>
            <a:pPr lvl="1" algn="ctr"/>
            <a:endParaRPr lang="en-CA" altLang="en-US" sz="1600" dirty="0"/>
          </a:p>
        </p:txBody>
      </p:sp>
      <p:sp>
        <p:nvSpPr>
          <p:cNvPr id="2" name="Rectangle 1"/>
          <p:cNvSpPr/>
          <p:nvPr/>
        </p:nvSpPr>
        <p:spPr>
          <a:xfrm>
            <a:off x="4614545" y="775335"/>
            <a:ext cx="4420235" cy="8299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rtl="0"/>
            <a:r>
              <a:rPr lang="pt-BR" sz="1600">
                <a:solidFill>
                  <a:srgbClr val="000000"/>
                </a:solidFill>
              </a:rPr>
              <a:t>Os diagramas de</a:t>
            </a:r>
            <a:r>
              <a:rPr lang="pt-BR" sz="1600" b="1">
                <a:solidFill>
                  <a:srgbClr val="FF0000"/>
                </a:solidFill>
              </a:rPr>
              <a:t> Topologia Lógica</a:t>
            </a:r>
            <a:r>
              <a:rPr lang="pt-BR" sz="1600">
                <a:solidFill>
                  <a:srgbClr val="000000"/>
                </a:solidFill>
              </a:rPr>
              <a:t> ilustram </a:t>
            </a:r>
            <a:r>
              <a:rPr lang="pt-BR" sz="1600" b="1">
                <a:solidFill>
                  <a:srgbClr val="000000"/>
                </a:solidFill>
              </a:rPr>
              <a:t>Dispositivos, Portas e o Esquema de Endereçamento da Rede</a:t>
            </a:r>
            <a:r>
              <a:rPr lang="pt-BR" sz="1600">
                <a:solidFill>
                  <a:srgbClr val="000000"/>
                </a:solidFill>
              </a:rPr>
              <a:t> (IPv4/IPv6).</a:t>
            </a:r>
            <a:endParaRPr lang="pt-BR" sz="1600">
              <a:solidFill>
                <a:srgbClr val="000000"/>
              </a:solidFill>
            </a:endParaRP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 l="40903" t="35679" r="8333" b="8272"/>
          <a:stretch>
            <a:fillRect/>
          </a:stretch>
        </p:blipFill>
        <p:spPr>
          <a:xfrm>
            <a:off x="106680" y="1681480"/>
            <a:ext cx="4423410" cy="2747010"/>
          </a:xfrm>
          <a:prstGeom prst="rect">
            <a:avLst/>
          </a:prstGeom>
        </p:spPr>
      </p:pic>
      <p:pic>
        <p:nvPicPr>
          <p:cNvPr id="5" name="Imagem 4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 l="40972" t="30494" r="8264" b="8642"/>
          <a:stretch>
            <a:fillRect/>
          </a:stretch>
        </p:blipFill>
        <p:spPr>
          <a:xfrm>
            <a:off x="4574540" y="1681480"/>
            <a:ext cx="4459605" cy="3007360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6425" y="915409"/>
            <a:ext cx="8231464" cy="1802391"/>
          </a:xfrm>
        </p:spPr>
        <p:txBody>
          <a:bodyPr/>
          <a:lstStyle/>
          <a:p>
            <a:pPr rtl="0"/>
            <a:r>
              <a:rPr lang="pt-BR">
                <a:solidFill>
                  <a:schemeClr val="accent5">
                    <a:lumMod val="40000"/>
                    <a:lumOff val="60000"/>
                  </a:schemeClr>
                </a:solidFill>
              </a:rPr>
              <a:t>1.4 - Tipos Comuns de Redes</a:t>
            </a:r>
            <a:endParaRPr lang="pt-BR">
              <a:solidFill>
                <a:schemeClr val="accent5">
                  <a:lumMod val="40000"/>
                  <a:lumOff val="60000"/>
                </a:schemeClr>
              </a:solidFill>
            </a:endParaRPr>
          </a:p>
        </p:txBody>
      </p:sp>
    </p:spTree>
    <p:custDataLst>
      <p:tags r:id="rId1"/>
    </p:custDataLst>
  </p:cSld>
  <p:clrMapOvr>
    <a:masterClrMapping/>
  </p:clrMapOvr>
  <p:transition spd="slow">
    <p:wip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757551"/>
          </a:xfrm>
        </p:spPr>
        <p:txBody>
          <a:bodyPr/>
          <a:lstStyle/>
          <a:p>
            <a:pPr rtl="0"/>
            <a:r>
              <a:rPr lang="pt-BR" sz="1600"/>
              <a:t>Tipos comuns de Rede</a:t>
            </a:r>
            <a:br>
              <a:rPr lang="en-US" altLang="en-US" sz="1600" dirty="0"/>
            </a:br>
            <a:r>
              <a:rPr lang="pt-BR"/>
              <a:t>Vários Tamanhos das Redes</a:t>
            </a:r>
            <a:endParaRPr lang="pt-BR"/>
          </a:p>
        </p:txBody>
      </p:sp>
      <p:sp>
        <p:nvSpPr>
          <p:cNvPr id="552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377690" y="447040"/>
            <a:ext cx="4664710" cy="4206875"/>
          </a:xfrm>
        </p:spPr>
        <p:txBody>
          <a:bodyPr/>
          <a:lstStyle/>
          <a:p>
            <a:pPr algn="just" rtl="0" eaLnBrk="1" hangingPunct="1">
              <a:buFont typeface="Arial" panose="020B0604020202020204" pitchFamily="34" charset="0"/>
              <a:buChar char="•"/>
            </a:pPr>
            <a:r>
              <a:rPr lang="pt-BR" sz="1800"/>
              <a:t>Redes </a:t>
            </a:r>
            <a:r>
              <a:rPr lang="pt-BR" sz="1800" b="1">
                <a:solidFill>
                  <a:srgbClr val="FF0000"/>
                </a:solidFill>
              </a:rPr>
              <a:t>Domésticas Pequenas: </a:t>
            </a:r>
            <a:r>
              <a:rPr lang="pt-BR" sz="1800"/>
              <a:t>conectam </a:t>
            </a:r>
            <a:r>
              <a:rPr lang="pt-BR" sz="1800" b="1"/>
              <a:t>Alguns Computadores</a:t>
            </a:r>
            <a:r>
              <a:rPr lang="pt-BR" sz="1800"/>
              <a:t> entre si e à </a:t>
            </a:r>
            <a:r>
              <a:rPr lang="pt-BR" sz="1800" b="1">
                <a:solidFill>
                  <a:srgbClr val="0070C0"/>
                </a:solidFill>
              </a:rPr>
              <a:t>Internet.</a:t>
            </a:r>
            <a:endParaRPr lang="pt-BR" sz="1800"/>
          </a:p>
          <a:p>
            <a:pPr algn="just" rtl="0" eaLnBrk="1" hangingPunct="1">
              <a:buFont typeface="Arial" panose="020B0604020202020204" pitchFamily="34" charset="0"/>
              <a:buChar char="•"/>
            </a:pPr>
            <a:r>
              <a:rPr lang="pt-BR" sz="1800"/>
              <a:t>Redes </a:t>
            </a:r>
            <a:r>
              <a:rPr lang="pt-BR" sz="1800" b="1">
                <a:solidFill>
                  <a:srgbClr val="FF0000"/>
                </a:solidFill>
              </a:rPr>
              <a:t>Office/Home Office Pequenos: </a:t>
            </a:r>
            <a:r>
              <a:rPr lang="pt-BR" sz="1800"/>
              <a:t>permite que o computador </a:t>
            </a:r>
            <a:r>
              <a:rPr lang="pt-BR" sz="1800" b="1"/>
              <a:t>Dentro de uma Residência ou Escritório Remoto</a:t>
            </a:r>
            <a:r>
              <a:rPr lang="pt-BR" sz="1800"/>
              <a:t> se conecte a uma </a:t>
            </a:r>
            <a:r>
              <a:rPr lang="pt-BR" sz="1800" b="1">
                <a:solidFill>
                  <a:srgbClr val="0070C0"/>
                </a:solidFill>
              </a:rPr>
              <a:t>Rede Corporativa.</a:t>
            </a:r>
            <a:endParaRPr lang="pt-BR" sz="1800" b="1">
              <a:solidFill>
                <a:srgbClr val="0070C0"/>
              </a:solidFill>
            </a:endParaRPr>
          </a:p>
          <a:p>
            <a:pPr algn="just" rtl="0" eaLnBrk="1" hangingPunct="1">
              <a:buFont typeface="Arial" panose="020B0604020202020204" pitchFamily="34" charset="0"/>
              <a:buChar char="•"/>
            </a:pPr>
            <a:r>
              <a:rPr lang="pt-BR" sz="1800"/>
              <a:t>Redes </a:t>
            </a:r>
            <a:r>
              <a:rPr lang="pt-BR" sz="1800" b="1">
                <a:solidFill>
                  <a:srgbClr val="FF0000"/>
                </a:solidFill>
              </a:rPr>
              <a:t>Médias a Grandes:</a:t>
            </a:r>
            <a:r>
              <a:rPr lang="pt-BR" sz="1800"/>
              <a:t> muitos locais com </a:t>
            </a:r>
            <a:r>
              <a:rPr lang="pt-BR" sz="1800" b="1"/>
              <a:t>Centenas ou Milhares</a:t>
            </a:r>
            <a:r>
              <a:rPr lang="pt-BR" sz="1800"/>
              <a:t> de computadores </a:t>
            </a:r>
            <a:r>
              <a:rPr lang="pt-BR" sz="1800" b="1">
                <a:solidFill>
                  <a:srgbClr val="0070C0"/>
                </a:solidFill>
              </a:rPr>
              <a:t>Interconectados</a:t>
            </a:r>
            <a:endParaRPr lang="pt-BR" sz="1800"/>
          </a:p>
          <a:p>
            <a:pPr algn="just" rtl="0" eaLnBrk="1" hangingPunct="1">
              <a:buFont typeface="Arial" panose="020B0604020202020204" pitchFamily="34" charset="0"/>
              <a:buChar char="•"/>
            </a:pPr>
            <a:r>
              <a:rPr lang="pt-BR" sz="1800"/>
              <a:t>Redes </a:t>
            </a:r>
            <a:r>
              <a:rPr lang="pt-BR" sz="1800" b="1">
                <a:solidFill>
                  <a:srgbClr val="FF0000"/>
                </a:solidFill>
              </a:rPr>
              <a:t>Mundiais: </a:t>
            </a:r>
            <a:r>
              <a:rPr lang="pt-BR" sz="1800"/>
              <a:t>conecta </a:t>
            </a:r>
            <a:r>
              <a:rPr lang="pt-BR" sz="1800" b="1"/>
              <a:t>Centenas de Milhões de Computadores</a:t>
            </a:r>
            <a:r>
              <a:rPr lang="pt-BR" sz="1800"/>
              <a:t> em todo o mundo - como a </a:t>
            </a:r>
            <a:r>
              <a:rPr lang="pt-BR" sz="1800" b="1">
                <a:solidFill>
                  <a:srgbClr val="0070C0"/>
                </a:solidFill>
              </a:rPr>
              <a:t>Internet</a:t>
            </a:r>
            <a:endParaRPr lang="pt-BR" altLang="en-US" sz="1800" b="1" dirty="0">
              <a:solidFill>
                <a:srgbClr val="0070C0"/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75895" y="2253615"/>
            <a:ext cx="4110990" cy="337185"/>
          </a:xfrm>
          <a:prstGeom prst="rect">
            <a:avLst/>
          </a:prstGeom>
          <a:ln>
            <a:noFill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 rtl="0"/>
            <a:r>
              <a:rPr lang="pt-BR" sz="1600" b="1">
                <a:solidFill>
                  <a:srgbClr val="FF0000"/>
                </a:solidFill>
              </a:rPr>
              <a:t>Redes Pequenas - SOHO</a:t>
            </a:r>
            <a:endParaRPr lang="pt-BR" sz="1600" b="1">
              <a:solidFill>
                <a:srgbClr val="FF0000"/>
              </a:solidFill>
            </a:endParaRPr>
          </a:p>
        </p:txBody>
      </p:sp>
      <p:pic>
        <p:nvPicPr>
          <p:cNvPr id="3074" name="Picture 2" descr="this is the image’s alt text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495" y="756285"/>
            <a:ext cx="2127250" cy="15519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https://d1qjbjciwpxftb.cloudfront.net/courses/ccna1/networking-today/5_common-types-of-networks/assets/1_chunk/media--Small-Home-Office-Net--image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53884" y="757551"/>
            <a:ext cx="2090460" cy="15340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220345" y="4259580"/>
            <a:ext cx="406654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0"/>
            <a:r>
              <a:rPr lang="pt-BR" sz="1600" b="1">
                <a:solidFill>
                  <a:srgbClr val="FF0000"/>
                </a:solidFill>
              </a:rPr>
              <a:t>Redes Médio/Grande Porte - Mundo</a:t>
            </a:r>
            <a:endParaRPr lang="pt-BR" sz="1600" b="1">
              <a:solidFill>
                <a:srgbClr val="FF0000"/>
              </a:solidFill>
            </a:endParaRPr>
          </a:p>
        </p:txBody>
      </p:sp>
      <p:pic>
        <p:nvPicPr>
          <p:cNvPr id="3078" name="Picture 6" descr="this is the image’s alt text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778" y="2699263"/>
            <a:ext cx="2103105" cy="16045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0" name="Picture 8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53615" y="2680335"/>
            <a:ext cx="2124075" cy="16306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wip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1" y="41394"/>
            <a:ext cx="9144000" cy="709974"/>
          </a:xfrm>
        </p:spPr>
        <p:txBody>
          <a:bodyPr/>
          <a:lstStyle/>
          <a:p>
            <a:pPr rtl="0"/>
            <a:r>
              <a:rPr lang="pt-BR" sz="1600"/>
              <a:t>Tipos comuns de redes</a:t>
            </a:r>
            <a:br>
              <a:rPr lang="en-US" altLang="en-US" dirty="0"/>
            </a:br>
            <a:r>
              <a:rPr lang="pt-BR"/>
              <a:t>LANs e WANs (as mais importantes)</a:t>
            </a:r>
            <a:endParaRPr lang="pt-BR"/>
          </a:p>
        </p:txBody>
      </p:sp>
      <p:sp>
        <p:nvSpPr>
          <p:cNvPr id="8195" name="Rectangle 6"/>
          <p:cNvSpPr>
            <a:spLocks noGrp="1" noChangeArrowheads="1"/>
          </p:cNvSpPr>
          <p:nvPr>
            <p:ph idx="1"/>
          </p:nvPr>
        </p:nvSpPr>
        <p:spPr>
          <a:xfrm>
            <a:off x="78740" y="758825"/>
            <a:ext cx="3995420" cy="4005580"/>
          </a:xfrm>
        </p:spPr>
        <p:txBody>
          <a:bodyPr/>
          <a:lstStyle/>
          <a:p>
            <a:pPr marL="0" indent="0" algn="just" rtl="0">
              <a:buNone/>
            </a:pPr>
            <a:r>
              <a:rPr lang="pt-BR" sz="1600"/>
              <a:t>As </a:t>
            </a:r>
            <a:r>
              <a:rPr lang="pt-BR" sz="1600" b="1">
                <a:solidFill>
                  <a:srgbClr val="FF0000"/>
                </a:solidFill>
              </a:rPr>
              <a:t>Infra-Estruturas de Rede</a:t>
            </a:r>
            <a:r>
              <a:rPr lang="pt-BR" sz="1600"/>
              <a:t> variam muito em termos de:</a:t>
            </a:r>
            <a:endParaRPr lang="pt-BR" sz="1600"/>
          </a:p>
          <a:p>
            <a:pPr lvl="1" algn="just" rtl="0">
              <a:buFont typeface="Arial" panose="020B0604020202020204" pitchFamily="34" charset="0"/>
              <a:buChar char="•"/>
            </a:pPr>
            <a:r>
              <a:rPr lang="pt-BR" sz="1600" b="1"/>
              <a:t>Tamanho da Área Coberta;</a:t>
            </a:r>
            <a:endParaRPr lang="pt-BR" sz="1600" b="1"/>
          </a:p>
          <a:p>
            <a:pPr lvl="1" algn="just" rtl="0">
              <a:buFont typeface="Arial" panose="020B0604020202020204" pitchFamily="34" charset="0"/>
              <a:buChar char="•"/>
            </a:pPr>
            <a:r>
              <a:rPr lang="pt-BR" sz="1600" b="1"/>
              <a:t>Número de Usuários Conectados;</a:t>
            </a:r>
            <a:endParaRPr lang="pt-BR" sz="1600" b="1"/>
          </a:p>
          <a:p>
            <a:pPr lvl="1" algn="just" rtl="0">
              <a:buFont typeface="Arial" panose="020B0604020202020204" pitchFamily="34" charset="0"/>
              <a:buChar char="•"/>
            </a:pPr>
            <a:r>
              <a:rPr lang="pt-BR" sz="1600" b="1"/>
              <a:t>Número e tipos de Serviços Disponíveis;</a:t>
            </a:r>
            <a:endParaRPr lang="pt-BR" sz="1600" b="1"/>
          </a:p>
          <a:p>
            <a:pPr lvl="1" algn="just" rtl="0">
              <a:buFont typeface="Arial" panose="020B0604020202020204" pitchFamily="34" charset="0"/>
              <a:buChar char="•"/>
            </a:pPr>
            <a:r>
              <a:rPr lang="pt-BR" sz="1600" b="1"/>
              <a:t>Área de Responsabilidade.</a:t>
            </a:r>
            <a:endParaRPr lang="pt-BR" sz="1600"/>
          </a:p>
          <a:p>
            <a:pPr marL="142875" lvl="1" indent="0" algn="just">
              <a:buNone/>
            </a:pPr>
            <a:endParaRPr lang="en-US" altLang="en-US" sz="1600" dirty="0"/>
          </a:p>
          <a:p>
            <a:pPr marL="0" indent="0" algn="just" rtl="0">
              <a:buNone/>
            </a:pPr>
            <a:r>
              <a:rPr lang="pt-BR" sz="1600"/>
              <a:t>Os dois tipos mais comuns de redes são: </a:t>
            </a:r>
            <a:endParaRPr lang="pt-BR" sz="1600"/>
          </a:p>
          <a:p>
            <a:pPr lvl="1" algn="just" rtl="0">
              <a:buFont typeface="Arial" panose="020B0604020202020204" pitchFamily="34" charset="0"/>
              <a:buChar char="•"/>
            </a:pPr>
            <a:r>
              <a:rPr lang="pt-BR" sz="1600" b="1">
                <a:solidFill>
                  <a:srgbClr val="FF0000"/>
                </a:solidFill>
              </a:rPr>
              <a:t>Rede Local LAN</a:t>
            </a:r>
            <a:r>
              <a:rPr lang="pt-BR" sz="1600"/>
              <a:t> (Local Area Network) </a:t>
            </a:r>
            <a:endParaRPr lang="pt-BR" sz="1600"/>
          </a:p>
          <a:p>
            <a:pPr lvl="1" algn="just" rtl="0">
              <a:buFont typeface="Arial" panose="020B0604020202020204" pitchFamily="34" charset="0"/>
              <a:buChar char="•"/>
            </a:pPr>
            <a:r>
              <a:rPr lang="pt-BR" sz="1600" b="1">
                <a:solidFill>
                  <a:srgbClr val="FF0000"/>
                </a:solidFill>
              </a:rPr>
              <a:t>Rede de Área Ampla WAN</a:t>
            </a:r>
            <a:r>
              <a:rPr lang="pt-BR" sz="1600"/>
              <a:t> (Wide Area Netwok). </a:t>
            </a:r>
            <a:endParaRPr lang="pt-BR" sz="1600"/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 l="43611" t="29877" r="10833" b="11358"/>
          <a:stretch>
            <a:fillRect/>
          </a:stretch>
        </p:blipFill>
        <p:spPr>
          <a:xfrm>
            <a:off x="3965575" y="848995"/>
            <a:ext cx="4977765" cy="361251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  <p:transition spd="slow">
    <p:wip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0"/>
            <a:r>
              <a:rPr lang="pt-BR" sz="1600"/>
              <a:t>Tipos comuns de redes </a:t>
            </a:r>
            <a:br>
              <a:rPr lang="en-US" altLang="en-US" dirty="0"/>
            </a:br>
            <a:r>
              <a:rPr lang="pt-BR"/>
              <a:t>LANs e WANs (Continuação) </a:t>
            </a:r>
            <a:endParaRPr lang="pt-BR"/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>
          <a:xfrm>
            <a:off x="185420" y="737235"/>
            <a:ext cx="4150995" cy="559435"/>
          </a:xfrm>
        </p:spPr>
        <p:txBody>
          <a:bodyPr/>
          <a:lstStyle/>
          <a:p>
            <a:pPr marL="0" indent="0" algn="ctr" rtl="0">
              <a:buNone/>
            </a:pPr>
            <a:r>
              <a:rPr lang="pt-BR" sz="1500"/>
              <a:t>Uma </a:t>
            </a:r>
            <a:r>
              <a:rPr lang="pt-BR" sz="1500" b="1"/>
              <a:t>LAN </a:t>
            </a:r>
            <a:r>
              <a:rPr lang="pt-BR" sz="1500"/>
              <a:t>é uma </a:t>
            </a:r>
            <a:r>
              <a:rPr lang="pt-BR" sz="1500" b="1">
                <a:solidFill>
                  <a:srgbClr val="0070C0"/>
                </a:solidFill>
              </a:rPr>
              <a:t>Infraestrutura de Rede</a:t>
            </a:r>
            <a:r>
              <a:rPr lang="pt-BR" sz="1500"/>
              <a:t> que abrange uma </a:t>
            </a:r>
            <a:r>
              <a:rPr lang="pt-BR" sz="1500" b="1">
                <a:solidFill>
                  <a:srgbClr val="FF0000"/>
                </a:solidFill>
              </a:rPr>
              <a:t>Pequena Área Geográfica</a:t>
            </a:r>
            <a:r>
              <a:rPr lang="pt-BR" sz="1500"/>
              <a:t>. </a:t>
            </a:r>
            <a:endParaRPr lang="pt-BR" sz="1500"/>
          </a:p>
          <a:p>
            <a:pPr lvl="1" algn="ctr"/>
            <a:endParaRPr lang="en-CA" altLang="en-US" sz="1500" dirty="0"/>
          </a:p>
          <a:p>
            <a:pPr lvl="1" algn="ctr"/>
            <a:endParaRPr lang="en-CA" altLang="en-US" sz="1500" dirty="0"/>
          </a:p>
          <a:p>
            <a:pPr lvl="1" algn="ctr"/>
            <a:endParaRPr lang="en-CA" altLang="en-US" sz="1500" dirty="0"/>
          </a:p>
          <a:p>
            <a:pPr lvl="1" algn="ctr"/>
            <a:endParaRPr lang="en-CA" altLang="en-US" sz="15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84785" y="1356360"/>
            <a:ext cx="4152265" cy="1415415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4336415" y="721995"/>
            <a:ext cx="4593590" cy="5835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rtl="0"/>
            <a:r>
              <a:rPr lang="pt-BR" sz="1600">
                <a:solidFill>
                  <a:srgbClr val="000000"/>
                </a:solidFill>
              </a:rPr>
              <a:t>Uma </a:t>
            </a:r>
            <a:r>
              <a:rPr lang="pt-BR" sz="1600" b="1">
                <a:solidFill>
                  <a:srgbClr val="000000"/>
                </a:solidFill>
              </a:rPr>
              <a:t>WAN </a:t>
            </a:r>
            <a:r>
              <a:rPr lang="pt-BR" sz="1600">
                <a:solidFill>
                  <a:srgbClr val="000000"/>
                </a:solidFill>
              </a:rPr>
              <a:t>é uma </a:t>
            </a:r>
            <a:r>
              <a:rPr lang="pt-BR" sz="1600" b="1">
                <a:solidFill>
                  <a:srgbClr val="0070C0"/>
                </a:solidFill>
              </a:rPr>
              <a:t>Infraestrutura de Rede</a:t>
            </a:r>
            <a:r>
              <a:rPr lang="pt-BR" sz="1600">
                <a:solidFill>
                  <a:srgbClr val="000000"/>
                </a:solidFill>
              </a:rPr>
              <a:t> que abrange uma </a:t>
            </a:r>
            <a:r>
              <a:rPr lang="pt-BR" sz="1600" b="1">
                <a:solidFill>
                  <a:srgbClr val="FF0000"/>
                </a:solidFill>
              </a:rPr>
              <a:t>Ampla Área Geográfica</a:t>
            </a:r>
            <a:r>
              <a:rPr lang="pt-BR" sz="1600">
                <a:solidFill>
                  <a:srgbClr val="000000"/>
                </a:solidFill>
              </a:rPr>
              <a:t>.</a:t>
            </a:r>
            <a:endParaRPr lang="pt-BR" sz="1600">
              <a:solidFill>
                <a:srgbClr val="000000"/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337050" y="1315085"/>
            <a:ext cx="4592955" cy="1464310"/>
          </a:xfrm>
          <a:prstGeom prst="rect">
            <a:avLst/>
          </a:prstGeom>
        </p:spPr>
      </p:pic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85420" y="2779395"/>
          <a:ext cx="8743950" cy="18859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84015"/>
                <a:gridCol w="4559935"/>
              </a:tblGrid>
              <a:tr h="331381">
                <a:tc>
                  <a:txBody>
                    <a:bodyPr/>
                    <a:lstStyle/>
                    <a:p>
                      <a:pPr algn="ctr" rtl="0"/>
                      <a:r>
                        <a:rPr lang="pt-BR"/>
                        <a:t>LAN (Local Area Network)</a:t>
                      </a:r>
                      <a:endParaRPr lang="pt-BR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/>
                        <a:t>WAN (Wide Area Network)</a:t>
                      </a:r>
                      <a:endParaRPr lang="pt-BR"/>
                    </a:p>
                  </a:txBody>
                  <a:tcPr anchor="ctr" anchorCtr="0"/>
                </a:tc>
              </a:tr>
              <a:tr h="331381">
                <a:tc>
                  <a:txBody>
                    <a:bodyPr/>
                    <a:lstStyle/>
                    <a:p>
                      <a:pPr algn="ctr" rtl="0"/>
                      <a:r>
                        <a:rPr lang="pt-BR" sz="1400" b="1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Interconecte dispositivos finais em uma área limitada.</a:t>
                      </a:r>
                      <a:endParaRPr lang="pt-BR" sz="1400" b="1" i="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400" b="1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Interconecte LANs em áreas geográficas amplas.</a:t>
                      </a:r>
                      <a:endParaRPr lang="pt-BR" sz="1400" b="1" i="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 anchorCtr="0"/>
                </a:tc>
              </a:tr>
              <a:tr h="331381">
                <a:tc>
                  <a:txBody>
                    <a:bodyPr/>
                    <a:lstStyle/>
                    <a:p>
                      <a:pPr algn="ctr" rtl="0"/>
                      <a:r>
                        <a:rPr lang="pt-BR" sz="1400" b="1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Administrado por uma única organização ou indivíduo.</a:t>
                      </a:r>
                      <a:endParaRPr lang="pt-BR" sz="1400" b="1" i="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400" b="1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Normalmente</a:t>
                      </a:r>
                      <a:r>
                        <a:rPr lang="pt-BR" sz="1400" b="1" i="0" kern="1200" baseline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, um</a:t>
                      </a:r>
                      <a:r>
                        <a:rPr lang="pt-BR" sz="1400" b="1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ministrado por um</a:t>
                      </a:r>
                      <a:r>
                        <a:rPr lang="pt-BR" sz="1400" b="1" i="0" kern="1200" baseline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ou mais</a:t>
                      </a:r>
                      <a:r>
                        <a:rPr lang="pt-BR" sz="1400" b="1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provedores de serviços.</a:t>
                      </a:r>
                      <a:endParaRPr lang="pt-BR" sz="1400" b="1" i="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 anchorCtr="0"/>
                </a:tc>
              </a:tr>
              <a:tr h="331381">
                <a:tc>
                  <a:txBody>
                    <a:bodyPr/>
                    <a:lstStyle/>
                    <a:p>
                      <a:pPr algn="ctr" rtl="0"/>
                      <a:r>
                        <a:rPr lang="pt-BR" sz="1400" b="1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Forneça largura de banda de alta velocidade aos dispositivos internos.</a:t>
                      </a:r>
                      <a:endParaRPr lang="pt-BR" sz="1400" b="1" i="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400" b="1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Geralmente, fornece links de velocidade mais lenta entre LANs.</a:t>
                      </a:r>
                      <a:endParaRPr lang="pt-BR" sz="1400" b="1" i="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 anchorCtr="0"/>
                </a:tc>
              </a:tr>
            </a:tbl>
          </a:graphicData>
        </a:graphic>
      </p:graphicFrame>
    </p:spTree>
  </p:cSld>
  <p:clrMapOvr>
    <a:masterClrMapping/>
  </p:clrMapOvr>
  <p:transition spd="slow">
    <p:wip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0"/>
            <a:r>
              <a:rPr lang="pt-BR" sz="1600"/>
              <a:t>Tipos comuns de redes</a:t>
            </a:r>
            <a:br>
              <a:rPr lang="en-US" altLang="en-US" dirty="0"/>
            </a:br>
            <a:r>
              <a:rPr lang="pt-BR"/>
              <a:t>A Internet</a:t>
            </a:r>
            <a:endParaRPr lang="pt-BR"/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>
          <a:xfrm>
            <a:off x="122284" y="798944"/>
            <a:ext cx="4170316" cy="4054993"/>
          </a:xfrm>
        </p:spPr>
        <p:txBody>
          <a:bodyPr/>
          <a:lstStyle/>
          <a:p>
            <a:pPr marL="0" indent="0" algn="just" rtl="0">
              <a:buNone/>
            </a:pPr>
            <a:r>
              <a:rPr lang="pt-BR" sz="1600"/>
              <a:t>A </a:t>
            </a:r>
            <a:r>
              <a:rPr lang="pt-BR" sz="1600" b="1"/>
              <a:t>Internet </a:t>
            </a:r>
            <a:r>
              <a:rPr lang="pt-BR" sz="1600"/>
              <a:t>é uma </a:t>
            </a:r>
            <a:r>
              <a:rPr lang="pt-BR" sz="1600" b="1">
                <a:solidFill>
                  <a:srgbClr val="FF0000"/>
                </a:solidFill>
              </a:rPr>
              <a:t>Coleção Mundial de LANs e WANs </a:t>
            </a:r>
            <a:r>
              <a:rPr lang="pt-BR" sz="1600" b="1">
                <a:solidFill>
                  <a:srgbClr val="0070C0"/>
                </a:solidFill>
              </a:rPr>
              <a:t>Interconectadas</a:t>
            </a:r>
            <a:r>
              <a:rPr lang="pt-BR" sz="1600"/>
              <a:t>. </a:t>
            </a:r>
            <a:endParaRPr lang="pt-BR" sz="1600"/>
          </a:p>
          <a:p>
            <a:pPr algn="just" rtl="0">
              <a:buFont typeface="Arial" panose="020B0604020202020204" pitchFamily="34" charset="0"/>
              <a:buChar char="•"/>
            </a:pPr>
            <a:r>
              <a:rPr lang="pt-BR" sz="1600"/>
              <a:t>As </a:t>
            </a:r>
            <a:r>
              <a:rPr lang="pt-BR" sz="1600" b="1"/>
              <a:t>LANs </a:t>
            </a:r>
            <a:r>
              <a:rPr lang="pt-BR" sz="1600"/>
              <a:t>estão </a:t>
            </a:r>
            <a:r>
              <a:rPr lang="pt-BR" sz="1600" b="1"/>
              <a:t>Conectadas entre Si</a:t>
            </a:r>
            <a:r>
              <a:rPr lang="pt-BR" sz="1600"/>
              <a:t> usando as </a:t>
            </a:r>
            <a:r>
              <a:rPr lang="pt-BR" sz="1600" b="1">
                <a:solidFill>
                  <a:srgbClr val="0070C0"/>
                </a:solidFill>
              </a:rPr>
              <a:t>WANs</a:t>
            </a:r>
            <a:r>
              <a:rPr lang="pt-BR" sz="1600"/>
              <a:t>.</a:t>
            </a:r>
            <a:endParaRPr lang="pt-BR" sz="1600"/>
          </a:p>
          <a:p>
            <a:pPr algn="just" rtl="0">
              <a:buFont typeface="Arial" panose="020B0604020202020204" pitchFamily="34" charset="0"/>
              <a:buChar char="•"/>
            </a:pPr>
            <a:r>
              <a:rPr lang="pt-BR" sz="1600"/>
              <a:t>As </a:t>
            </a:r>
            <a:r>
              <a:rPr lang="pt-BR" sz="1600" b="1"/>
              <a:t>WANs </a:t>
            </a:r>
            <a:r>
              <a:rPr lang="pt-BR" sz="1600"/>
              <a:t>podem usar fios de cobre, cabos de fibra ótica e transmissões sem fio.</a:t>
            </a:r>
            <a:endParaRPr lang="pt-BR" sz="1600"/>
          </a:p>
          <a:p>
            <a:pPr marL="0" indent="0" algn="just" rtl="0">
              <a:buNone/>
            </a:pPr>
            <a:r>
              <a:rPr lang="pt-BR" sz="1600"/>
              <a:t>A </a:t>
            </a:r>
            <a:r>
              <a:rPr lang="pt-BR" sz="1600" b="1">
                <a:solidFill>
                  <a:srgbClr val="FF0000"/>
                </a:solidFill>
              </a:rPr>
              <a:t>Internet não é de Propriedade de Nenhum Indivíduo ou Grupo</a:t>
            </a:r>
            <a:r>
              <a:rPr lang="pt-BR" sz="1600"/>
              <a:t>. Os seguintes grupos foram desenvolvidos para ajudar a </a:t>
            </a:r>
            <a:r>
              <a:rPr lang="pt-BR" sz="1600" b="1">
                <a:solidFill>
                  <a:srgbClr val="0070C0"/>
                </a:solidFill>
              </a:rPr>
              <a:t>Manter a Estrutura na Internet:</a:t>
            </a:r>
            <a:endParaRPr lang="pt-BR" sz="1600" b="1">
              <a:solidFill>
                <a:srgbClr val="0070C0"/>
              </a:solidFill>
            </a:endParaRPr>
          </a:p>
          <a:p>
            <a:pPr lvl="1" algn="just" rtl="0"/>
            <a:r>
              <a:rPr lang="pt-BR" sz="1600" b="1"/>
              <a:t>IETF, ICANN e IAB.</a:t>
            </a:r>
            <a:endParaRPr lang="en-CA" altLang="en-US" dirty="0"/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 l="45764" t="32957" r="10486" b="21605"/>
          <a:stretch>
            <a:fillRect/>
          </a:stretch>
        </p:blipFill>
        <p:spPr>
          <a:xfrm>
            <a:off x="4166870" y="1096010"/>
            <a:ext cx="4902835" cy="2864485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0"/>
            <a:r>
              <a:rPr lang="pt-BR" sz="1600"/>
              <a:t>Tipos comuns de</a:t>
            </a:r>
            <a:br>
              <a:rPr lang="en-US" altLang="en-US" dirty="0"/>
            </a:br>
            <a:r>
              <a:rPr lang="pt-BR"/>
              <a:t>Intranets, Extranets e Internet (Conceitos)</a:t>
            </a:r>
            <a:endParaRPr lang="pt-BR" sz="1600"/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>
          <a:xfrm>
            <a:off x="4220845" y="709930"/>
            <a:ext cx="4780280" cy="4059555"/>
          </a:xfrm>
        </p:spPr>
        <p:txBody>
          <a:bodyPr/>
          <a:lstStyle/>
          <a:p>
            <a:pPr marL="0" indent="0" algn="just" rtl="0">
              <a:buNone/>
            </a:pPr>
            <a:r>
              <a:rPr lang="pt-BR" sz="2100"/>
              <a:t>Uma </a:t>
            </a:r>
            <a:r>
              <a:rPr lang="pt-BR" sz="2100" b="1">
                <a:solidFill>
                  <a:srgbClr val="FF0000"/>
                </a:solidFill>
              </a:rPr>
              <a:t>Intranet</a:t>
            </a:r>
            <a:r>
              <a:rPr lang="pt-BR" sz="2100"/>
              <a:t> é uma </a:t>
            </a:r>
            <a:r>
              <a:rPr lang="pt-BR" sz="2100" b="1"/>
              <a:t>Coleção Particular de LANs e WANs Internas</a:t>
            </a:r>
            <a:r>
              <a:rPr lang="pt-BR" sz="2100"/>
              <a:t> a uma organização que deve ser </a:t>
            </a:r>
            <a:r>
              <a:rPr lang="pt-BR" sz="2100" b="1">
                <a:solidFill>
                  <a:srgbClr val="0070C0"/>
                </a:solidFill>
              </a:rPr>
              <a:t>Acessível Apenas aos Membros da Organização</a:t>
            </a:r>
            <a:r>
              <a:rPr lang="pt-BR" sz="2100"/>
              <a:t> ou a outras pessoas com autorização.</a:t>
            </a:r>
            <a:endParaRPr lang="pt-BR" sz="2100"/>
          </a:p>
          <a:p>
            <a:pPr marL="0" indent="0" algn="just" rtl="0">
              <a:buNone/>
            </a:pPr>
            <a:r>
              <a:rPr lang="pt-BR" sz="2100"/>
              <a:t>Uma empresa pode usar uma </a:t>
            </a:r>
            <a:r>
              <a:rPr lang="pt-BR" sz="2100" b="1">
                <a:solidFill>
                  <a:srgbClr val="FF0000"/>
                </a:solidFill>
              </a:rPr>
              <a:t>Extranet </a:t>
            </a:r>
            <a:r>
              <a:rPr lang="pt-BR" sz="2100"/>
              <a:t>para fornecer </a:t>
            </a:r>
            <a:r>
              <a:rPr lang="pt-BR" sz="2100" b="1"/>
              <a:t>Acesso Seguro à sua Rede</a:t>
            </a:r>
            <a:r>
              <a:rPr lang="pt-BR" sz="2100"/>
              <a:t> aos indivíduos que trabalham em </a:t>
            </a:r>
            <a:r>
              <a:rPr lang="pt-BR" sz="2100" b="1">
                <a:solidFill>
                  <a:srgbClr val="0070C0"/>
                </a:solidFill>
              </a:rPr>
              <a:t>Diferentes Empresas</a:t>
            </a:r>
            <a:r>
              <a:rPr lang="pt-BR" sz="2100"/>
              <a:t>, mas precisam acessar os dados em sua rede.</a:t>
            </a:r>
            <a:endParaRPr lang="en-CA" altLang="en-US" sz="2100" dirty="0"/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 l="50972" t="27284" r="18194" b="17901"/>
          <a:stretch>
            <a:fillRect/>
          </a:stretch>
        </p:blipFill>
        <p:spPr>
          <a:xfrm>
            <a:off x="88900" y="709930"/>
            <a:ext cx="4077335" cy="4077335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6425" y="915409"/>
            <a:ext cx="8231464" cy="1802391"/>
          </a:xfrm>
        </p:spPr>
        <p:txBody>
          <a:bodyPr/>
          <a:lstStyle/>
          <a:p>
            <a:pPr rtl="0"/>
            <a:r>
              <a:rPr lang="pt-BR">
                <a:solidFill>
                  <a:schemeClr val="accent5">
                    <a:lumMod val="40000"/>
                    <a:lumOff val="60000"/>
                  </a:schemeClr>
                </a:solidFill>
              </a:rPr>
              <a:t>1.5 - Conexões à Internet</a:t>
            </a:r>
            <a:endParaRPr lang="pt-BR">
              <a:solidFill>
                <a:schemeClr val="accent5">
                  <a:lumMod val="40000"/>
                  <a:lumOff val="60000"/>
                </a:schemeClr>
              </a:solidFill>
            </a:endParaRPr>
          </a:p>
        </p:txBody>
      </p:sp>
    </p:spTree>
    <p:custDataLst>
      <p:tags r:id="rId1"/>
    </p:custDataLst>
  </p:cSld>
  <p:clrMapOvr>
    <a:masterClrMapping/>
  </p:clrMapOvr>
  <p:transition spd="slow">
    <p:wip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0"/>
            <a:r>
              <a:rPr lang="pt-BR" sz="1600"/>
              <a:t>Conexões à Internet</a:t>
            </a:r>
            <a:br>
              <a:rPr lang="en-US" altLang="en-US" dirty="0"/>
            </a:br>
            <a:r>
              <a:rPr lang="pt-BR"/>
              <a:t>Tecnologias de Acesso à Internet</a:t>
            </a:r>
            <a:endParaRPr lang="pt-BR"/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>
          <a:xfrm>
            <a:off x="4669155" y="709930"/>
            <a:ext cx="4323080" cy="4003675"/>
          </a:xfrm>
        </p:spPr>
        <p:txBody>
          <a:bodyPr/>
          <a:lstStyle/>
          <a:p>
            <a:pPr marL="0" indent="0" algn="just" rtl="0">
              <a:buNone/>
            </a:pPr>
            <a:r>
              <a:rPr lang="pt-BR" sz="1500"/>
              <a:t>Existem várias maneiras de </a:t>
            </a:r>
            <a:r>
              <a:rPr lang="pt-BR" sz="1500" b="1">
                <a:solidFill>
                  <a:srgbClr val="FF0000"/>
                </a:solidFill>
              </a:rPr>
              <a:t>Conectar Usuários e Organizações à Internet</a:t>
            </a:r>
            <a:r>
              <a:rPr lang="pt-BR" sz="1500"/>
              <a:t>:</a:t>
            </a:r>
            <a:endParaRPr lang="pt-BR" sz="1500"/>
          </a:p>
          <a:p>
            <a:pPr lvl="1" algn="just" rtl="0"/>
            <a:r>
              <a:rPr lang="pt-BR" sz="1500"/>
              <a:t>Os </a:t>
            </a:r>
            <a:r>
              <a:rPr lang="pt-BR" sz="1500" b="1"/>
              <a:t>Serviços Populares para Usuários</a:t>
            </a:r>
            <a:r>
              <a:rPr lang="pt-BR" sz="1500"/>
              <a:t> domésticos e pequenos escritórios incluem cabo de banda larga, linha de assinante digital banda larga (DSL), WANs sem fio e serviços móveis.</a:t>
            </a:r>
            <a:endParaRPr lang="pt-BR" sz="1500"/>
          </a:p>
          <a:p>
            <a:pPr lvl="1" algn="just" rtl="0"/>
            <a:r>
              <a:rPr lang="pt-BR" sz="1500"/>
              <a:t>As </a:t>
            </a:r>
            <a:r>
              <a:rPr lang="pt-BR" sz="1500" b="1"/>
              <a:t>Empresas Precisam de Conexões mais Rápidas</a:t>
            </a:r>
            <a:r>
              <a:rPr lang="pt-BR" sz="1500"/>
              <a:t> para oferecer suporte a telefones IP, videoconferência e armazenamento de data center.</a:t>
            </a:r>
            <a:endParaRPr lang="pt-BR" sz="1500"/>
          </a:p>
          <a:p>
            <a:pPr lvl="1" algn="just" rtl="0"/>
            <a:r>
              <a:rPr lang="pt-BR" sz="1500"/>
              <a:t>As </a:t>
            </a:r>
            <a:r>
              <a:rPr lang="pt-BR" sz="1500" b="1"/>
              <a:t>Interconexões de Nível Empresarial</a:t>
            </a:r>
            <a:r>
              <a:rPr lang="pt-BR" sz="1500"/>
              <a:t> são geralmente fornecidas por </a:t>
            </a:r>
            <a:r>
              <a:rPr lang="pt-BR" sz="1500" b="1">
                <a:solidFill>
                  <a:srgbClr val="0070C0"/>
                </a:solidFill>
              </a:rPr>
              <a:t>Provedores de Serviços de Internet</a:t>
            </a:r>
            <a:r>
              <a:rPr lang="pt-BR" sz="1500"/>
              <a:t> </a:t>
            </a:r>
            <a:r>
              <a:rPr lang="pt-BR" sz="1500" b="1">
                <a:solidFill>
                  <a:srgbClr val="FF0000"/>
                </a:solidFill>
              </a:rPr>
              <a:t>(ISP)</a:t>
            </a:r>
            <a:r>
              <a:rPr lang="pt-BR" sz="1500"/>
              <a:t> e podem incluir: DSL empresarial, linhas dedicadas e Metro Ethernet.</a:t>
            </a:r>
            <a:endParaRPr lang="en-CA" altLang="en-US" sz="15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850" y="1611630"/>
            <a:ext cx="4500245" cy="2546350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 idx="4294967295"/>
          </p:nvPr>
        </p:nvSpPr>
        <p:spPr>
          <a:xfrm>
            <a:off x="0" y="3175"/>
            <a:ext cx="9144000" cy="757238"/>
          </a:xfrm>
        </p:spPr>
        <p:txBody>
          <a:bodyPr/>
          <a:lstStyle/>
          <a:p>
            <a:pPr rtl="0"/>
            <a:r>
              <a:rPr lang="pt-BR" sz="1600"/>
              <a:t>Conexões à Internet</a:t>
            </a:r>
            <a:br>
              <a:rPr lang="en-US" altLang="en-US" dirty="0"/>
            </a:br>
            <a:r>
              <a:rPr lang="pt-BR" sz="2400"/>
              <a:t>Conexões à Internet para Residências e Pequenos Escritórios</a:t>
            </a:r>
            <a:endParaRPr lang="pt-BR" sz="2400"/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5175" y="661035"/>
          <a:ext cx="4392295" cy="41929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0625"/>
                <a:gridCol w="3201670"/>
              </a:tblGrid>
              <a:tr h="480060">
                <a:tc>
                  <a:txBody>
                    <a:bodyPr/>
                    <a:lstStyle/>
                    <a:p>
                      <a:pPr algn="ctr" rtl="0"/>
                      <a:r>
                        <a:rPr lang="pt-BR"/>
                        <a:t>Conexão</a:t>
                      </a:r>
                      <a:endParaRPr lang="pt-BR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/>
                        <a:t>Descrição</a:t>
                      </a:r>
                      <a:endParaRPr lang="pt-BR"/>
                    </a:p>
                  </a:txBody>
                  <a:tcPr anchor="ctr" anchorCtr="0"/>
                </a:tc>
              </a:tr>
              <a:tr h="944880">
                <a:tc>
                  <a:txBody>
                    <a:bodyPr/>
                    <a:lstStyle/>
                    <a:p>
                      <a:pPr algn="ctr" rtl="0"/>
                      <a:r>
                        <a:rPr lang="pt-BR" sz="1800" b="1"/>
                        <a:t>Cabo</a:t>
                      </a:r>
                      <a:endParaRPr lang="pt-BR" sz="1800" b="1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pt-BR"/>
                        <a:t>Internet de </a:t>
                      </a:r>
                      <a:r>
                        <a:rPr lang="pt-BR" b="1">
                          <a:solidFill>
                            <a:srgbClr val="FF0000"/>
                          </a:solidFill>
                        </a:rPr>
                        <a:t>alta largura de banda</a:t>
                      </a:r>
                      <a:r>
                        <a:rPr lang="pt-BR"/>
                        <a:t>, sempre ativada, oferecida por provedores de serviços de televisão a cabo.</a:t>
                      </a:r>
                      <a:endParaRPr lang="pt-BR"/>
                    </a:p>
                  </a:txBody>
                  <a:tcPr anchor="ctr" anchorCtr="0"/>
                </a:tc>
              </a:tr>
              <a:tr h="731520">
                <a:tc>
                  <a:txBody>
                    <a:bodyPr/>
                    <a:lstStyle/>
                    <a:p>
                      <a:pPr algn="ctr" rtl="0"/>
                      <a:r>
                        <a:rPr lang="pt-BR" sz="1800" b="1"/>
                        <a:t>DSL</a:t>
                      </a:r>
                      <a:endParaRPr lang="pt-BR" sz="1800" b="1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pt-BR" b="1">
                          <a:solidFill>
                            <a:srgbClr val="FF0000"/>
                          </a:solidFill>
                        </a:rPr>
                        <a:t>Alta largura de banda</a:t>
                      </a:r>
                      <a:r>
                        <a:rPr lang="pt-BR"/>
                        <a:t>, sempre ativada, conexão à Internet que passa por uma linha telefônica.</a:t>
                      </a:r>
                      <a:endParaRPr lang="pt-BR"/>
                    </a:p>
                  </a:txBody>
                  <a:tcPr anchor="ctr" anchorCtr="0"/>
                </a:tc>
              </a:tr>
              <a:tr h="574040">
                <a:tc>
                  <a:txBody>
                    <a:bodyPr/>
                    <a:lstStyle/>
                    <a:p>
                      <a:pPr algn="ctr" rtl="0"/>
                      <a:r>
                        <a:rPr lang="pt-BR" sz="1800" b="1"/>
                        <a:t>Celular</a:t>
                      </a:r>
                      <a:endParaRPr lang="pt-BR" sz="1800" b="1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pt-BR"/>
                        <a:t>Usa uma </a:t>
                      </a:r>
                      <a:r>
                        <a:rPr lang="pt-BR" b="1">
                          <a:solidFill>
                            <a:srgbClr val="FF0000"/>
                          </a:solidFill>
                        </a:rPr>
                        <a:t>rede de telefone celular</a:t>
                      </a:r>
                      <a:r>
                        <a:rPr lang="pt-BR"/>
                        <a:t> para se conectar à internet.</a:t>
                      </a:r>
                      <a:endParaRPr lang="pt-BR"/>
                    </a:p>
                  </a:txBody>
                  <a:tcPr anchor="ctr" anchorCtr="0"/>
                </a:tc>
              </a:tr>
              <a:tr h="730885">
                <a:tc>
                  <a:txBody>
                    <a:bodyPr/>
                    <a:lstStyle/>
                    <a:p>
                      <a:pPr algn="ctr" rtl="0"/>
                      <a:r>
                        <a:rPr lang="pt-BR" sz="1800" b="1"/>
                        <a:t>Satélite</a:t>
                      </a:r>
                      <a:endParaRPr lang="pt-BR" sz="1800" b="1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pt-BR"/>
                        <a:t>Maior benefício </a:t>
                      </a:r>
                      <a:r>
                        <a:rPr lang="pt-BR" b="1">
                          <a:solidFill>
                            <a:srgbClr val="FF0000"/>
                          </a:solidFill>
                        </a:rPr>
                        <a:t>para áreas rurais</a:t>
                      </a:r>
                      <a:r>
                        <a:rPr lang="pt-BR"/>
                        <a:t> sem provedores de serviços de Internet.</a:t>
                      </a:r>
                      <a:endParaRPr lang="pt-BR"/>
                    </a:p>
                  </a:txBody>
                  <a:tcPr anchor="ctr" anchorCtr="0"/>
                </a:tc>
              </a:tr>
              <a:tr h="731520">
                <a:tc>
                  <a:txBody>
                    <a:bodyPr/>
                    <a:lstStyle/>
                    <a:p>
                      <a:pPr algn="ctr" rtl="0"/>
                      <a:r>
                        <a:rPr lang="pt-BR" sz="1800" b="1">
                          <a:solidFill>
                            <a:srgbClr val="FF0000"/>
                          </a:solidFill>
                        </a:rPr>
                        <a:t>Conexão Discada (dial-up)</a:t>
                      </a:r>
                      <a:endParaRPr lang="pt-BR" sz="1800" b="1">
                        <a:solidFill>
                          <a:srgbClr val="FF0000"/>
                        </a:solidFill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pt-BR"/>
                        <a:t>Uma opção barata e de baixa largura de banda usando um modem </a:t>
                      </a:r>
                      <a:r>
                        <a:rPr lang="pt-BR" b="1">
                          <a:solidFill>
                            <a:srgbClr val="FF0000"/>
                          </a:solidFill>
                        </a:rPr>
                        <a:t>(Já descontinuado e em desuso no Mundo).</a:t>
                      </a:r>
                      <a:endParaRPr lang="pt-BR" b="1">
                        <a:solidFill>
                          <a:srgbClr val="FF0000"/>
                        </a:solidFill>
                      </a:endParaRPr>
                    </a:p>
                  </a:txBody>
                  <a:tcPr anchor="ctr" anchorCtr="0"/>
                </a:tc>
              </a:tr>
            </a:tbl>
          </a:graphicData>
        </a:graphic>
      </p:graphicFrame>
      <p:pic>
        <p:nvPicPr>
          <p:cNvPr id="4" name="Imagem 3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 l="43611" t="36667" r="10972" b="16420"/>
          <a:stretch>
            <a:fillRect/>
          </a:stretch>
        </p:blipFill>
        <p:spPr>
          <a:xfrm>
            <a:off x="85725" y="1468120"/>
            <a:ext cx="4449445" cy="2585720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>
          <a:xfrm>
            <a:off x="4445" y="41275"/>
            <a:ext cx="9139555" cy="757555"/>
          </a:xfrm>
        </p:spPr>
        <p:txBody>
          <a:bodyPr/>
          <a:lstStyle/>
          <a:p>
            <a:pPr rtl="0"/>
            <a:r>
              <a:rPr lang="pt-BR" sz="1600"/>
              <a:t>Conexões à Internet</a:t>
            </a:r>
            <a:br>
              <a:rPr lang="en-US" altLang="en-US" dirty="0"/>
            </a:br>
            <a:r>
              <a:rPr lang="pt-BR"/>
              <a:t>Conexões Corporativas com a Internet</a:t>
            </a:r>
            <a:endParaRPr lang="pt-BR"/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>
          <a:xfrm>
            <a:off x="87630" y="805180"/>
            <a:ext cx="4024630" cy="1461770"/>
          </a:xfrm>
        </p:spPr>
        <p:txBody>
          <a:bodyPr/>
          <a:lstStyle/>
          <a:p>
            <a:pPr marL="0" indent="0" algn="just" rtl="0">
              <a:buNone/>
            </a:pPr>
            <a:r>
              <a:rPr lang="pt-BR" sz="1600"/>
              <a:t>As conexões de negócios corporativas podem exigir:</a:t>
            </a:r>
            <a:endParaRPr lang="pt-BR" sz="1600"/>
          </a:p>
          <a:p>
            <a:pPr lvl="1" algn="just" rtl="0"/>
            <a:r>
              <a:rPr lang="pt-BR" sz="1600" b="1"/>
              <a:t>Maior Largura de Banda;</a:t>
            </a:r>
            <a:endParaRPr lang="pt-BR" sz="1600" b="1"/>
          </a:p>
          <a:p>
            <a:pPr lvl="1" algn="just" rtl="0"/>
            <a:r>
              <a:rPr lang="pt-BR" sz="1600" b="1"/>
              <a:t>Conexões Dedicadas;</a:t>
            </a:r>
            <a:endParaRPr lang="pt-BR" sz="1600" b="1"/>
          </a:p>
          <a:p>
            <a:pPr lvl="1" algn="just" rtl="0"/>
            <a:r>
              <a:rPr lang="pt-BR" sz="1600" b="1"/>
              <a:t>Serviços Gerenciados.  </a:t>
            </a:r>
            <a:endParaRPr lang="pt-BR" sz="1600" b="1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112260" y="798830"/>
          <a:ext cx="4855210" cy="39230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6355"/>
                <a:gridCol w="3538855"/>
              </a:tblGrid>
              <a:tr h="525780">
                <a:tc>
                  <a:txBody>
                    <a:bodyPr/>
                    <a:lstStyle/>
                    <a:p>
                      <a:pPr algn="ctr" rtl="0"/>
                      <a:r>
                        <a:rPr lang="pt-BR"/>
                        <a:t>Tipo de conexão</a:t>
                      </a:r>
                      <a:endParaRPr lang="pt-BR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/>
                        <a:t>Descrição</a:t>
                      </a:r>
                      <a:endParaRPr lang="pt-BR"/>
                    </a:p>
                  </a:txBody>
                  <a:tcPr anchor="ctr" anchorCtr="0"/>
                </a:tc>
              </a:tr>
              <a:tr h="1083310">
                <a:tc>
                  <a:txBody>
                    <a:bodyPr/>
                    <a:lstStyle/>
                    <a:p>
                      <a:pPr algn="ctr" rtl="0"/>
                      <a:r>
                        <a:rPr lang="pt-BR" sz="1800" b="1"/>
                        <a:t>Linha Dedicada Privada </a:t>
                      </a:r>
                      <a:endParaRPr lang="pt-BR" sz="1800" b="1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pt-BR"/>
                        <a:t>Esses são circuitos </a:t>
                      </a:r>
                      <a:r>
                        <a:rPr lang="pt-BR" b="1">
                          <a:solidFill>
                            <a:srgbClr val="FF0000"/>
                          </a:solidFill>
                        </a:rPr>
                        <a:t>reservados na rede do provedor</a:t>
                      </a:r>
                      <a:r>
                        <a:rPr lang="pt-BR"/>
                        <a:t> de serviços que conectam escritórios distantes com redes privadas de voz e / ou dados.</a:t>
                      </a:r>
                      <a:endParaRPr lang="pt-BR"/>
                    </a:p>
                  </a:txBody>
                  <a:tcPr anchor="ctr" anchorCtr="0"/>
                </a:tc>
              </a:tr>
              <a:tr h="685800">
                <a:tc>
                  <a:txBody>
                    <a:bodyPr/>
                    <a:lstStyle/>
                    <a:p>
                      <a:pPr algn="ctr" rtl="0"/>
                      <a:r>
                        <a:rPr lang="pt-BR" sz="1800" b="1"/>
                        <a:t>Ethernet WAN </a:t>
                      </a:r>
                      <a:endParaRPr lang="pt-BR" sz="1800" b="1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pt-BR"/>
                        <a:t>Isso estende a tecnologia de acesso à </a:t>
                      </a:r>
                      <a:r>
                        <a:rPr lang="pt-BR" b="1">
                          <a:solidFill>
                            <a:srgbClr val="FF0000"/>
                          </a:solidFill>
                        </a:rPr>
                        <a:t>LAN na WAN</a:t>
                      </a:r>
                      <a:r>
                        <a:rPr lang="pt-BR"/>
                        <a:t>.</a:t>
                      </a:r>
                      <a:endParaRPr lang="pt-BR"/>
                    </a:p>
                  </a:txBody>
                  <a:tcPr anchor="ctr" anchorCtr="0"/>
                </a:tc>
              </a:tr>
              <a:tr h="885825">
                <a:tc>
                  <a:txBody>
                    <a:bodyPr/>
                    <a:lstStyle/>
                    <a:p>
                      <a:pPr algn="ctr" rtl="0"/>
                      <a:r>
                        <a:rPr lang="pt-BR" sz="1800" b="1"/>
                        <a:t>DSL Comercial</a:t>
                      </a:r>
                      <a:endParaRPr lang="pt-BR" sz="1800" b="1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pt-BR"/>
                        <a:t>O </a:t>
                      </a:r>
                      <a:r>
                        <a:rPr lang="pt-BR" b="1">
                          <a:solidFill>
                            <a:srgbClr val="FF0000"/>
                          </a:solidFill>
                        </a:rPr>
                        <a:t>DSL comercial</a:t>
                      </a:r>
                      <a:r>
                        <a:rPr lang="pt-BR"/>
                        <a:t> está disponível em vários formatos, incluindo </a:t>
                      </a:r>
                      <a:r>
                        <a:rPr lang="pt-BR" b="1"/>
                        <a:t>SDSL </a:t>
                      </a:r>
                      <a:r>
                        <a:rPr lang="pt-BR"/>
                        <a:t>(Symmetric Digital Subscriber Lines).</a:t>
                      </a:r>
                      <a:endParaRPr lang="pt-BR"/>
                    </a:p>
                  </a:txBody>
                  <a:tcPr anchor="ctr" anchorCtr="0"/>
                </a:tc>
              </a:tr>
              <a:tr h="742315">
                <a:tc>
                  <a:txBody>
                    <a:bodyPr/>
                    <a:lstStyle/>
                    <a:p>
                      <a:pPr algn="ctr" rtl="0"/>
                      <a:r>
                        <a:rPr lang="pt-BR" sz="1800" b="1"/>
                        <a:t>Satélite</a:t>
                      </a:r>
                      <a:endParaRPr lang="pt-BR" sz="1800" b="1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pt-BR"/>
                        <a:t>Isso pode fornecer uma conexão quando uma solução com fio não está disponível.</a:t>
                      </a:r>
                      <a:endParaRPr lang="pt-BR"/>
                    </a:p>
                  </a:txBody>
                  <a:tcPr anchor="ctr" anchorCtr="0"/>
                </a:tc>
              </a:tr>
            </a:tbl>
          </a:graphicData>
        </a:graphic>
      </p:graphicFrame>
      <p:pic>
        <p:nvPicPr>
          <p:cNvPr id="3" name="Imagem 2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 l="43556" t="35352" r="11128" b="18099"/>
          <a:stretch>
            <a:fillRect/>
          </a:stretch>
        </p:blipFill>
        <p:spPr>
          <a:xfrm>
            <a:off x="87630" y="2366645"/>
            <a:ext cx="4024630" cy="2325370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>
          <a:xfrm>
            <a:off x="635" y="41275"/>
            <a:ext cx="9144000" cy="757555"/>
          </a:xfrm>
        </p:spPr>
        <p:txBody>
          <a:bodyPr/>
          <a:lstStyle/>
          <a:p>
            <a:pPr rtl="0"/>
            <a:r>
              <a:rPr lang="pt-BR" sz="1600"/>
              <a:t>Conexões à Internet</a:t>
            </a:r>
            <a:br>
              <a:rPr lang="en-US" altLang="en-US" dirty="0"/>
            </a:br>
            <a:r>
              <a:rPr lang="pt-BR"/>
              <a:t>As Redes Convergentes</a:t>
            </a:r>
            <a:endParaRPr lang="pt-BR"/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>
          <a:xfrm>
            <a:off x="87630" y="957580"/>
            <a:ext cx="3871595" cy="3771900"/>
          </a:xfrm>
        </p:spPr>
        <p:txBody>
          <a:bodyPr/>
          <a:lstStyle/>
          <a:p>
            <a:pPr marL="0" indent="0" algn="just" rtl="0">
              <a:buNone/>
            </a:pPr>
            <a:r>
              <a:rPr lang="pt-BR" sz="2000"/>
              <a:t>Antes das </a:t>
            </a:r>
            <a:r>
              <a:rPr lang="pt-BR" sz="2000" b="1"/>
              <a:t>Redes Convergentes</a:t>
            </a:r>
            <a:r>
              <a:rPr lang="pt-BR" sz="2000"/>
              <a:t>, uma organização teria sido </a:t>
            </a:r>
            <a:r>
              <a:rPr lang="pt-BR" sz="2000" b="1">
                <a:solidFill>
                  <a:srgbClr val="0070C0"/>
                </a:solidFill>
              </a:rPr>
              <a:t>Conectada Separadamente</a:t>
            </a:r>
            <a:r>
              <a:rPr lang="pt-BR" sz="2000"/>
              <a:t> para telefone, vídeo e dados. </a:t>
            </a:r>
            <a:endParaRPr lang="pt-BR" sz="2000"/>
          </a:p>
          <a:p>
            <a:pPr marL="0" indent="0" algn="just" rtl="0">
              <a:buNone/>
            </a:pPr>
            <a:r>
              <a:rPr lang="pt-BR" sz="2000"/>
              <a:t>Cada uma dessas redes usaria </a:t>
            </a:r>
            <a:r>
              <a:rPr lang="pt-BR" sz="2000" b="1"/>
              <a:t>Tecnologias Diferentes</a:t>
            </a:r>
            <a:r>
              <a:rPr lang="pt-BR" sz="2000"/>
              <a:t> para transmitir o sinal. </a:t>
            </a:r>
            <a:endParaRPr lang="pt-BR" sz="2000"/>
          </a:p>
          <a:p>
            <a:pPr marL="0" indent="0" algn="just" rtl="0">
              <a:buNone/>
            </a:pPr>
            <a:r>
              <a:rPr lang="pt-BR" sz="2000" b="1">
                <a:solidFill>
                  <a:srgbClr val="FF0000"/>
                </a:solidFill>
              </a:rPr>
              <a:t>Cada uma destas ecnologias utilizaria um conjunto diferente de regras e normas.</a:t>
            </a:r>
            <a:endParaRPr lang="pt-BR" sz="2000" b="1">
              <a:solidFill>
                <a:srgbClr val="FF0000"/>
              </a:solidFill>
            </a:endParaRPr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 l="43958" t="35432" r="10903" b="17160"/>
          <a:stretch>
            <a:fillRect/>
          </a:stretch>
        </p:blipFill>
        <p:spPr>
          <a:xfrm>
            <a:off x="3848100" y="1166495"/>
            <a:ext cx="5144770" cy="303974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  <p:transition spd="slow">
    <p:wip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>
          <a:xfrm>
            <a:off x="0" y="41275"/>
            <a:ext cx="9144000" cy="757555"/>
          </a:xfrm>
        </p:spPr>
        <p:txBody>
          <a:bodyPr/>
          <a:lstStyle/>
          <a:p>
            <a:pPr rtl="0"/>
            <a:r>
              <a:rPr lang="pt-BR" sz="1600"/>
              <a:t>Conexões à Internet</a:t>
            </a:r>
            <a:br>
              <a:rPr lang="en-US" altLang="en-US" dirty="0"/>
            </a:br>
            <a:r>
              <a:rPr lang="pt-BR"/>
              <a:t>As Redes Convergentes (Continuação)</a:t>
            </a:r>
            <a:endParaRPr lang="pt-BR"/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>
          <a:xfrm>
            <a:off x="87630" y="798830"/>
            <a:ext cx="3735705" cy="3750945"/>
          </a:xfrm>
        </p:spPr>
        <p:txBody>
          <a:bodyPr/>
          <a:lstStyle/>
          <a:p>
            <a:pPr marL="0" indent="0" algn="just" rtl="0">
              <a:buNone/>
            </a:pPr>
            <a:r>
              <a:rPr lang="pt-BR" sz="1750"/>
              <a:t>As </a:t>
            </a:r>
            <a:r>
              <a:rPr lang="pt-BR" sz="1750" b="1">
                <a:solidFill>
                  <a:srgbClr val="0070C0"/>
                </a:solidFill>
              </a:rPr>
              <a:t>Redes de Dados Convergentes</a:t>
            </a:r>
            <a:r>
              <a:rPr lang="pt-BR" sz="1750"/>
              <a:t> transportam vários serviços em um link, incluindo: </a:t>
            </a:r>
            <a:endParaRPr lang="pt-BR" sz="1750"/>
          </a:p>
          <a:p>
            <a:pPr lvl="1" algn="just" rtl="0">
              <a:buFont typeface="Arial" panose="020B0604020202020204" pitchFamily="34" charset="0"/>
              <a:buChar char="•"/>
            </a:pPr>
            <a:r>
              <a:rPr lang="pt-BR" sz="1750" b="1"/>
              <a:t>Dados;</a:t>
            </a:r>
            <a:endParaRPr lang="pt-BR" sz="1750" b="1"/>
          </a:p>
          <a:p>
            <a:pPr lvl="1" algn="just" rtl="0">
              <a:buFont typeface="Arial" panose="020B0604020202020204" pitchFamily="34" charset="0"/>
              <a:buChar char="•"/>
            </a:pPr>
            <a:r>
              <a:rPr lang="pt-BR" sz="1750" b="1"/>
              <a:t>Voz;</a:t>
            </a:r>
            <a:endParaRPr lang="pt-BR" sz="1750" b="1"/>
          </a:p>
          <a:p>
            <a:pPr lvl="1" algn="just" rtl="0">
              <a:buFont typeface="Arial" panose="020B0604020202020204" pitchFamily="34" charset="0"/>
              <a:buChar char="•"/>
            </a:pPr>
            <a:r>
              <a:rPr lang="pt-BR" sz="1750" b="1"/>
              <a:t>Vídeo.</a:t>
            </a:r>
            <a:endParaRPr lang="pt-BR" sz="1750" b="1"/>
          </a:p>
          <a:p>
            <a:pPr marL="0" indent="0" algn="just" rtl="0">
              <a:buNone/>
            </a:pPr>
            <a:r>
              <a:rPr lang="pt-BR" sz="1750"/>
              <a:t>As redes convergentes podem fornecer </a:t>
            </a:r>
            <a:r>
              <a:rPr lang="pt-BR" sz="1750" b="1">
                <a:solidFill>
                  <a:srgbClr val="FF0000"/>
                </a:solidFill>
              </a:rPr>
              <a:t>Dados, Voz e Vídeo na Mesma Infraestrutura de Rede.</a:t>
            </a:r>
            <a:r>
              <a:rPr lang="pt-BR" sz="1750"/>
              <a:t> A infraestrutura de rede usa o mesmo conjunto de regras e normas.</a:t>
            </a:r>
            <a:endParaRPr lang="en-CA" altLang="en-US" sz="1750" dirty="0"/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 l="45139" t="35926" r="11250" b="20988"/>
          <a:stretch>
            <a:fillRect/>
          </a:stretch>
        </p:blipFill>
        <p:spPr>
          <a:xfrm>
            <a:off x="3675380" y="1166495"/>
            <a:ext cx="5252720" cy="291909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  <p:transition spd="slow">
    <p:wip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6425" y="915409"/>
            <a:ext cx="8231464" cy="1802391"/>
          </a:xfrm>
        </p:spPr>
        <p:txBody>
          <a:bodyPr/>
          <a:lstStyle/>
          <a:p>
            <a:pPr rtl="0"/>
            <a:r>
              <a:rPr lang="pt-BR">
                <a:solidFill>
                  <a:schemeClr val="accent5">
                    <a:lumMod val="40000"/>
                    <a:lumOff val="60000"/>
                  </a:schemeClr>
                </a:solidFill>
              </a:rPr>
              <a:t>1.6 - Redes Confiáveis</a:t>
            </a:r>
            <a:endParaRPr lang="pt-BR">
              <a:solidFill>
                <a:schemeClr val="accent5">
                  <a:lumMod val="40000"/>
                  <a:lumOff val="60000"/>
                </a:schemeClr>
              </a:solidFill>
            </a:endParaRPr>
          </a:p>
        </p:txBody>
      </p:sp>
    </p:spTree>
    <p:custDataLst>
      <p:tags r:id="rId1"/>
    </p:custDataLst>
  </p:cSld>
  <p:clrMapOvr>
    <a:masterClrMapping/>
  </p:clrMapOvr>
  <p:transition spd="slow">
    <p:wip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>
          <a:xfrm>
            <a:off x="0" y="41275"/>
            <a:ext cx="9231630" cy="757555"/>
          </a:xfrm>
        </p:spPr>
        <p:txBody>
          <a:bodyPr/>
          <a:lstStyle/>
          <a:p>
            <a:pPr rtl="0"/>
            <a:r>
              <a:rPr lang="pt-BR" sz="1600"/>
              <a:t>Rede confiável</a:t>
            </a:r>
            <a:br>
              <a:rPr lang="en-US" altLang="en-US" dirty="0"/>
            </a:br>
            <a:r>
              <a:rPr lang="pt-BR"/>
              <a:t>Arquitetura de Rede Atuais</a:t>
            </a:r>
            <a:endParaRPr lang="pt-BR"/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>
          <a:xfrm>
            <a:off x="4081780" y="459105"/>
            <a:ext cx="4898390" cy="4177665"/>
          </a:xfrm>
        </p:spPr>
        <p:txBody>
          <a:bodyPr/>
          <a:lstStyle/>
          <a:p>
            <a:pPr marL="0" indent="0" algn="just">
              <a:buNone/>
            </a:pPr>
            <a:r>
              <a:rPr lang="pt-BR" sz="2000"/>
              <a:t>A </a:t>
            </a:r>
            <a:r>
              <a:rPr lang="pt-BR" sz="2000" b="1"/>
              <a:t>Arquitetura de Rede</a:t>
            </a:r>
            <a:r>
              <a:rPr lang="pt-BR" sz="2000"/>
              <a:t> refere-se a tecnologias que apoiam a infraestrutura responsável por </a:t>
            </a:r>
            <a:r>
              <a:rPr lang="pt-BR" sz="2000" b="1">
                <a:solidFill>
                  <a:srgbClr val="0070C0"/>
                </a:solidFill>
              </a:rPr>
              <a:t>Transferir os Dados Através da Rede.</a:t>
            </a:r>
            <a:endParaRPr lang="pt-BR" sz="2000" b="1">
              <a:solidFill>
                <a:srgbClr val="0070C0"/>
              </a:solidFill>
            </a:endParaRPr>
          </a:p>
          <a:p>
            <a:pPr marL="0" indent="0" algn="just" rtl="0">
              <a:buNone/>
            </a:pPr>
            <a:r>
              <a:rPr lang="pt-BR" sz="2000"/>
              <a:t>Há </a:t>
            </a:r>
            <a:r>
              <a:rPr lang="pt-BR" sz="2000" b="1">
                <a:solidFill>
                  <a:srgbClr val="FF0000"/>
                </a:solidFill>
              </a:rPr>
              <a:t>Quatro Características Básicas</a:t>
            </a:r>
            <a:r>
              <a:rPr lang="pt-BR" sz="2000"/>
              <a:t> que as arquiteturas subjacentes precisam abordar para atender às expectativas do usuário:</a:t>
            </a:r>
            <a:endParaRPr lang="pt-BR" sz="2000"/>
          </a:p>
          <a:p>
            <a:pPr marL="600075" lvl="1" indent="-457200" algn="just" rtl="0">
              <a:buFont typeface="Arial" panose="020B0604020202020204" pitchFamily="34" charset="0"/>
              <a:buAutoNum type="arabicPeriod"/>
            </a:pPr>
            <a:r>
              <a:rPr lang="pt-BR" sz="2000" b="1"/>
              <a:t>Tolerância a Falhas;</a:t>
            </a:r>
            <a:endParaRPr lang="pt-BR" sz="2000" b="1"/>
          </a:p>
          <a:p>
            <a:pPr marL="600075" lvl="1" indent="-457200" algn="just" rtl="0">
              <a:buFont typeface="Arial" panose="020B0604020202020204" pitchFamily="34" charset="0"/>
              <a:buAutoNum type="arabicPeriod"/>
            </a:pPr>
            <a:r>
              <a:rPr lang="pt-BR" sz="2000" b="1"/>
              <a:t>Escalabilidade;</a:t>
            </a:r>
            <a:endParaRPr lang="pt-BR" sz="2000" b="1"/>
          </a:p>
          <a:p>
            <a:pPr marL="600075" lvl="1" indent="-457200" algn="just" rtl="0">
              <a:buFont typeface="Arial" panose="020B0604020202020204" pitchFamily="34" charset="0"/>
              <a:buAutoNum type="arabicPeriod"/>
            </a:pPr>
            <a:r>
              <a:rPr lang="pt-BR" sz="2000" b="1"/>
              <a:t>Qualidade de serviço (QoS);</a:t>
            </a:r>
            <a:endParaRPr lang="pt-BR" sz="2000" b="1"/>
          </a:p>
          <a:p>
            <a:pPr marL="600075" lvl="1" indent="-457200" algn="just" rtl="0">
              <a:buFont typeface="Arial" panose="020B0604020202020204" pitchFamily="34" charset="0"/>
              <a:buAutoNum type="arabicPeriod"/>
            </a:pPr>
            <a:r>
              <a:rPr lang="pt-BR" sz="2000" b="1"/>
              <a:t>Segurança.</a:t>
            </a:r>
            <a:endParaRPr lang="pt-BR" sz="2000" b="1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630" y="798830"/>
            <a:ext cx="3887470" cy="3838575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>
          <a:xfrm>
            <a:off x="0" y="41275"/>
            <a:ext cx="9143365" cy="657225"/>
          </a:xfrm>
        </p:spPr>
        <p:txBody>
          <a:bodyPr/>
          <a:lstStyle/>
          <a:p>
            <a:pPr rtl="0"/>
            <a:r>
              <a:rPr lang="pt-BR" sz="1600"/>
              <a:t>Rede confiável</a:t>
            </a:r>
            <a:br>
              <a:rPr lang="en-US" altLang="en-US" dirty="0"/>
            </a:br>
            <a:r>
              <a:rPr lang="pt-BR"/>
              <a:t>Tolerância ao Erro/Falhas</a:t>
            </a:r>
            <a:endParaRPr lang="pt-BR"/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>
          <a:xfrm>
            <a:off x="132080" y="698500"/>
            <a:ext cx="4226560" cy="4013200"/>
          </a:xfrm>
        </p:spPr>
        <p:txBody>
          <a:bodyPr/>
          <a:lstStyle/>
          <a:p>
            <a:pPr marL="0" indent="0" algn="just" rtl="0">
              <a:buNone/>
            </a:pPr>
            <a:r>
              <a:rPr lang="pt-BR" sz="1550"/>
              <a:t>Uma </a:t>
            </a:r>
            <a:r>
              <a:rPr lang="pt-BR" sz="1550" b="1">
                <a:solidFill>
                  <a:srgbClr val="FF0000"/>
                </a:solidFill>
              </a:rPr>
              <a:t>Rede Tolerante a Falhas</a:t>
            </a:r>
            <a:r>
              <a:rPr lang="pt-BR" sz="1550"/>
              <a:t> limita o impacto de uma falha, ao limitar o número de dispositivos afetados. Vários caminhos são necessários para tolerância a falhas.</a:t>
            </a:r>
            <a:endParaRPr lang="pt-BR" sz="1550"/>
          </a:p>
          <a:p>
            <a:pPr marL="0" indent="0" algn="just" rtl="0">
              <a:buNone/>
            </a:pPr>
            <a:r>
              <a:rPr lang="pt-BR" sz="1550"/>
              <a:t>As </a:t>
            </a:r>
            <a:r>
              <a:rPr lang="pt-BR" sz="1550" b="1">
                <a:solidFill>
                  <a:srgbClr val="0070C0"/>
                </a:solidFill>
              </a:rPr>
              <a:t>Redes Confiáveis</a:t>
            </a:r>
            <a:r>
              <a:rPr lang="pt-BR" sz="1550"/>
              <a:t> fornecem redundância implementando uma rede comutada por pacotes:</a:t>
            </a:r>
            <a:endParaRPr lang="pt-BR" sz="1550"/>
          </a:p>
          <a:p>
            <a:pPr lvl="1" algn="just" rtl="0">
              <a:buFont typeface="Arial" panose="020B0604020202020204" pitchFamily="34" charset="0"/>
              <a:buChar char="•"/>
            </a:pPr>
            <a:r>
              <a:rPr lang="pt-BR" sz="1550" b="1"/>
              <a:t>O switch de pacotes divide os dados do tráfego em pacotes que são roteados por uma rede. </a:t>
            </a:r>
            <a:endParaRPr lang="pt-BR" sz="1550" b="1"/>
          </a:p>
          <a:p>
            <a:pPr lvl="1" algn="just" rtl="0">
              <a:buFont typeface="Arial" panose="020B0604020202020204" pitchFamily="34" charset="0"/>
              <a:buChar char="•"/>
            </a:pPr>
            <a:r>
              <a:rPr lang="pt-BR" sz="1550" b="1"/>
              <a:t>Cada pacote, teoricamente, pode levar um caminho até o destino diferente.</a:t>
            </a:r>
            <a:endParaRPr lang="pt-BR" sz="1550" b="1"/>
          </a:p>
          <a:p>
            <a:pPr marL="0" indent="0" algn="just" rtl="0">
              <a:buNone/>
            </a:pPr>
            <a:r>
              <a:rPr lang="pt-BR" sz="1550"/>
              <a:t>Isso não é possível com redes de switch de circuitos que estabelecem circuitos dedicados.</a:t>
            </a:r>
            <a:endParaRPr lang="en-CA" altLang="en-US" sz="1550" dirty="0"/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 l="43556" t="35488" r="10573" b="17395"/>
          <a:stretch>
            <a:fillRect/>
          </a:stretch>
        </p:blipFill>
        <p:spPr>
          <a:xfrm>
            <a:off x="4243705" y="1058545"/>
            <a:ext cx="4819650" cy="2785110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>
          <a:xfrm>
            <a:off x="0" y="41275"/>
            <a:ext cx="9143365" cy="757555"/>
          </a:xfrm>
        </p:spPr>
        <p:txBody>
          <a:bodyPr/>
          <a:lstStyle/>
          <a:p>
            <a:pPr rtl="0"/>
            <a:r>
              <a:rPr lang="pt-BR" sz="1600"/>
              <a:t>Rede confiável</a:t>
            </a:r>
            <a:br>
              <a:rPr lang="en-US" altLang="en-US" dirty="0"/>
            </a:br>
            <a:r>
              <a:rPr lang="pt-BR"/>
              <a:t>Escalabilidade (Crescimento)</a:t>
            </a:r>
            <a:endParaRPr lang="pt-BR"/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>
          <a:xfrm>
            <a:off x="5321935" y="643255"/>
            <a:ext cx="3702685" cy="4067810"/>
          </a:xfrm>
        </p:spPr>
        <p:txBody>
          <a:bodyPr/>
          <a:lstStyle/>
          <a:p>
            <a:pPr marL="0" indent="0" algn="just">
              <a:buNone/>
            </a:pPr>
            <a:r>
              <a:rPr lang="pt-BR" sz="2100"/>
              <a:t>Uma </a:t>
            </a:r>
            <a:r>
              <a:rPr lang="pt-BR" sz="2100" b="1">
                <a:solidFill>
                  <a:srgbClr val="FF0000"/>
                </a:solidFill>
              </a:rPr>
              <a:t>Rede Escalável</a:t>
            </a:r>
            <a:r>
              <a:rPr lang="pt-BR" sz="2100"/>
              <a:t> pode se expandir de modo rápido e fácil para comportar novos usuários e aplicações, </a:t>
            </a:r>
            <a:r>
              <a:rPr lang="pt-BR" sz="2100" b="1"/>
              <a:t>sem Causar Impacto no Desempenho dos Serviços</a:t>
            </a:r>
            <a:r>
              <a:rPr lang="pt-BR" sz="2100"/>
              <a:t> fornecidos aos usuários atuais.</a:t>
            </a:r>
            <a:endParaRPr lang="pt-BR" sz="2100"/>
          </a:p>
          <a:p>
            <a:pPr marL="0" indent="0" algn="just" rtl="0">
              <a:buNone/>
            </a:pPr>
            <a:r>
              <a:rPr lang="pt-BR" sz="2100"/>
              <a:t>Os </a:t>
            </a:r>
            <a:r>
              <a:rPr lang="pt-BR" sz="2100" b="1">
                <a:solidFill>
                  <a:srgbClr val="FF0000"/>
                </a:solidFill>
              </a:rPr>
              <a:t>Designers de Rede</a:t>
            </a:r>
            <a:r>
              <a:rPr lang="pt-BR" sz="2100"/>
              <a:t> seguem </a:t>
            </a:r>
            <a:r>
              <a:rPr lang="pt-BR" sz="2100" b="1"/>
              <a:t>Normas e Protocolos</a:t>
            </a:r>
            <a:r>
              <a:rPr lang="pt-BR" sz="2100"/>
              <a:t> aceitos para tornar as redes escaláveis.</a:t>
            </a:r>
            <a:endParaRPr lang="en-CA" altLang="en-US" sz="2100" dirty="0"/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 l="43556" t="33944" r="10653" b="14451"/>
          <a:stretch>
            <a:fillRect/>
          </a:stretch>
        </p:blipFill>
        <p:spPr>
          <a:xfrm>
            <a:off x="87630" y="1075690"/>
            <a:ext cx="5266690" cy="3338830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>
          <a:xfrm>
            <a:off x="0" y="41275"/>
            <a:ext cx="9144000" cy="757555"/>
          </a:xfrm>
        </p:spPr>
        <p:txBody>
          <a:bodyPr/>
          <a:lstStyle/>
          <a:p>
            <a:pPr rtl="0"/>
            <a:r>
              <a:rPr lang="pt-BR" sz="1600"/>
              <a:t>Rede confiável</a:t>
            </a:r>
            <a:br>
              <a:rPr lang="en-US" altLang="en-US" dirty="0"/>
            </a:br>
            <a:r>
              <a:rPr lang="pt-BR"/>
              <a:t>Qualidade de Serviço (QoS)</a:t>
            </a:r>
            <a:endParaRPr lang="pt-BR"/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>
          <a:xfrm>
            <a:off x="87630" y="798830"/>
            <a:ext cx="3808730" cy="3858260"/>
          </a:xfrm>
        </p:spPr>
        <p:txBody>
          <a:bodyPr/>
          <a:lstStyle/>
          <a:p>
            <a:pPr marL="0" indent="0" algn="just" rtl="0">
              <a:buNone/>
            </a:pPr>
            <a:r>
              <a:rPr lang="pt-BR" sz="1450"/>
              <a:t>As transmissões de vídeo ao vivo e de voz requerem </a:t>
            </a:r>
            <a:r>
              <a:rPr lang="pt-BR" sz="1450" b="1"/>
              <a:t>Expectativas mais Altas</a:t>
            </a:r>
            <a:r>
              <a:rPr lang="pt-BR" sz="1450"/>
              <a:t> para esses serviços sendo entregues. </a:t>
            </a:r>
            <a:endParaRPr lang="pt-BR" sz="1450"/>
          </a:p>
          <a:p>
            <a:pPr marL="0" indent="0" algn="just" rtl="0">
              <a:buNone/>
            </a:pPr>
            <a:r>
              <a:rPr lang="pt-BR" sz="1450"/>
              <a:t>Você já assistiu a um vídeo ao vivo com intervalos e pausas constantes? Isso acontece quando há uma </a:t>
            </a:r>
            <a:r>
              <a:rPr lang="pt-BR" sz="1450" b="1">
                <a:solidFill>
                  <a:srgbClr val="0070C0"/>
                </a:solidFill>
              </a:rPr>
              <a:t>Maior Demanda por Largura de Banda que a Disponível</a:t>
            </a:r>
            <a:r>
              <a:rPr lang="pt-BR" sz="1450"/>
              <a:t> – e o </a:t>
            </a:r>
            <a:r>
              <a:rPr lang="pt-BR" sz="1450" b="1"/>
              <a:t>QoS </a:t>
            </a:r>
            <a:r>
              <a:rPr lang="pt-BR" sz="1450"/>
              <a:t>não está configurado.</a:t>
            </a:r>
            <a:endParaRPr lang="pt-BR" sz="1450"/>
          </a:p>
          <a:p>
            <a:pPr algn="just" rtl="0">
              <a:buFont typeface="Arial" panose="020B0604020202020204" pitchFamily="34" charset="0"/>
              <a:buChar char="•"/>
            </a:pPr>
            <a:r>
              <a:rPr lang="pt-BR" sz="1450" b="1">
                <a:solidFill>
                  <a:srgbClr val="FF0000"/>
                </a:solidFill>
              </a:rPr>
              <a:t>Qualidade de Serviço</a:t>
            </a:r>
            <a:r>
              <a:rPr lang="pt-BR" sz="1450"/>
              <a:t> (QoS, Quality of Service) é o mecanismo principal usado para assegurar a entrega confiável do conteúdo para todos os usuários. </a:t>
            </a:r>
            <a:endParaRPr lang="pt-BR" sz="1450"/>
          </a:p>
          <a:p>
            <a:pPr algn="just" rtl="0">
              <a:buFont typeface="Arial" panose="020B0604020202020204" pitchFamily="34" charset="0"/>
              <a:buChar char="•"/>
            </a:pPr>
            <a:r>
              <a:rPr lang="pt-BR" sz="1450"/>
              <a:t>Com uma </a:t>
            </a:r>
            <a:r>
              <a:rPr lang="pt-BR" sz="1450" b="1">
                <a:solidFill>
                  <a:srgbClr val="FF0000"/>
                </a:solidFill>
              </a:rPr>
              <a:t>Política de QoS</a:t>
            </a:r>
            <a:r>
              <a:rPr lang="pt-BR" sz="1450"/>
              <a:t> em vigor, o roteador pode gerenciar mais facilmente o fluxo de dados e o tráfego de voz.</a:t>
            </a:r>
            <a:endParaRPr lang="en-CA" altLang="en-US" sz="1450" dirty="0"/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 l="43479" t="36333" r="10969" b="14031"/>
          <a:stretch>
            <a:fillRect/>
          </a:stretch>
        </p:blipFill>
        <p:spPr>
          <a:xfrm>
            <a:off x="3754120" y="993775"/>
            <a:ext cx="5307330" cy="3253105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>
          <a:xfrm>
            <a:off x="-635" y="41275"/>
            <a:ext cx="9145270" cy="757555"/>
          </a:xfrm>
        </p:spPr>
        <p:txBody>
          <a:bodyPr/>
          <a:lstStyle/>
          <a:p>
            <a:pPr rtl="0"/>
            <a:r>
              <a:rPr lang="pt-BR" sz="1600"/>
              <a:t>Rede confiável</a:t>
            </a:r>
            <a:br>
              <a:rPr lang="en-US" altLang="en-US" dirty="0"/>
            </a:br>
            <a:r>
              <a:rPr lang="pt-BR"/>
              <a:t>Segurança de Rede (Obrigatório)</a:t>
            </a:r>
            <a:endParaRPr lang="pt-BR"/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>
          <a:xfrm>
            <a:off x="5062855" y="132715"/>
            <a:ext cx="3948430" cy="4595495"/>
          </a:xfrm>
        </p:spPr>
        <p:txBody>
          <a:bodyPr/>
          <a:lstStyle/>
          <a:p>
            <a:pPr marL="0" indent="0" algn="just" rtl="0">
              <a:buNone/>
            </a:pPr>
            <a:r>
              <a:rPr lang="pt-BR" sz="1350"/>
              <a:t>Existem </a:t>
            </a:r>
            <a:r>
              <a:rPr lang="pt-BR" sz="1350" b="1">
                <a:solidFill>
                  <a:srgbClr val="FF0000"/>
                </a:solidFill>
              </a:rPr>
              <a:t>Dois Tipos</a:t>
            </a:r>
            <a:r>
              <a:rPr lang="pt-BR" sz="1350"/>
              <a:t> principais de segurança da rede que devem ser abordados:  </a:t>
            </a:r>
            <a:endParaRPr lang="pt-BR" sz="1350"/>
          </a:p>
          <a:p>
            <a:pPr lvl="1" algn="just" rtl="0">
              <a:buFont typeface="Arial" panose="020B0604020202020204" pitchFamily="34" charset="0"/>
              <a:buChar char="•"/>
            </a:pPr>
            <a:r>
              <a:rPr lang="pt-BR" sz="1350" b="1">
                <a:solidFill>
                  <a:srgbClr val="0070C0"/>
                </a:solidFill>
              </a:rPr>
              <a:t>Segurança de Infraestrutura de Rede</a:t>
            </a:r>
            <a:endParaRPr lang="pt-BR" sz="1350" b="1">
              <a:solidFill>
                <a:srgbClr val="0070C0"/>
              </a:solidFill>
            </a:endParaRPr>
          </a:p>
          <a:p>
            <a:pPr lvl="2" algn="just" rtl="0">
              <a:buFont typeface="Arial" panose="020B0604020202020204" pitchFamily="34" charset="0"/>
              <a:buChar char="•"/>
            </a:pPr>
            <a:r>
              <a:rPr lang="pt-BR" sz="1350"/>
              <a:t>Segurança física dos dispositivos de rede</a:t>
            </a:r>
            <a:endParaRPr lang="pt-BR" sz="1350"/>
          </a:p>
          <a:p>
            <a:pPr lvl="2" algn="just" rtl="0">
              <a:buFont typeface="Arial" panose="020B0604020202020204" pitchFamily="34" charset="0"/>
              <a:buChar char="•"/>
            </a:pPr>
            <a:r>
              <a:rPr lang="pt-BR" sz="1350"/>
              <a:t>Impedindo o acesso não autorizado aos dispositivos</a:t>
            </a:r>
            <a:endParaRPr lang="pt-BR" sz="1350"/>
          </a:p>
          <a:p>
            <a:pPr lvl="1" algn="just" rtl="0">
              <a:buFont typeface="Arial" panose="020B0604020202020204" pitchFamily="34" charset="0"/>
              <a:buChar char="•"/>
            </a:pPr>
            <a:r>
              <a:rPr lang="pt-BR" sz="1350" b="1">
                <a:solidFill>
                  <a:srgbClr val="0070C0"/>
                </a:solidFill>
              </a:rPr>
              <a:t>Segurança da Informação</a:t>
            </a:r>
            <a:r>
              <a:rPr lang="pt-BR" sz="1350">
                <a:solidFill>
                  <a:srgbClr val="0070C0"/>
                </a:solidFill>
              </a:rPr>
              <a:t>.</a:t>
            </a:r>
            <a:endParaRPr lang="pt-BR" sz="1350">
              <a:solidFill>
                <a:srgbClr val="0070C0"/>
              </a:solidFill>
            </a:endParaRPr>
          </a:p>
          <a:p>
            <a:pPr lvl="2" algn="just" rtl="0">
              <a:buFont typeface="Arial" panose="020B0604020202020204" pitchFamily="34" charset="0"/>
              <a:buChar char="•"/>
            </a:pPr>
            <a:r>
              <a:rPr lang="pt-BR" sz="1350"/>
              <a:t>Proteção de informações ou dados transmitidos pela rede</a:t>
            </a:r>
            <a:endParaRPr lang="pt-BR" sz="1350"/>
          </a:p>
          <a:p>
            <a:pPr marL="0" indent="0" algn="just" rtl="0">
              <a:buNone/>
            </a:pPr>
            <a:r>
              <a:rPr lang="pt-BR" sz="1350" b="1"/>
              <a:t>Três metas de segurança da rede:</a:t>
            </a:r>
            <a:endParaRPr lang="pt-BR" sz="1350"/>
          </a:p>
          <a:p>
            <a:pPr lvl="1" algn="just" rtl="0"/>
            <a:r>
              <a:rPr lang="pt-BR" sz="1350" b="1">
                <a:solidFill>
                  <a:srgbClr val="FF0000"/>
                </a:solidFill>
              </a:rPr>
              <a:t>Confidencialidade </a:t>
            </a:r>
            <a:r>
              <a:rPr lang="pt-BR" sz="1350"/>
              <a:t>– somente os destinatários desejados podem ler os dados</a:t>
            </a:r>
            <a:endParaRPr lang="pt-BR" sz="1350"/>
          </a:p>
          <a:p>
            <a:pPr lvl="1" algn="just" rtl="0"/>
            <a:r>
              <a:rPr lang="pt-BR" sz="1350" b="1">
                <a:solidFill>
                  <a:srgbClr val="FF0000"/>
                </a:solidFill>
              </a:rPr>
              <a:t>Integridade </a:t>
            </a:r>
            <a:r>
              <a:rPr lang="pt-BR" sz="1350"/>
              <a:t>– garantia de que os dados não foram alterados durante a transmissão</a:t>
            </a:r>
            <a:endParaRPr lang="pt-BR" sz="1350"/>
          </a:p>
          <a:p>
            <a:pPr lvl="1" algn="just" rtl="0"/>
            <a:r>
              <a:rPr lang="pt-BR" sz="1350" b="1">
                <a:solidFill>
                  <a:srgbClr val="FF0000"/>
                </a:solidFill>
              </a:rPr>
              <a:t>Disponibilidade </a:t>
            </a:r>
            <a:r>
              <a:rPr lang="pt-BR" sz="1350"/>
              <a:t>– garantia de que os usuários autorizados terão acesso pontual e confiável aos dados</a:t>
            </a:r>
            <a:endParaRPr lang="en-CA" altLang="en-US" sz="1350" dirty="0"/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 l="43240" t="38012" r="10576" b="14309"/>
          <a:stretch>
            <a:fillRect/>
          </a:stretch>
        </p:blipFill>
        <p:spPr>
          <a:xfrm>
            <a:off x="87630" y="1263650"/>
            <a:ext cx="5034915" cy="2924175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6425" y="915409"/>
            <a:ext cx="8231464" cy="1802391"/>
          </a:xfrm>
        </p:spPr>
        <p:txBody>
          <a:bodyPr/>
          <a:lstStyle/>
          <a:p>
            <a:pPr rtl="0"/>
            <a:r>
              <a:rPr lang="pt-BR">
                <a:solidFill>
                  <a:schemeClr val="accent5">
                    <a:lumMod val="40000"/>
                    <a:lumOff val="60000"/>
                  </a:schemeClr>
                </a:solidFill>
              </a:rPr>
              <a:t>1.7 - Tendências das Redes</a:t>
            </a:r>
            <a:endParaRPr lang="pt-BR">
              <a:solidFill>
                <a:schemeClr val="accent5">
                  <a:lumMod val="40000"/>
                  <a:lumOff val="60000"/>
                </a:schemeClr>
              </a:solidFill>
            </a:endParaRPr>
          </a:p>
        </p:txBody>
      </p:sp>
    </p:spTree>
    <p:custDataLst>
      <p:tags r:id="rId1"/>
    </p:custDataLst>
  </p:cSld>
  <p:clrMapOvr>
    <a:masterClrMapping/>
  </p:clrMapOvr>
  <p:transition spd="slow">
    <p:wip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>
          <a:xfrm>
            <a:off x="0" y="41275"/>
            <a:ext cx="9143365" cy="757555"/>
          </a:xfrm>
        </p:spPr>
        <p:txBody>
          <a:bodyPr/>
          <a:lstStyle/>
          <a:p>
            <a:pPr rtl="0"/>
            <a:r>
              <a:rPr lang="pt-BR" sz="1600"/>
              <a:t>Tendências de rede</a:t>
            </a:r>
            <a:br>
              <a:rPr lang="en-US" altLang="en-US" dirty="0"/>
            </a:br>
            <a:r>
              <a:rPr lang="pt-BR"/>
              <a:t>Tendências Recentes em Redes</a:t>
            </a:r>
            <a:endParaRPr lang="pt-BR"/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>
          <a:xfrm>
            <a:off x="5321935" y="266065"/>
            <a:ext cx="3691255" cy="4189095"/>
          </a:xfrm>
        </p:spPr>
        <p:txBody>
          <a:bodyPr/>
          <a:lstStyle/>
          <a:p>
            <a:pPr marL="0" indent="0" algn="just">
              <a:buNone/>
            </a:pPr>
            <a:r>
              <a:rPr lang="pt-BR" sz="1650"/>
              <a:t>A função da rede deve ser ajustada e transformada continuamente para </a:t>
            </a:r>
            <a:r>
              <a:rPr lang="pt-BR" sz="1650" b="1">
                <a:solidFill>
                  <a:srgbClr val="FF0000"/>
                </a:solidFill>
              </a:rPr>
              <a:t>Acompanhar as Novas Tecnologias</a:t>
            </a:r>
            <a:r>
              <a:rPr lang="pt-BR" sz="1650"/>
              <a:t> e dispositivos de usuário final à medida que eles entram no mercado de forma constante. </a:t>
            </a:r>
            <a:endParaRPr lang="pt-BR" sz="1650"/>
          </a:p>
          <a:p>
            <a:pPr marL="0" indent="0" algn="just" rtl="0">
              <a:buNone/>
            </a:pPr>
            <a:r>
              <a:rPr lang="pt-BR" sz="1650"/>
              <a:t>Várias novas tendências de rede que afetam as empresas e os consumidores:</a:t>
            </a:r>
            <a:endParaRPr lang="pt-BR" sz="1650"/>
          </a:p>
          <a:p>
            <a:pPr lvl="1" algn="just" rtl="0">
              <a:buFont typeface="Arial" panose="020B0604020202020204" pitchFamily="34" charset="0"/>
              <a:buChar char="•"/>
            </a:pPr>
            <a:r>
              <a:rPr lang="pt-BR" sz="1650" b="1"/>
              <a:t>BYOD (Bring Your Own Device);</a:t>
            </a:r>
            <a:endParaRPr lang="pt-BR" sz="1650" b="1"/>
          </a:p>
          <a:p>
            <a:pPr lvl="1" algn="just" rtl="0">
              <a:buFont typeface="Arial" panose="020B0604020202020204" pitchFamily="34" charset="0"/>
              <a:buChar char="•"/>
            </a:pPr>
            <a:r>
              <a:rPr lang="pt-BR" sz="1650" b="1"/>
              <a:t>Colaboração On-Line;</a:t>
            </a:r>
            <a:endParaRPr lang="pt-BR" sz="1650" b="1"/>
          </a:p>
          <a:p>
            <a:pPr lvl="1" algn="just" rtl="0">
              <a:buFont typeface="Arial" panose="020B0604020202020204" pitchFamily="34" charset="0"/>
              <a:buChar char="•"/>
            </a:pPr>
            <a:r>
              <a:rPr lang="pt-BR" sz="1650" b="1"/>
              <a:t>Comunicação por Vídeo;</a:t>
            </a:r>
            <a:endParaRPr lang="pt-BR" sz="1650" b="1"/>
          </a:p>
          <a:p>
            <a:pPr lvl="1" algn="just" rtl="0">
              <a:buFont typeface="Arial" panose="020B0604020202020204" pitchFamily="34" charset="0"/>
              <a:buChar char="•"/>
            </a:pPr>
            <a:r>
              <a:rPr lang="pt-BR" sz="1650" b="1"/>
              <a:t>Computação em Nuvem.</a:t>
            </a:r>
            <a:endParaRPr lang="en-CA" altLang="en-US" sz="1650" b="1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549" y="798944"/>
            <a:ext cx="5172075" cy="3724275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>
          <a:xfrm>
            <a:off x="-635" y="41275"/>
            <a:ext cx="9145270" cy="757555"/>
          </a:xfrm>
        </p:spPr>
        <p:txBody>
          <a:bodyPr/>
          <a:lstStyle/>
          <a:p>
            <a:pPr rtl="0"/>
            <a:r>
              <a:rPr lang="pt-BR" sz="1600"/>
              <a:t>Tendências de rede</a:t>
            </a:r>
            <a:br>
              <a:rPr lang="en-US" altLang="en-US" dirty="0"/>
            </a:br>
            <a:r>
              <a:rPr lang="pt-BR"/>
              <a:t>Traga seu Próprio Aparelho (BYOD)</a:t>
            </a:r>
            <a:endParaRPr lang="pt-BR"/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>
          <a:xfrm>
            <a:off x="5344795" y="414655"/>
            <a:ext cx="3664585" cy="4315460"/>
          </a:xfrm>
        </p:spPr>
        <p:txBody>
          <a:bodyPr/>
          <a:lstStyle/>
          <a:p>
            <a:pPr marL="0" indent="0" algn="just" rtl="0">
              <a:buNone/>
            </a:pPr>
            <a:r>
              <a:rPr lang="pt-BR" sz="1400" b="1">
                <a:solidFill>
                  <a:srgbClr val="FF0000"/>
                </a:solidFill>
              </a:rPr>
              <a:t>Traga seu Próprio Dispositivo (BYOD)</a:t>
            </a:r>
            <a:r>
              <a:rPr lang="pt-BR" sz="1400"/>
              <a:t> permite que os usuários usem seus próprios dispositivos, dando-lhes mais oportunidades e maior flexibilidade. </a:t>
            </a:r>
            <a:endParaRPr lang="pt-BR" sz="1400"/>
          </a:p>
          <a:p>
            <a:pPr marL="0" indent="0" algn="just" rtl="0">
              <a:buNone/>
            </a:pPr>
            <a:r>
              <a:rPr lang="pt-BR" sz="1400"/>
              <a:t>O </a:t>
            </a:r>
            <a:r>
              <a:rPr lang="pt-BR" sz="1400" b="1"/>
              <a:t>BYOD </a:t>
            </a:r>
            <a:r>
              <a:rPr lang="pt-BR" sz="1400"/>
              <a:t>permite que os usuários finais tenham </a:t>
            </a:r>
            <a:r>
              <a:rPr lang="pt-BR" sz="1400" b="1">
                <a:solidFill>
                  <a:srgbClr val="0070C0"/>
                </a:solidFill>
              </a:rPr>
              <a:t>Liberdade para Usar Ferramentas Pessoais</a:t>
            </a:r>
            <a:r>
              <a:rPr lang="pt-BR" sz="1400"/>
              <a:t>, acessar informações e se comunicar usando seus:</a:t>
            </a:r>
            <a:endParaRPr lang="pt-BR" sz="1400"/>
          </a:p>
          <a:p>
            <a:pPr lvl="1" algn="just" rtl="0"/>
            <a:r>
              <a:rPr lang="pt-BR" sz="1400" b="1"/>
              <a:t>Notebooks;</a:t>
            </a:r>
            <a:endParaRPr lang="pt-BR" sz="1400" b="1"/>
          </a:p>
          <a:p>
            <a:pPr lvl="1" algn="just" rtl="0"/>
            <a:r>
              <a:rPr lang="pt-BR" sz="1400" b="1"/>
              <a:t>Netbooks;</a:t>
            </a:r>
            <a:endParaRPr lang="pt-BR" sz="1400" b="1"/>
          </a:p>
          <a:p>
            <a:pPr lvl="1" algn="just" rtl="0"/>
            <a:r>
              <a:rPr lang="pt-BR" sz="1400" b="1"/>
              <a:t>Tablets;</a:t>
            </a:r>
            <a:endParaRPr lang="pt-BR" sz="1400" b="1"/>
          </a:p>
          <a:p>
            <a:pPr lvl="1" algn="just" rtl="0"/>
            <a:r>
              <a:rPr lang="pt-BR" sz="1400" b="1"/>
              <a:t>Smartphones;</a:t>
            </a:r>
            <a:endParaRPr lang="pt-BR" sz="1400" b="1"/>
          </a:p>
          <a:p>
            <a:pPr lvl="1" algn="just" rtl="0"/>
            <a:r>
              <a:rPr lang="pt-BR" sz="1400" b="1"/>
              <a:t>E-readers.</a:t>
            </a:r>
            <a:endParaRPr lang="pt-BR" sz="1400" b="1"/>
          </a:p>
          <a:p>
            <a:pPr marL="0" indent="0" algn="just" rtl="0">
              <a:buNone/>
            </a:pPr>
            <a:r>
              <a:rPr lang="pt-BR" sz="1400" b="1"/>
              <a:t>BYOD </a:t>
            </a:r>
            <a:r>
              <a:rPr lang="pt-BR" sz="1400"/>
              <a:t>significa o uso de qualquer dispositivo, de qualquer propriedade e em qualquer lugar.</a:t>
            </a:r>
            <a:endParaRPr lang="pt-BR" sz="140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7094" y="894229"/>
            <a:ext cx="5114925" cy="3695700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>
          <a:xfrm>
            <a:off x="-635" y="41275"/>
            <a:ext cx="9144635" cy="757555"/>
          </a:xfrm>
        </p:spPr>
        <p:txBody>
          <a:bodyPr/>
          <a:lstStyle/>
          <a:p>
            <a:pPr rtl="0"/>
            <a:r>
              <a:rPr lang="pt-BR" sz="1600"/>
              <a:t>Tendências de rede</a:t>
            </a:r>
            <a:br>
              <a:rPr lang="en-US" altLang="en-US" dirty="0"/>
            </a:br>
            <a:r>
              <a:rPr lang="pt-BR"/>
              <a:t>Colaboração Online</a:t>
            </a:r>
            <a:endParaRPr lang="pt-BR"/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>
          <a:xfrm>
            <a:off x="5029835" y="347980"/>
            <a:ext cx="3973830" cy="4354830"/>
          </a:xfrm>
        </p:spPr>
        <p:txBody>
          <a:bodyPr/>
          <a:lstStyle/>
          <a:p>
            <a:pPr algn="just" rtl="0">
              <a:buFont typeface="Arial" panose="020B0604020202020204" pitchFamily="34" charset="0"/>
              <a:buChar char="•"/>
            </a:pPr>
            <a:r>
              <a:rPr lang="pt-BR" sz="1550" b="1">
                <a:solidFill>
                  <a:srgbClr val="FF0000"/>
                </a:solidFill>
              </a:rPr>
              <a:t>Colabore e Trabalhe</a:t>
            </a:r>
            <a:r>
              <a:rPr lang="pt-BR" sz="1550"/>
              <a:t> com outras pessoas na rede em projetos conjuntos.</a:t>
            </a:r>
            <a:endParaRPr lang="pt-BR" sz="1550"/>
          </a:p>
          <a:p>
            <a:pPr algn="just" rtl="0">
              <a:buFont typeface="Arial" panose="020B0604020202020204" pitchFamily="34" charset="0"/>
              <a:buChar char="•"/>
            </a:pPr>
            <a:r>
              <a:rPr lang="pt-BR" sz="1550"/>
              <a:t>As </a:t>
            </a:r>
            <a:r>
              <a:rPr lang="pt-BR" sz="1550" b="1"/>
              <a:t>Ferramentas de Colaboração</a:t>
            </a:r>
            <a:r>
              <a:rPr lang="pt-BR" sz="1550"/>
              <a:t>, incluindo o </a:t>
            </a:r>
            <a:r>
              <a:rPr lang="pt-BR" sz="1550" b="1">
                <a:solidFill>
                  <a:srgbClr val="0070C0"/>
                </a:solidFill>
              </a:rPr>
              <a:t>Cisco WebEx</a:t>
            </a:r>
            <a:r>
              <a:rPr lang="pt-BR" sz="1550"/>
              <a:t> (mostrado na figura), oferecem aos usuários uma maneira de conectar e interagir instantaneamente.</a:t>
            </a:r>
            <a:endParaRPr lang="pt-BR" sz="1550"/>
          </a:p>
          <a:p>
            <a:pPr algn="just" rtl="0">
              <a:buFont typeface="Arial" panose="020B0604020202020204" pitchFamily="34" charset="0"/>
              <a:buChar char="•"/>
            </a:pPr>
            <a:r>
              <a:rPr lang="pt-BR" sz="1550"/>
              <a:t>A </a:t>
            </a:r>
            <a:r>
              <a:rPr lang="pt-BR" sz="1550" b="1">
                <a:solidFill>
                  <a:srgbClr val="FF0000"/>
                </a:solidFill>
              </a:rPr>
              <a:t>Colaboração é uma Prioridade</a:t>
            </a:r>
            <a:r>
              <a:rPr lang="pt-BR" sz="1550"/>
              <a:t> muito alta para no mundo corporativo e acadêmico.</a:t>
            </a:r>
            <a:endParaRPr lang="pt-BR" sz="1550"/>
          </a:p>
          <a:p>
            <a:pPr algn="just" rtl="0">
              <a:buFont typeface="Arial" panose="020B0604020202020204" pitchFamily="34" charset="0"/>
              <a:buChar char="•"/>
            </a:pPr>
            <a:r>
              <a:rPr lang="pt-BR" sz="1550" b="1">
                <a:solidFill>
                  <a:srgbClr val="FF0000"/>
                </a:solidFill>
              </a:rPr>
              <a:t>Cisco Webex Teams</a:t>
            </a:r>
            <a:r>
              <a:rPr lang="pt-BR" sz="1550"/>
              <a:t> é uma ferramenta de colaboração multifuncional.</a:t>
            </a:r>
            <a:endParaRPr lang="pt-BR" sz="1550"/>
          </a:p>
          <a:p>
            <a:pPr lvl="1" algn="just" rtl="0">
              <a:buFont typeface="Arial" panose="020B0604020202020204" pitchFamily="34" charset="0"/>
              <a:buChar char="•"/>
            </a:pPr>
            <a:r>
              <a:rPr lang="pt-BR" sz="1550" b="1"/>
              <a:t>Envie Mensagens Instantâneas;</a:t>
            </a:r>
            <a:endParaRPr lang="pt-BR" sz="1550" b="1"/>
          </a:p>
          <a:p>
            <a:pPr lvl="1" algn="just" rtl="0">
              <a:buFont typeface="Arial" panose="020B0604020202020204" pitchFamily="34" charset="0"/>
              <a:buChar char="•"/>
            </a:pPr>
            <a:r>
              <a:rPr lang="pt-BR" sz="1550" b="1"/>
              <a:t>Postar Imagens;</a:t>
            </a:r>
            <a:endParaRPr lang="pt-BR" sz="1550" b="1"/>
          </a:p>
          <a:p>
            <a:pPr lvl="1" algn="just" rtl="0">
              <a:buFont typeface="Arial" panose="020B0604020202020204" pitchFamily="34" charset="0"/>
              <a:buChar char="•"/>
            </a:pPr>
            <a:r>
              <a:rPr lang="pt-BR" sz="1550" b="1"/>
              <a:t>Postar Vídeos e Links.</a:t>
            </a:r>
            <a:endParaRPr lang="pt-BR" sz="1550" b="1"/>
          </a:p>
          <a:p>
            <a:pPr algn="just" rtl="0">
              <a:buFont typeface="Arial" panose="020B0604020202020204" pitchFamily="34" charset="0"/>
              <a:buChar char="•"/>
            </a:pPr>
            <a:endParaRPr lang="en-CA" altLang="en-US" sz="1550" b="1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0002" y="1212361"/>
            <a:ext cx="4835762" cy="2719377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>
          <a:xfrm>
            <a:off x="-635" y="41275"/>
            <a:ext cx="9144635" cy="757555"/>
          </a:xfrm>
        </p:spPr>
        <p:txBody>
          <a:bodyPr/>
          <a:lstStyle/>
          <a:p>
            <a:pPr rtl="0"/>
            <a:r>
              <a:rPr lang="pt-BR" sz="1600"/>
              <a:t>Tendências de rede</a:t>
            </a:r>
            <a:br>
              <a:rPr lang="en-US" altLang="en-US" dirty="0"/>
            </a:br>
            <a:r>
              <a:rPr lang="pt-BR"/>
              <a:t>Comunicação por Vídeo (Call On-Line)</a:t>
            </a:r>
            <a:endParaRPr lang="pt-BR"/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>
          <a:xfrm>
            <a:off x="87630" y="798830"/>
            <a:ext cx="4286885" cy="3867785"/>
          </a:xfrm>
        </p:spPr>
        <p:txBody>
          <a:bodyPr/>
          <a:lstStyle/>
          <a:p>
            <a:pPr algn="just" rtl="0">
              <a:buFont typeface="Arial" panose="020B0604020202020204" pitchFamily="34" charset="0"/>
              <a:buChar char="•"/>
            </a:pPr>
            <a:r>
              <a:rPr lang="pt-BR" sz="1800" b="1">
                <a:solidFill>
                  <a:srgbClr val="FF0000"/>
                </a:solidFill>
              </a:rPr>
              <a:t>Chamadas de Vídeo</a:t>
            </a:r>
            <a:r>
              <a:rPr lang="pt-BR" sz="1800"/>
              <a:t> são feitas para qualquer pessoa, independentemente de onde eles estão localizados.</a:t>
            </a:r>
            <a:endParaRPr lang="pt-BR" sz="1800"/>
          </a:p>
          <a:p>
            <a:pPr algn="just" rtl="0">
              <a:buFont typeface="Arial" panose="020B0604020202020204" pitchFamily="34" charset="0"/>
              <a:buChar char="•"/>
            </a:pPr>
            <a:r>
              <a:rPr lang="pt-BR" sz="1800"/>
              <a:t>A </a:t>
            </a:r>
            <a:r>
              <a:rPr lang="pt-BR" sz="1800" b="1">
                <a:solidFill>
                  <a:srgbClr val="FF0000"/>
                </a:solidFill>
              </a:rPr>
              <a:t>Videoconferência </a:t>
            </a:r>
            <a:r>
              <a:rPr lang="pt-BR" sz="1800"/>
              <a:t>é uma ferramenta poderosa para se comunicar com outras pessoas.</a:t>
            </a:r>
            <a:endParaRPr lang="pt-BR" sz="1800"/>
          </a:p>
          <a:p>
            <a:pPr algn="just" rtl="0">
              <a:buFont typeface="Arial" panose="020B0604020202020204" pitchFamily="34" charset="0"/>
              <a:buChar char="•"/>
            </a:pPr>
            <a:r>
              <a:rPr lang="pt-BR" sz="1800"/>
              <a:t>O vídeo está se tornando um </a:t>
            </a:r>
            <a:r>
              <a:rPr lang="pt-BR" sz="1800" b="1">
                <a:solidFill>
                  <a:srgbClr val="FF0000"/>
                </a:solidFill>
              </a:rPr>
              <a:t>Requisito Crítico</a:t>
            </a:r>
            <a:r>
              <a:rPr lang="pt-BR" sz="1800"/>
              <a:t> para uma colaboração eficaz.</a:t>
            </a:r>
            <a:endParaRPr lang="pt-BR" sz="1800"/>
          </a:p>
          <a:p>
            <a:pPr algn="just" rtl="0">
              <a:buFont typeface="Arial" panose="020B0604020202020204" pitchFamily="34" charset="0"/>
              <a:buChar char="•"/>
            </a:pPr>
            <a:r>
              <a:rPr lang="pt-BR" sz="1800" b="1"/>
              <a:t>Cisco TelePresence</a:t>
            </a:r>
            <a:r>
              <a:rPr lang="pt-BR" sz="1800"/>
              <a:t> poderes é uma maneira de trabalhar onde todos, em todos os lugares</a:t>
            </a:r>
            <a:r>
              <a:rPr lang="pt-BR"/>
              <a:t>. </a:t>
            </a:r>
            <a:r>
              <a:rPr lang="pt-BR" sz="1800"/>
              <a:t> </a:t>
            </a:r>
            <a:endParaRPr lang="pt-BR" sz="1800"/>
          </a:p>
          <a:p>
            <a:pPr marL="0" indent="0" algn="just" rtl="0">
              <a:buFont typeface="Arial" panose="020B0604020202020204" pitchFamily="34" charset="0"/>
              <a:buChar char="•"/>
            </a:pPr>
            <a:endParaRPr lang="en-CA" altLang="en-US" dirty="0"/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1"/>
          <a:srcRect l="2623" t="12883" r="5220" b="4569"/>
          <a:stretch>
            <a:fillRect/>
          </a:stretch>
        </p:blipFill>
        <p:spPr>
          <a:xfrm>
            <a:off x="4233545" y="1046480"/>
            <a:ext cx="4752975" cy="2925445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>
          <a:xfrm>
            <a:off x="635" y="41275"/>
            <a:ext cx="9143365" cy="727710"/>
          </a:xfrm>
        </p:spPr>
        <p:txBody>
          <a:bodyPr/>
          <a:lstStyle/>
          <a:p>
            <a:pPr rtl="0"/>
            <a:r>
              <a:rPr lang="pt-BR" sz="1600"/>
              <a:t>Tendências de rede</a:t>
            </a:r>
            <a:br>
              <a:rPr lang="en-US" altLang="en-US" dirty="0"/>
            </a:br>
            <a:r>
              <a:rPr lang="pt-BR"/>
              <a:t>Computação em Nuvem (Cloud Computer)</a:t>
            </a:r>
            <a:endParaRPr lang="pt-BR"/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>
          <a:xfrm>
            <a:off x="87630" y="848995"/>
            <a:ext cx="4634230" cy="3763010"/>
          </a:xfrm>
        </p:spPr>
        <p:txBody>
          <a:bodyPr/>
          <a:lstStyle/>
          <a:p>
            <a:pPr marL="0" indent="0" algn="just" rtl="0">
              <a:buNone/>
            </a:pPr>
            <a:r>
              <a:rPr lang="pt-BR" sz="1550"/>
              <a:t>A </a:t>
            </a:r>
            <a:r>
              <a:rPr lang="pt-BR" sz="1550" b="1">
                <a:solidFill>
                  <a:srgbClr val="FF0000"/>
                </a:solidFill>
              </a:rPr>
              <a:t>Computação em Nuvem</a:t>
            </a:r>
            <a:r>
              <a:rPr lang="pt-BR" sz="1550"/>
              <a:t> nos permite armazenar arquivos pessoais ou fazer backup de nossos dados em </a:t>
            </a:r>
            <a:r>
              <a:rPr lang="pt-BR" sz="1550" b="1"/>
              <a:t>Servidores pela Internet</a:t>
            </a:r>
            <a:r>
              <a:rPr lang="pt-BR" sz="1550"/>
              <a:t>. </a:t>
            </a:r>
            <a:endParaRPr lang="pt-BR" sz="1550"/>
          </a:p>
          <a:p>
            <a:pPr lvl="1" algn="just" rtl="0"/>
            <a:r>
              <a:rPr lang="pt-BR" sz="1550"/>
              <a:t>Os aplicativos também podem ser </a:t>
            </a:r>
            <a:r>
              <a:rPr lang="pt-BR" sz="1550" b="1">
                <a:solidFill>
                  <a:srgbClr val="0070C0"/>
                </a:solidFill>
              </a:rPr>
              <a:t>Acessados Usando a Nuvem</a:t>
            </a:r>
            <a:r>
              <a:rPr lang="pt-BR" sz="1550"/>
              <a:t>.</a:t>
            </a:r>
            <a:endParaRPr lang="pt-BR" sz="1550"/>
          </a:p>
          <a:p>
            <a:pPr lvl="1" algn="just" rtl="0"/>
            <a:r>
              <a:rPr lang="pt-BR" sz="1550"/>
              <a:t>Permite que as empresas entregem a qualquer dispositivo em </a:t>
            </a:r>
            <a:r>
              <a:rPr lang="pt-BR" sz="1550" b="1">
                <a:solidFill>
                  <a:srgbClr val="0070C0"/>
                </a:solidFill>
              </a:rPr>
              <a:t>Qualquer Lugar do Mundo</a:t>
            </a:r>
            <a:r>
              <a:rPr lang="pt-BR" sz="1550"/>
              <a:t>.</a:t>
            </a:r>
            <a:endParaRPr lang="en-CA" altLang="en-US" sz="1550" dirty="0"/>
          </a:p>
          <a:p>
            <a:pPr marL="0" indent="0" algn="just" rtl="0">
              <a:buNone/>
            </a:pPr>
            <a:r>
              <a:rPr lang="pt-BR" sz="1550"/>
              <a:t>A computação em nuvem é possível </a:t>
            </a:r>
            <a:r>
              <a:rPr lang="pt-BR" sz="1550" b="1">
                <a:solidFill>
                  <a:srgbClr val="FF0000"/>
                </a:solidFill>
              </a:rPr>
              <a:t>Devido aos Data Centers</a:t>
            </a:r>
            <a:r>
              <a:rPr lang="pt-BR" sz="1550"/>
              <a:t>. </a:t>
            </a:r>
            <a:endParaRPr lang="pt-BR" sz="1550"/>
          </a:p>
          <a:p>
            <a:pPr lvl="1" algn="just" rtl="0"/>
            <a:r>
              <a:rPr lang="pt-BR" sz="1550"/>
              <a:t>Empresas menores que </a:t>
            </a:r>
            <a:r>
              <a:rPr lang="pt-BR" sz="1550" b="1"/>
              <a:t>Não podem Arcar com seus Próprios Data Centers</a:t>
            </a:r>
            <a:r>
              <a:rPr lang="pt-BR" sz="1550"/>
              <a:t>, alugar serviços de armazenamento e servidor de maiores empresas de data center na nuvem.</a:t>
            </a:r>
            <a:endParaRPr lang="pt-BR" sz="1550"/>
          </a:p>
          <a:p>
            <a:pPr marL="0" indent="0" algn="just" rtl="0">
              <a:buNone/>
            </a:pPr>
            <a:endParaRPr lang="en-CA" altLang="en-US" sz="1550" dirty="0"/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 l="7615" r="8614" b="2707"/>
          <a:stretch>
            <a:fillRect/>
          </a:stretch>
        </p:blipFill>
        <p:spPr>
          <a:xfrm>
            <a:off x="4645025" y="917575"/>
            <a:ext cx="4315460" cy="3698875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Content Placeholder 2"/>
          <p:cNvSpPr>
            <a:spLocks noGrp="1"/>
          </p:cNvSpPr>
          <p:nvPr>
            <p:ph idx="1"/>
          </p:nvPr>
        </p:nvSpPr>
        <p:spPr>
          <a:xfrm>
            <a:off x="152400" y="889000"/>
            <a:ext cx="4318635" cy="3863975"/>
          </a:xfrm>
        </p:spPr>
        <p:txBody>
          <a:bodyPr/>
          <a:lstStyle/>
          <a:p>
            <a:pPr marL="0" indent="0" algn="just" rtl="0">
              <a:buNone/>
            </a:pPr>
            <a:r>
              <a:rPr lang="pt-BR" sz="1400"/>
              <a:t>Quatro tipos de nuvens:</a:t>
            </a:r>
            <a:endParaRPr lang="pt-BR" sz="1400"/>
          </a:p>
          <a:p>
            <a:pPr lvl="1" algn="just" rtl="0">
              <a:buFont typeface="Arial" panose="020B0604020202020204" pitchFamily="34" charset="0"/>
              <a:buChar char="•"/>
            </a:pPr>
            <a:r>
              <a:rPr lang="pt-BR" sz="1400" b="1">
                <a:solidFill>
                  <a:srgbClr val="FF0000"/>
                </a:solidFill>
              </a:rPr>
              <a:t>Nuvens Públicas.</a:t>
            </a:r>
            <a:endParaRPr lang="pt-BR" sz="1400" b="1">
              <a:solidFill>
                <a:srgbClr val="FF0000"/>
              </a:solidFill>
            </a:endParaRPr>
          </a:p>
          <a:p>
            <a:pPr lvl="2" algn="just" rtl="0">
              <a:buFont typeface="Arial" panose="020B0604020202020204" pitchFamily="34" charset="0"/>
              <a:buChar char="•"/>
            </a:pPr>
            <a:r>
              <a:rPr lang="pt-BR" sz="1300"/>
              <a:t>Disponível para o </a:t>
            </a:r>
            <a:r>
              <a:rPr lang="pt-BR" sz="1300" b="1"/>
              <a:t>Público em Geral</a:t>
            </a:r>
            <a:r>
              <a:rPr lang="pt-BR" sz="1300"/>
              <a:t> através de um modelo de pagamento por uso ou gratuitamente.</a:t>
            </a:r>
            <a:endParaRPr lang="pt-BR" sz="1300"/>
          </a:p>
          <a:p>
            <a:pPr lvl="1" algn="just" rtl="0">
              <a:buFont typeface="Arial" panose="020B0604020202020204" pitchFamily="34" charset="0"/>
              <a:buChar char="•"/>
            </a:pPr>
            <a:r>
              <a:rPr lang="pt-BR" sz="1400" b="1">
                <a:solidFill>
                  <a:srgbClr val="FF0000"/>
                </a:solidFill>
              </a:rPr>
              <a:t>Nuvens Particulares/Privadas.</a:t>
            </a:r>
            <a:endParaRPr lang="pt-BR" sz="1400" b="1">
              <a:solidFill>
                <a:srgbClr val="FF0000"/>
              </a:solidFill>
            </a:endParaRPr>
          </a:p>
          <a:p>
            <a:pPr lvl="2" algn="just" rtl="0">
              <a:buFont typeface="Arial" panose="020B0604020202020204" pitchFamily="34" charset="0"/>
              <a:buChar char="•"/>
            </a:pPr>
            <a:r>
              <a:rPr lang="pt-BR" sz="1300"/>
              <a:t>Destinado a uma </a:t>
            </a:r>
            <a:r>
              <a:rPr lang="pt-BR" sz="1300" b="1"/>
              <a:t>Organização ou Entidade Específica</a:t>
            </a:r>
            <a:r>
              <a:rPr lang="pt-BR" sz="1300"/>
              <a:t>, como o governo.</a:t>
            </a:r>
            <a:endParaRPr lang="pt-BR" sz="1300"/>
          </a:p>
          <a:p>
            <a:pPr lvl="1" algn="just" rtl="0">
              <a:buFont typeface="Arial" panose="020B0604020202020204" pitchFamily="34" charset="0"/>
              <a:buChar char="•"/>
            </a:pPr>
            <a:r>
              <a:rPr lang="pt-BR" sz="1400" b="1">
                <a:solidFill>
                  <a:srgbClr val="FF0000"/>
                </a:solidFill>
              </a:rPr>
              <a:t>Nuvens Híbridas.</a:t>
            </a:r>
            <a:endParaRPr lang="pt-BR" sz="1400" b="1">
              <a:solidFill>
                <a:srgbClr val="FF0000"/>
              </a:solidFill>
            </a:endParaRPr>
          </a:p>
          <a:p>
            <a:pPr lvl="2" algn="just" rtl="0">
              <a:buFont typeface="Arial" panose="020B0604020202020204" pitchFamily="34" charset="0"/>
              <a:buChar char="•"/>
            </a:pPr>
            <a:r>
              <a:rPr lang="pt-BR" sz="1300"/>
              <a:t>Com dois ou mais tipos de nuvem – por exemplo, </a:t>
            </a:r>
            <a:r>
              <a:rPr lang="pt-BR" sz="1300" b="1"/>
              <a:t>Parte Personalizada e Parte Pública</a:t>
            </a:r>
            <a:r>
              <a:rPr lang="pt-BR" sz="1300"/>
              <a:t>. </a:t>
            </a:r>
            <a:endParaRPr lang="pt-BR" sz="1300"/>
          </a:p>
          <a:p>
            <a:pPr lvl="1" algn="just" rtl="0">
              <a:buFont typeface="Arial" panose="020B0604020202020204" pitchFamily="34" charset="0"/>
              <a:buChar char="•"/>
            </a:pPr>
            <a:r>
              <a:rPr lang="pt-BR" sz="1400" b="1">
                <a:solidFill>
                  <a:srgbClr val="FF0000"/>
                </a:solidFill>
              </a:rPr>
              <a:t>Nuvens Personalizadas/Comunitárias.</a:t>
            </a:r>
            <a:endParaRPr lang="pt-BR" sz="1400" b="1">
              <a:solidFill>
                <a:srgbClr val="FF0000"/>
              </a:solidFill>
            </a:endParaRPr>
          </a:p>
          <a:p>
            <a:pPr lvl="2" algn="just" rtl="0">
              <a:buFont typeface="Arial" panose="020B0604020202020204" pitchFamily="34" charset="0"/>
              <a:buChar char="•"/>
            </a:pPr>
            <a:r>
              <a:rPr lang="pt-BR" sz="1300"/>
              <a:t>Criado para atender às </a:t>
            </a:r>
            <a:r>
              <a:rPr lang="pt-BR" sz="1300" b="1"/>
              <a:t>Necessidades de um Setor Específico</a:t>
            </a:r>
            <a:r>
              <a:rPr lang="pt-BR" sz="1300"/>
              <a:t>, como assistência médica ou mídia. </a:t>
            </a:r>
            <a:endParaRPr lang="en-CA" altLang="en-US" sz="1400" dirty="0"/>
          </a:p>
          <a:p>
            <a:pPr lvl="1" algn="just"/>
            <a:endParaRPr lang="en-CA" altLang="en-US" sz="1400" dirty="0"/>
          </a:p>
          <a:p>
            <a:pPr lvl="1" algn="just"/>
            <a:endParaRPr lang="en-CA" altLang="en-US" sz="1400" dirty="0"/>
          </a:p>
        </p:txBody>
      </p:sp>
      <p:sp>
        <p:nvSpPr>
          <p:cNvPr id="3" name="Title 1"/>
          <p:cNvSpPr>
            <a:spLocks noGrp="1"/>
          </p:cNvSpPr>
          <p:nvPr>
            <p:ph type="title"/>
          </p:nvPr>
        </p:nvSpPr>
        <p:spPr>
          <a:xfrm>
            <a:off x="0" y="41275"/>
            <a:ext cx="9143365" cy="793750"/>
          </a:xfrm>
        </p:spPr>
        <p:txBody>
          <a:bodyPr/>
          <a:p>
            <a:pPr rtl="0"/>
            <a:r>
              <a:rPr lang="pt-BR" sz="1600"/>
              <a:t>Tendências de rede</a:t>
            </a:r>
            <a:br>
              <a:rPr lang="en-US" altLang="en-US" dirty="0"/>
            </a:br>
            <a:r>
              <a:rPr lang="pt-BR"/>
              <a:t>Computação em Nuvem (Cloud Computer - Continuação)</a:t>
            </a:r>
            <a:endParaRPr lang="pt-BR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1"/>
          <a:srcRect l="5675" t="11811" r="4700" b="13600"/>
          <a:stretch>
            <a:fillRect/>
          </a:stretch>
        </p:blipFill>
        <p:spPr>
          <a:xfrm>
            <a:off x="4403090" y="1407160"/>
            <a:ext cx="4740910" cy="2959100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>
          <a:xfrm>
            <a:off x="0" y="41275"/>
            <a:ext cx="9083675" cy="757555"/>
          </a:xfrm>
        </p:spPr>
        <p:txBody>
          <a:bodyPr/>
          <a:lstStyle/>
          <a:p>
            <a:pPr rtl="0"/>
            <a:r>
              <a:rPr lang="pt-BR" sz="1600"/>
              <a:t>Tendências de rede</a:t>
            </a:r>
            <a:br>
              <a:rPr lang="en-US" altLang="en-US" dirty="0"/>
            </a:br>
            <a:r>
              <a:rPr lang="pt-BR"/>
              <a:t>Tendências Tecnológicas em Casa</a:t>
            </a:r>
            <a:endParaRPr lang="pt-BR"/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>
          <a:xfrm>
            <a:off x="4986655" y="245745"/>
            <a:ext cx="4025900" cy="4391025"/>
          </a:xfrm>
        </p:spPr>
        <p:txBody>
          <a:bodyPr/>
          <a:lstStyle/>
          <a:p>
            <a:pPr marL="240030" lvl="1" indent="-208280" algn="just" rtl="0">
              <a:buFont typeface="Arial" panose="020B0604020202020204" pitchFamily="34" charset="0"/>
              <a:buChar char="•"/>
            </a:pPr>
            <a:r>
              <a:rPr lang="pt-BR" sz="1700"/>
              <a:t>A </a:t>
            </a:r>
            <a:r>
              <a:rPr lang="pt-BR" sz="1700" b="1">
                <a:solidFill>
                  <a:srgbClr val="FF0000"/>
                </a:solidFill>
              </a:rPr>
              <a:t>Tecnologia Residencial Inteligente</a:t>
            </a:r>
            <a:r>
              <a:rPr lang="pt-BR" sz="1700"/>
              <a:t> é uma tendência crescente que permite a </a:t>
            </a:r>
            <a:r>
              <a:rPr lang="pt-BR" sz="1700" b="1">
                <a:solidFill>
                  <a:srgbClr val="0070C0"/>
                </a:solidFill>
              </a:rPr>
              <a:t>Integração dela em Dispositivos de Uso Diário</a:t>
            </a:r>
            <a:r>
              <a:rPr lang="pt-BR" sz="1700"/>
              <a:t> e, assim, a interconexão com outros dispositivos.</a:t>
            </a:r>
            <a:endParaRPr lang="pt-BR" sz="1700"/>
          </a:p>
          <a:p>
            <a:pPr marL="240030" lvl="1" indent="-208280" algn="just" rtl="0">
              <a:buFont typeface="Arial" panose="020B0604020202020204" pitchFamily="34" charset="0"/>
              <a:buChar char="•"/>
            </a:pPr>
            <a:r>
              <a:rPr lang="pt-BR" sz="1700"/>
              <a:t>Os </a:t>
            </a:r>
            <a:r>
              <a:rPr lang="pt-BR" sz="1700" b="1"/>
              <a:t>Fornos</a:t>
            </a:r>
            <a:r>
              <a:rPr lang="pt-BR" sz="1700"/>
              <a:t> podem saber a que horas deve ser preparada uma refeição para você ao </a:t>
            </a:r>
            <a:r>
              <a:rPr lang="pt-BR" sz="1700" b="1">
                <a:solidFill>
                  <a:srgbClr val="0070C0"/>
                </a:solidFill>
              </a:rPr>
              <a:t>Comunicarem-se com a sua Agenda</a:t>
            </a:r>
            <a:r>
              <a:rPr lang="pt-BR" sz="1700"/>
              <a:t> sobre a hora agendada para você voltar para casa.</a:t>
            </a:r>
            <a:endParaRPr lang="pt-BR" sz="1700"/>
          </a:p>
          <a:p>
            <a:pPr marL="240030" lvl="1" indent="-208280" algn="just" rtl="0">
              <a:buFont typeface="Arial" panose="020B0604020202020204" pitchFamily="34" charset="0"/>
              <a:buChar char="•"/>
            </a:pPr>
            <a:r>
              <a:rPr lang="pt-BR" sz="1700"/>
              <a:t>Atualmente, a tecnologia de </a:t>
            </a:r>
            <a:r>
              <a:rPr lang="pt-BR" sz="1700" b="1">
                <a:solidFill>
                  <a:srgbClr val="FF0000"/>
                </a:solidFill>
              </a:rPr>
              <a:t>Casa Inteligente</a:t>
            </a:r>
            <a:r>
              <a:rPr lang="pt-BR" sz="1700"/>
              <a:t> está sendo desenvolvida para </a:t>
            </a:r>
            <a:r>
              <a:rPr lang="pt-BR" sz="1700" b="1"/>
              <a:t>Todos os Cômodos de uma Casa.</a:t>
            </a:r>
            <a:endParaRPr lang="pt-BR" sz="1700" b="1"/>
          </a:p>
          <a:p>
            <a:pPr lvl="1" algn="just"/>
            <a:endParaRPr lang="en-CA" altLang="en-US" sz="1700" dirty="0"/>
          </a:p>
          <a:p>
            <a:pPr lvl="1" algn="just"/>
            <a:endParaRPr lang="en-CA" altLang="en-US" sz="17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549" y="824345"/>
            <a:ext cx="4796178" cy="3852094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>
          <a:xfrm>
            <a:off x="0" y="41275"/>
            <a:ext cx="9143365" cy="757555"/>
          </a:xfrm>
        </p:spPr>
        <p:txBody>
          <a:bodyPr/>
          <a:lstStyle/>
          <a:p>
            <a:pPr rtl="0"/>
            <a:r>
              <a:rPr lang="pt-BR" sz="1600"/>
              <a:t>Tendências de rede</a:t>
            </a:r>
            <a:br>
              <a:rPr lang="en-US" altLang="en-US" dirty="0"/>
            </a:br>
            <a:r>
              <a:rPr lang="pt-BR"/>
              <a:t>Rede Powerline (Cai em Desuso)</a:t>
            </a:r>
            <a:endParaRPr lang="pt-BR"/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>
          <a:xfrm>
            <a:off x="5297805" y="283210"/>
            <a:ext cx="3662680" cy="4409440"/>
          </a:xfrm>
        </p:spPr>
        <p:txBody>
          <a:bodyPr/>
          <a:lstStyle/>
          <a:p>
            <a:pPr lvl="1" algn="just" rtl="0"/>
            <a:r>
              <a:rPr lang="pt-BR" sz="1600"/>
              <a:t>A </a:t>
            </a:r>
            <a:r>
              <a:rPr lang="pt-BR" sz="1600" b="1">
                <a:solidFill>
                  <a:srgbClr val="FF0000"/>
                </a:solidFill>
              </a:rPr>
              <a:t>Rede Powerline</a:t>
            </a:r>
            <a:r>
              <a:rPr lang="pt-BR" sz="1600"/>
              <a:t> pode permitir que os </a:t>
            </a:r>
            <a:r>
              <a:rPr lang="pt-BR" sz="1600" b="1">
                <a:solidFill>
                  <a:srgbClr val="0070C0"/>
                </a:solidFill>
              </a:rPr>
              <a:t>Dispositivos se Conectem a uma LAN</a:t>
            </a:r>
            <a:r>
              <a:rPr lang="pt-BR" sz="1600"/>
              <a:t>, onde os cabos de rede de dados ou comunicações sem fio não são uma opção viável.</a:t>
            </a:r>
            <a:endParaRPr lang="pt-BR" sz="1600"/>
          </a:p>
          <a:p>
            <a:pPr lvl="1" algn="just" rtl="0"/>
            <a:r>
              <a:rPr lang="pt-BR" sz="1600"/>
              <a:t>Usando um </a:t>
            </a:r>
            <a:r>
              <a:rPr lang="pt-BR" sz="1600" b="1"/>
              <a:t>Adaptador padrão Powerline</a:t>
            </a:r>
            <a:r>
              <a:rPr lang="pt-BR" sz="1600"/>
              <a:t>, os dispositivos podem se conectar à LAN onde quer que haja uma </a:t>
            </a:r>
            <a:r>
              <a:rPr lang="pt-BR" sz="1600" b="1">
                <a:solidFill>
                  <a:srgbClr val="FF0000"/>
                </a:solidFill>
              </a:rPr>
              <a:t>Tomada Elétrica</a:t>
            </a:r>
            <a:r>
              <a:rPr lang="pt-BR" sz="1600"/>
              <a:t> ao enviar dados em determinadas frequências.</a:t>
            </a:r>
            <a:endParaRPr lang="pt-BR" sz="1600"/>
          </a:p>
          <a:p>
            <a:pPr lvl="1" algn="just" rtl="0"/>
            <a:r>
              <a:rPr lang="pt-BR" sz="1600"/>
              <a:t>A </a:t>
            </a:r>
            <a:r>
              <a:rPr lang="pt-BR" sz="1600" b="1"/>
              <a:t>Rede Powerline</a:t>
            </a:r>
            <a:r>
              <a:rPr lang="pt-BR" sz="1600"/>
              <a:t> é especialmente útil quando os pontos de acesso sem fio não </a:t>
            </a:r>
            <a:r>
              <a:rPr lang="pt-BR" sz="1600" b="1">
                <a:solidFill>
                  <a:srgbClr val="0070C0"/>
                </a:solidFill>
              </a:rPr>
              <a:t>Conseguem Alcançar todos os Dispositivos em Casa.</a:t>
            </a:r>
            <a:endParaRPr lang="pt-BR" sz="1600" b="1">
              <a:solidFill>
                <a:srgbClr val="0070C0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549" y="1129144"/>
            <a:ext cx="5354463" cy="2844772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>
          <a:xfrm>
            <a:off x="635" y="41275"/>
            <a:ext cx="9142730" cy="757555"/>
          </a:xfrm>
        </p:spPr>
        <p:txBody>
          <a:bodyPr/>
          <a:lstStyle/>
          <a:p>
            <a:pPr rtl="0"/>
            <a:r>
              <a:rPr lang="pt-BR" sz="1600"/>
              <a:t>Tendências de rede</a:t>
            </a:r>
            <a:br>
              <a:rPr lang="en-US" altLang="en-US" dirty="0"/>
            </a:br>
            <a:r>
              <a:rPr lang="pt-BR"/>
              <a:t>Banda Larga Sem Fio</a:t>
            </a:r>
            <a:endParaRPr lang="pt-BR"/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>
          <a:xfrm>
            <a:off x="5038725" y="360680"/>
            <a:ext cx="3862070" cy="4305935"/>
          </a:xfrm>
        </p:spPr>
        <p:txBody>
          <a:bodyPr/>
          <a:lstStyle/>
          <a:p>
            <a:pPr marL="142875" lvl="1" indent="0" algn="just" rtl="0">
              <a:buNone/>
            </a:pPr>
            <a:r>
              <a:rPr lang="pt-BR" sz="1450"/>
              <a:t>Além do </a:t>
            </a:r>
            <a:r>
              <a:rPr lang="pt-BR" sz="1450" b="1"/>
              <a:t>DSL </a:t>
            </a:r>
            <a:r>
              <a:rPr lang="pt-BR" sz="1450"/>
              <a:t>e do cabo, a </a:t>
            </a:r>
            <a:r>
              <a:rPr lang="pt-BR" sz="1450" b="1">
                <a:solidFill>
                  <a:srgbClr val="FF0000"/>
                </a:solidFill>
              </a:rPr>
              <a:t>Conexão Sem Fio</a:t>
            </a:r>
            <a:r>
              <a:rPr lang="pt-BR" sz="1450"/>
              <a:t> é outra opção usada para conectar residências e pequenas empresas à Internet. </a:t>
            </a:r>
            <a:endParaRPr lang="pt-BR" sz="1450"/>
          </a:p>
          <a:p>
            <a:pPr lvl="2" algn="just" rtl="0">
              <a:buFont typeface="Arial" panose="020B0604020202020204" pitchFamily="34" charset="0"/>
              <a:buChar char="•"/>
            </a:pPr>
            <a:r>
              <a:rPr lang="pt-BR" sz="1450"/>
              <a:t>Mais comumente encontrado em </a:t>
            </a:r>
            <a:r>
              <a:rPr lang="pt-BR" sz="1450" b="1">
                <a:solidFill>
                  <a:srgbClr val="FF0000"/>
                </a:solidFill>
              </a:rPr>
              <a:t>Ambientes Rurais</a:t>
            </a:r>
            <a:r>
              <a:rPr lang="pt-BR" sz="1450"/>
              <a:t>, um </a:t>
            </a:r>
            <a:r>
              <a:rPr lang="pt-BR" sz="1450" b="1"/>
              <a:t>ISP </a:t>
            </a:r>
            <a:r>
              <a:rPr lang="pt-BR" sz="1450"/>
              <a:t>sem fio (WISP) é um ISP que conecta os assinantes a designados access points ou hotspots. </a:t>
            </a:r>
            <a:endParaRPr lang="pt-BR" sz="1450"/>
          </a:p>
          <a:p>
            <a:pPr lvl="2" algn="just" rtl="0">
              <a:buFont typeface="Arial" panose="020B0604020202020204" pitchFamily="34" charset="0"/>
              <a:buChar char="•"/>
            </a:pPr>
            <a:r>
              <a:rPr lang="pt-BR" sz="1450"/>
              <a:t>A </a:t>
            </a:r>
            <a:r>
              <a:rPr lang="pt-BR" sz="1450" b="1">
                <a:solidFill>
                  <a:srgbClr val="FF0000"/>
                </a:solidFill>
              </a:rPr>
              <a:t>Banda Larga Sem Fio</a:t>
            </a:r>
            <a:r>
              <a:rPr lang="pt-BR" sz="1450"/>
              <a:t> é outra solução para residências e pequenas empresas.</a:t>
            </a:r>
            <a:endParaRPr lang="pt-BR" sz="1450"/>
          </a:p>
          <a:p>
            <a:pPr lvl="3" algn="just" rtl="0">
              <a:buFont typeface="Arial" panose="020B0604020202020204" pitchFamily="34" charset="0"/>
              <a:buChar char="•"/>
            </a:pPr>
            <a:r>
              <a:rPr lang="pt-BR" sz="1450"/>
              <a:t>Usa a </a:t>
            </a:r>
            <a:r>
              <a:rPr lang="pt-BR" sz="1450" b="1">
                <a:solidFill>
                  <a:srgbClr val="FF0000"/>
                </a:solidFill>
              </a:rPr>
              <a:t>Mesma Tecnologia de Celular de um Smartphone</a:t>
            </a:r>
            <a:r>
              <a:rPr lang="pt-BR" sz="1450"/>
              <a:t>.</a:t>
            </a:r>
            <a:endParaRPr lang="pt-BR" sz="1450"/>
          </a:p>
          <a:p>
            <a:pPr lvl="3" algn="just" rtl="0">
              <a:buFont typeface="Arial" panose="020B0604020202020204" pitchFamily="34" charset="0"/>
              <a:buChar char="•"/>
            </a:pPr>
            <a:r>
              <a:rPr lang="pt-BR" sz="1450"/>
              <a:t>Uma antena é instalada fora da residência, </a:t>
            </a:r>
            <a:r>
              <a:rPr lang="pt-BR" sz="1450" b="1">
                <a:solidFill>
                  <a:srgbClr val="0070C0"/>
                </a:solidFill>
              </a:rPr>
              <a:t>Fornecendo Conectividade com ou Sem Fio</a:t>
            </a:r>
            <a:r>
              <a:rPr lang="pt-BR" sz="1450"/>
              <a:t> para dispositivos na casa.</a:t>
            </a:r>
            <a:endParaRPr lang="pt-BR" sz="145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0660" y="906780"/>
            <a:ext cx="4995545" cy="3736975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6425" y="915409"/>
            <a:ext cx="8231464" cy="1802391"/>
          </a:xfrm>
        </p:spPr>
        <p:txBody>
          <a:bodyPr/>
          <a:lstStyle/>
          <a:p>
            <a:pPr rtl="0"/>
            <a:r>
              <a:rPr lang="pt-BR">
                <a:solidFill>
                  <a:schemeClr val="accent5">
                    <a:lumMod val="40000"/>
                    <a:lumOff val="60000"/>
                  </a:schemeClr>
                </a:solidFill>
              </a:rPr>
              <a:t>1.8 - Segurança de Rede</a:t>
            </a:r>
            <a:endParaRPr lang="pt-BR">
              <a:solidFill>
                <a:schemeClr val="accent5">
                  <a:lumMod val="40000"/>
                  <a:lumOff val="60000"/>
                </a:schemeClr>
              </a:solidFill>
            </a:endParaRPr>
          </a:p>
        </p:txBody>
      </p:sp>
    </p:spTree>
    <p:custDataLst>
      <p:tags r:id="rId1"/>
    </p:custDataLst>
  </p:cSld>
  <p:clrMapOvr>
    <a:masterClrMapping/>
  </p:clrMapOvr>
  <p:transition spd="slow">
    <p:wipe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>
          <a:xfrm>
            <a:off x="635" y="41275"/>
            <a:ext cx="9142730" cy="757555"/>
          </a:xfrm>
        </p:spPr>
        <p:txBody>
          <a:bodyPr/>
          <a:lstStyle/>
          <a:p>
            <a:pPr rtl="0"/>
            <a:r>
              <a:rPr lang="pt-BR" sz="1600"/>
              <a:t>Segurança de rede</a:t>
            </a:r>
            <a:br>
              <a:rPr lang="en-US" altLang="en-US" dirty="0"/>
            </a:br>
            <a:r>
              <a:rPr lang="pt-BR"/>
              <a:t>Ameaças à Segurança</a:t>
            </a:r>
            <a:endParaRPr lang="pt-BR"/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>
          <a:xfrm>
            <a:off x="4942205" y="450850"/>
            <a:ext cx="4018280" cy="3811270"/>
          </a:xfrm>
        </p:spPr>
        <p:txBody>
          <a:bodyPr/>
          <a:lstStyle/>
          <a:p>
            <a:pPr lvl="1" algn="just" rtl="0"/>
            <a:r>
              <a:rPr lang="pt-BR" sz="1600"/>
              <a:t>A </a:t>
            </a:r>
            <a:r>
              <a:rPr lang="pt-BR" sz="1600" b="1">
                <a:solidFill>
                  <a:srgbClr val="FF0000"/>
                </a:solidFill>
              </a:rPr>
              <a:t>Segurança de Rede</a:t>
            </a:r>
            <a:r>
              <a:rPr lang="pt-BR" sz="1600"/>
              <a:t> é parte integrante da rede, independentemente do tamanho dela.</a:t>
            </a:r>
            <a:endParaRPr lang="pt-BR" sz="1600"/>
          </a:p>
          <a:p>
            <a:pPr lvl="1" algn="just" rtl="0"/>
            <a:r>
              <a:rPr lang="pt-BR" sz="1600"/>
              <a:t>A </a:t>
            </a:r>
            <a:r>
              <a:rPr lang="pt-BR" sz="1600" b="1">
                <a:solidFill>
                  <a:srgbClr val="FF0000"/>
                </a:solidFill>
              </a:rPr>
              <a:t>Segurança da Rede Implementada </a:t>
            </a:r>
            <a:r>
              <a:rPr lang="pt-BR" sz="1600"/>
              <a:t>deve levar em consideração o </a:t>
            </a:r>
            <a:r>
              <a:rPr lang="pt-BR" sz="1600" b="1">
                <a:solidFill>
                  <a:srgbClr val="0070C0"/>
                </a:solidFill>
              </a:rPr>
              <a:t>Ambiente ao Proteger os Dados</a:t>
            </a:r>
            <a:r>
              <a:rPr lang="pt-BR" sz="1600"/>
              <a:t>, mas ainda permitir a qualidade de serviço esperada da rede.</a:t>
            </a:r>
            <a:endParaRPr lang="pt-BR" sz="1600"/>
          </a:p>
          <a:p>
            <a:pPr lvl="1" algn="just" rtl="0"/>
            <a:r>
              <a:rPr lang="pt-BR" sz="1600"/>
              <a:t>Proteger uma rede </a:t>
            </a:r>
            <a:r>
              <a:rPr lang="pt-BR" sz="1600" b="1">
                <a:solidFill>
                  <a:srgbClr val="FF0000"/>
                </a:solidFill>
              </a:rPr>
              <a:t>Envolve Muitos Protocolos, Tecnologias, Dispositivos, Ferramentas e Técnicas</a:t>
            </a:r>
            <a:r>
              <a:rPr lang="pt-BR" sz="1600"/>
              <a:t> para proteger dados e reduzir ameaças.</a:t>
            </a:r>
            <a:endParaRPr lang="pt-BR" sz="1600"/>
          </a:p>
          <a:p>
            <a:pPr lvl="1" algn="just" rtl="0"/>
            <a:r>
              <a:rPr lang="pt-BR" sz="1600"/>
              <a:t>Vetores de ameaça podem ser </a:t>
            </a:r>
            <a:r>
              <a:rPr lang="pt-BR" sz="1600" b="1">
                <a:solidFill>
                  <a:srgbClr val="FF0000"/>
                </a:solidFill>
              </a:rPr>
              <a:t>Internos ou Externos</a:t>
            </a:r>
            <a:r>
              <a:rPr lang="pt-BR" sz="1600"/>
              <a:t>.</a:t>
            </a:r>
            <a:endParaRPr lang="pt-BR" sz="1600"/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 l="47569" t="34568" r="14792" b="28765"/>
          <a:stretch>
            <a:fillRect/>
          </a:stretch>
        </p:blipFill>
        <p:spPr>
          <a:xfrm>
            <a:off x="87630" y="1357630"/>
            <a:ext cx="5031105" cy="2757805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>
          <a:xfrm>
            <a:off x="635" y="41275"/>
            <a:ext cx="9143365" cy="757555"/>
          </a:xfrm>
        </p:spPr>
        <p:txBody>
          <a:bodyPr/>
          <a:lstStyle/>
          <a:p>
            <a:pPr rtl="0"/>
            <a:r>
              <a:rPr lang="pt-BR" sz="1600"/>
              <a:t>Segurança de rede</a:t>
            </a:r>
            <a:br>
              <a:rPr lang="en-US" altLang="en-US" dirty="0"/>
            </a:br>
            <a:r>
              <a:rPr lang="pt-BR"/>
              <a:t>Ameaças à Segurança (Continuação)</a:t>
            </a:r>
            <a:endParaRPr lang="pt-BR"/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>
          <a:xfrm>
            <a:off x="5013960" y="723265"/>
            <a:ext cx="4043045" cy="4102100"/>
          </a:xfrm>
        </p:spPr>
        <p:txBody>
          <a:bodyPr/>
          <a:lstStyle/>
          <a:p>
            <a:pPr marL="142875" lvl="1" indent="0" algn="just" rtl="0">
              <a:buNone/>
            </a:pPr>
            <a:r>
              <a:rPr lang="pt-BR" sz="1500" b="1">
                <a:solidFill>
                  <a:srgbClr val="FF0000"/>
                </a:solidFill>
              </a:rPr>
              <a:t>Ameaças Externas:</a:t>
            </a:r>
            <a:endParaRPr lang="pt-BR" sz="1500" b="1">
              <a:solidFill>
                <a:srgbClr val="FF0000"/>
              </a:solidFill>
            </a:endParaRPr>
          </a:p>
          <a:p>
            <a:pPr lvl="2" algn="just" rtl="0"/>
            <a:r>
              <a:rPr lang="pt-BR" sz="1500" b="1"/>
              <a:t>Vírus, Worms e Cavalos de Troia;</a:t>
            </a:r>
            <a:endParaRPr lang="pt-BR" sz="1500" b="1"/>
          </a:p>
          <a:p>
            <a:pPr lvl="2" algn="just" rtl="0"/>
            <a:r>
              <a:rPr lang="pt-BR" sz="1500" b="1"/>
              <a:t>Spyware e Adware;</a:t>
            </a:r>
            <a:endParaRPr lang="pt-BR" sz="1500" b="1"/>
          </a:p>
          <a:p>
            <a:pPr lvl="2" algn="just" rtl="0"/>
            <a:r>
              <a:rPr lang="pt-BR" sz="1500" b="1"/>
              <a:t>Ataques de Dia Zero;</a:t>
            </a:r>
            <a:endParaRPr lang="pt-BR" sz="1500" b="1"/>
          </a:p>
          <a:p>
            <a:pPr lvl="2" algn="just" rtl="0"/>
            <a:r>
              <a:rPr lang="pt-BR" sz="1500" b="1"/>
              <a:t>Ataques de Ator Ameaça;</a:t>
            </a:r>
            <a:endParaRPr lang="pt-BR" sz="1500" b="1"/>
          </a:p>
          <a:p>
            <a:pPr lvl="2" algn="just" rtl="0"/>
            <a:r>
              <a:rPr lang="pt-BR" sz="1500" b="1"/>
              <a:t>Ataques de Negação de Serviço;</a:t>
            </a:r>
            <a:endParaRPr lang="pt-BR" sz="1500" b="1"/>
          </a:p>
          <a:p>
            <a:pPr lvl="2" algn="just" rtl="0"/>
            <a:r>
              <a:rPr lang="pt-BR" sz="1500" b="1"/>
              <a:t>Interceptação e Roubo de Dados;</a:t>
            </a:r>
            <a:endParaRPr lang="pt-BR" sz="1500" b="1"/>
          </a:p>
          <a:p>
            <a:pPr lvl="2" algn="just" rtl="0"/>
            <a:r>
              <a:rPr lang="pt-BR" sz="1500" b="1"/>
              <a:t>Roubo de Identidade.</a:t>
            </a:r>
            <a:endParaRPr lang="en-CA" altLang="en-US" sz="1500" b="1" dirty="0"/>
          </a:p>
          <a:p>
            <a:pPr marL="142875" lvl="1" indent="0" algn="just" rtl="0">
              <a:buNone/>
            </a:pPr>
            <a:r>
              <a:rPr lang="pt-BR" sz="1500" b="1">
                <a:solidFill>
                  <a:srgbClr val="FF0000"/>
                </a:solidFill>
              </a:rPr>
              <a:t>Ameaças Internas:</a:t>
            </a:r>
            <a:endParaRPr lang="pt-BR" sz="1500" b="1">
              <a:solidFill>
                <a:srgbClr val="FF0000"/>
              </a:solidFill>
            </a:endParaRPr>
          </a:p>
          <a:p>
            <a:pPr lvl="2" algn="just" rtl="0"/>
            <a:r>
              <a:rPr lang="pt-BR" sz="1500" b="1"/>
              <a:t>Dispositivos Perdidos ou Roubados;</a:t>
            </a:r>
            <a:endParaRPr lang="pt-BR" sz="1500" b="1"/>
          </a:p>
          <a:p>
            <a:pPr lvl="2" algn="just" rtl="0"/>
            <a:r>
              <a:rPr lang="pt-BR" sz="1500" b="1"/>
              <a:t>Uso Indevido Acidental por Funcionários;</a:t>
            </a:r>
            <a:endParaRPr lang="pt-BR" sz="1500" b="1"/>
          </a:p>
          <a:p>
            <a:pPr lvl="2" algn="just" rtl="0"/>
            <a:r>
              <a:rPr lang="pt-BR" sz="1500" b="1"/>
              <a:t>Funcionários Maliciosos.</a:t>
            </a:r>
            <a:endParaRPr lang="pt-BR" sz="1500" b="1"/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 l="47569" t="34568" r="14792" b="28765"/>
          <a:stretch>
            <a:fillRect/>
          </a:stretch>
        </p:blipFill>
        <p:spPr>
          <a:xfrm>
            <a:off x="87630" y="1357630"/>
            <a:ext cx="5031105" cy="2757805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>
          <a:xfrm>
            <a:off x="635" y="41275"/>
            <a:ext cx="9142730" cy="757555"/>
          </a:xfrm>
        </p:spPr>
        <p:txBody>
          <a:bodyPr/>
          <a:lstStyle/>
          <a:p>
            <a:pPr rtl="0"/>
            <a:r>
              <a:rPr lang="pt-BR" sz="1600"/>
              <a:t>Segurança de rede</a:t>
            </a:r>
            <a:br>
              <a:rPr lang="en-US" altLang="en-US" dirty="0"/>
            </a:br>
            <a:r>
              <a:rPr lang="pt-BR"/>
              <a:t>Soluções de Segurança</a:t>
            </a:r>
            <a:endParaRPr lang="pt-BR"/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>
          <a:xfrm>
            <a:off x="4348480" y="831850"/>
            <a:ext cx="4633595" cy="3825875"/>
          </a:xfrm>
        </p:spPr>
        <p:txBody>
          <a:bodyPr/>
          <a:lstStyle/>
          <a:p>
            <a:pPr marL="0" indent="0" algn="just" rtl="0">
              <a:buNone/>
            </a:pPr>
            <a:r>
              <a:rPr lang="pt-BR" sz="2000"/>
              <a:t>A </a:t>
            </a:r>
            <a:r>
              <a:rPr lang="pt-BR" sz="2000" b="1"/>
              <a:t>Segurança </a:t>
            </a:r>
            <a:r>
              <a:rPr lang="pt-BR" sz="2000"/>
              <a:t>deve ser implementada em </a:t>
            </a:r>
            <a:r>
              <a:rPr lang="pt-BR" sz="2000" b="1">
                <a:solidFill>
                  <a:srgbClr val="FF0000"/>
                </a:solidFill>
              </a:rPr>
              <a:t>Várias Camadas</a:t>
            </a:r>
            <a:r>
              <a:rPr lang="pt-BR" sz="2000"/>
              <a:t>, com uso de mais de uma solução.</a:t>
            </a:r>
            <a:endParaRPr lang="pt-BR" sz="2000"/>
          </a:p>
          <a:p>
            <a:pPr marL="0" indent="0" algn="just" rtl="0">
              <a:buNone/>
            </a:pPr>
            <a:r>
              <a:rPr lang="pt-BR" sz="2000"/>
              <a:t>Componentes de segurança da rede doméstica ou da pequena empresa:</a:t>
            </a:r>
            <a:endParaRPr lang="pt-BR" sz="2000"/>
          </a:p>
          <a:p>
            <a:pPr lvl="2" algn="just" rtl="0"/>
            <a:r>
              <a:rPr lang="pt-BR" sz="2000"/>
              <a:t>O </a:t>
            </a:r>
            <a:r>
              <a:rPr lang="pt-BR" sz="2000" b="1">
                <a:solidFill>
                  <a:srgbClr val="FF0000"/>
                </a:solidFill>
              </a:rPr>
              <a:t>Software Antivírus e Antispyware</a:t>
            </a:r>
            <a:r>
              <a:rPr lang="pt-BR" sz="2000"/>
              <a:t> deve ser instalado nos dispositivos finais.</a:t>
            </a:r>
            <a:endParaRPr lang="pt-BR" sz="2000"/>
          </a:p>
          <a:p>
            <a:pPr lvl="2" algn="just" rtl="0"/>
            <a:r>
              <a:rPr lang="pt-BR" sz="2000" b="1">
                <a:solidFill>
                  <a:srgbClr val="FF0000"/>
                </a:solidFill>
              </a:rPr>
              <a:t>Filtragem de firewall</a:t>
            </a:r>
            <a:r>
              <a:rPr lang="pt-BR" sz="2000"/>
              <a:t> usada para bloquear o acesso não autorizado à rede.</a:t>
            </a:r>
            <a:endParaRPr lang="en-CA" altLang="en-US" sz="20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548" y="1058546"/>
            <a:ext cx="4261427" cy="3514682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Content Placeholder 2"/>
          <p:cNvSpPr>
            <a:spLocks noGrp="1"/>
          </p:cNvSpPr>
          <p:nvPr>
            <p:ph idx="1"/>
          </p:nvPr>
        </p:nvSpPr>
        <p:spPr>
          <a:xfrm>
            <a:off x="4271645" y="866775"/>
            <a:ext cx="4784725" cy="3790950"/>
          </a:xfrm>
        </p:spPr>
        <p:txBody>
          <a:bodyPr/>
          <a:lstStyle/>
          <a:p>
            <a:pPr marL="142875" lvl="1" indent="0" algn="just" rtl="0">
              <a:buNone/>
            </a:pPr>
            <a:r>
              <a:rPr lang="pt-BR" sz="1800"/>
              <a:t>As redes maiores têm requisitos de segurança adicionais:</a:t>
            </a:r>
            <a:endParaRPr lang="pt-BR" sz="1800"/>
          </a:p>
          <a:p>
            <a:pPr lvl="2" algn="just" rtl="0"/>
            <a:r>
              <a:rPr lang="pt-BR" sz="1800" b="1">
                <a:solidFill>
                  <a:srgbClr val="FF0000"/>
                </a:solidFill>
              </a:rPr>
              <a:t>Sistema de Firewall Dedicado</a:t>
            </a:r>
            <a:endParaRPr lang="pt-BR" sz="1800" b="1">
              <a:solidFill>
                <a:srgbClr val="FF0000"/>
              </a:solidFill>
            </a:endParaRPr>
          </a:p>
          <a:p>
            <a:pPr lvl="2" algn="just" rtl="0"/>
            <a:r>
              <a:rPr lang="pt-BR" sz="1800" b="1">
                <a:solidFill>
                  <a:srgbClr val="FF0000"/>
                </a:solidFill>
              </a:rPr>
              <a:t>ACLs (Access Control Lists, Listas de Controle de Acesso) </a:t>
            </a:r>
            <a:endParaRPr lang="pt-BR" sz="1800" b="1">
              <a:solidFill>
                <a:srgbClr val="FF0000"/>
              </a:solidFill>
            </a:endParaRPr>
          </a:p>
          <a:p>
            <a:pPr lvl="2" algn="just" rtl="0"/>
            <a:r>
              <a:rPr lang="pt-BR" sz="1800" b="1">
                <a:solidFill>
                  <a:srgbClr val="FF0000"/>
                </a:solidFill>
              </a:rPr>
              <a:t>IPS (Intrusion Prevention Systems, Sistemas de Prevenção de Intrusão)</a:t>
            </a:r>
            <a:endParaRPr lang="pt-BR" sz="1800" b="1">
              <a:solidFill>
                <a:srgbClr val="FF0000"/>
              </a:solidFill>
            </a:endParaRPr>
          </a:p>
          <a:p>
            <a:pPr lvl="2" algn="just" rtl="0"/>
            <a:r>
              <a:rPr lang="pt-BR" sz="1800" b="1">
                <a:solidFill>
                  <a:srgbClr val="FF0000"/>
                </a:solidFill>
              </a:rPr>
              <a:t>Redes Privadas Virtuais (VPN)</a:t>
            </a:r>
            <a:endParaRPr lang="pt-BR" sz="1800" b="1">
              <a:solidFill>
                <a:srgbClr val="FF0000"/>
              </a:solidFill>
            </a:endParaRPr>
          </a:p>
          <a:p>
            <a:pPr marL="142875" lvl="1" indent="0" algn="just" rtl="0">
              <a:buNone/>
            </a:pPr>
            <a:r>
              <a:rPr lang="pt-BR" sz="1800"/>
              <a:t>O estudo da segurança de rede começa com um </a:t>
            </a:r>
            <a:r>
              <a:rPr lang="pt-BR" sz="1800" b="1"/>
              <a:t>Entendimento Claro da Infra-Estrutura</a:t>
            </a:r>
            <a:r>
              <a:rPr lang="pt-BR" sz="1800"/>
              <a:t> de comutação e roteamento subjacente.</a:t>
            </a:r>
            <a:endParaRPr lang="en-CA" altLang="en-US" sz="18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549" y="1095970"/>
            <a:ext cx="4223989" cy="3483804"/>
          </a:xfrm>
          <a:prstGeom prst="rect">
            <a:avLst/>
          </a:prstGeom>
        </p:spPr>
      </p:pic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-635" y="41275"/>
            <a:ext cx="9144635" cy="757555"/>
          </a:xfrm>
        </p:spPr>
        <p:txBody>
          <a:bodyPr/>
          <a:p>
            <a:pPr rtl="0"/>
            <a:r>
              <a:rPr lang="pt-BR" sz="1600"/>
              <a:t>Segurança de rede</a:t>
            </a:r>
            <a:br>
              <a:rPr lang="en-US" altLang="en-US" dirty="0"/>
            </a:br>
            <a:r>
              <a:rPr lang="pt-BR"/>
              <a:t>Soluções de Segurança (Continuação)</a:t>
            </a:r>
            <a:endParaRPr lang="pt-BR"/>
          </a:p>
        </p:txBody>
      </p:sp>
    </p:spTree>
  </p:cSld>
  <p:clrMapOvr>
    <a:masterClrMapping/>
  </p:clrMapOvr>
  <p:transition spd="slow">
    <p:wipe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6425" y="915409"/>
            <a:ext cx="8231464" cy="1802391"/>
          </a:xfrm>
        </p:spPr>
        <p:txBody>
          <a:bodyPr/>
          <a:lstStyle/>
          <a:p>
            <a:pPr rtl="0"/>
            <a:r>
              <a:rPr lang="pt-BR">
                <a:solidFill>
                  <a:schemeClr val="accent5">
                    <a:lumMod val="40000"/>
                    <a:lumOff val="60000"/>
                  </a:schemeClr>
                </a:solidFill>
              </a:rPr>
              <a:t>1.9 - O Profissional de TI</a:t>
            </a:r>
            <a:endParaRPr lang="pt-BR">
              <a:solidFill>
                <a:schemeClr val="accent5">
                  <a:lumMod val="40000"/>
                  <a:lumOff val="60000"/>
                </a:schemeClr>
              </a:solidFill>
            </a:endParaRPr>
          </a:p>
        </p:txBody>
      </p:sp>
    </p:spTree>
    <p:custDataLst>
      <p:tags r:id="rId1"/>
    </p:custDataLst>
  </p:cSld>
  <p:clrMapOvr>
    <a:masterClrMapping/>
  </p:clrMapOvr>
  <p:transition spd="slow">
    <p:wipe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>
          <a:xfrm>
            <a:off x="0" y="41275"/>
            <a:ext cx="9143365" cy="713105"/>
          </a:xfrm>
        </p:spPr>
        <p:txBody>
          <a:bodyPr/>
          <a:lstStyle/>
          <a:p>
            <a:pPr rtl="0"/>
            <a:r>
              <a:rPr lang="pt-BR" sz="1600">
                <a:sym typeface="+mn-ea"/>
              </a:rPr>
              <a:t>O profissional de TI</a:t>
            </a:r>
            <a:br>
              <a:rPr lang="pt-BR" sz="1600"/>
            </a:br>
            <a:r>
              <a:rPr lang="pt-BR"/>
              <a:t>A trilha do CCNA</a:t>
            </a:r>
            <a:endParaRPr lang="pt-BR" sz="1600"/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>
          <a:xfrm>
            <a:off x="5459505" y="366990"/>
            <a:ext cx="3684495" cy="4272700"/>
          </a:xfrm>
        </p:spPr>
        <p:txBody>
          <a:bodyPr/>
          <a:lstStyle/>
          <a:p>
            <a:pPr marL="142875" lvl="1" indent="0" algn="just" rtl="0">
              <a:buNone/>
            </a:pPr>
            <a:r>
              <a:rPr lang="pt-BR"/>
              <a:t>A certificação </a:t>
            </a:r>
            <a:r>
              <a:rPr lang="pt-BR" b="1">
                <a:solidFill>
                  <a:srgbClr val="FF0000"/>
                </a:solidFill>
              </a:rPr>
              <a:t>Cisco Certified Network Associate (CCNA)</a:t>
            </a:r>
            <a:r>
              <a:rPr lang="pt-BR"/>
              <a:t>: </a:t>
            </a:r>
            <a:endParaRPr lang="pt-BR"/>
          </a:p>
          <a:p>
            <a:pPr lvl="2" algn="just" rtl="0">
              <a:buFont typeface="Arial" panose="020B0604020202020204" pitchFamily="34" charset="0"/>
              <a:buChar char="•"/>
            </a:pPr>
            <a:r>
              <a:rPr lang="pt-BR"/>
              <a:t>Demonstra que você tem um conhecimento de tecnologias fundamentais </a:t>
            </a:r>
            <a:endParaRPr lang="pt-BR"/>
          </a:p>
          <a:p>
            <a:pPr lvl="2" algn="just" rtl="0">
              <a:buFont typeface="Arial" panose="020B0604020202020204" pitchFamily="34" charset="0"/>
              <a:buChar char="•"/>
            </a:pPr>
            <a:r>
              <a:rPr lang="pt-BR"/>
              <a:t>Garante que você permaneça relevante com as habilidades necessárias para a adoção de tecnologias de próxima geração.</a:t>
            </a:r>
            <a:endParaRPr lang="pt-BR"/>
          </a:p>
          <a:p>
            <a:pPr marL="142875" lvl="1" indent="0" algn="just" rtl="0">
              <a:buNone/>
            </a:pPr>
            <a:r>
              <a:rPr lang="pt-BR"/>
              <a:t>O novo foco da </a:t>
            </a:r>
            <a:r>
              <a:rPr lang="pt-BR" b="1"/>
              <a:t>CCNA</a:t>
            </a:r>
            <a:r>
              <a:rPr lang="pt-BR"/>
              <a:t>:</a:t>
            </a:r>
            <a:endParaRPr lang="pt-BR"/>
          </a:p>
          <a:p>
            <a:pPr lvl="2" algn="just" rtl="0">
              <a:buFont typeface="Arial" panose="020B0604020202020204" pitchFamily="34" charset="0"/>
              <a:buChar char="•"/>
            </a:pPr>
            <a:r>
              <a:rPr lang="pt-BR"/>
              <a:t>Tópicos de base e segurança de IP</a:t>
            </a:r>
            <a:endParaRPr lang="pt-BR"/>
          </a:p>
          <a:p>
            <a:pPr lvl="2" algn="just" rtl="0">
              <a:buFont typeface="Arial" panose="020B0604020202020204" pitchFamily="34" charset="0"/>
              <a:buChar char="•"/>
            </a:pPr>
            <a:r>
              <a:rPr lang="pt-BR" b="1"/>
              <a:t>Wireless, virtualização, automação e programação de rede</a:t>
            </a:r>
            <a:r>
              <a:rPr lang="pt-BR"/>
              <a:t>. </a:t>
            </a:r>
            <a:endParaRPr lang="pt-BR"/>
          </a:p>
          <a:p>
            <a:pPr marL="142875" lvl="1" indent="0" algn="just" rtl="0">
              <a:buNone/>
            </a:pPr>
            <a:r>
              <a:rPr lang="pt-BR"/>
              <a:t>Novas certificações </a:t>
            </a:r>
            <a:r>
              <a:rPr lang="pt-BR" b="1">
                <a:solidFill>
                  <a:srgbClr val="FF0000"/>
                </a:solidFill>
              </a:rPr>
              <a:t>DevNet</a:t>
            </a:r>
            <a:r>
              <a:rPr lang="pt-BR"/>
              <a:t> nos níveis de associado, especialista e profissional para validar as habilidades de desenvolvimento de software.</a:t>
            </a:r>
            <a:endParaRPr lang="pt-BR"/>
          </a:p>
          <a:p>
            <a:pPr marL="142875" lvl="1" indent="0" algn="just" rtl="0">
              <a:buNone/>
            </a:pPr>
            <a:r>
              <a:rPr lang="pt-BR"/>
              <a:t>A certificação especializada valida suas habilidades de acordo com seu papel e interesses profissionais.</a:t>
            </a:r>
            <a:endParaRPr lang="pt-BR"/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 t="4305"/>
          <a:stretch>
            <a:fillRect/>
          </a:stretch>
        </p:blipFill>
        <p:spPr>
          <a:xfrm>
            <a:off x="87630" y="805180"/>
            <a:ext cx="5530215" cy="3187065"/>
          </a:xfrm>
          <a:prstGeom prst="rect">
            <a:avLst/>
          </a:prstGeom>
        </p:spPr>
      </p:pic>
      <p:pic>
        <p:nvPicPr>
          <p:cNvPr id="4" name="Imagem 3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 l="17389" r="17116"/>
          <a:stretch>
            <a:fillRect/>
          </a:stretch>
        </p:blipFill>
        <p:spPr>
          <a:xfrm>
            <a:off x="1534160" y="4042410"/>
            <a:ext cx="2637155" cy="110109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  <p:transition spd="slow">
    <p:wipe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>
          <a:xfrm>
            <a:off x="0" y="41275"/>
            <a:ext cx="9144000" cy="662305"/>
          </a:xfrm>
        </p:spPr>
        <p:txBody>
          <a:bodyPr/>
          <a:lstStyle/>
          <a:p>
            <a:pPr rtl="0"/>
            <a:r>
              <a:rPr lang="pt-BR" sz="1600">
                <a:sym typeface="+mn-ea"/>
              </a:rPr>
              <a:t>O profissional de TI</a:t>
            </a:r>
            <a:br>
              <a:rPr lang="pt-BR" sz="1600">
                <a:sym typeface="+mn-ea"/>
              </a:rPr>
            </a:br>
            <a:r>
              <a:rPr lang="pt-BR"/>
              <a:t>Crreiras do Profissionais de TI</a:t>
            </a:r>
            <a:endParaRPr lang="pt-BR" sz="1600"/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>
          <a:xfrm>
            <a:off x="4773295" y="1064260"/>
            <a:ext cx="4218305" cy="2626360"/>
          </a:xfrm>
        </p:spPr>
        <p:txBody>
          <a:bodyPr/>
          <a:lstStyle/>
          <a:p>
            <a:pPr marL="0" indent="0" algn="just" rtl="0">
              <a:buNone/>
            </a:pPr>
            <a:r>
              <a:rPr lang="pt-BR" sz="1800"/>
              <a:t>Em </a:t>
            </a:r>
            <a:r>
              <a:rPr lang="pt-BR" sz="1800">
                <a:hlinkClick r:id="rId1"/>
              </a:rPr>
              <a:t>www.netacad.com</a:t>
            </a:r>
            <a:r>
              <a:rPr lang="pt-BR" sz="1800"/>
              <a:t> você pode clicar no menu </a:t>
            </a:r>
            <a:r>
              <a:rPr lang="pt-BR" sz="1800" b="1"/>
              <a:t>Carreiras </a:t>
            </a:r>
            <a:r>
              <a:rPr lang="pt-BR" sz="1800"/>
              <a:t>e, em seguida, selecionar Oportunidades de emprego. </a:t>
            </a:r>
            <a:endParaRPr lang="pt-BR" sz="1800"/>
          </a:p>
          <a:p>
            <a:pPr lvl="1" algn="just" rtl="0"/>
            <a:r>
              <a:rPr lang="pt-BR" sz="1800"/>
              <a:t>Encontre oportunidades de emprego usando o Talent Bridge Matching Engine.</a:t>
            </a:r>
            <a:endParaRPr lang="pt-BR" sz="1800"/>
          </a:p>
          <a:p>
            <a:pPr lvl="1" algn="just" rtl="0"/>
            <a:r>
              <a:rPr lang="pt-BR" sz="1800"/>
              <a:t>Procure empregos na Cisco, parceiros e distribuidores da Cisco que procuram </a:t>
            </a:r>
            <a:r>
              <a:rPr lang="pt-BR" sz="1800" b="1">
                <a:solidFill>
                  <a:srgbClr val="FF0000"/>
                </a:solidFill>
              </a:rPr>
              <a:t>Alunos e Ex-Alunos da Cisco Networking Academy</a:t>
            </a:r>
            <a:r>
              <a:rPr lang="pt-BR" sz="1800"/>
              <a:t>.</a:t>
            </a:r>
            <a:endParaRPr lang="pt-BR" sz="180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14" y="1238214"/>
            <a:ext cx="4643037" cy="2937314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</p:cSld>
  <p:clrMapOvr>
    <a:masterClrMapping/>
  </p:clrMapOvr>
  <p:transition spd="slow">
    <p:wipe/>
  </p:transition>
</p:sld>
</file>

<file path=ppt/tags/tag1.xml><?xml version="1.0" encoding="utf-8"?>
<p:tagLst xmlns:p="http://schemas.openxmlformats.org/presentationml/2006/main">
  <p:tag name="ARTICULATE_SLIDE_THUMBNAIL_REFRESH" val="1"/>
</p:tagLst>
</file>

<file path=ppt/tags/tag2.xml><?xml version="1.0" encoding="utf-8"?>
<p:tagLst xmlns:p="http://schemas.openxmlformats.org/presentationml/2006/main">
  <p:tag name="ARTICULATE_SLIDE_THUMBNAIL_REFRESH" val="1"/>
</p:tagLst>
</file>

<file path=ppt/tags/tag3.xml><?xml version="1.0" encoding="utf-8"?>
<p:tagLst xmlns:p="http://schemas.openxmlformats.org/presentationml/2006/main">
  <p:tag name="ARTICULATE_SLIDE_THUMBNAIL_REFRESH" val="1"/>
</p:tagLst>
</file>

<file path=ppt/tags/tag4.xml><?xml version="1.0" encoding="utf-8"?>
<p:tagLst xmlns:p="http://schemas.openxmlformats.org/presentationml/2006/main">
  <p:tag name="ARTICULATE_SLIDE_THUMBNAIL_REFRESH" val="1"/>
</p:tagLst>
</file>

<file path=ppt/tags/tag5.xml><?xml version="1.0" encoding="utf-8"?>
<p:tagLst xmlns:p="http://schemas.openxmlformats.org/presentationml/2006/main">
  <p:tag name="ARTICULATE_SLIDE_THUMBNAIL_REFRESH" val="1"/>
</p:tagLst>
</file>

<file path=ppt/tags/tag6.xml><?xml version="1.0" encoding="utf-8"?>
<p:tagLst xmlns:p="http://schemas.openxmlformats.org/presentationml/2006/main">
  <p:tag name="ARTICULATE_SLIDE_THUMBNAIL_REFRESH" val="1"/>
</p:tagLst>
</file>

<file path=ppt/tags/tag7.xml><?xml version="1.0" encoding="utf-8"?>
<p:tagLst xmlns:p="http://schemas.openxmlformats.org/presentationml/2006/main">
  <p:tag name="ARTICULATE_SLIDE_THUMBNAIL_REFRESH" val="1"/>
</p:tagLst>
</file>

<file path=ppt/tags/tag8.xml><?xml version="1.0" encoding="utf-8"?>
<p:tagLst xmlns:p="http://schemas.openxmlformats.org/presentationml/2006/main">
  <p:tag name="ARTICULATE_SLIDE_THUMBNAIL_REFRESH" val="1"/>
</p:tagLst>
</file>

<file path=ppt/tags/tag9.xml><?xml version="1.0" encoding="utf-8"?>
<p:tagLst xmlns:p="http://schemas.openxmlformats.org/presentationml/2006/main">
  <p:tag name="ARTICULATE_SLIDE_THUMBNAIL_REFRESH" val="1"/>
</p:tagLst>
</file>

<file path=ppt/tags/tag10.xml><?xml version="1.0" encoding="utf-8"?>
<p:tagLst xmlns:p="http://schemas.openxmlformats.org/presentationml/2006/main">
  <p:tag name="ARTICULATE_SLIDE_THUMBNAIL_REFRESH" val="1"/>
</p:tagLst>
</file>

<file path=ppt/tags/tag11.xml><?xml version="1.0" encoding="utf-8"?>
<p:tagLst xmlns:p="http://schemas.openxmlformats.org/presentationml/2006/main">
  <p:tag name="ARTICULATE_SLIDE_THUMBNAIL_REFRESH" val="1"/>
</p:tagLst>
</file>

<file path=ppt/tags/tag12.xml><?xml version="1.0" encoding="utf-8"?>
<p:tagLst xmlns:p="http://schemas.openxmlformats.org/presentationml/2006/main">
  <p:tag name="ARTICULATE_SLIDE_THUMBNAIL_REFRESH" val="1"/>
</p:tagLst>
</file>

<file path=ppt/tags/tag13.xml><?xml version="1.0" encoding="utf-8"?>
<p:tagLst xmlns:p="http://schemas.openxmlformats.org/presentationml/2006/main">
  <p:tag name="ARTICULATE_SLIDE_THUMBNAIL_REFRESH" val="1"/>
</p:tagLst>
</file>

<file path=ppt/tags/tag14.xml><?xml version="1.0" encoding="utf-8"?>
<p:tagLst xmlns:p="http://schemas.openxmlformats.org/presentationml/2006/main">
  <p:tag name="ARTICULATE_SLIDE_THUMBNAIL_REFRESH" val="1"/>
</p:tagLst>
</file>

<file path=ppt/tags/tag15.xml><?xml version="1.0" encoding="utf-8"?>
<p:tagLst xmlns:p="http://schemas.openxmlformats.org/presentationml/2006/main">
  <p:tag name="ARTICULATE_SLIDE_THUMBNAIL_REFRESH" val="1"/>
</p:tagLst>
</file>

<file path=ppt/tags/tag16.xml><?xml version="1.0" encoding="utf-8"?>
<p:tagLst xmlns:p="http://schemas.openxmlformats.org/presentationml/2006/main">
  <p:tag name="ARTICULATE_SLIDE_THUMBNAIL_REFRESH" val="1"/>
</p:tagLst>
</file>

<file path=ppt/tags/tag17.xml><?xml version="1.0" encoding="utf-8"?>
<p:tagLst xmlns:p="http://schemas.openxmlformats.org/presentationml/2006/main">
  <p:tag name="ARTICULATE_SLIDE_THUMBNAIL_REFRESH" val="1"/>
</p:tagLst>
</file>

<file path=ppt/tags/tag18.xml><?xml version="1.0" encoding="utf-8"?>
<p:tagLst xmlns:p="http://schemas.openxmlformats.org/presentationml/2006/main">
  <p:tag name="ARTICULATE_SLIDE_THUMBNAIL_REFRESH" val="1"/>
</p:tagLst>
</file>

<file path=ppt/tags/tag19.xml><?xml version="1.0" encoding="utf-8"?>
<p:tagLst xmlns:p="http://schemas.openxmlformats.org/presentationml/2006/main">
  <p:tag name="ARTICULATE_SLIDE_THUMBNAIL_REFRESH" val="1"/>
</p:tagLst>
</file>

<file path=ppt/tags/tag20.xml><?xml version="1.0" encoding="utf-8"?>
<p:tagLst xmlns:p="http://schemas.openxmlformats.org/presentationml/2006/main">
  <p:tag name="ARTICULATE_SLIDE_THUMBNAIL_REFRESH" val="1"/>
</p:tagLst>
</file>

<file path=ppt/tags/tag21.xml><?xml version="1.0" encoding="utf-8"?>
<p:tagLst xmlns:p="http://schemas.openxmlformats.org/presentationml/2006/main">
  <p:tag name="ARTICULATE_SLIDE_COUNT" val="71"/>
  <p:tag name="ARTICULATE_PROJECT_OPEN" val="0"/>
</p:tagLst>
</file>

<file path=ppt/theme/theme1.xml><?xml version="1.0" encoding="utf-8"?>
<a:theme xmlns:a="http://schemas.openxmlformats.org/drawingml/2006/main" name="Default Theme">
  <a:themeElements>
    <a:clrScheme name="Custom 6">
      <a:dk1>
        <a:srgbClr val="58585B"/>
      </a:dk1>
      <a:lt1>
        <a:srgbClr val="FFFFFF"/>
      </a:lt1>
      <a:dk2>
        <a:srgbClr val="58585B"/>
      </a:dk2>
      <a:lt2>
        <a:srgbClr val="81C569"/>
      </a:lt2>
      <a:accent1>
        <a:srgbClr val="004C69"/>
      </a:accent1>
      <a:accent2>
        <a:srgbClr val="9E0B0F"/>
      </a:accent2>
      <a:accent3>
        <a:srgbClr val="FFFFFF"/>
      </a:accent3>
      <a:accent4>
        <a:srgbClr val="367187"/>
      </a:accent4>
      <a:accent5>
        <a:srgbClr val="38C6F4"/>
      </a:accent5>
      <a:accent6>
        <a:srgbClr val="FBAB18"/>
      </a:accent6>
      <a:hlink>
        <a:srgbClr val="38C6F4"/>
      </a:hlink>
      <a:folHlink>
        <a:srgbClr val="81C569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36A4D7"/>
        </a:solidFill>
        <a:ln>
          <a:noFill/>
        </a:ln>
      </a:spPr>
      <a:bodyPr rtlCol="0" anchor="ctr"/>
      <a:lstStyle>
        <a:defPPr algn="ctr"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Default Theme">
  <a:themeElements>
    <a:clrScheme name="Custom 6">
      <a:dk1>
        <a:srgbClr val="58585B"/>
      </a:dk1>
      <a:lt1>
        <a:srgbClr val="FFFFFF"/>
      </a:lt1>
      <a:dk2>
        <a:srgbClr val="58585B"/>
      </a:dk2>
      <a:lt2>
        <a:srgbClr val="81C569"/>
      </a:lt2>
      <a:accent1>
        <a:srgbClr val="004C69"/>
      </a:accent1>
      <a:accent2>
        <a:srgbClr val="9E0B0F"/>
      </a:accent2>
      <a:accent3>
        <a:srgbClr val="FFFFFF"/>
      </a:accent3>
      <a:accent4>
        <a:srgbClr val="367187"/>
      </a:accent4>
      <a:accent5>
        <a:srgbClr val="38C6F4"/>
      </a:accent5>
      <a:accent6>
        <a:srgbClr val="FBAB18"/>
      </a:accent6>
      <a:hlink>
        <a:srgbClr val="38C6F4"/>
      </a:hlink>
      <a:folHlink>
        <a:srgbClr val="81C569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36A4D7"/>
        </a:solidFill>
        <a:ln>
          <a:noFill/>
        </a:ln>
      </a:spPr>
      <a:bodyPr rtlCol="0" anchor="ctr"/>
      <a:lstStyle>
        <a:defPPr algn="ctr"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0</TotalTime>
  <Words>17659</Words>
  <Application>WPS Presentation</Application>
  <PresentationFormat>On-screen Show (16:9)</PresentationFormat>
  <Paragraphs>456</Paragraphs>
  <Slides>49</Slides>
  <Notes>71</Notes>
  <HiddenSlides>0</HiddenSlides>
  <MMClips>0</MMClips>
  <ScaleCrop>false</ScaleCrop>
  <HeadingPairs>
    <vt:vector size="6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49</vt:i4>
      </vt:variant>
    </vt:vector>
  </HeadingPairs>
  <TitlesOfParts>
    <vt:vector size="69" baseType="lpstr">
      <vt:lpstr>Arial</vt:lpstr>
      <vt:lpstr>SimSun</vt:lpstr>
      <vt:lpstr>Wingdings</vt:lpstr>
      <vt:lpstr>MS PGothic</vt:lpstr>
      <vt:lpstr>Droid Sans Fallback</vt:lpstr>
      <vt:lpstr>CiscoSans Thin</vt:lpstr>
      <vt:lpstr>Gubbi</vt:lpstr>
      <vt:lpstr>MS PGothic</vt:lpstr>
      <vt:lpstr>CiscoSans</vt:lpstr>
      <vt:lpstr>CiscoSans</vt:lpstr>
      <vt:lpstr>CiscoSans ExtraLight</vt:lpstr>
      <vt:lpstr>Arial</vt:lpstr>
      <vt:lpstr>CiscoSans ExtraLight</vt:lpstr>
      <vt:lpstr>OpenSymbol</vt:lpstr>
      <vt:lpstr>Microsoft YaHei</vt:lpstr>
      <vt:lpstr>Arial Unicode MS</vt:lpstr>
      <vt:lpstr>Calibri</vt:lpstr>
      <vt:lpstr>Trebuchet MS</vt:lpstr>
      <vt:lpstr>Default Theme</vt:lpstr>
      <vt:lpstr>1_Default Theme</vt:lpstr>
      <vt:lpstr>Módulo 1: Introdução das Redes de Computadores de Hoje</vt:lpstr>
      <vt:lpstr>1.1 - Redes Afetam Nossas Vidas</vt:lpstr>
      <vt:lpstr>PowerPoint 演示文稿</vt:lpstr>
      <vt:lpstr>1.2 - Componentes de Rede</vt:lpstr>
      <vt:lpstr>PowerPoint 演示文稿</vt:lpstr>
      <vt:lpstr>Componentes de rede Rede Ponto-a-Ponto (Básica/Simples)</vt:lpstr>
      <vt:lpstr>Componentes de rede Dispositivos Finais (Hosts / Endpoints)</vt:lpstr>
      <vt:lpstr>Componentes de rede Dispositivos de Rede Intermediários</vt:lpstr>
      <vt:lpstr>Componentes de rede Meio Físico de Rede</vt:lpstr>
      <vt:lpstr>1.3 Representações e Topologias de Rede</vt:lpstr>
      <vt:lpstr>Representações e Topologias de Rede Representações de Rede</vt:lpstr>
      <vt:lpstr>Representações e Topologias de Tede Diagramas de Topologia (Física e Lógica)</vt:lpstr>
      <vt:lpstr>1.4 - Tipos Comuns de Redes</vt:lpstr>
      <vt:lpstr>Tipos comuns de Rede Vários Tamanhos das Redes</vt:lpstr>
      <vt:lpstr>Tipos comuns de redes LANs e WANs (as mais importantes)</vt:lpstr>
      <vt:lpstr>Tipos comuns de redes  LANs e WANs (Continuação) </vt:lpstr>
      <vt:lpstr>Tipos comuns de redes A Internet</vt:lpstr>
      <vt:lpstr>Tipos comuns de Intranets, Extranets e Internet (Conceitos)</vt:lpstr>
      <vt:lpstr>1.5 - Conexões à Internet</vt:lpstr>
      <vt:lpstr>Conexões à Internet Tecnologias de Acesso à Internet</vt:lpstr>
      <vt:lpstr>Conexões à Internet Conexões à Internet para Residências e Pequenos Escritórios</vt:lpstr>
      <vt:lpstr>Conexões à Internet Conexões Corporativas com a Internet</vt:lpstr>
      <vt:lpstr>Conexões à Internet As Redes Convergentes</vt:lpstr>
      <vt:lpstr>Conexões à Internet As Redes Convergentes (Continuação)</vt:lpstr>
      <vt:lpstr>1.6 - Redes Confiáveis</vt:lpstr>
      <vt:lpstr>Rede confiável Arquitetura de Rede Atuais</vt:lpstr>
      <vt:lpstr>Rede confiável Tolerância ao Erro/Falhas</vt:lpstr>
      <vt:lpstr>Rede confiável Escalabilidade (Crescimento)</vt:lpstr>
      <vt:lpstr>Rede confiável Qualidade de Serviço (QoS)</vt:lpstr>
      <vt:lpstr>Rede confiável Segurança de Rede (Obrigatório)</vt:lpstr>
      <vt:lpstr>1.7 - Tendências das Redes</vt:lpstr>
      <vt:lpstr>Tendências de rede Tendências Recentes em Redes</vt:lpstr>
      <vt:lpstr>Tendências de rede Traga seu Próprio Aparelho (BYOD)</vt:lpstr>
      <vt:lpstr>Tendências de rede Colaboração Online</vt:lpstr>
      <vt:lpstr>Tendências de rede Comunicação por Vídeo (Call On-Line)</vt:lpstr>
      <vt:lpstr>Tendências de rede Computação em Nuvem (Cloud Computer)</vt:lpstr>
      <vt:lpstr>Tendências de rede Computação em Nuvem (Cloud Computer - Continuação)</vt:lpstr>
      <vt:lpstr>Tendências de rede Tendências Tecnológicas em Casa</vt:lpstr>
      <vt:lpstr>Tendências de rede Rede Powerline (Cai em Desuso)</vt:lpstr>
      <vt:lpstr>Tendências de rede Banda Larga Sem Fio</vt:lpstr>
      <vt:lpstr>1.8 - Segurança de Rede</vt:lpstr>
      <vt:lpstr>Segurança de rede Ameaças à Segurança</vt:lpstr>
      <vt:lpstr>Segurança de rede Ameaças à Segurança (Continuação)</vt:lpstr>
      <vt:lpstr>Segurança de rede Soluções de Segurança</vt:lpstr>
      <vt:lpstr>Segurança de rede Soluções de Segurança (Continuação)</vt:lpstr>
      <vt:lpstr>1.9 - O Profissional de TI</vt:lpstr>
      <vt:lpstr>O profissional de TI A trilha do CCNA</vt:lpstr>
      <vt:lpstr>O profissional de TI Crreiras do Profissionais de TI</vt:lpstr>
      <vt:lpstr>PowerPoint 演示文稿</vt:lpstr>
    </vt:vector>
  </TitlesOfParts>
  <Company>Cisco Systems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bvachon@cisco.com</dc:creator>
  <cp:lastModifiedBy>vaamonde</cp:lastModifiedBy>
  <cp:revision>839</cp:revision>
  <dcterms:created xsi:type="dcterms:W3CDTF">2026-07-03T12:32:57Z</dcterms:created>
  <dcterms:modified xsi:type="dcterms:W3CDTF">2026-07-03T12:32:57Z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Offisync_ProviderInitializationData">
    <vt:lpwstr>https://cisco.jiveon.com</vt:lpwstr>
  </property>
  <property fmtid="{D5CDD505-2E9C-101B-9397-08002B2CF9AE}" pid="3" name="Offisync_UpdateToken">
    <vt:lpwstr>1</vt:lpwstr>
  </property>
  <property fmtid="{D5CDD505-2E9C-101B-9397-08002B2CF9AE}" pid="4" name="Offisync_ServerID">
    <vt:lpwstr>07841bbc-cd3c-4a76-827f-75a2226890f4</vt:lpwstr>
  </property>
  <property fmtid="{D5CDD505-2E9C-101B-9397-08002B2CF9AE}" pid="5" name="Offisync_UniqueId">
    <vt:lpwstr>1702406</vt:lpwstr>
  </property>
  <property fmtid="{D5CDD505-2E9C-101B-9397-08002B2CF9AE}" pid="6" name="Jive_VersionGuid">
    <vt:lpwstr>fd96a0b3-f68d-4727-8e4f-2128d37ed30a</vt:lpwstr>
  </property>
  <property fmtid="{D5CDD505-2E9C-101B-9397-08002B2CF9AE}" pid="7" name="Jive_LatestUserAccountName">
    <vt:lpwstr>alljohns</vt:lpwstr>
  </property>
  <property fmtid="{D5CDD505-2E9C-101B-9397-08002B2CF9AE}" pid="8" name="ArticulateGUID">
    <vt:lpwstr>F9A496F7-57D7-4028-9572-D40DFDF3715A</vt:lpwstr>
  </property>
  <property fmtid="{D5CDD505-2E9C-101B-9397-08002B2CF9AE}" pid="9" name="ArticulatePath">
    <vt:lpwstr>ITE7_Chp9_by_jg</vt:lpwstr>
  </property>
  <property fmtid="{D5CDD505-2E9C-101B-9397-08002B2CF9AE}" pid="10" name="ICV">
    <vt:lpwstr/>
  </property>
  <property fmtid="{D5CDD505-2E9C-101B-9397-08002B2CF9AE}" pid="11" name="KSOProductBuildVer">
    <vt:lpwstr>1046-11.1.0.11723</vt:lpwstr>
  </property>
</Properties>
</file>