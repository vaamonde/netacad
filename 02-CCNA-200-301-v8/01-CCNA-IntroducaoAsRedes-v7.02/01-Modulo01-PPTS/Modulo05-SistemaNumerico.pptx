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876" r:id="rId3"/>
    <p:sldId id="759" r:id="rId5"/>
    <p:sldId id="1054" r:id="rId6"/>
    <p:sldId id="1103" r:id="rId7"/>
    <p:sldId id="1091" r:id="rId8"/>
    <p:sldId id="1104" r:id="rId9"/>
    <p:sldId id="1106" r:id="rId10"/>
    <p:sldId id="1105" r:id="rId11"/>
    <p:sldId id="1108" r:id="rId12"/>
    <p:sldId id="1092" r:id="rId13"/>
    <p:sldId id="1107" r:id="rId14"/>
    <p:sldId id="1121" r:id="rId15"/>
    <p:sldId id="1122" r:id="rId16"/>
    <p:sldId id="1093" r:id="rId17"/>
    <p:sldId id="1094" r:id="rId18"/>
    <p:sldId id="1095" r:id="rId19"/>
    <p:sldId id="1096" r:id="rId20"/>
    <p:sldId id="1056" r:id="rId21"/>
    <p:sldId id="1097" r:id="rId22"/>
    <p:sldId id="1098" r:id="rId23"/>
    <p:sldId id="1127" r:id="rId24"/>
    <p:sldId id="1123" r:id="rId25"/>
    <p:sldId id="1100" r:id="rId26"/>
    <p:sldId id="1124" r:id="rId27"/>
    <p:sldId id="1125" r:id="rId28"/>
    <p:sldId id="1126" r:id="rId29"/>
    <p:sldId id="1137" r:id="rId30"/>
    <p:sldId id="291" r:id="rId31"/>
  </p:sldIdLst>
  <p:sldSz cx="9144000" cy="5143500" type="screen16x9"/>
  <p:notesSz cx="6858000" cy="9144000"/>
  <p:custDataLst>
    <p:tags r:id="rId36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6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34" autoAdjust="0"/>
    <p:restoredTop sz="86438" autoAdjust="0"/>
  </p:normalViewPr>
  <p:slideViewPr>
    <p:cSldViewPr snapToGrid="0" showGuides="1">
      <p:cViewPr varScale="1">
        <p:scale>
          <a:sx n="77" d="100"/>
          <a:sy n="77" d="100"/>
        </p:scale>
        <p:origin x="1160" y="48"/>
      </p:cViewPr>
      <p:guideLst>
        <p:guide orient="horz" pos="1638"/>
        <p:guide pos="322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5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  <a:endParaRPr lang="pt-BR"/>
          </a:p>
          <a:p>
            <a:pPr rtl="0"/>
            <a:r>
              <a:rPr lang="pt-BR"/>
              <a:t>Introdução às redes v7.0 (ITN)</a:t>
            </a:r>
            <a:endParaRPr lang="pt-BR"/>
          </a:p>
          <a:p>
            <a:pPr rtl="0"/>
            <a:r>
              <a:rPr lang="pt-BR"/>
              <a:t>Módulo 5: Sistemas numéricos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Sistema Binário de Numeração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5.1.1 - Endereços Binários e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5.1.3 - Notação Posicional Binária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5.1.3 - Notação Posicional Binária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5.1.3 - Notação Posicional Binária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5.1.3 - Notação Posicional Binária</a:t>
            </a:r>
            <a:endParaRPr lang="pt-BR"/>
          </a:p>
          <a:p>
            <a:pPr rtl="0"/>
            <a:r>
              <a:rPr lang="pt-BR"/>
              <a:t>5.1.4 — Verifique o seu entendimento — Sistema Binário de Numeração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de numeração binário</a:t>
            </a:r>
            <a:endParaRPr lang="pt-BR"/>
          </a:p>
          <a:p>
            <a:pPr rtl="0"/>
            <a:r>
              <a:rPr lang="pt-BR"/>
              <a:t>5.1.7 - Conversão de Decimal para Binário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5.1.8 - Exemplo de Conversão de Decimal para Binário</a:t>
            </a:r>
            <a:endParaRPr lang="pt-BR"/>
          </a:p>
          <a:p>
            <a:pPr rtl="0"/>
            <a:r>
              <a:rPr lang="pt-BR"/>
              <a:t>5.1.9 - Atividade - Conversões decimais em binárias</a:t>
            </a:r>
            <a:endParaRPr lang="pt-BR"/>
          </a:p>
          <a:p>
            <a:pPr rtl="0"/>
            <a:r>
              <a:rPr lang="pt-BR"/>
              <a:t>5.1.10 - Atividade - Jogo Binário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5.1.11 — Endereços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5.2.1 - Endereços hexadecimais e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5.2.1 - Endereços hexadecimais e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5.2.1 - Endereços hexadecimais e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5.2.3 - </a:t>
            </a:r>
            <a:r>
              <a:rPr lang="pt-BR" sz="1200"/>
              <a:t>Conversões decimais em hexadecimais</a:t>
            </a:r>
            <a:endParaRPr lang="pt-BR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5.2.3 - </a:t>
            </a:r>
            <a:r>
              <a:rPr lang="pt-BR" sz="1200"/>
              <a:t>Conversões decimais em hexadecimais</a:t>
            </a:r>
            <a:endParaRPr lang="pt-BR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265" y="1459230"/>
            <a:ext cx="6510655" cy="1080135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5: Sistemas Numéricos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ubtitle 6"/>
          <p:cNvSpPr txBox="1"/>
          <p:nvPr/>
        </p:nvSpPr>
        <p:spPr>
          <a:xfrm>
            <a:off x="469497" y="3646043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530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MS PGothic" charset="0"/>
                <a:cs typeface="CiscoSans"/>
              </a:defRPr>
            </a:lvl1pPr>
            <a:lvl2pPr marL="342900" indent="0" algn="ctr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2pPr>
            <a:lvl3pPr marL="6858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3pPr>
            <a:lvl4pPr marL="10287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4pPr>
            <a:lvl5pPr marL="13716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5pPr>
            <a:lvl6pPr marL="1714500" indent="0" algn="ctr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565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  <a:sym typeface="+mn-ea"/>
              </a:rPr>
              <a:t>Versão: 1.0 - 01/04/2026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560" y="2169160"/>
            <a:ext cx="7847330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5.1 - Sistema de Numeração Binário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Endereços Binários e IPv4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775" y="615315"/>
            <a:ext cx="8890000" cy="2136775"/>
          </a:xfrm>
        </p:spPr>
        <p:txBody>
          <a:bodyPr/>
          <a:lstStyle/>
          <a:p>
            <a:pPr marL="342900" indent="-342900" algn="just" rtl="0">
              <a:buFont typeface="Arial" panose="020B0604020202020204" pitchFamily="34" charset="0"/>
              <a:buAutoNum type="arabicPeriod"/>
            </a:pPr>
            <a:r>
              <a:rPr lang="pt-BR" sz="1530">
                <a:solidFill>
                  <a:srgbClr val="000000"/>
                </a:solidFill>
              </a:rPr>
              <a:t>O </a:t>
            </a:r>
            <a:r>
              <a:rPr lang="pt-BR" sz="1530" b="1">
                <a:solidFill>
                  <a:srgbClr val="FF0000"/>
                </a:solidFill>
              </a:rPr>
              <a:t>Sistema de Numeração Binária</a:t>
            </a:r>
            <a:r>
              <a:rPr lang="pt-BR" sz="1530">
                <a:solidFill>
                  <a:srgbClr val="000000"/>
                </a:solidFill>
              </a:rPr>
              <a:t> consiste em: </a:t>
            </a:r>
            <a:r>
              <a:rPr lang="pt-BR" sz="1530" b="1">
                <a:solidFill>
                  <a:srgbClr val="0070C0"/>
                </a:solidFill>
                <a:sym typeface="+mn-ea"/>
              </a:rPr>
              <a:t>0 (zeros) e </a:t>
            </a:r>
            <a:r>
              <a:rPr lang="pt-BR" sz="1530" b="1">
                <a:solidFill>
                  <a:srgbClr val="0070C0"/>
                </a:solidFill>
              </a:rPr>
              <a:t>1 (uns)</a:t>
            </a:r>
            <a:r>
              <a:rPr lang="pt-BR" sz="1530">
                <a:solidFill>
                  <a:srgbClr val="000000"/>
                </a:solidFill>
              </a:rPr>
              <a:t>, chamados </a:t>
            </a:r>
            <a:r>
              <a:rPr lang="pt-BR" sz="1530" b="1">
                <a:solidFill>
                  <a:srgbClr val="FF0000"/>
                </a:solidFill>
              </a:rPr>
              <a:t>bits (2 valores)</a:t>
            </a:r>
            <a:endParaRPr lang="pt-BR" sz="153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AutoNum type="arabicPeriod"/>
            </a:pPr>
            <a:r>
              <a:rPr lang="pt-BR" sz="1530">
                <a:solidFill>
                  <a:srgbClr val="000000"/>
                </a:solidFill>
              </a:rPr>
              <a:t>O </a:t>
            </a:r>
            <a:r>
              <a:rPr lang="pt-BR" sz="1530" b="1">
                <a:solidFill>
                  <a:srgbClr val="FF0000"/>
                </a:solidFill>
              </a:rPr>
              <a:t>Sistema de Numeração Decimal</a:t>
            </a:r>
            <a:r>
              <a:rPr lang="pt-BR" sz="1530">
                <a:solidFill>
                  <a:srgbClr val="000000"/>
                </a:solidFill>
              </a:rPr>
              <a:t> consiste em dígitos de: </a:t>
            </a:r>
            <a:r>
              <a:rPr lang="pt-BR" sz="1530" b="1">
                <a:solidFill>
                  <a:srgbClr val="0070C0"/>
                </a:solidFill>
              </a:rPr>
              <a:t>0 a 9 (10 valores)</a:t>
            </a:r>
            <a:endParaRPr lang="pt-BR" sz="153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AutoNum type="arabicPeriod"/>
            </a:pPr>
            <a:r>
              <a:rPr lang="pt-BR" sz="1530">
                <a:solidFill>
                  <a:srgbClr val="000000"/>
                </a:solidFill>
              </a:rPr>
              <a:t>Hosts, Servidores e Equipamentos de Rede usa </a:t>
            </a:r>
            <a:r>
              <a:rPr lang="pt-BR" sz="1530" b="1">
                <a:solidFill>
                  <a:srgbClr val="FF0000"/>
                </a:solidFill>
              </a:rPr>
              <a:t>Endereçamento Binário</a:t>
            </a:r>
            <a:r>
              <a:rPr lang="pt-BR" sz="1530">
                <a:solidFill>
                  <a:srgbClr val="000000"/>
                </a:solidFill>
              </a:rPr>
              <a:t> para se comunicar.</a:t>
            </a:r>
            <a:endParaRPr lang="pt-BR" sz="153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AutoNum type="arabicPeriod"/>
            </a:pPr>
            <a:r>
              <a:rPr lang="pt-BR" sz="1530">
                <a:solidFill>
                  <a:srgbClr val="000000"/>
                </a:solidFill>
              </a:rPr>
              <a:t>Cada </a:t>
            </a:r>
            <a:r>
              <a:rPr lang="pt-BR" sz="1530" b="1">
                <a:solidFill>
                  <a:srgbClr val="FF0000"/>
                </a:solidFill>
              </a:rPr>
              <a:t>Endereço de Rede</a:t>
            </a:r>
            <a:r>
              <a:rPr lang="pt-BR" sz="1530">
                <a:solidFill>
                  <a:srgbClr val="000000"/>
                </a:solidFill>
              </a:rPr>
              <a:t> é composto de uma sequência de:</a:t>
            </a:r>
            <a:r>
              <a:rPr lang="pt-BR" sz="1530" b="1">
                <a:solidFill>
                  <a:srgbClr val="FF0000"/>
                </a:solidFill>
              </a:rPr>
              <a:t> 32 bits</a:t>
            </a:r>
            <a:r>
              <a:rPr lang="pt-BR" sz="1530">
                <a:solidFill>
                  <a:srgbClr val="000000"/>
                </a:solidFill>
              </a:rPr>
              <a:t>, dividida em </a:t>
            </a:r>
            <a:r>
              <a:rPr lang="pt-BR" sz="1530" b="1">
                <a:solidFill>
                  <a:srgbClr val="0070C0"/>
                </a:solidFill>
              </a:rPr>
              <a:t>4 (quatro) Seções</a:t>
            </a:r>
            <a:r>
              <a:rPr lang="pt-BR" sz="1530">
                <a:solidFill>
                  <a:srgbClr val="000000"/>
                </a:solidFill>
              </a:rPr>
              <a:t> chamadas de: </a:t>
            </a:r>
            <a:r>
              <a:rPr lang="pt-BR" sz="1530" b="1">
                <a:solidFill>
                  <a:srgbClr val="FF0000"/>
                </a:solidFill>
              </a:rPr>
              <a:t>Octetos</a:t>
            </a:r>
            <a:r>
              <a:rPr lang="pt-BR" sz="1530">
                <a:solidFill>
                  <a:srgbClr val="000000"/>
                </a:solidFill>
              </a:rPr>
              <a:t>.</a:t>
            </a:r>
            <a:endParaRPr lang="pt-BR" sz="153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AutoNum type="arabicPeriod"/>
            </a:pPr>
            <a:r>
              <a:rPr lang="pt-BR" sz="1530">
                <a:solidFill>
                  <a:srgbClr val="000000"/>
                </a:solidFill>
              </a:rPr>
              <a:t>Cada </a:t>
            </a:r>
            <a:r>
              <a:rPr lang="pt-BR" sz="1530" b="1">
                <a:solidFill>
                  <a:srgbClr val="FF0000"/>
                </a:solidFill>
              </a:rPr>
              <a:t>Octeto </a:t>
            </a:r>
            <a:r>
              <a:rPr lang="pt-BR" sz="1530">
                <a:solidFill>
                  <a:srgbClr val="000000"/>
                </a:solidFill>
              </a:rPr>
              <a:t>contém:</a:t>
            </a:r>
            <a:r>
              <a:rPr lang="pt-BR" sz="1530" b="1">
                <a:solidFill>
                  <a:srgbClr val="FF0000"/>
                </a:solidFill>
              </a:rPr>
              <a:t> 8 bits (ou 1 Byte - somatoria de 8 bits)</a:t>
            </a:r>
            <a:r>
              <a:rPr lang="pt-BR" sz="1530">
                <a:solidFill>
                  <a:srgbClr val="000000"/>
                </a:solidFill>
              </a:rPr>
              <a:t> separados por um: </a:t>
            </a:r>
            <a:r>
              <a:rPr lang="pt-BR" sz="1530" b="1">
                <a:solidFill>
                  <a:srgbClr val="0070C0"/>
                </a:solidFill>
              </a:rPr>
              <a:t>. (ponto)</a:t>
            </a:r>
            <a:r>
              <a:rPr lang="pt-BR" sz="1530">
                <a:solidFill>
                  <a:srgbClr val="000000"/>
                </a:solidFill>
              </a:rPr>
              <a:t>.</a:t>
            </a:r>
            <a:endParaRPr lang="pt-BR" sz="153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AutoNum type="arabicPeriod"/>
            </a:pPr>
            <a:r>
              <a:rPr lang="pt-BR" sz="1530">
                <a:solidFill>
                  <a:srgbClr val="000000"/>
                </a:solidFill>
              </a:rPr>
              <a:t>Para facilitar o uso por pessoas, esta</a:t>
            </a:r>
            <a:r>
              <a:rPr lang="pt-BR" sz="1530" b="1">
                <a:solidFill>
                  <a:srgbClr val="000000"/>
                </a:solidFill>
              </a:rPr>
              <a:t> </a:t>
            </a:r>
            <a:r>
              <a:rPr lang="pt-BR" sz="1530" b="1">
                <a:solidFill>
                  <a:srgbClr val="0070C0"/>
                </a:solidFill>
              </a:rPr>
              <a:t>Notação Pontilhada</a:t>
            </a:r>
            <a:r>
              <a:rPr lang="pt-BR" sz="1530">
                <a:solidFill>
                  <a:srgbClr val="000000"/>
                </a:solidFill>
              </a:rPr>
              <a:t> é convertida em: </a:t>
            </a:r>
            <a:r>
              <a:rPr lang="pt-BR" sz="1530" b="1">
                <a:solidFill>
                  <a:srgbClr val="FF0000"/>
                </a:solidFill>
              </a:rPr>
              <a:t>Decimal Pontilhada </a:t>
            </a:r>
            <a:r>
              <a:rPr lang="pt-BR" sz="1530" b="1">
                <a:solidFill>
                  <a:srgbClr val="0070C0"/>
                </a:solidFill>
              </a:rPr>
              <a:t>(quatro blocos de 8 bits totalizando: 32 bits ou 4 Bytes)</a:t>
            </a:r>
            <a:r>
              <a:rPr lang="pt-BR" sz="1530">
                <a:solidFill>
                  <a:srgbClr val="0070C0"/>
                </a:solidFill>
              </a:rPr>
              <a:t>.</a:t>
            </a:r>
            <a:endParaRPr lang="pt-BR" sz="153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endParaRPr lang="en-US" sz="1530" dirty="0">
              <a:solidFill>
                <a:srgbClr val="000000"/>
              </a:solidFill>
            </a:endParaRPr>
          </a:p>
        </p:txBody>
      </p:sp>
      <p:sp>
        <p:nvSpPr>
          <p:cNvPr id="7" name="Striped Right Arrow 6"/>
          <p:cNvSpPr/>
          <p:nvPr/>
        </p:nvSpPr>
        <p:spPr>
          <a:xfrm>
            <a:off x="4363757" y="3958407"/>
            <a:ext cx="520995" cy="239867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5010" t="33944" r="25410" b="17821"/>
          <a:stretch>
            <a:fillRect/>
          </a:stretch>
        </p:blipFill>
        <p:spPr>
          <a:xfrm>
            <a:off x="511810" y="2722880"/>
            <a:ext cx="3747770" cy="19621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5010" t="30580" r="25410" b="21043"/>
          <a:stretch>
            <a:fillRect/>
          </a:stretch>
        </p:blipFill>
        <p:spPr>
          <a:xfrm>
            <a:off x="4954905" y="2718435"/>
            <a:ext cx="3582670" cy="1966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4000" cy="731520"/>
          </a:xfrm>
        </p:spPr>
        <p:txBody>
          <a:bodyPr/>
          <a:lstStyle/>
          <a:p>
            <a:pPr rtl="0"/>
            <a:r>
              <a:rPr lang="pt-BR" sz="1600"/>
              <a:t>Sistema de Numeração Binário</a:t>
            </a:r>
            <a:br>
              <a:rPr lang="en-US" dirty="0"/>
            </a:br>
            <a:r>
              <a:rPr lang="pt-BR" sz="2400"/>
              <a:t>Notação Posicional Binária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6205" y="693420"/>
            <a:ext cx="8921115" cy="1402715"/>
          </a:xfrm>
        </p:spPr>
        <p:txBody>
          <a:bodyPr/>
          <a:lstStyle/>
          <a:p>
            <a:pPr marL="0" indent="0" algn="ctr" rtl="0">
              <a:buFont typeface="Arial" panose="020B0604020202020204" pitchFamily="34" charset="0"/>
            </a:pPr>
            <a:r>
              <a:rPr lang="pt-BR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 Fundamental da Numeração: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Quanto </a:t>
            </a:r>
            <a:r>
              <a:rPr lang="pt-BR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MAIOR 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valor a sua </a:t>
            </a:r>
            <a:r>
              <a:rPr lang="pt-BR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ESQUERDA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MAIOR 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valor da sua </a:t>
            </a:r>
            <a:r>
              <a:rPr lang="pt-BR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POTÊNCIA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 rtl="0">
              <a:buFont typeface="Arial" panose="020B0604020202020204" pitchFamily="34" charset="0"/>
            </a:pPr>
            <a:r>
              <a:rPr lang="pt-BR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Decimal: 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Notação Posicional -</a:t>
            </a: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 10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 rtl="0">
              <a:buFont typeface="Arial" panose="020B0604020202020204" pitchFamily="34" charset="0"/>
            </a:pP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(utilizado no nosso </a:t>
            </a: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dia-a-dia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ela 1"/>
          <p:cNvGraphicFramePr/>
          <p:nvPr/>
        </p:nvGraphicFramePr>
        <p:xfrm>
          <a:off x="116205" y="2165985"/>
          <a:ext cx="8921750" cy="244475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783080"/>
                <a:gridCol w="1785620"/>
                <a:gridCol w="1782445"/>
                <a:gridCol w="1784985"/>
                <a:gridCol w="1785620"/>
              </a:tblGrid>
              <a:tr h="349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Descrição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Milhar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Centen</a:t>
                      </a:r>
                      <a:r>
                        <a:rPr lang="pt-BR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BR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Dezena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Unidade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49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Raiz/Base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49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Expoente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^3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^2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^1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^0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49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Posicional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  <a:endParaRPr lang="en-US" altLang="en-US" sz="16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US" altLang="en-US" sz="16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altLang="en-US" sz="16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16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49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Identificando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altLang="en-US" sz="16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16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altLang="en-US" sz="16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en-US" sz="16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49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Numérico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9*1000</a:t>
                      </a:r>
                      <a:endParaRPr lang="en-US" altLang="en-US" sz="16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1*100</a:t>
                      </a:r>
                      <a:endParaRPr lang="en-US" altLang="en-US" sz="16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9*10</a:t>
                      </a:r>
                      <a:endParaRPr lang="en-US" altLang="en-US" sz="16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2*1</a:t>
                      </a:r>
                      <a:endParaRPr lang="en-US" altLang="en-US" sz="16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49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Fórmula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((9*1000)+(1*100)+(9*10)+(2*1))</a:t>
                      </a:r>
                      <a:r>
                        <a:rPr lang="pt-BR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pt-BR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r>
                        <a:rPr lang="pt-BR" altLang="en-US" sz="16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  <a:r>
                        <a:rPr lang="pt-BR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(Nove Mil Cento e Noventa e Dois)</a:t>
                      </a:r>
                      <a:endParaRPr lang="pt-BR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4000" cy="731520"/>
          </a:xfrm>
        </p:spPr>
        <p:txBody>
          <a:bodyPr/>
          <a:lstStyle/>
          <a:p>
            <a:pPr rtl="0"/>
            <a:r>
              <a:rPr lang="pt-BR" sz="1600"/>
              <a:t>Sistema de Numeração Binário</a:t>
            </a:r>
            <a:br>
              <a:rPr lang="en-US" dirty="0"/>
            </a:br>
            <a:r>
              <a:rPr lang="pt-BR" sz="2400"/>
              <a:t>Notação Posicional Binária </a:t>
            </a:r>
            <a:r>
              <a:rPr lang="pt-BR" sz="2400">
                <a:sym typeface="+mn-ea"/>
              </a:rPr>
              <a:t>(Continuação)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6205" y="718820"/>
            <a:ext cx="8921115" cy="707390"/>
          </a:xfrm>
        </p:spPr>
        <p:txBody>
          <a:bodyPr/>
          <a:lstStyle/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 </a:t>
            </a:r>
            <a:r>
              <a:rPr lang="pt-BR" b="1">
                <a:solidFill>
                  <a:srgbClr val="FF0000"/>
                </a:solidFill>
              </a:rPr>
              <a:t>Notação Posicional</a:t>
            </a:r>
            <a:r>
              <a:rPr lang="pt-BR">
                <a:solidFill>
                  <a:srgbClr val="000000"/>
                </a:solidFill>
              </a:rPr>
              <a:t> significa que um </a:t>
            </a:r>
            <a:r>
              <a:rPr lang="pt-BR" b="1">
                <a:solidFill>
                  <a:srgbClr val="000000"/>
                </a:solidFill>
              </a:rPr>
              <a:t>dígito </a:t>
            </a:r>
            <a:r>
              <a:rPr lang="pt-BR">
                <a:solidFill>
                  <a:srgbClr val="000000"/>
                </a:solidFill>
              </a:rPr>
              <a:t>representa </a:t>
            </a:r>
            <a:r>
              <a:rPr lang="pt-BR" b="1">
                <a:solidFill>
                  <a:srgbClr val="0070C0"/>
                </a:solidFill>
              </a:rPr>
              <a:t>Valores Diferentes</a:t>
            </a:r>
            <a:r>
              <a:rPr lang="pt-BR">
                <a:solidFill>
                  <a:srgbClr val="000000"/>
                </a:solidFill>
              </a:rPr>
              <a:t>, dependendo da </a:t>
            </a:r>
            <a:r>
              <a:rPr lang="pt-BR" b="1">
                <a:solidFill>
                  <a:srgbClr val="000000"/>
                </a:solidFill>
              </a:rPr>
              <a:t>posição </a:t>
            </a:r>
            <a:r>
              <a:rPr lang="pt-BR">
                <a:solidFill>
                  <a:srgbClr val="000000"/>
                </a:solidFill>
              </a:rPr>
              <a:t>que ocupa na</a:t>
            </a:r>
            <a:r>
              <a:rPr lang="pt-BR">
                <a:solidFill>
                  <a:srgbClr val="000000"/>
                </a:solidFill>
              </a:rPr>
              <a:t> sequência de números.</a:t>
            </a:r>
            <a:endParaRPr lang="pt-BR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6205" y="1473200"/>
          <a:ext cx="3672205" cy="172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611505"/>
                <a:gridCol w="563245"/>
                <a:gridCol w="532130"/>
                <a:gridCol w="542925"/>
              </a:tblGrid>
              <a:tr h="319405"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Raiz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</a:tr>
              <a:tr h="542925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/>
                        <a:t>Posição no número</a:t>
                      </a:r>
                      <a:endParaRPr lang="pt-BR" sz="14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3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2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4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  <a:tr h="319405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/>
                        <a:t>Cálculo</a:t>
                      </a:r>
                      <a:endParaRPr lang="pt-BR" sz="14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(10</a:t>
                      </a:r>
                      <a:r>
                        <a:rPr lang="pt-BR" sz="1400" baseline="30000"/>
                        <a:t>3</a:t>
                      </a:r>
                      <a:r>
                        <a:rPr lang="pt-BR" sz="1400"/>
                        <a:t>)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(10</a:t>
                      </a:r>
                      <a:r>
                        <a:rPr lang="pt-BR" sz="1400" baseline="30000"/>
                        <a:t>2</a:t>
                      </a:r>
                      <a:r>
                        <a:rPr lang="pt-BR" sz="1400"/>
                        <a:t>)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(10</a:t>
                      </a:r>
                      <a:r>
                        <a:rPr lang="pt-BR" sz="1400" baseline="30000"/>
                        <a:t>1</a:t>
                      </a:r>
                      <a:r>
                        <a:rPr lang="pt-BR" sz="1400"/>
                        <a:t>)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(10</a:t>
                      </a:r>
                      <a:r>
                        <a:rPr lang="pt-BR" sz="1400" b="1" baseline="3000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)</a:t>
                      </a:r>
                      <a:endParaRPr lang="pt-BR" sz="14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  <a:tr h="542925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/>
                        <a:t>Valor da posição</a:t>
                      </a:r>
                      <a:endParaRPr lang="pt-BR" sz="14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1000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4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Striped Right Arrow 6"/>
          <p:cNvSpPr/>
          <p:nvPr/>
        </p:nvSpPr>
        <p:spPr>
          <a:xfrm>
            <a:off x="3832174" y="2336343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57040" y="1473200"/>
          <a:ext cx="4707255" cy="19551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98930"/>
                <a:gridCol w="780415"/>
                <a:gridCol w="797560"/>
                <a:gridCol w="741680"/>
                <a:gridCol w="788670"/>
              </a:tblGrid>
              <a:tr h="400685">
                <a:tc>
                  <a:txBody>
                    <a:bodyPr/>
                    <a:lstStyle/>
                    <a:p>
                      <a:pPr algn="ctr"/>
                      <a:r>
                        <a:rPr lang="pt-BR" altLang="en-US" sz="1200" dirty="0"/>
                        <a:t>Descrição</a:t>
                      </a:r>
                      <a:endParaRPr lang="pt-BR" altLang="en-US" sz="12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Milhar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Centena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Dezena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Unidade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4795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/>
                        <a:t>Valor Posicional</a:t>
                      </a:r>
                      <a:endParaRPr lang="pt-BR" sz="12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1000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543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/>
                        <a:t>Número Decimal (1234)</a:t>
                      </a:r>
                      <a:endParaRPr lang="pt-BR" sz="12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2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3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4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416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/>
                        <a:t>Cálculo (Multiplicar)</a:t>
                      </a:r>
                      <a:endParaRPr lang="pt-BR" sz="12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 x 1000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2 x 100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3 x 10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4 x 1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4795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/>
                        <a:t>Adicionar (Somar)</a:t>
                      </a:r>
                      <a:endParaRPr lang="pt-BR" sz="12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1000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+ 200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+ 30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+ 4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4795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/>
                        <a:t>Resultado</a:t>
                      </a:r>
                      <a:endParaRPr lang="pt-BR" sz="1200" b="1"/>
                    </a:p>
                  </a:txBody>
                  <a:tcPr anchor="ctr" anchorCtr="0"/>
                </a:tc>
                <a:tc gridSpan="4"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1.234</a:t>
                      </a:r>
                      <a:endParaRPr lang="pt-BR" sz="12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" name="Content Placeholder 3"/>
          <p:cNvSpPr>
            <a:spLocks noGrp="1"/>
          </p:cNvSpPr>
          <p:nvPr/>
        </p:nvSpPr>
        <p:spPr>
          <a:xfrm>
            <a:off x="111125" y="3437255"/>
            <a:ext cx="8852535" cy="136906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 dirty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 rtl="0">
              <a:buFont typeface="Arial" panose="020B0604020202020204" pitchFamily="34" charset="0"/>
              <a:buAutoNum type="arabicPeriod"/>
            </a:pPr>
            <a:r>
              <a:rPr lang="pt-BR" sz="1850">
                <a:solidFill>
                  <a:srgbClr val="000000"/>
                </a:solidFill>
              </a:rPr>
              <a:t>Todo número elevado </a:t>
            </a:r>
            <a:r>
              <a:rPr lang="pt-BR" sz="1850" b="1">
                <a:solidFill>
                  <a:srgbClr val="000000"/>
                </a:solidFill>
              </a:rPr>
              <a:t>(Expoente/Potência)</a:t>
            </a:r>
            <a:r>
              <a:rPr lang="pt-BR" sz="1850">
                <a:solidFill>
                  <a:srgbClr val="000000"/>
                </a:solidFill>
              </a:rPr>
              <a:t> a: </a:t>
            </a:r>
            <a:r>
              <a:rPr lang="pt-BR" sz="1850" b="1">
                <a:solidFill>
                  <a:srgbClr val="FF0000"/>
                </a:solidFill>
              </a:rPr>
              <a:t>0 (zero) é 1 (um)</a:t>
            </a:r>
            <a:endParaRPr lang="pt-BR" sz="1850">
              <a:solidFill>
                <a:srgbClr val="000000"/>
              </a:solidFill>
            </a:endParaRPr>
          </a:p>
          <a:p>
            <a:pPr marL="457200" indent="-457200" algn="just" rtl="0">
              <a:buFont typeface="Arial" panose="020B0604020202020204" pitchFamily="34" charset="0"/>
              <a:buAutoNum type="arabicPeriod"/>
            </a:pPr>
            <a:r>
              <a:rPr lang="pt-BR" sz="1850">
                <a:solidFill>
                  <a:srgbClr val="000000"/>
                </a:solidFill>
              </a:rPr>
              <a:t>Todo número elevado a: </a:t>
            </a:r>
            <a:r>
              <a:rPr lang="pt-BR" sz="1850" b="1">
                <a:solidFill>
                  <a:srgbClr val="FF0000"/>
                </a:solidFill>
              </a:rPr>
              <a:t>1 (um)</a:t>
            </a:r>
            <a:r>
              <a:rPr lang="pt-BR" sz="1850">
                <a:solidFill>
                  <a:srgbClr val="000000"/>
                </a:solidFill>
              </a:rPr>
              <a:t> é ele mesmo, </a:t>
            </a:r>
            <a:r>
              <a:rPr lang="pt-BR" sz="1850" b="1">
                <a:solidFill>
                  <a:srgbClr val="000000"/>
                </a:solidFill>
              </a:rPr>
              <a:t>exemplo</a:t>
            </a:r>
            <a:r>
              <a:rPr lang="pt-BR" sz="1850">
                <a:solidFill>
                  <a:srgbClr val="000000"/>
                </a:solidFill>
              </a:rPr>
              <a:t>: </a:t>
            </a:r>
            <a:r>
              <a:rPr lang="pt-BR" sz="1850" b="1">
                <a:solidFill>
                  <a:srgbClr val="0070C0"/>
                </a:solidFill>
              </a:rPr>
              <a:t>5</a:t>
            </a:r>
            <a:r>
              <a:rPr lang="pt-BR" sz="1850" b="1" baseline="30000">
                <a:solidFill>
                  <a:srgbClr val="FF0000"/>
                </a:solidFill>
              </a:rPr>
              <a:t>1</a:t>
            </a:r>
            <a:r>
              <a:rPr lang="pt-BR" sz="1850" b="1" baseline="30000">
                <a:solidFill>
                  <a:srgbClr val="0070C0"/>
                </a:solidFill>
              </a:rPr>
              <a:t> </a:t>
            </a:r>
            <a:r>
              <a:rPr lang="pt-BR" sz="1850" b="1">
                <a:solidFill>
                  <a:srgbClr val="0070C0"/>
                </a:solidFill>
              </a:rPr>
              <a:t>= 5 | 133</a:t>
            </a:r>
            <a:r>
              <a:rPr lang="pt-BR" sz="1850" b="1" baseline="30000">
                <a:solidFill>
                  <a:srgbClr val="FF0000"/>
                </a:solidFill>
              </a:rPr>
              <a:t>1</a:t>
            </a:r>
            <a:r>
              <a:rPr lang="pt-BR" sz="1850" b="1" baseline="30000">
                <a:solidFill>
                  <a:srgbClr val="0070C0"/>
                </a:solidFill>
              </a:rPr>
              <a:t> </a:t>
            </a:r>
            <a:r>
              <a:rPr lang="pt-BR" sz="1850" b="1">
                <a:solidFill>
                  <a:srgbClr val="0070C0"/>
                </a:solidFill>
              </a:rPr>
              <a:t>= 133</a:t>
            </a:r>
            <a:endParaRPr lang="pt-BR" sz="1850" b="1">
              <a:solidFill>
                <a:srgbClr val="0070C0"/>
              </a:solidFill>
            </a:endParaRPr>
          </a:p>
          <a:p>
            <a:pPr marL="457200" indent="-457200" algn="just" rtl="0">
              <a:buFont typeface="Arial" panose="020B0604020202020204" pitchFamily="34" charset="0"/>
              <a:buAutoNum type="arabicPeriod"/>
            </a:pPr>
            <a:r>
              <a:rPr lang="pt-BR" sz="1850">
                <a:solidFill>
                  <a:srgbClr val="000000"/>
                </a:solidFill>
              </a:rPr>
              <a:t>O </a:t>
            </a:r>
            <a:r>
              <a:rPr lang="pt-BR" sz="1850" b="1">
                <a:solidFill>
                  <a:srgbClr val="FF0000"/>
                </a:solidFill>
                <a:sym typeface="+mn-ea"/>
              </a:rPr>
              <a:t>0 (zero)</a:t>
            </a:r>
            <a:r>
              <a:rPr lang="pt-BR" sz="1850">
                <a:solidFill>
                  <a:srgbClr val="000000"/>
                </a:solidFill>
              </a:rPr>
              <a:t> foi criado para </a:t>
            </a:r>
            <a:r>
              <a:rPr lang="pt-BR" sz="1850" b="1">
                <a:solidFill>
                  <a:srgbClr val="0070C0"/>
                </a:solidFill>
              </a:rPr>
              <a:t>Deslocar os Valores para Esquerda</a:t>
            </a:r>
            <a:r>
              <a:rPr lang="pt-BR" sz="1850">
                <a:solidFill>
                  <a:srgbClr val="000000"/>
                </a:solidFill>
              </a:rPr>
              <a:t> </a:t>
            </a:r>
            <a:r>
              <a:rPr lang="pt-BR" sz="1850" b="1">
                <a:solidFill>
                  <a:srgbClr val="000000"/>
                </a:solidFill>
              </a:rPr>
              <a:t>(simboliza nada no sistema Decimal).</a:t>
            </a:r>
            <a:endParaRPr lang="pt-BR" sz="1850" b="1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4000" cy="731520"/>
          </a:xfrm>
        </p:spPr>
        <p:txBody>
          <a:bodyPr/>
          <a:lstStyle/>
          <a:p>
            <a:pPr rtl="0"/>
            <a:r>
              <a:rPr lang="pt-BR" sz="1600"/>
              <a:t>Sistema de Numeração Binário</a:t>
            </a:r>
            <a:br>
              <a:rPr lang="en-US" dirty="0"/>
            </a:br>
            <a:r>
              <a:rPr lang="pt-BR" sz="2400"/>
              <a:t>Notação Posicional Binária </a:t>
            </a:r>
            <a:r>
              <a:rPr lang="pt-BR" sz="2400">
                <a:sym typeface="+mn-ea"/>
              </a:rPr>
              <a:t>(Continuação)</a:t>
            </a:r>
            <a:endParaRPr lang="pt-BR" sz="2400"/>
          </a:p>
        </p:txBody>
      </p:sp>
      <p:sp>
        <p:nvSpPr>
          <p:cNvPr id="2" name="Content Placeholder 3"/>
          <p:cNvSpPr>
            <a:spLocks noGrp="1"/>
          </p:cNvSpPr>
          <p:nvPr/>
        </p:nvSpPr>
        <p:spPr>
          <a:xfrm>
            <a:off x="104775" y="699770"/>
            <a:ext cx="8852535" cy="386969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 dirty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 rtl="0">
              <a:buFont typeface="Arial" panose="020B0604020202020204" pitchFamily="34" charset="0"/>
              <a:buAutoNum type="arabicPeriod"/>
            </a:pPr>
            <a:r>
              <a:rPr lang="pt-BR" sz="3000" b="1">
                <a:solidFill>
                  <a:srgbClr val="000000"/>
                </a:solidFill>
              </a:rPr>
              <a:t>Base 2:</a:t>
            </a:r>
            <a:r>
              <a:rPr lang="pt-BR" sz="3000">
                <a:solidFill>
                  <a:srgbClr val="000000"/>
                </a:solidFill>
              </a:rPr>
              <a:t> </a:t>
            </a:r>
            <a:r>
              <a:rPr lang="pt-BR" sz="3000" b="1">
                <a:solidFill>
                  <a:srgbClr val="FF0000"/>
                </a:solidFill>
              </a:rPr>
              <a:t>0 ou 1</a:t>
            </a:r>
            <a:endParaRPr lang="pt-BR" sz="3000" b="1">
              <a:solidFill>
                <a:srgbClr val="FF0000"/>
              </a:solidFill>
            </a:endParaRPr>
          </a:p>
          <a:p>
            <a:pPr marL="914400" lvl="1" indent="-457200" algn="just" rtl="0">
              <a:buFont typeface="Arial" panose="020B0604020202020204" pitchFamily="34" charset="0"/>
              <a:buAutoNum type="arabicPeriod"/>
            </a:pPr>
            <a:r>
              <a:rPr lang="pt-BR" sz="2450">
                <a:solidFill>
                  <a:srgbClr val="000000"/>
                </a:solidFill>
              </a:rPr>
              <a:t>Chamado de: </a:t>
            </a:r>
            <a:r>
              <a:rPr lang="pt-BR" sz="2450" b="1">
                <a:solidFill>
                  <a:srgbClr val="0070C0"/>
                </a:solidFill>
              </a:rPr>
              <a:t>Binário</a:t>
            </a:r>
            <a:endParaRPr lang="pt-BR" sz="2450">
              <a:solidFill>
                <a:srgbClr val="000000"/>
              </a:solidFill>
            </a:endParaRPr>
          </a:p>
          <a:p>
            <a:pPr marL="457200" indent="-457200" algn="just" rtl="0">
              <a:buFont typeface="Arial" panose="020B0604020202020204" pitchFamily="34" charset="0"/>
              <a:buAutoNum type="arabicPeriod"/>
            </a:pPr>
            <a:r>
              <a:rPr lang="pt-BR" sz="3000" b="1">
                <a:solidFill>
                  <a:srgbClr val="000000"/>
                </a:solidFill>
              </a:rPr>
              <a:t>Base 8:</a:t>
            </a:r>
            <a:r>
              <a:rPr lang="pt-BR" sz="3000">
                <a:solidFill>
                  <a:srgbClr val="000000"/>
                </a:solidFill>
              </a:rPr>
              <a:t> </a:t>
            </a:r>
            <a:r>
              <a:rPr lang="pt-BR" sz="3000" b="1">
                <a:solidFill>
                  <a:srgbClr val="FF0000"/>
                </a:solidFill>
              </a:rPr>
              <a:t>0 1 2 3 4 5 6 7</a:t>
            </a:r>
            <a:endParaRPr lang="pt-BR" sz="3000" b="1">
              <a:solidFill>
                <a:srgbClr val="FF0000"/>
              </a:solidFill>
            </a:endParaRPr>
          </a:p>
          <a:p>
            <a:pPr marL="914400" lvl="1" indent="-457200" algn="just" rtl="0">
              <a:buFont typeface="Arial" panose="020B0604020202020204" pitchFamily="34" charset="0"/>
              <a:buAutoNum type="arabicPeriod"/>
            </a:pPr>
            <a:r>
              <a:rPr lang="pt-BR" sz="2450">
                <a:solidFill>
                  <a:srgbClr val="000000"/>
                </a:solidFill>
              </a:rPr>
              <a:t>Chamado de: </a:t>
            </a:r>
            <a:r>
              <a:rPr lang="pt-BR" sz="2450" b="1">
                <a:solidFill>
                  <a:srgbClr val="0070C0"/>
                </a:solidFill>
              </a:rPr>
              <a:t>Octeto</a:t>
            </a:r>
            <a:endParaRPr lang="pt-BR" sz="2450">
              <a:solidFill>
                <a:srgbClr val="000000"/>
              </a:solidFill>
            </a:endParaRPr>
          </a:p>
          <a:p>
            <a:pPr marL="457200" indent="-457200" algn="just" rtl="0">
              <a:buFont typeface="Arial" panose="020B0604020202020204" pitchFamily="34" charset="0"/>
              <a:buAutoNum type="arabicPeriod"/>
            </a:pPr>
            <a:r>
              <a:rPr lang="pt-BR" sz="3000" b="1">
                <a:solidFill>
                  <a:srgbClr val="000000"/>
                </a:solidFill>
              </a:rPr>
              <a:t>Base 10:</a:t>
            </a:r>
            <a:r>
              <a:rPr lang="pt-BR" sz="3000">
                <a:solidFill>
                  <a:srgbClr val="000000"/>
                </a:solidFill>
              </a:rPr>
              <a:t> </a:t>
            </a:r>
            <a:r>
              <a:rPr lang="pt-BR" sz="3000" b="1">
                <a:solidFill>
                  <a:srgbClr val="FF0000"/>
                </a:solidFill>
              </a:rPr>
              <a:t>0 1 2 3 4 5 6 7 8 9</a:t>
            </a:r>
            <a:endParaRPr lang="pt-BR" sz="3000" b="1">
              <a:solidFill>
                <a:srgbClr val="FF0000"/>
              </a:solidFill>
            </a:endParaRPr>
          </a:p>
          <a:p>
            <a:pPr marL="914400" lvl="1" indent="-457200" algn="just" rtl="0">
              <a:buFont typeface="Arial" panose="020B0604020202020204" pitchFamily="34" charset="0"/>
              <a:buAutoNum type="arabicPeriod"/>
            </a:pPr>
            <a:r>
              <a:rPr lang="pt-BR" sz="2450">
                <a:solidFill>
                  <a:srgbClr val="000000"/>
                </a:solidFill>
              </a:rPr>
              <a:t>Chamado de: </a:t>
            </a:r>
            <a:r>
              <a:rPr lang="pt-BR" sz="2450" b="1">
                <a:solidFill>
                  <a:srgbClr val="0070C0"/>
                </a:solidFill>
              </a:rPr>
              <a:t>Decimal</a:t>
            </a:r>
            <a:endParaRPr lang="pt-BR" sz="2450">
              <a:solidFill>
                <a:srgbClr val="000000"/>
              </a:solidFill>
            </a:endParaRPr>
          </a:p>
          <a:p>
            <a:pPr marL="457200" indent="-457200" algn="just" rtl="0">
              <a:buFont typeface="Arial" panose="020B0604020202020204" pitchFamily="34" charset="0"/>
              <a:buAutoNum type="arabicPeriod"/>
            </a:pPr>
            <a:r>
              <a:rPr lang="pt-BR" sz="3000" b="1">
                <a:solidFill>
                  <a:srgbClr val="000000"/>
                </a:solidFill>
              </a:rPr>
              <a:t>Base 16:</a:t>
            </a:r>
            <a:r>
              <a:rPr lang="pt-BR" sz="3000">
                <a:solidFill>
                  <a:srgbClr val="000000"/>
                </a:solidFill>
              </a:rPr>
              <a:t> </a:t>
            </a:r>
            <a:r>
              <a:rPr lang="pt-BR" sz="3000" b="1">
                <a:solidFill>
                  <a:srgbClr val="FF0000"/>
                </a:solidFill>
              </a:rPr>
              <a:t>0 1 2 3 4 5 6 7 8 9 A B C D E F</a:t>
            </a:r>
            <a:endParaRPr lang="pt-BR" sz="3000">
              <a:solidFill>
                <a:srgbClr val="000000"/>
              </a:solidFill>
            </a:endParaRPr>
          </a:p>
          <a:p>
            <a:pPr marL="914400" lvl="1" indent="-457200" algn="just" rtl="0">
              <a:buFont typeface="Arial" panose="020B0604020202020204" pitchFamily="34" charset="0"/>
              <a:buAutoNum type="arabicPeriod"/>
            </a:pPr>
            <a:r>
              <a:rPr lang="pt-BR" sz="2450">
                <a:solidFill>
                  <a:srgbClr val="000000"/>
                </a:solidFill>
              </a:rPr>
              <a:t>Chamado de: </a:t>
            </a:r>
            <a:r>
              <a:rPr lang="pt-BR" sz="2450" b="1">
                <a:solidFill>
                  <a:srgbClr val="0070C0"/>
                </a:solidFill>
              </a:rPr>
              <a:t>Hexadecimal</a:t>
            </a:r>
            <a:endParaRPr lang="pt-BR" sz="2450" b="1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4000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</a:t>
            </a:r>
            <a:r>
              <a:rPr lang="pt-BR" sz="2400">
                <a:sym typeface="+mn-ea"/>
              </a:rPr>
              <a:t>Decimal</a:t>
            </a:r>
            <a:r>
              <a:rPr lang="pt-BR" sz="2400"/>
              <a:t> para Binário (Regras)</a:t>
            </a:r>
            <a:endParaRPr lang="pt-BR" sz="2400"/>
          </a:p>
        </p:txBody>
      </p:sp>
      <p:sp>
        <p:nvSpPr>
          <p:cNvPr id="4" name="Caixa de Texto 3"/>
          <p:cNvSpPr txBox="1"/>
          <p:nvPr/>
        </p:nvSpPr>
        <p:spPr>
          <a:xfrm>
            <a:off x="67945" y="752475"/>
            <a:ext cx="8861425" cy="3861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AutoNum type="arabicPeriod"/>
            </a:pPr>
            <a:r>
              <a:rPr lang="pt-BR" altLang="en-US" sz="3500"/>
              <a:t> </a:t>
            </a:r>
            <a:r>
              <a:rPr lang="pt-BR" altLang="en-US" sz="3500" b="1">
                <a:solidFill>
                  <a:srgbClr val="000000"/>
                </a:solidFill>
              </a:rPr>
              <a:t>Sistema Binário: </a:t>
            </a:r>
            <a:endParaRPr lang="pt-BR" altLang="en-US" sz="3500" b="1">
              <a:solidFill>
                <a:srgbClr val="000000"/>
              </a:solidFill>
            </a:endParaRPr>
          </a:p>
          <a:p>
            <a:pPr marL="800100" lvl="1" indent="-342900" algn="l">
              <a:buAutoNum type="arabicPeriod"/>
            </a:pPr>
            <a:r>
              <a:rPr lang="pt-BR" altLang="en-US" sz="3500"/>
              <a:t> </a:t>
            </a:r>
            <a:r>
              <a:rPr lang="pt-BR" altLang="en-US" sz="3500" b="1">
                <a:solidFill>
                  <a:srgbClr val="FF0000"/>
                </a:solidFill>
              </a:rPr>
              <a:t>Base 2</a:t>
            </a:r>
            <a:r>
              <a:rPr lang="pt-BR" altLang="en-US" sz="3500"/>
              <a:t> = </a:t>
            </a:r>
            <a:r>
              <a:rPr lang="pt-BR" altLang="en-US" sz="3500" b="1">
                <a:solidFill>
                  <a:srgbClr val="0070C0"/>
                </a:solidFill>
              </a:rPr>
              <a:t>0 ou 1 (bits)</a:t>
            </a:r>
            <a:endParaRPr lang="pt-BR" altLang="en-US" sz="3500"/>
          </a:p>
          <a:p>
            <a:pPr marL="342900" indent="-342900" algn="l">
              <a:buAutoNum type="arabicPeriod"/>
            </a:pPr>
            <a:r>
              <a:rPr lang="pt-BR" altLang="en-US" sz="3500"/>
              <a:t> </a:t>
            </a:r>
            <a:r>
              <a:rPr lang="pt-BR" altLang="en-US" sz="3500" b="1">
                <a:solidFill>
                  <a:srgbClr val="000000"/>
                </a:solidFill>
              </a:rPr>
              <a:t>Lembrando:</a:t>
            </a:r>
            <a:r>
              <a:rPr lang="pt-BR" altLang="en-US" sz="3500">
                <a:solidFill>
                  <a:srgbClr val="000000"/>
                </a:solidFill>
              </a:rPr>
              <a:t> </a:t>
            </a:r>
            <a:r>
              <a:rPr lang="pt-BR" altLang="en-US" sz="3500" b="1">
                <a:solidFill>
                  <a:srgbClr val="FF0000"/>
                </a:solidFill>
              </a:rPr>
              <a:t>8 bits = 1 Byte</a:t>
            </a:r>
            <a:endParaRPr lang="pt-BR" altLang="en-US" sz="3500" b="1">
              <a:solidFill>
                <a:srgbClr val="FF0000"/>
              </a:solidFill>
            </a:endParaRPr>
          </a:p>
          <a:p>
            <a:pPr marL="342900" indent="-342900" algn="l">
              <a:buAutoNum type="arabicPeriod"/>
            </a:pPr>
            <a:r>
              <a:rPr lang="pt-BR" altLang="en-US" sz="3500"/>
              <a:t> </a:t>
            </a:r>
            <a:r>
              <a:rPr lang="pt-BR" altLang="en-US" sz="3500" b="1">
                <a:solidFill>
                  <a:srgbClr val="000000"/>
                </a:solidFill>
              </a:rPr>
              <a:t>Lembrando NOVAMENTE: </a:t>
            </a:r>
            <a:endParaRPr lang="pt-BR" altLang="en-US" sz="3500" b="1"/>
          </a:p>
          <a:p>
            <a:pPr marL="800100" lvl="1" indent="-342900" algn="l">
              <a:buAutoNum type="arabicPeriod"/>
            </a:pPr>
            <a:r>
              <a:rPr lang="pt-BR" altLang="en-US" sz="3500"/>
              <a:t> </a:t>
            </a:r>
            <a:r>
              <a:rPr lang="pt-BR" altLang="en-US" sz="3500" b="1">
                <a:solidFill>
                  <a:srgbClr val="FF0000"/>
                </a:solidFill>
              </a:rPr>
              <a:t>0 (zero)</a:t>
            </a:r>
            <a:r>
              <a:rPr lang="pt-BR" altLang="en-US" sz="3500"/>
              <a:t> conta em valores </a:t>
            </a:r>
            <a:r>
              <a:rPr lang="pt-BR" altLang="en-US" sz="3500" b="1">
                <a:solidFill>
                  <a:srgbClr val="0070C0"/>
                </a:solidFill>
              </a:rPr>
              <a:t>binários</a:t>
            </a:r>
            <a:endParaRPr lang="pt-BR" altLang="en-US" sz="3500"/>
          </a:p>
          <a:p>
            <a:pPr marL="342900" indent="-342900" algn="l">
              <a:buAutoNum type="arabicPeriod"/>
            </a:pPr>
            <a:r>
              <a:rPr lang="pt-BR" altLang="en-US" sz="3500"/>
              <a:t> </a:t>
            </a:r>
            <a:r>
              <a:rPr lang="pt-BR" altLang="en-US" sz="3500" b="1">
                <a:solidFill>
                  <a:srgbClr val="000000"/>
                </a:solidFill>
              </a:rPr>
              <a:t>Conversão de Decimal para Binário:</a:t>
            </a:r>
            <a:endParaRPr lang="pt-BR" altLang="en-US" sz="3500" b="1"/>
          </a:p>
          <a:p>
            <a:pPr marL="800100" lvl="1" indent="-342900" algn="l">
              <a:buAutoNum type="arabicPeriod"/>
            </a:pPr>
            <a:r>
              <a:rPr lang="pt-BR" altLang="en-US" sz="3500"/>
              <a:t> </a:t>
            </a:r>
            <a:r>
              <a:rPr lang="pt-BR" altLang="en-US" sz="3500" b="1">
                <a:solidFill>
                  <a:srgbClr val="FF0000"/>
                </a:solidFill>
              </a:rPr>
              <a:t>Regra = divisão CONTÍNUA por 2</a:t>
            </a:r>
            <a:endParaRPr lang="pt-BR" altLang="en-US" sz="35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3365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</a:t>
            </a:r>
            <a:r>
              <a:rPr lang="pt-BR" sz="2400">
                <a:sym typeface="+mn-ea"/>
              </a:rPr>
              <a:t>Decimal</a:t>
            </a:r>
            <a:r>
              <a:rPr lang="pt-BR" sz="2400"/>
              <a:t> para Binário (Regra - Continuação)</a:t>
            </a:r>
            <a:endParaRPr lang="pt-BR" sz="2400"/>
          </a:p>
        </p:txBody>
      </p:sp>
      <p:pic>
        <p:nvPicPr>
          <p:cNvPr id="2" name="Picture 4" descr="Captura de tela de 2015-11-15 16:18:54"/>
          <p:cNvPicPr>
            <a:picLocks noChangeAspect="1"/>
          </p:cNvPicPr>
          <p:nvPr/>
        </p:nvPicPr>
        <p:blipFill>
          <a:blip r:embed="rId1"/>
          <a:srcRect l="12999" t="18666" r="17525" b="16753"/>
          <a:stretch>
            <a:fillRect/>
          </a:stretch>
        </p:blipFill>
        <p:spPr>
          <a:xfrm>
            <a:off x="93980" y="673735"/>
            <a:ext cx="8803005" cy="386842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4" name="Conector Reto 3"/>
          <p:cNvCxnSpPr/>
          <p:nvPr/>
        </p:nvCxnSpPr>
        <p:spPr>
          <a:xfrm flipH="1" flipV="1">
            <a:off x="1577340" y="1871345"/>
            <a:ext cx="803910" cy="69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/>
          <p:cNvCxnSpPr/>
          <p:nvPr/>
        </p:nvCxnSpPr>
        <p:spPr>
          <a:xfrm flipH="1" flipV="1">
            <a:off x="739140" y="1202055"/>
            <a:ext cx="844550" cy="662305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3365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</a:t>
            </a:r>
            <a:r>
              <a:rPr lang="pt-BR" sz="2400">
                <a:sym typeface="+mn-ea"/>
              </a:rPr>
              <a:t>Decimal</a:t>
            </a:r>
            <a:r>
              <a:rPr lang="pt-BR" sz="2400"/>
              <a:t> para Binário (Regra - Continuação)</a:t>
            </a:r>
            <a:endParaRPr lang="pt-BR" sz="2400"/>
          </a:p>
        </p:txBody>
      </p:sp>
      <p:graphicFrame>
        <p:nvGraphicFramePr>
          <p:cNvPr id="4" name="Tabela 3"/>
          <p:cNvGraphicFramePr/>
          <p:nvPr/>
        </p:nvGraphicFramePr>
        <p:xfrm>
          <a:off x="114300" y="765810"/>
          <a:ext cx="8956040" cy="167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505"/>
                <a:gridCol w="1119505"/>
                <a:gridCol w="1119505"/>
                <a:gridCol w="1119505"/>
                <a:gridCol w="1119505"/>
                <a:gridCol w="1119505"/>
                <a:gridCol w="1119505"/>
                <a:gridCol w="1119505"/>
              </a:tblGrid>
              <a:tr h="374650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Exponenciação (Potênciação) de Base 2</a:t>
                      </a:r>
                      <a:endParaRPr lang="pt-BR" altLang="en-US" sz="3000"/>
                    </a:p>
                    <a:p>
                      <a:pPr algn="ctr">
                        <a:buNone/>
                      </a:pPr>
                      <a:r>
                        <a:rPr lang="pt-BR" altLang="en-US" sz="3000"/>
                        <a:t>(Regra: Da </a:t>
                      </a:r>
                      <a:r>
                        <a:rPr lang="pt-BR" altLang="en-US" sz="3000">
                          <a:solidFill>
                            <a:srgbClr val="FFFF00"/>
                          </a:solidFill>
                        </a:rPr>
                        <a:t>DIREITA </a:t>
                      </a:r>
                      <a:r>
                        <a:rPr lang="pt-BR" altLang="en-US" sz="3000"/>
                        <a:t>para a </a:t>
                      </a:r>
                      <a:r>
                        <a:rPr lang="pt-BR" altLang="en-US" sz="3000">
                          <a:solidFill>
                            <a:srgbClr val="FFFF00"/>
                          </a:solidFill>
                        </a:rPr>
                        <a:t>ESQUERDA</a:t>
                      </a:r>
                      <a:r>
                        <a:rPr lang="pt-BR" altLang="en-US" sz="3000"/>
                        <a:t>)</a:t>
                      </a:r>
                      <a:endParaRPr lang="pt-BR" altLang="en-US" sz="30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7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6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5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4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3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2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/>
                        <a:t>1</a:t>
                      </a:r>
                      <a:endParaRPr lang="pt-BR" altLang="en-US" sz="30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/>
                        <a:t>0</a:t>
                      </a:r>
                      <a:endParaRPr lang="pt-BR" altLang="en-US" sz="3000" b="1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2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2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2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2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2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/>
                        <a:t>2</a:t>
                      </a:r>
                      <a:endParaRPr lang="pt-BR" altLang="en-US" sz="3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/>
                        <a:t>2</a:t>
                      </a:r>
                      <a:endParaRPr lang="pt-BR" altLang="en-US" sz="30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/>
                        <a:t>2</a:t>
                      </a:r>
                      <a:endParaRPr lang="pt-BR" altLang="en-US" sz="3000" b="1"/>
                    </a:p>
                  </a:txBody>
                  <a:tcPr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>
                          <a:solidFill>
                            <a:srgbClr val="00B050"/>
                          </a:solidFill>
                        </a:rPr>
                        <a:t>128</a:t>
                      </a:r>
                      <a:endParaRPr lang="pt-BR" altLang="en-US" sz="30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>
                          <a:solidFill>
                            <a:srgbClr val="00B050"/>
                          </a:solidFill>
                        </a:rPr>
                        <a:t>64</a:t>
                      </a:r>
                      <a:endParaRPr lang="pt-BR" altLang="en-US" sz="30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>
                          <a:solidFill>
                            <a:srgbClr val="00B050"/>
                          </a:solidFill>
                        </a:rPr>
                        <a:t>32</a:t>
                      </a:r>
                      <a:endParaRPr lang="pt-BR" altLang="en-US" sz="30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>
                          <a:solidFill>
                            <a:srgbClr val="00B050"/>
                          </a:solidFill>
                        </a:rPr>
                        <a:t>16</a:t>
                      </a:r>
                      <a:endParaRPr lang="pt-BR" altLang="en-US" sz="30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>
                          <a:solidFill>
                            <a:srgbClr val="00B050"/>
                          </a:solidFill>
                        </a:rPr>
                        <a:t>8</a:t>
                      </a:r>
                      <a:endParaRPr lang="pt-BR" altLang="en-US" sz="30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>
                          <a:solidFill>
                            <a:srgbClr val="00B050"/>
                          </a:solidFill>
                        </a:rPr>
                        <a:t>4</a:t>
                      </a:r>
                      <a:endParaRPr lang="pt-BR" altLang="en-US" sz="30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>
                          <a:solidFill>
                            <a:srgbClr val="0070C0"/>
                          </a:solidFill>
                        </a:rPr>
                        <a:t>2</a:t>
                      </a:r>
                      <a:endParaRPr lang="pt-BR" altLang="en-US" sz="3000" b="1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30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altLang="en-US" sz="30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aixa de Texto 4"/>
          <p:cNvSpPr txBox="1"/>
          <p:nvPr/>
        </p:nvSpPr>
        <p:spPr>
          <a:xfrm>
            <a:off x="114300" y="3697605"/>
            <a:ext cx="89560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2800" b="1"/>
              <a:t>DICA:</a:t>
            </a:r>
            <a:r>
              <a:rPr lang="pt-BR" altLang="en-US" sz="2800"/>
              <a:t> Depois da potência de: </a:t>
            </a:r>
            <a:r>
              <a:rPr lang="pt-BR" altLang="en-US" sz="2800" b="1">
                <a:solidFill>
                  <a:srgbClr val="FF0000"/>
                </a:solidFill>
              </a:rPr>
              <a:t>2</a:t>
            </a:r>
            <a:r>
              <a:rPr lang="pt-BR" altLang="en-US" sz="2800" b="1" baseline="30000">
                <a:solidFill>
                  <a:srgbClr val="FF0000"/>
                </a:solidFill>
              </a:rPr>
              <a:t>1</a:t>
            </a:r>
            <a:r>
              <a:rPr lang="pt-BR" altLang="en-US" sz="2800" b="1">
                <a:solidFill>
                  <a:srgbClr val="FF0000"/>
                </a:solidFill>
              </a:rPr>
              <a:t> = 2</a:t>
            </a:r>
            <a:r>
              <a:rPr lang="pt-BR" altLang="en-US" sz="2800"/>
              <a:t> os próximos valores sempre será o </a:t>
            </a:r>
            <a:r>
              <a:rPr lang="pt-BR" altLang="en-US" sz="2800" b="1">
                <a:solidFill>
                  <a:srgbClr val="00B050"/>
                </a:solidFill>
              </a:rPr>
              <a:t>DOBRO de 2 (dois)</a:t>
            </a:r>
            <a:endParaRPr lang="pt-BR" altLang="en-US" sz="2800" b="1">
              <a:solidFill>
                <a:srgbClr val="00B050"/>
              </a:solidFill>
            </a:endParaRPr>
          </a:p>
        </p:txBody>
      </p:sp>
      <p:cxnSp>
        <p:nvCxnSpPr>
          <p:cNvPr id="2" name="Conector de Seta Reta 1"/>
          <p:cNvCxnSpPr/>
          <p:nvPr/>
        </p:nvCxnSpPr>
        <p:spPr>
          <a:xfrm flipH="1">
            <a:off x="130810" y="3574415"/>
            <a:ext cx="8894445" cy="203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sz="2400">
                <a:sym typeface="+mn-ea"/>
              </a:rPr>
            </a:br>
            <a:r>
              <a:rPr lang="pt-BR" sz="2400">
                <a:sym typeface="+mn-ea"/>
              </a:rPr>
              <a:t>Notação Posicional Binária (Continuação)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6040" y="692785"/>
            <a:ext cx="8975725" cy="334645"/>
          </a:xfrm>
        </p:spPr>
        <p:txBody>
          <a:bodyPr/>
          <a:lstStyle/>
          <a:p>
            <a:pPr marL="0" indent="0" algn="ctr" rtl="0"/>
            <a:r>
              <a:rPr lang="pt-BR" sz="1800">
                <a:solidFill>
                  <a:srgbClr val="000000"/>
                </a:solidFill>
              </a:rPr>
              <a:t>O sistema de </a:t>
            </a:r>
            <a:r>
              <a:rPr lang="pt-BR" sz="1800" b="1">
                <a:solidFill>
                  <a:srgbClr val="FF0000"/>
                </a:solidFill>
              </a:rPr>
              <a:t>notação posicional binária</a:t>
            </a:r>
            <a:r>
              <a:rPr lang="pt-BR" sz="1800">
                <a:solidFill>
                  <a:srgbClr val="000000"/>
                </a:solidFill>
              </a:rPr>
              <a:t> opera como mostrado nas tabelas abaixo.</a:t>
            </a:r>
            <a:endParaRPr lang="pt-BR" sz="1800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9065" y="1097280"/>
          <a:ext cx="6193790" cy="149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315"/>
                <a:gridCol w="539750"/>
                <a:gridCol w="494030"/>
                <a:gridCol w="470535"/>
                <a:gridCol w="471170"/>
                <a:gridCol w="539750"/>
                <a:gridCol w="494030"/>
                <a:gridCol w="516255"/>
                <a:gridCol w="528955"/>
              </a:tblGrid>
              <a:tr h="372745"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Raiz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</a:tr>
              <a:tr h="372745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Posição no número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7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6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5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3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</a:tr>
              <a:tr h="372745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Cálculo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7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6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5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4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3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2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1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0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</a:tr>
              <a:tr h="372745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Valor da posição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128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64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32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16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Striped Right Arrow 6"/>
          <p:cNvSpPr/>
          <p:nvPr/>
        </p:nvSpPr>
        <p:spPr>
          <a:xfrm rot="5400000">
            <a:off x="4384040" y="2662555"/>
            <a:ext cx="441960" cy="294005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44370" y="3030855"/>
          <a:ext cx="7056755" cy="16192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1525"/>
                <a:gridCol w="748665"/>
                <a:gridCol w="649605"/>
                <a:gridCol w="643255"/>
                <a:gridCol w="659130"/>
                <a:gridCol w="561340"/>
                <a:gridCol w="562610"/>
                <a:gridCol w="588645"/>
                <a:gridCol w="601980"/>
              </a:tblGrid>
              <a:tr h="329565"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Valor Posicional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128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64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32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16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Número binário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Cálculo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1x128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1x64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0x32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0x16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0x1</a:t>
                      </a:r>
                      <a:endParaRPr lang="pt-BR" sz="1500"/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Adicioná-los...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128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+ 64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</a:tr>
              <a:tr h="329565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Resultado</a:t>
                      </a:r>
                      <a:endParaRPr lang="pt-BR" sz="1500" b="1"/>
                    </a:p>
                  </a:txBody>
                  <a:tcPr anchor="ctr" anchorCtr="0"/>
                </a:tc>
                <a:tc gridSpan="8"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192</a:t>
                      </a:r>
                      <a:endParaRPr lang="pt-BR" sz="1500" b="1"/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3365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</a:t>
            </a:r>
            <a:r>
              <a:rPr lang="pt-BR" sz="2400">
                <a:sym typeface="+mn-ea"/>
              </a:rPr>
              <a:t>Decimal</a:t>
            </a:r>
            <a:r>
              <a:rPr lang="pt-BR" sz="2400"/>
              <a:t> para Binário (Exercícios)</a:t>
            </a:r>
            <a:endParaRPr lang="pt-BR" sz="2400"/>
          </a:p>
        </p:txBody>
      </p:sp>
      <p:graphicFrame>
        <p:nvGraphicFramePr>
          <p:cNvPr id="4" name="Tabela 3"/>
          <p:cNvGraphicFramePr/>
          <p:nvPr/>
        </p:nvGraphicFramePr>
        <p:xfrm>
          <a:off x="114300" y="673735"/>
          <a:ext cx="8862060" cy="262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05"/>
                <a:gridCol w="3244850"/>
                <a:gridCol w="3278505"/>
              </a:tblGrid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10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2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Exponenciação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(Potenciação)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r>
                        <a:rPr lang="pt-BR" altLang="en-US" sz="25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5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</a:t>
                      </a:r>
                      <a:r>
                        <a:rPr lang="pt-BR" altLang="en-US" sz="25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5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  <a:r>
                        <a:rPr lang="pt-BR" altLang="en-US" sz="25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5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</a:t>
                      </a:r>
                      <a:r>
                        <a:rPr lang="pt-BR" altLang="en-US" sz="25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5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</a:t>
                      </a:r>
                      <a:r>
                        <a:rPr lang="pt-BR" altLang="en-US" sz="25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5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  <a:r>
                        <a:rPr lang="pt-BR" altLang="en-US" sz="25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5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Binário para Decimal</a:t>
            </a:r>
            <a:endParaRPr lang="pt-BR" sz="2400"/>
          </a:p>
        </p:txBody>
      </p:sp>
      <p:sp>
        <p:nvSpPr>
          <p:cNvPr id="2" name="Caixa de Texto 1"/>
          <p:cNvSpPr txBox="1"/>
          <p:nvPr/>
        </p:nvSpPr>
        <p:spPr>
          <a:xfrm>
            <a:off x="81915" y="616585"/>
            <a:ext cx="89052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pt-BR" altLang="en-US" sz="2200" b="1">
                <a:solidFill>
                  <a:srgbClr val="000000"/>
                </a:solidFill>
              </a:rPr>
              <a:t>Conversão de Binário para Decimal:</a:t>
            </a:r>
            <a:r>
              <a:rPr lang="pt-BR" altLang="en-US" sz="2200"/>
              <a:t> </a:t>
            </a:r>
            <a:r>
              <a:rPr lang="pt-BR" altLang="en-US" sz="2200" b="1">
                <a:solidFill>
                  <a:srgbClr val="FF0000"/>
                </a:solidFill>
              </a:rPr>
              <a:t>Regra </a:t>
            </a:r>
            <a:r>
              <a:rPr lang="pt-BR" altLang="en-US" sz="2200"/>
              <a:t>= Usar o </a:t>
            </a:r>
            <a:r>
              <a:rPr lang="pt-BR" altLang="en-US" sz="2200" b="1">
                <a:solidFill>
                  <a:srgbClr val="0070C0"/>
                </a:solidFill>
              </a:rPr>
              <a:t>Teorema Fundamental da Numeração</a:t>
            </a:r>
            <a:r>
              <a:rPr lang="pt-BR" altLang="en-US" sz="2200"/>
              <a:t> </a:t>
            </a:r>
            <a:r>
              <a:rPr lang="pt-BR" altLang="en-US" sz="2200">
                <a:solidFill>
                  <a:srgbClr val="000000"/>
                </a:solidFill>
              </a:rPr>
              <a:t>- </a:t>
            </a:r>
            <a:r>
              <a:rPr lang="pt-BR" altLang="en-US" sz="2200" b="1">
                <a:solidFill>
                  <a:srgbClr val="000000"/>
                </a:solidFill>
              </a:rPr>
              <a:t>Multiplicação e Exponenciação</a:t>
            </a:r>
            <a:endParaRPr lang="pt-BR" altLang="en-US" sz="2200">
              <a:solidFill>
                <a:srgbClr val="000000"/>
              </a:solidFill>
            </a:endParaRPr>
          </a:p>
          <a:p>
            <a:pPr algn="l"/>
            <a:endParaRPr lang="pt-BR" altLang="en-US">
              <a:solidFill>
                <a:srgbClr val="000000"/>
              </a:solidFill>
            </a:endParaRPr>
          </a:p>
          <a:p>
            <a:pPr algn="l"/>
            <a:r>
              <a:rPr lang="pt-BR" altLang="en-US" b="1">
                <a:solidFill>
                  <a:srgbClr val="000000"/>
                </a:solidFill>
              </a:rPr>
              <a:t>Valor em binário:</a:t>
            </a:r>
            <a:r>
              <a:rPr lang="pt-BR" altLang="en-US" b="1"/>
              <a:t> </a:t>
            </a:r>
            <a:r>
              <a:rPr lang="pt-BR" altLang="en-US" b="1">
                <a:solidFill>
                  <a:srgbClr val="FF0000"/>
                </a:solidFill>
              </a:rPr>
              <a:t>1010</a:t>
            </a:r>
            <a:endParaRPr lang="pt-BR" altLang="en-US" b="1"/>
          </a:p>
          <a:p>
            <a:pPr algn="l"/>
            <a:r>
              <a:rPr lang="pt-BR" altLang="en-US" b="1">
                <a:solidFill>
                  <a:srgbClr val="000000"/>
                </a:solidFill>
              </a:rPr>
              <a:t>Base10 </a:t>
            </a:r>
            <a:r>
              <a:rPr lang="pt-BR" altLang="en-US">
                <a:solidFill>
                  <a:srgbClr val="000000"/>
                </a:solidFill>
              </a:rPr>
              <a:t>=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FF0000"/>
                </a:solidFill>
              </a:rPr>
              <a:t>(1 x 2</a:t>
            </a:r>
            <a:r>
              <a:rPr lang="pt-BR" altLang="en-US" b="1" baseline="30000">
                <a:solidFill>
                  <a:srgbClr val="FF0000"/>
                </a:solidFill>
              </a:rPr>
              <a:t>3</a:t>
            </a:r>
            <a:r>
              <a:rPr lang="pt-BR" altLang="en-US" b="1">
                <a:solidFill>
                  <a:srgbClr val="FF0000"/>
                </a:solidFill>
              </a:rPr>
              <a:t>) + (0 x 2</a:t>
            </a:r>
            <a:r>
              <a:rPr lang="pt-BR" altLang="en-US" b="1" baseline="30000">
                <a:solidFill>
                  <a:srgbClr val="FF0000"/>
                </a:solidFill>
              </a:rPr>
              <a:t>2</a:t>
            </a:r>
            <a:r>
              <a:rPr lang="pt-BR" altLang="en-US" b="1">
                <a:solidFill>
                  <a:srgbClr val="FF0000"/>
                </a:solidFill>
              </a:rPr>
              <a:t>) + (1 x 2</a:t>
            </a:r>
            <a:r>
              <a:rPr lang="pt-BR" altLang="en-US" b="1" baseline="30000">
                <a:solidFill>
                  <a:srgbClr val="FF0000"/>
                </a:solidFill>
              </a:rPr>
              <a:t>1</a:t>
            </a:r>
            <a:r>
              <a:rPr lang="pt-BR" altLang="en-US" b="1">
                <a:solidFill>
                  <a:srgbClr val="FF0000"/>
                </a:solidFill>
              </a:rPr>
              <a:t>) + (0 x 2</a:t>
            </a:r>
            <a:r>
              <a:rPr lang="pt-BR" altLang="en-US" b="1" baseline="30000">
                <a:solidFill>
                  <a:srgbClr val="FF0000"/>
                </a:solidFill>
              </a:rPr>
              <a:t>0</a:t>
            </a:r>
            <a:r>
              <a:rPr lang="pt-BR" altLang="en-US" b="1">
                <a:solidFill>
                  <a:srgbClr val="FF0000"/>
                </a:solidFill>
              </a:rPr>
              <a:t>)</a:t>
            </a:r>
            <a:endParaRPr lang="pt-BR" altLang="en-US" b="1">
              <a:solidFill>
                <a:srgbClr val="FF0000"/>
              </a:solidFill>
            </a:endParaRPr>
          </a:p>
          <a:p>
            <a:pPr algn="l"/>
            <a:r>
              <a:rPr lang="pt-BR" altLang="en-US" b="1">
                <a:solidFill>
                  <a:srgbClr val="000000"/>
                </a:solidFill>
              </a:rPr>
              <a:t>Base10 </a:t>
            </a:r>
            <a:r>
              <a:rPr lang="pt-BR" altLang="en-US">
                <a:solidFill>
                  <a:srgbClr val="000000"/>
                </a:solidFill>
              </a:rPr>
              <a:t>=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00B050"/>
                </a:solidFill>
              </a:rPr>
              <a:t>(1 x 8) + </a:t>
            </a:r>
            <a:r>
              <a:rPr lang="pt-BR" altLang="en-US" b="1" u="sng">
                <a:solidFill>
                  <a:srgbClr val="00B050"/>
                </a:solidFill>
              </a:rPr>
              <a:t>(0 x 4)</a:t>
            </a:r>
            <a:r>
              <a:rPr lang="pt-BR" altLang="en-US" b="1">
                <a:solidFill>
                  <a:srgbClr val="00B050"/>
                </a:solidFill>
              </a:rPr>
              <a:t> + (1 x 2) + </a:t>
            </a:r>
            <a:r>
              <a:rPr lang="pt-BR" altLang="en-US" b="1" u="sng">
                <a:solidFill>
                  <a:srgbClr val="00B050"/>
                </a:solidFill>
              </a:rPr>
              <a:t>(0 x 1)</a:t>
            </a:r>
            <a:r>
              <a:rPr lang="pt-BR" altLang="en-US" b="1">
                <a:solidFill>
                  <a:srgbClr val="00B050"/>
                </a:solidFill>
              </a:rPr>
              <a:t> (DICA: NÃO SOMAR OS VALORES 0)</a:t>
            </a:r>
            <a:endParaRPr lang="pt-BR" altLang="en-US" b="1">
              <a:solidFill>
                <a:srgbClr val="00B050"/>
              </a:solidFill>
            </a:endParaRPr>
          </a:p>
          <a:p>
            <a:pPr algn="l"/>
            <a:r>
              <a:rPr lang="pt-BR" altLang="en-US" b="1">
                <a:solidFill>
                  <a:srgbClr val="000000"/>
                </a:solidFill>
              </a:rPr>
              <a:t>Base10 </a:t>
            </a:r>
            <a:r>
              <a:rPr lang="pt-BR" altLang="en-US">
                <a:solidFill>
                  <a:srgbClr val="000000"/>
                </a:solidFill>
              </a:rPr>
              <a:t>=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7030A0"/>
                </a:solidFill>
              </a:rPr>
              <a:t>8 + 2</a:t>
            </a:r>
            <a:endParaRPr lang="pt-BR" altLang="en-US" b="1">
              <a:solidFill>
                <a:srgbClr val="7030A0"/>
              </a:solidFill>
            </a:endParaRPr>
          </a:p>
          <a:p>
            <a:pPr algn="l"/>
            <a:r>
              <a:rPr lang="pt-BR" altLang="en-US" b="1">
                <a:solidFill>
                  <a:srgbClr val="000000"/>
                </a:solidFill>
              </a:rPr>
              <a:t>Base10 </a:t>
            </a:r>
            <a:r>
              <a:rPr lang="pt-BR" altLang="en-US">
                <a:solidFill>
                  <a:srgbClr val="000000"/>
                </a:solidFill>
              </a:rPr>
              <a:t>=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0070C0"/>
                </a:solidFill>
              </a:rPr>
              <a:t>10</a:t>
            </a:r>
            <a:r>
              <a:rPr lang="pt-BR" altLang="en-US" b="1" baseline="-25000">
                <a:solidFill>
                  <a:srgbClr val="0070C0"/>
                </a:solidFill>
              </a:rPr>
              <a:t>b10</a:t>
            </a:r>
            <a:endParaRPr lang="pt-BR" altLang="en-US" b="1">
              <a:solidFill>
                <a:srgbClr val="0070C0"/>
              </a:solidFill>
            </a:endParaRPr>
          </a:p>
          <a:p>
            <a:pPr algn="l"/>
            <a:endParaRPr lang="pt-BR" altLang="en-US"/>
          </a:p>
          <a:p>
            <a:pPr algn="l"/>
            <a:r>
              <a:rPr lang="pt-BR" altLang="en-US" b="1">
                <a:solidFill>
                  <a:srgbClr val="000000"/>
                </a:solidFill>
              </a:rPr>
              <a:t>Valor em binário:</a:t>
            </a:r>
            <a:r>
              <a:rPr lang="pt-BR" altLang="en-US" b="1"/>
              <a:t> </a:t>
            </a:r>
            <a:r>
              <a:rPr lang="pt-BR" altLang="en-US" b="1">
                <a:solidFill>
                  <a:srgbClr val="FF0000"/>
                </a:solidFill>
              </a:rPr>
              <a:t>1111</a:t>
            </a:r>
            <a:endParaRPr lang="pt-BR" altLang="en-US" b="1"/>
          </a:p>
          <a:p>
            <a:pPr algn="l"/>
            <a:r>
              <a:rPr lang="pt-BR" altLang="en-US" b="1">
                <a:solidFill>
                  <a:srgbClr val="000000"/>
                </a:solidFill>
                <a:sym typeface="+mn-ea"/>
              </a:rPr>
              <a:t>Base10 </a:t>
            </a:r>
            <a:r>
              <a:rPr lang="pt-BR" altLang="en-US">
                <a:solidFill>
                  <a:srgbClr val="000000"/>
                </a:solidFill>
              </a:rPr>
              <a:t>=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FF0000"/>
                </a:solidFill>
              </a:rPr>
              <a:t>(1 x 2</a:t>
            </a:r>
            <a:r>
              <a:rPr lang="pt-BR" altLang="en-US" b="1" baseline="30000">
                <a:solidFill>
                  <a:srgbClr val="FF0000"/>
                </a:solidFill>
              </a:rPr>
              <a:t>3</a:t>
            </a:r>
            <a:r>
              <a:rPr lang="pt-BR" altLang="en-US" b="1">
                <a:solidFill>
                  <a:srgbClr val="FF0000"/>
                </a:solidFill>
              </a:rPr>
              <a:t>) + (1 x 2</a:t>
            </a:r>
            <a:r>
              <a:rPr lang="pt-BR" altLang="en-US" b="1" baseline="30000">
                <a:solidFill>
                  <a:srgbClr val="FF0000"/>
                </a:solidFill>
              </a:rPr>
              <a:t>2</a:t>
            </a:r>
            <a:r>
              <a:rPr lang="pt-BR" altLang="en-US" b="1">
                <a:solidFill>
                  <a:srgbClr val="FF0000"/>
                </a:solidFill>
              </a:rPr>
              <a:t>) + (1 x 2</a:t>
            </a:r>
            <a:r>
              <a:rPr lang="pt-BR" altLang="en-US" b="1" baseline="30000">
                <a:solidFill>
                  <a:srgbClr val="FF0000"/>
                </a:solidFill>
              </a:rPr>
              <a:t>1</a:t>
            </a:r>
            <a:r>
              <a:rPr lang="pt-BR" altLang="en-US" b="1">
                <a:solidFill>
                  <a:srgbClr val="FF0000"/>
                </a:solidFill>
              </a:rPr>
              <a:t>) + (1 x 2</a:t>
            </a:r>
            <a:r>
              <a:rPr lang="pt-BR" altLang="en-US" b="1" baseline="30000">
                <a:solidFill>
                  <a:srgbClr val="FF0000"/>
                </a:solidFill>
              </a:rPr>
              <a:t>0</a:t>
            </a:r>
            <a:r>
              <a:rPr lang="pt-BR" altLang="en-US" b="1">
                <a:solidFill>
                  <a:srgbClr val="FF0000"/>
                </a:solidFill>
              </a:rPr>
              <a:t>)</a:t>
            </a:r>
            <a:endParaRPr lang="pt-BR" altLang="en-US" b="1">
              <a:solidFill>
                <a:srgbClr val="FF0000"/>
              </a:solidFill>
            </a:endParaRPr>
          </a:p>
          <a:p>
            <a:pPr algn="l"/>
            <a:r>
              <a:rPr lang="pt-BR" altLang="en-US" b="1">
                <a:solidFill>
                  <a:srgbClr val="000000"/>
                </a:solidFill>
                <a:sym typeface="+mn-ea"/>
              </a:rPr>
              <a:t>Base10 </a:t>
            </a:r>
            <a:r>
              <a:rPr lang="pt-BR" altLang="en-US">
                <a:solidFill>
                  <a:srgbClr val="000000"/>
                </a:solidFill>
              </a:rPr>
              <a:t>=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00B050"/>
                </a:solidFill>
              </a:rPr>
              <a:t>(1 x 8) + (1 x 4) + (1 x 2) + (1 x 1)</a:t>
            </a:r>
            <a:endParaRPr lang="pt-BR" altLang="en-US" b="1">
              <a:solidFill>
                <a:srgbClr val="00B050"/>
              </a:solidFill>
            </a:endParaRPr>
          </a:p>
          <a:p>
            <a:pPr algn="l"/>
            <a:r>
              <a:rPr lang="pt-BR" altLang="en-US" b="1">
                <a:solidFill>
                  <a:srgbClr val="000000"/>
                </a:solidFill>
                <a:sym typeface="+mn-ea"/>
              </a:rPr>
              <a:t>Base10 </a:t>
            </a:r>
            <a:r>
              <a:rPr lang="pt-BR" altLang="en-US">
                <a:solidFill>
                  <a:srgbClr val="000000"/>
                </a:solidFill>
              </a:rPr>
              <a:t>=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7030A0"/>
                </a:solidFill>
              </a:rPr>
              <a:t>8 + 4 + 2 + 1</a:t>
            </a:r>
            <a:endParaRPr lang="pt-BR" altLang="en-US" b="1">
              <a:solidFill>
                <a:srgbClr val="7030A0"/>
              </a:solidFill>
            </a:endParaRPr>
          </a:p>
          <a:p>
            <a:pPr algn="l"/>
            <a:r>
              <a:rPr lang="pt-BR" altLang="en-US" b="1">
                <a:solidFill>
                  <a:srgbClr val="000000"/>
                </a:solidFill>
                <a:sym typeface="+mn-ea"/>
              </a:rPr>
              <a:t>Base10 </a:t>
            </a:r>
            <a:r>
              <a:rPr lang="pt-BR" altLang="en-US">
                <a:solidFill>
                  <a:srgbClr val="000000"/>
                </a:solidFill>
              </a:rPr>
              <a:t>=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0070C0"/>
                </a:solidFill>
              </a:rPr>
              <a:t>15</a:t>
            </a:r>
            <a:r>
              <a:rPr lang="pt-BR" altLang="en-US" b="1" baseline="-25000">
                <a:solidFill>
                  <a:srgbClr val="0070C0"/>
                </a:solidFill>
                <a:sym typeface="+mn-ea"/>
              </a:rPr>
              <a:t>b10</a:t>
            </a:r>
            <a:endParaRPr lang="pt-BR" altLang="en-US" b="1" baseline="-25000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3365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</a:t>
            </a:r>
            <a:r>
              <a:rPr lang="pt-BR" sz="2400">
                <a:sym typeface="+mn-ea"/>
              </a:rPr>
              <a:t>Binário para </a:t>
            </a:r>
            <a:r>
              <a:rPr lang="pt-BR" sz="2400">
                <a:sym typeface="+mn-ea"/>
              </a:rPr>
              <a:t>Decimal </a:t>
            </a:r>
            <a:r>
              <a:rPr lang="pt-BR" sz="2400"/>
              <a:t>(Exercícios)</a:t>
            </a:r>
            <a:endParaRPr lang="pt-BR" sz="2400"/>
          </a:p>
        </p:txBody>
      </p:sp>
      <p:graphicFrame>
        <p:nvGraphicFramePr>
          <p:cNvPr id="4" name="Tabela 3"/>
          <p:cNvGraphicFramePr/>
          <p:nvPr/>
        </p:nvGraphicFramePr>
        <p:xfrm>
          <a:off x="114300" y="1810385"/>
          <a:ext cx="8862060" cy="262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190"/>
                <a:gridCol w="4893945"/>
                <a:gridCol w="193992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2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Teorema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Base 10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0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101101</a:t>
                      </a:r>
                      <a:r>
                        <a:rPr lang="pt-BR" altLang="en-US" sz="20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pt-BR" altLang="en-US" sz="20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0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111001</a:t>
                      </a:r>
                      <a:r>
                        <a:rPr lang="pt-BR" altLang="en-US" sz="20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pt-BR" altLang="en-US" sz="20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0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110001</a:t>
                      </a:r>
                      <a:r>
                        <a:rPr lang="pt-BR" altLang="en-US" sz="20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pt-BR" altLang="en-US" sz="20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0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101010</a:t>
                      </a:r>
                      <a:r>
                        <a:rPr lang="pt-BR" altLang="en-US" sz="20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pt-BR" altLang="en-US" sz="20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0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111110</a:t>
                      </a:r>
                      <a:r>
                        <a:rPr lang="pt-BR" altLang="en-US" sz="20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pt-BR" altLang="en-US" sz="20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0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111111</a:t>
                      </a:r>
                      <a:r>
                        <a:rPr lang="pt-BR" altLang="en-US" sz="20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pt-BR" altLang="en-US" sz="20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2" name="Tabela 1"/>
          <p:cNvGraphicFramePr/>
          <p:nvPr/>
        </p:nvGraphicFramePr>
        <p:xfrm>
          <a:off x="114300" y="594360"/>
          <a:ext cx="8864600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075"/>
                <a:gridCol w="1108075"/>
                <a:gridCol w="1108075"/>
                <a:gridCol w="1108075"/>
                <a:gridCol w="1108075"/>
                <a:gridCol w="1108075"/>
                <a:gridCol w="1108075"/>
                <a:gridCol w="1108075"/>
              </a:tblGrid>
              <a:tr h="0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000"/>
                        <a:t>Tabela Binário para Decimal</a:t>
                      </a:r>
                      <a:endParaRPr lang="pt-BR" altLang="en-US" sz="10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7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6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5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4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3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2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/>
                        <a:t>1</a:t>
                      </a:r>
                      <a:endParaRPr lang="pt-BR" altLang="en-US" sz="15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/>
                        <a:t>0</a:t>
                      </a:r>
                      <a:endParaRPr lang="pt-BR" altLang="en-US" sz="1500" b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2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2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2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2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2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/>
                        <a:t>2</a:t>
                      </a:r>
                      <a:endParaRPr lang="pt-BR" altLang="en-US" sz="15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/>
                        <a:t>2</a:t>
                      </a:r>
                      <a:endParaRPr lang="pt-BR" altLang="en-US" sz="15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/>
                        <a:t>2</a:t>
                      </a:r>
                      <a:endParaRPr lang="pt-BR" altLang="en-US" sz="1500" b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>
                          <a:solidFill>
                            <a:srgbClr val="00B050"/>
                          </a:solidFill>
                        </a:rPr>
                        <a:t>128</a:t>
                      </a:r>
                      <a:endParaRPr lang="pt-BR" altLang="en-US" sz="15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>
                          <a:solidFill>
                            <a:srgbClr val="00B050"/>
                          </a:solidFill>
                        </a:rPr>
                        <a:t>64</a:t>
                      </a:r>
                      <a:endParaRPr lang="pt-BR" altLang="en-US" sz="15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>
                          <a:solidFill>
                            <a:srgbClr val="00B050"/>
                          </a:solidFill>
                        </a:rPr>
                        <a:t>32</a:t>
                      </a:r>
                      <a:endParaRPr lang="pt-BR" altLang="en-US" sz="15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>
                          <a:solidFill>
                            <a:srgbClr val="00B050"/>
                          </a:solidFill>
                        </a:rPr>
                        <a:t>16</a:t>
                      </a:r>
                      <a:endParaRPr lang="pt-BR" altLang="en-US" sz="15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>
                          <a:solidFill>
                            <a:srgbClr val="00B050"/>
                          </a:solidFill>
                        </a:rPr>
                        <a:t>8</a:t>
                      </a:r>
                      <a:endParaRPr lang="pt-BR" altLang="en-US" sz="15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>
                          <a:solidFill>
                            <a:srgbClr val="00B050"/>
                          </a:solidFill>
                        </a:rPr>
                        <a:t>4</a:t>
                      </a:r>
                      <a:endParaRPr lang="pt-BR" altLang="en-US" sz="15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>
                          <a:solidFill>
                            <a:srgbClr val="0070C0"/>
                          </a:solidFill>
                        </a:rPr>
                        <a:t>2</a:t>
                      </a:r>
                      <a:endParaRPr lang="pt-BR" altLang="en-US" sz="1500" b="1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15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altLang="en-US" sz="15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900"/>
            <a:ext cx="8345488" cy="64200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Binário para Decimal</a:t>
            </a:r>
            <a:endParaRPr lang="pt-BR" sz="2400"/>
          </a:p>
        </p:txBody>
      </p:sp>
      <p:sp>
        <p:nvSpPr>
          <p:cNvPr id="9" name="TextBox 8"/>
          <p:cNvSpPr txBox="1"/>
          <p:nvPr/>
        </p:nvSpPr>
        <p:spPr>
          <a:xfrm>
            <a:off x="79375" y="554990"/>
            <a:ext cx="89858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2000"/>
              <a:t>Converter: </a:t>
            </a:r>
            <a:r>
              <a:rPr lang="pt-BR" sz="2000" b="1">
                <a:solidFill>
                  <a:srgbClr val="FF0000"/>
                </a:solidFill>
              </a:rPr>
              <a:t>11000000.10101000.00001011.00001010</a:t>
            </a:r>
            <a:r>
              <a:rPr lang="pt-BR" sz="2000"/>
              <a:t> para decimais.</a:t>
            </a:r>
            <a:endParaRPr lang="pt-BR" sz="200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7325" y="941705"/>
          <a:ext cx="6325235" cy="37230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99615"/>
                <a:gridCol w="643255"/>
                <a:gridCol w="537845"/>
                <a:gridCol w="550545"/>
                <a:gridCol w="525780"/>
                <a:gridCol w="502285"/>
                <a:gridCol w="501650"/>
                <a:gridCol w="526415"/>
                <a:gridCol w="537845"/>
              </a:tblGrid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Valor Posicional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Número binário (11000000)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Cálculo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Adicioná-los...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128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+ 64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Número binário (10101000)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Cálculo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Adicioná-los...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128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+ 32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+ 8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Número Binário (00001011)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Cálculo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Adicioná-los...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+ 8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+ 2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+ 1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Número Binário (00001010)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Cálculo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Adicioná-los...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+ 8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+ 2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>
                          <a:solidFill>
                            <a:srgbClr val="00B050"/>
                          </a:solidFill>
                        </a:rPr>
                        <a:t>+ 0</a:t>
                      </a:r>
                      <a:endParaRPr lang="pt-BR" sz="11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0" name="Striped Right Arrow 9"/>
          <p:cNvSpPr/>
          <p:nvPr/>
        </p:nvSpPr>
        <p:spPr>
          <a:xfrm>
            <a:off x="6547405" y="1844159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28449" y="1738315"/>
            <a:ext cx="6057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2000" b="1">
                <a:solidFill>
                  <a:srgbClr val="FF0000"/>
                </a:solidFill>
              </a:rPr>
              <a:t>192</a:t>
            </a:r>
            <a:endParaRPr lang="pt-BR" sz="2000" b="1">
              <a:solidFill>
                <a:srgbClr val="FF0000"/>
              </a:solidFill>
            </a:endParaRPr>
          </a:p>
        </p:txBody>
      </p:sp>
      <p:sp>
        <p:nvSpPr>
          <p:cNvPr id="11" name="Striped Right Arrow 10"/>
          <p:cNvSpPr/>
          <p:nvPr/>
        </p:nvSpPr>
        <p:spPr>
          <a:xfrm>
            <a:off x="6547405" y="269371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928449" y="2600777"/>
            <a:ext cx="6057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2000" b="1">
                <a:solidFill>
                  <a:srgbClr val="00B050"/>
                </a:solidFill>
              </a:rPr>
              <a:t>168</a:t>
            </a:r>
            <a:endParaRPr lang="pt-BR" sz="2000" b="1">
              <a:solidFill>
                <a:srgbClr val="00B050"/>
              </a:solidFill>
            </a:endParaRPr>
          </a:p>
        </p:txBody>
      </p:sp>
      <p:sp>
        <p:nvSpPr>
          <p:cNvPr id="12" name="Striped Right Arrow 11"/>
          <p:cNvSpPr/>
          <p:nvPr/>
        </p:nvSpPr>
        <p:spPr>
          <a:xfrm>
            <a:off x="6530260" y="354902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005919" y="3437778"/>
            <a:ext cx="4502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2000" b="1">
                <a:solidFill>
                  <a:srgbClr val="0070C0"/>
                </a:solidFill>
              </a:rPr>
              <a:t>11</a:t>
            </a:r>
            <a:endParaRPr lang="pt-BR" sz="2000" b="1">
              <a:solidFill>
                <a:srgbClr val="0070C0"/>
              </a:solidFill>
            </a:endParaRPr>
          </a:p>
        </p:txBody>
      </p:sp>
      <p:sp>
        <p:nvSpPr>
          <p:cNvPr id="13" name="Striped Right Arrow 12"/>
          <p:cNvSpPr/>
          <p:nvPr/>
        </p:nvSpPr>
        <p:spPr>
          <a:xfrm>
            <a:off x="6547405" y="441068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005786" y="4280609"/>
            <a:ext cx="4648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2000" b="1">
                <a:solidFill>
                  <a:srgbClr val="7030A0"/>
                </a:solidFill>
              </a:rPr>
              <a:t>10</a:t>
            </a:r>
            <a:endParaRPr lang="pt-BR" sz="2000" b="1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47485" y="1209040"/>
            <a:ext cx="25184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2800" b="1">
                <a:solidFill>
                  <a:srgbClr val="FF0000"/>
                </a:solidFill>
              </a:rPr>
              <a:t>192</a:t>
            </a:r>
            <a:r>
              <a:rPr lang="pt-BR" sz="2800" b="1"/>
              <a:t>.</a:t>
            </a:r>
            <a:r>
              <a:rPr lang="pt-BR" sz="2800" b="1">
                <a:solidFill>
                  <a:srgbClr val="00B050"/>
                </a:solidFill>
              </a:rPr>
              <a:t>168</a:t>
            </a:r>
            <a:r>
              <a:rPr lang="pt-BR" sz="2800" b="1"/>
              <a:t>.</a:t>
            </a:r>
            <a:r>
              <a:rPr lang="pt-BR" sz="2800" b="1">
                <a:solidFill>
                  <a:srgbClr val="0070C0"/>
                </a:solidFill>
              </a:rPr>
              <a:t>11</a:t>
            </a:r>
            <a:r>
              <a:rPr lang="pt-BR" sz="2800" b="1"/>
              <a:t>.</a:t>
            </a:r>
            <a:r>
              <a:rPr lang="pt-BR" sz="2800" b="1">
                <a:solidFill>
                  <a:srgbClr val="7030A0"/>
                </a:solidFill>
              </a:rPr>
              <a:t>10</a:t>
            </a:r>
            <a:endParaRPr lang="pt-BR" sz="2800" b="1">
              <a:solidFill>
                <a:srgbClr val="7030A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096375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Binário para Decimal IPv4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0965" y="659130"/>
            <a:ext cx="8909685" cy="613410"/>
          </a:xfrm>
        </p:spPr>
        <p:txBody>
          <a:bodyPr/>
          <a:lstStyle/>
          <a:p>
            <a:pPr marL="0" indent="0" algn="ctr" rtl="0"/>
            <a:r>
              <a:rPr lang="pt-BR" sz="1600">
                <a:solidFill>
                  <a:srgbClr val="000000"/>
                </a:solidFill>
              </a:rPr>
              <a:t>A </a:t>
            </a:r>
            <a:r>
              <a:rPr lang="pt-BR" sz="1600" b="1">
                <a:solidFill>
                  <a:srgbClr val="FF0000"/>
                </a:solidFill>
              </a:rPr>
              <a:t>Tabela de Valores Posicionais Binários</a:t>
            </a:r>
            <a:r>
              <a:rPr lang="pt-BR" sz="1600">
                <a:solidFill>
                  <a:srgbClr val="000000"/>
                </a:solidFill>
              </a:rPr>
              <a:t> é útil na conversão de um </a:t>
            </a:r>
            <a:r>
              <a:rPr lang="pt-BR" sz="1600" b="1">
                <a:solidFill>
                  <a:srgbClr val="00B050"/>
                </a:solidFill>
              </a:rPr>
              <a:t>Endereço IPv4 Decimal Pontilhado</a:t>
            </a:r>
            <a:r>
              <a:rPr lang="pt-BR" sz="1600">
                <a:solidFill>
                  <a:srgbClr val="000000"/>
                </a:solidFill>
              </a:rPr>
              <a:t> em </a:t>
            </a:r>
            <a:r>
              <a:rPr lang="pt-BR" sz="1600" b="1">
                <a:solidFill>
                  <a:srgbClr val="0070C0"/>
                </a:solidFill>
              </a:rPr>
              <a:t>Binário</a:t>
            </a:r>
            <a:r>
              <a:rPr lang="pt-BR" sz="1600">
                <a:solidFill>
                  <a:srgbClr val="000000"/>
                </a:solidFill>
              </a:rPr>
              <a:t>.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330" y="1075690"/>
            <a:ext cx="3162935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88950" lvl="2" indent="-342900" algn="just" rtl="0">
              <a:buFont typeface="Arial" panose="020B0604020202020204" pitchFamily="34" charset="0"/>
              <a:buAutoNum type="arabicPeriod"/>
            </a:pPr>
            <a:r>
              <a:rPr lang="pt-BR" sz="1500">
                <a:solidFill>
                  <a:srgbClr val="000000"/>
                </a:solidFill>
              </a:rPr>
              <a:t>Comece na </a:t>
            </a:r>
            <a:r>
              <a:rPr lang="pt-BR" sz="1500" b="1">
                <a:solidFill>
                  <a:srgbClr val="FF0000"/>
                </a:solidFill>
              </a:rPr>
              <a:t>posição 128</a:t>
            </a:r>
            <a:r>
              <a:rPr lang="pt-BR" sz="1500">
                <a:solidFill>
                  <a:srgbClr val="000000"/>
                </a:solidFill>
              </a:rPr>
              <a:t> (o bit mais significativo). O número decimal do octeto (n) é igual ou superior a 128?</a:t>
            </a:r>
            <a:endParaRPr lang="pt-BR" sz="150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AutoNum type="arabicPeriod"/>
            </a:pPr>
            <a:r>
              <a:rPr lang="pt-BR" sz="1500">
                <a:solidFill>
                  <a:srgbClr val="000000"/>
                </a:solidFill>
              </a:rPr>
              <a:t>Se não, registre um </a:t>
            </a:r>
            <a:r>
              <a:rPr lang="pt-BR" sz="1500" b="1">
                <a:solidFill>
                  <a:srgbClr val="FF0000"/>
                </a:solidFill>
              </a:rPr>
              <a:t>binário 0</a:t>
            </a:r>
            <a:r>
              <a:rPr lang="pt-BR" sz="1500" b="1">
                <a:solidFill>
                  <a:srgbClr val="000000"/>
                </a:solidFill>
              </a:rPr>
              <a:t> </a:t>
            </a:r>
            <a:r>
              <a:rPr lang="pt-BR" sz="1500">
                <a:solidFill>
                  <a:srgbClr val="000000"/>
                </a:solidFill>
              </a:rPr>
              <a:t>no valor </a:t>
            </a:r>
            <a:r>
              <a:rPr lang="pt-BR" sz="1500" b="1">
                <a:solidFill>
                  <a:srgbClr val="FF0000"/>
                </a:solidFill>
              </a:rPr>
              <a:t>posicional 128</a:t>
            </a:r>
            <a:r>
              <a:rPr lang="pt-BR" sz="1500">
                <a:solidFill>
                  <a:srgbClr val="000000"/>
                </a:solidFill>
              </a:rPr>
              <a:t> e mova para o valor </a:t>
            </a:r>
            <a:r>
              <a:rPr lang="pt-BR" sz="1500" b="1">
                <a:solidFill>
                  <a:srgbClr val="FF0000"/>
                </a:solidFill>
              </a:rPr>
              <a:t>posicional 64</a:t>
            </a:r>
            <a:r>
              <a:rPr lang="pt-BR" sz="1500">
                <a:solidFill>
                  <a:srgbClr val="000000"/>
                </a:solidFill>
              </a:rPr>
              <a:t>.</a:t>
            </a:r>
            <a:endParaRPr lang="pt-BR" sz="150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AutoNum type="arabicPeriod"/>
            </a:pPr>
            <a:r>
              <a:rPr lang="pt-BR" sz="1500">
                <a:solidFill>
                  <a:srgbClr val="000000"/>
                </a:solidFill>
              </a:rPr>
              <a:t>Se sim, registre um </a:t>
            </a:r>
            <a:r>
              <a:rPr lang="pt-BR" sz="1500" b="1">
                <a:solidFill>
                  <a:srgbClr val="FF0000"/>
                </a:solidFill>
              </a:rPr>
              <a:t>1 binário</a:t>
            </a:r>
            <a:r>
              <a:rPr lang="pt-BR" sz="1500" b="1">
                <a:solidFill>
                  <a:srgbClr val="000000"/>
                </a:solidFill>
              </a:rPr>
              <a:t> </a:t>
            </a:r>
            <a:r>
              <a:rPr lang="pt-BR" sz="1500">
                <a:solidFill>
                  <a:srgbClr val="000000"/>
                </a:solidFill>
              </a:rPr>
              <a:t>no valor </a:t>
            </a:r>
            <a:r>
              <a:rPr lang="pt-BR" sz="1500" b="1">
                <a:solidFill>
                  <a:srgbClr val="FF0000"/>
                </a:solidFill>
              </a:rPr>
              <a:t>posicional 128</a:t>
            </a:r>
            <a:r>
              <a:rPr lang="pt-BR" sz="1500">
                <a:solidFill>
                  <a:srgbClr val="000000"/>
                </a:solidFill>
              </a:rPr>
              <a:t>, subtraia 128 do número decimal e vá para o valor </a:t>
            </a:r>
            <a:r>
              <a:rPr lang="pt-BR" sz="1500" b="1">
                <a:solidFill>
                  <a:srgbClr val="FF0000"/>
                </a:solidFill>
              </a:rPr>
              <a:t>posicional 64</a:t>
            </a:r>
            <a:r>
              <a:rPr lang="pt-BR" sz="1500">
                <a:solidFill>
                  <a:srgbClr val="000000"/>
                </a:solidFill>
              </a:rPr>
              <a:t>.</a:t>
            </a:r>
            <a:endParaRPr lang="pt-BR" sz="1500">
              <a:solidFill>
                <a:srgbClr val="000000"/>
              </a:solidFill>
            </a:endParaRPr>
          </a:p>
          <a:p>
            <a:pPr marL="488950" lvl="2" indent="-342900" algn="just" rtl="0">
              <a:buFont typeface="Arial" panose="020B0604020202020204" pitchFamily="34" charset="0"/>
              <a:buAutoNum type="arabicPeriod"/>
            </a:pPr>
            <a:r>
              <a:rPr lang="pt-BR" sz="1500">
                <a:solidFill>
                  <a:srgbClr val="000000"/>
                </a:solidFill>
              </a:rPr>
              <a:t>Repita estas etapas através do valor posicional 1.</a:t>
            </a:r>
            <a:endParaRPr lang="pt-BR" sz="150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0243" t="53276" r="19194" b="16474"/>
          <a:stretch>
            <a:fillRect/>
          </a:stretch>
        </p:blipFill>
        <p:spPr>
          <a:xfrm>
            <a:off x="3270250" y="1394460"/>
            <a:ext cx="5740400" cy="310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4000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Exemplo de Conversão de Decimal para Binário IPv4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6040" y="657225"/>
            <a:ext cx="8950960" cy="448310"/>
          </a:xfrm>
        </p:spPr>
        <p:txBody>
          <a:bodyPr/>
          <a:lstStyle/>
          <a:p>
            <a:pPr marL="0" indent="0" algn="ctr" rtl="0">
              <a:buFont typeface="Arial" panose="020B0604020202020204" pitchFamily="34" charset="0"/>
            </a:pPr>
            <a:r>
              <a:rPr lang="pt-BR" sz="2500">
                <a:solidFill>
                  <a:srgbClr val="000000"/>
                </a:solidFill>
              </a:rPr>
              <a:t>Converter decimal: </a:t>
            </a:r>
            <a:r>
              <a:rPr lang="pt-BR" sz="2500" b="1">
                <a:solidFill>
                  <a:srgbClr val="FF0000"/>
                </a:solidFill>
              </a:rPr>
              <a:t>192 </a:t>
            </a:r>
            <a:r>
              <a:rPr lang="pt-BR" sz="2500">
                <a:solidFill>
                  <a:srgbClr val="000000"/>
                </a:solidFill>
              </a:rPr>
              <a:t>em binário</a:t>
            </a:r>
            <a:endParaRPr lang="pt-BR" sz="250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0694" t="46083" r="34632" b="34462"/>
          <a:stretch>
            <a:fillRect/>
          </a:stretch>
        </p:blipFill>
        <p:spPr>
          <a:xfrm>
            <a:off x="66040" y="1105535"/>
            <a:ext cx="8950325" cy="3498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Binário de Numeração </a:t>
            </a:r>
            <a:br>
              <a:rPr lang="en-US" dirty="0"/>
            </a:br>
            <a:r>
              <a:rPr lang="pt-BR" sz="2400"/>
              <a:t>Enderecos IPv4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2870" y="681355"/>
            <a:ext cx="8820150" cy="1680210"/>
          </a:xfrm>
        </p:spPr>
        <p:txBody>
          <a:bodyPr/>
          <a:lstStyle/>
          <a:p>
            <a:pPr marL="0" indent="0" algn="ctr" rtl="0">
              <a:buFont typeface="Arial" panose="020B0604020202020204" pitchFamily="34" charset="0"/>
            </a:pPr>
            <a:r>
              <a:rPr lang="pt-BR" sz="2500" b="1">
                <a:solidFill>
                  <a:srgbClr val="000000"/>
                </a:solidFill>
              </a:rPr>
              <a:t>Roteadores e Computadores</a:t>
            </a:r>
            <a:r>
              <a:rPr lang="pt-BR" sz="2500">
                <a:solidFill>
                  <a:srgbClr val="000000"/>
                </a:solidFill>
              </a:rPr>
              <a:t> só entendem </a:t>
            </a:r>
            <a:r>
              <a:rPr lang="pt-BR" sz="2500" b="1">
                <a:solidFill>
                  <a:srgbClr val="FF0000"/>
                </a:solidFill>
              </a:rPr>
              <a:t>Binários</a:t>
            </a:r>
            <a:r>
              <a:rPr lang="pt-BR" sz="2500">
                <a:solidFill>
                  <a:srgbClr val="000000"/>
                </a:solidFill>
              </a:rPr>
              <a:t>, enquanto humanos trabalham em </a:t>
            </a:r>
            <a:r>
              <a:rPr lang="pt-BR" sz="2500" b="1">
                <a:solidFill>
                  <a:srgbClr val="FF0000"/>
                </a:solidFill>
              </a:rPr>
              <a:t>Decimal</a:t>
            </a:r>
            <a:r>
              <a:rPr lang="pt-BR" sz="2500">
                <a:solidFill>
                  <a:srgbClr val="000000"/>
                </a:solidFill>
              </a:rPr>
              <a:t>. É importante que você obtenha uma </a:t>
            </a:r>
            <a:r>
              <a:rPr lang="pt-BR" sz="2500" b="1">
                <a:solidFill>
                  <a:srgbClr val="0070C0"/>
                </a:solidFill>
              </a:rPr>
              <a:t>compreensão completa</a:t>
            </a:r>
            <a:r>
              <a:rPr lang="pt-BR" sz="2500">
                <a:solidFill>
                  <a:srgbClr val="000000"/>
                </a:solidFill>
              </a:rPr>
              <a:t> desses dois sistemas de numeração e como eles são usados na rede.</a:t>
            </a:r>
            <a:endParaRPr lang="pt-BR" sz="250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2346960"/>
            <a:ext cx="8856345" cy="2264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23901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5.2 - Sistema de Numeração Hexadecimal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078595" cy="731520"/>
          </a:xfrm>
        </p:spPr>
        <p:txBody>
          <a:bodyPr/>
          <a:lstStyle/>
          <a:p>
            <a:pPr rtl="0"/>
            <a:r>
              <a:rPr lang="pt-BR" sz="1600"/>
              <a:t>Sistema de Numeração Hexadecimal</a:t>
            </a:r>
            <a:br>
              <a:rPr lang="en-US" dirty="0"/>
            </a:br>
            <a:r>
              <a:rPr lang="pt-BR" sz="2400"/>
              <a:t>Endereços Hexadecimais e IPv6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6520" y="662305"/>
            <a:ext cx="3331845" cy="3996055"/>
          </a:xfrm>
        </p:spPr>
        <p:txBody>
          <a:bodyPr/>
          <a:lstStyle/>
          <a:p>
            <a:pPr marL="0" indent="0" algn="just" rtl="0">
              <a:buFont typeface="Arial" panose="020B0604020202020204" pitchFamily="34" charset="0"/>
            </a:pPr>
            <a:r>
              <a:rPr lang="pt-BR" sz="1650">
                <a:solidFill>
                  <a:srgbClr val="000000"/>
                </a:solidFill>
              </a:rPr>
              <a:t>Para entender </a:t>
            </a:r>
            <a:r>
              <a:rPr lang="pt-BR" sz="1650" b="1">
                <a:solidFill>
                  <a:srgbClr val="FF0000"/>
                </a:solidFill>
              </a:rPr>
              <a:t>Endereços IPv6</a:t>
            </a:r>
            <a:r>
              <a:rPr lang="pt-BR" sz="1650">
                <a:solidFill>
                  <a:srgbClr val="000000"/>
                </a:solidFill>
              </a:rPr>
              <a:t>, você deve ser capaz de </a:t>
            </a:r>
            <a:r>
              <a:rPr lang="pt-BR" sz="1650" b="1">
                <a:solidFill>
                  <a:srgbClr val="FF0000"/>
                </a:solidFill>
              </a:rPr>
              <a:t>converter hexadecimal para decimal e vice-versa</a:t>
            </a:r>
            <a:r>
              <a:rPr lang="pt-BR" sz="1650">
                <a:solidFill>
                  <a:srgbClr val="000000"/>
                </a:solidFill>
              </a:rPr>
              <a:t>.</a:t>
            </a:r>
            <a:endParaRPr lang="pt-BR" sz="1650">
              <a:solidFill>
                <a:srgbClr val="000000"/>
              </a:solidFill>
            </a:endParaRPr>
          </a:p>
          <a:p>
            <a:pPr marL="0" indent="0" algn="just" rtl="0">
              <a:buFont typeface="Arial" panose="020B0604020202020204" pitchFamily="34" charset="0"/>
            </a:pPr>
            <a:r>
              <a:rPr lang="pt-BR" sz="1650">
                <a:solidFill>
                  <a:srgbClr val="000000"/>
                </a:solidFill>
              </a:rPr>
              <a:t>Hexadecimal é um sistema de </a:t>
            </a:r>
            <a:r>
              <a:rPr lang="pt-BR" sz="1650" b="1">
                <a:solidFill>
                  <a:srgbClr val="FF0000"/>
                </a:solidFill>
              </a:rPr>
              <a:t>numeração de base dezesseis</a:t>
            </a:r>
            <a:r>
              <a:rPr lang="pt-BR" sz="1650">
                <a:solidFill>
                  <a:srgbClr val="000000"/>
                </a:solidFill>
              </a:rPr>
              <a:t>, usando os dígitos de </a:t>
            </a:r>
            <a:r>
              <a:rPr lang="pt-BR" sz="1650" b="1">
                <a:solidFill>
                  <a:srgbClr val="FF0000"/>
                </a:solidFill>
              </a:rPr>
              <a:t>0 a 9</a:t>
            </a:r>
            <a:r>
              <a:rPr lang="pt-BR" sz="1650">
                <a:solidFill>
                  <a:srgbClr val="000000"/>
                </a:solidFill>
              </a:rPr>
              <a:t> e as letras de </a:t>
            </a:r>
            <a:r>
              <a:rPr lang="pt-BR" sz="1650" b="1">
                <a:solidFill>
                  <a:srgbClr val="FF0000"/>
                </a:solidFill>
              </a:rPr>
              <a:t>A a F</a:t>
            </a:r>
            <a:r>
              <a:rPr lang="pt-BR" sz="1650">
                <a:solidFill>
                  <a:srgbClr val="000000"/>
                </a:solidFill>
              </a:rPr>
              <a:t>.</a:t>
            </a:r>
            <a:endParaRPr lang="pt-BR" sz="1650">
              <a:solidFill>
                <a:srgbClr val="000000"/>
              </a:solidFill>
            </a:endParaRPr>
          </a:p>
          <a:p>
            <a:pPr marL="0" indent="0" algn="just" rtl="0">
              <a:buFont typeface="Arial" panose="020B0604020202020204" pitchFamily="34" charset="0"/>
            </a:pPr>
            <a:r>
              <a:rPr lang="pt-BR" sz="1650">
                <a:solidFill>
                  <a:srgbClr val="000000"/>
                </a:solidFill>
              </a:rPr>
              <a:t>É mais fácil expressar um valor como um único dígito hexadecimal do que como</a:t>
            </a:r>
            <a:r>
              <a:rPr lang="pt-BR" sz="1650" b="1">
                <a:solidFill>
                  <a:srgbClr val="000000"/>
                </a:solidFill>
              </a:rPr>
              <a:t> </a:t>
            </a:r>
            <a:r>
              <a:rPr lang="pt-BR" sz="1650" b="1">
                <a:solidFill>
                  <a:srgbClr val="FF0000"/>
                </a:solidFill>
              </a:rPr>
              <a:t>quatro bits binários</a:t>
            </a:r>
            <a:r>
              <a:rPr lang="pt-BR" sz="1650">
                <a:solidFill>
                  <a:srgbClr val="000000"/>
                </a:solidFill>
              </a:rPr>
              <a:t>.</a:t>
            </a:r>
            <a:endParaRPr lang="pt-BR" sz="1650">
              <a:solidFill>
                <a:srgbClr val="000000"/>
              </a:solidFill>
            </a:endParaRPr>
          </a:p>
          <a:p>
            <a:pPr marL="0" indent="0" algn="just" rtl="0">
              <a:buFont typeface="Arial" panose="020B0604020202020204" pitchFamily="34" charset="0"/>
            </a:pPr>
            <a:r>
              <a:rPr lang="pt-BR" sz="1650">
                <a:solidFill>
                  <a:srgbClr val="000000"/>
                </a:solidFill>
              </a:rPr>
              <a:t>Hexadecimal é usado para representar </a:t>
            </a:r>
            <a:r>
              <a:rPr lang="pt-BR" sz="1650" b="1">
                <a:solidFill>
                  <a:srgbClr val="FF0000"/>
                </a:solidFill>
              </a:rPr>
              <a:t>endereços IPv6</a:t>
            </a:r>
            <a:r>
              <a:rPr lang="pt-BR" sz="1650">
                <a:solidFill>
                  <a:srgbClr val="FF0000"/>
                </a:solidFill>
              </a:rPr>
              <a:t> e </a:t>
            </a:r>
            <a:r>
              <a:rPr lang="pt-BR" sz="1650" b="1">
                <a:solidFill>
                  <a:srgbClr val="FF0000"/>
                </a:solidFill>
              </a:rPr>
              <a:t>endereços MAC</a:t>
            </a:r>
            <a:r>
              <a:rPr lang="pt-BR" sz="1650">
                <a:solidFill>
                  <a:srgbClr val="000000"/>
                </a:solidFill>
              </a:rPr>
              <a:t>.</a:t>
            </a:r>
            <a:endParaRPr lang="pt-BR" sz="165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1542" t="38192" r="10646" b="14115"/>
          <a:stretch>
            <a:fillRect/>
          </a:stretch>
        </p:blipFill>
        <p:spPr>
          <a:xfrm>
            <a:off x="3428365" y="784860"/>
            <a:ext cx="5649595" cy="3751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Numérição Hexadecimal</a:t>
            </a:r>
            <a:br>
              <a:rPr lang="en-US" dirty="0"/>
            </a:br>
            <a:r>
              <a:rPr lang="pt-BR" sz="2400"/>
              <a:t>Endereços Hexadecimal e IPv6 (Continuação)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8745" y="742315"/>
            <a:ext cx="3331845" cy="3890645"/>
          </a:xfrm>
        </p:spPr>
        <p:txBody>
          <a:bodyPr/>
          <a:lstStyle/>
          <a:p>
            <a:pPr marL="0" indent="0" algn="just" rtl="0">
              <a:buFont typeface="Arial" panose="020B0604020202020204" pitchFamily="34" charset="0"/>
            </a:pPr>
            <a:r>
              <a:rPr lang="pt-BR" sz="1700">
                <a:solidFill>
                  <a:srgbClr val="000000"/>
                </a:solidFill>
              </a:rPr>
              <a:t>Endereços </a:t>
            </a:r>
            <a:r>
              <a:rPr lang="pt-BR" sz="1700" b="1">
                <a:solidFill>
                  <a:srgbClr val="FF0000"/>
                </a:solidFill>
              </a:rPr>
              <a:t>IPv6 têm 128 bits</a:t>
            </a:r>
            <a:r>
              <a:rPr lang="pt-BR" sz="1700">
                <a:solidFill>
                  <a:srgbClr val="000000"/>
                </a:solidFill>
              </a:rPr>
              <a:t> de comprimento. Cada </a:t>
            </a:r>
            <a:r>
              <a:rPr lang="pt-BR" sz="1700" b="1">
                <a:solidFill>
                  <a:srgbClr val="FF0000"/>
                </a:solidFill>
              </a:rPr>
              <a:t>4 bits</a:t>
            </a:r>
            <a:r>
              <a:rPr lang="pt-BR" sz="1700">
                <a:solidFill>
                  <a:srgbClr val="000000"/>
                </a:solidFill>
              </a:rPr>
              <a:t> é representado por um único </a:t>
            </a:r>
            <a:r>
              <a:rPr lang="pt-BR" sz="1700" b="1">
                <a:solidFill>
                  <a:srgbClr val="FF0000"/>
                </a:solidFill>
              </a:rPr>
              <a:t>dígito hexadecimal</a:t>
            </a:r>
            <a:r>
              <a:rPr lang="pt-BR" sz="1700">
                <a:solidFill>
                  <a:srgbClr val="000000"/>
                </a:solidFill>
              </a:rPr>
              <a:t> Isso torna o endereço </a:t>
            </a:r>
            <a:r>
              <a:rPr lang="pt-BR" sz="1700" b="1">
                <a:solidFill>
                  <a:srgbClr val="FF0000"/>
                </a:solidFill>
              </a:rPr>
              <a:t>IPv6 um total de 32 valores hexadecimais</a:t>
            </a:r>
            <a:r>
              <a:rPr lang="pt-BR" sz="1700">
                <a:solidFill>
                  <a:srgbClr val="000000"/>
                </a:solidFill>
              </a:rPr>
              <a:t>.</a:t>
            </a:r>
            <a:endParaRPr lang="pt-BR" sz="1700">
              <a:solidFill>
                <a:srgbClr val="000000"/>
              </a:solidFill>
            </a:endParaRPr>
          </a:p>
          <a:p>
            <a:pPr marL="0" indent="0" algn="just" rtl="0">
              <a:buFont typeface="Arial" panose="020B0604020202020204" pitchFamily="34" charset="0"/>
            </a:pPr>
            <a:r>
              <a:rPr lang="pt-BR" sz="1700">
                <a:solidFill>
                  <a:srgbClr val="000000"/>
                </a:solidFill>
              </a:rPr>
              <a:t>A figura mostra o método preferido de escrever um endereço </a:t>
            </a:r>
            <a:r>
              <a:rPr lang="pt-BR" sz="1700" b="1">
                <a:solidFill>
                  <a:srgbClr val="FF0000"/>
                </a:solidFill>
              </a:rPr>
              <a:t>IPv6</a:t>
            </a:r>
            <a:r>
              <a:rPr lang="pt-BR" sz="1700">
                <a:solidFill>
                  <a:srgbClr val="000000"/>
                </a:solidFill>
              </a:rPr>
              <a:t>, com cada </a:t>
            </a:r>
            <a:r>
              <a:rPr lang="pt-BR" sz="1700" b="1">
                <a:solidFill>
                  <a:srgbClr val="000000"/>
                </a:solidFill>
              </a:rPr>
              <a:t>X </a:t>
            </a:r>
            <a:r>
              <a:rPr lang="pt-BR" sz="1700">
                <a:solidFill>
                  <a:srgbClr val="000000"/>
                </a:solidFill>
              </a:rPr>
              <a:t>representando </a:t>
            </a:r>
            <a:r>
              <a:rPr lang="pt-BR" sz="1700" b="1">
                <a:solidFill>
                  <a:srgbClr val="FF0000"/>
                </a:solidFill>
              </a:rPr>
              <a:t>quatro valores hexadecimais</a:t>
            </a:r>
            <a:r>
              <a:rPr lang="pt-BR" sz="1700">
                <a:solidFill>
                  <a:srgbClr val="000000"/>
                </a:solidFill>
              </a:rPr>
              <a:t>.</a:t>
            </a:r>
            <a:endParaRPr lang="pt-BR" sz="1700">
              <a:solidFill>
                <a:srgbClr val="000000"/>
              </a:solidFill>
            </a:endParaRPr>
          </a:p>
          <a:p>
            <a:pPr marL="0" indent="0" algn="just" rtl="0">
              <a:buFont typeface="Arial" panose="020B0604020202020204" pitchFamily="34" charset="0"/>
            </a:pPr>
            <a:r>
              <a:rPr lang="pt-BR" sz="1700">
                <a:solidFill>
                  <a:srgbClr val="000000"/>
                </a:solidFill>
              </a:rPr>
              <a:t>Cada grupo de caracteres hexadecimais de quatro é referido como um </a:t>
            </a:r>
            <a:r>
              <a:rPr lang="pt-BR" sz="1700" b="1">
                <a:solidFill>
                  <a:srgbClr val="FF0000"/>
                </a:solidFill>
              </a:rPr>
              <a:t>hextet</a:t>
            </a:r>
            <a:r>
              <a:rPr lang="pt-BR" sz="1700">
                <a:solidFill>
                  <a:srgbClr val="000000"/>
                </a:solidFill>
              </a:rPr>
              <a:t>.</a:t>
            </a:r>
            <a:endParaRPr lang="pt-BR" sz="1700">
              <a:solidFill>
                <a:srgbClr val="00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rcRect l="22188" t="45391" r="22486" b="23801"/>
          <a:stretch>
            <a:fillRect/>
          </a:stretch>
        </p:blipFill>
        <p:spPr>
          <a:xfrm>
            <a:off x="3450590" y="1017270"/>
            <a:ext cx="5467350" cy="3298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Numérição Hexadecimal</a:t>
            </a:r>
            <a:br>
              <a:rPr lang="en-US" dirty="0"/>
            </a:br>
            <a:r>
              <a:rPr lang="pt-BR" sz="2400"/>
              <a:t>Endereços Hexadecimal e IPv6 (Continuação)</a:t>
            </a:r>
            <a:endParaRPr lang="pt-BR" sz="2400"/>
          </a:p>
        </p:txBody>
      </p:sp>
      <p:graphicFrame>
        <p:nvGraphicFramePr>
          <p:cNvPr id="6" name="Tabela 5"/>
          <p:cNvGraphicFramePr/>
          <p:nvPr/>
        </p:nvGraphicFramePr>
        <p:xfrm>
          <a:off x="62230" y="1039495"/>
          <a:ext cx="8957945" cy="27660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118870"/>
                <a:gridCol w="1118235"/>
                <a:gridCol w="1120775"/>
                <a:gridCol w="1118870"/>
                <a:gridCol w="1121410"/>
                <a:gridCol w="1117600"/>
                <a:gridCol w="1121410"/>
                <a:gridCol w="1120775"/>
              </a:tblGrid>
              <a:tr h="307340"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/>
                        <a:t>64 bits</a:t>
                      </a:r>
                      <a:endParaRPr lang="en-US" altLang="en-US" sz="2500" b="1"/>
                    </a:p>
                  </a:txBody>
                  <a:tcPr marL="68580" marR="68580" marT="0" marB="0" vert="horz"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/>
                        <a:t>64 bits</a:t>
                      </a:r>
                      <a:endParaRPr lang="en-US" altLang="en-US" sz="2500" b="1"/>
                    </a:p>
                  </a:txBody>
                  <a:tcPr marL="68580" marR="68580" marT="0" marB="0" vert="horz"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7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16 bits</a:t>
                      </a:r>
                      <a:endParaRPr lang="en-US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16 bits</a:t>
                      </a:r>
                      <a:endParaRPr lang="en-US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16 bits</a:t>
                      </a:r>
                      <a:endParaRPr lang="en-US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16 bits</a:t>
                      </a:r>
                      <a:endParaRPr lang="en-US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16 bits</a:t>
                      </a:r>
                      <a:endParaRPr lang="en-US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16 bits</a:t>
                      </a:r>
                      <a:endParaRPr lang="en-US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16 bits</a:t>
                      </a:r>
                      <a:endParaRPr lang="en-US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16 bits</a:t>
                      </a:r>
                      <a:endParaRPr lang="en-US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</a:tr>
              <a:tr h="307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B050"/>
                          </a:solidFill>
                        </a:rPr>
                        <a:t>X:</a:t>
                      </a:r>
                      <a:endParaRPr lang="en-US" altLang="en-US" sz="1800" b="1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B050"/>
                          </a:solidFill>
                        </a:rPr>
                        <a:t>X:</a:t>
                      </a:r>
                      <a:endParaRPr lang="en-US" altLang="en-US" sz="1800" b="1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B050"/>
                          </a:solidFill>
                        </a:rPr>
                        <a:t>X:</a:t>
                      </a:r>
                      <a:endParaRPr lang="en-US" altLang="en-US" sz="1800" b="1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B050"/>
                          </a:solidFill>
                        </a:rPr>
                        <a:t>X:</a:t>
                      </a:r>
                      <a:endParaRPr lang="en-US" altLang="en-US" sz="1800" b="1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B050"/>
                          </a:solidFill>
                        </a:rPr>
                        <a:t>X:</a:t>
                      </a:r>
                      <a:endParaRPr lang="en-US" altLang="en-US" sz="1800" b="1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B050"/>
                          </a:solidFill>
                        </a:rPr>
                        <a:t>X:</a:t>
                      </a:r>
                      <a:endParaRPr lang="en-US" altLang="en-US" sz="1800" b="1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B050"/>
                          </a:solidFill>
                        </a:rPr>
                        <a:t>X:</a:t>
                      </a:r>
                      <a:endParaRPr lang="en-US" altLang="en-US" sz="1800" b="1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B050"/>
                          </a:solidFill>
                        </a:rPr>
                        <a:t>X:</a:t>
                      </a:r>
                      <a:endParaRPr lang="en-US" altLang="en-US" sz="1800" b="1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</a:tr>
              <a:tr h="307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</a:tr>
              <a:tr h="307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7030A0"/>
                          </a:solidFill>
                        </a:rPr>
                        <a:t>FFFF</a:t>
                      </a:r>
                      <a:endParaRPr lang="en-US" altLang="en-US" sz="18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7030A0"/>
                          </a:solidFill>
                        </a:rPr>
                        <a:t>FFFF</a:t>
                      </a:r>
                      <a:endParaRPr lang="en-US" altLang="en-US" sz="18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7030A0"/>
                          </a:solidFill>
                        </a:rPr>
                        <a:t>FFFF</a:t>
                      </a:r>
                      <a:endParaRPr lang="en-US" altLang="en-US" sz="18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7030A0"/>
                          </a:solidFill>
                        </a:rPr>
                        <a:t>FFFF</a:t>
                      </a:r>
                      <a:endParaRPr lang="en-US" altLang="en-US" sz="18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7030A0"/>
                          </a:solidFill>
                        </a:rPr>
                        <a:t>FFFF</a:t>
                      </a:r>
                      <a:endParaRPr lang="en-US" altLang="en-US" sz="18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7030A0"/>
                          </a:solidFill>
                        </a:rPr>
                        <a:t>FFFF</a:t>
                      </a:r>
                      <a:endParaRPr lang="en-US" altLang="en-US" sz="18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7030A0"/>
                          </a:solidFill>
                        </a:rPr>
                        <a:t>FFFF</a:t>
                      </a:r>
                      <a:endParaRPr lang="en-US" altLang="en-US" sz="18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7030A0"/>
                          </a:solidFill>
                        </a:rPr>
                        <a:t>FFFF</a:t>
                      </a:r>
                      <a:endParaRPr lang="en-US" altLang="en-US" sz="18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</a:tr>
              <a:tr h="307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700" b="1"/>
                        <a:t> </a:t>
                      </a:r>
                      <a:endParaRPr lang="en-US" altLang="en-US" sz="17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alt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|-------</a:t>
                      </a:r>
                      <a:endParaRPr lang="pt-BR" altLang="en-US" sz="1700" b="1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pt-BR" alt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+mn-ea"/>
                        </a:rPr>
                        <a:t>-------------</a:t>
                      </a:r>
                      <a:r>
                        <a:rPr 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en-US" altLang="en-US" sz="1700" b="1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pt-BR" alt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------</a:t>
                      </a:r>
                      <a:r>
                        <a:rPr 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|</a:t>
                      </a:r>
                      <a:r>
                        <a:rPr lang="pt-BR" alt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------</a:t>
                      </a:r>
                      <a:endParaRPr lang="pt-BR" altLang="en-US" sz="1700" b="1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alt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+mn-ea"/>
                        </a:rPr>
                        <a:t>------------</a:t>
                      </a:r>
                      <a:endParaRPr lang="pt-BR" altLang="en-US" sz="1700" b="1">
                        <a:solidFill>
                          <a:schemeClr val="accent6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pt-BR" alt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+mn-ea"/>
                        </a:rPr>
                        <a:t>-------|</a:t>
                      </a:r>
                      <a:r>
                        <a:rPr lang="en-US" sz="17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en-US" altLang="en-US" sz="1700" b="1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700" b="1"/>
                        <a:t> </a:t>
                      </a:r>
                      <a:endParaRPr lang="en-US" altLang="en-US" sz="17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700" b="1"/>
                        <a:t> </a:t>
                      </a:r>
                      <a:endParaRPr lang="en-US" altLang="en-US" sz="1700" b="1"/>
                    </a:p>
                  </a:txBody>
                  <a:tcPr marL="68580" marR="68580" marT="0" marB="0" vert="horz" anchor="ctr" anchorCtr="0"/>
                </a:tc>
              </a:tr>
              <a:tr h="307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 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altLang="en-US" sz="25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altLang="en-US" sz="25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US" altLang="en-US" sz="25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altLang="en-US" sz="25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altLang="en-US" sz="2500" b="1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000000"/>
                          </a:solidFill>
                        </a:rPr>
                        <a:t>4 Hexa</a:t>
                      </a:r>
                      <a:endParaRPr lang="en-US" altLang="en-US" sz="2500" b="1">
                        <a:solidFill>
                          <a:srgbClr val="00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 hMerge="1">
                  <a:tcPr/>
                </a:tc>
              </a:tr>
              <a:tr h="307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 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25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25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0070C0"/>
                          </a:solidFill>
                        </a:rPr>
                        <a:t> </a:t>
                      </a:r>
                      <a:endParaRPr lang="en-US" altLang="en-US" sz="25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25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altLang="en-US" sz="2500" b="1">
                        <a:solidFill>
                          <a:srgbClr val="0070C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000000"/>
                          </a:solidFill>
                        </a:rPr>
                        <a:t>16 Binário</a:t>
                      </a:r>
                      <a:endParaRPr lang="en-US" altLang="en-US" sz="2500" b="1">
                        <a:solidFill>
                          <a:srgbClr val="00000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 hMerge="1">
                  <a:tcPr/>
                </a:tc>
              </a:tr>
              <a:tr h="307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 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7030A0"/>
                          </a:solidFill>
                        </a:rPr>
                        <a:t>1111</a:t>
                      </a:r>
                      <a:endParaRPr lang="en-US" altLang="en-US" sz="25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7030A0"/>
                          </a:solidFill>
                        </a:rPr>
                        <a:t>1111</a:t>
                      </a:r>
                      <a:endParaRPr lang="en-US" altLang="en-US" sz="25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7030A0"/>
                          </a:solidFill>
                        </a:rPr>
                        <a:t> </a:t>
                      </a:r>
                      <a:endParaRPr lang="en-US" altLang="en-US" sz="25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7030A0"/>
                          </a:solidFill>
                        </a:rPr>
                        <a:t>1111</a:t>
                      </a:r>
                      <a:endParaRPr lang="en-US" altLang="en-US" sz="25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7030A0"/>
                          </a:solidFill>
                        </a:rPr>
                        <a:t>1111</a:t>
                      </a:r>
                      <a:endParaRPr lang="en-US" altLang="en-US" sz="2500" b="1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500" b="1">
                          <a:solidFill>
                            <a:srgbClr val="000000"/>
                          </a:solidFill>
                          <a:sym typeface="+mn-ea"/>
                        </a:rPr>
                        <a:t>16 Binário</a:t>
                      </a:r>
                      <a:endParaRPr lang="en-US" altLang="en-US" sz="2500" b="1">
                        <a:solidFill>
                          <a:srgbClr val="000000"/>
                        </a:solidFill>
                        <a:sym typeface="+mn-ea"/>
                      </a:endParaRPr>
                    </a:p>
                  </a:txBody>
                  <a:tcPr marL="68580" marR="68580" marT="0" marB="0" vert="horz" anchor="ctr" anchorCtr="0"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7" name="Caixa de Texto 6"/>
          <p:cNvSpPr txBox="1"/>
          <p:nvPr/>
        </p:nvSpPr>
        <p:spPr>
          <a:xfrm>
            <a:off x="62230" y="655320"/>
            <a:ext cx="900874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770" b="1">
                <a:solidFill>
                  <a:srgbClr val="000000"/>
                </a:solidFill>
              </a:rPr>
              <a:t>Representação do IPv6 (8 Hextets):</a:t>
            </a:r>
            <a:r>
              <a:rPr lang="pt-BR" altLang="en-US" sz="1770"/>
              <a:t> separado por </a:t>
            </a:r>
            <a:r>
              <a:rPr lang="pt-BR" altLang="en-US" sz="1770" b="1">
                <a:solidFill>
                  <a:srgbClr val="FF0000"/>
                </a:solidFill>
              </a:rPr>
              <a:t>: (dois pontos)</a:t>
            </a:r>
            <a:r>
              <a:rPr lang="pt-BR" altLang="en-US" sz="1770"/>
              <a:t> = </a:t>
            </a:r>
            <a:r>
              <a:rPr lang="pt-BR" altLang="en-US" sz="1770" b="1">
                <a:solidFill>
                  <a:srgbClr val="0070C0"/>
                </a:solidFill>
              </a:rPr>
              <a:t>16 * 8 = 128 bits</a:t>
            </a:r>
            <a:endParaRPr lang="pt-BR" altLang="en-US" sz="1770" b="1">
              <a:solidFill>
                <a:srgbClr val="0070C0"/>
              </a:solidFill>
            </a:endParaRPr>
          </a:p>
        </p:txBody>
      </p:sp>
      <p:pic>
        <p:nvPicPr>
          <p:cNvPr id="2" name="imagem 20" descr="Captura de tela de 2016-04-07 15:51:56"/>
          <p:cNvPicPr>
            <a:picLocks noChangeAspect="1"/>
          </p:cNvPicPr>
          <p:nvPr/>
        </p:nvPicPr>
        <p:blipFill>
          <a:blip r:embed="rId1"/>
          <a:srcRect l="14874" t="35939" r="7680" b="37482"/>
          <a:stretch>
            <a:fillRect/>
          </a:stretch>
        </p:blipFill>
        <p:spPr>
          <a:xfrm>
            <a:off x="906780" y="4161790"/>
            <a:ext cx="4987925" cy="9182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4000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Converter </a:t>
            </a:r>
            <a:r>
              <a:rPr lang="pt-BR" sz="2400">
                <a:sym typeface="+mn-ea"/>
              </a:rPr>
              <a:t>Decimal</a:t>
            </a:r>
            <a:r>
              <a:rPr lang="pt-BR" sz="2400"/>
              <a:t> para Hexadecimal (Regras)</a:t>
            </a:r>
            <a:endParaRPr lang="pt-BR" sz="2400"/>
          </a:p>
        </p:txBody>
      </p:sp>
      <p:sp>
        <p:nvSpPr>
          <p:cNvPr id="4" name="Caixa de Texto 3"/>
          <p:cNvSpPr txBox="1"/>
          <p:nvPr/>
        </p:nvSpPr>
        <p:spPr>
          <a:xfrm>
            <a:off x="67945" y="752475"/>
            <a:ext cx="886142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AutoNum type="arabicPeriod"/>
            </a:pPr>
            <a:r>
              <a:rPr lang="pt-BR" altLang="en-US" sz="3000"/>
              <a:t> </a:t>
            </a:r>
            <a:r>
              <a:rPr lang="pt-BR" altLang="en-US" sz="3000" b="1">
                <a:solidFill>
                  <a:srgbClr val="000000"/>
                </a:solidFill>
              </a:rPr>
              <a:t>Sistema Hexadecimal: </a:t>
            </a:r>
            <a:endParaRPr lang="pt-BR" altLang="en-US" sz="3000" b="1">
              <a:solidFill>
                <a:srgbClr val="000000"/>
              </a:solidFill>
            </a:endParaRPr>
          </a:p>
          <a:p>
            <a:pPr marL="800100" lvl="1" indent="-342900" algn="l">
              <a:buAutoNum type="arabicPeriod"/>
            </a:pPr>
            <a:r>
              <a:rPr lang="pt-BR" altLang="en-US" sz="3000"/>
              <a:t> </a:t>
            </a:r>
            <a:r>
              <a:rPr lang="pt-BR" altLang="en-US" sz="3000" b="1">
                <a:solidFill>
                  <a:srgbClr val="FF0000"/>
                </a:solidFill>
              </a:rPr>
              <a:t>Base 16</a:t>
            </a:r>
            <a:r>
              <a:rPr lang="pt-BR" altLang="en-US" sz="3000"/>
              <a:t> = </a:t>
            </a:r>
            <a:r>
              <a:rPr lang="pt-BR" altLang="en-US" sz="3000" b="1">
                <a:solidFill>
                  <a:srgbClr val="0070C0"/>
                </a:solidFill>
              </a:rPr>
              <a:t>0 a 15 (A a F)</a:t>
            </a:r>
            <a:endParaRPr lang="pt-BR" altLang="en-US" sz="3000"/>
          </a:p>
          <a:p>
            <a:pPr marL="342900" indent="-342900" algn="l">
              <a:buAutoNum type="arabicPeriod"/>
            </a:pPr>
            <a:r>
              <a:rPr lang="pt-BR" altLang="en-US" sz="3000"/>
              <a:t> </a:t>
            </a:r>
            <a:r>
              <a:rPr lang="pt-BR" altLang="en-US" sz="3000" b="1">
                <a:solidFill>
                  <a:srgbClr val="000000"/>
                </a:solidFill>
              </a:rPr>
              <a:t>Lembrando:</a:t>
            </a:r>
            <a:r>
              <a:rPr lang="pt-BR" altLang="en-US" sz="3000">
                <a:solidFill>
                  <a:srgbClr val="000000"/>
                </a:solidFill>
              </a:rPr>
              <a:t> </a:t>
            </a:r>
            <a:endParaRPr lang="pt-BR" altLang="en-US" sz="3000">
              <a:solidFill>
                <a:srgbClr val="000000"/>
              </a:solidFill>
            </a:endParaRPr>
          </a:p>
          <a:p>
            <a:pPr marL="800100" lvl="1" indent="-342900" algn="l">
              <a:buAutoNum type="arabicPeriod"/>
            </a:pPr>
            <a:r>
              <a:rPr lang="pt-BR" altLang="en-US" sz="3000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altLang="en-US" sz="3000" b="1">
                <a:solidFill>
                  <a:srgbClr val="0070C0"/>
                </a:solidFill>
              </a:rPr>
              <a:t>1 bit</a:t>
            </a:r>
            <a:r>
              <a:rPr lang="pt-BR" altLang="en-US" sz="3000" b="1">
                <a:solidFill>
                  <a:srgbClr val="FF0000"/>
                </a:solidFill>
              </a:rPr>
              <a:t> em hexa representa </a:t>
            </a:r>
            <a:r>
              <a:rPr lang="pt-BR" altLang="en-US" sz="3000" b="1">
                <a:solidFill>
                  <a:srgbClr val="0070C0"/>
                </a:solidFill>
              </a:rPr>
              <a:t>4 bits</a:t>
            </a:r>
            <a:r>
              <a:rPr lang="pt-BR" altLang="en-US" sz="3000" b="1">
                <a:solidFill>
                  <a:srgbClr val="FF0000"/>
                </a:solidFill>
              </a:rPr>
              <a:t> em binário</a:t>
            </a:r>
            <a:endParaRPr lang="pt-BR" altLang="en-US" sz="3000" b="1">
              <a:solidFill>
                <a:srgbClr val="FF0000"/>
              </a:solidFill>
            </a:endParaRPr>
          </a:p>
          <a:p>
            <a:pPr marL="342900" indent="-342900" algn="l">
              <a:buAutoNum type="arabicPeriod"/>
            </a:pPr>
            <a:r>
              <a:rPr lang="pt-BR" altLang="en-US" sz="3000"/>
              <a:t> </a:t>
            </a:r>
            <a:r>
              <a:rPr lang="pt-BR" altLang="en-US" sz="3000" b="1">
                <a:solidFill>
                  <a:srgbClr val="000000"/>
                </a:solidFill>
              </a:rPr>
              <a:t>Lembrando NOVAMENTE: </a:t>
            </a:r>
            <a:endParaRPr lang="pt-BR" altLang="en-US" sz="3000" b="1"/>
          </a:p>
          <a:p>
            <a:pPr marL="800100" lvl="1" indent="-342900" algn="l">
              <a:buAutoNum type="arabicPeriod"/>
            </a:pPr>
            <a:r>
              <a:rPr lang="pt-BR" altLang="en-US" sz="3000"/>
              <a:t> </a:t>
            </a:r>
            <a:r>
              <a:rPr lang="pt-BR" altLang="en-US" sz="3000" b="1">
                <a:solidFill>
                  <a:srgbClr val="FF0000"/>
                </a:solidFill>
              </a:rPr>
              <a:t>0 (zero)</a:t>
            </a:r>
            <a:r>
              <a:rPr lang="pt-BR" altLang="en-US" sz="3000"/>
              <a:t> conta em valores </a:t>
            </a:r>
            <a:r>
              <a:rPr lang="pt-BR" altLang="en-US" sz="3000" b="1">
                <a:solidFill>
                  <a:srgbClr val="0070C0"/>
                </a:solidFill>
              </a:rPr>
              <a:t>binários e hexa</a:t>
            </a:r>
            <a:endParaRPr lang="pt-BR" altLang="en-US" sz="3000"/>
          </a:p>
          <a:p>
            <a:pPr marL="342900" indent="-342900" algn="l">
              <a:buAutoNum type="arabicPeriod"/>
            </a:pPr>
            <a:r>
              <a:rPr lang="pt-BR" altLang="en-US" sz="3000"/>
              <a:t> </a:t>
            </a:r>
            <a:r>
              <a:rPr lang="pt-BR" altLang="en-US" sz="3000" b="1">
                <a:solidFill>
                  <a:srgbClr val="000000"/>
                </a:solidFill>
              </a:rPr>
              <a:t>Conversão de Decimal para Hexadecimal:</a:t>
            </a:r>
            <a:endParaRPr lang="pt-BR" altLang="en-US" sz="3000" b="1"/>
          </a:p>
          <a:p>
            <a:pPr marL="800100" lvl="1" indent="-342900" algn="l">
              <a:buAutoNum type="arabicPeriod"/>
            </a:pPr>
            <a:r>
              <a:rPr lang="pt-BR" altLang="en-US" sz="3000"/>
              <a:t> </a:t>
            </a:r>
            <a:r>
              <a:rPr lang="pt-BR" altLang="en-US" sz="3000" b="1">
                <a:solidFill>
                  <a:srgbClr val="FF0000"/>
                </a:solidFill>
              </a:rPr>
              <a:t>Regra = divisão CONTÍNUA por 16</a:t>
            </a:r>
            <a:endParaRPr lang="pt-BR" altLang="en-US"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de Numeração Hexadecimal</a:t>
            </a:r>
            <a:br>
              <a:rPr lang="en-US" dirty="0"/>
            </a:br>
            <a:r>
              <a:rPr lang="pt-BR" sz="2400"/>
              <a:t>Conversões Decimal para Hexadecimal</a:t>
            </a:r>
            <a:endParaRPr lang="pt-BR" sz="2400"/>
          </a:p>
        </p:txBody>
      </p:sp>
      <p:pic>
        <p:nvPicPr>
          <p:cNvPr id="2" name="imagem 19" descr="Captura de tela de 2016-04-07 14:17:50"/>
          <p:cNvPicPr>
            <a:picLocks noChangeAspect="1"/>
          </p:cNvPicPr>
          <p:nvPr/>
        </p:nvPicPr>
        <p:blipFill>
          <a:blip r:embed="rId1"/>
          <a:srcRect l="7310" t="24254" r="7935" b="22464"/>
          <a:stretch>
            <a:fillRect/>
          </a:stretch>
        </p:blipFill>
        <p:spPr>
          <a:xfrm>
            <a:off x="138430" y="620395"/>
            <a:ext cx="8867775" cy="303403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Conector Reto 4"/>
          <p:cNvCxnSpPr/>
          <p:nvPr/>
        </p:nvCxnSpPr>
        <p:spPr>
          <a:xfrm flipH="1" flipV="1">
            <a:off x="1278890" y="1579245"/>
            <a:ext cx="953770" cy="317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/>
          <p:nvPr/>
        </p:nvCxnSpPr>
        <p:spPr>
          <a:xfrm flipH="1" flipV="1">
            <a:off x="711835" y="1122680"/>
            <a:ext cx="573405" cy="44958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 de Texto 6"/>
          <p:cNvSpPr txBox="1"/>
          <p:nvPr/>
        </p:nvSpPr>
        <p:spPr>
          <a:xfrm>
            <a:off x="138430" y="3583305"/>
            <a:ext cx="88677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b="1">
                <a:solidFill>
                  <a:srgbClr val="000000"/>
                </a:solidFill>
              </a:rPr>
              <a:t>DICA: </a:t>
            </a:r>
            <a:r>
              <a:rPr lang="pt-BR" altLang="en-US"/>
              <a:t>Substituir os valores de: </a:t>
            </a:r>
            <a:r>
              <a:rPr lang="pt-BR" altLang="en-US" b="1">
                <a:solidFill>
                  <a:srgbClr val="0070C0"/>
                </a:solidFill>
              </a:rPr>
              <a:t>10 até 15</a:t>
            </a:r>
            <a:r>
              <a:rPr lang="pt-BR" altLang="en-US"/>
              <a:t> pelas letras: </a:t>
            </a:r>
            <a:r>
              <a:rPr lang="pt-BR" altLang="en-US" b="1">
                <a:solidFill>
                  <a:srgbClr val="FF0000"/>
                </a:solidFill>
              </a:rPr>
              <a:t>10 = A, 11 = B, 12 = C, 13 = D, 14 = E e 15 = F</a:t>
            </a:r>
            <a:endParaRPr lang="pt-BR" altLang="en-US" b="1">
              <a:solidFill>
                <a:srgbClr val="FF0000"/>
              </a:solidFill>
            </a:endParaRPr>
          </a:p>
          <a:p>
            <a:pPr algn="ctr"/>
            <a:r>
              <a:rPr lang="pt-BR" altLang="en-US" b="1">
                <a:solidFill>
                  <a:srgbClr val="000000"/>
                </a:solidFill>
                <a:sym typeface="+mn-ea"/>
              </a:rPr>
              <a:t>DICA: </a:t>
            </a:r>
            <a:r>
              <a:rPr lang="pt-BR" altLang="en-US">
                <a:sym typeface="+mn-ea"/>
              </a:rPr>
              <a:t>Todo o valor </a:t>
            </a:r>
            <a:r>
              <a:rPr lang="pt-BR" altLang="en-US" b="1">
                <a:solidFill>
                  <a:srgbClr val="FF0000"/>
                </a:solidFill>
                <a:sym typeface="+mn-ea"/>
              </a:rPr>
              <a:t>Hexadecimal </a:t>
            </a:r>
            <a:r>
              <a:rPr lang="pt-BR" altLang="en-US">
                <a:sym typeface="+mn-ea"/>
              </a:rPr>
              <a:t>é representado pelo valor:</a:t>
            </a:r>
            <a:r>
              <a:rPr lang="pt-BR" altLang="en-US" b="1">
                <a:sym typeface="+mn-ea"/>
              </a:rPr>
              <a:t> </a:t>
            </a:r>
            <a:r>
              <a:rPr lang="pt-BR" altLang="en-US" b="1">
                <a:solidFill>
                  <a:srgbClr val="000000"/>
                </a:solidFill>
                <a:sym typeface="+mn-ea"/>
              </a:rPr>
              <a:t>0x</a:t>
            </a:r>
            <a:r>
              <a:rPr lang="pt-BR" altLang="en-US" b="1">
                <a:sym typeface="+mn-ea"/>
              </a:rPr>
              <a:t> </a:t>
            </a:r>
            <a:r>
              <a:rPr lang="pt-BR" altLang="en-US">
                <a:sym typeface="+mn-ea"/>
              </a:rPr>
              <a:t>antes do valor em hexa que </a:t>
            </a:r>
            <a:r>
              <a:rPr lang="pt-BR" altLang="en-US" b="1">
                <a:solidFill>
                  <a:srgbClr val="0070C0"/>
                </a:solidFill>
                <a:sym typeface="+mn-ea"/>
              </a:rPr>
              <a:t>Representa o Fim do Cáclulo de Conversão</a:t>
            </a:r>
            <a:endParaRPr lang="pt-BR" altLang="en-US" b="1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3365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Hexadecimal</a:t>
            </a:r>
            <a:br>
              <a:rPr lang="en-US" dirty="0"/>
            </a:br>
            <a:r>
              <a:rPr lang="pt-BR" sz="2400"/>
              <a:t>Converter </a:t>
            </a:r>
            <a:r>
              <a:rPr lang="pt-BR" sz="2400">
                <a:sym typeface="+mn-ea"/>
              </a:rPr>
              <a:t>Decimal </a:t>
            </a:r>
            <a:r>
              <a:rPr lang="pt-BR" sz="2400">
                <a:sym typeface="+mn-ea"/>
              </a:rPr>
              <a:t>para Hexadecimal </a:t>
            </a:r>
            <a:r>
              <a:rPr lang="pt-BR" sz="2400"/>
              <a:t>(Exercícios)</a:t>
            </a:r>
            <a:endParaRPr lang="pt-BR" sz="2400"/>
          </a:p>
        </p:txBody>
      </p:sp>
      <p:graphicFrame>
        <p:nvGraphicFramePr>
          <p:cNvPr id="4" name="Tabela 3"/>
          <p:cNvGraphicFramePr/>
          <p:nvPr/>
        </p:nvGraphicFramePr>
        <p:xfrm>
          <a:off x="114300" y="743585"/>
          <a:ext cx="8862060" cy="262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190"/>
                <a:gridCol w="3662680"/>
                <a:gridCol w="3171190"/>
              </a:tblGrid>
              <a:tr h="472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10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16 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(Númerico / Números)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Base 16 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(Letras / Conversão)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de Numeração Hexadecimal</a:t>
            </a:r>
            <a:br>
              <a:rPr lang="en-US" dirty="0"/>
            </a:br>
            <a:r>
              <a:rPr lang="pt-BR" sz="2400"/>
              <a:t>Conversões </a:t>
            </a:r>
            <a:r>
              <a:rPr lang="pt-BR" sz="2400">
                <a:sym typeface="+mn-ea"/>
              </a:rPr>
              <a:t>Hexadecimal para </a:t>
            </a:r>
            <a:r>
              <a:rPr lang="pt-BR" sz="2400"/>
              <a:t>Decimal</a:t>
            </a:r>
            <a:endParaRPr lang="pt-BR" sz="2400"/>
          </a:p>
        </p:txBody>
      </p:sp>
      <p:sp>
        <p:nvSpPr>
          <p:cNvPr id="7" name="Caixa de Texto 6"/>
          <p:cNvSpPr txBox="1"/>
          <p:nvPr/>
        </p:nvSpPr>
        <p:spPr>
          <a:xfrm>
            <a:off x="84455" y="683895"/>
            <a:ext cx="89687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 b="1">
                <a:solidFill>
                  <a:srgbClr val="000000"/>
                </a:solidFill>
              </a:rPr>
              <a:t>Valor em Hexadecimal:</a:t>
            </a:r>
            <a:r>
              <a:rPr lang="pt-BR" altLang="en-US"/>
              <a:t> </a:t>
            </a:r>
            <a:r>
              <a:rPr lang="pt-BR" altLang="en-US" b="1">
                <a:solidFill>
                  <a:srgbClr val="0070C0"/>
                </a:solidFill>
              </a:rPr>
              <a:t>0x1E</a:t>
            </a:r>
            <a:r>
              <a:rPr lang="pt-BR" altLang="en-US"/>
              <a:t> </a:t>
            </a:r>
            <a:endParaRPr lang="pt-BR" altLang="en-US"/>
          </a:p>
          <a:p>
            <a:pPr marL="342900" indent="-342900">
              <a:buAutoNum type="arabicPeriod"/>
            </a:pPr>
            <a:r>
              <a:rPr lang="pt-BR" altLang="en-US" b="1">
                <a:solidFill>
                  <a:srgbClr val="000000"/>
                </a:solidFill>
              </a:rPr>
              <a:t>Primeiro Etapa:</a:t>
            </a:r>
            <a:r>
              <a:rPr lang="pt-BR" altLang="en-US"/>
              <a:t> substituir a </a:t>
            </a:r>
            <a:r>
              <a:rPr lang="pt-BR" altLang="en-US" b="1">
                <a:solidFill>
                  <a:srgbClr val="FF0000"/>
                </a:solidFill>
              </a:rPr>
              <a:t>Letra para Número</a:t>
            </a:r>
            <a:r>
              <a:rPr lang="pt-BR" altLang="en-US"/>
              <a:t> na tabela de referência: </a:t>
            </a:r>
            <a:r>
              <a:rPr lang="pt-BR" altLang="en-US" b="1">
                <a:solidFill>
                  <a:srgbClr val="0070C0"/>
                </a:solidFill>
              </a:rPr>
              <a:t>E = 14</a:t>
            </a:r>
            <a:r>
              <a:rPr lang="pt-BR" altLang="en-US"/>
              <a:t> </a:t>
            </a:r>
            <a:endParaRPr lang="pt-BR" altLang="en-US"/>
          </a:p>
          <a:p>
            <a:pPr marL="800100" lvl="1" indent="-342900" algn="l">
              <a:buAutoNum type="arabicPeriod"/>
            </a:pPr>
            <a:r>
              <a:rPr lang="pt-BR" altLang="en-US"/>
              <a:t>Lembrar que os valores em </a:t>
            </a:r>
            <a:r>
              <a:rPr lang="pt-BR" altLang="en-US" b="1">
                <a:solidFill>
                  <a:srgbClr val="000000"/>
                </a:solidFill>
              </a:rPr>
              <a:t>Hexadecimal </a:t>
            </a:r>
            <a:r>
              <a:rPr lang="pt-BR" altLang="en-US"/>
              <a:t>é igual a: </a:t>
            </a:r>
            <a:r>
              <a:rPr lang="pt-BR" altLang="en-US" b="1">
                <a:solidFill>
                  <a:srgbClr val="FF0000"/>
                </a:solidFill>
              </a:rPr>
              <a:t>2⁴</a:t>
            </a:r>
            <a:r>
              <a:rPr lang="pt-BR" altLang="en-US"/>
              <a:t> utilizando: </a:t>
            </a:r>
            <a:r>
              <a:rPr lang="pt-BR" altLang="en-US" b="1">
                <a:solidFill>
                  <a:srgbClr val="0070C0"/>
                </a:solidFill>
              </a:rPr>
              <a:t>4 bits</a:t>
            </a:r>
            <a:r>
              <a:rPr lang="pt-BR" altLang="en-US"/>
              <a:t>.</a:t>
            </a:r>
            <a:endParaRPr lang="pt-BR" altLang="en-US"/>
          </a:p>
        </p:txBody>
      </p:sp>
      <p:graphicFrame>
        <p:nvGraphicFramePr>
          <p:cNvPr id="4" name="Tabela 3"/>
          <p:cNvGraphicFramePr/>
          <p:nvPr/>
        </p:nvGraphicFramePr>
        <p:xfrm>
          <a:off x="84455" y="1624330"/>
          <a:ext cx="8837295" cy="26670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173480"/>
                <a:gridCol w="1126490"/>
                <a:gridCol w="1122680"/>
                <a:gridCol w="1086485"/>
                <a:gridCol w="1240790"/>
                <a:gridCol w="1109980"/>
                <a:gridCol w="908685"/>
                <a:gridCol w="1068705"/>
              </a:tblGrid>
              <a:tr h="130810"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US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57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en-US" sz="2700" b="1">
                        <a:solidFill>
                          <a:srgbClr val="FFC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en-US" sz="2700" b="1">
                        <a:solidFill>
                          <a:srgbClr val="FFC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en-US" sz="2700" b="1">
                        <a:solidFill>
                          <a:srgbClr val="FFC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2700" b="1">
                        <a:solidFill>
                          <a:srgbClr val="FFC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en-US" sz="2700" b="1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en-US" sz="2700" b="1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en-US" sz="2700" b="1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2700" b="1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191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US" sz="27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US" sz="27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US" sz="27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27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27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27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27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US" sz="2700" b="1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2⁷</a:t>
                      </a:r>
                      <a:endParaRPr lang="en-US" altLang="en-US" sz="27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2⁶</a:t>
                      </a:r>
                      <a:endParaRPr lang="en-US" altLang="en-US" sz="27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2⁵</a:t>
                      </a:r>
                      <a:endParaRPr lang="en-US" altLang="en-US" sz="27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2⁴</a:t>
                      </a:r>
                      <a:endParaRPr lang="en-US" altLang="en-US" sz="27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2³</a:t>
                      </a:r>
                      <a:endParaRPr lang="en-US" altLang="en-US" sz="27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2²</a:t>
                      </a:r>
                      <a:endParaRPr lang="en-US" altLang="en-US" sz="27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2¹</a:t>
                      </a:r>
                      <a:endParaRPr lang="en-US" altLang="en-US" sz="27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2⁰</a:t>
                      </a:r>
                      <a:endParaRPr lang="en-US" altLang="en-US" sz="2700" b="1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</a:t>
                      </a:r>
                      <a:endParaRPr lang="en-US" altLang="en-US" sz="27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lang="en-US" altLang="en-US" sz="27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US" altLang="en-US" sz="27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altLang="en-US" sz="27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en-US" sz="27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en-US" sz="27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en-US" sz="27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2700" b="1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US" sz="27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US" sz="27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US" sz="27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altLang="en-US" sz="27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en-US" sz="27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en-US" sz="27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en-US" sz="27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US" sz="27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0">
                <a:tc grid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pt-BR" altLang="en-US" sz="25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Somatória: (16 + 8 + 4 + 2) = </a:t>
                      </a:r>
                      <a:r>
                        <a:rPr lang="pt-BR" altLang="en-US" sz="25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r>
                        <a:rPr lang="pt-BR" altLang="en-US" sz="2500" b="1" baseline="-250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b10</a:t>
                      </a:r>
                      <a:endParaRPr lang="pt-BR" altLang="en-US" sz="2500" b="1" baseline="-2500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 hMerge="1">
                  <a:tcPr marL="68580" marR="68580" marT="0" marB="0" vert="horz" anchor="ctr" anchorCtr="0"/>
                </a:tc>
                <a:tc hMerge="1">
                  <a:tcPr marL="68580" marR="68580" marT="0" marB="0" vert="horz" anchor="ctr" anchorCtr="0"/>
                </a:tc>
                <a:tc hMerge="1">
                  <a:tcPr marL="68580" marR="68580" marT="0" marB="0" vert="horz" anchor="ctr" anchorCtr="0"/>
                </a:tc>
                <a:tc hMerge="1">
                  <a:tcPr marL="68580" marR="68580" marT="0" marB="0" vert="horz" anchor="ctr" anchorCtr="0"/>
                </a:tc>
                <a:tc hMerge="1">
                  <a:tcPr marL="68580" marR="68580" marT="0" marB="0" vert="horz" anchor="ctr" anchorCtr="0"/>
                </a:tc>
                <a:tc hMerge="1">
                  <a:tcPr marL="68580" marR="68580" marT="0" marB="0" vert="horz" anchor="ctr" anchorCtr="0"/>
                </a:tc>
                <a:tc hMerge="1">
                  <a:tcPr marL="68580" marR="68580" marT="0" marB="0" vert="horz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3365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Hexadecimal</a:t>
            </a:r>
            <a:br>
              <a:rPr lang="en-US" dirty="0"/>
            </a:br>
            <a:r>
              <a:rPr lang="pt-BR" sz="2400"/>
              <a:t>Converter </a:t>
            </a:r>
            <a:r>
              <a:rPr lang="pt-BR" sz="2400">
                <a:sym typeface="+mn-ea"/>
              </a:rPr>
              <a:t>Hexadecimal para </a:t>
            </a:r>
            <a:r>
              <a:rPr lang="pt-BR" sz="2400">
                <a:sym typeface="+mn-ea"/>
              </a:rPr>
              <a:t>Decimal </a:t>
            </a:r>
            <a:r>
              <a:rPr lang="pt-BR" sz="2400"/>
              <a:t>(Exercícios)</a:t>
            </a:r>
            <a:endParaRPr lang="pt-BR" sz="2400"/>
          </a:p>
        </p:txBody>
      </p:sp>
      <p:graphicFrame>
        <p:nvGraphicFramePr>
          <p:cNvPr id="4" name="Tabela 3"/>
          <p:cNvGraphicFramePr/>
          <p:nvPr/>
        </p:nvGraphicFramePr>
        <p:xfrm>
          <a:off x="114300" y="686435"/>
          <a:ext cx="8862060" cy="262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190"/>
                <a:gridCol w="3662680"/>
                <a:gridCol w="3171190"/>
              </a:tblGrid>
              <a:tr h="472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16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Hexa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2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(Binário)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Base 10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pt-BR" alt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(Decimal)</a:t>
                      </a:r>
                      <a:endParaRPr lang="pt-BR" alt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5C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b16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b16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C9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b16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FF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b16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b16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BR" altLang="en-US" sz="27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AA</a:t>
                      </a:r>
                      <a:r>
                        <a:rPr lang="pt-BR" altLang="en-US" sz="2700" b="1" baseline="-2500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b16</a:t>
                      </a:r>
                      <a:endParaRPr lang="pt-BR" altLang="en-US" sz="2700" b="1" baseline="-2500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pt-BR" altLang="en-US" sz="27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3365" cy="64198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Hexadecimal</a:t>
            </a:r>
            <a:br>
              <a:rPr lang="en-US" dirty="0"/>
            </a:br>
            <a:r>
              <a:rPr lang="pt-BR" sz="2400"/>
              <a:t>Endereços IPv6 e MAC Address</a:t>
            </a:r>
            <a:r>
              <a:rPr lang="pt-BR" sz="2400">
                <a:sym typeface="+mn-ea"/>
              </a:rPr>
              <a:t> em Hexadecimal</a:t>
            </a:r>
            <a:endParaRPr lang="pt-BR" sz="24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7813" t="8253" r="7983" b="61018"/>
          <a:stretch>
            <a:fillRect/>
          </a:stretch>
        </p:blipFill>
        <p:spPr>
          <a:xfrm>
            <a:off x="117475" y="622935"/>
            <a:ext cx="8819515" cy="181038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161" t="10667" r="5517" b="32627"/>
          <a:stretch>
            <a:fillRect/>
          </a:stretch>
        </p:blipFill>
        <p:spPr>
          <a:xfrm>
            <a:off x="985520" y="2547620"/>
            <a:ext cx="7083425" cy="2066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9478</Words>
  <Application>WPS Presentation</Application>
  <PresentationFormat>On-screen Show (16:9)</PresentationFormat>
  <Paragraphs>1196</Paragraphs>
  <Slides>28</Slides>
  <Notes>26</Notes>
  <HiddenSlides>5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Abyssinica SIL</vt:lpstr>
      <vt:lpstr>Default Theme</vt:lpstr>
      <vt:lpstr>Módulo 5: Sistemas Numéricos</vt:lpstr>
      <vt:lpstr>5.1 - Sistema de Numeração Binário</vt:lpstr>
      <vt:lpstr>Sistema de Numeração Binário Endereços Binários e IPv4</vt:lpstr>
      <vt:lpstr>Sistema de Numeração Binário Notação Posicional Binária</vt:lpstr>
      <vt:lpstr>Sistema de Numeração Binário Notação Posicional Binária (Continuação)</vt:lpstr>
      <vt:lpstr>Sistema de Numeração Binário Notação Posicional Binária (Continuação)</vt:lpstr>
      <vt:lpstr>Sistema de Numeração Binário Converter Decimal para Binário (Regras)</vt:lpstr>
      <vt:lpstr>Sistema de Numeração Binário Converter Decimal para Binário (Regra - Continuação)</vt:lpstr>
      <vt:lpstr>Sistema de Numeração Binário Converter Decimal para Binário (Regra - Continuação)</vt:lpstr>
      <vt:lpstr>Sistema de Numeração Binário Notação Posicional Binária (Continuação)</vt:lpstr>
      <vt:lpstr>Sistema de Numeração Binário Converter Decimal para Binário (Exercícios)</vt:lpstr>
      <vt:lpstr>Sistema de Numeração Binário Converter Binário para Decimal</vt:lpstr>
      <vt:lpstr>Sistema de Numeração Binário Converter Binário para Decimal (Exercícios)</vt:lpstr>
      <vt:lpstr>Sistema de Numeração Binário Converter Binário para Decimal</vt:lpstr>
      <vt:lpstr>Sistema de Numeração Binário Converter Binário para Decimal IPv4</vt:lpstr>
      <vt:lpstr>Sistema de Numeração Binário Exemplo de Conversão de Decimal para Binário IPv4</vt:lpstr>
      <vt:lpstr>Sistema Binário de Numeração  Enderecos IPv4</vt:lpstr>
      <vt:lpstr>5.2 - Sistema de Numeração Hexadecimal</vt:lpstr>
      <vt:lpstr>Sistema de Numeração Hexadecimal Endereços Hexadecimais e IPv6</vt:lpstr>
      <vt:lpstr>Sistema Numérição Hexadecimal Endereços Hexadecimal e IPv6 (Continuação)</vt:lpstr>
      <vt:lpstr>Sistema Numérição Hexadecimal Endereços Hexadecimal e IPv6 (Continuação)</vt:lpstr>
      <vt:lpstr>Sistema de Numeração Binário Converter Decimal para Hexadecimal (Regras)</vt:lpstr>
      <vt:lpstr>Sistema de Numeração Hexadecimal Conversões Decimal para Hexadecimal</vt:lpstr>
      <vt:lpstr>Sistema de Numeração Hexadecimal Converter Decimal para Hexadecimal (Exercícios)</vt:lpstr>
      <vt:lpstr>Sistema de Numeração Hexadecimal Conversões Hexadecimal para Decimal</vt:lpstr>
      <vt:lpstr>Sistema de Numeração Hexadecimal Converter Hexadecimal para Decimal (Exercícios)</vt:lpstr>
      <vt:lpstr>Sistema de Numeração Hexadecimal Endereços IPv6 e MAC Address em Hexadecimal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225</cp:revision>
  <dcterms:created xsi:type="dcterms:W3CDTF">2026-04-05T04:00:25Z</dcterms:created>
  <dcterms:modified xsi:type="dcterms:W3CDTF">2026-04-05T04:00:25Z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