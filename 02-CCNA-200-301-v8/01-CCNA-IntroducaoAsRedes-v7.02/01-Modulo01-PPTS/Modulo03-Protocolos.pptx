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513" r:id="rId3"/>
    <p:sldId id="759" r:id="rId5"/>
    <p:sldId id="926" r:id="rId6"/>
    <p:sldId id="1059" r:id="rId7"/>
    <p:sldId id="1060" r:id="rId8"/>
    <p:sldId id="1061" r:id="rId9"/>
    <p:sldId id="1062" r:id="rId10"/>
    <p:sldId id="1063" r:id="rId11"/>
    <p:sldId id="1064" r:id="rId12"/>
    <p:sldId id="1065" r:id="rId13"/>
    <p:sldId id="1067" r:id="rId14"/>
    <p:sldId id="1068" r:id="rId15"/>
    <p:sldId id="1069" r:id="rId16"/>
    <p:sldId id="927" r:id="rId17"/>
    <p:sldId id="788" r:id="rId18"/>
    <p:sldId id="1070" r:id="rId19"/>
    <p:sldId id="1071" r:id="rId20"/>
    <p:sldId id="886" r:id="rId21"/>
    <p:sldId id="936" r:id="rId22"/>
    <p:sldId id="1072" r:id="rId23"/>
    <p:sldId id="1074" r:id="rId24"/>
    <p:sldId id="1075" r:id="rId25"/>
    <p:sldId id="1076" r:id="rId26"/>
    <p:sldId id="942" r:id="rId27"/>
    <p:sldId id="957" r:id="rId28"/>
    <p:sldId id="1078" r:id="rId29"/>
    <p:sldId id="1080" r:id="rId30"/>
    <p:sldId id="1079" r:id="rId31"/>
    <p:sldId id="952" r:id="rId32"/>
    <p:sldId id="966" r:id="rId33"/>
    <p:sldId id="1082" r:id="rId34"/>
    <p:sldId id="1083" r:id="rId35"/>
    <p:sldId id="1085" r:id="rId36"/>
    <p:sldId id="1086" r:id="rId37"/>
    <p:sldId id="980" r:id="rId38"/>
    <p:sldId id="981" r:id="rId39"/>
    <p:sldId id="1088" r:id="rId40"/>
    <p:sldId id="1090" r:id="rId41"/>
    <p:sldId id="1091" r:id="rId42"/>
    <p:sldId id="1092" r:id="rId43"/>
    <p:sldId id="995" r:id="rId44"/>
    <p:sldId id="996" r:id="rId45"/>
    <p:sldId id="1095" r:id="rId46"/>
    <p:sldId id="1096" r:id="rId47"/>
    <p:sldId id="1097" r:id="rId48"/>
    <p:sldId id="1102" r:id="rId49"/>
    <p:sldId id="1098" r:id="rId50"/>
    <p:sldId id="1099" r:id="rId51"/>
    <p:sldId id="1100" r:id="rId52"/>
    <p:sldId id="1105" r:id="rId53"/>
    <p:sldId id="1101" r:id="rId54"/>
    <p:sldId id="1128" r:id="rId55"/>
    <p:sldId id="1127" r:id="rId56"/>
    <p:sldId id="1129" r:id="rId57"/>
    <p:sldId id="1121" r:id="rId58"/>
  </p:sldIdLst>
  <p:sldSz cx="9144000" cy="5143500" type="screen16x9"/>
  <p:notesSz cx="6858000" cy="9144000"/>
  <p:custDataLst>
    <p:tags r:id="rId63"/>
  </p:custDataLst>
  <p:defaultTextStyle>
    <a:defPPr>
      <a:defRPr lang="en-US"/>
    </a:defPPr>
    <a:lvl1pPr algn="l" defTabSz="457200" rtl="0" fontAlgn="base">
      <a:spcBef>
        <a:spcPct val="0"/>
      </a:spcBef>
      <a:spcAft>
        <a:spcPct val="0"/>
      </a:spcAft>
      <a:defRPr kern="1200">
        <a:solidFill>
          <a:schemeClr val="tx1"/>
        </a:solidFill>
        <a:latin typeface="Arial" panose="020B0604020202020204" pitchFamily="34" charset="0"/>
        <a:ea typeface="MS PGothic" pitchFamily="34" charset="-128"/>
        <a:cs typeface="+mn-cs"/>
      </a:defRPr>
    </a:lvl1pPr>
    <a:lvl2pPr marL="457200" algn="l" defTabSz="457200" rtl="0" fontAlgn="base">
      <a:spcBef>
        <a:spcPct val="0"/>
      </a:spcBef>
      <a:spcAft>
        <a:spcPct val="0"/>
      </a:spcAft>
      <a:defRPr kern="1200">
        <a:solidFill>
          <a:schemeClr val="tx1"/>
        </a:solidFill>
        <a:latin typeface="Arial" panose="020B0604020202020204" pitchFamily="34" charset="0"/>
        <a:ea typeface="MS PGothic" pitchFamily="34" charset="-128"/>
        <a:cs typeface="+mn-cs"/>
      </a:defRPr>
    </a:lvl2pPr>
    <a:lvl3pPr marL="914400" algn="l" defTabSz="457200" rtl="0" fontAlgn="base">
      <a:spcBef>
        <a:spcPct val="0"/>
      </a:spcBef>
      <a:spcAft>
        <a:spcPct val="0"/>
      </a:spcAft>
      <a:defRPr kern="1200">
        <a:solidFill>
          <a:schemeClr val="tx1"/>
        </a:solidFill>
        <a:latin typeface="Arial" panose="020B0604020202020204" pitchFamily="34" charset="0"/>
        <a:ea typeface="MS PGothic" pitchFamily="34" charset="-128"/>
        <a:cs typeface="+mn-cs"/>
      </a:defRPr>
    </a:lvl3pPr>
    <a:lvl4pPr marL="1371600" algn="l" defTabSz="457200" rtl="0" fontAlgn="base">
      <a:spcBef>
        <a:spcPct val="0"/>
      </a:spcBef>
      <a:spcAft>
        <a:spcPct val="0"/>
      </a:spcAft>
      <a:defRPr kern="1200">
        <a:solidFill>
          <a:schemeClr val="tx1"/>
        </a:solidFill>
        <a:latin typeface="Arial" panose="020B0604020202020204" pitchFamily="34" charset="0"/>
        <a:ea typeface="MS PGothic" pitchFamily="34" charset="-128"/>
        <a:cs typeface="+mn-cs"/>
      </a:defRPr>
    </a:lvl4pPr>
    <a:lvl5pPr marL="1828800" algn="l" defTabSz="457200" rtl="0" fontAlgn="base">
      <a:spcBef>
        <a:spcPct val="0"/>
      </a:spcBef>
      <a:spcAft>
        <a:spcPct val="0"/>
      </a:spcAft>
      <a:defRPr kern="1200">
        <a:solidFill>
          <a:schemeClr val="tx1"/>
        </a:solidFill>
        <a:latin typeface="Arial" panose="020B0604020202020204" pitchFamily="34" charset="0"/>
        <a:ea typeface="MS PGothic"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itchFamily="34" charset="-128"/>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34"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13" autoAdjust="0"/>
    <p:restoredTop sz="84965" autoAdjust="0"/>
  </p:normalViewPr>
  <p:slideViewPr>
    <p:cSldViewPr snapToGrid="0" showGuides="1">
      <p:cViewPr varScale="1">
        <p:scale>
          <a:sx n="75" d="100"/>
          <a:sy n="75" d="100"/>
        </p:scale>
        <p:origin x="1316" y="48"/>
      </p:cViewPr>
      <p:guideLst>
        <p:guide orient="horz" pos="1674"/>
        <p:guide pos="336"/>
      </p:guideLst>
    </p:cSldViewPr>
  </p:slid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3" Type="http://schemas.openxmlformats.org/officeDocument/2006/relationships/tags" Target="tags/tag12.xml"/><Relationship Id="rId62" Type="http://schemas.openxmlformats.org/officeDocument/2006/relationships/commentAuthors" Target="commentAuthors.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3.xml"/><Relationship Id="rId59" Type="http://schemas.openxmlformats.org/officeDocument/2006/relationships/presProps" Target="presProps.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b="0"/>
              <a:t>Programa da Cisco Networking Academy</a:t>
            </a:r>
            <a:endParaRPr lang="pt-BR" b="0"/>
          </a:p>
          <a:p>
            <a:pPr rtl="0">
              <a:buFontTx/>
              <a:buNone/>
            </a:pPr>
            <a:r>
              <a:rPr lang="pt-BR" b="0"/>
              <a:t>Introdução às redes v7.0 (ITN)</a:t>
            </a:r>
            <a:endParaRPr lang="pt-BR" b="0"/>
          </a:p>
          <a:p>
            <a:pPr rtl="0">
              <a:buFontTx/>
              <a:buNone/>
            </a:pPr>
            <a:r>
              <a:rPr lang="pt-BR" sz="1200" b="0"/>
              <a:t>Módulo 3: Protocolos e Módulos</a:t>
            </a:r>
            <a:endParaRPr lang="pt-BR" sz="1200" b="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3.1 — Regras</a:t>
            </a:r>
            <a:endParaRPr lang="pt-BR" sz="1200" b="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3.1 — Regras</a:t>
            </a:r>
            <a:endParaRPr lang="pt-BR" sz="1200" b="0"/>
          </a:p>
          <a:p>
            <a:pPr rtl="0">
              <a:lnSpc>
                <a:spcPct val="80000"/>
              </a:lnSpc>
              <a:buFontTx/>
              <a:buNone/>
            </a:pPr>
            <a:r>
              <a:rPr lang="pt-BR">
                <a:latin typeface="Arial" panose="020B0604020202020204" pitchFamily="34" charset="0"/>
              </a:rPr>
              <a:t>3.1.2</a:t>
            </a:r>
            <a:r>
              <a:rPr lang="pt-BR" baseline="0">
                <a:latin typeface="Arial" panose="020B0604020202020204" pitchFamily="34" charset="0"/>
              </a:rPr>
              <a:t> </a:t>
            </a:r>
            <a:r>
              <a:rPr lang="pt-BR" sz="1200" b="0"/>
              <a:t>–</a:t>
            </a:r>
            <a:r>
              <a:rPr lang="pt-BR"/>
              <a:t>Fundamentos das comunicações</a:t>
            </a:r>
            <a:endParaRPr lang="pt-BR"/>
          </a:p>
          <a:p>
            <a:pPr>
              <a:lnSpc>
                <a:spcPct val="80000"/>
              </a:lnSpc>
              <a:buFontTx/>
              <a:buNone/>
            </a:pP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3.1 — Regras</a:t>
            </a:r>
            <a:endParaRPr lang="pt-BR" sz="1200" b="0"/>
          </a:p>
          <a:p>
            <a:pPr rtl="0">
              <a:lnSpc>
                <a:spcPct val="80000"/>
              </a:lnSpc>
              <a:buFontTx/>
              <a:buNone/>
            </a:pPr>
            <a:r>
              <a:rPr lang="pt-BR">
                <a:latin typeface="Arial" panose="020B0604020202020204" pitchFamily="34" charset="0"/>
              </a:rPr>
              <a:t>3.1.3 </a:t>
            </a:r>
            <a:r>
              <a:rPr lang="pt-BR" baseline="0">
                <a:latin typeface="Arial" panose="020B0604020202020204" pitchFamily="34" charset="0"/>
              </a:rPr>
              <a:t> </a:t>
            </a:r>
            <a:r>
              <a:rPr lang="pt-BR" sz="1200" b="0"/>
              <a:t>-</a:t>
            </a:r>
            <a:r>
              <a:rPr lang="pt-BR"/>
              <a:t>Protocolos de comunicação</a:t>
            </a:r>
            <a:endParaRPr lang="pt-B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3.1 — Regras</a:t>
            </a:r>
            <a:endParaRPr lang="pt-BR" sz="1200" b="0"/>
          </a:p>
          <a:p>
            <a:pPr rtl="0">
              <a:lnSpc>
                <a:spcPct val="80000"/>
              </a:lnSpc>
              <a:buFontTx/>
              <a:buNone/>
            </a:pPr>
            <a:r>
              <a:rPr lang="pt-BR">
                <a:latin typeface="Arial" panose="020B0604020202020204" pitchFamily="34" charset="0"/>
              </a:rPr>
              <a:t>3.1.4</a:t>
            </a:r>
            <a:r>
              <a:rPr lang="pt-BR" baseline="0">
                <a:latin typeface="Arial" panose="020B0604020202020204" pitchFamily="34" charset="0"/>
              </a:rPr>
              <a:t> </a:t>
            </a:r>
            <a:r>
              <a:rPr lang="pt-BR" sz="1200" b="0"/>
              <a:t> – </a:t>
            </a:r>
            <a:r>
              <a:rPr lang="pt-BR"/>
              <a:t>Estabelecimento de regras</a:t>
            </a:r>
            <a:endParaRPr lang="pt-B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3.1 — Regras</a:t>
            </a:r>
            <a:endParaRPr lang="pt-BR" sz="1200" b="0"/>
          </a:p>
          <a:p>
            <a:pPr rtl="0">
              <a:lnSpc>
                <a:spcPct val="80000"/>
              </a:lnSpc>
              <a:buFontTx/>
              <a:buNone/>
            </a:pPr>
            <a:r>
              <a:rPr lang="pt-BR">
                <a:latin typeface="Arial" panose="020B0604020202020204" pitchFamily="34" charset="0"/>
              </a:rPr>
              <a:t>3.1.4</a:t>
            </a:r>
            <a:r>
              <a:rPr lang="pt-BR" baseline="0">
                <a:latin typeface="Arial" panose="020B0604020202020204" pitchFamily="34" charset="0"/>
              </a:rPr>
              <a:t> </a:t>
            </a:r>
            <a:r>
              <a:rPr lang="pt-BR" sz="1200" b="0"/>
              <a:t>-</a:t>
            </a:r>
            <a:r>
              <a:rPr lang="pt-BR"/>
              <a:t> Estabelecimento de Regras (cont.)</a:t>
            </a:r>
            <a:endParaRPr lang="pt-B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3.1 — Regras</a:t>
            </a:r>
            <a:endParaRPr lang="pt-BR" sz="1200" b="0"/>
          </a:p>
          <a:p>
            <a:pPr rtl="0">
              <a:lnSpc>
                <a:spcPct val="80000"/>
              </a:lnSpc>
              <a:buFontTx/>
              <a:buNone/>
            </a:pPr>
            <a:r>
              <a:rPr lang="pt-BR">
                <a:latin typeface="Arial" panose="020B0604020202020204" pitchFamily="34" charset="0"/>
              </a:rPr>
              <a:t>3.1.5</a:t>
            </a:r>
            <a:r>
              <a:rPr lang="pt-BR" baseline="0">
                <a:latin typeface="Arial" panose="020B0604020202020204" pitchFamily="34" charset="0"/>
              </a:rPr>
              <a:t> </a:t>
            </a:r>
            <a:r>
              <a:rPr lang="pt-BR" sz="1200" b="0"/>
              <a:t>— </a:t>
            </a:r>
            <a:r>
              <a:rPr lang="pt-BR"/>
              <a:t>Requisitos de protocolo de rede </a:t>
            </a:r>
            <a:endParaRPr lang="pt-B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3.1 — Regras</a:t>
            </a:r>
            <a:endParaRPr lang="pt-BR" sz="1200" b="0"/>
          </a:p>
          <a:p>
            <a:pPr rtl="0">
              <a:lnSpc>
                <a:spcPct val="80000"/>
              </a:lnSpc>
              <a:buFontTx/>
              <a:buNone/>
            </a:pPr>
            <a:r>
              <a:rPr lang="pt-BR">
                <a:latin typeface="Arial" panose="020B0604020202020204" pitchFamily="34" charset="0"/>
              </a:rPr>
              <a:t>3.1.6 </a:t>
            </a:r>
            <a:r>
              <a:rPr lang="pt-BR" baseline="0">
                <a:latin typeface="Arial" panose="020B0604020202020204" pitchFamily="34" charset="0"/>
              </a:rPr>
              <a:t> </a:t>
            </a:r>
            <a:r>
              <a:rPr lang="pt-BR" sz="1200" b="0"/>
              <a:t>– </a:t>
            </a:r>
            <a:r>
              <a:rPr lang="pt-BR"/>
              <a:t>Codificação de mensagens</a:t>
            </a:r>
            <a:endParaRPr lang="pt-BR"/>
          </a:p>
          <a:p>
            <a:pPr>
              <a:lnSpc>
                <a:spcPct val="80000"/>
              </a:lnSpc>
              <a:buFontTx/>
              <a:buNone/>
            </a:pPr>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3.1 — Regras</a:t>
            </a:r>
            <a:endParaRPr lang="pt-BR" sz="1200" b="0"/>
          </a:p>
          <a:p>
            <a:pPr rtl="0">
              <a:lnSpc>
                <a:spcPct val="80000"/>
              </a:lnSpc>
              <a:buFontTx/>
              <a:buNone/>
            </a:pPr>
            <a:r>
              <a:rPr lang="pt-BR" baseline="0">
                <a:latin typeface="Arial" panose="020B0604020202020204" pitchFamily="34" charset="0"/>
              </a:rPr>
              <a:t> </a:t>
            </a:r>
            <a:r>
              <a:rPr lang="pt-BR" sz="1200" b="0"/>
              <a:t>3.1.7 – </a:t>
            </a:r>
            <a:r>
              <a:rPr lang="pt-BR"/>
              <a:t>Formatação e encapsulamento de mensagens</a:t>
            </a:r>
            <a:endParaRPr lang="pt-B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3.1 — Regras</a:t>
            </a:r>
            <a:endParaRPr lang="pt-BR" sz="1200" b="0"/>
          </a:p>
          <a:p>
            <a:pPr rtl="0">
              <a:lnSpc>
                <a:spcPct val="80000"/>
              </a:lnSpc>
              <a:buFontTx/>
              <a:buNone/>
            </a:pPr>
            <a:r>
              <a:rPr lang="pt-BR">
                <a:latin typeface="Arial" panose="020B0604020202020204" pitchFamily="34" charset="0"/>
              </a:rPr>
              <a:t>3.1.8 </a:t>
            </a:r>
            <a:r>
              <a:rPr lang="pt-BR" baseline="0">
                <a:latin typeface="Arial" panose="020B0604020202020204" pitchFamily="34" charset="0"/>
              </a:rPr>
              <a:t> </a:t>
            </a:r>
            <a:r>
              <a:rPr lang="pt-BR" sz="1200" b="0"/>
              <a:t>-</a:t>
            </a:r>
            <a:r>
              <a:rPr lang="pt-BR"/>
              <a:t>Tamanho da Mensagem</a:t>
            </a:r>
            <a:endParaRPr lang="pt-B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3.1 — Regras</a:t>
            </a:r>
            <a:endParaRPr lang="pt-BR" sz="1200" b="0"/>
          </a:p>
          <a:p>
            <a:pPr rtl="0">
              <a:lnSpc>
                <a:spcPct val="80000"/>
              </a:lnSpc>
              <a:buFontTx/>
              <a:buNone/>
            </a:pPr>
            <a:r>
              <a:rPr lang="pt-BR">
                <a:latin typeface="Arial" panose="020B0604020202020204" pitchFamily="34" charset="0"/>
              </a:rPr>
              <a:t>3.1.9</a:t>
            </a:r>
            <a:r>
              <a:rPr lang="pt-BR" baseline="0">
                <a:latin typeface="Arial" panose="020B0604020202020204" pitchFamily="34" charset="0"/>
              </a:rPr>
              <a:t> </a:t>
            </a:r>
            <a:r>
              <a:rPr lang="pt-BR" sz="1200" b="0"/>
              <a:t>-</a:t>
            </a:r>
            <a:r>
              <a:rPr lang="pt-BR"/>
              <a:t>Tempo da mensagem</a:t>
            </a:r>
            <a:endParaRPr lang="pt-B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3.1 — Regras</a:t>
            </a:r>
            <a:endParaRPr lang="pt-BR" sz="1200" b="0"/>
          </a:p>
          <a:p>
            <a:pPr rtl="0">
              <a:lnSpc>
                <a:spcPct val="80000"/>
              </a:lnSpc>
              <a:buFontTx/>
              <a:buNone/>
            </a:pPr>
            <a:r>
              <a:rPr lang="pt-BR" baseline="0">
                <a:latin typeface="Arial" panose="020B0604020202020204" pitchFamily="34" charset="0"/>
              </a:rPr>
              <a:t> </a:t>
            </a:r>
            <a:r>
              <a:rPr lang="pt-BR" sz="1200" b="0"/>
              <a:t>3.1.10 – </a:t>
            </a:r>
            <a:r>
              <a:rPr lang="pt-BR"/>
              <a:t>Opções de entrega de mensagem</a:t>
            </a:r>
            <a:endParaRPr lang="pt-B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3.1 — Regras</a:t>
            </a:r>
            <a:endParaRPr lang="pt-BR" sz="1200" b="0"/>
          </a:p>
          <a:p>
            <a:pPr rtl="0">
              <a:lnSpc>
                <a:spcPct val="80000"/>
              </a:lnSpc>
              <a:buFontTx/>
              <a:buNone/>
            </a:pPr>
            <a:r>
              <a:rPr lang="pt-BR">
                <a:latin typeface="Arial" panose="020B0604020202020204" pitchFamily="34" charset="0"/>
              </a:rPr>
              <a:t>3.1.11</a:t>
            </a:r>
            <a:r>
              <a:rPr lang="pt-BR" baseline="0">
                <a:latin typeface="Arial" panose="020B0604020202020204" pitchFamily="34" charset="0"/>
              </a:rPr>
              <a:t> </a:t>
            </a:r>
            <a:r>
              <a:rPr lang="pt-BR" sz="1200" b="0"/>
              <a:t>— </a:t>
            </a:r>
            <a:r>
              <a:rPr lang="pt-BR"/>
              <a:t>Uma Nota Sobre o Ícone do Nó </a:t>
            </a:r>
            <a:endParaRPr lang="pt-BR"/>
          </a:p>
          <a:p>
            <a:pPr marL="0" marR="0" lvl="0" indent="0" algn="l" defTabSz="457200" rtl="0" eaLnBrk="1" fontAlgn="auto" latinLnBrk="0" hangingPunct="1">
              <a:lnSpc>
                <a:spcPct val="80000"/>
              </a:lnSpc>
              <a:spcBef>
                <a:spcPts val="0"/>
              </a:spcBef>
              <a:spcAft>
                <a:spcPts val="0"/>
              </a:spcAft>
              <a:buClrTx/>
              <a:buSzTx/>
              <a:buFontTx/>
              <a:buNone/>
              <a:defRPr/>
            </a:pPr>
            <a:r>
              <a:rPr lang="pt-BR"/>
              <a:t>3.1.12 </a:t>
            </a:r>
            <a:r>
              <a:rPr lang="pt-BR" sz="1200">
                <a:effectLst/>
              </a:rPr>
              <a:t>— Verifique o seu entendimento — As regras</a:t>
            </a:r>
            <a:endParaRPr lang="pt-BR" sz="1200">
              <a:effectLst/>
            </a:endParaRPr>
          </a:p>
          <a:p>
            <a:pPr>
              <a:lnSpc>
                <a:spcPct val="80000"/>
              </a:lnSpc>
              <a:buFontTx/>
              <a:buNone/>
            </a:pPr>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3.2 — Protocolos</a:t>
            </a:r>
            <a:endParaRPr lang="pt-BR" sz="1200" b="0"/>
          </a:p>
        </p:txBody>
      </p:sp>
      <p:sp>
        <p:nvSpPr>
          <p:cNvPr id="4" name="Slide Number Placeholder 3"/>
          <p:cNvSpPr>
            <a:spLocks noGrp="1"/>
          </p:cNvSpPr>
          <p:nvPr>
            <p:ph type="sldNum" sz="quarter" idx="10"/>
          </p:nvPr>
        </p:nvSpPr>
        <p:spPr/>
        <p:txBody>
          <a:bodyPr/>
          <a:lstStyle/>
          <a:p>
            <a:pPr rtl="0"/>
            <a:fld id="{5641018C-6CAF-B84E-B92C-ECB119457FBA}" type="slidenum">
              <a:rPr/>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3.2 — Protocolos</a:t>
            </a:r>
            <a:endParaRPr lang="pt-BR" sz="1200" b="0"/>
          </a:p>
          <a:p>
            <a:pPr rtl="0">
              <a:lnSpc>
                <a:spcPct val="80000"/>
              </a:lnSpc>
              <a:buFontTx/>
              <a:buNone/>
            </a:pPr>
            <a:r>
              <a:rPr lang="pt-BR" sz="1200" kern="1200">
                <a:solidFill>
                  <a:schemeClr val="tx1"/>
                </a:solidFill>
                <a:latin typeface="Arial" panose="020B0604020202020204" pitchFamily="34" charset="0"/>
                <a:ea typeface="MS PGothic" charset="0"/>
                <a:cs typeface="MS PGothic" charset="0"/>
              </a:rPr>
              <a:t>3.2.1 — </a:t>
            </a:r>
            <a:r>
              <a:rPr lang="pt-BR"/>
              <a:t>Visão geral do protocolo de rede</a:t>
            </a:r>
            <a:endParaRPr lang="pt-B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3.2 — Protocolos</a:t>
            </a:r>
            <a:endParaRPr lang="pt-BR" sz="1200" b="0"/>
          </a:p>
          <a:p>
            <a:pPr rtl="0">
              <a:lnSpc>
                <a:spcPct val="80000"/>
              </a:lnSpc>
              <a:buFontTx/>
              <a:buNone/>
            </a:pPr>
            <a:r>
              <a:rPr lang="pt-BR" sz="1200" kern="1200">
                <a:solidFill>
                  <a:schemeClr val="tx1"/>
                </a:solidFill>
                <a:latin typeface="Arial" panose="020B0604020202020204" pitchFamily="34" charset="0"/>
                <a:ea typeface="MS PGothic" charset="0"/>
                <a:cs typeface="MS PGothic" charset="0"/>
              </a:rPr>
              <a:t>3.2.2</a:t>
            </a:r>
            <a:r>
              <a:rPr lang="pt-BR" sz="1200" kern="1200" baseline="0">
                <a:solidFill>
                  <a:schemeClr val="tx1"/>
                </a:solidFill>
                <a:latin typeface="Arial" panose="020B0604020202020204" pitchFamily="34" charset="0"/>
                <a:ea typeface="MS PGothic" charset="0"/>
                <a:cs typeface="MS PGothic" charset="0"/>
              </a:rPr>
              <a:t> </a:t>
            </a:r>
            <a:r>
              <a:rPr lang="pt-BR" sz="1200" kern="1200">
                <a:solidFill>
                  <a:schemeClr val="tx1"/>
                </a:solidFill>
                <a:latin typeface="Arial" panose="020B0604020202020204" pitchFamily="34" charset="0"/>
                <a:ea typeface="MS PGothic" charset="0"/>
                <a:cs typeface="MS PGothic" charset="0"/>
              </a:rPr>
              <a:t>— </a:t>
            </a:r>
            <a:r>
              <a:rPr lang="pt-BR"/>
              <a:t>Funções de protocolo de rede </a:t>
            </a:r>
            <a:endParaRPr lang="pt-B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3.2 — Protocolos</a:t>
            </a:r>
            <a:endParaRPr lang="pt-BR" sz="1200" b="0"/>
          </a:p>
          <a:p>
            <a:pPr rtl="0">
              <a:lnSpc>
                <a:spcPct val="80000"/>
              </a:lnSpc>
              <a:buFontTx/>
              <a:buNone/>
            </a:pPr>
            <a:r>
              <a:rPr lang="pt-BR" sz="1200" kern="1200">
                <a:solidFill>
                  <a:schemeClr val="tx1"/>
                </a:solidFill>
                <a:latin typeface="Arial" panose="020B0604020202020204" pitchFamily="34" charset="0"/>
                <a:ea typeface="MS PGothic" charset="0"/>
                <a:cs typeface="MS PGothic" charset="0"/>
              </a:rPr>
              <a:t>3.2.3</a:t>
            </a:r>
            <a:r>
              <a:rPr lang="pt-BR" sz="1200" kern="1200" baseline="0">
                <a:solidFill>
                  <a:schemeClr val="tx1"/>
                </a:solidFill>
                <a:latin typeface="Arial" panose="020B0604020202020204" pitchFamily="34" charset="0"/>
                <a:ea typeface="MS PGothic" charset="0"/>
                <a:cs typeface="MS PGothic" charset="0"/>
              </a:rPr>
              <a:t> </a:t>
            </a:r>
            <a:r>
              <a:rPr lang="pt-BR" sz="1200" kern="1200">
                <a:solidFill>
                  <a:schemeClr val="tx1"/>
                </a:solidFill>
                <a:latin typeface="Arial" panose="020B0604020202020204" pitchFamily="34" charset="0"/>
                <a:ea typeface="MS PGothic" charset="0"/>
                <a:cs typeface="MS PGothic" charset="0"/>
              </a:rPr>
              <a:t> – </a:t>
            </a:r>
            <a:r>
              <a:rPr lang="pt-BR"/>
              <a:t>Interação de protocolos</a:t>
            </a:r>
            <a:endParaRPr lang="pt-BR"/>
          </a:p>
          <a:p>
            <a:pPr marL="0" marR="0" lvl="0" indent="0" algn="l" defTabSz="457200" rtl="0" eaLnBrk="1" fontAlgn="auto" latinLnBrk="0" hangingPunct="1">
              <a:lnSpc>
                <a:spcPct val="80000"/>
              </a:lnSpc>
              <a:spcBef>
                <a:spcPts val="0"/>
              </a:spcBef>
              <a:spcAft>
                <a:spcPts val="0"/>
              </a:spcAft>
              <a:buClrTx/>
              <a:buSzTx/>
              <a:buFontTx/>
              <a:buNone/>
              <a:defRPr/>
            </a:pPr>
            <a:r>
              <a:rPr lang="pt-BR" sz="1200" kern="1200">
                <a:solidFill>
                  <a:schemeClr val="tx1"/>
                </a:solidFill>
                <a:latin typeface="Arial" panose="020B0604020202020204" pitchFamily="34" charset="0"/>
                <a:ea typeface="MS PGothic" charset="0"/>
                <a:cs typeface="MS PGothic" charset="0"/>
              </a:rPr>
              <a:t>3.2.4</a:t>
            </a:r>
            <a:r>
              <a:rPr lang="pt-BR" sz="1200" kern="1200" baseline="0">
                <a:solidFill>
                  <a:schemeClr val="tx1"/>
                </a:solidFill>
                <a:latin typeface="Arial" panose="020B0604020202020204" pitchFamily="34" charset="0"/>
                <a:ea typeface="MS PGothic" charset="0"/>
                <a:cs typeface="MS PGothic" charset="0"/>
              </a:rPr>
              <a:t> </a:t>
            </a:r>
            <a:r>
              <a:rPr lang="pt-BR" sz="1200">
                <a:effectLst/>
              </a:rPr>
              <a:t> – Verifique sua compreensão – </a:t>
            </a:r>
            <a:r>
              <a:rPr lang="pt-BR" sz="1200" b="0"/>
              <a:t>protocolos</a:t>
            </a:r>
            <a:r>
              <a:rPr lang="pt-BR" sz="1200" b="0" baseline="0"/>
              <a:t> </a:t>
            </a:r>
            <a:endParaRPr lang="pt-BR" sz="1200" b="0" baseline="0"/>
          </a:p>
          <a:p>
            <a:pPr>
              <a:lnSpc>
                <a:spcPct val="80000"/>
              </a:lnSpc>
              <a:buFontTx/>
              <a:buNone/>
            </a:pPr>
            <a:endParaRPr lang="en-US" sz="1200" kern="1200" dirty="0">
              <a:solidFill>
                <a:schemeClr val="tx1"/>
              </a:solidFill>
              <a:latin typeface="Arial" panose="020B0604020202020204" pitchFamily="34" charset="0"/>
              <a:ea typeface="MS PGothic" charset="0"/>
              <a:cs typeface="MS PGothic"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3.3 </a:t>
            </a:r>
            <a:r>
              <a:rPr lang="pt-BR" sz="1200" b="0" baseline="0"/>
              <a:t>Conjuntos de protocolos</a:t>
            </a:r>
            <a:endParaRPr lang="pt-BR" sz="1200" b="0" baseline="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3.3 </a:t>
            </a:r>
            <a:r>
              <a:rPr lang="pt-BR" sz="1200" b="0" baseline="0"/>
              <a:t>Conjuntos de protocolos</a:t>
            </a:r>
            <a:endParaRPr lang="pt-BR" sz="1200" b="0" baseline="0"/>
          </a:p>
          <a:p>
            <a:pPr rtl="0">
              <a:lnSpc>
                <a:spcPct val="80000"/>
              </a:lnSpc>
              <a:buFontTx/>
              <a:buNone/>
            </a:pPr>
            <a:r>
              <a:rPr lang="pt-BR" sz="1200" kern="1200">
                <a:solidFill>
                  <a:schemeClr val="tx1"/>
                </a:solidFill>
                <a:latin typeface="Arial" panose="020B0604020202020204" pitchFamily="34" charset="0"/>
                <a:ea typeface="MS PGothic" charset="0"/>
                <a:cs typeface="MS PGothic" charset="0"/>
              </a:rPr>
              <a:t>3.3.1</a:t>
            </a:r>
            <a:r>
              <a:rPr lang="pt-BR" sz="1200" kern="1200" baseline="0">
                <a:solidFill>
                  <a:schemeClr val="tx1"/>
                </a:solidFill>
                <a:latin typeface="Arial" panose="020B0604020202020204" pitchFamily="34" charset="0"/>
                <a:ea typeface="MS PGothic" charset="0"/>
                <a:cs typeface="MS PGothic" charset="0"/>
              </a:rPr>
              <a:t> </a:t>
            </a:r>
            <a:r>
              <a:rPr lang="pt-BR" sz="1200" kern="1200">
                <a:solidFill>
                  <a:schemeClr val="tx1"/>
                </a:solidFill>
                <a:latin typeface="Arial" panose="020B0604020202020204" pitchFamily="34" charset="0"/>
                <a:ea typeface="MS PGothic" charset="0"/>
                <a:cs typeface="MS PGothic" charset="0"/>
              </a:rPr>
              <a:t> - Conjuntos de protocolos de rede</a:t>
            </a:r>
            <a:endParaRPr lang="pt-BR" sz="1200" kern="1200">
              <a:solidFill>
                <a:schemeClr val="tx1"/>
              </a:solidFill>
              <a:latin typeface="Arial" panose="020B0604020202020204" pitchFamily="34" charset="0"/>
              <a:ea typeface="MS PGothic" charset="0"/>
              <a:cs typeface="MS PGothic" charset="0"/>
            </a:endParaRP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3.3 </a:t>
            </a:r>
            <a:r>
              <a:rPr lang="pt-BR" sz="1200" b="0" baseline="0"/>
              <a:t>Conjuntos de protocolos</a:t>
            </a:r>
            <a:endParaRPr lang="pt-BR" sz="1200" b="0" baseline="0"/>
          </a:p>
          <a:p>
            <a:pPr rtl="0">
              <a:lnSpc>
                <a:spcPct val="80000"/>
              </a:lnSpc>
              <a:buFontTx/>
              <a:buNone/>
            </a:pPr>
            <a:r>
              <a:rPr lang="pt-BR" sz="1200" kern="1200">
                <a:solidFill>
                  <a:schemeClr val="tx1"/>
                </a:solidFill>
                <a:latin typeface="Arial" panose="020B0604020202020204" pitchFamily="34" charset="0"/>
                <a:ea typeface="MS PGothic" charset="0"/>
                <a:cs typeface="MS PGothic" charset="0"/>
              </a:rPr>
              <a:t>3.3.2</a:t>
            </a:r>
            <a:r>
              <a:rPr lang="pt-BR" sz="1200" kern="1200" baseline="0">
                <a:solidFill>
                  <a:schemeClr val="tx1"/>
                </a:solidFill>
                <a:latin typeface="Arial" panose="020B0604020202020204" pitchFamily="34" charset="0"/>
                <a:ea typeface="MS PGothic" charset="0"/>
                <a:cs typeface="MS PGothic" charset="0"/>
              </a:rPr>
              <a:t> </a:t>
            </a:r>
            <a:r>
              <a:rPr lang="pt-BR" sz="1200" kern="1200">
                <a:solidFill>
                  <a:schemeClr val="tx1"/>
                </a:solidFill>
                <a:latin typeface="Arial" panose="020B0604020202020204" pitchFamily="34" charset="0"/>
                <a:ea typeface="MS PGothic" charset="0"/>
                <a:cs typeface="MS PGothic" charset="0"/>
              </a:rPr>
              <a:t>— </a:t>
            </a:r>
            <a:r>
              <a:rPr lang="pt-BR"/>
              <a:t>Evolução dos conjuntos de protocolos </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3.3 </a:t>
            </a:r>
            <a:r>
              <a:rPr lang="pt-BR" sz="1200" b="0" baseline="0"/>
              <a:t>Conjuntos de protocolos</a:t>
            </a:r>
            <a:endParaRPr lang="pt-BR" sz="1200" b="0" baseline="0"/>
          </a:p>
          <a:p>
            <a:pPr rtl="0">
              <a:lnSpc>
                <a:spcPct val="80000"/>
              </a:lnSpc>
              <a:buFontTx/>
              <a:buNone/>
            </a:pPr>
            <a:r>
              <a:rPr lang="pt-BR" sz="1200" kern="1200">
                <a:solidFill>
                  <a:schemeClr val="tx1"/>
                </a:solidFill>
                <a:latin typeface="Arial" panose="020B0604020202020204" pitchFamily="34" charset="0"/>
                <a:ea typeface="MS PGothic" charset="0"/>
                <a:cs typeface="MS PGothic" charset="0"/>
              </a:rPr>
              <a:t>3.3.3</a:t>
            </a:r>
            <a:r>
              <a:rPr lang="pt-BR" sz="1200" kern="1200" baseline="0">
                <a:solidFill>
                  <a:schemeClr val="tx1"/>
                </a:solidFill>
                <a:latin typeface="Arial" panose="020B0604020202020204" pitchFamily="34" charset="0"/>
                <a:ea typeface="MS PGothic" charset="0"/>
                <a:cs typeface="MS PGothic" charset="0"/>
              </a:rPr>
              <a:t> </a:t>
            </a:r>
            <a:r>
              <a:rPr lang="pt-BR" sz="1200" kern="1200">
                <a:solidFill>
                  <a:schemeClr val="tx1"/>
                </a:solidFill>
                <a:latin typeface="Arial" panose="020B0604020202020204" pitchFamily="34" charset="0"/>
                <a:ea typeface="MS PGothic" charset="0"/>
                <a:cs typeface="MS PGothic" charset="0"/>
              </a:rPr>
              <a:t>— </a:t>
            </a:r>
            <a:r>
              <a:rPr lang="pt-BR"/>
              <a:t>Exemplo de Protocolo TCP/IP </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3.3 </a:t>
            </a:r>
            <a:r>
              <a:rPr lang="pt-BR" sz="1200" b="0" baseline="0"/>
              <a:t>Conjuntos de protocolos</a:t>
            </a:r>
            <a:endParaRPr lang="pt-BR" sz="1200" b="0" baseline="0"/>
          </a:p>
          <a:p>
            <a:pPr rtl="0">
              <a:lnSpc>
                <a:spcPct val="80000"/>
              </a:lnSpc>
              <a:buFontTx/>
              <a:buNone/>
            </a:pPr>
            <a:r>
              <a:rPr lang="pt-BR" sz="1200" kern="1200">
                <a:solidFill>
                  <a:schemeClr val="tx1"/>
                </a:solidFill>
                <a:latin typeface="Arial" panose="020B0604020202020204" pitchFamily="34" charset="0"/>
                <a:ea typeface="MS PGothic" charset="0"/>
                <a:cs typeface="MS PGothic" charset="0"/>
              </a:rPr>
              <a:t>3.3.4</a:t>
            </a:r>
            <a:r>
              <a:rPr lang="pt-BR" sz="1200" kern="1200" baseline="0">
                <a:solidFill>
                  <a:schemeClr val="tx1"/>
                </a:solidFill>
                <a:latin typeface="Arial" panose="020B0604020202020204" pitchFamily="34" charset="0"/>
                <a:ea typeface="MS PGothic" charset="0"/>
                <a:cs typeface="MS PGothic" charset="0"/>
              </a:rPr>
              <a:t> </a:t>
            </a:r>
            <a:r>
              <a:rPr lang="pt-BR" sz="1200" kern="1200">
                <a:solidFill>
                  <a:schemeClr val="tx1"/>
                </a:solidFill>
                <a:latin typeface="Arial" panose="020B0604020202020204" pitchFamily="34" charset="0"/>
                <a:ea typeface="MS PGothic" charset="0"/>
                <a:cs typeface="MS PGothic" charset="0"/>
              </a:rPr>
              <a:t>– </a:t>
            </a:r>
            <a:r>
              <a:rPr lang="pt-BR"/>
              <a:t>Conjunto de protocolos TCP / IP</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3.3 </a:t>
            </a:r>
            <a:r>
              <a:rPr lang="pt-BR" sz="1200" b="0" baseline="0"/>
              <a:t>Conjuntos de protocolos</a:t>
            </a:r>
            <a:endParaRPr lang="pt-BR" sz="1200" b="0" baseline="0"/>
          </a:p>
          <a:p>
            <a:pPr rtl="0">
              <a:lnSpc>
                <a:spcPct val="80000"/>
              </a:lnSpc>
              <a:buFontTx/>
              <a:buNone/>
            </a:pPr>
            <a:r>
              <a:rPr lang="pt-BR" sz="1200" kern="1200">
                <a:solidFill>
                  <a:schemeClr val="tx1"/>
                </a:solidFill>
                <a:latin typeface="Arial" panose="020B0604020202020204" pitchFamily="34" charset="0"/>
                <a:ea typeface="MS PGothic" charset="0"/>
                <a:cs typeface="MS PGothic" charset="0"/>
              </a:rPr>
              <a:t>3.3.5</a:t>
            </a:r>
            <a:r>
              <a:rPr lang="pt-BR" sz="1200" kern="1200" baseline="0">
                <a:solidFill>
                  <a:schemeClr val="tx1"/>
                </a:solidFill>
                <a:latin typeface="Arial" panose="020B0604020202020204" pitchFamily="34" charset="0"/>
                <a:ea typeface="MS PGothic" charset="0"/>
                <a:cs typeface="MS PGothic" charset="0"/>
              </a:rPr>
              <a:t> </a:t>
            </a:r>
            <a:r>
              <a:rPr lang="pt-BR" sz="1200" kern="1200">
                <a:solidFill>
                  <a:schemeClr val="tx1"/>
                </a:solidFill>
                <a:latin typeface="Arial" panose="020B0604020202020204" pitchFamily="34" charset="0"/>
                <a:ea typeface="MS PGothic" charset="0"/>
                <a:cs typeface="MS PGothic" charset="0"/>
              </a:rPr>
              <a:t> – </a:t>
            </a:r>
            <a:r>
              <a:rPr lang="pt-BR"/>
              <a:t>Processo de Comunicação TCP/IP</a:t>
            </a:r>
            <a:endParaRPr lang="pt-BR"/>
          </a:p>
          <a:p>
            <a:pPr marL="0" marR="0" lvl="0" indent="0" algn="l" defTabSz="457200" rtl="0" eaLnBrk="1" fontAlgn="auto" latinLnBrk="0" hangingPunct="1">
              <a:lnSpc>
                <a:spcPct val="80000"/>
              </a:lnSpc>
              <a:spcBef>
                <a:spcPts val="0"/>
              </a:spcBef>
              <a:spcAft>
                <a:spcPts val="0"/>
              </a:spcAft>
              <a:buClrTx/>
              <a:buSzTx/>
              <a:buFontTx/>
              <a:buNone/>
              <a:defRPr/>
            </a:pPr>
            <a:r>
              <a:rPr lang="pt-BR" sz="1200">
                <a:effectLst/>
              </a:rPr>
              <a:t> 3.3.6 — Verifique o seu entendimento — Pacotesdeprotocolos</a:t>
            </a:r>
            <a:r>
              <a:rPr lang="pt-BR" sz="1200" baseline="0">
                <a:effectLst/>
              </a:rPr>
              <a:t> </a:t>
            </a:r>
            <a:endParaRPr lang="pt-BR" sz="1200" baseline="0">
              <a:effectLst/>
            </a:endParaRPr>
          </a:p>
          <a:p>
            <a:pPr marL="0" marR="0" lvl="0" indent="0" algn="l" defTabSz="457200" rtl="0" eaLnBrk="1" fontAlgn="auto" latinLnBrk="0" hangingPunct="1">
              <a:lnSpc>
                <a:spcPct val="80000"/>
              </a:lnSpc>
              <a:spcBef>
                <a:spcPts val="0"/>
              </a:spcBef>
              <a:spcAft>
                <a:spcPts val="0"/>
              </a:spcAft>
              <a:buClrTx/>
              <a:buSzTx/>
              <a:buFontTx/>
              <a:buNone/>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3.4 </a:t>
            </a:r>
            <a:r>
              <a:rPr lang="pt-BR" sz="1200" b="0" baseline="0"/>
              <a:t>Empresas</a:t>
            </a:r>
            <a:r>
              <a:rPr lang="pt-BR" sz="1200" b="0"/>
              <a:t> de padrões</a:t>
            </a:r>
            <a:endParaRPr lang="pt-BR" sz="1200" b="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3.4 </a:t>
            </a:r>
            <a:r>
              <a:rPr lang="pt-BR" sz="1200" b="0" baseline="0"/>
              <a:t>Empresas</a:t>
            </a:r>
            <a:r>
              <a:rPr lang="pt-BR" sz="1200" b="0"/>
              <a:t> de padrões</a:t>
            </a:r>
            <a:endParaRPr lang="pt-BR" sz="1200" b="0"/>
          </a:p>
          <a:p>
            <a:pPr rtl="0"/>
            <a:r>
              <a:rPr lang="pt-BR"/>
              <a:t>3.4.1</a:t>
            </a:r>
            <a:r>
              <a:rPr lang="pt-BR" baseline="0"/>
              <a:t> -Padrões Abertos</a:t>
            </a:r>
            <a:endParaRPr lang="pt-BR" baseline="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3.4 </a:t>
            </a:r>
            <a:r>
              <a:rPr lang="pt-BR" sz="1200" b="0" baseline="0"/>
              <a:t>Empresas</a:t>
            </a:r>
            <a:r>
              <a:rPr lang="pt-BR" sz="1200" b="0"/>
              <a:t> de padrões</a:t>
            </a:r>
            <a:endParaRPr lang="pt-BR" sz="1200" b="0"/>
          </a:p>
          <a:p>
            <a:pPr rtl="0"/>
            <a:r>
              <a:rPr lang="pt-BR"/>
              <a:t>3.4.2 – </a:t>
            </a:r>
            <a:r>
              <a:rPr lang="pt-BR" baseline="0"/>
              <a:t>Padrões da Internet</a:t>
            </a:r>
            <a:endParaRPr lang="pt-BR" baseline="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3.4 </a:t>
            </a:r>
            <a:r>
              <a:rPr lang="pt-BR" sz="1200" b="0" baseline="0"/>
              <a:t>Empresas</a:t>
            </a:r>
            <a:r>
              <a:rPr lang="pt-BR" sz="1200" b="0"/>
              <a:t> de padrões</a:t>
            </a:r>
            <a:endParaRPr lang="pt-BR" sz="1200" b="0"/>
          </a:p>
          <a:p>
            <a:pPr rtl="0"/>
            <a:r>
              <a:rPr lang="pt-BR"/>
              <a:t>3.4.2</a:t>
            </a:r>
            <a:r>
              <a:rPr lang="pt-BR" baseline="0"/>
              <a:t> - Padrões da Internet (cont.)</a:t>
            </a:r>
            <a:endParaRPr lang="pt-BR" baseline="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3.4 </a:t>
            </a:r>
            <a:r>
              <a:rPr lang="pt-BR" sz="1200" b="0" baseline="0"/>
              <a:t>Empresas</a:t>
            </a:r>
            <a:r>
              <a:rPr lang="pt-BR" sz="1200" b="0"/>
              <a:t> de padrões</a:t>
            </a:r>
            <a:endParaRPr lang="pt-BR" sz="1200" b="0"/>
          </a:p>
          <a:p>
            <a:pPr rtl="0"/>
            <a:r>
              <a:rPr lang="pt-BR"/>
              <a:t>3.4.3</a:t>
            </a:r>
            <a:r>
              <a:rPr lang="pt-BR" baseline="0"/>
              <a:t>-</a:t>
            </a:r>
            <a:r>
              <a:rPr lang="pt-BR"/>
              <a:t>Padrões eletrônicos e de comunicações</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3.5 Modelos de referência</a:t>
            </a:r>
            <a:endParaRPr lang="pt-BR" sz="1200" b="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3.5 Modelos de referência</a:t>
            </a:r>
            <a:endParaRPr lang="pt-BR" sz="1200" b="0"/>
          </a:p>
          <a:p>
            <a:pPr rtl="0">
              <a:lnSpc>
                <a:spcPct val="80000"/>
              </a:lnSpc>
              <a:buFontTx/>
              <a:buNone/>
            </a:pPr>
            <a:r>
              <a:rPr lang="pt-BR">
                <a:latin typeface="Arial" panose="020B0604020202020204" pitchFamily="34" charset="0"/>
              </a:rPr>
              <a:t>3.5.1 – </a:t>
            </a:r>
            <a:r>
              <a:rPr lang="pt-BR"/>
              <a:t>Os benefícios de se usar um modelo de camadas</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3.5 Modelos de referência</a:t>
            </a:r>
            <a:endParaRPr lang="pt-BR" sz="1200" b="0"/>
          </a:p>
          <a:p>
            <a:pPr rtl="0">
              <a:lnSpc>
                <a:spcPct val="80000"/>
              </a:lnSpc>
              <a:buFontTx/>
              <a:buNone/>
            </a:pPr>
            <a:r>
              <a:rPr lang="pt-BR">
                <a:latin typeface="Arial" panose="020B0604020202020204" pitchFamily="34" charset="0"/>
              </a:rPr>
              <a:t>3.5.1 – </a:t>
            </a:r>
            <a:r>
              <a:rPr lang="pt-BR"/>
              <a:t>Os benefícios de se usar um modelo de camadas (Cont.)</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3.5 Modelos de referência</a:t>
            </a:r>
            <a:endParaRPr lang="pt-BR" sz="1200" b="0"/>
          </a:p>
          <a:p>
            <a:pPr rtl="0">
              <a:lnSpc>
                <a:spcPct val="80000"/>
              </a:lnSpc>
              <a:buFontTx/>
              <a:buNone/>
            </a:pPr>
            <a:r>
              <a:rPr lang="pt-BR">
                <a:latin typeface="Arial" panose="020B0604020202020204" pitchFamily="34" charset="0"/>
              </a:rPr>
              <a:t>3.5.2 – </a:t>
            </a:r>
            <a:r>
              <a:rPr lang="pt-BR" sz="1200"/>
              <a:t>O modelo de referência OSI</a:t>
            </a:r>
            <a:endParaRPr lang="pt-BR" sz="120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3.5 Modelos de referência</a:t>
            </a:r>
            <a:endParaRPr lang="pt-BR" sz="1200" b="0"/>
          </a:p>
          <a:p>
            <a:pPr rtl="0">
              <a:lnSpc>
                <a:spcPct val="80000"/>
              </a:lnSpc>
              <a:buFontTx/>
              <a:buNone/>
            </a:pPr>
            <a:r>
              <a:rPr lang="pt-BR">
                <a:latin typeface="Arial" panose="020B0604020202020204" pitchFamily="34" charset="0"/>
              </a:rPr>
              <a:t>3.5.3 - </a:t>
            </a:r>
            <a:r>
              <a:rPr lang="pt-BR" sz="1200"/>
              <a:t>Modelo de referência TCP / IP</a:t>
            </a:r>
            <a:endParaRPr lang="pt-BR" sz="120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3.5 Modelos de referência</a:t>
            </a:r>
            <a:endParaRPr lang="pt-BR" sz="1200" b="0"/>
          </a:p>
          <a:p>
            <a:pPr rtl="0">
              <a:lnSpc>
                <a:spcPct val="80000"/>
              </a:lnSpc>
              <a:buFontTx/>
              <a:buNone/>
            </a:pPr>
            <a:r>
              <a:rPr lang="pt-BR">
                <a:latin typeface="Arial" panose="020B0604020202020204" pitchFamily="34" charset="0"/>
              </a:rPr>
              <a:t>3.5.4 - </a:t>
            </a:r>
            <a:r>
              <a:rPr lang="pt-BR"/>
              <a:t>Comparação de modelos OSI e TCP / IP</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3.6 - </a:t>
            </a:r>
            <a:r>
              <a:rPr lang="pt-BR" sz="1200" b="0" baseline="0"/>
              <a:t>Encapsulamento </a:t>
            </a:r>
            <a:r>
              <a:rPr lang="pt-BR" sz="1200" b="0"/>
              <a:t>de dados</a:t>
            </a:r>
            <a:endParaRPr lang="pt-BR" sz="1200" b="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3.6 - </a:t>
            </a:r>
            <a:r>
              <a:rPr lang="pt-BR" sz="1200" b="0" baseline="0"/>
              <a:t>Encapsulamento </a:t>
            </a:r>
            <a:r>
              <a:rPr lang="pt-BR" sz="1200" b="0"/>
              <a:t>de dados</a:t>
            </a:r>
            <a:endParaRPr lang="pt-BR" sz="1200" b="0"/>
          </a:p>
          <a:p>
            <a:pPr rtl="0">
              <a:lnSpc>
                <a:spcPct val="80000"/>
              </a:lnSpc>
              <a:buFontTx/>
              <a:buNone/>
            </a:pPr>
            <a:r>
              <a:rPr lang="pt-BR">
                <a:latin typeface="Arial" panose="020B0604020202020204" pitchFamily="34" charset="0"/>
              </a:rPr>
              <a:t>3.6.1 - Segmentando </a:t>
            </a:r>
            <a:r>
              <a:rPr lang="pt-BR" baseline="0">
                <a:latin typeface="Arial" panose="020B0604020202020204" pitchFamily="34" charset="0"/>
              </a:rPr>
              <a:t>Mensagens</a:t>
            </a:r>
            <a:endParaRPr lang="pt-BR" baseline="0">
              <a:latin typeface="Arial" panose="020B0604020202020204" pitchFamily="34" charset="0"/>
            </a:endParaRP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3.6 - </a:t>
            </a:r>
            <a:r>
              <a:rPr lang="pt-BR" sz="1200" b="0" baseline="0"/>
              <a:t>Encapsulamento </a:t>
            </a:r>
            <a:r>
              <a:rPr lang="pt-BR" sz="1200" b="0"/>
              <a:t>de dados</a:t>
            </a:r>
            <a:endParaRPr lang="pt-BR" sz="1200" b="0"/>
          </a:p>
          <a:p>
            <a:pPr rtl="0">
              <a:lnSpc>
                <a:spcPct val="80000"/>
              </a:lnSpc>
              <a:buFontTx/>
              <a:buNone/>
            </a:pPr>
            <a:r>
              <a:rPr lang="pt-BR">
                <a:latin typeface="Arial" panose="020B0604020202020204" pitchFamily="34" charset="0"/>
              </a:rPr>
              <a:t>3.6.2 – Sequenciamento</a:t>
            </a:r>
            <a:r>
              <a:rPr lang="pt-BR" baseline="0">
                <a:latin typeface="Arial" panose="020B0604020202020204" pitchFamily="34" charset="0"/>
              </a:rPr>
              <a:t> </a:t>
            </a:r>
            <a:endParaRPr lang="pt-BR" baseline="0">
              <a:latin typeface="Arial" panose="020B0604020202020204" pitchFamily="34" charset="0"/>
            </a:endParaRP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3.6 - </a:t>
            </a:r>
            <a:r>
              <a:rPr lang="pt-BR" sz="1200" b="0" baseline="0"/>
              <a:t>Encapsulamento </a:t>
            </a:r>
            <a:r>
              <a:rPr lang="pt-BR" sz="1200" b="0"/>
              <a:t>de dados</a:t>
            </a:r>
            <a:endParaRPr lang="pt-BR" sz="1200" b="0"/>
          </a:p>
          <a:p>
            <a:pPr rtl="0">
              <a:lnSpc>
                <a:spcPct val="80000"/>
              </a:lnSpc>
              <a:buFontTx/>
              <a:buNone/>
            </a:pPr>
            <a:r>
              <a:rPr lang="pt-BR">
                <a:latin typeface="Arial" panose="020B0604020202020204" pitchFamily="34" charset="0"/>
              </a:rPr>
              <a:t>3.6.3 - </a:t>
            </a:r>
            <a:r>
              <a:rPr lang="pt-BR"/>
              <a:t>Unidades de Dados de Protocolo (PDU)</a:t>
            </a:r>
            <a:r>
              <a:rPr lang="pt-BR" baseline="0">
                <a:latin typeface="Arial" panose="020B0604020202020204" pitchFamily="34" charset="0"/>
              </a:rPr>
              <a:t> </a:t>
            </a:r>
            <a:endParaRPr lang="pt-BR" baseline="0">
              <a:latin typeface="Arial" panose="020B0604020202020204" pitchFamily="34" charset="0"/>
            </a:endParaRP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3.6 - </a:t>
            </a:r>
            <a:r>
              <a:rPr lang="pt-BR" sz="1200" b="0" baseline="0"/>
              <a:t>Encapsulamento </a:t>
            </a:r>
            <a:r>
              <a:rPr lang="pt-BR" sz="1200" b="0"/>
              <a:t>de dados</a:t>
            </a:r>
            <a:endParaRPr lang="pt-BR" sz="1200" b="0"/>
          </a:p>
          <a:p>
            <a:pPr rtl="0">
              <a:lnSpc>
                <a:spcPct val="80000"/>
              </a:lnSpc>
              <a:buFontTx/>
              <a:buNone/>
            </a:pPr>
            <a:r>
              <a:rPr lang="pt-BR">
                <a:latin typeface="Arial" panose="020B0604020202020204" pitchFamily="34" charset="0"/>
              </a:rPr>
              <a:t>3.6.4 - </a:t>
            </a:r>
            <a:r>
              <a:rPr lang="pt-BR" sz="1200" kern="1200">
                <a:solidFill>
                  <a:schemeClr val="tx1"/>
                </a:solidFill>
                <a:latin typeface="Arial" panose="020B0604020202020204" pitchFamily="34" charset="0"/>
                <a:ea typeface="MS PGothic" charset="0"/>
                <a:cs typeface="MS PGothic" charset="0"/>
              </a:rPr>
              <a:t> </a:t>
            </a:r>
            <a:r>
              <a:rPr lang="pt-BR"/>
              <a:t>Exemplo de Encapsulamento</a:t>
            </a:r>
            <a:endParaRPr lang="pt-BR"/>
          </a:p>
          <a:p>
            <a:pPr marL="0" marR="0" lvl="0" indent="0" algn="l" defTabSz="457200" rtl="0" eaLnBrk="1" fontAlgn="auto" latinLnBrk="0" hangingPunct="1">
              <a:lnSpc>
                <a:spcPct val="80000"/>
              </a:lnSpc>
              <a:spcBef>
                <a:spcPts val="0"/>
              </a:spcBef>
              <a:spcAft>
                <a:spcPts val="0"/>
              </a:spcAft>
              <a:buClrTx/>
              <a:buSzTx/>
              <a:buFontTx/>
              <a:buNone/>
              <a:defRPr/>
            </a:pPr>
            <a:endParaRPr lang="en-GB" b="0" dirty="0"/>
          </a:p>
          <a:p>
            <a:pPr marL="0" marR="0" lvl="0" indent="0" algn="l" defTabSz="457200" rtl="0" eaLnBrk="1" fontAlgn="auto" latinLnBrk="0" hangingPunct="1">
              <a:lnSpc>
                <a:spcPct val="80000"/>
              </a:lnSpc>
              <a:spcBef>
                <a:spcPts val="0"/>
              </a:spcBef>
              <a:spcAft>
                <a:spcPts val="0"/>
              </a:spcAft>
              <a:buClrTx/>
              <a:buSzTx/>
              <a:buFontTx/>
              <a:buNone/>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3.6 - </a:t>
            </a:r>
            <a:r>
              <a:rPr lang="pt-BR" sz="1200" b="0" baseline="0"/>
              <a:t>Encapsulamento </a:t>
            </a:r>
            <a:r>
              <a:rPr lang="pt-BR" sz="1200" b="0"/>
              <a:t>de dados</a:t>
            </a:r>
            <a:endParaRPr lang="pt-BR" sz="1200" b="0"/>
          </a:p>
          <a:p>
            <a:pPr rtl="0">
              <a:lnSpc>
                <a:spcPct val="80000"/>
              </a:lnSpc>
              <a:buFontTx/>
              <a:buNone/>
            </a:pPr>
            <a:r>
              <a:rPr lang="pt-BR">
                <a:latin typeface="Arial" panose="020B0604020202020204" pitchFamily="34" charset="0"/>
              </a:rPr>
              <a:t>3.6.5 - </a:t>
            </a:r>
            <a:r>
              <a:rPr lang="pt-BR"/>
              <a:t>Exemplo de Desencapsulamento</a:t>
            </a:r>
            <a:endParaRPr lang="pt-BR"/>
          </a:p>
          <a:p>
            <a:pPr rtl="0">
              <a:buFontTx/>
              <a:buNone/>
            </a:pPr>
            <a:r>
              <a:rPr lang="pt-BR"/>
              <a:t>3.6.6 </a:t>
            </a:r>
            <a:r>
              <a:rPr lang="pt-BR" sz="1200">
                <a:effectLst/>
              </a:rPr>
              <a:t>— Verifique seu entendimento —</a:t>
            </a:r>
            <a:r>
              <a:rPr lang="pt-BR" sz="1200" baseline="0">
                <a:effectLst/>
              </a:rPr>
              <a:t> </a:t>
            </a:r>
            <a:r>
              <a:rPr lang="pt-BR" sz="1200" b="0"/>
              <a:t> Encapsulamento de</a:t>
            </a:r>
            <a:r>
              <a:rPr lang="pt-BR" sz="1200" b="0" baseline="0"/>
              <a:t>dados</a:t>
            </a:r>
            <a:endParaRPr lang="pt-BR" sz="1200" b="0" baseline="0"/>
          </a:p>
          <a:p>
            <a:pPr marL="0" marR="0" lvl="0" indent="0" algn="l" defTabSz="457200" rtl="0" eaLnBrk="1" fontAlgn="auto" latinLnBrk="0" hangingPunct="1">
              <a:lnSpc>
                <a:spcPct val="80000"/>
              </a:lnSpc>
              <a:spcBef>
                <a:spcPts val="0"/>
              </a:spcBef>
              <a:spcAft>
                <a:spcPts val="0"/>
              </a:spcAft>
              <a:buClrTx/>
              <a:buSzTx/>
              <a:buFontTx/>
              <a:buNone/>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a:buFontTx/>
              <a:buNone/>
            </a:pPr>
            <a:endParaRPr lang="en-GB" b="0" dirty="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3.7.1 — Endereços</a:t>
            </a:r>
            <a:endParaRPr lang="pt-BR">
              <a:latin typeface="Arial" panose="020B0604020202020204" pitchFamily="34" charset="0"/>
            </a:endParaRP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3.7.2 — </a:t>
            </a:r>
            <a:r>
              <a:rPr lang="pt-BR"/>
              <a:t>Endereço lógico da Camada 3</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3.7.2 — </a:t>
            </a:r>
            <a:r>
              <a:rPr lang="pt-BR"/>
              <a:t>Endereço lógico da Camada 3 (Cont.) </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3.7.3 — </a:t>
            </a:r>
            <a:r>
              <a:rPr lang="pt-BR"/>
              <a:t>Dispositivos na mesma rede-</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3.7.4 — </a:t>
            </a:r>
            <a:r>
              <a:rPr lang="pt-BR"/>
              <a:t>Função dos endereços da camada de link de dados: mesma rede IP</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3.7.5 – </a:t>
            </a:r>
            <a:r>
              <a:rPr lang="pt-BR"/>
              <a:t>Dispositivos em uma rede remota</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3.7.6 - </a:t>
            </a:r>
            <a:r>
              <a:rPr lang="pt-BR"/>
              <a:t>Função dos endereços da camada de rede</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3.7.7 — </a:t>
            </a:r>
            <a:r>
              <a:rPr lang="pt-BR"/>
              <a:t>Papel dos endereços da camada de link de dados: diferentes redes IP</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3.7.7 — </a:t>
            </a:r>
            <a:r>
              <a:rPr lang="pt-BR"/>
              <a:t>Função dos Endereços da Camada de Link de Dados: Redes IP Diferentes (Cont.) </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3.7.8 – </a:t>
            </a:r>
            <a:r>
              <a:rPr lang="pt-BR"/>
              <a:t>Endereços de enlace de dados</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3.7.8 – </a:t>
            </a:r>
            <a:r>
              <a:rPr lang="pt-BR"/>
              <a:t>Endereços de enlace de dados (Cont.)</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3.7.8 – </a:t>
            </a:r>
            <a:r>
              <a:rPr lang="pt-BR"/>
              <a:t>Endereços de enlace de dados (Cont.)</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3.7.8 – </a:t>
            </a:r>
            <a:r>
              <a:rPr lang="pt-BR"/>
              <a:t>Endereços de enlace de dados (Cont.)</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2565" indent="0" algn="ctr">
              <a:buNone/>
              <a:defRPr>
                <a:solidFill>
                  <a:schemeClr val="tx1">
                    <a:tint val="75000"/>
                  </a:schemeClr>
                </a:solidFill>
              </a:defRPr>
            </a:lvl9pPr>
          </a:lstStyle>
          <a:p>
            <a:r>
              <a:rPr lang="en-US" dirty="0"/>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endParaRPr lang="en-US"/>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endParaRPr lang="en-US"/>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800" indent="0">
              <a:buNone/>
              <a:defRPr/>
            </a:lvl2pPr>
            <a:lvl3pPr marL="427355" indent="0">
              <a:buNone/>
              <a:defRPr/>
            </a:lvl3pPr>
            <a:lvl4pPr marL="516890" indent="0">
              <a:buNone/>
              <a:defRPr/>
            </a:lvl4pPr>
            <a:lvl5pPr marL="601345" indent="0">
              <a:buNone/>
              <a:defRPr/>
            </a:lvl5pPr>
          </a:lstStyle>
          <a:p>
            <a:pPr lvl="0"/>
            <a:r>
              <a:rPr lang="en-US" dirty="0"/>
              <a:t>Click to edit Master text styles</a:t>
            </a:r>
            <a:endParaRPr lang="en-US" dirty="0"/>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10"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2"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1"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2"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3"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4"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5"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6"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7"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8"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2565" indent="0" algn="ctr">
              <a:buNone/>
              <a:defRPr>
                <a:solidFill>
                  <a:schemeClr val="tx1">
                    <a:tint val="75000"/>
                  </a:schemeClr>
                </a:solidFill>
              </a:defRPr>
            </a:lvl9pPr>
          </a:lstStyle>
          <a:p>
            <a:r>
              <a:rPr lang="en-US" dirty="0"/>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endParaRPr lang="en-US"/>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endParaRPr lang="en-US"/>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10"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2"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1"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2"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3"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4"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5"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6"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7"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8"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800" indent="0">
              <a:buNone/>
              <a:defRPr/>
            </a:lvl2pPr>
            <a:lvl3pPr marL="427355" indent="0">
              <a:buNone/>
              <a:defRPr/>
            </a:lvl3pPr>
            <a:lvl4pPr marL="516890" indent="0">
              <a:buNone/>
              <a:defRPr/>
            </a:lvl4pPr>
            <a:lvl5pPr marL="601345" indent="0">
              <a:buNone/>
              <a:defRPr/>
            </a:lvl5pPr>
          </a:lstStyle>
          <a:p>
            <a:pPr lvl="0"/>
            <a:r>
              <a:rPr lang="en-US" dirty="0"/>
              <a:t>Click to edit Master text styles</a:t>
            </a:r>
            <a:endParaRPr lang="en-US" dirty="0"/>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endParaRPr lang="en-US" dirty="0"/>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2565" indent="0" algn="ctr">
              <a:buNone/>
              <a:defRPr>
                <a:solidFill>
                  <a:schemeClr val="tx1">
                    <a:tint val="75000"/>
                  </a:schemeClr>
                </a:solidFill>
              </a:defRPr>
            </a:lvl9pPr>
          </a:lstStyle>
          <a:p>
            <a:r>
              <a:rPr lang="en-US" dirty="0"/>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endParaRPr lang="en-US"/>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endParaRPr lang="en-US"/>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10"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2"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1"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2"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3"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4"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5"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6"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7"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8"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800" indent="0">
              <a:buNone/>
              <a:defRPr/>
            </a:lvl2pPr>
            <a:lvl3pPr marL="427355" indent="0">
              <a:buNone/>
              <a:defRPr/>
            </a:lvl3pPr>
            <a:lvl4pPr marL="516890" indent="0">
              <a:buNone/>
              <a:defRPr/>
            </a:lvl4pPr>
            <a:lvl5pPr marL="601345" indent="0">
              <a:buNone/>
              <a:defRPr/>
            </a:lvl5pPr>
          </a:lstStyle>
          <a:p>
            <a:pPr lvl="0"/>
            <a:r>
              <a:rPr lang="en-US" dirty="0"/>
              <a:t>Click to edit Master text styles</a:t>
            </a:r>
            <a:endParaRPr lang="en-US" dirty="0"/>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endParaRPr lang="en-US" dirty="0"/>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ln>
          <a:effectLst/>
        </p:spPr>
        <p:txBody>
          <a:bodyPr wrap="none" lIns="61586" tIns="30792" rIns="61586" bIns="30792" anchor="b">
            <a:spAutoFit/>
          </a:bodyPr>
          <a:lstStyle/>
          <a:p>
            <a:pPr algn="r" defTabSz="610870"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ln>
          <a:effectLst/>
        </p:spPr>
        <p:txBody>
          <a:bodyPr lIns="61586" tIns="30792" rIns="61586" bIns="30792" anchor="b">
            <a:spAutoFit/>
          </a:bodyPr>
          <a:lstStyle/>
          <a:p>
            <a:pPr defTabSz="610870" rtl="0" fontAlgn="auto">
              <a:spcBef>
                <a:spcPts val="0"/>
              </a:spcBef>
              <a:spcAft>
                <a:spcPts val="0"/>
              </a:spcAft>
              <a:defRPr/>
            </a:pPr>
            <a:r>
              <a:rPr lang="pt-BR" sz="600">
                <a:solidFill>
                  <a:schemeClr val="accent5">
                    <a:lumMod val="50000"/>
                  </a:schemeClr>
                </a:solidFill>
                <a:latin typeface="+mn-lt"/>
                <a:ea typeface="+mn-ea"/>
                <a:cs typeface="CiscoSans Thin"/>
              </a:rPr>
              <a:t>© 2016 Cisco e/ou suas afiliadas. Todos os direitos reservados.   Confidencial da Cisco</a:t>
            </a:r>
            <a:endParaRPr lang="pt-BR" sz="600">
              <a:solidFill>
                <a:schemeClr val="accent5">
                  <a:lumMod val="50000"/>
                </a:schemeClr>
              </a:solidFill>
              <a:latin typeface="+mn-lt"/>
              <a:ea typeface="+mn-ea"/>
              <a:cs typeface="CiscoSans Thin"/>
            </a:endParaRP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13"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6"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7"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8"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9"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0"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1"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2"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3"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4"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5"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750" marR="0" indent="-285750" algn="ctr" defTabSz="457200" rtl="0" eaLnBrk="1" fontAlgn="auto" latinLnBrk="0" hangingPunct="1">
              <a:lnSpc>
                <a:spcPct val="100000"/>
              </a:lnSpc>
              <a:spcBef>
                <a:spcPct val="20000"/>
              </a:spcBef>
              <a:spcAft>
                <a:spcPts val="0"/>
              </a:spcAft>
              <a:buClrTx/>
              <a:buSzTx/>
              <a:buFont typeface="Arial" panose="020B0604020202020204"/>
              <a:buNone/>
              <a:defRPr sz="2000" b="0" i="0" baseline="0">
                <a:solidFill>
                  <a:schemeClr val="bg1"/>
                </a:solidFill>
                <a:latin typeface="+mn-lt"/>
                <a:cs typeface="CiscoSans ExtraLight"/>
              </a:defRPr>
            </a:lvl1pPr>
          </a:lstStyle>
          <a:p>
            <a:pPr lvl="0"/>
            <a:r>
              <a:rPr lang="en-US"/>
              <a:t>Click to edit Master text styles</a:t>
            </a:r>
            <a:endParaRPr lang="en-US"/>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panose="020B0604020202020204"/>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panose="020B0604020202020204"/>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panose="020B0604020202020204"/>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endParaRPr lang="en-US" dirty="0"/>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endParaRPr lang="en-US" dirty="0"/>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endParaRPr lang="en-US" dirty="0"/>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endParaRPr lang="en-US" dirty="0"/>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panose="020B0604020202020204"/>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panose="020B0604020202020204"/>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panose="020B0604020202020204"/>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endParaRPr lang="en-US" dirty="0"/>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endParaRPr lang="en-US" dirty="0"/>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endParaRPr lang="en-US" dirty="0"/>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endParaRPr lang="en-US" dirty="0"/>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panose="020B0604020202020204"/>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endParaRPr lang="en-US" dirty="0"/>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panose="020B0604020202020204"/>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endParaRPr lang="en-US" dirty="0"/>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panose="020B0604020202020204"/>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endParaRPr lang="en-US" dirty="0"/>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endParaRPr lang="en-US" dirty="0"/>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endParaRPr lang="en-US" dirty="0"/>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endParaRPr lang="en-US" dirty="0"/>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endParaRPr lang="en-US" dirty="0"/>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endParaRPr lang="en-US" dirty="0"/>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endParaRPr lang="en-US" dirty="0"/>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endParaRPr lang="en-US" dirty="0"/>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endParaRPr lang="en-US" dirty="0"/>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endParaRPr lang="en-US" dirty="0"/>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endParaRPr lang="en-US" dirty="0"/>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6"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7"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9"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0"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1"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2"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6"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7"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8"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6"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7"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9"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0"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1"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2"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6"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7"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8"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6"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7"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9"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0"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1"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2"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6"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7"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8"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6080">
              <a:defRPr/>
            </a:pPr>
            <a:fld id="{2F5CCB13-0A32-4557-88E9-079F0C330695}" type="slidenum">
              <a:rPr lang="en-US" kern="0" smtClean="0">
                <a:solidFill>
                  <a:srgbClr val="595959"/>
                </a:solidFill>
              </a:rPr>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lstStyle>
            <a:lvl1pPr marL="170180" indent="-170180">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anose="020B0604020202020204" pitchFamily="34" charset="0"/>
              </a:rPr>
              <a:t>Click to edit Master text styles</a:t>
            </a:r>
            <a:endParaRPr lang="en-US" dirty="0">
              <a:sym typeface="Arial" panose="020B0604020202020204" pitchFamily="34" charset="0"/>
            </a:endParaRPr>
          </a:p>
          <a:p>
            <a:pPr lvl="1"/>
            <a:r>
              <a:rPr lang="en-US" dirty="0">
                <a:sym typeface="Arial" panose="020B0604020202020204" pitchFamily="34" charset="0"/>
              </a:rPr>
              <a:t>Second level</a:t>
            </a:r>
            <a:endParaRPr lang="en-US" dirty="0">
              <a:sym typeface="Arial" panose="020B0604020202020204" pitchFamily="34" charset="0"/>
            </a:endParaRPr>
          </a:p>
          <a:p>
            <a:pPr lvl="2"/>
            <a:r>
              <a:rPr lang="en-US" dirty="0">
                <a:sym typeface="Arial" panose="020B0604020202020204" pitchFamily="34" charset="0"/>
              </a:rPr>
              <a:t>Third level</a:t>
            </a:r>
            <a:endParaRPr lang="en-US" dirty="0">
              <a:sym typeface="Arial" panose="020B0604020202020204" pitchFamily="34" charset="0"/>
            </a:endParaRPr>
          </a:p>
          <a:p>
            <a:pPr lvl="3"/>
            <a:r>
              <a:rPr lang="en-US" dirty="0">
                <a:sym typeface="Arial" panose="020B0604020202020204" pitchFamily="34" charset="0"/>
              </a:rPr>
              <a:t>Fourth level</a:t>
            </a:r>
            <a:endParaRPr lang="en-US" dirty="0">
              <a:sym typeface="Arial" panose="020B0604020202020204" pitchFamily="34" charset="0"/>
            </a:endParaRP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lstStyle>
            <a:lvl1pPr>
              <a:lnSpc>
                <a:spcPct val="100000"/>
              </a:lnSpc>
              <a:defRPr sz="2400"/>
            </a:lvl1pPr>
          </a:lstStyle>
          <a:p>
            <a:pPr lvl="0"/>
            <a:r>
              <a:rPr lang="en-US" dirty="0">
                <a:sym typeface="Arial" panose="020B0604020202020204" pitchFamily="34" charset="0"/>
              </a:rPr>
              <a:t>Click to edit Master title style</a:t>
            </a:r>
            <a:endParaRPr lang="en-US" dirty="0">
              <a:sym typeface="Arial" panose="020B0604020202020204" pitchFamily="34" charset="0"/>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lstStyle/>
          <a:p>
            <a:pPr lvl="0"/>
            <a:r>
              <a:rPr lang="en-GB" altLang="en-US" dirty="0"/>
              <a:t>Title Goes Here</a:t>
            </a:r>
            <a:endParaRPr lang="en-GB" altLang="en-US" dirty="0"/>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ln>
          <a:effectLst/>
        </p:spPr>
        <p:txBody>
          <a:bodyPr wrap="none" lIns="61586" tIns="30792" rIns="61586" bIns="30792" anchor="b">
            <a:spAutoFit/>
          </a:bodyPr>
          <a:lstStyle/>
          <a:p>
            <a:pPr algn="r" defTabSz="610870"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ln>
          <a:effectLst/>
        </p:spPr>
        <p:txBody>
          <a:bodyPr lIns="61586" tIns="30792" rIns="61586" bIns="30792" anchor="b">
            <a:spAutoFit/>
          </a:bodyPr>
          <a:lstStyle/>
          <a:p>
            <a:pPr defTabSz="610870" rtl="0" fontAlgn="auto">
              <a:spcBef>
                <a:spcPts val="0"/>
              </a:spcBef>
              <a:spcAft>
                <a:spcPts val="0"/>
              </a:spcAft>
              <a:defRPr/>
            </a:pPr>
            <a:r>
              <a:rPr lang="pt-BR" sz="600">
                <a:solidFill>
                  <a:schemeClr val="accent3">
                    <a:lumMod val="85000"/>
                  </a:schemeClr>
                </a:solidFill>
                <a:latin typeface="+mn-lt"/>
                <a:ea typeface="+mn-ea"/>
                <a:cs typeface="CiscoSans Thin"/>
              </a:rPr>
              <a:t>© 2016 Cisco e/ou suas afiliadas. Todos os direitos reservados.   Confidencial da Cisco</a:t>
            </a:r>
            <a:endParaRPr lang="pt-BR" sz="600">
              <a:solidFill>
                <a:schemeClr val="accent3">
                  <a:lumMod val="85000"/>
                </a:schemeClr>
              </a:solidFill>
              <a:latin typeface="+mn-lt"/>
              <a:ea typeface="+mn-ea"/>
              <a:cs typeface="CiscoSans Thin"/>
            </a:endParaRP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8"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9"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1"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6"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7"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8"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9"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0"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1"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2"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wipe/>
  </p:transition>
  <p:txStyles>
    <p:titleStyle>
      <a:lvl1pPr algn="l" defTabSz="684530" rtl="0" eaLnBrk="1" fontAlgn="base" hangingPunct="1">
        <a:lnSpc>
          <a:spcPct val="80000"/>
        </a:lnSpc>
        <a:spcBef>
          <a:spcPct val="0"/>
        </a:spcBef>
        <a:spcAft>
          <a:spcPct val="0"/>
        </a:spcAft>
        <a:defRPr lang="en-US" sz="3200" kern="1200" dirty="0">
          <a:solidFill>
            <a:schemeClr val="accent4"/>
          </a:solidFill>
          <a:latin typeface="+mj-lt"/>
          <a:ea typeface="MS PGothic" charset="0"/>
          <a:cs typeface="CiscoSans"/>
        </a:defRPr>
      </a:lvl1pPr>
      <a:lvl2pPr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charset="0"/>
          <a:cs typeface="CiscoSans" pitchFamily="34" charset="0"/>
        </a:defRPr>
      </a:lvl2pPr>
      <a:lvl3pPr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charset="0"/>
          <a:cs typeface="CiscoSans" pitchFamily="34" charset="0"/>
        </a:defRPr>
      </a:lvl3pPr>
      <a:lvl4pPr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charset="0"/>
          <a:cs typeface="CiscoSans" pitchFamily="34" charset="0"/>
        </a:defRPr>
      </a:lvl4pPr>
      <a:lvl5pPr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charset="0"/>
          <a:cs typeface="CiscoSans" pitchFamily="34" charset="0"/>
        </a:defRPr>
      </a:lvl5pPr>
      <a:lvl6pPr marL="457200"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charset="0"/>
        </a:defRPr>
      </a:lvl6pPr>
      <a:lvl7pPr marL="914400"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charset="0"/>
        </a:defRPr>
      </a:lvl7pPr>
      <a:lvl8pPr marL="1371600"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charset="0"/>
        </a:defRPr>
      </a:lvl8pPr>
      <a:lvl9pPr marL="1828800"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charset="0"/>
        </a:defRPr>
      </a:lvl9pPr>
    </p:titleStyle>
    <p:bodyStyle>
      <a:lvl1pPr marL="170180" indent="-170180" algn="l" defTabSz="684530" rtl="0" eaLnBrk="1" fontAlgn="base" hangingPunct="1">
        <a:lnSpc>
          <a:spcPct val="95000"/>
        </a:lnSpc>
        <a:spcBef>
          <a:spcPts val="1075"/>
        </a:spcBef>
        <a:spcAft>
          <a:spcPct val="0"/>
        </a:spcAft>
        <a:buClr>
          <a:schemeClr val="tx2"/>
        </a:buClr>
        <a:buSzPct val="90000"/>
        <a:buFont typeface="Arial" panose="020B0604020202020204" pitchFamily="34" charset="0"/>
        <a:buChar char="•"/>
        <a:defRPr lang="en-US" sz="1500" kern="1200" dirty="0">
          <a:solidFill>
            <a:schemeClr val="tx1"/>
          </a:solidFill>
          <a:latin typeface="+mn-lt"/>
          <a:ea typeface="MS PGothic" charset="0"/>
          <a:cs typeface="CiscoSans"/>
        </a:defRPr>
      </a:lvl1pPr>
      <a:lvl2pPr marL="358775" indent="-215900" algn="l" defTabSz="684530" rtl="0" eaLnBrk="1" fontAlgn="base" hangingPunct="1">
        <a:lnSpc>
          <a:spcPct val="95000"/>
        </a:lnSpc>
        <a:spcBef>
          <a:spcPts val="600"/>
        </a:spcBef>
        <a:spcAft>
          <a:spcPct val="0"/>
        </a:spcAft>
        <a:buClr>
          <a:schemeClr val="tx2"/>
        </a:buClr>
        <a:buFont typeface="Arial" panose="020B0604020202020204" pitchFamily="34" charset="0"/>
        <a:buChar char="•"/>
        <a:defRPr lang="en-US" sz="1400" kern="1200" dirty="0">
          <a:solidFill>
            <a:schemeClr val="tx1"/>
          </a:solidFill>
          <a:latin typeface="+mn-lt"/>
          <a:ea typeface="MS PGothic" charset="0"/>
          <a:cs typeface="CiscoSans"/>
        </a:defRPr>
      </a:lvl2pPr>
      <a:lvl3pPr marL="431800" indent="-170180" algn="l" defTabSz="684530" rtl="0" eaLnBrk="1" fontAlgn="base" hangingPunct="1">
        <a:lnSpc>
          <a:spcPct val="95000"/>
        </a:lnSpc>
        <a:spcBef>
          <a:spcPts val="625"/>
        </a:spcBef>
        <a:spcAft>
          <a:spcPct val="0"/>
        </a:spcAft>
        <a:buFont typeface="Arial" panose="020B0604020202020204" pitchFamily="34" charset="0"/>
        <a:buChar char="•"/>
        <a:defRPr lang="en-US" sz="1200" kern="1200" dirty="0">
          <a:solidFill>
            <a:schemeClr val="tx1"/>
          </a:solidFill>
          <a:latin typeface="+mn-lt"/>
          <a:ea typeface="MS PGothic" charset="0"/>
          <a:cs typeface="CiscoSans"/>
        </a:defRPr>
      </a:lvl3pPr>
      <a:lvl4pPr marL="503555" indent="-170180" algn="l" defTabSz="684530" rtl="0" eaLnBrk="1" fontAlgn="base" hangingPunct="1">
        <a:lnSpc>
          <a:spcPct val="95000"/>
        </a:lnSpc>
        <a:spcBef>
          <a:spcPts val="625"/>
        </a:spcBef>
        <a:spcAft>
          <a:spcPct val="0"/>
        </a:spcAft>
        <a:buFont typeface="Arial" panose="020B0604020202020204" pitchFamily="34" charset="0"/>
        <a:buChar char="•"/>
        <a:defRPr lang="en-US" sz="1100" kern="1200" dirty="0">
          <a:solidFill>
            <a:schemeClr val="tx1"/>
          </a:solidFill>
          <a:latin typeface="+mn-lt"/>
          <a:ea typeface="MS PGothic" charset="0"/>
          <a:cs typeface="CiscoSans"/>
        </a:defRPr>
      </a:lvl4pPr>
      <a:lvl5pPr marL="574675" indent="-170180" algn="l" defTabSz="684530" rtl="0" eaLnBrk="1" fontAlgn="base" hangingPunct="1">
        <a:lnSpc>
          <a:spcPct val="95000"/>
        </a:lnSpc>
        <a:spcBef>
          <a:spcPts val="625"/>
        </a:spcBef>
        <a:spcAft>
          <a:spcPct val="0"/>
        </a:spcAft>
        <a:buFont typeface="Arial" panose="020B0604020202020204" pitchFamily="34" charset="0"/>
        <a:buChar char="•"/>
        <a:defRPr lang="en-US" sz="1100" kern="1200" dirty="0">
          <a:solidFill>
            <a:schemeClr val="tx1"/>
          </a:solidFill>
          <a:latin typeface="+mn-lt"/>
          <a:ea typeface="MS PGothic" charset="0"/>
          <a:cs typeface="CiscoSans"/>
        </a:defRPr>
      </a:lvl5pPr>
      <a:lvl6pPr marL="863600" indent="-171450" algn="l" defTabSz="685800" rtl="0" eaLnBrk="1" latinLnBrk="0" hangingPunct="1">
        <a:spcBef>
          <a:spcPts val="600"/>
        </a:spcBef>
        <a:buFont typeface="Arial" panose="020B0604020202020204" pitchFamily="34" charset="0"/>
        <a:buChar char="•"/>
        <a:defRPr sz="900" kern="1200" baseline="0">
          <a:solidFill>
            <a:schemeClr val="tx1"/>
          </a:solidFill>
          <a:latin typeface="+mn-lt"/>
          <a:ea typeface="+mn-ea"/>
          <a:cs typeface="+mn-cs"/>
        </a:defRPr>
      </a:lvl6pPr>
      <a:lvl7pPr marL="935990" indent="-171450" algn="l" defTabSz="685800" rtl="0" eaLnBrk="1" latinLnBrk="0" hangingPunct="1">
        <a:spcBef>
          <a:spcPts val="600"/>
        </a:spcBef>
        <a:buFont typeface="Arial" panose="020B0604020202020204" pitchFamily="34" charset="0"/>
        <a:buChar char="•"/>
        <a:defRPr sz="800" kern="1200" baseline="0">
          <a:solidFill>
            <a:schemeClr val="tx1"/>
          </a:solidFill>
          <a:latin typeface="+mn-lt"/>
          <a:ea typeface="+mn-ea"/>
          <a:cs typeface="+mn-cs"/>
        </a:defRPr>
      </a:lvl7pPr>
      <a:lvl8pPr marL="2400300" indent="0" algn="l" defTabSz="685800" rtl="0" eaLnBrk="1" latinLnBrk="0" hangingPunct="1">
        <a:spcBef>
          <a:spcPct val="20000"/>
        </a:spcBef>
        <a:buFont typeface="Arial" panose="020B0604020202020204" pitchFamily="34" charset="0"/>
        <a:buNone/>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3.xml"/><Relationship Id="rId2" Type="http://schemas.openxmlformats.org/officeDocument/2006/relationships/image" Target="../media/image9.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3.xml"/><Relationship Id="rId2" Type="http://schemas.openxmlformats.org/officeDocument/2006/relationships/image" Target="../media/image11.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3.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3.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3.xml"/><Relationship Id="rId2" Type="http://schemas.openxmlformats.org/officeDocument/2006/relationships/tags" Target="../tags/tag5.xml"/><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3.xml"/><Relationship Id="rId2" Type="http://schemas.openxmlformats.org/officeDocument/2006/relationships/tags" Target="../tags/tag6.xml"/><Relationship Id="rId1"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image" Target="../media/image26.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3.xml"/><Relationship Id="rId2" Type="http://schemas.openxmlformats.org/officeDocument/2006/relationships/image" Target="../media/image28.png"/><Relationship Id="rId1"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3.xml"/><Relationship Id="rId1"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image" Target="../media/image3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image" Target="../media/image3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image" Target="../media/image34.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image" Target="../media/image36.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image" Target="../media/image37.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image" Target="../media/image38.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image" Target="../media/image39.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image" Target="../media/image40.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image" Target="../media/image41.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image" Target="../media/image41.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image" Target="../media/image42.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image" Target="../media/image43.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image" Target="../media/image44.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image" Target="../media/image45.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image" Target="../media/image45.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image" Target="../media/image45.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3.xml"/><Relationship Id="rId1" Type="http://schemas.openxmlformats.org/officeDocument/2006/relationships/image" Target="../media/image46.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3.xml"/><Relationship Id="rId1" Type="http://schemas.openxmlformats.org/officeDocument/2006/relationships/image" Target="../media/image47.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3.xml"/><Relationship Id="rId1" Type="http://schemas.openxmlformats.org/officeDocument/2006/relationships/image" Target="../media/image48.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3.xml"/><Relationship Id="rId1" Type="http://schemas.openxmlformats.org/officeDocument/2006/relationships/image" Target="../media/image4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265" y="1631315"/>
            <a:ext cx="6642735" cy="1051560"/>
          </a:xfrm>
        </p:spPr>
        <p:txBody>
          <a:bodyPr/>
          <a:lstStyle/>
          <a:p>
            <a:pPr rtl="0"/>
            <a:r>
              <a:rPr lang="pt-BR">
                <a:solidFill>
                  <a:schemeClr val="accent5">
                    <a:lumMod val="40000"/>
                    <a:lumOff val="60000"/>
                  </a:schemeClr>
                </a:solidFill>
              </a:rPr>
              <a:t>Módulo 3: Protocolos e Modelos de Comunicação</a:t>
            </a:r>
            <a:endParaRPr lang="pt-BR">
              <a:solidFill>
                <a:schemeClr val="accent5">
                  <a:lumMod val="40000"/>
                  <a:lumOff val="60000"/>
                </a:schemeClr>
              </a:solidFill>
            </a:endParaRPr>
          </a:p>
        </p:txBody>
      </p:sp>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v7.0 (ITN)</a:t>
            </a:r>
            <a:endParaRPr lang="pt-BR">
              <a:solidFill>
                <a:schemeClr val="accent5">
                  <a:lumMod val="40000"/>
                  <a:lumOff val="60000"/>
                </a:schemeClr>
              </a:solidFill>
            </a:endParaRPr>
          </a:p>
          <a:p>
            <a:pPr rtl="0"/>
            <a:r>
              <a:rPr lang="pt-BR">
                <a:solidFill>
                  <a:schemeClr val="accent5">
                    <a:lumMod val="40000"/>
                    <a:lumOff val="60000"/>
                  </a:schemeClr>
                </a:solidFill>
                <a:sym typeface="+mn-ea"/>
              </a:rPr>
              <a:t>Versão: 1.0 - 01/04/2026</a:t>
            </a:r>
            <a:endParaRPr lang="en-US" dirty="0"/>
          </a:p>
        </p:txBody>
      </p:sp>
    </p:spTree>
    <p:custDataLst>
      <p:tags r:id="rId1"/>
    </p:custData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pPr rtl="0"/>
            <a:r>
              <a:rPr lang="pt-BR">
                <a:solidFill>
                  <a:schemeClr val="accent5">
                    <a:lumMod val="40000"/>
                    <a:lumOff val="60000"/>
                  </a:schemeClr>
                </a:solidFill>
              </a:rPr>
              <a:t>3.1 - As Regras</a:t>
            </a:r>
            <a:endParaRPr lang="pt-BR">
              <a:solidFill>
                <a:schemeClr val="accent5">
                  <a:lumMod val="40000"/>
                  <a:lumOff val="60000"/>
                </a:schemeClr>
              </a:solidFill>
            </a:endParaRPr>
          </a:p>
        </p:txBody>
      </p:sp>
    </p:spTree>
    <p:custDataLst>
      <p:tags r:id="rId1"/>
    </p:custData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 </a:t>
            </a:r>
            <a:br>
              <a:rPr lang="pt-BR"/>
            </a:br>
            <a:r>
              <a:rPr lang="pt-BR"/>
              <a:t>Princípios da Comunicação</a:t>
            </a:r>
            <a:endParaRPr lang="pt-BR"/>
          </a:p>
        </p:txBody>
      </p:sp>
      <p:sp>
        <p:nvSpPr>
          <p:cNvPr id="8195" name="Rectangle 6"/>
          <p:cNvSpPr>
            <a:spLocks noGrp="1" noChangeArrowheads="1"/>
          </p:cNvSpPr>
          <p:nvPr>
            <p:ph idx="1"/>
          </p:nvPr>
        </p:nvSpPr>
        <p:spPr>
          <a:xfrm>
            <a:off x="124460" y="906145"/>
            <a:ext cx="3966845" cy="3799840"/>
          </a:xfrm>
        </p:spPr>
        <p:txBody>
          <a:bodyPr/>
          <a:lstStyle/>
          <a:p>
            <a:pPr marL="0" indent="0" rtl="0">
              <a:buNone/>
            </a:pPr>
            <a:r>
              <a:rPr lang="pt-BR" sz="1800"/>
              <a:t>As redes podem </a:t>
            </a:r>
            <a:r>
              <a:rPr lang="pt-BR" sz="1800" b="1">
                <a:solidFill>
                  <a:srgbClr val="FF0000"/>
                </a:solidFill>
              </a:rPr>
              <a:t>variar em tamanho e complexidade</a:t>
            </a:r>
            <a:r>
              <a:rPr lang="pt-BR" sz="1800"/>
              <a:t>. Não é suficiente ter uma conexão, os dispositivos devem concordar em </a:t>
            </a:r>
            <a:r>
              <a:rPr lang="pt-BR" sz="1800" b="1"/>
              <a:t>“como”</a:t>
            </a:r>
            <a:r>
              <a:rPr lang="pt-BR" sz="1800"/>
              <a:t> se comunicar.</a:t>
            </a:r>
            <a:endParaRPr lang="pt-BR" sz="1800"/>
          </a:p>
          <a:p>
            <a:pPr marL="0" indent="0" rtl="0">
              <a:buNone/>
            </a:pPr>
            <a:r>
              <a:rPr lang="pt-BR" sz="1800"/>
              <a:t>Há </a:t>
            </a:r>
            <a:r>
              <a:rPr lang="pt-BR" sz="1800" b="1">
                <a:solidFill>
                  <a:srgbClr val="FF0000"/>
                </a:solidFill>
              </a:rPr>
              <a:t>três elementos</a:t>
            </a:r>
            <a:r>
              <a:rPr lang="pt-BR" sz="1800"/>
              <a:t> para qualquer comunicação:</a:t>
            </a:r>
            <a:endParaRPr lang="pt-BR" sz="1800"/>
          </a:p>
          <a:p>
            <a:pPr lvl="1" rtl="0"/>
            <a:r>
              <a:rPr lang="pt-BR" sz="1800">
                <a:effectLst/>
              </a:rPr>
              <a:t>Haverá uma fonte </a:t>
            </a:r>
            <a:r>
              <a:rPr lang="pt-BR" sz="1800" b="1">
                <a:effectLst/>
              </a:rPr>
              <a:t>(Remetente)</a:t>
            </a:r>
            <a:r>
              <a:rPr lang="pt-BR" sz="1800">
                <a:effectLst/>
              </a:rPr>
              <a:t>.</a:t>
            </a:r>
            <a:endParaRPr lang="pt-BR" sz="1800">
              <a:effectLst/>
            </a:endParaRPr>
          </a:p>
          <a:p>
            <a:pPr lvl="1" rtl="0"/>
            <a:r>
              <a:rPr lang="pt-BR" sz="1800"/>
              <a:t>Haverá um destino </a:t>
            </a:r>
            <a:r>
              <a:rPr lang="pt-BR" sz="1800" b="1"/>
              <a:t>(Receptor)</a:t>
            </a:r>
            <a:r>
              <a:rPr lang="pt-BR" sz="1800"/>
              <a:t>.</a:t>
            </a:r>
            <a:endParaRPr lang="pt-BR" sz="1800"/>
          </a:p>
          <a:p>
            <a:pPr lvl="1" rtl="0"/>
            <a:r>
              <a:rPr lang="pt-BR" sz="1800"/>
              <a:t>Haverá um canal </a:t>
            </a:r>
            <a:r>
              <a:rPr lang="pt-BR" sz="1800" b="1"/>
              <a:t>(Mídia)</a:t>
            </a:r>
            <a:r>
              <a:rPr lang="pt-BR" sz="1800"/>
              <a:t> que prevê o caminho das comunicações para ocorrer.</a:t>
            </a:r>
            <a:endParaRPr lang="en-US" dirty="0">
              <a:effectLst/>
            </a:endParaRPr>
          </a:p>
        </p:txBody>
      </p:sp>
      <p:pic>
        <p:nvPicPr>
          <p:cNvPr id="2" name="Imagem 1"/>
          <p:cNvPicPr>
            <a:picLocks noChangeAspect="1"/>
          </p:cNvPicPr>
          <p:nvPr/>
        </p:nvPicPr>
        <p:blipFill>
          <a:blip r:embed="rId1">
            <a:clrChange>
              <a:clrFrom>
                <a:srgbClr val="FFFFFF">
                  <a:alpha val="100000"/>
                </a:srgbClr>
              </a:clrFrom>
              <a:clrTo>
                <a:srgbClr val="FFFFFF">
                  <a:alpha val="100000"/>
                  <a:alpha val="0"/>
                </a:srgbClr>
              </a:clrTo>
            </a:clrChange>
          </a:blip>
          <a:srcRect l="4204" t="1767" r="1562" b="2731"/>
          <a:stretch>
            <a:fillRect/>
          </a:stretch>
        </p:blipFill>
        <p:spPr>
          <a:xfrm>
            <a:off x="3888740" y="744220"/>
            <a:ext cx="5098415" cy="3864610"/>
          </a:xfrm>
          <a:prstGeom prst="rect">
            <a:avLst/>
          </a:prstGeom>
        </p:spPr>
      </p:pic>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a:t>
            </a:r>
            <a:br>
              <a:rPr lang="pt-BR" sz="1600"/>
            </a:br>
            <a:r>
              <a:rPr lang="pt-BR"/>
              <a:t>Protocolos de Comunicações</a:t>
            </a:r>
            <a:endParaRPr lang="pt-BR"/>
          </a:p>
        </p:txBody>
      </p:sp>
      <p:sp>
        <p:nvSpPr>
          <p:cNvPr id="8195" name="Rectangle 6"/>
          <p:cNvSpPr>
            <a:spLocks noGrp="1" noChangeArrowheads="1"/>
          </p:cNvSpPr>
          <p:nvPr>
            <p:ph idx="1"/>
          </p:nvPr>
        </p:nvSpPr>
        <p:spPr>
          <a:xfrm>
            <a:off x="73809" y="741673"/>
            <a:ext cx="8853286" cy="1267235"/>
          </a:xfrm>
        </p:spPr>
        <p:txBody>
          <a:bodyPr/>
          <a:lstStyle/>
          <a:p>
            <a:pPr rtl="0">
              <a:buFont typeface="Arial" panose="020B0604020202020204" pitchFamily="34" charset="0"/>
              <a:buChar char="•"/>
            </a:pPr>
            <a:r>
              <a:rPr lang="pt-BR" sz="2000"/>
              <a:t>Todas as comunicações são </a:t>
            </a:r>
            <a:r>
              <a:rPr lang="pt-BR" sz="2000" b="1">
                <a:solidFill>
                  <a:srgbClr val="FF0000"/>
                </a:solidFill>
              </a:rPr>
              <a:t>Regidas por Protocolos</a:t>
            </a:r>
            <a:r>
              <a:rPr lang="pt-BR" sz="2000"/>
              <a:t>.</a:t>
            </a:r>
            <a:endParaRPr lang="pt-BR" sz="2000"/>
          </a:p>
          <a:p>
            <a:pPr rtl="0">
              <a:buFont typeface="Arial" panose="020B0604020202020204" pitchFamily="34" charset="0"/>
              <a:buChar char="•"/>
            </a:pPr>
            <a:r>
              <a:rPr lang="pt-BR" sz="2000" b="1">
                <a:solidFill>
                  <a:srgbClr val="FF0000"/>
                </a:solidFill>
              </a:rPr>
              <a:t>Protocolos são as Regras</a:t>
            </a:r>
            <a:r>
              <a:rPr lang="pt-BR" sz="2000"/>
              <a:t> que as comunicações seguirão.</a:t>
            </a:r>
            <a:endParaRPr lang="pt-BR" sz="2000"/>
          </a:p>
          <a:p>
            <a:pPr rtl="0">
              <a:buFont typeface="Arial" panose="020B0604020202020204" pitchFamily="34" charset="0"/>
              <a:buChar char="•"/>
            </a:pPr>
            <a:r>
              <a:rPr lang="pt-BR" sz="2000"/>
              <a:t>Essas regras </a:t>
            </a:r>
            <a:r>
              <a:rPr lang="pt-BR" sz="2000" b="1">
                <a:solidFill>
                  <a:srgbClr val="FF0000"/>
                </a:solidFill>
              </a:rPr>
              <a:t>variam de acordo com o protocolo</a:t>
            </a:r>
            <a:r>
              <a:rPr lang="pt-BR" sz="2000"/>
              <a:t>.</a:t>
            </a:r>
            <a:endParaRPr lang="pt-BR" sz="2000"/>
          </a:p>
        </p:txBody>
      </p:sp>
      <p:pic>
        <p:nvPicPr>
          <p:cNvPr id="2" name="Imagem 1"/>
          <p:cNvPicPr>
            <a:picLocks noChangeAspect="1"/>
          </p:cNvPicPr>
          <p:nvPr/>
        </p:nvPicPr>
        <p:blipFill>
          <a:blip r:embed="rId1">
            <a:clrChange>
              <a:clrFrom>
                <a:srgbClr val="FFFFFF">
                  <a:alpha val="100000"/>
                </a:srgbClr>
              </a:clrFrom>
              <a:clrTo>
                <a:srgbClr val="FFFFFF">
                  <a:alpha val="100000"/>
                  <a:alpha val="0"/>
                </a:srgbClr>
              </a:clrTo>
            </a:clrChange>
          </a:blip>
          <a:srcRect l="48372" t="38574" r="17125" b="23426"/>
          <a:stretch>
            <a:fillRect/>
          </a:stretch>
        </p:blipFill>
        <p:spPr>
          <a:xfrm>
            <a:off x="73660" y="2167255"/>
            <a:ext cx="4542790" cy="2814955"/>
          </a:xfrm>
          <a:prstGeom prst="rect">
            <a:avLst/>
          </a:prstGeom>
        </p:spPr>
      </p:pic>
      <p:pic>
        <p:nvPicPr>
          <p:cNvPr id="3" name="Imagem 2"/>
          <p:cNvPicPr>
            <a:picLocks noChangeAspect="1"/>
          </p:cNvPicPr>
          <p:nvPr/>
        </p:nvPicPr>
        <p:blipFill>
          <a:blip r:embed="rId2"/>
          <a:srcRect l="48372" t="40957" r="17122" b="25117"/>
          <a:stretch>
            <a:fillRect/>
          </a:stretch>
        </p:blipFill>
        <p:spPr>
          <a:xfrm>
            <a:off x="4589145" y="2167255"/>
            <a:ext cx="4465955" cy="2470150"/>
          </a:xfrm>
          <a:prstGeom prst="rect">
            <a:avLst/>
          </a:prstGeom>
        </p:spPr>
      </p:pic>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 </a:t>
            </a:r>
            <a:br>
              <a:rPr lang="pt-BR" sz="1600"/>
            </a:br>
            <a:r>
              <a:rPr lang="pt-BR"/>
              <a:t>Estabelecimento de Regras</a:t>
            </a:r>
            <a:endParaRPr lang="pt-BR"/>
          </a:p>
        </p:txBody>
      </p:sp>
      <p:sp>
        <p:nvSpPr>
          <p:cNvPr id="8195" name="Rectangle 6"/>
          <p:cNvSpPr>
            <a:spLocks noGrp="1" noChangeArrowheads="1"/>
          </p:cNvSpPr>
          <p:nvPr>
            <p:ph idx="1"/>
          </p:nvPr>
        </p:nvSpPr>
        <p:spPr>
          <a:xfrm>
            <a:off x="0" y="798830"/>
            <a:ext cx="9144635" cy="991870"/>
          </a:xfrm>
        </p:spPr>
        <p:txBody>
          <a:bodyPr/>
          <a:lstStyle/>
          <a:p>
            <a:pPr algn="just" rtl="0">
              <a:buFont typeface="Arial" panose="020B0604020202020204" pitchFamily="34" charset="0"/>
              <a:buChar char="•"/>
            </a:pPr>
            <a:r>
              <a:rPr lang="pt-BR" sz="1600"/>
              <a:t>Os indivíduos devem </a:t>
            </a:r>
            <a:r>
              <a:rPr lang="pt-BR" sz="1600" b="1">
                <a:solidFill>
                  <a:srgbClr val="FF0000"/>
                </a:solidFill>
              </a:rPr>
              <a:t>usar regras ou acordos</a:t>
            </a:r>
            <a:r>
              <a:rPr lang="pt-BR" sz="1600"/>
              <a:t> estabelecidos para governar a conversa.</a:t>
            </a:r>
            <a:endParaRPr lang="pt-BR" sz="1600"/>
          </a:p>
          <a:p>
            <a:pPr algn="just" rtl="0">
              <a:buFont typeface="Arial" panose="020B0604020202020204" pitchFamily="34" charset="0"/>
              <a:buChar char="•"/>
            </a:pPr>
            <a:r>
              <a:rPr lang="pt-BR" sz="1600"/>
              <a:t>A </a:t>
            </a:r>
            <a:r>
              <a:rPr lang="pt-BR" sz="1600" b="1">
                <a:solidFill>
                  <a:srgbClr val="FF0000"/>
                </a:solidFill>
              </a:rPr>
              <a:t>primeira mensagem é difícil de ler</a:t>
            </a:r>
            <a:r>
              <a:rPr lang="pt-BR" sz="1600"/>
              <a:t> porque não está formatada corretamente. A segunda mostra a mensagem formatada corretamente</a:t>
            </a:r>
            <a:endParaRPr lang="pt-BR" sz="1600"/>
          </a:p>
        </p:txBody>
      </p:sp>
      <p:graphicFrame>
        <p:nvGraphicFramePr>
          <p:cNvPr id="4" name="Tabela 3"/>
          <p:cNvGraphicFramePr/>
          <p:nvPr/>
        </p:nvGraphicFramePr>
        <p:xfrm>
          <a:off x="107950" y="1790700"/>
          <a:ext cx="8902065" cy="2834640"/>
        </p:xfrm>
        <a:graphic>
          <a:graphicData uri="http://schemas.openxmlformats.org/drawingml/2006/table">
            <a:tbl>
              <a:tblPr firstRow="1" bandRow="1">
                <a:tableStyleId>{5C22544A-7EE6-4342-B048-85BDC9FD1C3A}</a:tableStyleId>
              </a:tblPr>
              <a:tblGrid>
                <a:gridCol w="1859280"/>
                <a:gridCol w="3515360"/>
                <a:gridCol w="3527425"/>
              </a:tblGrid>
              <a:tr h="117475">
                <a:tc>
                  <a:txBody>
                    <a:bodyPr/>
                    <a:p>
                      <a:pPr algn="ctr">
                        <a:buNone/>
                      </a:pPr>
                      <a:r>
                        <a:rPr lang="pt-BR" altLang="en-US"/>
                        <a:t>Regra</a:t>
                      </a:r>
                      <a:endParaRPr lang="pt-BR" altLang="en-US"/>
                    </a:p>
                  </a:txBody>
                  <a:tcPr anchor="ctr" anchorCtr="0"/>
                </a:tc>
                <a:tc>
                  <a:txBody>
                    <a:bodyPr/>
                    <a:p>
                      <a:pPr algn="ctr">
                        <a:buNone/>
                      </a:pPr>
                      <a:r>
                        <a:rPr lang="pt-BR" altLang="en-US"/>
                        <a:t>Inglês</a:t>
                      </a:r>
                      <a:endParaRPr lang="pt-BR" altLang="en-US"/>
                    </a:p>
                  </a:txBody>
                  <a:tcPr anchor="ctr" anchorCtr="0"/>
                </a:tc>
                <a:tc>
                  <a:txBody>
                    <a:bodyPr/>
                    <a:p>
                      <a:pPr algn="ctr">
                        <a:buNone/>
                      </a:pPr>
                      <a:r>
                        <a:rPr lang="pt-BR" altLang="en-US"/>
                        <a:t>Potuguês</a:t>
                      </a:r>
                      <a:endParaRPr lang="pt-BR" altLang="en-US"/>
                    </a:p>
                  </a:txBody>
                  <a:tcPr anchor="ctr" anchorCtr="0"/>
                </a:tc>
              </a:tr>
              <a:tr h="329565">
                <a:tc>
                  <a:txBody>
                    <a:bodyPr/>
                    <a:p>
                      <a:pPr algn="ctr">
                        <a:buNone/>
                      </a:pPr>
                      <a:r>
                        <a:rPr lang="pt-BR" altLang="en-US" sz="2000" b="1">
                          <a:solidFill>
                            <a:srgbClr val="FF0000"/>
                          </a:solidFill>
                        </a:rPr>
                        <a:t>Comunicação</a:t>
                      </a:r>
                      <a:endParaRPr lang="pt-BR" altLang="en-US" sz="2000" b="1">
                        <a:solidFill>
                          <a:srgbClr val="FF0000"/>
                        </a:solidFill>
                      </a:endParaRPr>
                    </a:p>
                  </a:txBody>
                  <a:tcPr anchor="ctr" anchorCtr="0"/>
                </a:tc>
                <a:tc>
                  <a:txBody>
                    <a:bodyPr/>
                    <a:p>
                      <a:pPr algn="ctr">
                        <a:buNone/>
                      </a:pPr>
                      <a:r>
                        <a:rPr lang="pt-BR" altLang="en-US" sz="1100"/>
                        <a:t>Human communication is governed by rules it is very difficult to understand messages that are not properly formatted and that do not follow established rules and protocols the structure of grammar language punctuation and sentence construction makes human communication understandable to many different individuals.</a:t>
                      </a:r>
                      <a:endParaRPr lang="pt-BR" altLang="en-US" sz="1100"/>
                    </a:p>
                  </a:txBody>
                  <a:tcPr anchor="ctr" anchorCtr="0"/>
                </a:tc>
                <a:tc>
                  <a:txBody>
                    <a:bodyPr/>
                    <a:p>
                      <a:pPr algn="ctr">
                        <a:buNone/>
                      </a:pPr>
                      <a:r>
                        <a:rPr lang="pt-BR" altLang="en-US" sz="1100"/>
                        <a:t>A comunicação humana é regida por regras é muito difícil entender mensagens que não estão corretamente formatadas e que não seguem as regras e protocolos estabelecidos a estrutura da gramática da língua da pontuação e das frases torna a comunicação humana compreensível para muitos indivíduos diferentes.</a:t>
                      </a:r>
                      <a:endParaRPr lang="pt-BR" altLang="en-US" sz="1100"/>
                    </a:p>
                  </a:txBody>
                  <a:tcPr anchor="ctr" anchorCtr="0"/>
                </a:tc>
              </a:tr>
              <a:tr h="452120">
                <a:tc>
                  <a:txBody>
                    <a:bodyPr/>
                    <a:p>
                      <a:pPr algn="ctr">
                        <a:buNone/>
                      </a:pPr>
                      <a:r>
                        <a:rPr lang="pt-BR" altLang="en-US" sz="2000" b="1">
                          <a:solidFill>
                            <a:srgbClr val="00B050"/>
                          </a:solidFill>
                        </a:rPr>
                        <a:t>Regras e</a:t>
                      </a:r>
                      <a:endParaRPr lang="pt-BR" altLang="en-US" sz="2000" b="1">
                        <a:solidFill>
                          <a:srgbClr val="00B050"/>
                        </a:solidFill>
                      </a:endParaRPr>
                    </a:p>
                    <a:p>
                      <a:pPr algn="ctr">
                        <a:buNone/>
                      </a:pPr>
                      <a:r>
                        <a:rPr lang="pt-BR" altLang="en-US" sz="2000" b="1">
                          <a:solidFill>
                            <a:srgbClr val="00B050"/>
                          </a:solidFill>
                        </a:rPr>
                        <a:t>Acordos</a:t>
                      </a:r>
                      <a:endParaRPr lang="pt-BR" altLang="en-US" sz="2000" b="1">
                        <a:solidFill>
                          <a:srgbClr val="00B050"/>
                        </a:solidFill>
                      </a:endParaRPr>
                    </a:p>
                  </a:txBody>
                  <a:tcPr anchor="ctr" anchorCtr="0"/>
                </a:tc>
                <a:tc>
                  <a:txBody>
                    <a:bodyPr/>
                    <a:p>
                      <a:pPr algn="ctr">
                        <a:buNone/>
                      </a:pPr>
                      <a:r>
                        <a:rPr lang="pt-BR" altLang="en-US" sz="1100"/>
                        <a:t>Rules govern communication between humans. It is very difficult to understand messages that are not correctly formatted and do not follow established rules and protocols. The structure of grammar, language, punctuation, and sentences makes communication humanly understandable to many different individuals.</a:t>
                      </a:r>
                      <a:endParaRPr lang="pt-BR" altLang="en-US" sz="1100"/>
                    </a:p>
                  </a:txBody>
                  <a:tcPr anchor="ctr" anchorCtr="0"/>
                </a:tc>
                <a:tc>
                  <a:txBody>
                    <a:bodyPr/>
                    <a:p>
                      <a:pPr algn="ctr">
                        <a:buNone/>
                      </a:pPr>
                      <a:r>
                        <a:rPr lang="pt-BR" altLang="en-US" sz="1100"/>
                        <a:t>As regras governam a comunicação entre os seres humanos. É muito difícil entender mensagens que não estão corretamente formatadas e que não seguem as regras e protocolos estabelecidos. A estrutura da gramática, da linguagem, da pontuação e das frases torna a comunicação humana compreensível para muitos indivíduos diferentes.</a:t>
                      </a:r>
                      <a:endParaRPr lang="pt-BR" altLang="en-US" sz="1100"/>
                    </a:p>
                  </a:txBody>
                  <a:tcPr anchor="ctr" anchorCtr="0"/>
                </a:tc>
              </a:tr>
            </a:tbl>
          </a:graphicData>
        </a:graphic>
      </p:graphicFrame>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 </a:t>
            </a:r>
            <a:br>
              <a:rPr lang="en-US" altLang="en-US" dirty="0"/>
            </a:br>
            <a:r>
              <a:rPr lang="pt-BR"/>
              <a:t>Estabelecimento de Regras (Continuação)</a:t>
            </a:r>
            <a:endParaRPr lang="pt-BR"/>
          </a:p>
        </p:txBody>
      </p:sp>
      <p:sp>
        <p:nvSpPr>
          <p:cNvPr id="8195" name="Rectangle 6"/>
          <p:cNvSpPr>
            <a:spLocks noGrp="1" noChangeArrowheads="1"/>
          </p:cNvSpPr>
          <p:nvPr>
            <p:ph idx="1"/>
          </p:nvPr>
        </p:nvSpPr>
        <p:spPr>
          <a:xfrm>
            <a:off x="100965" y="858520"/>
            <a:ext cx="4081780" cy="3821430"/>
          </a:xfrm>
        </p:spPr>
        <p:txBody>
          <a:bodyPr/>
          <a:lstStyle/>
          <a:p>
            <a:pPr marL="0" indent="0" algn="just" rtl="0">
              <a:buNone/>
            </a:pPr>
            <a:r>
              <a:rPr lang="pt-BR" sz="2100"/>
              <a:t>Os </a:t>
            </a:r>
            <a:r>
              <a:rPr lang="pt-BR" sz="2100" b="1">
                <a:solidFill>
                  <a:srgbClr val="FF0000"/>
                </a:solidFill>
              </a:rPr>
              <a:t>Protocolos</a:t>
            </a:r>
            <a:r>
              <a:rPr lang="pt-BR" sz="2100"/>
              <a:t> devem ser considerados para os seguintes requisitos:</a:t>
            </a:r>
            <a:endParaRPr lang="pt-BR" sz="2100"/>
          </a:p>
          <a:p>
            <a:pPr lvl="1" algn="just" rtl="0"/>
            <a:r>
              <a:rPr lang="pt-BR" sz="2100"/>
              <a:t>Um </a:t>
            </a:r>
            <a:r>
              <a:rPr lang="pt-BR" sz="2100" b="1"/>
              <a:t>Emissor</a:t>
            </a:r>
            <a:r>
              <a:rPr lang="pt-BR" sz="2100"/>
              <a:t> e um </a:t>
            </a:r>
            <a:r>
              <a:rPr lang="pt-BR" sz="2100" b="1"/>
              <a:t>Receptor </a:t>
            </a:r>
            <a:r>
              <a:rPr lang="pt-BR" sz="2100"/>
              <a:t>identificados</a:t>
            </a:r>
            <a:endParaRPr lang="pt-BR" sz="2100"/>
          </a:p>
          <a:p>
            <a:pPr lvl="1" algn="just" rtl="0"/>
            <a:r>
              <a:rPr lang="pt-BR" sz="2100"/>
              <a:t>Língua e gramática </a:t>
            </a:r>
            <a:r>
              <a:rPr lang="pt-BR" sz="2100" b="1"/>
              <a:t>Comum</a:t>
            </a:r>
            <a:endParaRPr lang="pt-BR" sz="2100"/>
          </a:p>
          <a:p>
            <a:pPr lvl="1" algn="just" rtl="0"/>
            <a:r>
              <a:rPr lang="pt-BR" sz="2100" b="1"/>
              <a:t>Velocidade </a:t>
            </a:r>
            <a:r>
              <a:rPr lang="pt-BR" sz="2100"/>
              <a:t>e </a:t>
            </a:r>
            <a:r>
              <a:rPr lang="pt-BR" sz="2100" b="1"/>
              <a:t>Ritmo </a:t>
            </a:r>
            <a:r>
              <a:rPr lang="pt-BR" sz="2100"/>
              <a:t>de transmissão</a:t>
            </a:r>
            <a:endParaRPr lang="pt-BR" sz="2100"/>
          </a:p>
          <a:p>
            <a:pPr lvl="1" algn="just" rtl="0"/>
            <a:r>
              <a:rPr lang="pt-BR" sz="2100"/>
              <a:t>Requisitos de </a:t>
            </a:r>
            <a:r>
              <a:rPr lang="pt-BR" sz="2100" b="1"/>
              <a:t>Confirmação </a:t>
            </a:r>
            <a:r>
              <a:rPr lang="pt-BR" sz="2100"/>
              <a:t>ou </a:t>
            </a:r>
            <a:r>
              <a:rPr lang="pt-BR" sz="2100" b="1"/>
              <a:t>Recepção</a:t>
            </a:r>
            <a:endParaRPr lang="en-US" sz="2100" dirty="0"/>
          </a:p>
        </p:txBody>
      </p:sp>
      <p:pic>
        <p:nvPicPr>
          <p:cNvPr id="2" name="Imagem 1"/>
          <p:cNvPicPr>
            <a:picLocks noChangeAspect="1"/>
          </p:cNvPicPr>
          <p:nvPr/>
        </p:nvPicPr>
        <p:blipFill>
          <a:blip r:embed="rId1">
            <a:clrChange>
              <a:clrFrom>
                <a:srgbClr val="FFFFFF">
                  <a:alpha val="100000"/>
                </a:srgbClr>
              </a:clrFrom>
              <a:clrTo>
                <a:srgbClr val="FFFFFF">
                  <a:alpha val="100000"/>
                  <a:alpha val="0"/>
                </a:srgbClr>
              </a:clrTo>
            </a:clrChange>
          </a:blip>
          <a:srcRect l="4865" t="3866" r="4730" b="4042"/>
          <a:stretch>
            <a:fillRect/>
          </a:stretch>
        </p:blipFill>
        <p:spPr>
          <a:xfrm>
            <a:off x="4116070" y="798830"/>
            <a:ext cx="4918710" cy="3852545"/>
          </a:xfrm>
          <a:prstGeom prst="rect">
            <a:avLst/>
          </a:prstGeom>
        </p:spPr>
      </p:pic>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a:t>
            </a:r>
            <a:br>
              <a:rPr lang="pt-BR" sz="1600"/>
            </a:br>
            <a:r>
              <a:rPr lang="pt-BR"/>
              <a:t>Requisitos dos Protocolo de Rede</a:t>
            </a:r>
            <a:endParaRPr lang="pt-BR" sz="1600"/>
          </a:p>
        </p:txBody>
      </p:sp>
      <p:sp>
        <p:nvSpPr>
          <p:cNvPr id="8195" name="Rectangle 6"/>
          <p:cNvSpPr>
            <a:spLocks noGrp="1" noChangeArrowheads="1"/>
          </p:cNvSpPr>
          <p:nvPr>
            <p:ph idx="1"/>
          </p:nvPr>
        </p:nvSpPr>
        <p:spPr>
          <a:xfrm>
            <a:off x="93980" y="798830"/>
            <a:ext cx="4410075" cy="3716020"/>
          </a:xfrm>
        </p:spPr>
        <p:txBody>
          <a:bodyPr/>
          <a:lstStyle/>
          <a:p>
            <a:pPr marL="0" indent="0" algn="just" rtl="0">
              <a:buNone/>
            </a:pPr>
            <a:r>
              <a:rPr lang="pt-BR" sz="2100" b="1">
                <a:solidFill>
                  <a:srgbClr val="FF0000"/>
                </a:solidFill>
              </a:rPr>
              <a:t>Protocolos de Computador Comuns</a:t>
            </a:r>
            <a:r>
              <a:rPr lang="pt-BR" sz="2100"/>
              <a:t> devem estar de acordo e incluir os seguintes requisitos: </a:t>
            </a:r>
            <a:endParaRPr lang="pt-BR" sz="2100"/>
          </a:p>
          <a:p>
            <a:pPr lvl="1" algn="just" rtl="0"/>
            <a:r>
              <a:rPr lang="pt-BR" sz="2000" b="1">
                <a:solidFill>
                  <a:srgbClr val="0070C0"/>
                </a:solidFill>
              </a:rPr>
              <a:t>Codificação </a:t>
            </a:r>
            <a:r>
              <a:rPr lang="pt-BR" sz="2000" b="1"/>
              <a:t>de mensagens</a:t>
            </a:r>
            <a:endParaRPr lang="pt-BR" sz="2000" b="1"/>
          </a:p>
          <a:p>
            <a:pPr lvl="1" algn="just" rtl="0"/>
            <a:r>
              <a:rPr lang="pt-BR" sz="2000" b="1">
                <a:solidFill>
                  <a:srgbClr val="0070C0"/>
                </a:solidFill>
              </a:rPr>
              <a:t>Formatação </a:t>
            </a:r>
            <a:r>
              <a:rPr lang="pt-BR" sz="2000" b="1"/>
              <a:t>e </a:t>
            </a:r>
            <a:r>
              <a:rPr lang="pt-BR" sz="2000" b="1">
                <a:solidFill>
                  <a:srgbClr val="0070C0"/>
                </a:solidFill>
              </a:rPr>
              <a:t>Encapsulamento </a:t>
            </a:r>
            <a:r>
              <a:rPr lang="pt-BR" sz="2000" b="1"/>
              <a:t>de mensagens</a:t>
            </a:r>
            <a:endParaRPr lang="pt-BR" sz="2000" b="1"/>
          </a:p>
          <a:p>
            <a:pPr lvl="1" algn="just" rtl="0"/>
            <a:r>
              <a:rPr lang="pt-BR" sz="2000" b="1">
                <a:solidFill>
                  <a:srgbClr val="0070C0"/>
                </a:solidFill>
              </a:rPr>
              <a:t>Tamanho </a:t>
            </a:r>
            <a:r>
              <a:rPr lang="pt-BR" sz="2000" b="1"/>
              <a:t>da Mensagem</a:t>
            </a:r>
            <a:endParaRPr lang="pt-BR" sz="2000" b="1"/>
          </a:p>
          <a:p>
            <a:pPr lvl="1" algn="just" rtl="0"/>
            <a:r>
              <a:rPr lang="pt-BR" sz="2000" b="1">
                <a:solidFill>
                  <a:srgbClr val="0070C0"/>
                </a:solidFill>
              </a:rPr>
              <a:t>Tempo </a:t>
            </a:r>
            <a:r>
              <a:rPr lang="pt-BR" sz="2000" b="1"/>
              <a:t>da mensagem</a:t>
            </a:r>
            <a:endParaRPr lang="pt-BR" sz="2000" b="1"/>
          </a:p>
          <a:p>
            <a:pPr lvl="1" algn="just" rtl="0"/>
            <a:r>
              <a:rPr lang="pt-BR" sz="2000" b="1"/>
              <a:t>Opções de </a:t>
            </a:r>
            <a:r>
              <a:rPr lang="pt-BR" sz="2000" b="1">
                <a:solidFill>
                  <a:srgbClr val="0070C0"/>
                </a:solidFill>
              </a:rPr>
              <a:t>Envio </a:t>
            </a:r>
            <a:r>
              <a:rPr lang="pt-BR" sz="2000" b="1"/>
              <a:t>de mensagem</a:t>
            </a:r>
            <a:endParaRPr lang="en-US" sz="2000" b="1" dirty="0"/>
          </a:p>
        </p:txBody>
      </p:sp>
      <p:pic>
        <p:nvPicPr>
          <p:cNvPr id="2" name="Imagem 1"/>
          <p:cNvPicPr>
            <a:picLocks noChangeAspect="1"/>
          </p:cNvPicPr>
          <p:nvPr/>
        </p:nvPicPr>
        <p:blipFill>
          <a:blip r:embed="rId1">
            <a:clrChange>
              <a:clrFrom>
                <a:srgbClr val="F9F9F9">
                  <a:alpha val="100000"/>
                </a:srgbClr>
              </a:clrFrom>
              <a:clrTo>
                <a:srgbClr val="F9F9F9">
                  <a:alpha val="100000"/>
                  <a:alpha val="0"/>
                </a:srgbClr>
              </a:clrTo>
            </a:clrChange>
          </a:blip>
          <a:srcRect l="26042" t="10556" r="26042" b="10185"/>
          <a:stretch>
            <a:fillRect/>
          </a:stretch>
        </p:blipFill>
        <p:spPr>
          <a:xfrm>
            <a:off x="4504055" y="635000"/>
            <a:ext cx="4488815" cy="4030980"/>
          </a:xfrm>
          <a:prstGeom prst="rect">
            <a:avLst/>
          </a:prstGeom>
        </p:spPr>
      </p:pic>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 </a:t>
            </a:r>
            <a:br>
              <a:rPr lang="pt-BR"/>
            </a:br>
            <a:r>
              <a:rPr lang="pt-BR"/>
              <a:t>Codificação da Mensagem</a:t>
            </a:r>
            <a:endParaRPr lang="pt-BR"/>
          </a:p>
        </p:txBody>
      </p:sp>
      <p:sp>
        <p:nvSpPr>
          <p:cNvPr id="8195" name="Rectangle 6"/>
          <p:cNvSpPr>
            <a:spLocks noGrp="1" noChangeArrowheads="1"/>
          </p:cNvSpPr>
          <p:nvPr>
            <p:ph idx="1"/>
          </p:nvPr>
        </p:nvSpPr>
        <p:spPr>
          <a:xfrm>
            <a:off x="83820" y="798830"/>
            <a:ext cx="8853170" cy="1439545"/>
          </a:xfrm>
        </p:spPr>
        <p:txBody>
          <a:bodyPr/>
          <a:lstStyle/>
          <a:p>
            <a:pPr algn="just" rtl="0">
              <a:buFont typeface="Arial" panose="020B0604020202020204" pitchFamily="34" charset="0"/>
              <a:buChar char="•"/>
            </a:pPr>
            <a:r>
              <a:rPr lang="pt-BR" sz="2000"/>
              <a:t>A </a:t>
            </a:r>
            <a:r>
              <a:rPr lang="pt-BR" sz="2000" b="1">
                <a:solidFill>
                  <a:srgbClr val="FF0000"/>
                </a:solidFill>
              </a:rPr>
              <a:t>Codificação</a:t>
            </a:r>
            <a:r>
              <a:rPr lang="pt-BR" sz="2000"/>
              <a:t> é o processo de </a:t>
            </a:r>
            <a:r>
              <a:rPr lang="pt-BR" sz="2000" b="1"/>
              <a:t>Conversão de Informações</a:t>
            </a:r>
            <a:r>
              <a:rPr lang="pt-BR" sz="2000"/>
              <a:t> em outra forma </a:t>
            </a:r>
            <a:r>
              <a:rPr lang="pt-BR" sz="2000" b="1">
                <a:solidFill>
                  <a:srgbClr val="FF0000"/>
                </a:solidFill>
              </a:rPr>
              <a:t>aceitável</a:t>
            </a:r>
            <a:r>
              <a:rPr lang="pt-BR" sz="2000"/>
              <a:t> para a transmissão. </a:t>
            </a:r>
            <a:endParaRPr lang="pt-BR" sz="2000"/>
          </a:p>
          <a:p>
            <a:pPr algn="just" rtl="0">
              <a:buFont typeface="Arial" panose="020B0604020202020204" pitchFamily="34" charset="0"/>
              <a:buChar char="•"/>
            </a:pPr>
            <a:r>
              <a:rPr lang="pt-BR" sz="2000"/>
              <a:t>A </a:t>
            </a:r>
            <a:r>
              <a:rPr lang="pt-BR" sz="2000" b="1">
                <a:solidFill>
                  <a:srgbClr val="FF0000"/>
                </a:solidFill>
              </a:rPr>
              <a:t>Decodificação</a:t>
            </a:r>
            <a:r>
              <a:rPr lang="pt-BR" sz="2000"/>
              <a:t> reverte esse processo para</a:t>
            </a:r>
            <a:r>
              <a:rPr lang="pt-BR" sz="2000" b="1"/>
              <a:t> interpretar</a:t>
            </a:r>
            <a:r>
              <a:rPr lang="pt-BR" sz="2000"/>
              <a:t> como as informações foram </a:t>
            </a:r>
            <a:r>
              <a:rPr lang="pt-BR" sz="2000" b="1"/>
              <a:t>transmitidas</a:t>
            </a:r>
            <a:r>
              <a:rPr lang="pt-BR" sz="2000"/>
              <a:t>. </a:t>
            </a:r>
            <a:endParaRPr lang="pt-BR" sz="2000"/>
          </a:p>
        </p:txBody>
      </p:sp>
      <p:pic>
        <p:nvPicPr>
          <p:cNvPr id="2" name="Imagem 1"/>
          <p:cNvPicPr>
            <a:picLocks noChangeAspect="1"/>
          </p:cNvPicPr>
          <p:nvPr/>
        </p:nvPicPr>
        <p:blipFill>
          <a:blip r:embed="rId1">
            <a:clrChange>
              <a:clrFrom>
                <a:srgbClr val="FFFFFF">
                  <a:alpha val="100000"/>
                </a:srgbClr>
              </a:clrFrom>
              <a:clrTo>
                <a:srgbClr val="FFFFFF">
                  <a:alpha val="100000"/>
                  <a:alpha val="0"/>
                </a:srgbClr>
              </a:clrTo>
            </a:clrChange>
          </a:blip>
          <a:srcRect l="51135" t="51340" r="22965" b="17815"/>
          <a:stretch>
            <a:fillRect/>
          </a:stretch>
        </p:blipFill>
        <p:spPr>
          <a:xfrm>
            <a:off x="344170" y="2238375"/>
            <a:ext cx="3986530" cy="2670810"/>
          </a:xfrm>
          <a:prstGeom prst="rect">
            <a:avLst/>
          </a:prstGeom>
        </p:spPr>
      </p:pic>
      <p:pic>
        <p:nvPicPr>
          <p:cNvPr id="3" name="Imagem 2"/>
          <p:cNvPicPr>
            <a:picLocks noChangeAspect="1"/>
          </p:cNvPicPr>
          <p:nvPr/>
        </p:nvPicPr>
        <p:blipFill>
          <a:blip r:embed="rId2">
            <a:clrChange>
              <a:clrFrom>
                <a:srgbClr val="FFFFFF">
                  <a:alpha val="100000"/>
                </a:srgbClr>
              </a:clrFrom>
              <a:clrTo>
                <a:srgbClr val="FFFFFF">
                  <a:alpha val="100000"/>
                  <a:alpha val="0"/>
                </a:srgbClr>
              </a:clrTo>
            </a:clrChange>
          </a:blip>
          <a:srcRect l="51608" t="49938" r="22410" b="24827"/>
          <a:stretch>
            <a:fillRect/>
          </a:stretch>
        </p:blipFill>
        <p:spPr>
          <a:xfrm>
            <a:off x="4415155" y="2238375"/>
            <a:ext cx="4521835" cy="2470150"/>
          </a:xfrm>
          <a:prstGeom prst="rect">
            <a:avLst/>
          </a:prstGeom>
        </p:spPr>
      </p:pic>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 </a:t>
            </a:r>
            <a:br>
              <a:rPr lang="pt-BR"/>
            </a:br>
            <a:r>
              <a:rPr lang="pt-BR"/>
              <a:t>Formatação e Encapsulamento da Mensagem</a:t>
            </a:r>
            <a:endParaRPr lang="pt-BR"/>
          </a:p>
        </p:txBody>
      </p:sp>
      <p:sp>
        <p:nvSpPr>
          <p:cNvPr id="8195" name="Rectangle 6"/>
          <p:cNvSpPr>
            <a:spLocks noGrp="1" noChangeArrowheads="1"/>
          </p:cNvSpPr>
          <p:nvPr>
            <p:ph idx="1"/>
          </p:nvPr>
        </p:nvSpPr>
        <p:spPr>
          <a:xfrm>
            <a:off x="63500" y="798830"/>
            <a:ext cx="9022080" cy="1065530"/>
          </a:xfrm>
        </p:spPr>
        <p:txBody>
          <a:bodyPr/>
          <a:lstStyle/>
          <a:p>
            <a:pPr algn="just" rtl="0">
              <a:buFont typeface="Arial" panose="020B0604020202020204" pitchFamily="34" charset="0"/>
              <a:buChar char="•"/>
            </a:pPr>
            <a:r>
              <a:rPr lang="pt-BR" sz="1800"/>
              <a:t>Quando uma </a:t>
            </a:r>
            <a:r>
              <a:rPr lang="pt-BR" sz="1800" b="1">
                <a:solidFill>
                  <a:srgbClr val="FF0000"/>
                </a:solidFill>
              </a:rPr>
              <a:t>Mensagem é Enviada</a:t>
            </a:r>
            <a:r>
              <a:rPr lang="pt-BR" sz="1800"/>
              <a:t>, ela deve usar um </a:t>
            </a:r>
            <a:r>
              <a:rPr lang="pt-BR" sz="1800" b="1"/>
              <a:t>formato ou estrutura</a:t>
            </a:r>
            <a:r>
              <a:rPr lang="pt-BR" sz="1800"/>
              <a:t> específica. </a:t>
            </a:r>
            <a:endParaRPr lang="pt-BR" sz="1800"/>
          </a:p>
          <a:p>
            <a:pPr algn="just" rtl="0">
              <a:buFont typeface="Arial" panose="020B0604020202020204" pitchFamily="34" charset="0"/>
              <a:buChar char="•"/>
            </a:pPr>
            <a:r>
              <a:rPr lang="pt-BR" sz="1800"/>
              <a:t>Os </a:t>
            </a:r>
            <a:r>
              <a:rPr lang="pt-BR" sz="1800" b="1">
                <a:solidFill>
                  <a:srgbClr val="FF0000"/>
                </a:solidFill>
              </a:rPr>
              <a:t>Formatos da Mensagem</a:t>
            </a:r>
            <a:r>
              <a:rPr lang="pt-BR" sz="1800"/>
              <a:t> dependem do </a:t>
            </a:r>
            <a:r>
              <a:rPr lang="pt-BR" sz="1800" b="1"/>
              <a:t>tipo de mensagem</a:t>
            </a:r>
            <a:r>
              <a:rPr lang="pt-BR" sz="1800"/>
              <a:t> e do </a:t>
            </a:r>
            <a:r>
              <a:rPr lang="pt-BR" sz="1800" b="1"/>
              <a:t>canal</a:t>
            </a:r>
            <a:r>
              <a:rPr lang="pt-BR" sz="1800"/>
              <a:t> usado para entregá-la. </a:t>
            </a:r>
            <a:endParaRPr lang="pt-BR" sz="1800"/>
          </a:p>
        </p:txBody>
      </p:sp>
      <p:pic>
        <p:nvPicPr>
          <p:cNvPr id="2" name="Imagem 1"/>
          <p:cNvPicPr>
            <a:picLocks noChangeAspect="1"/>
          </p:cNvPicPr>
          <p:nvPr/>
        </p:nvPicPr>
        <p:blipFill>
          <a:blip r:embed="rId1">
            <a:clrChange>
              <a:clrFrom>
                <a:srgbClr val="FBFBFB">
                  <a:alpha val="100000"/>
                </a:srgbClr>
              </a:clrFrom>
              <a:clrTo>
                <a:srgbClr val="FBFBFB">
                  <a:alpha val="100000"/>
                  <a:alpha val="0"/>
                </a:srgbClr>
              </a:clrTo>
            </a:clrChange>
          </a:blip>
          <a:srcRect l="54844" t="44747" r="25882" b="16975"/>
          <a:stretch>
            <a:fillRect/>
          </a:stretch>
        </p:blipFill>
        <p:spPr>
          <a:xfrm>
            <a:off x="1978025" y="1860550"/>
            <a:ext cx="2506980" cy="2801620"/>
          </a:xfrm>
          <a:prstGeom prst="rect">
            <a:avLst/>
          </a:prstGeom>
        </p:spPr>
      </p:pic>
      <p:pic>
        <p:nvPicPr>
          <p:cNvPr id="3" name="Imagem 2"/>
          <p:cNvPicPr>
            <a:picLocks noChangeAspect="1"/>
          </p:cNvPicPr>
          <p:nvPr/>
        </p:nvPicPr>
        <p:blipFill>
          <a:blip r:embed="rId2">
            <a:clrChange>
              <a:clrFrom>
                <a:srgbClr val="FFFFFF">
                  <a:alpha val="100000"/>
                </a:srgbClr>
              </a:clrFrom>
              <a:clrTo>
                <a:srgbClr val="FFFFFF">
                  <a:alpha val="100000"/>
                  <a:alpha val="0"/>
                </a:srgbClr>
              </a:clrTo>
            </a:clrChange>
          </a:blip>
          <a:srcRect l="51764" t="51617" r="22413" b="18377"/>
          <a:stretch>
            <a:fillRect/>
          </a:stretch>
        </p:blipFill>
        <p:spPr>
          <a:xfrm>
            <a:off x="4758690" y="1833880"/>
            <a:ext cx="4326890" cy="2828290"/>
          </a:xfrm>
          <a:prstGeom prst="rect">
            <a:avLst/>
          </a:prstGeom>
        </p:spPr>
      </p:pic>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 </a:t>
            </a:r>
            <a:br>
              <a:rPr lang="pt-BR"/>
            </a:br>
            <a:r>
              <a:rPr lang="pt-BR"/>
              <a:t>Tamanho da Mensagem</a:t>
            </a:r>
            <a:endParaRPr lang="pt-BR"/>
          </a:p>
        </p:txBody>
      </p:sp>
      <p:sp>
        <p:nvSpPr>
          <p:cNvPr id="8195" name="Rectangle 6"/>
          <p:cNvSpPr>
            <a:spLocks noGrp="1" noChangeArrowheads="1"/>
          </p:cNvSpPr>
          <p:nvPr>
            <p:ph idx="1"/>
          </p:nvPr>
        </p:nvSpPr>
        <p:spPr>
          <a:xfrm>
            <a:off x="63500" y="798830"/>
            <a:ext cx="9008110" cy="1297305"/>
          </a:xfrm>
        </p:spPr>
        <p:txBody>
          <a:bodyPr/>
          <a:lstStyle/>
          <a:p>
            <a:pPr marL="0" indent="0" algn="just" rtl="0">
              <a:buNone/>
            </a:pPr>
            <a:r>
              <a:rPr lang="pt-BR" sz="1600"/>
              <a:t>A </a:t>
            </a:r>
            <a:r>
              <a:rPr lang="pt-BR" sz="1600" b="1">
                <a:solidFill>
                  <a:srgbClr val="FF0000"/>
                </a:solidFill>
              </a:rPr>
              <a:t>Codificação entre Hosts</a:t>
            </a:r>
            <a:r>
              <a:rPr lang="pt-BR" sz="1600"/>
              <a:t> deve estar em um </a:t>
            </a:r>
            <a:r>
              <a:rPr lang="pt-BR" sz="1600" b="1"/>
              <a:t>f</a:t>
            </a:r>
            <a:r>
              <a:rPr lang="pt-BR" sz="1600" b="1"/>
              <a:t>ormato adequado</a:t>
            </a:r>
            <a:r>
              <a:rPr lang="pt-BR" sz="1600"/>
              <a:t> para o meio físico.</a:t>
            </a:r>
            <a:endParaRPr lang="pt-BR" sz="1600"/>
          </a:p>
          <a:p>
            <a:pPr lvl="1" algn="just" rtl="0"/>
            <a:r>
              <a:rPr lang="pt-BR" sz="1600"/>
              <a:t>As </a:t>
            </a:r>
            <a:r>
              <a:rPr lang="pt-BR" sz="1600" b="1"/>
              <a:t>mensagens enviadas</a:t>
            </a:r>
            <a:r>
              <a:rPr lang="pt-BR" sz="1600"/>
              <a:t> pela rede são </a:t>
            </a:r>
            <a:r>
              <a:rPr lang="pt-BR" sz="1600" b="1">
                <a:solidFill>
                  <a:srgbClr val="FF0000"/>
                </a:solidFill>
              </a:rPr>
              <a:t>convertidas em bits</a:t>
            </a:r>
            <a:endParaRPr lang="pt-BR" sz="1600"/>
          </a:p>
          <a:p>
            <a:pPr lvl="1" algn="just" rtl="0"/>
            <a:r>
              <a:rPr lang="pt-BR" sz="1600"/>
              <a:t>Os </a:t>
            </a:r>
            <a:r>
              <a:rPr lang="pt-BR" sz="1600" b="1">
                <a:solidFill>
                  <a:srgbClr val="FF0000"/>
                </a:solidFill>
              </a:rPr>
              <a:t>bits são codificados</a:t>
            </a:r>
            <a:r>
              <a:rPr lang="pt-BR" sz="1600"/>
              <a:t> em um padrão de </a:t>
            </a:r>
            <a:r>
              <a:rPr lang="pt-BR" sz="1600" b="1"/>
              <a:t>luz, som ou impulsos elétricos</a:t>
            </a:r>
            <a:r>
              <a:rPr lang="pt-BR" sz="1600"/>
              <a:t>.</a:t>
            </a:r>
            <a:endParaRPr lang="pt-BR" sz="1600"/>
          </a:p>
          <a:p>
            <a:pPr lvl="1" algn="just" rtl="0"/>
            <a:r>
              <a:rPr lang="pt-BR" sz="1600"/>
              <a:t>O </a:t>
            </a:r>
            <a:r>
              <a:rPr lang="pt-BR" sz="1600" b="1"/>
              <a:t>host de destino</a:t>
            </a:r>
            <a:r>
              <a:rPr lang="pt-BR" sz="1600"/>
              <a:t> deve </a:t>
            </a:r>
            <a:r>
              <a:rPr lang="pt-BR" sz="1600" b="1">
                <a:solidFill>
                  <a:srgbClr val="FF0000"/>
                </a:solidFill>
              </a:rPr>
              <a:t>decodificar os sinais</a:t>
            </a:r>
            <a:r>
              <a:rPr lang="pt-BR" sz="1600"/>
              <a:t> para </a:t>
            </a:r>
            <a:r>
              <a:rPr lang="pt-BR" sz="1600" b="1"/>
              <a:t>interpretar a mensagem</a:t>
            </a:r>
            <a:r>
              <a:rPr lang="pt-BR" sz="1600"/>
              <a:t>.</a:t>
            </a:r>
            <a:endParaRPr lang="pt-BR" sz="1600"/>
          </a:p>
        </p:txBody>
      </p:sp>
      <p:pic>
        <p:nvPicPr>
          <p:cNvPr id="6146" name="Picture 2"/>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4392930" y="2456815"/>
            <a:ext cx="3076575" cy="1925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2">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6219190" y="2450465"/>
            <a:ext cx="2979420" cy="1925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Imagem 1"/>
          <p:cNvPicPr>
            <a:picLocks noChangeAspect="1"/>
          </p:cNvPicPr>
          <p:nvPr/>
        </p:nvPicPr>
        <p:blipFill>
          <a:blip r:embed="rId3">
            <a:clrChange>
              <a:clrFrom>
                <a:srgbClr val="FFFFFF">
                  <a:alpha val="100000"/>
                </a:srgbClr>
              </a:clrFrom>
              <a:clrTo>
                <a:srgbClr val="FFFFFF">
                  <a:alpha val="100000"/>
                  <a:alpha val="0"/>
                </a:srgbClr>
              </a:clrTo>
            </a:clrChange>
          </a:blip>
          <a:srcRect l="56389" t="42840" r="22569" b="27531"/>
          <a:stretch>
            <a:fillRect/>
          </a:stretch>
        </p:blipFill>
        <p:spPr>
          <a:xfrm>
            <a:off x="827405" y="2096135"/>
            <a:ext cx="3667125" cy="2905125"/>
          </a:xfrm>
          <a:prstGeom prst="rect">
            <a:avLst/>
          </a:prstGeom>
        </p:spPr>
      </p:pic>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 </a:t>
            </a:r>
            <a:br>
              <a:rPr lang="en-US" altLang="en-US" dirty="0"/>
            </a:br>
            <a:r>
              <a:rPr lang="pt-BR"/>
              <a:t>Temporização de Mensagem</a:t>
            </a:r>
            <a:endParaRPr lang="pt-BR"/>
          </a:p>
        </p:txBody>
      </p:sp>
      <p:sp>
        <p:nvSpPr>
          <p:cNvPr id="8195" name="Rectangle 6"/>
          <p:cNvSpPr>
            <a:spLocks noGrp="1" noChangeArrowheads="1"/>
          </p:cNvSpPr>
          <p:nvPr>
            <p:ph idx="1"/>
          </p:nvPr>
        </p:nvSpPr>
        <p:spPr>
          <a:xfrm>
            <a:off x="90805" y="760730"/>
            <a:ext cx="4961890" cy="3953510"/>
          </a:xfrm>
        </p:spPr>
        <p:txBody>
          <a:bodyPr/>
          <a:lstStyle/>
          <a:p>
            <a:pPr marL="0" indent="0" algn="just" rtl="0">
              <a:buNone/>
            </a:pPr>
            <a:r>
              <a:rPr lang="pt-BR" sz="1350"/>
              <a:t>A temporização da mensagem inclui o seguinte: </a:t>
            </a:r>
            <a:endParaRPr lang="pt-BR" sz="1350"/>
          </a:p>
          <a:p>
            <a:pPr marL="342900" lvl="1" indent="-342900" algn="just" rtl="0">
              <a:buAutoNum type="arabicPeriod"/>
            </a:pPr>
            <a:r>
              <a:rPr lang="pt-BR" sz="1350" b="1">
                <a:solidFill>
                  <a:srgbClr val="FF0000"/>
                </a:solidFill>
              </a:rPr>
              <a:t>Controle de Fluxo</a:t>
            </a:r>
            <a:r>
              <a:rPr lang="pt-BR" sz="1350" b="1"/>
              <a:t> - </a:t>
            </a:r>
            <a:r>
              <a:rPr lang="pt-BR" sz="1350"/>
              <a:t>gerencia a taxa de transmissão de dados e define quanta informação pode ser enviada e a velocidade na qual ela pode ser entregue.</a:t>
            </a:r>
            <a:endParaRPr lang="pt-BR" sz="1350"/>
          </a:p>
          <a:p>
            <a:pPr marL="342900" lvl="1" indent="-342900" algn="just" rtl="0">
              <a:buAutoNum type="arabicPeriod"/>
            </a:pPr>
            <a:r>
              <a:rPr lang="pt-BR" sz="1350" b="1">
                <a:solidFill>
                  <a:srgbClr val="FF0000"/>
                </a:solidFill>
              </a:rPr>
              <a:t>Tempo Limite de Resposta</a:t>
            </a:r>
            <a:r>
              <a:rPr lang="pt-BR" sz="1350" b="1"/>
              <a:t> —</a:t>
            </a:r>
            <a:r>
              <a:rPr lang="pt-BR" sz="1350"/>
              <a:t> gerencia o tempo que um dispositivo espera quando não ouve uma resposta do destino. </a:t>
            </a:r>
            <a:endParaRPr lang="pt-BR" sz="1350"/>
          </a:p>
          <a:p>
            <a:pPr marL="342900" lvl="1" indent="-342900" algn="just" rtl="0">
              <a:buAutoNum type="arabicPeriod"/>
            </a:pPr>
            <a:r>
              <a:rPr lang="pt-BR" sz="1350" b="1">
                <a:solidFill>
                  <a:srgbClr val="FF0000"/>
                </a:solidFill>
              </a:rPr>
              <a:t>Método de Acesso</a:t>
            </a:r>
            <a:r>
              <a:rPr lang="pt-BR" sz="1350" b="1"/>
              <a:t> -</a:t>
            </a:r>
            <a:r>
              <a:rPr lang="pt-BR" sz="1350"/>
              <a:t> determinar quando alguém pode enviar uma mensagem.</a:t>
            </a:r>
            <a:r>
              <a:rPr lang="pt-BR" sz="1350" b="1"/>
              <a:t> </a:t>
            </a:r>
            <a:endParaRPr lang="pt-BR" sz="1350" b="1"/>
          </a:p>
          <a:p>
            <a:pPr marL="604520" lvl="2" indent="-342900" algn="just" rtl="0"/>
            <a:r>
              <a:rPr lang="pt-BR" sz="1350"/>
              <a:t>Pode haver </a:t>
            </a:r>
            <a:r>
              <a:rPr lang="pt-BR" sz="1350" b="1"/>
              <a:t>várias regras</a:t>
            </a:r>
            <a:r>
              <a:rPr lang="pt-BR" sz="1350"/>
              <a:t> que regem questões como </a:t>
            </a:r>
            <a:r>
              <a:rPr lang="pt-BR" sz="1350" b="1">
                <a:solidFill>
                  <a:srgbClr val="FF0000"/>
                </a:solidFill>
              </a:rPr>
              <a:t>“colisões”</a:t>
            </a:r>
            <a:r>
              <a:rPr lang="pt-BR" sz="1350"/>
              <a:t>. Isso ocorre quando </a:t>
            </a:r>
            <a:r>
              <a:rPr lang="pt-BR" sz="1350" b="1"/>
              <a:t>mais de um dispositivo</a:t>
            </a:r>
            <a:r>
              <a:rPr lang="pt-BR" sz="1350"/>
              <a:t> envia tráfego ao </a:t>
            </a:r>
            <a:r>
              <a:rPr lang="pt-BR" sz="1350" b="1">
                <a:solidFill>
                  <a:srgbClr val="FF0000"/>
                </a:solidFill>
              </a:rPr>
              <a:t>mesmo tempo</a:t>
            </a:r>
            <a:r>
              <a:rPr lang="pt-BR" sz="1350"/>
              <a:t> e as mensagens ficam </a:t>
            </a:r>
            <a:r>
              <a:rPr lang="pt-BR" sz="1350" b="1"/>
              <a:t>corrompidas</a:t>
            </a:r>
            <a:r>
              <a:rPr lang="pt-BR" sz="1350"/>
              <a:t>. </a:t>
            </a:r>
            <a:endParaRPr lang="pt-BR" sz="1350"/>
          </a:p>
          <a:p>
            <a:pPr lvl="2" algn="just" rtl="0"/>
            <a:r>
              <a:rPr lang="pt-BR" sz="1350"/>
              <a:t>Alguns protocolos são </a:t>
            </a:r>
            <a:r>
              <a:rPr lang="pt-BR" sz="1350" b="1"/>
              <a:t>proativos</a:t>
            </a:r>
            <a:r>
              <a:rPr lang="pt-BR" sz="1350"/>
              <a:t> e tentam evitar </a:t>
            </a:r>
            <a:r>
              <a:rPr lang="pt-BR" sz="1350" b="1">
                <a:solidFill>
                  <a:srgbClr val="FF0000"/>
                </a:solidFill>
              </a:rPr>
              <a:t>colisões</a:t>
            </a:r>
            <a:r>
              <a:rPr lang="pt-BR" sz="1350"/>
              <a:t>; outros protocolos são </a:t>
            </a:r>
            <a:r>
              <a:rPr lang="pt-BR" sz="1350" b="1"/>
              <a:t>reativos</a:t>
            </a:r>
            <a:r>
              <a:rPr lang="pt-BR" sz="1350"/>
              <a:t> e estabelecem um </a:t>
            </a:r>
            <a:r>
              <a:rPr lang="pt-BR" sz="1350" b="1">
                <a:solidFill>
                  <a:srgbClr val="FF0000"/>
                </a:solidFill>
              </a:rPr>
              <a:t>método</a:t>
            </a:r>
            <a:r>
              <a:rPr lang="pt-BR" sz="1350"/>
              <a:t> de recuperação após a colisão ocorrer.</a:t>
            </a:r>
            <a:endParaRPr lang="en-US" sz="1350" dirty="0"/>
          </a:p>
        </p:txBody>
      </p:sp>
      <p:pic>
        <p:nvPicPr>
          <p:cNvPr id="2" name="Imagem 1"/>
          <p:cNvPicPr>
            <a:picLocks noChangeAspect="1"/>
          </p:cNvPicPr>
          <p:nvPr/>
        </p:nvPicPr>
        <p:blipFill>
          <a:blip r:embed="rId1">
            <a:clrChange>
              <a:clrFrom>
                <a:srgbClr val="FFFFFF">
                  <a:alpha val="100000"/>
                </a:srgbClr>
              </a:clrFrom>
              <a:clrTo>
                <a:srgbClr val="FFFFFF">
                  <a:alpha val="100000"/>
                  <a:alpha val="0"/>
                </a:srgbClr>
              </a:clrTo>
            </a:clrChange>
          </a:blip>
          <a:srcRect l="50694" t="35802" r="22569" b="20370"/>
          <a:stretch>
            <a:fillRect/>
          </a:stretch>
        </p:blipFill>
        <p:spPr>
          <a:xfrm>
            <a:off x="4972050" y="868680"/>
            <a:ext cx="4052570" cy="3737610"/>
          </a:xfrm>
          <a:prstGeom prst="rect">
            <a:avLst/>
          </a:prstGeom>
        </p:spPr>
      </p:pic>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 </a:t>
            </a:r>
            <a:br>
              <a:rPr lang="en-US" altLang="en-US" dirty="0"/>
            </a:br>
            <a:r>
              <a:rPr lang="pt-BR"/>
              <a:t>Opções de Entrega da Mensagem</a:t>
            </a:r>
            <a:endParaRPr lang="pt-BR"/>
          </a:p>
        </p:txBody>
      </p:sp>
      <p:sp>
        <p:nvSpPr>
          <p:cNvPr id="8195" name="Rectangle 6"/>
          <p:cNvSpPr>
            <a:spLocks noGrp="1" noChangeArrowheads="1"/>
          </p:cNvSpPr>
          <p:nvPr>
            <p:ph idx="1"/>
          </p:nvPr>
        </p:nvSpPr>
        <p:spPr>
          <a:xfrm>
            <a:off x="64770" y="798830"/>
            <a:ext cx="8987790" cy="1908175"/>
          </a:xfrm>
        </p:spPr>
        <p:txBody>
          <a:bodyPr/>
          <a:lstStyle/>
          <a:p>
            <a:pPr marL="0" indent="0" algn="just" rtl="0">
              <a:buNone/>
            </a:pPr>
            <a:r>
              <a:rPr lang="pt-BR" sz="1600"/>
              <a:t>A entrega de mensagens pode ser um dos seguintes métodos: </a:t>
            </a:r>
            <a:endParaRPr lang="pt-BR" sz="1600"/>
          </a:p>
          <a:p>
            <a:pPr lvl="1" algn="just" rtl="0"/>
            <a:r>
              <a:rPr lang="pt-BR" sz="1600" b="1">
                <a:solidFill>
                  <a:srgbClr val="FF0000"/>
                </a:solidFill>
              </a:rPr>
              <a:t>Unicast </a:t>
            </a:r>
            <a:r>
              <a:rPr lang="pt-BR" sz="1600" b="1"/>
              <a:t>– </a:t>
            </a:r>
            <a:r>
              <a:rPr lang="pt-BR" sz="1600"/>
              <a:t>comunicação um para um.</a:t>
            </a:r>
            <a:endParaRPr lang="pt-BR" sz="1600"/>
          </a:p>
          <a:p>
            <a:pPr lvl="1" algn="just" rtl="0"/>
            <a:r>
              <a:rPr lang="pt-BR" sz="1600" b="1">
                <a:solidFill>
                  <a:srgbClr val="FF0000"/>
                </a:solidFill>
              </a:rPr>
              <a:t>Multicast </a:t>
            </a:r>
            <a:r>
              <a:rPr lang="pt-BR" sz="1600" b="1"/>
              <a:t>—</a:t>
            </a:r>
            <a:r>
              <a:rPr lang="pt-BR" sz="1600"/>
              <a:t> um para muitos, geralmente não todos (grupos)</a:t>
            </a:r>
            <a:endParaRPr lang="pt-BR" sz="1600"/>
          </a:p>
          <a:p>
            <a:pPr lvl="1" algn="just" rtl="0"/>
            <a:r>
              <a:rPr lang="pt-BR" sz="1600" b="1">
                <a:solidFill>
                  <a:srgbClr val="FF0000"/>
                </a:solidFill>
              </a:rPr>
              <a:t>Broadcast </a:t>
            </a:r>
            <a:r>
              <a:rPr lang="pt-BR" sz="1600"/>
              <a:t>– um para todos</a:t>
            </a:r>
            <a:endParaRPr lang="en-US" sz="1600" dirty="0"/>
          </a:p>
          <a:p>
            <a:pPr marL="0" indent="0" algn="just" rtl="0">
              <a:buNone/>
            </a:pPr>
            <a:r>
              <a:rPr lang="pt-BR" sz="1600" b="1"/>
              <a:t>Nota: </a:t>
            </a:r>
            <a:r>
              <a:rPr lang="pt-BR" sz="1600"/>
              <a:t>As transmissões são usadas em </a:t>
            </a:r>
            <a:r>
              <a:rPr lang="pt-BR" sz="1600" b="1">
                <a:solidFill>
                  <a:srgbClr val="FF0000"/>
                </a:solidFill>
              </a:rPr>
              <a:t>Redes IPv4</a:t>
            </a:r>
            <a:r>
              <a:rPr lang="pt-BR" sz="1600"/>
              <a:t>, mas não são uma opção para </a:t>
            </a:r>
            <a:r>
              <a:rPr lang="pt-BR" sz="1600" b="1">
                <a:solidFill>
                  <a:srgbClr val="FF0000"/>
                </a:solidFill>
              </a:rPr>
              <a:t>IPv6</a:t>
            </a:r>
            <a:r>
              <a:rPr lang="pt-BR" sz="1600"/>
              <a:t>. Mais tarde, também veremos </a:t>
            </a:r>
            <a:r>
              <a:rPr lang="pt-BR" sz="1600" b="1">
                <a:solidFill>
                  <a:srgbClr val="FF0000"/>
                </a:solidFill>
              </a:rPr>
              <a:t>“Anycast”</a:t>
            </a:r>
            <a:r>
              <a:rPr lang="pt-BR" sz="1600"/>
              <a:t> como uma opção de entrega adicional para </a:t>
            </a:r>
            <a:r>
              <a:rPr lang="pt-BR" sz="1600" b="1"/>
              <a:t>IPv6</a:t>
            </a:r>
            <a:r>
              <a:rPr lang="pt-BR" sz="1600"/>
              <a:t>. </a:t>
            </a:r>
            <a:endParaRPr lang="pt-BR" sz="1600"/>
          </a:p>
          <a:p>
            <a:pPr marL="0" indent="0" algn="just" rtl="0">
              <a:buNone/>
            </a:pPr>
            <a:endParaRPr lang="en-US" dirty="0"/>
          </a:p>
        </p:txBody>
      </p:sp>
      <p:pic>
        <p:nvPicPr>
          <p:cNvPr id="7170" name="Picture 2"/>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64770" y="2657475"/>
            <a:ext cx="2748280" cy="2052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2">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3092450" y="2707005"/>
            <a:ext cx="2720975" cy="1986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2" name="Picture 4"/>
          <p:cNvPicPr>
            <a:picLocks noChangeAspect="1" noChangeArrowheads="1"/>
          </p:cNvPicPr>
          <p:nvPr/>
        </p:nvPicPr>
        <p:blipFill>
          <a:blip r:embed="rId3">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6158865" y="2707005"/>
            <a:ext cx="2753360" cy="1987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Imagem 1"/>
          <p:cNvPicPr>
            <a:picLocks noChangeAspect="1"/>
          </p:cNvPicPr>
          <p:nvPr/>
        </p:nvPicPr>
        <p:blipFill>
          <a:blip r:embed="rId4">
            <a:clrChange>
              <a:clrFrom>
                <a:srgbClr val="FFFFFF">
                  <a:alpha val="100000"/>
                </a:srgbClr>
              </a:clrFrom>
              <a:clrTo>
                <a:srgbClr val="FFFFFF">
                  <a:alpha val="100000"/>
                  <a:alpha val="0"/>
                </a:srgbClr>
              </a:clrTo>
            </a:clrChange>
          </a:blip>
          <a:srcRect l="54924" t="48253" r="25806" b="23710"/>
          <a:stretch>
            <a:fillRect/>
          </a:stretch>
        </p:blipFill>
        <p:spPr>
          <a:xfrm>
            <a:off x="6366510" y="103505"/>
            <a:ext cx="2545715" cy="2083435"/>
          </a:xfrm>
          <a:prstGeom prst="rect">
            <a:avLst/>
          </a:prstGeom>
        </p:spPr>
      </p:pic>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a:t>
            </a:r>
            <a:br>
              <a:rPr lang="en-US" altLang="en-US" dirty="0"/>
            </a:br>
            <a:r>
              <a:rPr lang="pt-BR"/>
              <a:t>Uma Nota Sobre o Ícone de Nó</a:t>
            </a:r>
            <a:endParaRPr lang="pt-BR"/>
          </a:p>
        </p:txBody>
      </p:sp>
      <p:sp>
        <p:nvSpPr>
          <p:cNvPr id="8195" name="Rectangle 6"/>
          <p:cNvSpPr>
            <a:spLocks noGrp="1" noChangeArrowheads="1"/>
          </p:cNvSpPr>
          <p:nvPr>
            <p:ph idx="1"/>
          </p:nvPr>
        </p:nvSpPr>
        <p:spPr>
          <a:xfrm>
            <a:off x="90805" y="752475"/>
            <a:ext cx="8853170" cy="949960"/>
          </a:xfrm>
        </p:spPr>
        <p:txBody>
          <a:bodyPr/>
          <a:lstStyle/>
          <a:p>
            <a:pPr algn="just" rtl="0">
              <a:buFont typeface="Arial" panose="020B0604020202020204" pitchFamily="34" charset="0"/>
              <a:buChar char="•"/>
            </a:pPr>
            <a:r>
              <a:rPr lang="pt-BR" sz="1600"/>
              <a:t>Os </a:t>
            </a:r>
            <a:r>
              <a:rPr lang="pt-BR" sz="1600" b="1">
                <a:solidFill>
                  <a:srgbClr val="FF0000"/>
                </a:solidFill>
              </a:rPr>
              <a:t>documentos</a:t>
            </a:r>
            <a:r>
              <a:rPr lang="pt-BR" sz="1600"/>
              <a:t> podem usar o </a:t>
            </a:r>
            <a:r>
              <a:rPr lang="pt-BR" sz="1600" b="1"/>
              <a:t>Ícone do Nó</a:t>
            </a:r>
            <a:r>
              <a:rPr lang="pt-BR" sz="1600"/>
              <a:t>, normalmente um </a:t>
            </a:r>
            <a:r>
              <a:rPr lang="pt-BR" sz="1600" b="1"/>
              <a:t>círculo</a:t>
            </a:r>
            <a:r>
              <a:rPr lang="pt-BR" sz="1600"/>
              <a:t>, para representar </a:t>
            </a:r>
            <a:r>
              <a:rPr lang="pt-BR" sz="1600" b="1"/>
              <a:t>todos os dispositivos</a:t>
            </a:r>
            <a:r>
              <a:rPr lang="pt-BR" sz="1600"/>
              <a:t>. </a:t>
            </a:r>
            <a:endParaRPr lang="pt-BR" sz="1600"/>
          </a:p>
          <a:p>
            <a:pPr algn="just" rtl="0">
              <a:buFont typeface="Arial" panose="020B0604020202020204" pitchFamily="34" charset="0"/>
              <a:buChar char="•"/>
            </a:pPr>
            <a:r>
              <a:rPr lang="pt-BR" sz="1600"/>
              <a:t>A figura ilustra o </a:t>
            </a:r>
            <a:r>
              <a:rPr lang="pt-BR" sz="1600" b="1">
                <a:solidFill>
                  <a:srgbClr val="FF0000"/>
                </a:solidFill>
              </a:rPr>
              <a:t>uso do ícone do nó</a:t>
            </a:r>
            <a:r>
              <a:rPr lang="pt-BR" sz="1600"/>
              <a:t> para opções de entrega.</a:t>
            </a:r>
            <a:endParaRPr lang="pt-BR" sz="1600"/>
          </a:p>
          <a:p>
            <a:pPr marL="0" indent="0" algn="just" rtl="0">
              <a:buFont typeface="Arial" panose="020B0604020202020204" pitchFamily="34" charset="0"/>
              <a:buChar char="•"/>
            </a:pPr>
            <a:endParaRPr lang="en-US" dirty="0"/>
          </a:p>
        </p:txBody>
      </p:sp>
      <p:pic>
        <p:nvPicPr>
          <p:cNvPr id="1026" name="Picture 2"/>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168910" y="1702435"/>
            <a:ext cx="8775700" cy="29444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pPr rtl="0"/>
            <a:r>
              <a:rPr lang="pt-BR">
                <a:solidFill>
                  <a:schemeClr val="accent5">
                    <a:lumMod val="40000"/>
                    <a:lumOff val="60000"/>
                  </a:schemeClr>
                </a:solidFill>
              </a:rPr>
              <a:t>3.2 - Protocolos</a:t>
            </a:r>
            <a:endParaRPr lang="pt-BR">
              <a:solidFill>
                <a:schemeClr val="accent5">
                  <a:lumMod val="40000"/>
                  <a:lumOff val="60000"/>
                </a:schemeClr>
              </a:solidFill>
            </a:endParaRPr>
          </a:p>
        </p:txBody>
      </p:sp>
    </p:spTree>
    <p:custDataLst>
      <p:tags r:id="rId1"/>
    </p:custData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3"/>
            <a:ext cx="9144000" cy="757551"/>
          </a:xfrm>
        </p:spPr>
        <p:txBody>
          <a:bodyPr/>
          <a:lstStyle/>
          <a:p>
            <a:pPr rtl="0"/>
            <a:r>
              <a:rPr lang="pt-BR" sz="1600"/>
              <a:t>Protocolos</a:t>
            </a:r>
            <a:br>
              <a:rPr lang="en-US" altLang="en-US" dirty="0"/>
            </a:br>
            <a:r>
              <a:rPr lang="pt-BR"/>
              <a:t>Visão Geral dos Protocolos de Rede</a:t>
            </a:r>
            <a:endParaRPr lang="pt-BR"/>
          </a:p>
        </p:txBody>
      </p:sp>
      <p:sp>
        <p:nvSpPr>
          <p:cNvPr id="8195" name="Rectangle 6"/>
          <p:cNvSpPr>
            <a:spLocks noGrp="1" noChangeArrowheads="1"/>
          </p:cNvSpPr>
          <p:nvPr>
            <p:ph idx="1"/>
          </p:nvPr>
        </p:nvSpPr>
        <p:spPr>
          <a:xfrm>
            <a:off x="91440" y="798830"/>
            <a:ext cx="3158490" cy="3611245"/>
          </a:xfrm>
        </p:spPr>
        <p:txBody>
          <a:bodyPr/>
          <a:lstStyle/>
          <a:p>
            <a:pPr marL="0" indent="0" algn="just" rtl="0">
              <a:buNone/>
            </a:pPr>
            <a:r>
              <a:rPr lang="pt-BR" sz="1600"/>
              <a:t>Protocolos de rede definem um </a:t>
            </a:r>
            <a:r>
              <a:rPr lang="pt-BR" sz="1600" b="1">
                <a:solidFill>
                  <a:srgbClr val="FF0000"/>
                </a:solidFill>
              </a:rPr>
              <a:t>conjunto comum de regras</a:t>
            </a:r>
            <a:r>
              <a:rPr lang="pt-BR" sz="1600"/>
              <a:t>.</a:t>
            </a:r>
            <a:endParaRPr lang="pt-BR" sz="1600"/>
          </a:p>
          <a:p>
            <a:pPr marL="0" indent="0" algn="just" rtl="0">
              <a:buFont typeface="Arial" panose="020B0604020202020204" pitchFamily="34" charset="0"/>
              <a:buNone/>
            </a:pPr>
            <a:r>
              <a:rPr lang="pt-BR" sz="1600"/>
              <a:t>Pode ser implementado em </a:t>
            </a:r>
            <a:r>
              <a:rPr lang="pt-BR" sz="1600" b="1">
                <a:solidFill>
                  <a:srgbClr val="FF0000"/>
                </a:solidFill>
              </a:rPr>
              <a:t>dispositivos</a:t>
            </a:r>
            <a:r>
              <a:rPr lang="pt-BR" sz="1600"/>
              <a:t> em:</a:t>
            </a:r>
            <a:endParaRPr lang="pt-BR" sz="1600"/>
          </a:p>
          <a:p>
            <a:pPr lvl="1" algn="just" rtl="0"/>
            <a:r>
              <a:rPr lang="pt-BR" sz="1600" b="1"/>
              <a:t>Software</a:t>
            </a:r>
            <a:endParaRPr lang="pt-BR" sz="1600" b="1"/>
          </a:p>
          <a:p>
            <a:pPr lvl="1" algn="just" rtl="0"/>
            <a:r>
              <a:rPr lang="pt-BR" sz="1600" b="1"/>
              <a:t>Hardware</a:t>
            </a:r>
            <a:endParaRPr lang="pt-BR" sz="1600" b="1"/>
          </a:p>
          <a:p>
            <a:pPr lvl="1" algn="just" rtl="0"/>
            <a:r>
              <a:rPr lang="pt-BR" sz="1600" b="1"/>
              <a:t>Ambos</a:t>
            </a:r>
            <a:endParaRPr lang="pt-BR" sz="1600" b="1"/>
          </a:p>
          <a:p>
            <a:pPr marL="0" indent="0" algn="just" rtl="0">
              <a:buFont typeface="Arial" panose="020B0604020202020204" pitchFamily="34" charset="0"/>
              <a:buNone/>
            </a:pPr>
            <a:r>
              <a:rPr lang="pt-BR" sz="1600"/>
              <a:t>Protocolos têm os seus </a:t>
            </a:r>
            <a:r>
              <a:rPr lang="pt-BR" sz="1600" b="1">
                <a:solidFill>
                  <a:srgbClr val="FF0000"/>
                </a:solidFill>
              </a:rPr>
              <a:t>próprios(as)</a:t>
            </a:r>
            <a:r>
              <a:rPr lang="pt-BR" sz="1600"/>
              <a:t>:</a:t>
            </a:r>
            <a:endParaRPr lang="pt-BR" sz="1600"/>
          </a:p>
          <a:p>
            <a:pPr lvl="1" algn="just" rtl="0"/>
            <a:r>
              <a:rPr lang="pt-BR" sz="1600" b="1"/>
              <a:t>Função</a:t>
            </a:r>
            <a:endParaRPr lang="pt-BR" sz="1600" b="1"/>
          </a:p>
          <a:p>
            <a:pPr lvl="1" algn="just" rtl="0"/>
            <a:r>
              <a:rPr lang="pt-BR" sz="1600" b="1"/>
              <a:t>Formato</a:t>
            </a:r>
            <a:endParaRPr lang="pt-BR" sz="1600" b="1"/>
          </a:p>
          <a:p>
            <a:pPr lvl="1" algn="just" rtl="0"/>
            <a:r>
              <a:rPr lang="pt-BR" sz="1600" b="1"/>
              <a:t>Regras</a:t>
            </a:r>
            <a:endParaRPr lang="pt-BR"/>
          </a:p>
        </p:txBody>
      </p:sp>
      <p:graphicFrame>
        <p:nvGraphicFramePr>
          <p:cNvPr id="2" name="Table 1"/>
          <p:cNvGraphicFramePr>
            <a:graphicFrameLocks noGrp="1"/>
          </p:cNvGraphicFramePr>
          <p:nvPr/>
        </p:nvGraphicFramePr>
        <p:xfrm>
          <a:off x="3249930" y="829673"/>
          <a:ext cx="5776684" cy="3554664"/>
        </p:xfrm>
        <a:graphic>
          <a:graphicData uri="http://schemas.openxmlformats.org/drawingml/2006/table">
            <a:tbl>
              <a:tblPr firstRow="1" bandRow="1">
                <a:tableStyleId>{5C22544A-7EE6-4342-B048-85BDC9FD1C3A}</a:tableStyleId>
              </a:tblPr>
              <a:tblGrid>
                <a:gridCol w="1682115"/>
                <a:gridCol w="4094569"/>
              </a:tblGrid>
              <a:tr h="664980">
                <a:tc>
                  <a:txBody>
                    <a:bodyPr/>
                    <a:lstStyle/>
                    <a:p>
                      <a:pPr algn="ctr" rtl="0"/>
                      <a:r>
                        <a:rPr lang="pt-BR"/>
                        <a:t>Tipos de Protocolos</a:t>
                      </a:r>
                      <a:endParaRPr lang="pt-BR"/>
                    </a:p>
                  </a:txBody>
                  <a:tcPr anchor="ctr" anchorCtr="0"/>
                </a:tc>
                <a:tc>
                  <a:txBody>
                    <a:bodyPr/>
                    <a:lstStyle/>
                    <a:p>
                      <a:pPr algn="ctr" rtl="0"/>
                      <a:r>
                        <a:rPr lang="pt-BR"/>
                        <a:t>Descrição</a:t>
                      </a:r>
                      <a:endParaRPr lang="pt-BR"/>
                    </a:p>
                  </a:txBody>
                  <a:tcPr anchor="ctr" anchorCtr="0"/>
                </a:tc>
              </a:tr>
              <a:tr h="719455">
                <a:tc>
                  <a:txBody>
                    <a:bodyPr/>
                    <a:lstStyle/>
                    <a:p>
                      <a:pPr algn="ctr" rtl="0"/>
                      <a:r>
                        <a:rPr lang="pt-BR" sz="1600" b="1">
                          <a:solidFill>
                            <a:srgbClr val="FF0000"/>
                          </a:solidFill>
                        </a:rPr>
                        <a:t>Comunicações em Rede</a:t>
                      </a:r>
                      <a:endParaRPr lang="pt-BR" sz="1600" b="1">
                        <a:solidFill>
                          <a:srgbClr val="FF0000"/>
                        </a:solidFill>
                      </a:endParaRPr>
                    </a:p>
                  </a:txBody>
                  <a:tcPr anchor="ctr" anchorCtr="0"/>
                </a:tc>
                <a:tc>
                  <a:txBody>
                    <a:bodyPr/>
                    <a:lstStyle/>
                    <a:p>
                      <a:pPr algn="ctr" rtl="0"/>
                      <a:r>
                        <a:rPr lang="pt-BR" sz="1500"/>
                        <a:t>Permitir que </a:t>
                      </a:r>
                      <a:r>
                        <a:rPr lang="pt-BR" sz="1500" b="1"/>
                        <a:t>dois ou mais dispositivos</a:t>
                      </a:r>
                      <a:r>
                        <a:rPr lang="pt-BR" sz="1500"/>
                        <a:t> se comuniquem através de uma ou mais redes</a:t>
                      </a:r>
                      <a:endParaRPr lang="pt-BR" sz="1500"/>
                    </a:p>
                  </a:txBody>
                  <a:tcPr anchor="ctr" anchorCtr="0"/>
                </a:tc>
              </a:tr>
              <a:tr h="719388">
                <a:tc>
                  <a:txBody>
                    <a:bodyPr/>
                    <a:lstStyle/>
                    <a:p>
                      <a:pPr algn="ctr" rtl="0"/>
                      <a:r>
                        <a:rPr lang="pt-BR" sz="1600" b="1" baseline="0">
                          <a:solidFill>
                            <a:srgbClr val="00B050"/>
                          </a:solidFill>
                        </a:rPr>
                        <a:t>Segurança</a:t>
                      </a:r>
                      <a:r>
                        <a:rPr lang="pt-BR" sz="1600" b="1">
                          <a:solidFill>
                            <a:srgbClr val="00B050"/>
                          </a:solidFill>
                        </a:rPr>
                        <a:t> da Rede</a:t>
                      </a:r>
                      <a:endParaRPr lang="pt-BR" sz="1600" b="1">
                        <a:solidFill>
                          <a:srgbClr val="00B050"/>
                        </a:solidFill>
                      </a:endParaRPr>
                    </a:p>
                  </a:txBody>
                  <a:tcPr anchor="ctr" anchorCtr="0"/>
                </a:tc>
                <a:tc>
                  <a:txBody>
                    <a:bodyPr/>
                    <a:lstStyle/>
                    <a:p>
                      <a:pPr algn="ctr" rtl="0"/>
                      <a:r>
                        <a:rPr lang="pt-BR" sz="1500"/>
                        <a:t>Dados seguros para fornecer autenticação, integridade de dados e criptografia de dados</a:t>
                      </a:r>
                      <a:endParaRPr lang="pt-BR" sz="1500"/>
                    </a:p>
                  </a:txBody>
                  <a:tcPr anchor="ctr" anchorCtr="0"/>
                </a:tc>
              </a:tr>
              <a:tr h="718340">
                <a:tc>
                  <a:txBody>
                    <a:bodyPr/>
                    <a:lstStyle/>
                    <a:p>
                      <a:pPr algn="ctr" rtl="0"/>
                      <a:r>
                        <a:rPr lang="pt-BR" sz="1600" b="1">
                          <a:solidFill>
                            <a:srgbClr val="0070C0"/>
                          </a:solidFill>
                        </a:rPr>
                        <a:t>Roteamento</a:t>
                      </a:r>
                      <a:endParaRPr lang="pt-BR" sz="1600" b="1">
                        <a:solidFill>
                          <a:srgbClr val="0070C0"/>
                        </a:solidFill>
                      </a:endParaRPr>
                    </a:p>
                  </a:txBody>
                  <a:tcPr anchor="ctr" anchorCtr="0"/>
                </a:tc>
                <a:tc>
                  <a:txBody>
                    <a:bodyPr/>
                    <a:lstStyle/>
                    <a:p>
                      <a:pPr algn="ctr" rtl="0"/>
                      <a:r>
                        <a:rPr lang="pt-BR" sz="1500"/>
                        <a:t>Permitir que os </a:t>
                      </a:r>
                      <a:r>
                        <a:rPr lang="pt-BR" sz="1500" b="1"/>
                        <a:t>roteadores troquem informações de rota</a:t>
                      </a:r>
                      <a:r>
                        <a:rPr lang="pt-BR" sz="1500"/>
                        <a:t>, comparem informações de caminho e selecionem o melhor caminho</a:t>
                      </a:r>
                      <a:endParaRPr lang="pt-BR" sz="1500"/>
                    </a:p>
                  </a:txBody>
                  <a:tcPr anchor="ctr" anchorCtr="0"/>
                </a:tc>
              </a:tr>
              <a:tr h="719388">
                <a:tc>
                  <a:txBody>
                    <a:bodyPr/>
                    <a:lstStyle/>
                    <a:p>
                      <a:pPr algn="ctr" rtl="0"/>
                      <a:r>
                        <a:rPr lang="pt-BR" sz="1600" b="1">
                          <a:solidFill>
                            <a:srgbClr val="7030A0"/>
                          </a:solidFill>
                        </a:rPr>
                        <a:t>Descoberta de Serviço</a:t>
                      </a:r>
                      <a:endParaRPr lang="pt-BR" sz="1600" b="1">
                        <a:solidFill>
                          <a:srgbClr val="7030A0"/>
                        </a:solidFill>
                      </a:endParaRPr>
                    </a:p>
                  </a:txBody>
                  <a:tcPr anchor="ctr" anchorCtr="0"/>
                </a:tc>
                <a:tc>
                  <a:txBody>
                    <a:bodyPr/>
                    <a:lstStyle/>
                    <a:p>
                      <a:pPr algn="ctr" rtl="0"/>
                      <a:r>
                        <a:rPr lang="pt-BR" sz="1500"/>
                        <a:t>Usado para a </a:t>
                      </a:r>
                      <a:r>
                        <a:rPr lang="pt-BR" sz="1500" b="1"/>
                        <a:t>detecção automática</a:t>
                      </a:r>
                      <a:r>
                        <a:rPr lang="pt-BR" sz="1500"/>
                        <a:t> de dispositivos ou serviços</a:t>
                      </a:r>
                      <a:endParaRPr lang="pt-BR" sz="1500"/>
                    </a:p>
                  </a:txBody>
                  <a:tcPr anchor="ctr" anchorCtr="0"/>
                </a:tc>
              </a:tr>
            </a:tbl>
          </a:graphicData>
        </a:graphic>
      </p:graphicFrame>
    </p:spTree>
    <p:custDataLst>
      <p:tags r:id="rId1"/>
    </p:custData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6"/>
          <p:cNvSpPr>
            <a:spLocks noGrp="1" noChangeArrowheads="1"/>
          </p:cNvSpPr>
          <p:nvPr>
            <p:ph idx="1"/>
          </p:nvPr>
        </p:nvSpPr>
        <p:spPr>
          <a:xfrm>
            <a:off x="105410" y="798830"/>
            <a:ext cx="3984625" cy="1320800"/>
          </a:xfrm>
        </p:spPr>
        <p:txBody>
          <a:bodyPr/>
          <a:lstStyle/>
          <a:p>
            <a:pPr marL="0" indent="0" algn="just" rtl="0">
              <a:buFont typeface="Arial" panose="020B0604020202020204" pitchFamily="34" charset="0"/>
              <a:buNone/>
            </a:pPr>
            <a:r>
              <a:rPr lang="pt-BR" sz="1850"/>
              <a:t>Os dispositivos usam </a:t>
            </a:r>
            <a:r>
              <a:rPr lang="pt-BR" sz="1850" b="1">
                <a:solidFill>
                  <a:srgbClr val="FF0000"/>
                </a:solidFill>
              </a:rPr>
              <a:t>Protocolos Acordados</a:t>
            </a:r>
            <a:r>
              <a:rPr lang="pt-BR" sz="1850"/>
              <a:t> para se comunicar.</a:t>
            </a:r>
            <a:endParaRPr lang="pt-BR" sz="1850"/>
          </a:p>
          <a:p>
            <a:pPr marL="0" indent="0" algn="just" rtl="0">
              <a:buFont typeface="Arial" panose="020B0604020202020204" pitchFamily="34" charset="0"/>
              <a:buNone/>
            </a:pPr>
            <a:r>
              <a:rPr lang="pt-BR" sz="1850"/>
              <a:t>Protocolos podem ter </a:t>
            </a:r>
            <a:r>
              <a:rPr lang="pt-BR" sz="1850" b="1">
                <a:solidFill>
                  <a:srgbClr val="FF0000"/>
                </a:solidFill>
              </a:rPr>
              <a:t>uma ou mais</a:t>
            </a:r>
            <a:r>
              <a:rPr lang="pt-BR" sz="1850"/>
              <a:t>  funções.</a:t>
            </a:r>
            <a:endParaRPr lang="pt-BR" sz="1850"/>
          </a:p>
        </p:txBody>
      </p:sp>
      <p:graphicFrame>
        <p:nvGraphicFramePr>
          <p:cNvPr id="2" name="Table 1"/>
          <p:cNvGraphicFramePr>
            <a:graphicFrameLocks noGrp="1"/>
          </p:cNvGraphicFramePr>
          <p:nvPr/>
        </p:nvGraphicFramePr>
        <p:xfrm>
          <a:off x="154305" y="2343150"/>
          <a:ext cx="8775700" cy="2306320"/>
        </p:xfrm>
        <a:graphic>
          <a:graphicData uri="http://schemas.openxmlformats.org/drawingml/2006/table">
            <a:tbl>
              <a:tblPr firstRow="1" bandRow="1">
                <a:tableStyleId>{5C22544A-7EE6-4342-B048-85BDC9FD1C3A}</a:tableStyleId>
              </a:tblPr>
              <a:tblGrid>
                <a:gridCol w="2480945"/>
                <a:gridCol w="6294755"/>
              </a:tblGrid>
              <a:tr h="321310">
                <a:tc>
                  <a:txBody>
                    <a:bodyPr/>
                    <a:lstStyle/>
                    <a:p>
                      <a:pPr algn="ctr" rtl="0"/>
                      <a:r>
                        <a:rPr lang="pt-BR" sz="1500"/>
                        <a:t>Função</a:t>
                      </a:r>
                      <a:endParaRPr lang="pt-BR" sz="1500"/>
                    </a:p>
                  </a:txBody>
                  <a:tcPr anchor="ctr" anchorCtr="0"/>
                </a:tc>
                <a:tc>
                  <a:txBody>
                    <a:bodyPr/>
                    <a:lstStyle/>
                    <a:p>
                      <a:pPr algn="ctr" rtl="0"/>
                      <a:r>
                        <a:rPr lang="pt-BR" sz="1500"/>
                        <a:t>Descrição</a:t>
                      </a:r>
                      <a:endParaRPr lang="pt-BR" sz="1500"/>
                    </a:p>
                  </a:txBody>
                  <a:tcPr anchor="ctr" anchorCtr="0"/>
                </a:tc>
              </a:tr>
              <a:tr h="327025">
                <a:tc>
                  <a:txBody>
                    <a:bodyPr/>
                    <a:lstStyle/>
                    <a:p>
                      <a:pPr algn="ctr" rtl="0"/>
                      <a:r>
                        <a:rPr lang="pt-BR" sz="1500" b="1">
                          <a:solidFill>
                            <a:srgbClr val="FF0000"/>
                          </a:solidFill>
                        </a:rPr>
                        <a:t>Endereçamento</a:t>
                      </a:r>
                      <a:endParaRPr lang="pt-BR" sz="1500" b="1">
                        <a:solidFill>
                          <a:srgbClr val="FF0000"/>
                        </a:solidFill>
                      </a:endParaRPr>
                    </a:p>
                  </a:txBody>
                  <a:tcPr anchor="ctr" anchorCtr="0"/>
                </a:tc>
                <a:tc>
                  <a:txBody>
                    <a:bodyPr/>
                    <a:lstStyle/>
                    <a:p>
                      <a:pPr algn="ctr" rtl="0"/>
                      <a:r>
                        <a:rPr lang="pt-BR" sz="1500" b="1"/>
                        <a:t>Identificação </a:t>
                      </a:r>
                      <a:r>
                        <a:rPr lang="pt-BR" sz="1500"/>
                        <a:t>de</a:t>
                      </a:r>
                      <a:r>
                        <a:rPr lang="pt-BR" sz="1500" baseline="0"/>
                        <a:t> remetente e destinatário</a:t>
                      </a:r>
                      <a:endParaRPr lang="pt-BR" sz="1500" baseline="0"/>
                    </a:p>
                  </a:txBody>
                  <a:tcPr anchor="ctr" anchorCtr="0"/>
                </a:tc>
              </a:tr>
              <a:tr h="338455">
                <a:tc>
                  <a:txBody>
                    <a:bodyPr/>
                    <a:lstStyle/>
                    <a:p>
                      <a:pPr algn="ctr" rtl="0"/>
                      <a:r>
                        <a:rPr lang="pt-BR" sz="1500" b="1">
                          <a:solidFill>
                            <a:srgbClr val="00B050"/>
                          </a:solidFill>
                        </a:rPr>
                        <a:t>Confiabilidade</a:t>
                      </a:r>
                      <a:endParaRPr lang="pt-BR" sz="1500" b="1">
                        <a:solidFill>
                          <a:srgbClr val="00B050"/>
                        </a:solidFill>
                      </a:endParaRPr>
                    </a:p>
                  </a:txBody>
                  <a:tcPr anchor="ctr" anchorCtr="0"/>
                </a:tc>
                <a:tc>
                  <a:txBody>
                    <a:bodyPr/>
                    <a:lstStyle/>
                    <a:p>
                      <a:pPr algn="ctr" rtl="0"/>
                      <a:r>
                        <a:rPr lang="pt-BR" sz="1500"/>
                        <a:t>Fornece </a:t>
                      </a:r>
                      <a:r>
                        <a:rPr lang="pt-BR" sz="1500" b="1"/>
                        <a:t>entrega garantida</a:t>
                      </a:r>
                      <a:endParaRPr lang="pt-BR" sz="1500" b="1"/>
                    </a:p>
                  </a:txBody>
                  <a:tcPr anchor="ctr" anchorCtr="0"/>
                </a:tc>
              </a:tr>
              <a:tr h="338455">
                <a:tc>
                  <a:txBody>
                    <a:bodyPr/>
                    <a:lstStyle/>
                    <a:p>
                      <a:pPr algn="ctr" rtl="0"/>
                      <a:r>
                        <a:rPr lang="pt-BR" sz="1500" b="1">
                          <a:solidFill>
                            <a:srgbClr val="0070C0"/>
                          </a:solidFill>
                        </a:rPr>
                        <a:t>Controle de Fluxo</a:t>
                      </a:r>
                      <a:endParaRPr lang="pt-BR" sz="1500" b="1">
                        <a:solidFill>
                          <a:srgbClr val="0070C0"/>
                        </a:solidFill>
                      </a:endParaRPr>
                    </a:p>
                  </a:txBody>
                  <a:tcPr anchor="ctr" anchorCtr="0"/>
                </a:tc>
                <a:tc>
                  <a:txBody>
                    <a:bodyPr/>
                    <a:lstStyle/>
                    <a:p>
                      <a:pPr algn="ctr" rtl="0"/>
                      <a:r>
                        <a:rPr lang="pt-BR" sz="1500"/>
                        <a:t>Garante </a:t>
                      </a:r>
                      <a:r>
                        <a:rPr lang="pt-BR" sz="1500" b="1"/>
                        <a:t>fluxos de dados</a:t>
                      </a:r>
                      <a:r>
                        <a:rPr lang="pt-BR" sz="1500"/>
                        <a:t> a uma</a:t>
                      </a:r>
                      <a:r>
                        <a:rPr lang="pt-BR" sz="1500" baseline="0"/>
                        <a:t> </a:t>
                      </a:r>
                      <a:r>
                        <a:rPr lang="pt-BR" sz="1500" b="1" baseline="0"/>
                        <a:t>taxa </a:t>
                      </a:r>
                      <a:r>
                        <a:rPr lang="pt-BR" sz="1500" b="1"/>
                        <a:t>eficiente</a:t>
                      </a:r>
                      <a:endParaRPr lang="pt-BR" sz="1500" b="1"/>
                    </a:p>
                  </a:txBody>
                  <a:tcPr anchor="ctr" anchorCtr="0"/>
                </a:tc>
              </a:tr>
              <a:tr h="323850">
                <a:tc>
                  <a:txBody>
                    <a:bodyPr/>
                    <a:lstStyle/>
                    <a:p>
                      <a:pPr algn="ctr" rtl="0"/>
                      <a:r>
                        <a:rPr lang="pt-BR" sz="1500" b="1">
                          <a:solidFill>
                            <a:srgbClr val="7030A0"/>
                          </a:solidFill>
                        </a:rPr>
                        <a:t>Sequenciamento</a:t>
                      </a:r>
                      <a:endParaRPr lang="pt-BR" sz="1500" b="1">
                        <a:solidFill>
                          <a:srgbClr val="7030A0"/>
                        </a:solidFill>
                      </a:endParaRPr>
                    </a:p>
                  </a:txBody>
                  <a:tcPr anchor="ctr" anchorCtr="0"/>
                </a:tc>
                <a:tc>
                  <a:txBody>
                    <a:bodyPr/>
                    <a:lstStyle/>
                    <a:p>
                      <a:pPr algn="ctr" rtl="0"/>
                      <a:r>
                        <a:rPr lang="pt-BR" sz="1500" b="1"/>
                        <a:t>Rotula </a:t>
                      </a:r>
                      <a:r>
                        <a:rPr lang="pt-BR" sz="1500"/>
                        <a:t>exclusivamente cada segmento de dados transmitido</a:t>
                      </a:r>
                      <a:endParaRPr lang="pt-BR" sz="1500"/>
                    </a:p>
                  </a:txBody>
                  <a:tcPr anchor="ctr" anchorCtr="0"/>
                </a:tc>
              </a:tr>
              <a:tr h="335915">
                <a:tc>
                  <a:txBody>
                    <a:bodyPr/>
                    <a:lstStyle/>
                    <a:p>
                      <a:pPr algn="ctr" rtl="0"/>
                      <a:r>
                        <a:rPr lang="pt-BR" sz="1500" b="1">
                          <a:solidFill>
                            <a:schemeClr val="accent6">
                              <a:lumMod val="50000"/>
                            </a:schemeClr>
                          </a:solidFill>
                        </a:rPr>
                        <a:t>Detecção de Erros</a:t>
                      </a:r>
                      <a:endParaRPr lang="pt-BR" sz="1500" b="1">
                        <a:solidFill>
                          <a:schemeClr val="accent6">
                            <a:lumMod val="50000"/>
                          </a:schemeClr>
                        </a:solidFill>
                      </a:endParaRPr>
                    </a:p>
                  </a:txBody>
                  <a:tcPr anchor="ctr" anchorCtr="0"/>
                </a:tc>
                <a:tc>
                  <a:txBody>
                    <a:bodyPr/>
                    <a:lstStyle/>
                    <a:p>
                      <a:pPr algn="ctr" rtl="0"/>
                      <a:r>
                        <a:rPr lang="pt-BR" sz="1500"/>
                        <a:t>Determina se os dados ficaram </a:t>
                      </a:r>
                      <a:r>
                        <a:rPr lang="pt-BR" sz="1500" b="1"/>
                        <a:t>corrompidos </a:t>
                      </a:r>
                      <a:r>
                        <a:rPr lang="pt-BR" sz="1500"/>
                        <a:t>durante a transmissão</a:t>
                      </a:r>
                      <a:endParaRPr lang="pt-BR" sz="1500"/>
                    </a:p>
                  </a:txBody>
                  <a:tcPr anchor="ctr" anchorCtr="0"/>
                </a:tc>
              </a:tr>
              <a:tr h="321310">
                <a:tc>
                  <a:txBody>
                    <a:bodyPr/>
                    <a:lstStyle/>
                    <a:p>
                      <a:pPr algn="ctr" rtl="0"/>
                      <a:r>
                        <a:rPr lang="pt-BR" sz="1500" b="1">
                          <a:solidFill>
                            <a:srgbClr val="000000"/>
                          </a:solidFill>
                        </a:rPr>
                        <a:t>Interface de Aplicação</a:t>
                      </a:r>
                      <a:endParaRPr lang="pt-BR" sz="1500" b="1">
                        <a:solidFill>
                          <a:srgbClr val="000000"/>
                        </a:solidFill>
                      </a:endParaRPr>
                    </a:p>
                  </a:txBody>
                  <a:tcPr anchor="ctr" anchorCtr="0"/>
                </a:tc>
                <a:tc>
                  <a:txBody>
                    <a:bodyPr/>
                    <a:lstStyle/>
                    <a:p>
                      <a:pPr algn="ctr" rtl="0"/>
                      <a:r>
                        <a:rPr lang="pt-BR" sz="1500"/>
                        <a:t>Comunicações de </a:t>
                      </a:r>
                      <a:r>
                        <a:rPr lang="pt-BR" sz="1500" b="1"/>
                        <a:t>processo a processo</a:t>
                      </a:r>
                      <a:r>
                        <a:rPr lang="pt-BR" sz="1500"/>
                        <a:t> entre aplicativos de rede</a:t>
                      </a:r>
                      <a:endParaRPr lang="pt-BR" sz="1500"/>
                    </a:p>
                  </a:txBody>
                  <a:tcPr anchor="ctr" anchorCtr="0"/>
                </a:tc>
              </a:tr>
            </a:tbl>
          </a:graphicData>
        </a:graphic>
      </p:graphicFrame>
      <p:sp>
        <p:nvSpPr>
          <p:cNvPr id="4" name="Rectangle 2"/>
          <p:cNvSpPr>
            <a:spLocks noGrp="1" noChangeArrowheads="1"/>
          </p:cNvSpPr>
          <p:nvPr>
            <p:ph type="title"/>
          </p:nvPr>
        </p:nvSpPr>
        <p:spPr>
          <a:xfrm>
            <a:off x="1" y="41393"/>
            <a:ext cx="9144000" cy="757551"/>
          </a:xfrm>
        </p:spPr>
        <p:txBody>
          <a:bodyPr/>
          <a:p>
            <a:pPr rtl="0"/>
            <a:r>
              <a:rPr lang="pt-BR" sz="1600"/>
              <a:t>Protocolos</a:t>
            </a:r>
            <a:br>
              <a:rPr lang="en-US" altLang="en-US" dirty="0"/>
            </a:br>
            <a:r>
              <a:rPr lang="pt-BR"/>
              <a:t>Funções dos Protocolos de Rede</a:t>
            </a:r>
            <a:endParaRPr lang="pt-BR"/>
          </a:p>
        </p:txBody>
      </p:sp>
      <p:pic>
        <p:nvPicPr>
          <p:cNvPr id="5" name="Imagem 4"/>
          <p:cNvPicPr>
            <a:picLocks noChangeAspect="1"/>
          </p:cNvPicPr>
          <p:nvPr/>
        </p:nvPicPr>
        <p:blipFill>
          <a:blip r:embed="rId1">
            <a:clrChange>
              <a:clrFrom>
                <a:srgbClr val="FFFFFF">
                  <a:alpha val="100000"/>
                </a:srgbClr>
              </a:clrFrom>
              <a:clrTo>
                <a:srgbClr val="FFFFFF">
                  <a:alpha val="100000"/>
                  <a:alpha val="0"/>
                </a:srgbClr>
              </a:clrTo>
            </a:clrChange>
          </a:blip>
          <a:srcRect l="40399" t="44571" r="7340" b="10635"/>
          <a:stretch>
            <a:fillRect/>
          </a:stretch>
        </p:blipFill>
        <p:spPr>
          <a:xfrm>
            <a:off x="4090035" y="95885"/>
            <a:ext cx="4839970" cy="2247265"/>
          </a:xfrm>
          <a:prstGeom prst="rect">
            <a:avLst/>
          </a:prstGeom>
        </p:spPr>
      </p:pic>
    </p:spTree>
    <p:custDataLst>
      <p:tags r:id="rId2"/>
    </p:custData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6"/>
          <p:cNvSpPr>
            <a:spLocks noGrp="1" noChangeArrowheads="1"/>
          </p:cNvSpPr>
          <p:nvPr>
            <p:ph idx="1"/>
          </p:nvPr>
        </p:nvSpPr>
        <p:spPr>
          <a:xfrm>
            <a:off x="88900" y="749935"/>
            <a:ext cx="6071870" cy="990600"/>
          </a:xfrm>
        </p:spPr>
        <p:txBody>
          <a:bodyPr/>
          <a:lstStyle/>
          <a:p>
            <a:pPr marL="0" indent="0" algn="just" rtl="0">
              <a:buFont typeface="Arial" panose="020B0604020202020204" pitchFamily="34" charset="0"/>
              <a:buNone/>
            </a:pPr>
            <a:r>
              <a:rPr lang="pt-BR" sz="2200"/>
              <a:t>As redes exigem o </a:t>
            </a:r>
            <a:r>
              <a:rPr lang="pt-BR" sz="2200" b="1">
                <a:solidFill>
                  <a:srgbClr val="FF0000"/>
                </a:solidFill>
              </a:rPr>
              <a:t>uso de vários protocolos</a:t>
            </a:r>
            <a:r>
              <a:rPr lang="pt-BR" sz="2200"/>
              <a:t>.</a:t>
            </a:r>
            <a:endParaRPr lang="pt-BR" sz="2200"/>
          </a:p>
          <a:p>
            <a:pPr marL="0" indent="0" algn="just" rtl="0">
              <a:buFont typeface="Arial" panose="020B0604020202020204" pitchFamily="34" charset="0"/>
              <a:buNone/>
            </a:pPr>
            <a:r>
              <a:rPr lang="pt-BR" sz="2200"/>
              <a:t>Cada protocolo tem sua </a:t>
            </a:r>
            <a:r>
              <a:rPr lang="pt-BR" sz="2200" b="1">
                <a:solidFill>
                  <a:srgbClr val="FF0000"/>
                </a:solidFill>
              </a:rPr>
              <a:t>própria função e formato</a:t>
            </a:r>
            <a:r>
              <a:rPr lang="pt-BR" sz="2200"/>
              <a:t>.</a:t>
            </a:r>
            <a:endParaRPr lang="pt-BR" sz="2200"/>
          </a:p>
          <a:p>
            <a:pPr marL="0" indent="0" algn="just" rtl="0">
              <a:buFont typeface="Arial" panose="020B0604020202020204" pitchFamily="34" charset="0"/>
              <a:buNone/>
            </a:pPr>
            <a:endParaRPr lang="en-US" altLang="ja-JP" sz="2200" dirty="0"/>
          </a:p>
        </p:txBody>
      </p:sp>
      <p:graphicFrame>
        <p:nvGraphicFramePr>
          <p:cNvPr id="2" name="Table 1"/>
          <p:cNvGraphicFramePr>
            <a:graphicFrameLocks noGrp="1"/>
          </p:cNvGraphicFramePr>
          <p:nvPr/>
        </p:nvGraphicFramePr>
        <p:xfrm>
          <a:off x="203200" y="2146300"/>
          <a:ext cx="8691245" cy="2225040"/>
        </p:xfrm>
        <a:graphic>
          <a:graphicData uri="http://schemas.openxmlformats.org/drawingml/2006/table">
            <a:tbl>
              <a:tblPr firstRow="1" bandRow="1">
                <a:tableStyleId>{5C22544A-7EE6-4342-B048-85BDC9FD1C3A}</a:tableStyleId>
              </a:tblPr>
              <a:tblGrid>
                <a:gridCol w="2184400"/>
                <a:gridCol w="6506845"/>
              </a:tblGrid>
              <a:tr h="304800">
                <a:tc>
                  <a:txBody>
                    <a:bodyPr/>
                    <a:lstStyle/>
                    <a:p>
                      <a:pPr algn="ctr" rtl="0"/>
                      <a:r>
                        <a:rPr lang="pt-BR"/>
                        <a:t>Protocolos</a:t>
                      </a:r>
                      <a:endParaRPr lang="pt-BR"/>
                    </a:p>
                  </a:txBody>
                  <a:tcPr anchor="ctr" anchorCtr="0"/>
                </a:tc>
                <a:tc>
                  <a:txBody>
                    <a:bodyPr/>
                    <a:lstStyle/>
                    <a:p>
                      <a:pPr algn="ctr" rtl="0"/>
                      <a:r>
                        <a:rPr lang="pt-BR"/>
                        <a:t>Função</a:t>
                      </a:r>
                      <a:endParaRPr lang="pt-BR"/>
                    </a:p>
                  </a:txBody>
                  <a:tcPr anchor="ctr" anchorCtr="0"/>
                </a:tc>
              </a:tr>
              <a:tr h="210820">
                <a:tc>
                  <a:txBody>
                    <a:bodyPr/>
                    <a:lstStyle/>
                    <a:p>
                      <a:pPr algn="ctr" rtl="0"/>
                      <a:r>
                        <a:rPr lang="pt-BR" sz="1800" b="1">
                          <a:solidFill>
                            <a:srgbClr val="FF0000"/>
                          </a:solidFill>
                        </a:rPr>
                        <a:t>Protocolo HTTP</a:t>
                      </a:r>
                      <a:endParaRPr lang="pt-BR" sz="1800" b="1">
                        <a:solidFill>
                          <a:srgbClr val="FF0000"/>
                        </a:solidFill>
                      </a:endParaRPr>
                    </a:p>
                  </a:txBody>
                  <a:tcPr anchor="ctr" anchorCtr="0"/>
                </a:tc>
                <a:tc>
                  <a:txBody>
                    <a:bodyPr/>
                    <a:lstStyle/>
                    <a:p>
                      <a:pPr indent="0" algn="ctr" rtl="0">
                        <a:buFont typeface="Wingdings" panose="05000000000000000000" pitchFamily="2" charset="2"/>
                        <a:buNone/>
                      </a:pPr>
                      <a:r>
                        <a:rPr lang="pt-BR" sz="1700"/>
                        <a:t>Governa a maneira como um </a:t>
                      </a:r>
                      <a:r>
                        <a:rPr lang="pt-BR" sz="1700" b="1"/>
                        <a:t>servidor da Web e um cliente da Web</a:t>
                      </a:r>
                      <a:r>
                        <a:rPr lang="pt-BR" sz="1700"/>
                        <a:t> interagem. Define conteúdo e formato</a:t>
                      </a:r>
                      <a:endParaRPr lang="pt-BR" sz="1700"/>
                    </a:p>
                  </a:txBody>
                  <a:tcPr anchor="ctr" anchorCtr="0"/>
                </a:tc>
              </a:tr>
              <a:tr h="467995">
                <a:tc>
                  <a:txBody>
                    <a:bodyPr/>
                    <a:lstStyle/>
                    <a:p>
                      <a:pPr algn="ctr" rtl="0"/>
                      <a:r>
                        <a:rPr lang="pt-BR" sz="1800" b="1">
                          <a:solidFill>
                            <a:srgbClr val="00B050"/>
                          </a:solidFill>
                        </a:rPr>
                        <a:t>Protocolo TCP</a:t>
                      </a:r>
                      <a:endParaRPr lang="pt-BR" sz="1800" b="1">
                        <a:solidFill>
                          <a:srgbClr val="00B050"/>
                        </a:solidFill>
                      </a:endParaRPr>
                    </a:p>
                  </a:txBody>
                  <a:tcPr anchor="ctr" anchorCtr="0"/>
                </a:tc>
                <a:tc>
                  <a:txBody>
                    <a:bodyPr/>
                    <a:lstStyle/>
                    <a:p>
                      <a:pPr indent="0" algn="ctr" rtl="0">
                        <a:buFont typeface="Wingdings" panose="05000000000000000000" pitchFamily="2" charset="2"/>
                        <a:buNone/>
                      </a:pPr>
                      <a:r>
                        <a:rPr lang="pt-BR" sz="1700"/>
                        <a:t>Gerencia as</a:t>
                      </a:r>
                      <a:r>
                        <a:rPr lang="pt-BR" sz="1700" b="1"/>
                        <a:t> conversas individuais</a:t>
                      </a:r>
                      <a:r>
                        <a:rPr lang="pt-BR" sz="1700"/>
                        <a:t>. Fornece </a:t>
                      </a:r>
                      <a:r>
                        <a:rPr lang="pt-BR" sz="1700" b="1"/>
                        <a:t>entrega garantida</a:t>
                      </a:r>
                      <a:r>
                        <a:rPr lang="pt-BR" sz="1700"/>
                        <a:t>. Gerencia o </a:t>
                      </a:r>
                      <a:r>
                        <a:rPr lang="pt-BR" sz="1700" b="1"/>
                        <a:t>controle de fluxo</a:t>
                      </a:r>
                      <a:endParaRPr lang="pt-BR" sz="1700" b="1"/>
                    </a:p>
                  </a:txBody>
                  <a:tcPr anchor="ctr" anchorCtr="0"/>
                </a:tc>
              </a:tr>
              <a:tr h="365760">
                <a:tc>
                  <a:txBody>
                    <a:bodyPr/>
                    <a:lstStyle/>
                    <a:p>
                      <a:pPr algn="ctr" rtl="0"/>
                      <a:r>
                        <a:rPr lang="pt-BR" sz="1800" b="1">
                          <a:solidFill>
                            <a:srgbClr val="0070C0"/>
                          </a:solidFill>
                        </a:rPr>
                        <a:t>Protocolo IP</a:t>
                      </a:r>
                      <a:endParaRPr lang="pt-BR" sz="1800" b="1">
                        <a:solidFill>
                          <a:srgbClr val="0070C0"/>
                        </a:solidFill>
                      </a:endParaRPr>
                    </a:p>
                  </a:txBody>
                  <a:tcPr anchor="ctr" anchorCtr="0"/>
                </a:tc>
                <a:tc>
                  <a:txBody>
                    <a:bodyPr/>
                    <a:lstStyle/>
                    <a:p>
                      <a:pPr algn="ctr" rtl="0"/>
                      <a:r>
                        <a:rPr lang="pt-BR" sz="1700"/>
                        <a:t>Entrega mensagens </a:t>
                      </a:r>
                      <a:r>
                        <a:rPr lang="pt-BR" sz="1700" b="1"/>
                        <a:t>globalmente</a:t>
                      </a:r>
                      <a:r>
                        <a:rPr lang="pt-BR" sz="1700"/>
                        <a:t> do remetente para o receptor</a:t>
                      </a:r>
                      <a:endParaRPr lang="pt-BR" sz="1700"/>
                    </a:p>
                  </a:txBody>
                  <a:tcPr anchor="ctr" anchorCtr="0"/>
                </a:tc>
              </a:tr>
              <a:tr h="518160">
                <a:tc>
                  <a:txBody>
                    <a:bodyPr/>
                    <a:lstStyle/>
                    <a:p>
                      <a:pPr algn="ctr" rtl="0"/>
                      <a:r>
                        <a:rPr lang="pt-BR" sz="1800" b="1">
                          <a:solidFill>
                            <a:srgbClr val="7030A0"/>
                          </a:solidFill>
                        </a:rPr>
                        <a:t>Ethernet</a:t>
                      </a:r>
                      <a:endParaRPr lang="pt-BR" sz="1800" b="1">
                        <a:solidFill>
                          <a:srgbClr val="7030A0"/>
                        </a:solidFill>
                      </a:endParaRPr>
                    </a:p>
                  </a:txBody>
                  <a:tcPr anchor="ctr" anchorCtr="0"/>
                </a:tc>
                <a:tc>
                  <a:txBody>
                    <a:bodyPr/>
                    <a:lstStyle/>
                    <a:p>
                      <a:pPr algn="ctr" rtl="0"/>
                      <a:r>
                        <a:rPr lang="pt-BR" sz="1700"/>
                        <a:t>Entrega mensagens de uma </a:t>
                      </a:r>
                      <a:r>
                        <a:rPr lang="pt-BR" sz="1700" b="1"/>
                        <a:t>NIC para outra NIC</a:t>
                      </a:r>
                      <a:r>
                        <a:rPr lang="pt-BR" sz="1700"/>
                        <a:t> na mesma Rede Local (LAN) Ethernet</a:t>
                      </a:r>
                      <a:endParaRPr lang="pt-BR" sz="1700"/>
                    </a:p>
                  </a:txBody>
                  <a:tcPr anchor="ctr" anchorCtr="0"/>
                </a:tc>
              </a:tr>
            </a:tbl>
          </a:graphicData>
        </a:graphic>
      </p:graphicFrame>
      <p:pic>
        <p:nvPicPr>
          <p:cNvPr id="3074" name="Picture 2"/>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5480685" y="41275"/>
            <a:ext cx="3413760" cy="21062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2"/>
          <p:cNvSpPr>
            <a:spLocks noGrp="1" noChangeArrowheads="1"/>
          </p:cNvSpPr>
          <p:nvPr>
            <p:ph type="title"/>
          </p:nvPr>
        </p:nvSpPr>
        <p:spPr>
          <a:xfrm>
            <a:off x="1" y="41393"/>
            <a:ext cx="9144000" cy="757551"/>
          </a:xfrm>
        </p:spPr>
        <p:txBody>
          <a:bodyPr/>
          <a:p>
            <a:pPr rtl="0"/>
            <a:r>
              <a:rPr lang="pt-BR" sz="1600"/>
              <a:t>Protocolos</a:t>
            </a:r>
            <a:br>
              <a:rPr lang="en-US" altLang="en-US" dirty="0"/>
            </a:br>
            <a:r>
              <a:rPr lang="pt-BR"/>
              <a:t>Interação dos Protocolos de Rede</a:t>
            </a:r>
            <a:endParaRPr lang="pt-BR"/>
          </a:p>
        </p:txBody>
      </p:sp>
    </p:spTree>
    <p:custDataLst>
      <p:tags r:id="rId2"/>
    </p:custData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pPr rtl="0"/>
            <a:r>
              <a:rPr lang="pt-BR">
                <a:solidFill>
                  <a:schemeClr val="accent5">
                    <a:lumMod val="40000"/>
                    <a:lumOff val="60000"/>
                  </a:schemeClr>
                </a:solidFill>
              </a:rPr>
              <a:t>3.3 - Conjuntos de Protocolos</a:t>
            </a:r>
            <a:endParaRPr lang="pt-BR">
              <a:solidFill>
                <a:schemeClr val="accent5">
                  <a:lumMod val="40000"/>
                  <a:lumOff val="60000"/>
                </a:schemeClr>
              </a:solidFill>
            </a:endParaRPr>
          </a:p>
        </p:txBody>
      </p:sp>
    </p:spTree>
    <p:custDataLst>
      <p:tags r:id="rId1"/>
    </p:custData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pt-BR" altLang="en-US" sz="1600"/>
              <a:t>Conjuntos de Protocolos</a:t>
            </a:r>
            <a:br>
              <a:rPr lang="pt-BR" altLang="en-US" sz="1600"/>
            </a:br>
            <a:r>
              <a:rPr lang="pt-BR"/>
              <a:t>C</a:t>
            </a:r>
            <a:r>
              <a:rPr lang="pt-BR"/>
              <a:t>onjuntos de Protocolos de Rede</a:t>
            </a:r>
            <a:endParaRPr lang="pt-BR"/>
          </a:p>
        </p:txBody>
      </p:sp>
      <p:sp>
        <p:nvSpPr>
          <p:cNvPr id="13315" name="Content Placeholder 2"/>
          <p:cNvSpPr>
            <a:spLocks noGrp="1"/>
          </p:cNvSpPr>
          <p:nvPr>
            <p:ph idx="1"/>
          </p:nvPr>
        </p:nvSpPr>
        <p:spPr>
          <a:xfrm>
            <a:off x="75949" y="798732"/>
            <a:ext cx="4349274" cy="3827878"/>
          </a:xfrm>
        </p:spPr>
        <p:txBody>
          <a:bodyPr/>
          <a:lstStyle/>
          <a:p>
            <a:pPr marL="0" indent="0" algn="just" rtl="0">
              <a:buNone/>
            </a:pPr>
            <a:r>
              <a:rPr lang="pt-BR" sz="1400">
                <a:ea typeface="MS PGothic"/>
              </a:rPr>
              <a:t>Os protocolos devem ser capazes de funcionar </a:t>
            </a:r>
            <a:r>
              <a:rPr lang="pt-BR" sz="1400" b="1">
                <a:solidFill>
                  <a:srgbClr val="FF0000"/>
                </a:solidFill>
                <a:ea typeface="MS PGothic"/>
              </a:rPr>
              <a:t>com outros protocolos</a:t>
            </a:r>
            <a:r>
              <a:rPr lang="pt-BR" sz="1400">
                <a:ea typeface="MS PGothic"/>
              </a:rPr>
              <a:t>.</a:t>
            </a:r>
            <a:endParaRPr lang="pt-BR" sz="1400">
              <a:ea typeface="MS PGothic"/>
            </a:endParaRPr>
          </a:p>
          <a:p>
            <a:pPr marL="0" indent="0" algn="just" rtl="0">
              <a:buNone/>
            </a:pPr>
            <a:r>
              <a:rPr lang="pt-BR" sz="1400" b="1">
                <a:ea typeface="MS PGothic"/>
              </a:rPr>
              <a:t>Suíte de Protocolos:</a:t>
            </a:r>
            <a:endParaRPr lang="pt-BR" sz="1400" b="1">
              <a:ea typeface="MS PGothic"/>
            </a:endParaRPr>
          </a:p>
          <a:p>
            <a:pPr lvl="1" algn="just" rtl="0"/>
            <a:r>
              <a:rPr lang="pt-BR">
                <a:ea typeface="MS PGothic"/>
              </a:rPr>
              <a:t>Um</a:t>
            </a:r>
            <a:r>
              <a:rPr lang="pt-BR" b="1">
                <a:solidFill>
                  <a:srgbClr val="FF0000"/>
                </a:solidFill>
                <a:ea typeface="MS PGothic"/>
              </a:rPr>
              <a:t> grupo de protocolos inter-relacionados</a:t>
            </a:r>
            <a:r>
              <a:rPr lang="pt-BR">
                <a:ea typeface="MS PGothic"/>
              </a:rPr>
              <a:t> necessários para executar uma função de comunicação</a:t>
            </a:r>
            <a:endParaRPr lang="pt-BR">
              <a:ea typeface="MS PGothic"/>
            </a:endParaRPr>
          </a:p>
          <a:p>
            <a:pPr lvl="1" algn="just" rtl="0"/>
            <a:r>
              <a:rPr lang="pt-BR">
                <a:ea typeface="MS PGothic"/>
              </a:rPr>
              <a:t>Conjuntos de regras que</a:t>
            </a:r>
            <a:r>
              <a:rPr lang="pt-BR" b="1">
                <a:solidFill>
                  <a:srgbClr val="FF0000"/>
                </a:solidFill>
                <a:ea typeface="MS PGothic"/>
              </a:rPr>
              <a:t> trabalham juntos</a:t>
            </a:r>
            <a:r>
              <a:rPr lang="pt-BR">
                <a:ea typeface="MS PGothic"/>
              </a:rPr>
              <a:t> para ajudar a resolver um problema</a:t>
            </a:r>
            <a:endParaRPr lang="pt-BR">
              <a:ea typeface="MS PGothic"/>
            </a:endParaRPr>
          </a:p>
          <a:p>
            <a:pPr marL="0" indent="0" algn="just" rtl="0">
              <a:buNone/>
            </a:pPr>
            <a:r>
              <a:rPr lang="pt-BR" sz="1400">
                <a:ea typeface="MS PGothic"/>
              </a:rPr>
              <a:t>Os protocolos são visualizados em termos de </a:t>
            </a:r>
            <a:r>
              <a:rPr lang="pt-BR" sz="1400" b="1">
                <a:ea typeface="MS PGothic"/>
              </a:rPr>
              <a:t>camadas</a:t>
            </a:r>
            <a:r>
              <a:rPr lang="pt-BR" sz="1400">
                <a:ea typeface="MS PGothic"/>
              </a:rPr>
              <a:t>:</a:t>
            </a:r>
            <a:endParaRPr lang="pt-BR" sz="1400">
              <a:ea typeface="MS PGothic"/>
            </a:endParaRPr>
          </a:p>
          <a:p>
            <a:pPr lvl="1" algn="just" rtl="0"/>
            <a:r>
              <a:rPr lang="pt-BR" b="1">
                <a:solidFill>
                  <a:srgbClr val="FF0000"/>
                </a:solidFill>
                <a:ea typeface="MS PGothic"/>
              </a:rPr>
              <a:t>Camadas mais Altas</a:t>
            </a:r>
            <a:endParaRPr lang="pt-BR" b="1">
              <a:solidFill>
                <a:srgbClr val="FF0000"/>
              </a:solidFill>
              <a:ea typeface="MS PGothic"/>
            </a:endParaRPr>
          </a:p>
          <a:p>
            <a:pPr lvl="1" algn="just" rtl="0"/>
            <a:r>
              <a:rPr lang="pt-BR" b="1">
                <a:solidFill>
                  <a:srgbClr val="FF0000"/>
                </a:solidFill>
                <a:ea typeface="MS PGothic"/>
              </a:rPr>
              <a:t>Camadas Inferiores</a:t>
            </a:r>
            <a:r>
              <a:rPr lang="pt-BR">
                <a:ea typeface="MS PGothic"/>
              </a:rPr>
              <a:t> - preocupado com a movimentação de dados e fornecer serviços para camadas superiores</a:t>
            </a:r>
            <a:endParaRPr lang="en-CA" altLang="en-US" dirty="0"/>
          </a:p>
        </p:txBody>
      </p:sp>
      <p:pic>
        <p:nvPicPr>
          <p:cNvPr id="2" name="Imagem 1"/>
          <p:cNvPicPr>
            <a:picLocks noChangeAspect="1"/>
          </p:cNvPicPr>
          <p:nvPr/>
        </p:nvPicPr>
        <p:blipFill>
          <a:blip r:embed="rId1">
            <a:clrChange>
              <a:clrFrom>
                <a:srgbClr val="FFFFFF">
                  <a:alpha val="100000"/>
                </a:srgbClr>
              </a:clrFrom>
              <a:clrTo>
                <a:srgbClr val="FFFFFF">
                  <a:alpha val="100000"/>
                  <a:alpha val="0"/>
                </a:srgbClr>
              </a:clrTo>
            </a:clrChange>
          </a:blip>
          <a:srcRect l="23958" t="39615" r="28333" b="14615"/>
          <a:stretch>
            <a:fillRect/>
          </a:stretch>
        </p:blipFill>
        <p:spPr>
          <a:xfrm>
            <a:off x="4425315" y="1385570"/>
            <a:ext cx="4564380" cy="2372360"/>
          </a:xfrm>
          <a:prstGeom prst="rect">
            <a:avLst/>
          </a:prstGeom>
        </p:spPr>
      </p:pic>
    </p:spTree>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108585" y="744220"/>
            <a:ext cx="3740785" cy="3856355"/>
          </a:xfrm>
        </p:spPr>
        <p:txBody>
          <a:bodyPr/>
          <a:lstStyle/>
          <a:p>
            <a:pPr marL="0" indent="0" algn="just" rtl="0">
              <a:buNone/>
            </a:pPr>
            <a:r>
              <a:rPr lang="pt-BR" sz="1600"/>
              <a:t>Existem vários conjuntos de protocolos.</a:t>
            </a:r>
            <a:endParaRPr lang="pt-BR" sz="1600"/>
          </a:p>
          <a:p>
            <a:pPr algn="just" rtl="0">
              <a:buFont typeface="Arial" panose="020B0604020202020204" pitchFamily="34" charset="0"/>
              <a:buChar char="•"/>
            </a:pPr>
            <a:r>
              <a:rPr lang="pt-BR" sz="1400" b="1">
                <a:solidFill>
                  <a:srgbClr val="FF0000"/>
                </a:solidFill>
              </a:rPr>
              <a:t>Internet Protocol Suite ou TCP/IP</a:t>
            </a:r>
            <a:r>
              <a:rPr lang="pt-BR" sz="1400" b="1"/>
              <a:t> - </a:t>
            </a:r>
            <a:r>
              <a:rPr lang="pt-BR" sz="1400"/>
              <a:t>O</a:t>
            </a:r>
            <a:r>
              <a:rPr lang="pt-BR" sz="1400" b="1"/>
              <a:t> </a:t>
            </a:r>
            <a:r>
              <a:rPr lang="pt-BR" sz="1400"/>
              <a:t>conjunto de protocolos mais comum e mantido pela Internet Engineering Task Force (IETF)</a:t>
            </a:r>
            <a:endParaRPr lang="pt-BR" sz="1400"/>
          </a:p>
          <a:p>
            <a:pPr algn="just" rtl="0">
              <a:buFont typeface="Arial" panose="020B0604020202020204" pitchFamily="34" charset="0"/>
              <a:buChar char="•"/>
            </a:pPr>
            <a:r>
              <a:rPr lang="pt-BR" sz="1400" b="1">
                <a:solidFill>
                  <a:srgbClr val="FF0000"/>
                </a:solidFill>
              </a:rPr>
              <a:t>Protocolos de Interconexão de Sistemas Abertos (OSI)</a:t>
            </a:r>
            <a:r>
              <a:rPr lang="pt-BR" sz="1400" b="1"/>
              <a:t> - </a:t>
            </a:r>
            <a:r>
              <a:rPr lang="pt-BR" sz="1400"/>
              <a:t>Desenvolvido</a:t>
            </a:r>
            <a:r>
              <a:rPr lang="pt-BR" sz="1400" b="1"/>
              <a:t> </a:t>
            </a:r>
            <a:r>
              <a:rPr lang="pt-BR" sz="1400"/>
              <a:t>pela Organização Internacional de Normalização (ISO) e pela União Internacional de Telecomunicações (UIT)</a:t>
            </a:r>
            <a:endParaRPr lang="pt-BR" sz="1400"/>
          </a:p>
          <a:p>
            <a:pPr algn="just" rtl="0">
              <a:buFont typeface="Arial" panose="020B0604020202020204" pitchFamily="34" charset="0"/>
              <a:buChar char="•"/>
            </a:pPr>
            <a:r>
              <a:rPr lang="pt-BR" sz="1400" b="1">
                <a:solidFill>
                  <a:srgbClr val="FF0000"/>
                </a:solidFill>
              </a:rPr>
              <a:t>AppleTalk </a:t>
            </a:r>
            <a:r>
              <a:rPr lang="pt-BR" sz="1400" b="1"/>
              <a:t>- </a:t>
            </a:r>
            <a:r>
              <a:rPr lang="pt-BR" sz="1400"/>
              <a:t>Lançamento da suíte proprietária da Apple Inc.</a:t>
            </a:r>
            <a:endParaRPr lang="pt-BR" sz="1400"/>
          </a:p>
          <a:p>
            <a:pPr algn="just" rtl="0">
              <a:buFont typeface="Arial" panose="020B0604020202020204" pitchFamily="34" charset="0"/>
              <a:buChar char="•"/>
            </a:pPr>
            <a:r>
              <a:rPr lang="pt-BR" sz="1400" b="1">
                <a:solidFill>
                  <a:srgbClr val="FF0000"/>
                </a:solidFill>
              </a:rPr>
              <a:t>Novell NetWare</a:t>
            </a:r>
            <a:r>
              <a:rPr lang="pt-BR" sz="1400" b="1"/>
              <a:t> - </a:t>
            </a:r>
            <a:r>
              <a:rPr lang="pt-BR" sz="1400"/>
              <a:t>Suíte proprietária desenvolvida pela Novell Inc. </a:t>
            </a:r>
            <a:r>
              <a:rPr lang="pt-BR" sz="950" b="1"/>
              <a:t>(Descontinuada)</a:t>
            </a:r>
            <a:endParaRPr lang="en-CA" altLang="en-US" dirty="0"/>
          </a:p>
        </p:txBody>
      </p:sp>
      <p:sp>
        <p:nvSpPr>
          <p:cNvPr id="3" name="Title 1"/>
          <p:cNvSpPr>
            <a:spLocks noGrp="1"/>
          </p:cNvSpPr>
          <p:nvPr>
            <p:ph type="title"/>
          </p:nvPr>
        </p:nvSpPr>
        <p:spPr/>
        <p:txBody>
          <a:bodyPr/>
          <a:p>
            <a:pPr rtl="0"/>
            <a:r>
              <a:rPr lang="pt-BR" altLang="en-US" sz="1600"/>
              <a:t>Conjuntos de Protocolos</a:t>
            </a:r>
            <a:br>
              <a:rPr lang="pt-BR" altLang="en-US" sz="1600"/>
            </a:br>
            <a:r>
              <a:rPr lang="pt-BR"/>
              <a:t>Evolução dos C</a:t>
            </a:r>
            <a:r>
              <a:rPr lang="pt-BR"/>
              <a:t>onjuntos de Protocolos de Rede</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5972" t="40385" r="26389" b="8590"/>
          <a:stretch>
            <a:fillRect/>
          </a:stretch>
        </p:blipFill>
        <p:spPr>
          <a:xfrm>
            <a:off x="3747135" y="1154430"/>
            <a:ext cx="5314315" cy="3083560"/>
          </a:xfrm>
          <a:prstGeom prst="rect">
            <a:avLst/>
          </a:prstGeom>
        </p:spPr>
      </p:pic>
    </p:spTree>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116840" y="925830"/>
            <a:ext cx="3481070" cy="3733165"/>
          </a:xfrm>
        </p:spPr>
        <p:txBody>
          <a:bodyPr/>
          <a:lstStyle/>
          <a:p>
            <a:pPr marL="0" indent="0" algn="just" rtl="0">
              <a:buFont typeface="Arial" panose="020B0604020202020204" pitchFamily="34" charset="0"/>
              <a:buNone/>
            </a:pPr>
            <a:r>
              <a:rPr lang="pt-BR" sz="2450"/>
              <a:t>Os </a:t>
            </a:r>
            <a:r>
              <a:rPr lang="pt-BR" sz="2450" b="1">
                <a:solidFill>
                  <a:srgbClr val="FF0000"/>
                </a:solidFill>
              </a:rPr>
              <a:t>Protocolos TCP / IP</a:t>
            </a:r>
            <a:r>
              <a:rPr lang="pt-BR" sz="2450"/>
              <a:t> operam nas camadas de aplicativo, transporte e Internet.</a:t>
            </a:r>
            <a:endParaRPr lang="pt-BR" sz="2450"/>
          </a:p>
          <a:p>
            <a:pPr marL="0" indent="0" algn="just" rtl="0">
              <a:buFont typeface="Arial" panose="020B0604020202020204" pitchFamily="34" charset="0"/>
              <a:buNone/>
            </a:pPr>
            <a:r>
              <a:rPr lang="pt-BR" sz="2450"/>
              <a:t>Os </a:t>
            </a:r>
            <a:r>
              <a:rPr lang="pt-BR" sz="2450" b="1">
                <a:solidFill>
                  <a:srgbClr val="FF0000"/>
                </a:solidFill>
              </a:rPr>
              <a:t>Protocolos LAN</a:t>
            </a:r>
            <a:r>
              <a:rPr lang="pt-BR" sz="2450"/>
              <a:t> de camada de acesso à rede mais comuns são </a:t>
            </a:r>
            <a:r>
              <a:rPr lang="pt-BR" sz="2450" b="1"/>
              <a:t>Ethernet e WLAN (LAN sem fio)</a:t>
            </a:r>
            <a:r>
              <a:rPr lang="pt-BR" sz="2450"/>
              <a:t>.</a:t>
            </a:r>
            <a:endParaRPr lang="en-CA" altLang="en-US" sz="2450" dirty="0"/>
          </a:p>
        </p:txBody>
      </p:sp>
      <p:sp>
        <p:nvSpPr>
          <p:cNvPr id="3" name="Title 1"/>
          <p:cNvSpPr>
            <a:spLocks noGrp="1"/>
          </p:cNvSpPr>
          <p:nvPr>
            <p:ph type="title"/>
          </p:nvPr>
        </p:nvSpPr>
        <p:spPr/>
        <p:txBody>
          <a:bodyPr/>
          <a:p>
            <a:pPr rtl="0"/>
            <a:r>
              <a:rPr lang="pt-BR" altLang="en-US" sz="1600"/>
              <a:t>Conjuntos de Protocolos</a:t>
            </a:r>
            <a:br>
              <a:rPr lang="pt-BR" altLang="en-US" sz="1600"/>
            </a:br>
            <a:r>
              <a:rPr lang="pt-BR"/>
              <a:t>Exemplo </a:t>
            </a:r>
            <a:r>
              <a:rPr lang="pt-BR"/>
              <a:t>do Protocolo TCP/IP de Redes</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7847" t="38077" r="28889" b="13333"/>
          <a:stretch>
            <a:fillRect/>
          </a:stretch>
        </p:blipFill>
        <p:spPr>
          <a:xfrm>
            <a:off x="3462655" y="1099185"/>
            <a:ext cx="5567045" cy="3387090"/>
          </a:xfrm>
          <a:prstGeom prst="rect">
            <a:avLst/>
          </a:prstGeom>
        </p:spPr>
      </p:pic>
    </p:spTree>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99171" y="752377"/>
            <a:ext cx="3359855" cy="3942178"/>
          </a:xfrm>
        </p:spPr>
        <p:txBody>
          <a:bodyPr/>
          <a:lstStyle/>
          <a:p>
            <a:pPr marL="0" indent="0" algn="just" rtl="0">
              <a:buFont typeface="Arial" panose="020B0604020202020204" pitchFamily="34" charset="0"/>
              <a:buNone/>
            </a:pPr>
            <a:r>
              <a:rPr lang="pt-BR" sz="1500"/>
              <a:t>TCP/IP é o conjunto de protocolos </a:t>
            </a:r>
            <a:r>
              <a:rPr lang="pt-BR" sz="1500" b="1">
                <a:solidFill>
                  <a:srgbClr val="FF0000"/>
                </a:solidFill>
              </a:rPr>
              <a:t>usado pela Internet</a:t>
            </a:r>
            <a:r>
              <a:rPr lang="pt-BR" sz="1500"/>
              <a:t> e inclui muitos protocolos.</a:t>
            </a:r>
            <a:endParaRPr lang="pt-BR" sz="1500"/>
          </a:p>
          <a:p>
            <a:pPr marL="0" indent="0" algn="just" rtl="0">
              <a:buFont typeface="Arial" panose="020B0604020202020204" pitchFamily="34" charset="0"/>
              <a:buNone/>
            </a:pPr>
            <a:r>
              <a:rPr lang="pt-BR" sz="1500" b="1"/>
              <a:t>O TCP/IP é</a:t>
            </a:r>
            <a:r>
              <a:rPr lang="pt-BR" sz="1500"/>
              <a:t>:</a:t>
            </a:r>
            <a:endParaRPr lang="pt-BR" sz="1500"/>
          </a:p>
          <a:p>
            <a:pPr lvl="1" algn="just" rtl="0"/>
            <a:r>
              <a:rPr lang="pt-BR" sz="1500"/>
              <a:t>Um conjunto de protocolos </a:t>
            </a:r>
            <a:r>
              <a:rPr lang="pt-BR" sz="1500" b="1">
                <a:solidFill>
                  <a:srgbClr val="FF0000"/>
                </a:solidFill>
              </a:rPr>
              <a:t>padrão aberto</a:t>
            </a:r>
            <a:r>
              <a:rPr lang="pt-BR" sz="1500"/>
              <a:t> que está disponível </a:t>
            </a:r>
            <a:r>
              <a:rPr lang="pt-BR" sz="1500" b="1"/>
              <a:t>gratuitamente </a:t>
            </a:r>
            <a:r>
              <a:rPr lang="pt-BR" sz="1500"/>
              <a:t>para o público e pode ser usado por </a:t>
            </a:r>
            <a:r>
              <a:rPr lang="pt-BR" sz="1500" b="1"/>
              <a:t>qualquer fornecedor</a:t>
            </a:r>
            <a:endParaRPr lang="pt-BR" sz="1500"/>
          </a:p>
          <a:p>
            <a:pPr lvl="1" algn="just" rtl="0"/>
            <a:r>
              <a:rPr lang="pt-BR" sz="1500"/>
              <a:t>Um conjunto de protocolos </a:t>
            </a:r>
            <a:r>
              <a:rPr lang="pt-BR" sz="1500" b="1"/>
              <a:t>baseado em padrões</a:t>
            </a:r>
            <a:r>
              <a:rPr lang="pt-BR" sz="1500"/>
              <a:t> que é endossado pelo </a:t>
            </a:r>
            <a:r>
              <a:rPr lang="pt-BR" sz="1500" b="1">
                <a:solidFill>
                  <a:srgbClr val="FF0000"/>
                </a:solidFill>
              </a:rPr>
              <a:t>setor de redes e aprovado por uma organização de padrões</a:t>
            </a:r>
            <a:r>
              <a:rPr lang="pt-BR" sz="1500"/>
              <a:t> para garantir a interoperabilidade</a:t>
            </a:r>
            <a:endParaRPr lang="en-CA" altLang="en-US" sz="1500" dirty="0"/>
          </a:p>
        </p:txBody>
      </p:sp>
      <p:sp>
        <p:nvSpPr>
          <p:cNvPr id="3" name="Title 1"/>
          <p:cNvSpPr>
            <a:spLocks noGrp="1"/>
          </p:cNvSpPr>
          <p:nvPr>
            <p:ph type="title"/>
          </p:nvPr>
        </p:nvSpPr>
        <p:spPr/>
        <p:txBody>
          <a:bodyPr/>
          <a:p>
            <a:pPr rtl="0"/>
            <a:r>
              <a:rPr lang="pt-BR" altLang="en-US" sz="1600"/>
              <a:t>Conjuntos de Protocolos</a:t>
            </a:r>
            <a:br>
              <a:rPr lang="pt-BR" altLang="en-US" sz="1600"/>
            </a:br>
            <a:r>
              <a:rPr lang="pt-BR"/>
              <a:t>Suíte </a:t>
            </a:r>
            <a:r>
              <a:rPr lang="pt-BR"/>
              <a:t>do Protocolo TCP/IP de Redes</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3958" t="33333" r="20139" b="4103"/>
          <a:stretch>
            <a:fillRect/>
          </a:stretch>
        </p:blipFill>
        <p:spPr>
          <a:xfrm>
            <a:off x="3393440" y="1014095"/>
            <a:ext cx="5639435" cy="3418840"/>
          </a:xfrm>
          <a:prstGeom prst="rect">
            <a:avLst/>
          </a:prstGeom>
        </p:spPr>
      </p:pic>
    </p:spTree>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123574" y="867947"/>
            <a:ext cx="4361340" cy="859252"/>
          </a:xfrm>
        </p:spPr>
        <p:txBody>
          <a:bodyPr/>
          <a:lstStyle/>
          <a:p>
            <a:pPr marL="0" indent="0" algn="ctr" rtl="0">
              <a:buFont typeface="Arial" panose="020B0604020202020204" pitchFamily="34" charset="0"/>
              <a:buNone/>
            </a:pPr>
            <a:r>
              <a:rPr lang="pt-BR" sz="1900"/>
              <a:t>Um </a:t>
            </a:r>
            <a:r>
              <a:rPr lang="pt-BR" sz="1900" b="1"/>
              <a:t>servidor Web</a:t>
            </a:r>
            <a:r>
              <a:rPr lang="pt-BR" sz="1900"/>
              <a:t> </a:t>
            </a:r>
            <a:r>
              <a:rPr lang="pt-BR" sz="1900" b="1">
                <a:solidFill>
                  <a:srgbClr val="FF0000"/>
                </a:solidFill>
              </a:rPr>
              <a:t>Encapsulando </a:t>
            </a:r>
            <a:r>
              <a:rPr lang="pt-BR" sz="1900"/>
              <a:t>e enviando uma página da Web para um cliente.</a:t>
            </a:r>
            <a:endParaRPr lang="pt-BR" sz="1900"/>
          </a:p>
        </p:txBody>
      </p:sp>
      <p:sp>
        <p:nvSpPr>
          <p:cNvPr id="9" name="Content Placeholder 2"/>
          <p:cNvSpPr txBox="1"/>
          <p:nvPr/>
        </p:nvSpPr>
        <p:spPr bwMode="auto">
          <a:xfrm>
            <a:off x="4659086" y="867947"/>
            <a:ext cx="4361340" cy="859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lstStyle>
            <a:lvl1pPr marL="170180" indent="-170180" algn="l" defTabSz="684530"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MS PGothic" charset="0"/>
                <a:cs typeface="CiscoSans"/>
              </a:defRPr>
            </a:lvl1pPr>
            <a:lvl2pPr marL="358775" indent="-215900" algn="l" defTabSz="684530" rtl="0" eaLnBrk="1" fontAlgn="base" hangingPunct="1">
              <a:lnSpc>
                <a:spcPct val="100000"/>
              </a:lnSpc>
              <a:spcBef>
                <a:spcPts val="300"/>
              </a:spcBef>
              <a:spcAft>
                <a:spcPts val="300"/>
              </a:spcAft>
              <a:buClr>
                <a:schemeClr val="tx2"/>
              </a:buClr>
              <a:buFont typeface="Arial" panose="020B0604020202020204" pitchFamily="34" charset="0"/>
              <a:buChar char="•"/>
              <a:defRPr lang="en-US" sz="1400" kern="1200">
                <a:solidFill>
                  <a:srgbClr val="000000"/>
                </a:solidFill>
                <a:latin typeface="+mn-lt"/>
                <a:ea typeface="MS PGothic" charset="0"/>
                <a:cs typeface="CiscoSans"/>
              </a:defRPr>
            </a:lvl2pPr>
            <a:lvl3pPr marL="431800" indent="-170180" algn="l" defTabSz="684530" rtl="0" eaLnBrk="1" fontAlgn="base" hangingPunct="1">
              <a:lnSpc>
                <a:spcPct val="100000"/>
              </a:lnSpc>
              <a:spcBef>
                <a:spcPts val="300"/>
              </a:spcBef>
              <a:spcAft>
                <a:spcPts val="300"/>
              </a:spcAft>
              <a:buFont typeface="Arial" panose="020B0604020202020204" pitchFamily="34" charset="0"/>
              <a:buChar char="•"/>
              <a:defRPr lang="en-US" sz="1200" kern="1200">
                <a:solidFill>
                  <a:srgbClr val="000000"/>
                </a:solidFill>
                <a:latin typeface="+mn-lt"/>
                <a:ea typeface="MS PGothic" charset="0"/>
                <a:cs typeface="CiscoSans"/>
              </a:defRPr>
            </a:lvl3pPr>
            <a:lvl4pPr marL="503555" indent="-170180" algn="l" defTabSz="684530" rtl="0" eaLnBrk="1" fontAlgn="base" hangingPunct="1">
              <a:lnSpc>
                <a:spcPct val="100000"/>
              </a:lnSpc>
              <a:spcBef>
                <a:spcPts val="300"/>
              </a:spcBef>
              <a:spcAft>
                <a:spcPts val="300"/>
              </a:spcAft>
              <a:buFont typeface="Arial" panose="020B0604020202020204" pitchFamily="34" charset="0"/>
              <a:buChar char="•"/>
              <a:defRPr lang="en-US" sz="1100" kern="1200">
                <a:solidFill>
                  <a:srgbClr val="000000"/>
                </a:solidFill>
                <a:latin typeface="+mn-lt"/>
                <a:ea typeface="MS PGothic" charset="0"/>
                <a:cs typeface="CiscoSans"/>
              </a:defRPr>
            </a:lvl4pPr>
            <a:lvl5pPr marL="574675" indent="-170180" algn="l" defTabSz="684530" rtl="0" eaLnBrk="1" fontAlgn="base" hangingPunct="1">
              <a:lnSpc>
                <a:spcPct val="95000"/>
              </a:lnSpc>
              <a:spcBef>
                <a:spcPts val="625"/>
              </a:spcBef>
              <a:spcAft>
                <a:spcPct val="0"/>
              </a:spcAft>
              <a:buFont typeface="Arial" panose="020B0604020202020204" pitchFamily="34" charset="0"/>
              <a:buChar char="•"/>
              <a:defRPr lang="en-US" sz="1100" kern="1200" dirty="0">
                <a:solidFill>
                  <a:schemeClr val="tx1"/>
                </a:solidFill>
                <a:latin typeface="+mn-lt"/>
                <a:ea typeface="MS PGothic" charset="0"/>
                <a:cs typeface="CiscoSans"/>
              </a:defRPr>
            </a:lvl5pPr>
            <a:lvl6pPr marL="863600" indent="-171450" algn="l" defTabSz="685800" rtl="0" eaLnBrk="1" latinLnBrk="0" hangingPunct="1">
              <a:spcBef>
                <a:spcPts val="600"/>
              </a:spcBef>
              <a:buFont typeface="Arial" panose="020B0604020202020204" pitchFamily="34" charset="0"/>
              <a:buChar char="•"/>
              <a:defRPr sz="900" kern="1200" baseline="0">
                <a:solidFill>
                  <a:schemeClr val="tx1"/>
                </a:solidFill>
                <a:latin typeface="+mn-lt"/>
                <a:ea typeface="+mn-ea"/>
                <a:cs typeface="+mn-cs"/>
              </a:defRPr>
            </a:lvl6pPr>
            <a:lvl7pPr marL="935990" indent="-171450" algn="l" defTabSz="685800" rtl="0" eaLnBrk="1" latinLnBrk="0" hangingPunct="1">
              <a:spcBef>
                <a:spcPts val="600"/>
              </a:spcBef>
              <a:buFont typeface="Arial" panose="020B0604020202020204" pitchFamily="34" charset="0"/>
              <a:buChar char="•"/>
              <a:defRPr sz="800" kern="1200" baseline="0">
                <a:solidFill>
                  <a:schemeClr val="tx1"/>
                </a:solidFill>
                <a:latin typeface="+mn-lt"/>
                <a:ea typeface="+mn-ea"/>
                <a:cs typeface="+mn-cs"/>
              </a:defRPr>
            </a:lvl7pPr>
            <a:lvl8pPr marL="2400300" indent="0" algn="l" defTabSz="685800" rtl="0" eaLnBrk="1" latinLnBrk="0" hangingPunct="1">
              <a:spcBef>
                <a:spcPct val="20000"/>
              </a:spcBef>
              <a:buFont typeface="Arial" panose="020B0604020202020204" pitchFamily="34" charset="0"/>
              <a:buNone/>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0" indent="0" algn="ctr" rtl="0">
              <a:buFont typeface="Arial" panose="020B0604020202020204" pitchFamily="34" charset="0"/>
              <a:buNone/>
            </a:pPr>
            <a:r>
              <a:rPr lang="pt-BR" sz="1900"/>
              <a:t>Um cliente </a:t>
            </a:r>
            <a:r>
              <a:rPr lang="pt-BR" sz="1900" b="1">
                <a:solidFill>
                  <a:srgbClr val="FF0000"/>
                </a:solidFill>
              </a:rPr>
              <a:t>Desencapsulando </a:t>
            </a:r>
            <a:r>
              <a:rPr lang="pt-BR" sz="1900"/>
              <a:t>a página da Web para o </a:t>
            </a:r>
            <a:r>
              <a:rPr lang="pt-BR" sz="1900" b="1"/>
              <a:t>navegador da Web</a:t>
            </a:r>
            <a:endParaRPr lang="pt-BR" sz="1900" b="1"/>
          </a:p>
        </p:txBody>
      </p:sp>
      <p:sp>
        <p:nvSpPr>
          <p:cNvPr id="3" name="Title 1"/>
          <p:cNvSpPr>
            <a:spLocks noGrp="1"/>
          </p:cNvSpPr>
          <p:nvPr>
            <p:ph type="title"/>
          </p:nvPr>
        </p:nvSpPr>
        <p:spPr/>
        <p:txBody>
          <a:bodyPr/>
          <a:p>
            <a:pPr rtl="0"/>
            <a:r>
              <a:rPr lang="pt-BR" altLang="en-US" sz="1600"/>
              <a:t>Conjuntos de Protocolos</a:t>
            </a:r>
            <a:br>
              <a:rPr lang="pt-BR" altLang="en-US" sz="1600"/>
            </a:br>
            <a:r>
              <a:rPr lang="pt-BR"/>
              <a:t>Processo de Comunicação do </a:t>
            </a:r>
            <a:r>
              <a:rPr lang="pt-BR"/>
              <a:t>Protocolo TCP/IP de Redes</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31010" t="43410" r="30458" b="16026"/>
          <a:stretch>
            <a:fillRect/>
          </a:stretch>
        </p:blipFill>
        <p:spPr>
          <a:xfrm>
            <a:off x="104775" y="1841500"/>
            <a:ext cx="4361815" cy="2487295"/>
          </a:xfrm>
          <a:prstGeom prst="rect">
            <a:avLst/>
          </a:prstGeom>
        </p:spPr>
      </p:pic>
      <p:pic>
        <p:nvPicPr>
          <p:cNvPr id="6" name="Imagem 5"/>
          <p:cNvPicPr>
            <a:picLocks noChangeAspect="1"/>
          </p:cNvPicPr>
          <p:nvPr/>
        </p:nvPicPr>
        <p:blipFill>
          <a:blip r:embed="rId2">
            <a:clrChange>
              <a:clrFrom>
                <a:srgbClr val="FFFFFF">
                  <a:alpha val="100000"/>
                </a:srgbClr>
              </a:clrFrom>
              <a:clrTo>
                <a:srgbClr val="FFFFFF">
                  <a:alpha val="100000"/>
                  <a:alpha val="0"/>
                </a:srgbClr>
              </a:clrTo>
            </a:clrChange>
          </a:blip>
          <a:srcRect l="30903" t="33077" r="30347" b="25256"/>
          <a:stretch>
            <a:fillRect/>
          </a:stretch>
        </p:blipFill>
        <p:spPr>
          <a:xfrm>
            <a:off x="4504690" y="1796415"/>
            <a:ext cx="4498340" cy="2620010"/>
          </a:xfrm>
          <a:prstGeom prst="rect">
            <a:avLst/>
          </a:prstGeom>
        </p:spPr>
      </p:pic>
    </p:spTree>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480559"/>
            <a:ext cx="8231464" cy="1802391"/>
          </a:xfrm>
        </p:spPr>
        <p:txBody>
          <a:bodyPr/>
          <a:lstStyle/>
          <a:p>
            <a:pPr rtl="0"/>
            <a:r>
              <a:rPr lang="pt-BR">
                <a:solidFill>
                  <a:schemeClr val="accent5">
                    <a:lumMod val="40000"/>
                    <a:lumOff val="60000"/>
                  </a:schemeClr>
                </a:solidFill>
              </a:rPr>
              <a:t>3.4 - Empresas de Padrões de Redes</a:t>
            </a:r>
            <a:endParaRPr lang="pt-BR">
              <a:solidFill>
                <a:schemeClr val="accent5">
                  <a:lumMod val="40000"/>
                  <a:lumOff val="60000"/>
                </a:schemeClr>
              </a:solidFill>
            </a:endParaRPr>
          </a:p>
        </p:txBody>
      </p:sp>
    </p:spTree>
    <p:custDataLst>
      <p:tags r:id="rId1"/>
    </p:custData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pPr rtl="0"/>
            <a:r>
              <a:rPr lang="pt-BR" sz="1600"/>
              <a:t>Empresas de Padrões</a:t>
            </a:r>
            <a:br>
              <a:rPr lang="en-US" altLang="en-US" sz="1600" dirty="0"/>
            </a:br>
            <a:r>
              <a:rPr lang="pt-BR"/>
              <a:t>Padrões Abertos</a:t>
            </a:r>
            <a:endParaRPr lang="pt-BR"/>
          </a:p>
        </p:txBody>
      </p:sp>
      <p:sp>
        <p:nvSpPr>
          <p:cNvPr id="55299" name="Rectangle 3"/>
          <p:cNvSpPr>
            <a:spLocks noGrp="1" noChangeArrowheads="1"/>
          </p:cNvSpPr>
          <p:nvPr>
            <p:ph type="body" idx="1"/>
          </p:nvPr>
        </p:nvSpPr>
        <p:spPr>
          <a:xfrm>
            <a:off x="84455" y="676910"/>
            <a:ext cx="3519805" cy="3950335"/>
          </a:xfrm>
        </p:spPr>
        <p:txBody>
          <a:bodyPr/>
          <a:lstStyle/>
          <a:p>
            <a:pPr marL="0" indent="0" rtl="0">
              <a:buNone/>
            </a:pPr>
            <a:r>
              <a:rPr lang="pt-BR" sz="1600" b="1"/>
              <a:t>As normas abertas incentivam:</a:t>
            </a:r>
            <a:endParaRPr lang="pt-BR" sz="1600" b="1"/>
          </a:p>
          <a:p>
            <a:pPr rtl="0">
              <a:buFont typeface="Arial" panose="020B0604020202020204" pitchFamily="34" charset="0"/>
              <a:buChar char="•"/>
            </a:pPr>
            <a:r>
              <a:rPr lang="pt-BR" sz="1600" b="1">
                <a:solidFill>
                  <a:srgbClr val="FF0000"/>
                </a:solidFill>
              </a:rPr>
              <a:t>Interoperabilidade</a:t>
            </a:r>
            <a:endParaRPr lang="pt-BR" sz="1600" b="1">
              <a:solidFill>
                <a:srgbClr val="FF0000"/>
              </a:solidFill>
            </a:endParaRPr>
          </a:p>
          <a:p>
            <a:pPr rtl="0">
              <a:buFont typeface="Arial" panose="020B0604020202020204" pitchFamily="34" charset="0"/>
              <a:buChar char="•"/>
            </a:pPr>
            <a:r>
              <a:rPr lang="pt-BR" sz="1600" b="1">
                <a:solidFill>
                  <a:srgbClr val="FF0000"/>
                </a:solidFill>
              </a:rPr>
              <a:t>Concorrência</a:t>
            </a:r>
            <a:endParaRPr lang="pt-BR" sz="1600" b="1">
              <a:solidFill>
                <a:srgbClr val="FF0000"/>
              </a:solidFill>
            </a:endParaRPr>
          </a:p>
          <a:p>
            <a:pPr rtl="0">
              <a:buFont typeface="Arial" panose="020B0604020202020204" pitchFamily="34" charset="0"/>
              <a:buChar char="•"/>
            </a:pPr>
            <a:r>
              <a:rPr lang="pt-BR" sz="1600" b="1">
                <a:solidFill>
                  <a:srgbClr val="FF0000"/>
                </a:solidFill>
              </a:rPr>
              <a:t>Negócios</a:t>
            </a:r>
            <a:endParaRPr lang="pt-BR" sz="1600" b="1">
              <a:solidFill>
                <a:srgbClr val="FF0000"/>
              </a:solidFill>
            </a:endParaRPr>
          </a:p>
          <a:p>
            <a:pPr marL="0" indent="0" rtl="0">
              <a:buNone/>
            </a:pPr>
            <a:r>
              <a:rPr lang="pt-BR" sz="1600" b="1"/>
              <a:t>As organizações de padrões são:</a:t>
            </a:r>
            <a:endParaRPr lang="pt-BR" sz="1600" b="1"/>
          </a:p>
          <a:p>
            <a:pPr rtl="0">
              <a:buFont typeface="Arial" panose="020B0604020202020204" pitchFamily="34" charset="0"/>
              <a:buChar char="•"/>
            </a:pPr>
            <a:r>
              <a:rPr lang="pt-BR" sz="1600" b="1">
                <a:solidFill>
                  <a:srgbClr val="FF0000"/>
                </a:solidFill>
              </a:rPr>
              <a:t>Fornecedor neutro</a:t>
            </a:r>
            <a:r>
              <a:rPr lang="pt-BR" sz="1600">
                <a:solidFill>
                  <a:srgbClr val="FF0000"/>
                </a:solidFill>
              </a:rPr>
              <a:t> </a:t>
            </a:r>
            <a:endParaRPr lang="pt-BR" sz="1600">
              <a:solidFill>
                <a:srgbClr val="FF0000"/>
              </a:solidFill>
            </a:endParaRPr>
          </a:p>
          <a:p>
            <a:pPr rtl="0">
              <a:buFont typeface="Arial" panose="020B0604020202020204" pitchFamily="34" charset="0"/>
              <a:buChar char="•"/>
            </a:pPr>
            <a:r>
              <a:rPr lang="pt-BR" sz="1600" b="1">
                <a:solidFill>
                  <a:srgbClr val="FF0000"/>
                </a:solidFill>
              </a:rPr>
              <a:t>Organizações sem Fins Lucrativos</a:t>
            </a:r>
            <a:r>
              <a:rPr lang="pt-BR" sz="1600">
                <a:solidFill>
                  <a:srgbClr val="FF0000"/>
                </a:solidFill>
              </a:rPr>
              <a:t> </a:t>
            </a:r>
            <a:endParaRPr lang="pt-BR" sz="1600">
              <a:solidFill>
                <a:srgbClr val="FF0000"/>
              </a:solidFill>
            </a:endParaRPr>
          </a:p>
          <a:p>
            <a:pPr rtl="0">
              <a:buFont typeface="Arial" panose="020B0604020202020204" pitchFamily="34" charset="0"/>
              <a:buChar char="•"/>
            </a:pPr>
            <a:r>
              <a:rPr lang="pt-BR" sz="1600"/>
              <a:t>Criado para </a:t>
            </a:r>
            <a:r>
              <a:rPr lang="pt-BR" sz="1600" b="1">
                <a:solidFill>
                  <a:srgbClr val="FF0000"/>
                </a:solidFill>
              </a:rPr>
              <a:t>desenvolver e promover</a:t>
            </a:r>
            <a:r>
              <a:rPr lang="pt-BR" sz="1600">
                <a:solidFill>
                  <a:srgbClr val="FF0000"/>
                </a:solidFill>
              </a:rPr>
              <a:t> </a:t>
            </a:r>
            <a:r>
              <a:rPr lang="pt-BR" sz="1600"/>
              <a:t>o conceito de normas abertas. </a:t>
            </a:r>
            <a:endParaRPr lang="pt-BR" sz="1600"/>
          </a:p>
        </p:txBody>
      </p:sp>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77895" y="602615"/>
            <a:ext cx="5525770" cy="39389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noChangeArrowheads="1"/>
          </p:cNvSpPr>
          <p:nvPr>
            <p:ph type="body" idx="1"/>
          </p:nvPr>
        </p:nvSpPr>
        <p:spPr>
          <a:xfrm>
            <a:off x="92710" y="666115"/>
            <a:ext cx="4105910" cy="3988435"/>
          </a:xfrm>
        </p:spPr>
        <p:txBody>
          <a:bodyPr/>
          <a:lstStyle/>
          <a:p>
            <a:pPr algn="just" rtl="0">
              <a:buFont typeface="Arial" panose="020B0604020202020204" pitchFamily="34" charset="0"/>
              <a:buChar char="•"/>
            </a:pPr>
            <a:r>
              <a:rPr lang="pt-BR" sz="1600" b="1">
                <a:solidFill>
                  <a:srgbClr val="FF0000"/>
                </a:solidFill>
              </a:rPr>
              <a:t>Internet Society (ISOC)</a:t>
            </a:r>
            <a:r>
              <a:rPr lang="pt-BR" sz="1600"/>
              <a:t> - Promove o desenvolvimento aberto e a evolução da Internet</a:t>
            </a:r>
            <a:endParaRPr lang="pt-BR" sz="1600"/>
          </a:p>
          <a:p>
            <a:pPr algn="just" rtl="0">
              <a:buFont typeface="Arial" panose="020B0604020202020204" pitchFamily="34" charset="0"/>
              <a:buChar char="•"/>
            </a:pPr>
            <a:r>
              <a:rPr lang="pt-BR" sz="1600" b="1">
                <a:solidFill>
                  <a:srgbClr val="FF0000"/>
                </a:solidFill>
              </a:rPr>
              <a:t>Conselho de Arquitetura da Internet (IAB)</a:t>
            </a:r>
            <a:r>
              <a:rPr lang="pt-BR" sz="1600"/>
              <a:t> - Responsável pelo gerenciamento e desenvolvimento geral dos padrões da Internet.</a:t>
            </a:r>
            <a:endParaRPr lang="pt-BR" sz="1600"/>
          </a:p>
          <a:p>
            <a:pPr algn="just" rtl="0">
              <a:buFont typeface="Arial" panose="020B0604020202020204" pitchFamily="34" charset="0"/>
              <a:buChar char="•"/>
            </a:pPr>
            <a:r>
              <a:rPr lang="pt-BR" sz="1600" b="1">
                <a:solidFill>
                  <a:srgbClr val="FF0000"/>
                </a:solidFill>
              </a:rPr>
              <a:t>IETF (Internet Engineering Task Force)</a:t>
            </a:r>
            <a:r>
              <a:rPr lang="pt-BR" sz="1600"/>
              <a:t> - Desenvolve, atualiza e mantém tecnologias de Internet e TCP / IP</a:t>
            </a:r>
            <a:endParaRPr lang="pt-BR" sz="1600"/>
          </a:p>
          <a:p>
            <a:pPr algn="just" rtl="0">
              <a:buFont typeface="Arial" panose="020B0604020202020204" pitchFamily="34" charset="0"/>
              <a:buChar char="•"/>
            </a:pPr>
            <a:r>
              <a:rPr lang="pt-BR" sz="1600" b="1">
                <a:solidFill>
                  <a:srgbClr val="FF0000"/>
                </a:solidFill>
              </a:rPr>
              <a:t>Força-Tarefa de Pesquisa na Internet (IRTF)</a:t>
            </a:r>
            <a:r>
              <a:rPr lang="pt-BR" sz="1600"/>
              <a:t> - Focada em pesquisas de longo prazo relacionadas à Internet e aos protocolos TCP / IP</a:t>
            </a:r>
            <a:endParaRPr lang="pt-BR" sz="1600"/>
          </a:p>
        </p:txBody>
      </p:sp>
      <p:sp>
        <p:nvSpPr>
          <p:cNvPr id="3" name="Rectangle 2"/>
          <p:cNvSpPr>
            <a:spLocks noGrp="1" noChangeArrowheads="1"/>
          </p:cNvSpPr>
          <p:nvPr>
            <p:ph type="title"/>
          </p:nvPr>
        </p:nvSpPr>
        <p:spPr>
          <a:xfrm>
            <a:off x="0" y="0"/>
            <a:ext cx="9144000" cy="757551"/>
          </a:xfrm>
        </p:spPr>
        <p:txBody>
          <a:bodyPr/>
          <a:p>
            <a:pPr rtl="0"/>
            <a:r>
              <a:rPr lang="pt-BR" sz="1600"/>
              <a:t>Empresas de Padrões</a:t>
            </a:r>
            <a:br>
              <a:rPr lang="en-US" altLang="en-US" sz="1600" dirty="0"/>
            </a:br>
            <a:r>
              <a:rPr lang="pt-BR"/>
              <a:t>Padrões Ethernet</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8563" t="31897" r="27854" b="3205"/>
          <a:stretch>
            <a:fillRect/>
          </a:stretch>
        </p:blipFill>
        <p:spPr>
          <a:xfrm>
            <a:off x="4098290" y="668655"/>
            <a:ext cx="4941570" cy="3985895"/>
          </a:xfrm>
          <a:prstGeom prst="rect">
            <a:avLst/>
          </a:prstGeom>
        </p:spPr>
      </p:pic>
    </p:spTree>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noChangeArrowheads="1"/>
          </p:cNvSpPr>
          <p:nvPr>
            <p:ph type="body" idx="1"/>
          </p:nvPr>
        </p:nvSpPr>
        <p:spPr>
          <a:xfrm>
            <a:off x="80010" y="757555"/>
            <a:ext cx="4031615" cy="3672205"/>
          </a:xfrm>
        </p:spPr>
        <p:txBody>
          <a:bodyPr/>
          <a:lstStyle/>
          <a:p>
            <a:pPr marL="0" indent="0" algn="just" rtl="0">
              <a:buNone/>
            </a:pPr>
            <a:r>
              <a:rPr lang="pt-BR" sz="1600"/>
              <a:t>Organizações de padrões envolvidas no </a:t>
            </a:r>
            <a:r>
              <a:rPr lang="pt-BR" sz="1600" b="1"/>
              <a:t>desenvolvimento e suporte de TCP / IP</a:t>
            </a:r>
            <a:endParaRPr lang="pt-BR" sz="1600"/>
          </a:p>
          <a:p>
            <a:pPr lvl="1" algn="just" rtl="0"/>
            <a:r>
              <a:rPr lang="pt-BR" sz="1600" b="1">
                <a:solidFill>
                  <a:srgbClr val="FF0000"/>
                </a:solidFill>
              </a:rPr>
              <a:t>Corporação da Internet para nomes e números atribuídos (ICANN)</a:t>
            </a:r>
            <a:r>
              <a:rPr lang="pt-BR" sz="1600"/>
              <a:t> - Coordena a alocação de endereços IP, o gerenciamento de nomes de domínio e a atribuição de outras informações</a:t>
            </a:r>
            <a:endParaRPr lang="pt-BR" sz="1600"/>
          </a:p>
          <a:p>
            <a:pPr lvl="1" algn="just" rtl="0"/>
            <a:r>
              <a:rPr lang="pt-BR" sz="1600" b="1">
                <a:solidFill>
                  <a:srgbClr val="FF0000"/>
                </a:solidFill>
              </a:rPr>
              <a:t>Autoridade para atribuição de números da Internet (IANA)</a:t>
            </a:r>
            <a:r>
              <a:rPr lang="pt-BR" sz="1600"/>
              <a:t> - supervisiona e gerencia a alocação de endereços IP, o gerenciamento de nomes de domínio e os identificadores de protocolo da ICANN</a:t>
            </a:r>
            <a:endParaRPr lang="pt-BR" sz="1600"/>
          </a:p>
        </p:txBody>
      </p:sp>
      <p:sp>
        <p:nvSpPr>
          <p:cNvPr id="3" name="Rectangle 2"/>
          <p:cNvSpPr>
            <a:spLocks noGrp="1" noChangeArrowheads="1"/>
          </p:cNvSpPr>
          <p:nvPr>
            <p:ph type="title"/>
          </p:nvPr>
        </p:nvSpPr>
        <p:spPr>
          <a:xfrm>
            <a:off x="0" y="0"/>
            <a:ext cx="9144000" cy="757551"/>
          </a:xfrm>
        </p:spPr>
        <p:txBody>
          <a:bodyPr/>
          <a:p>
            <a:pPr rtl="0"/>
            <a:r>
              <a:rPr lang="pt-BR" sz="1600"/>
              <a:t>Empresas de Padrões</a:t>
            </a:r>
            <a:br>
              <a:rPr lang="en-US" altLang="en-US" sz="1600" dirty="0"/>
            </a:br>
            <a:r>
              <a:rPr lang="pt-BR"/>
              <a:t>Padrões Ethernet (Continuação)</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8486" t="32045" r="29118" b="17333"/>
          <a:stretch>
            <a:fillRect/>
          </a:stretch>
        </p:blipFill>
        <p:spPr>
          <a:xfrm>
            <a:off x="3979545" y="951865"/>
            <a:ext cx="5077460" cy="3284220"/>
          </a:xfrm>
          <a:prstGeom prst="rect">
            <a:avLst/>
          </a:prstGeom>
        </p:spPr>
      </p:pic>
    </p:spTree>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pPr rtl="0"/>
            <a:r>
              <a:rPr lang="pt-BR" sz="1600">
                <a:sym typeface="+mn-ea"/>
              </a:rPr>
              <a:t>Empresas de Padrões</a:t>
            </a:r>
            <a:br>
              <a:rPr lang="en-US" altLang="en-US" sz="1600" dirty="0"/>
            </a:br>
            <a:r>
              <a:rPr lang="pt-BR"/>
              <a:t>Padrões Eletrônicos e de Comunicações de Redes</a:t>
            </a:r>
            <a:endParaRPr lang="pt-BR"/>
          </a:p>
        </p:txBody>
      </p:sp>
      <p:sp>
        <p:nvSpPr>
          <p:cNvPr id="55299" name="Rectangle 3"/>
          <p:cNvSpPr>
            <a:spLocks noGrp="1" noChangeArrowheads="1"/>
          </p:cNvSpPr>
          <p:nvPr>
            <p:ph type="body" idx="1"/>
          </p:nvPr>
        </p:nvSpPr>
        <p:spPr>
          <a:xfrm>
            <a:off x="116114" y="757551"/>
            <a:ext cx="8785081" cy="3794491"/>
          </a:xfrm>
        </p:spPr>
        <p:txBody>
          <a:bodyPr/>
          <a:lstStyle/>
          <a:p>
            <a:pPr marL="0" indent="0" algn="just" rtl="0">
              <a:buFont typeface="Arial" panose="020B0604020202020204" pitchFamily="34" charset="0"/>
              <a:buNone/>
            </a:pPr>
            <a:r>
              <a:rPr lang="pt-BR" sz="1700" b="1">
                <a:solidFill>
                  <a:srgbClr val="FF0000"/>
                </a:solidFill>
              </a:rPr>
              <a:t>Instituto de Engenheiros Elétricos e Eletrônicos IEEE</a:t>
            </a:r>
            <a:r>
              <a:rPr lang="pt-BR" sz="1700" b="1"/>
              <a:t> </a:t>
            </a:r>
            <a:r>
              <a:rPr lang="pt-BR" sz="1700"/>
              <a:t>(pronunciado "I-triple-E") - dedicado à criação de </a:t>
            </a:r>
            <a:r>
              <a:rPr lang="pt-BR" sz="1700" b="1">
                <a:solidFill>
                  <a:srgbClr val="0070C0"/>
                </a:solidFill>
              </a:rPr>
              <a:t>padrões em potência e energia</a:t>
            </a:r>
            <a:r>
              <a:rPr lang="pt-BR" sz="1700"/>
              <a:t>, saúde, telecomunicações e redes</a:t>
            </a:r>
            <a:endParaRPr lang="pt-BR" sz="1700"/>
          </a:p>
          <a:p>
            <a:pPr marL="0" indent="0" algn="just" rtl="0">
              <a:buFont typeface="Arial" panose="020B0604020202020204" pitchFamily="34" charset="0"/>
              <a:buNone/>
            </a:pPr>
            <a:r>
              <a:rPr lang="pt-BR" sz="1700" b="1">
                <a:solidFill>
                  <a:srgbClr val="FF0000"/>
                </a:solidFill>
              </a:rPr>
              <a:t>Electronic Industries Alliance EIA (Descontinuada)</a:t>
            </a:r>
            <a:r>
              <a:rPr lang="pt-BR" sz="1700"/>
              <a:t> - desenvolve padrões relacionados à </a:t>
            </a:r>
            <a:r>
              <a:rPr lang="pt-BR" sz="1700" b="1">
                <a:solidFill>
                  <a:srgbClr val="0070C0"/>
                </a:solidFill>
              </a:rPr>
              <a:t>fiação elétrica, conectores e racks de 19 polegadas</a:t>
            </a:r>
            <a:r>
              <a:rPr lang="pt-BR" sz="1700"/>
              <a:t> usados para montar equipamentos de rede</a:t>
            </a:r>
            <a:endParaRPr lang="pt-BR" sz="1700"/>
          </a:p>
          <a:p>
            <a:pPr marL="0" indent="0" algn="just" rtl="0">
              <a:buFont typeface="Arial" panose="020B0604020202020204" pitchFamily="34" charset="0"/>
              <a:buNone/>
            </a:pPr>
            <a:r>
              <a:rPr lang="pt-BR" sz="1700" b="1">
                <a:solidFill>
                  <a:srgbClr val="FF0000"/>
                </a:solidFill>
              </a:rPr>
              <a:t>Associação da Indústria de Telecomunicações TIA</a:t>
            </a:r>
            <a:r>
              <a:rPr lang="pt-BR" sz="1700">
                <a:solidFill>
                  <a:srgbClr val="FF0000"/>
                </a:solidFill>
              </a:rPr>
              <a:t> </a:t>
            </a:r>
            <a:r>
              <a:rPr lang="pt-BR" sz="1700"/>
              <a:t>- desenvolve padrões de comunicação em equipamentos de </a:t>
            </a:r>
            <a:r>
              <a:rPr lang="pt-BR" sz="1700" b="1">
                <a:solidFill>
                  <a:srgbClr val="0070C0"/>
                </a:solidFill>
              </a:rPr>
              <a:t>rádio, torres celulares, dispositivos de Voz sobre IP (VoIP), comunicações por satélite e muito mais (Principal Norma)</a:t>
            </a:r>
            <a:endParaRPr lang="pt-BR" sz="1700"/>
          </a:p>
          <a:p>
            <a:pPr marL="0" indent="0" algn="just" rtl="0">
              <a:buFont typeface="Arial" panose="020B0604020202020204" pitchFamily="34" charset="0"/>
              <a:buNone/>
            </a:pPr>
            <a:r>
              <a:rPr lang="pt-BR" sz="1700" b="1">
                <a:solidFill>
                  <a:srgbClr val="FF0000"/>
                </a:solidFill>
              </a:rPr>
              <a:t>Setor de padronização de telecomunicações e união internacional de telecomunicações ITU-T</a:t>
            </a:r>
            <a:r>
              <a:rPr lang="pt-BR" sz="1700"/>
              <a:t> - define padrões para compactação de vídeo, </a:t>
            </a:r>
            <a:r>
              <a:rPr lang="pt-BR" sz="1700" b="1">
                <a:solidFill>
                  <a:srgbClr val="0070C0"/>
                </a:solidFill>
              </a:rPr>
              <a:t>IPTV (Internet Protocol Television) e comunicações de banda larga</a:t>
            </a:r>
            <a:r>
              <a:rPr lang="pt-BR" sz="1700"/>
              <a:t>, como uma linha de assinante digital (DSL)</a:t>
            </a:r>
            <a:endParaRPr lang="pt-BR" sz="1700"/>
          </a:p>
        </p:txBody>
      </p:sp>
    </p:spTree>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pPr rtl="0"/>
            <a:r>
              <a:rPr lang="pt-BR">
                <a:solidFill>
                  <a:schemeClr val="accent5">
                    <a:lumMod val="40000"/>
                    <a:lumOff val="60000"/>
                  </a:schemeClr>
                </a:solidFill>
              </a:rPr>
              <a:t>3.5 - Modelos de Referência</a:t>
            </a:r>
            <a:endParaRPr lang="pt-BR">
              <a:solidFill>
                <a:schemeClr val="accent5">
                  <a:lumMod val="40000"/>
                  <a:lumOff val="60000"/>
                </a:schemeClr>
              </a:solidFill>
            </a:endParaRPr>
          </a:p>
        </p:txBody>
      </p:sp>
    </p:spTree>
    <p:custDataLst>
      <p:tags r:id="rId1"/>
    </p:custData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pt-BR" sz="1600"/>
              <a:t>Modelos de Referência</a:t>
            </a:r>
            <a:br>
              <a:rPr lang="pt-BR"/>
            </a:br>
            <a:r>
              <a:rPr lang="pt-BR"/>
              <a:t>Os Benefícios de se Usar um Modelo de Camadas em Redes</a:t>
            </a:r>
            <a:endParaRPr lang="pt-BR"/>
          </a:p>
        </p:txBody>
      </p:sp>
      <p:sp>
        <p:nvSpPr>
          <p:cNvPr id="13315" name="Content Placeholder 2"/>
          <p:cNvSpPr>
            <a:spLocks noGrp="1"/>
          </p:cNvSpPr>
          <p:nvPr>
            <p:ph idx="1"/>
          </p:nvPr>
        </p:nvSpPr>
        <p:spPr>
          <a:xfrm>
            <a:off x="127000" y="798830"/>
            <a:ext cx="3211195" cy="3789045"/>
          </a:xfrm>
        </p:spPr>
        <p:txBody>
          <a:bodyPr/>
          <a:lstStyle/>
          <a:p>
            <a:pPr marL="0" indent="0" algn="just" rtl="0">
              <a:buNone/>
            </a:pPr>
            <a:r>
              <a:rPr lang="pt-BR" sz="1600"/>
              <a:t>Conceitos complexos, como a forma como uma rede opera, podem ser difíceis de explicar e compreender. Por esse motivo, um </a:t>
            </a:r>
            <a:r>
              <a:rPr lang="pt-BR" sz="1600" b="1">
                <a:solidFill>
                  <a:srgbClr val="FF0000"/>
                </a:solidFill>
              </a:rPr>
              <a:t>Modelo em Camadas</a:t>
            </a:r>
            <a:r>
              <a:rPr lang="pt-BR" sz="1600">
                <a:solidFill>
                  <a:srgbClr val="000000"/>
                </a:solidFill>
              </a:rPr>
              <a:t> é usado.</a:t>
            </a:r>
            <a:endParaRPr lang="pt-BR" sz="1600">
              <a:solidFill>
                <a:srgbClr val="000000"/>
              </a:solidFill>
            </a:endParaRPr>
          </a:p>
          <a:p>
            <a:pPr marL="0" indent="0" algn="just" rtl="0">
              <a:buNone/>
            </a:pPr>
            <a:r>
              <a:rPr lang="pt-BR" sz="1600" b="1">
                <a:solidFill>
                  <a:srgbClr val="FF0000"/>
                </a:solidFill>
              </a:rPr>
              <a:t>Dois Modelos</a:t>
            </a:r>
            <a:r>
              <a:rPr lang="pt-BR" sz="1600"/>
              <a:t> em camadas descrevem as operações de rede:</a:t>
            </a:r>
            <a:endParaRPr lang="pt-BR" sz="1600"/>
          </a:p>
          <a:p>
            <a:pPr algn="just" rtl="0">
              <a:buFont typeface="Arial" panose="020B0604020202020204" pitchFamily="34" charset="0"/>
              <a:buChar char="•"/>
            </a:pPr>
            <a:r>
              <a:rPr lang="pt-BR" sz="1600" b="1">
                <a:solidFill>
                  <a:srgbClr val="0070C0"/>
                </a:solidFill>
              </a:rPr>
              <a:t>Modelo de referência OSI (Open System Interconnection)</a:t>
            </a:r>
            <a:endParaRPr lang="pt-BR" sz="1600" b="1">
              <a:solidFill>
                <a:srgbClr val="0070C0"/>
              </a:solidFill>
            </a:endParaRPr>
          </a:p>
          <a:p>
            <a:pPr algn="just" rtl="0">
              <a:buFont typeface="Arial" panose="020B0604020202020204" pitchFamily="34" charset="0"/>
              <a:buChar char="•"/>
            </a:pPr>
            <a:r>
              <a:rPr lang="pt-BR" sz="1600" b="1">
                <a:solidFill>
                  <a:srgbClr val="0070C0"/>
                </a:solidFill>
              </a:rPr>
              <a:t>Modelo de referência TCP/IP</a:t>
            </a:r>
            <a:endParaRPr lang="en-CA" altLang="en-US" dirty="0"/>
          </a:p>
        </p:txBody>
      </p:sp>
      <p:pic>
        <p:nvPicPr>
          <p:cNvPr id="2" name="Imagem 1"/>
          <p:cNvPicPr>
            <a:picLocks noChangeAspect="1"/>
          </p:cNvPicPr>
          <p:nvPr/>
        </p:nvPicPr>
        <p:blipFill>
          <a:blip r:embed="rId1">
            <a:clrChange>
              <a:clrFrom>
                <a:srgbClr val="FFFFFF">
                  <a:alpha val="100000"/>
                </a:srgbClr>
              </a:clrFrom>
              <a:clrTo>
                <a:srgbClr val="FFFFFF">
                  <a:alpha val="100000"/>
                  <a:alpha val="0"/>
                </a:srgbClr>
              </a:clrTo>
            </a:clrChange>
          </a:blip>
          <a:srcRect l="27066" t="26654" r="27538" b="6558"/>
          <a:stretch>
            <a:fillRect/>
          </a:stretch>
        </p:blipFill>
        <p:spPr>
          <a:xfrm>
            <a:off x="3262630" y="798830"/>
            <a:ext cx="5735955" cy="3870960"/>
          </a:xfrm>
          <a:prstGeom prst="rect">
            <a:avLst/>
          </a:prstGeom>
        </p:spPr>
      </p:pic>
    </p:spTree>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90805" y="798830"/>
            <a:ext cx="4624070" cy="3895090"/>
          </a:xfrm>
        </p:spPr>
        <p:txBody>
          <a:bodyPr/>
          <a:lstStyle/>
          <a:p>
            <a:pPr marL="0" indent="0" algn="just" rtl="0">
              <a:buNone/>
            </a:pPr>
            <a:r>
              <a:rPr lang="pt-BR" sz="1400"/>
              <a:t>Estes são os benefícios do uso de um modelo em camadas:</a:t>
            </a:r>
            <a:endParaRPr lang="pt-BR" sz="1400"/>
          </a:p>
          <a:p>
            <a:pPr algn="just" rtl="0">
              <a:buFont typeface="Arial" panose="020B0604020202020204" pitchFamily="34" charset="0"/>
              <a:buChar char="•"/>
            </a:pPr>
            <a:r>
              <a:rPr lang="pt-BR" sz="1400" b="1">
                <a:solidFill>
                  <a:srgbClr val="FF0000"/>
                </a:solidFill>
              </a:rPr>
              <a:t>Auxiliar no projeto de protocolos</a:t>
            </a:r>
            <a:r>
              <a:rPr lang="pt-BR" sz="1400"/>
              <a:t> porque os protocolos que operam em uma camada específica definiram as informações sobre as quais atuam e uma interface definida para as camadas acima e abaixo</a:t>
            </a:r>
            <a:endParaRPr lang="pt-BR" sz="1400"/>
          </a:p>
          <a:p>
            <a:pPr algn="just" rtl="0">
              <a:buFont typeface="Arial" panose="020B0604020202020204" pitchFamily="34" charset="0"/>
              <a:buChar char="•"/>
            </a:pPr>
            <a:r>
              <a:rPr lang="pt-BR" sz="1400" b="1">
                <a:solidFill>
                  <a:srgbClr val="FF0000"/>
                </a:solidFill>
              </a:rPr>
              <a:t>Estimula a competição</a:t>
            </a:r>
            <a:r>
              <a:rPr lang="pt-BR" sz="1400"/>
              <a:t> porque os produtos de diferentes fornecedores podem trabalhar em conjunto</a:t>
            </a:r>
            <a:endParaRPr lang="pt-BR" sz="1400"/>
          </a:p>
          <a:p>
            <a:pPr algn="just" rtl="0">
              <a:buFont typeface="Arial" panose="020B0604020202020204" pitchFamily="34" charset="0"/>
              <a:buChar char="•"/>
            </a:pPr>
            <a:r>
              <a:rPr lang="pt-BR" sz="1400" b="1">
                <a:solidFill>
                  <a:srgbClr val="FF0000"/>
                </a:solidFill>
              </a:rPr>
              <a:t>Impedir que alterações de tecnologia ou capacidade</a:t>
            </a:r>
            <a:r>
              <a:rPr lang="pt-BR" sz="1400"/>
              <a:t> em uma camada afetem outras camadas acima e abaixo</a:t>
            </a:r>
            <a:endParaRPr lang="pt-BR" sz="1400"/>
          </a:p>
          <a:p>
            <a:pPr algn="just" rtl="0">
              <a:buFont typeface="Arial" panose="020B0604020202020204" pitchFamily="34" charset="0"/>
              <a:buChar char="•"/>
            </a:pPr>
            <a:r>
              <a:rPr lang="pt-BR" sz="1400" b="1">
                <a:solidFill>
                  <a:srgbClr val="FF0000"/>
                </a:solidFill>
              </a:rPr>
              <a:t>Fornece um idioma comum</a:t>
            </a:r>
            <a:r>
              <a:rPr lang="pt-BR" sz="1400"/>
              <a:t> para descrever funções e habilidades de rede. </a:t>
            </a:r>
            <a:endParaRPr lang="en-CA" altLang="en-US" sz="1400" dirty="0"/>
          </a:p>
        </p:txBody>
      </p:sp>
      <p:sp>
        <p:nvSpPr>
          <p:cNvPr id="3" name="Title 1"/>
          <p:cNvSpPr>
            <a:spLocks noGrp="1"/>
          </p:cNvSpPr>
          <p:nvPr>
            <p:ph type="title"/>
          </p:nvPr>
        </p:nvSpPr>
        <p:spPr/>
        <p:txBody>
          <a:bodyPr/>
          <a:p>
            <a:pPr rtl="0"/>
            <a:r>
              <a:rPr lang="pt-BR" sz="1600"/>
              <a:t>Modelos de Referência</a:t>
            </a:r>
            <a:br>
              <a:rPr lang="pt-BR"/>
            </a:br>
            <a:r>
              <a:rPr lang="pt-BR"/>
              <a:t>Os Benefícios de se Usar um Modelo de Camadas em Redes</a:t>
            </a:r>
            <a:endParaRPr lang="pt-BR"/>
          </a:p>
        </p:txBody>
      </p:sp>
      <p:pic>
        <p:nvPicPr>
          <p:cNvPr id="8" name="Imagem 7" descr="remover-removebg-preview"/>
          <p:cNvPicPr>
            <a:picLocks noChangeAspect="1"/>
          </p:cNvPicPr>
          <p:nvPr/>
        </p:nvPicPr>
        <p:blipFill>
          <a:blip r:embed="rId1"/>
          <a:stretch>
            <a:fillRect/>
          </a:stretch>
        </p:blipFill>
        <p:spPr>
          <a:xfrm>
            <a:off x="4714875" y="762000"/>
            <a:ext cx="4274820" cy="3931920"/>
          </a:xfrm>
          <a:prstGeom prst="rect">
            <a:avLst/>
          </a:prstGeom>
        </p:spPr>
      </p:pic>
    </p:spTree>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106045" y="635635"/>
          <a:ext cx="8923655" cy="3950970"/>
        </p:xfrm>
        <a:graphic>
          <a:graphicData uri="http://schemas.openxmlformats.org/drawingml/2006/table">
            <a:tbl>
              <a:tblPr firstRow="1" firstCol="1" bandRow="1">
                <a:tableStyleId>{5C22544A-7EE6-4342-B048-85BDC9FD1C3A}</a:tableStyleId>
              </a:tblPr>
              <a:tblGrid>
                <a:gridCol w="2191385"/>
                <a:gridCol w="6732270"/>
              </a:tblGrid>
              <a:tr h="518795">
                <a:tc>
                  <a:txBody>
                    <a:bodyPr/>
                    <a:lstStyle/>
                    <a:p>
                      <a:pPr algn="ctr" rtl="0"/>
                      <a:r>
                        <a:rPr lang="pt-BR" b="1">
                          <a:effectLst/>
                        </a:rPr>
                        <a:t>Camadas do Modelo OSI</a:t>
                      </a:r>
                      <a:endParaRPr lang="pt-BR" b="1">
                        <a:effectLst/>
                      </a:endParaRPr>
                    </a:p>
                  </a:txBody>
                  <a:tcPr anchor="ctr"/>
                </a:tc>
                <a:tc>
                  <a:txBody>
                    <a:bodyPr/>
                    <a:lstStyle/>
                    <a:p>
                      <a:pPr algn="ctr" rtl="0"/>
                      <a:r>
                        <a:rPr lang="pt-BR" b="1">
                          <a:effectLst/>
                        </a:rPr>
                        <a:t>Descrição</a:t>
                      </a:r>
                      <a:endParaRPr lang="pt-BR" b="1">
                        <a:effectLst/>
                      </a:endParaRPr>
                    </a:p>
                  </a:txBody>
                  <a:tcPr anchor="ctr"/>
                </a:tc>
              </a:tr>
              <a:tr h="305435">
                <a:tc>
                  <a:txBody>
                    <a:bodyPr/>
                    <a:lstStyle/>
                    <a:p>
                      <a:pPr algn="ctr" rtl="0"/>
                      <a:r>
                        <a:rPr lang="pt-BR" sz="1800" b="1">
                          <a:solidFill>
                            <a:srgbClr val="FF0000"/>
                          </a:solidFill>
                        </a:rPr>
                        <a:t>7 - Aplicação</a:t>
                      </a:r>
                      <a:endParaRPr lang="pt-BR" sz="1800" b="1">
                        <a:solidFill>
                          <a:srgbClr val="FF0000"/>
                        </a:solidFill>
                      </a:endParaRPr>
                    </a:p>
                  </a:txBody>
                  <a:tcPr anchor="ctr"/>
                </a:tc>
                <a:tc>
                  <a:txBody>
                    <a:bodyPr/>
                    <a:lstStyle/>
                    <a:p>
                      <a:pPr algn="ctr" rtl="0"/>
                      <a:r>
                        <a:rPr lang="pt-BR" sz="1450"/>
                        <a:t>Contém protocolos usados para</a:t>
                      </a:r>
                      <a:r>
                        <a:rPr lang="pt-BR" sz="1450" b="1"/>
                        <a:t> comunicações processo a processo</a:t>
                      </a:r>
                      <a:endParaRPr lang="pt-BR" sz="1450" b="1"/>
                    </a:p>
                  </a:txBody>
                  <a:tcPr anchor="ctr"/>
                </a:tc>
              </a:tr>
              <a:tr h="518795">
                <a:tc>
                  <a:txBody>
                    <a:bodyPr/>
                    <a:lstStyle/>
                    <a:p>
                      <a:pPr algn="ctr" rtl="0"/>
                      <a:r>
                        <a:rPr lang="pt-BR" sz="1800" b="1">
                          <a:solidFill>
                            <a:srgbClr val="FFFF00"/>
                          </a:solidFill>
                        </a:rPr>
                        <a:t>6 - Apresentação</a:t>
                      </a:r>
                      <a:endParaRPr lang="pt-BR" sz="1800" b="1">
                        <a:solidFill>
                          <a:srgbClr val="FFFF00"/>
                        </a:solidFill>
                      </a:endParaRPr>
                    </a:p>
                  </a:txBody>
                  <a:tcPr anchor="ctr"/>
                </a:tc>
                <a:tc>
                  <a:txBody>
                    <a:bodyPr/>
                    <a:lstStyle/>
                    <a:p>
                      <a:pPr algn="ctr" rtl="0"/>
                      <a:r>
                        <a:rPr lang="pt-BR" sz="1450"/>
                        <a:t>Fornece </a:t>
                      </a:r>
                      <a:r>
                        <a:rPr lang="pt-BR" sz="1450" b="1"/>
                        <a:t>representação comum dos dados</a:t>
                      </a:r>
                      <a:r>
                        <a:rPr lang="pt-BR" sz="1450"/>
                        <a:t> transferidos entre os serviços da camada de aplicativo.</a:t>
                      </a:r>
                      <a:endParaRPr lang="pt-BR" sz="1450"/>
                    </a:p>
                  </a:txBody>
                  <a:tcPr anchor="ctr"/>
                </a:tc>
              </a:tr>
              <a:tr h="519430">
                <a:tc>
                  <a:txBody>
                    <a:bodyPr/>
                    <a:lstStyle/>
                    <a:p>
                      <a:pPr algn="ctr" rtl="0"/>
                      <a:r>
                        <a:rPr lang="pt-BR" sz="1800" b="1">
                          <a:solidFill>
                            <a:srgbClr val="00B050"/>
                          </a:solidFill>
                        </a:rPr>
                        <a:t>5 - Sessão</a:t>
                      </a:r>
                      <a:endParaRPr lang="pt-BR" sz="1800" b="1">
                        <a:solidFill>
                          <a:srgbClr val="00B050"/>
                        </a:solidFill>
                      </a:endParaRPr>
                    </a:p>
                  </a:txBody>
                  <a:tcPr anchor="ctr"/>
                </a:tc>
                <a:tc>
                  <a:txBody>
                    <a:bodyPr/>
                    <a:lstStyle/>
                    <a:p>
                      <a:pPr algn="ctr" rtl="0"/>
                      <a:r>
                        <a:rPr lang="pt-BR" sz="1450"/>
                        <a:t>Fornece </a:t>
                      </a:r>
                      <a:r>
                        <a:rPr lang="pt-BR" sz="1450" b="1"/>
                        <a:t>serviços para a camada de apresentação</a:t>
                      </a:r>
                      <a:r>
                        <a:rPr lang="pt-BR" sz="1450"/>
                        <a:t> e para gerenciar a troca de dados.</a:t>
                      </a:r>
                      <a:endParaRPr lang="pt-BR" sz="1450"/>
                    </a:p>
                  </a:txBody>
                  <a:tcPr anchor="ctr"/>
                </a:tc>
              </a:tr>
              <a:tr h="518795">
                <a:tc>
                  <a:txBody>
                    <a:bodyPr/>
                    <a:lstStyle/>
                    <a:p>
                      <a:pPr algn="ctr" rtl="0"/>
                      <a:r>
                        <a:rPr lang="pt-BR" sz="1800" b="1">
                          <a:solidFill>
                            <a:srgbClr val="00B0F0"/>
                          </a:solidFill>
                        </a:rPr>
                        <a:t>4 - Transporte</a:t>
                      </a:r>
                      <a:endParaRPr lang="pt-BR" sz="1800" b="1">
                        <a:solidFill>
                          <a:srgbClr val="00B0F0"/>
                        </a:solidFill>
                      </a:endParaRPr>
                    </a:p>
                  </a:txBody>
                  <a:tcPr anchor="ctr"/>
                </a:tc>
                <a:tc>
                  <a:txBody>
                    <a:bodyPr/>
                    <a:lstStyle/>
                    <a:p>
                      <a:pPr algn="ctr" rtl="0"/>
                      <a:r>
                        <a:rPr lang="pt-BR" sz="1450"/>
                        <a:t>Define </a:t>
                      </a:r>
                      <a:r>
                        <a:rPr lang="pt-BR" sz="1450" b="1"/>
                        <a:t>serviços para segmentar, transferir e remontar os dados</a:t>
                      </a:r>
                      <a:r>
                        <a:rPr lang="pt-BR" sz="1450"/>
                        <a:t> para comunicações individuais.</a:t>
                      </a:r>
                      <a:endParaRPr lang="pt-BR" sz="1450"/>
                    </a:p>
                  </a:txBody>
                  <a:tcPr anchor="ctr"/>
                </a:tc>
              </a:tr>
              <a:tr h="485775">
                <a:tc>
                  <a:txBody>
                    <a:bodyPr/>
                    <a:lstStyle/>
                    <a:p>
                      <a:pPr algn="ctr" rtl="0"/>
                      <a:r>
                        <a:rPr lang="pt-BR" sz="1800" b="1">
                          <a:solidFill>
                            <a:srgbClr val="7030A0"/>
                          </a:solidFill>
                        </a:rPr>
                        <a:t>3 - Rede</a:t>
                      </a:r>
                      <a:endParaRPr lang="pt-BR" sz="1800" b="1">
                        <a:solidFill>
                          <a:srgbClr val="7030A0"/>
                        </a:solidFill>
                      </a:endParaRPr>
                    </a:p>
                  </a:txBody>
                  <a:tcPr anchor="ctr"/>
                </a:tc>
                <a:tc>
                  <a:txBody>
                    <a:bodyPr/>
                    <a:lstStyle/>
                    <a:p>
                      <a:pPr algn="ctr" rtl="0"/>
                      <a:r>
                        <a:rPr lang="pt-BR" sz="1450"/>
                        <a:t>Fornece </a:t>
                      </a:r>
                      <a:r>
                        <a:rPr lang="pt-BR" sz="1450" b="1"/>
                        <a:t>serviços para troca de dados individuais</a:t>
                      </a:r>
                      <a:r>
                        <a:rPr lang="pt-BR" sz="1450"/>
                        <a:t> pela rede.</a:t>
                      </a:r>
                      <a:endParaRPr lang="pt-BR" sz="1450"/>
                    </a:p>
                  </a:txBody>
                  <a:tcPr anchor="ctr"/>
                </a:tc>
              </a:tr>
              <a:tr h="487045">
                <a:tc>
                  <a:txBody>
                    <a:bodyPr/>
                    <a:lstStyle/>
                    <a:p>
                      <a:pPr algn="ctr" rtl="0"/>
                      <a:r>
                        <a:rPr lang="pt-BR" sz="1800" b="1">
                          <a:solidFill>
                            <a:schemeClr val="accent6">
                              <a:lumMod val="75000"/>
                            </a:schemeClr>
                          </a:solidFill>
                        </a:rPr>
                        <a:t>2 - Link de Dados</a:t>
                      </a:r>
                      <a:endParaRPr lang="pt-BR" sz="1800" b="1">
                        <a:solidFill>
                          <a:schemeClr val="accent6">
                            <a:lumMod val="75000"/>
                          </a:schemeClr>
                        </a:solidFill>
                      </a:endParaRPr>
                    </a:p>
                  </a:txBody>
                  <a:tcPr anchor="ctr"/>
                </a:tc>
                <a:tc>
                  <a:txBody>
                    <a:bodyPr/>
                    <a:lstStyle/>
                    <a:p>
                      <a:pPr algn="ctr" rtl="0"/>
                      <a:r>
                        <a:rPr lang="pt-BR" sz="1450"/>
                        <a:t>Descreve </a:t>
                      </a:r>
                      <a:r>
                        <a:rPr lang="pt-BR" sz="1450" b="1"/>
                        <a:t>métodos para a troca de quadros de dados</a:t>
                      </a:r>
                      <a:r>
                        <a:rPr lang="pt-BR" sz="1450"/>
                        <a:t> em uma mídia comum.</a:t>
                      </a:r>
                      <a:endParaRPr lang="pt-BR" sz="1450"/>
                    </a:p>
                  </a:txBody>
                  <a:tcPr anchor="ctr"/>
                </a:tc>
              </a:tr>
              <a:tr h="536575">
                <a:tc>
                  <a:txBody>
                    <a:bodyPr/>
                    <a:lstStyle/>
                    <a:p>
                      <a:pPr algn="ctr" rtl="0"/>
                      <a:r>
                        <a:rPr lang="pt-BR" sz="1800" b="1"/>
                        <a:t>1 - Físico</a:t>
                      </a:r>
                      <a:endParaRPr lang="pt-BR" sz="1800" b="1"/>
                    </a:p>
                  </a:txBody>
                  <a:tcPr anchor="ctr"/>
                </a:tc>
                <a:tc>
                  <a:txBody>
                    <a:bodyPr/>
                    <a:lstStyle/>
                    <a:p>
                      <a:pPr algn="ctr" rtl="0"/>
                      <a:r>
                        <a:rPr lang="pt-BR" sz="1450"/>
                        <a:t>Descreve os</a:t>
                      </a:r>
                      <a:r>
                        <a:rPr lang="pt-BR" sz="1450" baseline="0"/>
                        <a:t> </a:t>
                      </a:r>
                      <a:r>
                        <a:rPr lang="pt-BR" sz="1450" b="1"/>
                        <a:t>meios para ativar, manter e desativar</a:t>
                      </a:r>
                      <a:r>
                        <a:rPr lang="pt-BR" sz="1450"/>
                        <a:t> conexões físicas.</a:t>
                      </a:r>
                      <a:endParaRPr lang="pt-BR" sz="1450"/>
                    </a:p>
                  </a:txBody>
                  <a:tcPr anchor="ctr"/>
                </a:tc>
              </a:tr>
            </a:tbl>
          </a:graphicData>
        </a:graphic>
      </p:graphicFrame>
      <p:sp>
        <p:nvSpPr>
          <p:cNvPr id="6" name="Title 1"/>
          <p:cNvSpPr>
            <a:spLocks noGrp="1"/>
          </p:cNvSpPr>
          <p:nvPr>
            <p:ph type="title"/>
          </p:nvPr>
        </p:nvSpPr>
        <p:spPr>
          <a:xfrm>
            <a:off x="635" y="5080"/>
            <a:ext cx="9142730" cy="731520"/>
          </a:xfrm>
        </p:spPr>
        <p:txBody>
          <a:bodyPr/>
          <a:p>
            <a:pPr rtl="0"/>
            <a:r>
              <a:rPr lang="pt-BR" sz="1600"/>
              <a:t>Modelos de Referência</a:t>
            </a:r>
            <a:br>
              <a:rPr lang="pt-BR"/>
            </a:br>
            <a:r>
              <a:rPr lang="pt-BR" sz="2400"/>
              <a:t>O Modelo de Referência OSI para Redes</a:t>
            </a:r>
            <a:endParaRPr lang="pt-BR" sz="2400"/>
          </a:p>
        </p:txBody>
      </p:sp>
    </p:spTree>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01601"/>
            <a:ext cx="8783638" cy="754742"/>
          </a:xfrm>
        </p:spPr>
        <p:txBody>
          <a:bodyPr/>
          <a:lstStyle/>
          <a:p>
            <a:pPr rtl="0"/>
            <a:r>
              <a:rPr lang="pt-BR" sz="1600"/>
              <a:t>Modelos de referência</a:t>
            </a:r>
            <a:br>
              <a:rPr lang="en-US" altLang="en-US" dirty="0"/>
            </a:br>
            <a:r>
              <a:rPr lang="pt-BR" sz="2400"/>
              <a:t>O Modelo de Referência TCP/IP de Redes</a:t>
            </a:r>
            <a:endParaRPr lang="pt-BR" sz="2400"/>
          </a:p>
        </p:txBody>
      </p:sp>
      <p:graphicFrame>
        <p:nvGraphicFramePr>
          <p:cNvPr id="5" name="Table 4"/>
          <p:cNvGraphicFramePr>
            <a:graphicFrameLocks noGrp="1"/>
          </p:cNvGraphicFramePr>
          <p:nvPr/>
        </p:nvGraphicFramePr>
        <p:xfrm>
          <a:off x="146685" y="856615"/>
          <a:ext cx="8789670" cy="3278505"/>
        </p:xfrm>
        <a:graphic>
          <a:graphicData uri="http://schemas.openxmlformats.org/drawingml/2006/table">
            <a:tbl>
              <a:tblPr firstRow="1" firstCol="1" bandRow="1">
                <a:tableStyleId>{5C22544A-7EE6-4342-B048-85BDC9FD1C3A}</a:tableStyleId>
              </a:tblPr>
              <a:tblGrid>
                <a:gridCol w="2141220"/>
                <a:gridCol w="6648450"/>
              </a:tblGrid>
              <a:tr h="518160">
                <a:tc>
                  <a:txBody>
                    <a:bodyPr/>
                    <a:lstStyle/>
                    <a:p>
                      <a:pPr algn="ctr" rtl="0"/>
                      <a:r>
                        <a:rPr lang="pt-BR" sz="2000" b="1">
                          <a:effectLst/>
                        </a:rPr>
                        <a:t>Camadas do Modelo TCP/IP</a:t>
                      </a:r>
                      <a:endParaRPr lang="pt-BR" sz="2000" b="1">
                        <a:effectLst/>
                      </a:endParaRPr>
                    </a:p>
                  </a:txBody>
                  <a:tcPr anchor="ctr"/>
                </a:tc>
                <a:tc>
                  <a:txBody>
                    <a:bodyPr/>
                    <a:lstStyle/>
                    <a:p>
                      <a:pPr algn="ctr" rtl="0"/>
                      <a:r>
                        <a:rPr lang="pt-BR" sz="2000" b="1">
                          <a:effectLst/>
                        </a:rPr>
                        <a:t>Descrição</a:t>
                      </a:r>
                      <a:endParaRPr lang="pt-BR" sz="2000" b="1">
                        <a:effectLst/>
                      </a:endParaRPr>
                    </a:p>
                  </a:txBody>
                  <a:tcPr anchor="ctr"/>
                </a:tc>
              </a:tr>
              <a:tr h="304800">
                <a:tc>
                  <a:txBody>
                    <a:bodyPr/>
                    <a:lstStyle/>
                    <a:p>
                      <a:pPr algn="ctr" rtl="0"/>
                      <a:r>
                        <a:rPr lang="pt-BR" sz="2300" b="1">
                          <a:solidFill>
                            <a:srgbClr val="FF0000"/>
                          </a:solidFill>
                        </a:rPr>
                        <a:t>Aplicação</a:t>
                      </a:r>
                      <a:endParaRPr lang="pt-BR" sz="2300" b="1">
                        <a:solidFill>
                          <a:srgbClr val="FF0000"/>
                        </a:solidFill>
                      </a:endParaRPr>
                    </a:p>
                  </a:txBody>
                  <a:tcPr anchor="ctr"/>
                </a:tc>
                <a:tc>
                  <a:txBody>
                    <a:bodyPr/>
                    <a:lstStyle/>
                    <a:p>
                      <a:pPr algn="ctr" rtl="0"/>
                      <a:r>
                        <a:rPr lang="pt-BR" sz="2300"/>
                        <a:t>Representa </a:t>
                      </a:r>
                      <a:r>
                        <a:rPr lang="pt-BR" sz="2300" b="1"/>
                        <a:t>dados para o usuário</a:t>
                      </a:r>
                      <a:r>
                        <a:rPr lang="pt-BR" sz="2300"/>
                        <a:t>, além do controle de codificação e de diálogo.</a:t>
                      </a:r>
                      <a:endParaRPr lang="pt-BR" sz="2300"/>
                    </a:p>
                  </a:txBody>
                  <a:tcPr anchor="ctr"/>
                </a:tc>
              </a:tr>
              <a:tr h="473710">
                <a:tc>
                  <a:txBody>
                    <a:bodyPr/>
                    <a:lstStyle/>
                    <a:p>
                      <a:pPr algn="ctr" rtl="0"/>
                      <a:r>
                        <a:rPr lang="pt-BR" sz="2300" b="1">
                          <a:solidFill>
                            <a:srgbClr val="FFFF00"/>
                          </a:solidFill>
                        </a:rPr>
                        <a:t>Transporte</a:t>
                      </a:r>
                      <a:endParaRPr lang="pt-BR" sz="2300" b="1">
                        <a:solidFill>
                          <a:srgbClr val="FFFF00"/>
                        </a:solidFill>
                      </a:endParaRPr>
                    </a:p>
                  </a:txBody>
                  <a:tcPr anchor="ctr"/>
                </a:tc>
                <a:tc>
                  <a:txBody>
                    <a:bodyPr/>
                    <a:lstStyle/>
                    <a:p>
                      <a:pPr algn="ctr" rtl="0"/>
                      <a:r>
                        <a:rPr lang="pt-BR" sz="2300"/>
                        <a:t>Permite a </a:t>
                      </a:r>
                      <a:r>
                        <a:rPr lang="pt-BR" sz="2300" b="1"/>
                        <a:t>comunicação entre vários dispositivos</a:t>
                      </a:r>
                      <a:r>
                        <a:rPr lang="pt-BR" sz="2300"/>
                        <a:t> diferentes em redes distintas.</a:t>
                      </a:r>
                      <a:endParaRPr lang="pt-BR" sz="2300"/>
                    </a:p>
                  </a:txBody>
                  <a:tcPr anchor="ctr"/>
                </a:tc>
              </a:tr>
              <a:tr h="474345">
                <a:tc>
                  <a:txBody>
                    <a:bodyPr/>
                    <a:lstStyle/>
                    <a:p>
                      <a:pPr algn="ctr" rtl="0"/>
                      <a:r>
                        <a:rPr lang="pt-BR" sz="2300" b="1">
                          <a:solidFill>
                            <a:srgbClr val="00B050"/>
                          </a:solidFill>
                        </a:rPr>
                        <a:t>Internet</a:t>
                      </a:r>
                      <a:endParaRPr lang="pt-BR" sz="2300" b="1">
                        <a:solidFill>
                          <a:srgbClr val="00B050"/>
                        </a:solidFill>
                      </a:endParaRPr>
                    </a:p>
                  </a:txBody>
                  <a:tcPr anchor="ctr"/>
                </a:tc>
                <a:tc>
                  <a:txBody>
                    <a:bodyPr/>
                    <a:lstStyle/>
                    <a:p>
                      <a:pPr algn="ctr" rtl="0"/>
                      <a:r>
                        <a:rPr lang="pt-BR" sz="2300"/>
                        <a:t>Determina o </a:t>
                      </a:r>
                      <a:r>
                        <a:rPr lang="pt-BR" sz="2300" b="1"/>
                        <a:t>melhor caminho</a:t>
                      </a:r>
                      <a:r>
                        <a:rPr lang="pt-BR" sz="2300"/>
                        <a:t> pela rede.</a:t>
                      </a:r>
                      <a:endParaRPr lang="pt-BR" sz="2300"/>
                    </a:p>
                  </a:txBody>
                  <a:tcPr anchor="ctr"/>
                </a:tc>
              </a:tr>
              <a:tr h="506095">
                <a:tc>
                  <a:txBody>
                    <a:bodyPr/>
                    <a:lstStyle/>
                    <a:p>
                      <a:pPr algn="ctr" rtl="0"/>
                      <a:r>
                        <a:rPr lang="pt-BR" sz="2300" b="1"/>
                        <a:t> </a:t>
                      </a:r>
                      <a:r>
                        <a:rPr lang="pt-BR" sz="2300" b="1">
                          <a:solidFill>
                            <a:srgbClr val="00B0F0"/>
                          </a:solidFill>
                        </a:rPr>
                        <a:t>Endereço de Rede</a:t>
                      </a:r>
                      <a:endParaRPr lang="pt-BR" sz="2300" b="1">
                        <a:solidFill>
                          <a:srgbClr val="00B0F0"/>
                        </a:solidFill>
                      </a:endParaRPr>
                    </a:p>
                  </a:txBody>
                  <a:tcPr anchor="ctr"/>
                </a:tc>
                <a:tc>
                  <a:txBody>
                    <a:bodyPr/>
                    <a:lstStyle/>
                    <a:p>
                      <a:pPr algn="ctr" rtl="0"/>
                      <a:r>
                        <a:rPr lang="pt-BR" sz="2300"/>
                        <a:t>Controla os </a:t>
                      </a:r>
                      <a:r>
                        <a:rPr lang="pt-BR" sz="2300" b="1"/>
                        <a:t>dispositivos de hardware e o meio físico</a:t>
                      </a:r>
                      <a:r>
                        <a:rPr lang="pt-BR" sz="2300"/>
                        <a:t> que formam a rede.</a:t>
                      </a:r>
                      <a:endParaRPr lang="pt-BR" sz="2300"/>
                    </a:p>
                  </a:txBody>
                  <a:tcPr anchor="ctr"/>
                </a:tc>
              </a:tr>
            </a:tbl>
          </a:graphicData>
        </a:graphic>
      </p:graphicFrame>
    </p:spTree>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pt-BR" sz="1600"/>
              <a:t>Modelos de referência</a:t>
            </a:r>
            <a:br>
              <a:rPr lang="en-US" altLang="en-US" dirty="0"/>
            </a:br>
            <a:r>
              <a:rPr lang="pt-BR"/>
              <a:t>Comparação dos Modelos OSI e TCP/IP para Redes</a:t>
            </a:r>
            <a:endParaRPr lang="pt-BR"/>
          </a:p>
        </p:txBody>
      </p:sp>
      <p:sp>
        <p:nvSpPr>
          <p:cNvPr id="13315" name="Content Placeholder 2"/>
          <p:cNvSpPr>
            <a:spLocks noGrp="1"/>
          </p:cNvSpPr>
          <p:nvPr>
            <p:ph idx="1"/>
          </p:nvPr>
        </p:nvSpPr>
        <p:spPr>
          <a:xfrm>
            <a:off x="103505" y="906780"/>
            <a:ext cx="3270885" cy="3655060"/>
          </a:xfrm>
        </p:spPr>
        <p:txBody>
          <a:bodyPr/>
          <a:lstStyle/>
          <a:p>
            <a:pPr marL="0" indent="0" algn="just" rtl="0">
              <a:buFont typeface="Arial" panose="020B0604020202020204" pitchFamily="34" charset="0"/>
              <a:buNone/>
            </a:pPr>
            <a:r>
              <a:rPr lang="pt-BR" sz="1650"/>
              <a:t>O </a:t>
            </a:r>
            <a:r>
              <a:rPr lang="pt-BR" sz="1650" b="1">
                <a:solidFill>
                  <a:srgbClr val="FF0000"/>
                </a:solidFill>
              </a:rPr>
              <a:t>modelo OSI</a:t>
            </a:r>
            <a:r>
              <a:rPr lang="pt-BR" sz="1650"/>
              <a:t> divide a camada de acesso à rede e a camada de aplicação do modelo TCP/IP em </a:t>
            </a:r>
            <a:r>
              <a:rPr lang="pt-BR" sz="1650" b="1"/>
              <a:t>várias camadas</a:t>
            </a:r>
            <a:r>
              <a:rPr lang="pt-BR" sz="1650"/>
              <a:t>.</a:t>
            </a:r>
            <a:endParaRPr lang="pt-BR" sz="1650"/>
          </a:p>
          <a:p>
            <a:pPr marL="0" indent="0" algn="just" rtl="0">
              <a:buFont typeface="Arial" panose="020B0604020202020204" pitchFamily="34" charset="0"/>
              <a:buNone/>
            </a:pPr>
            <a:r>
              <a:rPr lang="pt-BR" sz="1650"/>
              <a:t>O conjunto de </a:t>
            </a:r>
            <a:r>
              <a:rPr lang="pt-BR" sz="1650" b="1">
                <a:solidFill>
                  <a:srgbClr val="FF0000"/>
                </a:solidFill>
              </a:rPr>
              <a:t>protocolos TCP/IP</a:t>
            </a:r>
            <a:r>
              <a:rPr lang="pt-BR" sz="1650"/>
              <a:t> não especifica quais protocolos usar ao transmitir por meio de uma </a:t>
            </a:r>
            <a:r>
              <a:rPr lang="pt-BR" sz="1650" b="1"/>
              <a:t>mídia física</a:t>
            </a:r>
            <a:r>
              <a:rPr lang="pt-BR" sz="1650"/>
              <a:t>.</a:t>
            </a:r>
            <a:endParaRPr lang="pt-BR" sz="1650"/>
          </a:p>
          <a:p>
            <a:pPr marL="0" indent="0" algn="just" rtl="0">
              <a:buFont typeface="Arial" panose="020B0604020202020204" pitchFamily="34" charset="0"/>
              <a:buNone/>
            </a:pPr>
            <a:r>
              <a:rPr lang="pt-BR" sz="1650"/>
              <a:t>As </a:t>
            </a:r>
            <a:r>
              <a:rPr lang="pt-BR" sz="1650" b="1">
                <a:solidFill>
                  <a:srgbClr val="FF0000"/>
                </a:solidFill>
              </a:rPr>
              <a:t>Camadas 1 e 2 do modelo OSI</a:t>
            </a:r>
            <a:r>
              <a:rPr lang="pt-BR" sz="1650"/>
              <a:t> discutem os procedimentos necessários para acessar a </a:t>
            </a:r>
            <a:r>
              <a:rPr lang="pt-BR" sz="1650" b="1"/>
              <a:t>mídia e o meio físico</a:t>
            </a:r>
            <a:r>
              <a:rPr lang="pt-BR" sz="1650"/>
              <a:t> para enviar dados por uma rede.</a:t>
            </a:r>
            <a:endParaRPr lang="en-CA" altLang="en-US" sz="1650" dirty="0"/>
          </a:p>
        </p:txBody>
      </p:sp>
      <p:pic>
        <p:nvPicPr>
          <p:cNvPr id="2" name="Imagem 1"/>
          <p:cNvPicPr>
            <a:picLocks noChangeAspect="1"/>
          </p:cNvPicPr>
          <p:nvPr/>
        </p:nvPicPr>
        <p:blipFill>
          <a:blip r:embed="rId1">
            <a:clrChange>
              <a:clrFrom>
                <a:srgbClr val="FFFFFF">
                  <a:alpha val="100000"/>
                </a:srgbClr>
              </a:clrFrom>
              <a:clrTo>
                <a:srgbClr val="FFFFFF">
                  <a:alpha val="100000"/>
                  <a:alpha val="0"/>
                </a:srgbClr>
              </a:clrTo>
            </a:clrChange>
          </a:blip>
          <a:srcRect l="24542" t="28256" r="24934" b="9910"/>
          <a:stretch>
            <a:fillRect/>
          </a:stretch>
        </p:blipFill>
        <p:spPr>
          <a:xfrm>
            <a:off x="3287395" y="798830"/>
            <a:ext cx="5755640" cy="3816350"/>
          </a:xfrm>
          <a:prstGeom prst="rect">
            <a:avLst/>
          </a:prstGeom>
        </p:spPr>
      </p:pic>
    </p:spTree>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575809"/>
            <a:ext cx="8231464" cy="1802391"/>
          </a:xfrm>
        </p:spPr>
        <p:txBody>
          <a:bodyPr/>
          <a:lstStyle/>
          <a:p>
            <a:pPr rtl="0"/>
            <a:r>
              <a:rPr lang="pt-BR">
                <a:solidFill>
                  <a:schemeClr val="accent5">
                    <a:lumMod val="40000"/>
                    <a:lumOff val="60000"/>
                  </a:schemeClr>
                </a:solidFill>
              </a:rPr>
              <a:t>3.6 - Encapsulamento de Dados</a:t>
            </a:r>
            <a:endParaRPr lang="pt-BR">
              <a:solidFill>
                <a:schemeClr val="accent5">
                  <a:lumMod val="40000"/>
                  <a:lumOff val="60000"/>
                </a:schemeClr>
              </a:solidFill>
            </a:endParaRPr>
          </a:p>
        </p:txBody>
      </p:sp>
    </p:spTree>
    <p:custDataLst>
      <p:tags r:id="rId1"/>
    </p:custData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635" y="41275"/>
            <a:ext cx="9145270" cy="757555"/>
          </a:xfrm>
        </p:spPr>
        <p:txBody>
          <a:bodyPr/>
          <a:lstStyle/>
          <a:p>
            <a:pPr rtl="0"/>
            <a:r>
              <a:rPr lang="pt-BR" sz="1600"/>
              <a:t>Encapsulamento de Dados </a:t>
            </a:r>
            <a:br>
              <a:rPr lang="en-US" altLang="en-US" dirty="0"/>
            </a:br>
            <a:r>
              <a:rPr lang="pt-BR"/>
              <a:t>Segmentação e Multiplexação de Mensagens em Rede</a:t>
            </a:r>
            <a:endParaRPr lang="pt-BR"/>
          </a:p>
        </p:txBody>
      </p:sp>
      <p:sp>
        <p:nvSpPr>
          <p:cNvPr id="13315" name="Content Placeholder 2"/>
          <p:cNvSpPr>
            <a:spLocks noGrp="1"/>
          </p:cNvSpPr>
          <p:nvPr>
            <p:ph idx="1"/>
          </p:nvPr>
        </p:nvSpPr>
        <p:spPr>
          <a:xfrm>
            <a:off x="132080" y="792480"/>
            <a:ext cx="4192905" cy="3980180"/>
          </a:xfrm>
        </p:spPr>
        <p:txBody>
          <a:bodyPr/>
          <a:lstStyle/>
          <a:p>
            <a:pPr marL="0" indent="0" algn="just" rtl="0">
              <a:buNone/>
            </a:pPr>
            <a:r>
              <a:rPr lang="pt-BR" sz="1540" b="1"/>
              <a:t>Segmentação </a:t>
            </a:r>
            <a:r>
              <a:rPr lang="pt-BR" sz="1540"/>
              <a:t>é o </a:t>
            </a:r>
            <a:r>
              <a:rPr lang="pt-BR" sz="1540" b="1">
                <a:solidFill>
                  <a:srgbClr val="FF0000"/>
                </a:solidFill>
              </a:rPr>
              <a:t>processo de dividir mensagens em unidades menores</a:t>
            </a:r>
            <a:r>
              <a:rPr lang="pt-BR" sz="1540"/>
              <a:t>. </a:t>
            </a:r>
            <a:r>
              <a:rPr lang="pt-BR" sz="1540" b="1"/>
              <a:t>Multiplexação </a:t>
            </a:r>
            <a:r>
              <a:rPr lang="pt-BR" sz="1540"/>
              <a:t>é o </a:t>
            </a:r>
            <a:r>
              <a:rPr lang="pt-BR" sz="1540" b="1">
                <a:solidFill>
                  <a:srgbClr val="0070C0"/>
                </a:solidFill>
              </a:rPr>
              <a:t>processo de tomar vários fluxos de dados segmentados e intercalá-los juntos</a:t>
            </a:r>
            <a:r>
              <a:rPr lang="pt-BR" sz="1540"/>
              <a:t>.</a:t>
            </a:r>
            <a:endParaRPr lang="pt-BR" sz="1540"/>
          </a:p>
          <a:p>
            <a:pPr marL="0" indent="0" algn="just" rtl="0">
              <a:buNone/>
            </a:pPr>
            <a:r>
              <a:rPr lang="pt-BR" sz="1540"/>
              <a:t>A segmentação de mensagens apresenta </a:t>
            </a:r>
            <a:r>
              <a:rPr lang="pt-BR" sz="1540" b="1"/>
              <a:t>dois benefícios</a:t>
            </a:r>
            <a:r>
              <a:rPr lang="pt-BR" sz="1540"/>
              <a:t> principais:</a:t>
            </a:r>
            <a:endParaRPr lang="pt-BR" sz="1540"/>
          </a:p>
          <a:p>
            <a:pPr algn="just" rtl="0">
              <a:buFont typeface="Arial" panose="020B0604020202020204" pitchFamily="34" charset="0"/>
              <a:buChar char="•"/>
            </a:pPr>
            <a:r>
              <a:rPr lang="pt-BR" sz="1540" b="1">
                <a:solidFill>
                  <a:srgbClr val="FF0000"/>
                </a:solidFill>
              </a:rPr>
              <a:t>Aumenta a Velocidade</a:t>
            </a:r>
            <a:r>
              <a:rPr lang="pt-BR" sz="1540"/>
              <a:t> - É possível enviar</a:t>
            </a:r>
            <a:r>
              <a:rPr lang="pt-BR" sz="1540" b="1"/>
              <a:t> grandes quantidades de dados</a:t>
            </a:r>
            <a:r>
              <a:rPr lang="pt-BR" sz="1540"/>
              <a:t> pela rede sem vincular um link de comunicação.</a:t>
            </a:r>
            <a:endParaRPr lang="pt-BR" sz="1540"/>
          </a:p>
          <a:p>
            <a:pPr algn="just" rtl="0">
              <a:buFont typeface="Arial" panose="020B0604020202020204" pitchFamily="34" charset="0"/>
              <a:buChar char="•"/>
            </a:pPr>
            <a:r>
              <a:rPr lang="pt-BR" sz="1540" b="1">
                <a:solidFill>
                  <a:srgbClr val="FF0000"/>
                </a:solidFill>
              </a:rPr>
              <a:t>Aumenta a Eficiência</a:t>
            </a:r>
            <a:r>
              <a:rPr lang="pt-BR" sz="1540"/>
              <a:t> - Somente </a:t>
            </a:r>
            <a:r>
              <a:rPr lang="pt-BR" sz="1540" b="1"/>
              <a:t>segmentos que não conseguem alcançar o destino</a:t>
            </a:r>
            <a:r>
              <a:rPr lang="pt-BR" sz="1540"/>
              <a:t> precisam ser retransmitidos, não todo o fluxo de dados. </a:t>
            </a:r>
            <a:endParaRPr lang="pt-BR" sz="1540"/>
          </a:p>
        </p:txBody>
      </p:sp>
      <p:pic>
        <p:nvPicPr>
          <p:cNvPr id="18434" name="Picture 2"/>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4250690" y="861695"/>
            <a:ext cx="4822190" cy="36499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275"/>
            <a:ext cx="9144635" cy="757555"/>
          </a:xfrm>
        </p:spPr>
        <p:txBody>
          <a:bodyPr/>
          <a:lstStyle/>
          <a:p>
            <a:pPr rtl="0"/>
            <a:r>
              <a:rPr lang="pt-BR" sz="1600"/>
              <a:t>Encapsulamento de Dados</a:t>
            </a:r>
            <a:br>
              <a:rPr lang="en-US" altLang="en-US" dirty="0"/>
            </a:br>
            <a:r>
              <a:rPr lang="pt-BR"/>
              <a:t>Sequenciamento de Mensagens em Rede</a:t>
            </a:r>
            <a:endParaRPr lang="pt-BR"/>
          </a:p>
        </p:txBody>
      </p:sp>
      <p:sp>
        <p:nvSpPr>
          <p:cNvPr id="13315" name="Content Placeholder 2"/>
          <p:cNvSpPr>
            <a:spLocks noGrp="1"/>
          </p:cNvSpPr>
          <p:nvPr>
            <p:ph idx="1"/>
          </p:nvPr>
        </p:nvSpPr>
        <p:spPr>
          <a:xfrm>
            <a:off x="87630" y="798830"/>
            <a:ext cx="2529840" cy="3666490"/>
          </a:xfrm>
        </p:spPr>
        <p:txBody>
          <a:bodyPr/>
          <a:lstStyle/>
          <a:p>
            <a:pPr marL="0" indent="0" algn="just" rtl="0">
              <a:buNone/>
            </a:pPr>
            <a:r>
              <a:rPr lang="pt-BR" sz="1850" b="1"/>
              <a:t>Mensagens de sequenciamento</a:t>
            </a:r>
            <a:r>
              <a:rPr lang="pt-BR" sz="1850"/>
              <a:t> é o processo de </a:t>
            </a:r>
            <a:r>
              <a:rPr lang="pt-BR" sz="1850" b="1">
                <a:solidFill>
                  <a:srgbClr val="FF0000"/>
                </a:solidFill>
              </a:rPr>
              <a:t>numeração dos segmentos</a:t>
            </a:r>
            <a:r>
              <a:rPr lang="pt-BR" sz="1850"/>
              <a:t> para que a mensagem possa ser </a:t>
            </a:r>
            <a:r>
              <a:rPr lang="pt-BR" sz="1850" b="1"/>
              <a:t>remontada no destino</a:t>
            </a:r>
            <a:r>
              <a:rPr lang="pt-BR" sz="1850"/>
              <a:t>.</a:t>
            </a:r>
            <a:endParaRPr lang="pt-BR" sz="1850"/>
          </a:p>
          <a:p>
            <a:pPr marL="0" indent="0" algn="just" rtl="0">
              <a:buNone/>
            </a:pPr>
            <a:r>
              <a:rPr lang="pt-BR" sz="1850"/>
              <a:t>O </a:t>
            </a:r>
            <a:r>
              <a:rPr lang="pt-BR" sz="1850" b="1">
                <a:solidFill>
                  <a:srgbClr val="FF0000"/>
                </a:solidFill>
              </a:rPr>
              <a:t>TCP</a:t>
            </a:r>
            <a:r>
              <a:rPr lang="pt-BR" sz="1850"/>
              <a:t> é </a:t>
            </a:r>
            <a:r>
              <a:rPr lang="pt-BR" sz="1850" b="1">
                <a:solidFill>
                  <a:srgbClr val="0070C0"/>
                </a:solidFill>
              </a:rPr>
              <a:t>responsável por sequenciar os segmentos individuais</a:t>
            </a:r>
            <a:r>
              <a:rPr lang="pt-BR" sz="1850"/>
              <a:t>.</a:t>
            </a:r>
            <a:endParaRPr lang="pt-BR" sz="1850"/>
          </a:p>
        </p:txBody>
      </p:sp>
      <p:pic>
        <p:nvPicPr>
          <p:cNvPr id="2" name="Imagem 1"/>
          <p:cNvPicPr>
            <a:picLocks noChangeAspect="1"/>
          </p:cNvPicPr>
          <p:nvPr/>
        </p:nvPicPr>
        <p:blipFill>
          <a:blip r:embed="rId1">
            <a:clrChange>
              <a:clrFrom>
                <a:srgbClr val="FFFFFF">
                  <a:alpha val="100000"/>
                </a:srgbClr>
              </a:clrFrom>
              <a:clrTo>
                <a:srgbClr val="FFFFFF">
                  <a:alpha val="100000"/>
                  <a:alpha val="0"/>
                </a:srgbClr>
              </a:clrTo>
            </a:clrChange>
          </a:blip>
          <a:srcRect l="27604" t="29423" r="27917" b="8654"/>
          <a:stretch>
            <a:fillRect/>
          </a:stretch>
        </p:blipFill>
        <p:spPr>
          <a:xfrm>
            <a:off x="2563495" y="798830"/>
            <a:ext cx="6459220" cy="3851910"/>
          </a:xfrm>
          <a:prstGeom prst="rect">
            <a:avLst/>
          </a:prstGeom>
        </p:spPr>
      </p:pic>
    </p:spTree>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118110" y="758825"/>
            <a:ext cx="4239260" cy="3721100"/>
          </a:xfrm>
        </p:spPr>
        <p:txBody>
          <a:bodyPr/>
          <a:lstStyle/>
          <a:p>
            <a:pPr marL="0" indent="0" algn="just" rtl="0">
              <a:buNone/>
            </a:pPr>
            <a:r>
              <a:rPr lang="pt-BR" sz="1400" b="1"/>
              <a:t>Encapsulamento </a:t>
            </a:r>
            <a:r>
              <a:rPr lang="pt-BR" sz="1400"/>
              <a:t>é o processo em que os </a:t>
            </a:r>
            <a:r>
              <a:rPr lang="pt-BR" sz="1400" b="1">
                <a:solidFill>
                  <a:srgbClr val="FF0000"/>
                </a:solidFill>
              </a:rPr>
              <a:t>protocolos adicionam suas informações aos dados</a:t>
            </a:r>
            <a:r>
              <a:rPr lang="pt-BR" sz="1400"/>
              <a:t>.</a:t>
            </a:r>
            <a:endParaRPr lang="pt-BR" sz="1400"/>
          </a:p>
          <a:p>
            <a:pPr marL="0" indent="0" algn="just" rtl="0">
              <a:buFont typeface="Arial" panose="020B0604020202020204" pitchFamily="34" charset="0"/>
              <a:buNone/>
            </a:pPr>
            <a:r>
              <a:rPr lang="pt-BR" sz="1400"/>
              <a:t>Em cada etapa do processo, uma </a:t>
            </a:r>
            <a:r>
              <a:rPr lang="pt-BR" sz="1400" b="1">
                <a:solidFill>
                  <a:srgbClr val="FF0000"/>
                </a:solidFill>
              </a:rPr>
              <a:t>PDU </a:t>
            </a:r>
            <a:r>
              <a:rPr lang="pt-BR" sz="1400"/>
              <a:t>possui um </a:t>
            </a:r>
            <a:r>
              <a:rPr lang="pt-BR" sz="1400" b="1"/>
              <a:t>nome diferente</a:t>
            </a:r>
            <a:r>
              <a:rPr lang="pt-BR" sz="1400"/>
              <a:t> para refletir suas novas funções. </a:t>
            </a:r>
            <a:endParaRPr lang="pt-BR" sz="1400"/>
          </a:p>
          <a:p>
            <a:pPr marL="0" indent="0" algn="just" rtl="0">
              <a:buFont typeface="Arial" panose="020B0604020202020204" pitchFamily="34" charset="0"/>
              <a:buNone/>
            </a:pPr>
            <a:r>
              <a:rPr lang="pt-BR" sz="1400"/>
              <a:t>Não há </a:t>
            </a:r>
            <a:r>
              <a:rPr lang="pt-BR" sz="1400" b="1">
                <a:solidFill>
                  <a:srgbClr val="FF0000"/>
                </a:solidFill>
              </a:rPr>
              <a:t>convenção de nomenclatura universal para PDUs</a:t>
            </a:r>
            <a:r>
              <a:rPr lang="pt-BR" sz="1400"/>
              <a:t>; neste curso, as PDUs são nomeadas de acordo com os protocolos do conjunto </a:t>
            </a:r>
            <a:r>
              <a:rPr lang="pt-BR" sz="1400" b="1"/>
              <a:t>TCP/IP</a:t>
            </a:r>
            <a:r>
              <a:rPr lang="pt-BR" sz="1400"/>
              <a:t>. </a:t>
            </a:r>
            <a:endParaRPr lang="pt-BR" sz="1400"/>
          </a:p>
          <a:p>
            <a:pPr marL="0" indent="0" algn="just" rtl="0">
              <a:buFont typeface="Arial" panose="020B0604020202020204" pitchFamily="34" charset="0"/>
              <a:buNone/>
            </a:pPr>
            <a:r>
              <a:rPr lang="pt-BR" sz="1400"/>
              <a:t>PDUs passando pela pilha são nomeadas em:</a:t>
            </a:r>
            <a:endParaRPr lang="pt-BR" sz="1400"/>
          </a:p>
          <a:p>
            <a:pPr marL="485775" lvl="1" indent="-342900" algn="just" rtl="0">
              <a:buFont typeface="+mj-lt"/>
              <a:buAutoNum type="arabicPeriod"/>
            </a:pPr>
            <a:r>
              <a:rPr lang="pt-BR" sz="1400" b="1">
                <a:solidFill>
                  <a:srgbClr val="FF0000"/>
                </a:solidFill>
              </a:rPr>
              <a:t>Dados (Fluxo de Dados)</a:t>
            </a:r>
            <a:endParaRPr lang="pt-BR" sz="1400" b="1">
              <a:solidFill>
                <a:srgbClr val="FF0000"/>
              </a:solidFill>
            </a:endParaRPr>
          </a:p>
          <a:p>
            <a:pPr marL="485775" lvl="1" indent="-342900" algn="just" rtl="0">
              <a:buFont typeface="+mj-lt"/>
              <a:buAutoNum type="arabicPeriod"/>
            </a:pPr>
            <a:r>
              <a:rPr lang="pt-BR" sz="1400" b="1">
                <a:solidFill>
                  <a:srgbClr val="FF0000"/>
                </a:solidFill>
              </a:rPr>
              <a:t>Segmento</a:t>
            </a:r>
            <a:endParaRPr lang="pt-BR" sz="1400" b="1">
              <a:solidFill>
                <a:srgbClr val="FF0000"/>
              </a:solidFill>
            </a:endParaRPr>
          </a:p>
          <a:p>
            <a:pPr marL="485775" lvl="1" indent="-342900" algn="just" rtl="0">
              <a:buFont typeface="+mj-lt"/>
              <a:buAutoNum type="arabicPeriod"/>
            </a:pPr>
            <a:r>
              <a:rPr lang="pt-BR" sz="1400" b="1">
                <a:solidFill>
                  <a:srgbClr val="FF0000"/>
                </a:solidFill>
              </a:rPr>
              <a:t>Pacote</a:t>
            </a:r>
            <a:endParaRPr lang="pt-BR" sz="1400" b="1">
              <a:solidFill>
                <a:srgbClr val="FF0000"/>
              </a:solidFill>
            </a:endParaRPr>
          </a:p>
          <a:p>
            <a:pPr marL="485775" lvl="1" indent="-342900" algn="just" rtl="0">
              <a:buFont typeface="+mj-lt"/>
              <a:buAutoNum type="arabicPeriod"/>
            </a:pPr>
            <a:r>
              <a:rPr lang="pt-BR" sz="1400" b="1">
                <a:solidFill>
                  <a:srgbClr val="FF0000"/>
                </a:solidFill>
              </a:rPr>
              <a:t>Quadro</a:t>
            </a:r>
            <a:endParaRPr lang="pt-BR" sz="1400" b="1">
              <a:solidFill>
                <a:srgbClr val="FF0000"/>
              </a:solidFill>
            </a:endParaRPr>
          </a:p>
          <a:p>
            <a:pPr marL="485775" lvl="1" indent="-342900" algn="just" rtl="0">
              <a:buFont typeface="+mj-lt"/>
              <a:buAutoNum type="arabicPeriod"/>
            </a:pPr>
            <a:r>
              <a:rPr lang="pt-BR" sz="1400" b="1">
                <a:solidFill>
                  <a:srgbClr val="FF0000"/>
                </a:solidFill>
              </a:rPr>
              <a:t>Bits (Fluxo de Bits)</a:t>
            </a:r>
            <a:endParaRPr lang="pt-BR" sz="1400" b="1" dirty="0">
              <a:solidFill>
                <a:srgbClr val="FF0000"/>
              </a:solidFill>
            </a:endParaRPr>
          </a:p>
        </p:txBody>
      </p:sp>
      <p:sp>
        <p:nvSpPr>
          <p:cNvPr id="3" name="Title 1"/>
          <p:cNvSpPr>
            <a:spLocks noGrp="1"/>
          </p:cNvSpPr>
          <p:nvPr>
            <p:ph type="title"/>
          </p:nvPr>
        </p:nvSpPr>
        <p:spPr>
          <a:xfrm>
            <a:off x="0" y="41275"/>
            <a:ext cx="9144635" cy="757555"/>
          </a:xfrm>
        </p:spPr>
        <p:txBody>
          <a:bodyPr/>
          <a:p>
            <a:pPr rtl="0"/>
            <a:r>
              <a:rPr lang="pt-BR" sz="1600"/>
              <a:t>Encapsulamento de Dados</a:t>
            </a:r>
            <a:br>
              <a:rPr lang="en-US" altLang="en-US" dirty="0"/>
            </a:br>
            <a:r>
              <a:rPr lang="pt-BR"/>
              <a:t>Unidades de Dados de Protocolos de Rede</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9375" t="35000" r="29063" b="10000"/>
          <a:stretch>
            <a:fillRect/>
          </a:stretch>
        </p:blipFill>
        <p:spPr>
          <a:xfrm>
            <a:off x="4283075" y="1036955"/>
            <a:ext cx="4768850" cy="3418840"/>
          </a:xfrm>
          <a:prstGeom prst="rect">
            <a:avLst/>
          </a:prstGeom>
        </p:spPr>
      </p:pic>
    </p:spTree>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123825" y="868045"/>
            <a:ext cx="3060065" cy="3695700"/>
          </a:xfrm>
        </p:spPr>
        <p:txBody>
          <a:bodyPr/>
          <a:lstStyle/>
          <a:p>
            <a:pPr marL="0" indent="0" algn="just" rtl="0">
              <a:buFont typeface="Arial" panose="020B0604020202020204" pitchFamily="34" charset="0"/>
              <a:buNone/>
            </a:pPr>
            <a:r>
              <a:rPr lang="pt-BR" sz="2030"/>
              <a:t>O </a:t>
            </a:r>
            <a:r>
              <a:rPr lang="pt-BR" sz="2030" b="1"/>
              <a:t>encapsulamento </a:t>
            </a:r>
            <a:r>
              <a:rPr lang="pt-BR" sz="2030"/>
              <a:t>é um processo de </a:t>
            </a:r>
            <a:r>
              <a:rPr lang="pt-BR" sz="2030" b="1">
                <a:solidFill>
                  <a:srgbClr val="FF0000"/>
                </a:solidFill>
              </a:rPr>
              <a:t>cima para baixo</a:t>
            </a:r>
            <a:r>
              <a:rPr lang="pt-BR" sz="2030"/>
              <a:t>.</a:t>
            </a:r>
            <a:endParaRPr lang="pt-BR" sz="2030"/>
          </a:p>
          <a:p>
            <a:pPr marL="0" indent="0" algn="just" rtl="0">
              <a:buFont typeface="Arial" panose="020B0604020202020204" pitchFamily="34" charset="0"/>
              <a:buNone/>
            </a:pPr>
            <a:r>
              <a:rPr lang="pt-BR" sz="2030"/>
              <a:t>O </a:t>
            </a:r>
            <a:r>
              <a:rPr lang="pt-BR" sz="2030" b="1"/>
              <a:t>nível acima</a:t>
            </a:r>
            <a:r>
              <a:rPr lang="pt-BR" sz="2030"/>
              <a:t> faz o seu processo e, em seguida, passa-o para o próximo nível do modelo. Este processo é repetido por </a:t>
            </a:r>
            <a:r>
              <a:rPr lang="pt-BR" sz="2030" b="1">
                <a:solidFill>
                  <a:srgbClr val="FF0000"/>
                </a:solidFill>
              </a:rPr>
              <a:t>cada camada</a:t>
            </a:r>
            <a:r>
              <a:rPr lang="pt-BR" sz="2030"/>
              <a:t> até que seja enviado como um </a:t>
            </a:r>
            <a:r>
              <a:rPr lang="pt-BR" sz="2030" b="1">
                <a:solidFill>
                  <a:srgbClr val="0070C0"/>
                </a:solidFill>
              </a:rPr>
              <a:t>Fluxo de Bits</a:t>
            </a:r>
            <a:r>
              <a:rPr lang="pt-BR" sz="2030"/>
              <a:t>.</a:t>
            </a:r>
            <a:endParaRPr lang="pt-BR" sz="2030"/>
          </a:p>
        </p:txBody>
      </p:sp>
      <p:sp>
        <p:nvSpPr>
          <p:cNvPr id="3" name="Title 1"/>
          <p:cNvSpPr>
            <a:spLocks noGrp="1"/>
          </p:cNvSpPr>
          <p:nvPr>
            <p:ph type="title"/>
          </p:nvPr>
        </p:nvSpPr>
        <p:spPr>
          <a:xfrm>
            <a:off x="0" y="41275"/>
            <a:ext cx="9144635" cy="757555"/>
          </a:xfrm>
        </p:spPr>
        <p:txBody>
          <a:bodyPr/>
          <a:p>
            <a:pPr rtl="0"/>
            <a:r>
              <a:rPr lang="pt-BR" sz="1600"/>
              <a:t>Encapsulamento de Dados</a:t>
            </a:r>
            <a:br>
              <a:rPr lang="en-US" altLang="en-US" dirty="0"/>
            </a:br>
            <a:r>
              <a:rPr lang="pt-BR"/>
              <a:t>Exemplo de Encapsulamento de Rede</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4465" t="34814" r="23830" b="11365"/>
          <a:stretch>
            <a:fillRect/>
          </a:stretch>
        </p:blipFill>
        <p:spPr>
          <a:xfrm>
            <a:off x="3121025" y="1042035"/>
            <a:ext cx="5936615" cy="3347085"/>
          </a:xfrm>
          <a:prstGeom prst="rect">
            <a:avLst/>
          </a:prstGeom>
        </p:spPr>
      </p:pic>
    </p:spTree>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96520" y="798830"/>
            <a:ext cx="3884930" cy="3805555"/>
          </a:xfrm>
        </p:spPr>
        <p:txBody>
          <a:bodyPr/>
          <a:lstStyle/>
          <a:p>
            <a:pPr marL="0" indent="0" algn="just" rtl="0">
              <a:buFont typeface="Arial" panose="020B0604020202020204" pitchFamily="34" charset="0"/>
              <a:buNone/>
            </a:pPr>
            <a:r>
              <a:rPr lang="pt-BR" sz="1500"/>
              <a:t>Os dados são </a:t>
            </a:r>
            <a:r>
              <a:rPr lang="pt-BR" sz="1500" b="1"/>
              <a:t>desencapsulados </a:t>
            </a:r>
            <a:r>
              <a:rPr lang="pt-BR" sz="1500"/>
              <a:t>à medida que se </a:t>
            </a:r>
            <a:r>
              <a:rPr lang="pt-BR" sz="1500" b="1">
                <a:solidFill>
                  <a:srgbClr val="FF0000"/>
                </a:solidFill>
              </a:rPr>
              <a:t>move para cima da pilha</a:t>
            </a:r>
            <a:r>
              <a:rPr lang="pt-BR" sz="1500"/>
              <a:t>.</a:t>
            </a:r>
            <a:endParaRPr lang="pt-BR" sz="1500"/>
          </a:p>
          <a:p>
            <a:pPr marL="0" indent="0" algn="just" rtl="0">
              <a:buFont typeface="Arial" panose="020B0604020202020204" pitchFamily="34" charset="0"/>
              <a:buNone/>
            </a:pPr>
            <a:r>
              <a:rPr lang="pt-BR" sz="1500"/>
              <a:t>Quando uma </a:t>
            </a:r>
            <a:r>
              <a:rPr lang="pt-BR" sz="1500" b="1"/>
              <a:t>camada completa</a:t>
            </a:r>
            <a:r>
              <a:rPr lang="pt-BR" sz="1500"/>
              <a:t> seu processo, essa camada </a:t>
            </a:r>
            <a:r>
              <a:rPr lang="pt-BR" sz="1500" b="1">
                <a:solidFill>
                  <a:srgbClr val="FF0000"/>
                </a:solidFill>
              </a:rPr>
              <a:t>tira seu cabeçalho e passa para o próximo nível a ser processado</a:t>
            </a:r>
            <a:r>
              <a:rPr lang="pt-BR" sz="1500"/>
              <a:t>. Isso é repetido em cada camada até que seja um </a:t>
            </a:r>
            <a:r>
              <a:rPr lang="pt-BR" sz="1500" b="1">
                <a:solidFill>
                  <a:srgbClr val="0070C0"/>
                </a:solidFill>
              </a:rPr>
              <a:t>fluxo de dados que o aplicativo pode processar</a:t>
            </a:r>
            <a:r>
              <a:rPr lang="pt-BR" sz="1500"/>
              <a:t>.</a:t>
            </a:r>
            <a:endParaRPr lang="pt-BR" sz="1500"/>
          </a:p>
          <a:p>
            <a:pPr marL="485775" lvl="1" indent="-342900" algn="just" rtl="0">
              <a:buFont typeface="+mj-lt"/>
              <a:buAutoNum type="arabicPeriod"/>
            </a:pPr>
            <a:r>
              <a:rPr lang="pt-BR" sz="1500" b="1">
                <a:solidFill>
                  <a:srgbClr val="FF0000"/>
                </a:solidFill>
              </a:rPr>
              <a:t>Recebido como Bits (Fluxo de Bits)</a:t>
            </a:r>
            <a:endParaRPr lang="pt-BR" sz="1500" b="1">
              <a:solidFill>
                <a:srgbClr val="FF0000"/>
              </a:solidFill>
            </a:endParaRPr>
          </a:p>
          <a:p>
            <a:pPr marL="485775" lvl="1" indent="-342900" algn="just" rtl="0">
              <a:buFont typeface="+mj-lt"/>
              <a:buAutoNum type="arabicPeriod"/>
            </a:pPr>
            <a:r>
              <a:rPr lang="pt-BR" sz="1500" b="1">
                <a:solidFill>
                  <a:srgbClr val="FF0000"/>
                </a:solidFill>
              </a:rPr>
              <a:t>Quadro</a:t>
            </a:r>
            <a:endParaRPr lang="pt-BR" sz="1500" b="1">
              <a:solidFill>
                <a:srgbClr val="FF0000"/>
              </a:solidFill>
            </a:endParaRPr>
          </a:p>
          <a:p>
            <a:pPr marL="485775" lvl="1" indent="-342900" algn="just" rtl="0">
              <a:buFont typeface="+mj-lt"/>
              <a:buAutoNum type="arabicPeriod"/>
            </a:pPr>
            <a:r>
              <a:rPr lang="pt-BR" sz="1500" b="1">
                <a:solidFill>
                  <a:srgbClr val="FF0000"/>
                </a:solidFill>
              </a:rPr>
              <a:t>Pacote</a:t>
            </a:r>
            <a:endParaRPr lang="pt-BR" sz="1500" b="1">
              <a:solidFill>
                <a:srgbClr val="FF0000"/>
              </a:solidFill>
            </a:endParaRPr>
          </a:p>
          <a:p>
            <a:pPr marL="485775" lvl="1" indent="-342900" algn="just" rtl="0">
              <a:buFont typeface="+mj-lt"/>
              <a:buAutoNum type="arabicPeriod"/>
            </a:pPr>
            <a:r>
              <a:rPr lang="pt-BR" sz="1500" b="1">
                <a:solidFill>
                  <a:srgbClr val="FF0000"/>
                </a:solidFill>
              </a:rPr>
              <a:t>Segmento</a:t>
            </a:r>
            <a:endParaRPr lang="pt-BR" sz="1500" b="1">
              <a:solidFill>
                <a:srgbClr val="FF0000"/>
              </a:solidFill>
            </a:endParaRPr>
          </a:p>
          <a:p>
            <a:pPr marL="485775" lvl="1" indent="-342900" algn="just" rtl="0">
              <a:buFont typeface="+mj-lt"/>
              <a:buAutoNum type="arabicPeriod"/>
            </a:pPr>
            <a:r>
              <a:rPr lang="pt-BR" sz="1500" b="1">
                <a:solidFill>
                  <a:srgbClr val="FF0000"/>
                </a:solidFill>
              </a:rPr>
              <a:t>Dados (fluxo de dados)</a:t>
            </a:r>
            <a:endParaRPr lang="pt-BR" sz="1500" b="1">
              <a:solidFill>
                <a:srgbClr val="FF0000"/>
              </a:solidFill>
            </a:endParaRPr>
          </a:p>
        </p:txBody>
      </p:sp>
      <p:sp>
        <p:nvSpPr>
          <p:cNvPr id="3" name="Title 1"/>
          <p:cNvSpPr>
            <a:spLocks noGrp="1"/>
          </p:cNvSpPr>
          <p:nvPr>
            <p:ph type="title"/>
          </p:nvPr>
        </p:nvSpPr>
        <p:spPr>
          <a:xfrm>
            <a:off x="0" y="41275"/>
            <a:ext cx="9144635" cy="757555"/>
          </a:xfrm>
        </p:spPr>
        <p:txBody>
          <a:bodyPr/>
          <a:p>
            <a:pPr rtl="0"/>
            <a:r>
              <a:rPr lang="pt-BR" sz="1600"/>
              <a:t>Encapsulamento de Dados</a:t>
            </a:r>
            <a:br>
              <a:rPr lang="en-US" altLang="en-US" dirty="0"/>
            </a:br>
            <a:r>
              <a:rPr lang="pt-BR"/>
              <a:t>Exemplo de Desencapsulamento de Rede</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3514" t="41365" r="27462" b="6994"/>
          <a:stretch>
            <a:fillRect/>
          </a:stretch>
        </p:blipFill>
        <p:spPr>
          <a:xfrm>
            <a:off x="3913505" y="1235710"/>
            <a:ext cx="5128260" cy="2926080"/>
          </a:xfrm>
          <a:prstGeom prst="rect">
            <a:avLst/>
          </a:prstGeom>
        </p:spPr>
      </p:pic>
    </p:spTree>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pPr rtl="0"/>
            <a:r>
              <a:rPr lang="pt-BR">
                <a:solidFill>
                  <a:schemeClr val="accent5">
                    <a:lumMod val="40000"/>
                    <a:lumOff val="60000"/>
                  </a:schemeClr>
                </a:solidFill>
              </a:rPr>
              <a:t>3.7 - Acesso aos Dados</a:t>
            </a:r>
            <a:endParaRPr lang="pt-BR">
              <a:solidFill>
                <a:schemeClr val="accent5">
                  <a:lumMod val="40000"/>
                  <a:lumOff val="60000"/>
                </a:schemeClr>
              </a:solidFill>
            </a:endParaRPr>
          </a:p>
        </p:txBody>
      </p:sp>
    </p:spTree>
    <p:custDataLst>
      <p:tags r:id="rId1"/>
    </p:custData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pPr rtl="0"/>
            <a:r>
              <a:rPr lang="pt-BR" sz="1600"/>
              <a:t>Acesso aos Dados </a:t>
            </a:r>
            <a:br>
              <a:rPr lang="pt-BR"/>
            </a:br>
            <a:r>
              <a:rPr lang="pt-BR"/>
              <a:t>Endereços de Rede</a:t>
            </a:r>
            <a:endParaRPr lang="pt-BR"/>
          </a:p>
        </p:txBody>
      </p:sp>
      <p:sp>
        <p:nvSpPr>
          <p:cNvPr id="13315" name="Content Placeholder 2"/>
          <p:cNvSpPr>
            <a:spLocks noGrp="1"/>
          </p:cNvSpPr>
          <p:nvPr>
            <p:ph idx="1"/>
          </p:nvPr>
        </p:nvSpPr>
        <p:spPr>
          <a:xfrm>
            <a:off x="72390" y="744220"/>
            <a:ext cx="8992235" cy="2242185"/>
          </a:xfrm>
        </p:spPr>
        <p:txBody>
          <a:bodyPr/>
          <a:lstStyle/>
          <a:p>
            <a:pPr marL="0" indent="0" algn="just" rtl="0">
              <a:buNone/>
            </a:pPr>
            <a:r>
              <a:rPr lang="pt-BR" sz="1600"/>
              <a:t>Tanto o </a:t>
            </a:r>
            <a:r>
              <a:rPr lang="pt-BR" sz="1600" b="1"/>
              <a:t>Link de Dados</a:t>
            </a:r>
            <a:r>
              <a:rPr lang="pt-BR" sz="1600"/>
              <a:t> quanto as </a:t>
            </a:r>
            <a:r>
              <a:rPr lang="pt-BR" sz="1600" b="1"/>
              <a:t>Camadas de Rede</a:t>
            </a:r>
            <a:r>
              <a:rPr lang="pt-BR" sz="1600"/>
              <a:t> usam </a:t>
            </a:r>
            <a:r>
              <a:rPr lang="pt-BR" sz="1600" b="1">
                <a:solidFill>
                  <a:srgbClr val="FF0000"/>
                </a:solidFill>
              </a:rPr>
              <a:t>Endereçamento </a:t>
            </a:r>
            <a:r>
              <a:rPr lang="pt-BR" sz="1600"/>
              <a:t>para entregar dados da </a:t>
            </a:r>
            <a:r>
              <a:rPr lang="pt-BR" sz="1600" b="1">
                <a:solidFill>
                  <a:srgbClr val="0070C0"/>
                </a:solidFill>
              </a:rPr>
              <a:t>origem ao destino</a:t>
            </a:r>
            <a:r>
              <a:rPr lang="pt-BR" sz="1600"/>
              <a:t>.</a:t>
            </a:r>
            <a:endParaRPr lang="pt-BR" sz="1600"/>
          </a:p>
          <a:p>
            <a:pPr marL="0" indent="0" algn="just" rtl="0">
              <a:buNone/>
            </a:pPr>
            <a:r>
              <a:rPr lang="pt-BR" sz="1600" b="1">
                <a:solidFill>
                  <a:srgbClr val="FF0000"/>
                </a:solidFill>
              </a:rPr>
              <a:t>Endereços de Origem e Destino da Camada de Rede</a:t>
            </a:r>
            <a:r>
              <a:rPr lang="pt-BR" sz="1600"/>
              <a:t> - Responsáveis por entregar o </a:t>
            </a:r>
            <a:r>
              <a:rPr lang="pt-BR" sz="1600" b="1">
                <a:solidFill>
                  <a:srgbClr val="0070C0"/>
                </a:solidFill>
              </a:rPr>
              <a:t>pacote IP</a:t>
            </a:r>
            <a:r>
              <a:rPr lang="pt-BR" sz="1600"/>
              <a:t> da origem para o destino final.</a:t>
            </a:r>
            <a:r>
              <a:rPr lang="pt-BR" sz="1600" b="1"/>
              <a:t> </a:t>
            </a:r>
            <a:endParaRPr lang="pt-BR" sz="1600" b="1"/>
          </a:p>
          <a:p>
            <a:pPr marL="0" indent="0" algn="just" rtl="0">
              <a:buNone/>
            </a:pPr>
            <a:r>
              <a:rPr lang="pt-BR" sz="1600" b="1">
                <a:solidFill>
                  <a:srgbClr val="FF0000"/>
                </a:solidFill>
              </a:rPr>
              <a:t>Endereços de Origem e Destino da Camada de Enlace de Dados</a:t>
            </a:r>
            <a:r>
              <a:rPr lang="pt-BR" sz="1600" b="1"/>
              <a:t> </a:t>
            </a:r>
            <a:r>
              <a:rPr lang="pt-BR" sz="1600"/>
              <a:t> - Responsável por fornecer o</a:t>
            </a:r>
            <a:r>
              <a:rPr lang="pt-BR" sz="1600" b="1">
                <a:solidFill>
                  <a:srgbClr val="0070C0"/>
                </a:solidFill>
              </a:rPr>
              <a:t> quadro de enlace de dados</a:t>
            </a:r>
            <a:r>
              <a:rPr lang="pt-BR" sz="1600"/>
              <a:t> de uma placa de </a:t>
            </a:r>
            <a:r>
              <a:rPr lang="pt-BR" sz="1600" b="1"/>
              <a:t>Interface de Rede (NIC)</a:t>
            </a:r>
            <a:r>
              <a:rPr lang="pt-BR" sz="1600"/>
              <a:t> para outra </a:t>
            </a:r>
            <a:r>
              <a:rPr lang="pt-BR" sz="1600" b="1"/>
              <a:t>NIC </a:t>
            </a:r>
            <a:r>
              <a:rPr lang="pt-BR" sz="1600"/>
              <a:t>na mesma rede.</a:t>
            </a:r>
            <a:endParaRPr lang="pt-BR" sz="1600"/>
          </a:p>
          <a:p>
            <a:pPr marL="0" indent="0" algn="just">
              <a:buNone/>
            </a:pPr>
            <a:endParaRPr lang="en-CA" altLang="en-US" dirty="0"/>
          </a:p>
          <a:p>
            <a:pPr marL="0" indent="0" algn="just">
              <a:buNone/>
            </a:pPr>
            <a:endParaRPr lang="en-CA" altLang="en-US" dirty="0"/>
          </a:p>
        </p:txBody>
      </p:sp>
      <p:pic>
        <p:nvPicPr>
          <p:cNvPr id="2" name="Imagem 1"/>
          <p:cNvPicPr>
            <a:picLocks noChangeAspect="1"/>
          </p:cNvPicPr>
          <p:nvPr/>
        </p:nvPicPr>
        <p:blipFill>
          <a:blip r:embed="rId1">
            <a:clrChange>
              <a:clrFrom>
                <a:srgbClr val="FFFFFF">
                  <a:alpha val="100000"/>
                </a:srgbClr>
              </a:clrFrom>
              <a:clrTo>
                <a:srgbClr val="FFFFFF">
                  <a:alpha val="100000"/>
                  <a:alpha val="0"/>
                </a:srgbClr>
              </a:clrTo>
            </a:clrChange>
          </a:blip>
          <a:srcRect l="14757" t="44141" r="14757" b="26224"/>
          <a:stretch>
            <a:fillRect/>
          </a:stretch>
        </p:blipFill>
        <p:spPr>
          <a:xfrm>
            <a:off x="72390" y="2832100"/>
            <a:ext cx="8926830" cy="1825625"/>
          </a:xfrm>
          <a:prstGeom prst="rect">
            <a:avLst/>
          </a:prstGeom>
        </p:spPr>
      </p:pic>
    </p:spTree>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92710" y="862330"/>
            <a:ext cx="3424555" cy="3689985"/>
          </a:xfrm>
        </p:spPr>
        <p:txBody>
          <a:bodyPr/>
          <a:lstStyle/>
          <a:p>
            <a:pPr marL="0" indent="0" algn="just" rtl="0">
              <a:buNone/>
            </a:pPr>
            <a:r>
              <a:rPr lang="pt-BR" sz="1800"/>
              <a:t>O pacote IP contém </a:t>
            </a:r>
            <a:r>
              <a:rPr lang="pt-BR" sz="1800" b="1">
                <a:solidFill>
                  <a:srgbClr val="0070C0"/>
                </a:solidFill>
              </a:rPr>
              <a:t>dois endereços</a:t>
            </a:r>
            <a:r>
              <a:rPr lang="pt-BR" sz="1800"/>
              <a:t> IP:</a:t>
            </a:r>
            <a:endParaRPr lang="pt-BR" sz="1800"/>
          </a:p>
          <a:p>
            <a:pPr lvl="1" algn="just" rtl="0"/>
            <a:r>
              <a:rPr lang="pt-BR" sz="1800" b="1">
                <a:solidFill>
                  <a:srgbClr val="FF0000"/>
                </a:solidFill>
              </a:rPr>
              <a:t>Endereço IP de Origem</a:t>
            </a:r>
            <a:r>
              <a:rPr lang="pt-BR" sz="1800"/>
              <a:t> - O endereço IP do dispositivo emissor, a origem do pacote.</a:t>
            </a:r>
            <a:endParaRPr lang="pt-BR" sz="1800"/>
          </a:p>
          <a:p>
            <a:pPr lvl="1" algn="just" rtl="0"/>
            <a:r>
              <a:rPr lang="pt-BR" sz="1800" b="1">
                <a:solidFill>
                  <a:srgbClr val="FF0000"/>
                </a:solidFill>
              </a:rPr>
              <a:t>Endereço IP de Destino</a:t>
            </a:r>
            <a:r>
              <a:rPr lang="pt-BR" sz="1800"/>
              <a:t> - O endereço IP do dispositivo receptor, o destino final do pacote.</a:t>
            </a:r>
            <a:endParaRPr lang="pt-BR" sz="1800"/>
          </a:p>
          <a:p>
            <a:pPr marL="0" indent="0" algn="just" rtl="0">
              <a:buNone/>
            </a:pPr>
            <a:r>
              <a:rPr lang="pt-BR" sz="1800"/>
              <a:t>Esses endereços podem estar no </a:t>
            </a:r>
            <a:r>
              <a:rPr lang="pt-BR" sz="1800" b="1">
                <a:solidFill>
                  <a:srgbClr val="0070C0"/>
                </a:solidFill>
              </a:rPr>
              <a:t>mesmo link ou remoto</a:t>
            </a:r>
            <a:r>
              <a:rPr lang="pt-BR" sz="1800"/>
              <a:t>.</a:t>
            </a:r>
            <a:endParaRPr lang="en-CA" altLang="en-US" sz="1800" dirty="0"/>
          </a:p>
        </p:txBody>
      </p:sp>
      <p:sp>
        <p:nvSpPr>
          <p:cNvPr id="3" name="Title 1"/>
          <p:cNvSpPr>
            <a:spLocks noGrp="1"/>
          </p:cNvSpPr>
          <p:nvPr>
            <p:ph type="title"/>
          </p:nvPr>
        </p:nvSpPr>
        <p:spPr>
          <a:xfrm>
            <a:off x="1" y="41393"/>
            <a:ext cx="9144000" cy="757551"/>
          </a:xfrm>
        </p:spPr>
        <p:txBody>
          <a:bodyPr/>
          <a:p>
            <a:pPr rtl="0"/>
            <a:r>
              <a:rPr lang="pt-BR" sz="1600"/>
              <a:t>Acesso aos Dados </a:t>
            </a:r>
            <a:br>
              <a:rPr lang="pt-BR"/>
            </a:br>
            <a:r>
              <a:rPr lang="pt-BR"/>
              <a:t>Endereços Lógicos da Camada 3 de Rede</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16729" t="34667" r="17045" b="6558"/>
          <a:stretch>
            <a:fillRect/>
          </a:stretch>
        </p:blipFill>
        <p:spPr>
          <a:xfrm>
            <a:off x="3428365" y="1565275"/>
            <a:ext cx="5596890" cy="2691130"/>
          </a:xfrm>
          <a:prstGeom prst="rect">
            <a:avLst/>
          </a:prstGeom>
        </p:spPr>
      </p:pic>
    </p:spTree>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80010" y="779780"/>
            <a:ext cx="3347720" cy="3754120"/>
          </a:xfrm>
        </p:spPr>
        <p:txBody>
          <a:bodyPr/>
          <a:lstStyle/>
          <a:p>
            <a:pPr marL="0" indent="0" algn="just" rtl="0">
              <a:buNone/>
            </a:pPr>
            <a:r>
              <a:rPr lang="pt-BR" sz="1400"/>
              <a:t>Um </a:t>
            </a:r>
            <a:r>
              <a:rPr lang="pt-BR" sz="1400" b="1"/>
              <a:t>Endereço IP</a:t>
            </a:r>
            <a:r>
              <a:rPr lang="pt-BR" sz="1400"/>
              <a:t> contém </a:t>
            </a:r>
            <a:r>
              <a:rPr lang="pt-BR" sz="1400" b="1">
                <a:solidFill>
                  <a:srgbClr val="0070C0"/>
                </a:solidFill>
              </a:rPr>
              <a:t>duas partes</a:t>
            </a:r>
            <a:r>
              <a:rPr lang="pt-BR" sz="1400"/>
              <a:t>:</a:t>
            </a:r>
            <a:endParaRPr lang="pt-BR" sz="1400"/>
          </a:p>
          <a:p>
            <a:pPr marL="0" indent="0" algn="just" rtl="0">
              <a:buFont typeface="Arial" panose="020B0604020202020204" pitchFamily="34" charset="0"/>
              <a:buNone/>
            </a:pPr>
            <a:r>
              <a:rPr lang="pt-BR" sz="1400" b="1">
                <a:solidFill>
                  <a:srgbClr val="FF0000"/>
                </a:solidFill>
              </a:rPr>
              <a:t>Parte de rede (IPv4) ou prefixo (IPv6)</a:t>
            </a:r>
            <a:endParaRPr lang="pt-BR" sz="1400" b="1">
              <a:solidFill>
                <a:srgbClr val="FF0000"/>
              </a:solidFill>
            </a:endParaRPr>
          </a:p>
          <a:p>
            <a:pPr lvl="1" algn="just" rtl="0"/>
            <a:r>
              <a:rPr lang="pt-BR" sz="1400"/>
              <a:t>A parte </a:t>
            </a:r>
            <a:r>
              <a:rPr lang="pt-BR" sz="1400" b="1"/>
              <a:t>mais à esquerda do endereço</a:t>
            </a:r>
            <a:r>
              <a:rPr lang="pt-BR" sz="1400"/>
              <a:t> indica o grupo de rede do qual o endereço IP é membro.</a:t>
            </a:r>
            <a:endParaRPr lang="pt-BR" sz="1400"/>
          </a:p>
          <a:p>
            <a:pPr lvl="1" algn="just" rtl="0"/>
            <a:r>
              <a:rPr lang="pt-BR" sz="1400"/>
              <a:t>Cada </a:t>
            </a:r>
            <a:r>
              <a:rPr lang="pt-BR" sz="1400" b="1">
                <a:solidFill>
                  <a:srgbClr val="0070C0"/>
                </a:solidFill>
              </a:rPr>
              <a:t>LAN ou WAN</a:t>
            </a:r>
            <a:r>
              <a:rPr lang="pt-BR" sz="1400"/>
              <a:t> terá a mesma parte de rede.</a:t>
            </a:r>
            <a:endParaRPr lang="pt-BR" sz="1400"/>
          </a:p>
          <a:p>
            <a:pPr marL="0" indent="0" algn="just" rtl="0">
              <a:buFont typeface="Arial" panose="020B0604020202020204" pitchFamily="34" charset="0"/>
              <a:buNone/>
            </a:pPr>
            <a:r>
              <a:rPr lang="pt-BR" sz="1400" b="1">
                <a:solidFill>
                  <a:srgbClr val="FF0000"/>
                </a:solidFill>
              </a:rPr>
              <a:t>Parte do Host (IPv4) ou ID da Interface (IPv6)</a:t>
            </a:r>
            <a:endParaRPr lang="pt-BR" sz="1400" b="1">
              <a:solidFill>
                <a:srgbClr val="FF0000"/>
              </a:solidFill>
            </a:endParaRPr>
          </a:p>
          <a:p>
            <a:pPr lvl="1" algn="just" rtl="0"/>
            <a:r>
              <a:rPr lang="pt-BR" sz="1400"/>
              <a:t>A parte </a:t>
            </a:r>
            <a:r>
              <a:rPr lang="pt-BR" sz="1400" b="1"/>
              <a:t>restante do endereço</a:t>
            </a:r>
            <a:r>
              <a:rPr lang="pt-BR" sz="1400"/>
              <a:t> identifica um </a:t>
            </a:r>
            <a:r>
              <a:rPr lang="pt-BR" sz="1400" b="1">
                <a:solidFill>
                  <a:srgbClr val="0070C0"/>
                </a:solidFill>
              </a:rPr>
              <a:t>dispositivo específico</a:t>
            </a:r>
            <a:r>
              <a:rPr lang="pt-BR" sz="1400"/>
              <a:t> dentro do grupo. </a:t>
            </a:r>
            <a:endParaRPr lang="pt-BR" sz="1400"/>
          </a:p>
          <a:p>
            <a:pPr lvl="1" algn="just" rtl="0"/>
            <a:r>
              <a:rPr lang="pt-BR" sz="1400"/>
              <a:t>Essa parte é </a:t>
            </a:r>
            <a:r>
              <a:rPr lang="pt-BR" sz="1400" b="1"/>
              <a:t>exclusiva para cada dispositivo na rede.</a:t>
            </a:r>
            <a:endParaRPr lang="en-CA" altLang="en-US" sz="1400" b="1" dirty="0"/>
          </a:p>
        </p:txBody>
      </p:sp>
      <p:sp>
        <p:nvSpPr>
          <p:cNvPr id="3" name="Title 1"/>
          <p:cNvSpPr>
            <a:spLocks noGrp="1"/>
          </p:cNvSpPr>
          <p:nvPr>
            <p:ph type="title"/>
          </p:nvPr>
        </p:nvSpPr>
        <p:spPr>
          <a:xfrm>
            <a:off x="1" y="41393"/>
            <a:ext cx="9144000" cy="757551"/>
          </a:xfrm>
        </p:spPr>
        <p:txBody>
          <a:bodyPr/>
          <a:p>
            <a:pPr rtl="0"/>
            <a:r>
              <a:rPr lang="pt-BR" sz="1600"/>
              <a:t>Acesso aos Dados </a:t>
            </a:r>
            <a:br>
              <a:rPr lang="pt-BR"/>
            </a:br>
            <a:r>
              <a:rPr lang="pt-BR"/>
              <a:t>Endereços Lógicos da Camada 3 de Rede (Continuação)</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16729" t="34667" r="17045" b="6558"/>
          <a:stretch>
            <a:fillRect/>
          </a:stretch>
        </p:blipFill>
        <p:spPr>
          <a:xfrm>
            <a:off x="3371850" y="1537970"/>
            <a:ext cx="5653405" cy="2718435"/>
          </a:xfrm>
          <a:prstGeom prst="rect">
            <a:avLst/>
          </a:prstGeom>
        </p:spPr>
      </p:pic>
    </p:spTree>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62230" y="840105"/>
            <a:ext cx="3295650" cy="3449955"/>
          </a:xfrm>
        </p:spPr>
        <p:txBody>
          <a:bodyPr/>
          <a:lstStyle/>
          <a:p>
            <a:pPr marL="0" indent="0" algn="just" rtl="0">
              <a:buNone/>
            </a:pPr>
            <a:r>
              <a:rPr lang="pt-BR" sz="2300"/>
              <a:t>Quando os dispositivos estão na </a:t>
            </a:r>
            <a:r>
              <a:rPr lang="pt-BR" sz="2300" b="1"/>
              <a:t>mesma rede</a:t>
            </a:r>
            <a:r>
              <a:rPr lang="pt-BR" sz="2300"/>
              <a:t>, a </a:t>
            </a:r>
            <a:r>
              <a:rPr lang="pt-BR" sz="2300" b="1">
                <a:solidFill>
                  <a:srgbClr val="0070C0"/>
                </a:solidFill>
              </a:rPr>
              <a:t>origem e o destino</a:t>
            </a:r>
            <a:r>
              <a:rPr lang="pt-BR" sz="2300"/>
              <a:t> terão o mesmo número na parte da </a:t>
            </a:r>
            <a:r>
              <a:rPr lang="pt-BR" sz="2300" b="1">
                <a:solidFill>
                  <a:srgbClr val="FF0000"/>
                </a:solidFill>
              </a:rPr>
              <a:t>rede do endereço</a:t>
            </a:r>
            <a:r>
              <a:rPr lang="pt-BR" sz="2300"/>
              <a:t>.</a:t>
            </a:r>
            <a:endParaRPr lang="pt-BR" sz="2300"/>
          </a:p>
          <a:p>
            <a:pPr lvl="1" algn="just" rtl="0"/>
            <a:r>
              <a:rPr lang="pt-BR" sz="2300" b="1"/>
              <a:t>PC1:</a:t>
            </a:r>
            <a:endParaRPr lang="pt-BR" sz="2300" b="1"/>
          </a:p>
          <a:p>
            <a:pPr lvl="2" algn="just" rtl="0"/>
            <a:r>
              <a:rPr lang="pt-BR" sz="1970" b="1" u="sng">
                <a:solidFill>
                  <a:schemeClr val="accent6"/>
                </a:solidFill>
              </a:rPr>
              <a:t>192.168.1</a:t>
            </a:r>
            <a:r>
              <a:rPr lang="pt-BR" sz="1970" b="1"/>
              <a:t>.</a:t>
            </a:r>
            <a:r>
              <a:rPr lang="pt-BR" sz="1970" b="1">
                <a:solidFill>
                  <a:srgbClr val="FF0000"/>
                </a:solidFill>
              </a:rPr>
              <a:t>110</a:t>
            </a:r>
            <a:endParaRPr lang="pt-BR" sz="1970" b="1"/>
          </a:p>
          <a:p>
            <a:pPr lvl="1" algn="just" rtl="0"/>
            <a:r>
              <a:rPr lang="pt-BR" sz="2300" b="1"/>
              <a:t>Servidor FTP:</a:t>
            </a:r>
            <a:endParaRPr lang="pt-BR" sz="2300" b="1"/>
          </a:p>
          <a:p>
            <a:pPr lvl="2" algn="just" rtl="0"/>
            <a:r>
              <a:rPr lang="pt-BR" sz="1970" b="1" u="sng">
                <a:solidFill>
                  <a:schemeClr val="accent6"/>
                </a:solidFill>
              </a:rPr>
              <a:t>192.168.1</a:t>
            </a:r>
            <a:r>
              <a:rPr lang="pt-BR" sz="1970" b="1"/>
              <a:t>.</a:t>
            </a:r>
            <a:r>
              <a:rPr lang="pt-BR" sz="1970" b="1">
                <a:solidFill>
                  <a:srgbClr val="FF0000"/>
                </a:solidFill>
              </a:rPr>
              <a:t>9</a:t>
            </a:r>
            <a:endParaRPr lang="pt-BR" sz="1970" b="1">
              <a:solidFill>
                <a:srgbClr val="FF0000"/>
              </a:solidFill>
            </a:endParaRPr>
          </a:p>
        </p:txBody>
      </p:sp>
      <p:sp>
        <p:nvSpPr>
          <p:cNvPr id="3" name="Title 1"/>
          <p:cNvSpPr>
            <a:spLocks noGrp="1"/>
          </p:cNvSpPr>
          <p:nvPr>
            <p:ph type="title"/>
          </p:nvPr>
        </p:nvSpPr>
        <p:spPr>
          <a:xfrm>
            <a:off x="1" y="41393"/>
            <a:ext cx="9144000" cy="757551"/>
          </a:xfrm>
        </p:spPr>
        <p:txBody>
          <a:bodyPr/>
          <a:p>
            <a:pPr rtl="0"/>
            <a:r>
              <a:rPr lang="pt-BR" sz="1600"/>
              <a:t>Acesso aos Dados </a:t>
            </a:r>
            <a:br>
              <a:rPr lang="pt-BR"/>
            </a:br>
            <a:r>
              <a:rPr lang="pt-BR"/>
              <a:t>Dispositivos na Mesma Rede</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0625" t="31346" r="21979" b="3269"/>
          <a:stretch>
            <a:fillRect/>
          </a:stretch>
        </p:blipFill>
        <p:spPr>
          <a:xfrm>
            <a:off x="3219450" y="1011555"/>
            <a:ext cx="5851525" cy="3611245"/>
          </a:xfrm>
          <a:prstGeom prst="rect">
            <a:avLst/>
          </a:prstGeom>
        </p:spPr>
      </p:pic>
    </p:spTree>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60325" y="798830"/>
            <a:ext cx="3605530" cy="3726180"/>
          </a:xfrm>
        </p:spPr>
        <p:txBody>
          <a:bodyPr/>
          <a:lstStyle/>
          <a:p>
            <a:pPr marL="0" indent="0" algn="just" rtl="0">
              <a:buNone/>
            </a:pPr>
            <a:r>
              <a:rPr lang="pt-BR" sz="1600"/>
              <a:t>Quando os dispositivos estiverem na </a:t>
            </a:r>
            <a:r>
              <a:rPr lang="pt-BR" sz="1600" b="1">
                <a:solidFill>
                  <a:srgbClr val="FF0000"/>
                </a:solidFill>
              </a:rPr>
              <a:t>mesma rede Ethernet</a:t>
            </a:r>
            <a:r>
              <a:rPr lang="pt-BR" sz="1600"/>
              <a:t>, o quadro do link de dados usará o endereço </a:t>
            </a:r>
            <a:r>
              <a:rPr lang="pt-BR" sz="1600" b="1">
                <a:solidFill>
                  <a:srgbClr val="0070C0"/>
                </a:solidFill>
              </a:rPr>
              <a:t>MAC real da NIC de destino</a:t>
            </a:r>
            <a:r>
              <a:rPr lang="pt-BR" sz="1600"/>
              <a:t>.</a:t>
            </a:r>
            <a:endParaRPr lang="pt-BR" sz="1600"/>
          </a:p>
          <a:p>
            <a:pPr marL="0" indent="0" algn="just" rtl="0">
              <a:buNone/>
            </a:pPr>
            <a:r>
              <a:rPr lang="pt-BR" sz="1600"/>
              <a:t>Os </a:t>
            </a:r>
            <a:r>
              <a:rPr lang="pt-BR" sz="1600" b="1">
                <a:solidFill>
                  <a:srgbClr val="FF0000"/>
                </a:solidFill>
              </a:rPr>
              <a:t>endereços MAC são fisicamente incorporados à NIC Ethernet</a:t>
            </a:r>
            <a:r>
              <a:rPr lang="pt-BR" sz="1600"/>
              <a:t> e são endereçamento local.</a:t>
            </a:r>
            <a:endParaRPr lang="pt-BR" sz="1600"/>
          </a:p>
          <a:p>
            <a:pPr algn="just" rtl="0">
              <a:buFont typeface="Arial" panose="020B0604020202020204" pitchFamily="34" charset="0"/>
              <a:buChar char="•"/>
            </a:pPr>
            <a:r>
              <a:rPr lang="pt-BR" sz="1600"/>
              <a:t>O </a:t>
            </a:r>
            <a:r>
              <a:rPr lang="pt-BR" sz="1600" b="1"/>
              <a:t>endereço MAC de origem</a:t>
            </a:r>
            <a:r>
              <a:rPr lang="pt-BR" sz="1600"/>
              <a:t> será o do originador no link.</a:t>
            </a:r>
            <a:endParaRPr lang="pt-BR" sz="1600"/>
          </a:p>
          <a:p>
            <a:pPr algn="just" rtl="0">
              <a:buFont typeface="Arial" panose="020B0604020202020204" pitchFamily="34" charset="0"/>
              <a:buChar char="•"/>
            </a:pPr>
            <a:r>
              <a:rPr lang="pt-BR" sz="1600"/>
              <a:t>O </a:t>
            </a:r>
            <a:r>
              <a:rPr lang="pt-BR" sz="1600" b="1"/>
              <a:t>endereço MAC de destino</a:t>
            </a:r>
            <a:r>
              <a:rPr lang="pt-BR" sz="1600"/>
              <a:t> estará sempre no mesmo link que a origem, mesmo que o destino final seja remoto.</a:t>
            </a:r>
            <a:endParaRPr lang="en-CA" altLang="en-US" dirty="0"/>
          </a:p>
        </p:txBody>
      </p:sp>
      <p:sp>
        <p:nvSpPr>
          <p:cNvPr id="4" name="Title 1"/>
          <p:cNvSpPr>
            <a:spLocks noGrp="1"/>
          </p:cNvSpPr>
          <p:nvPr>
            <p:ph type="title"/>
          </p:nvPr>
        </p:nvSpPr>
        <p:spPr>
          <a:xfrm>
            <a:off x="1" y="41393"/>
            <a:ext cx="9144000" cy="757551"/>
          </a:xfrm>
        </p:spPr>
        <p:txBody>
          <a:bodyPr/>
          <a:p>
            <a:pPr rtl="0"/>
            <a:r>
              <a:rPr lang="pt-BR" sz="1600"/>
              <a:t>Acesso aos Dados </a:t>
            </a:r>
            <a:br>
              <a:rPr lang="pt-BR"/>
            </a:br>
            <a:r>
              <a:rPr lang="pt-BR"/>
              <a:t>Função dos Endereços da Camada de Enlace de Dados</a:t>
            </a:r>
            <a:endParaRPr lang="pt-BR"/>
          </a:p>
        </p:txBody>
      </p:sp>
      <p:pic>
        <p:nvPicPr>
          <p:cNvPr id="5" name="Imagem 4"/>
          <p:cNvPicPr>
            <a:picLocks noChangeAspect="1"/>
          </p:cNvPicPr>
          <p:nvPr/>
        </p:nvPicPr>
        <p:blipFill>
          <a:blip r:embed="rId1">
            <a:clrChange>
              <a:clrFrom>
                <a:srgbClr val="FFFFFF">
                  <a:alpha val="100000"/>
                </a:srgbClr>
              </a:clrFrom>
              <a:clrTo>
                <a:srgbClr val="FFFFFF">
                  <a:alpha val="100000"/>
                  <a:alpha val="0"/>
                </a:srgbClr>
              </a:clrTo>
            </a:clrChange>
          </a:blip>
          <a:srcRect l="20729" t="32115" r="21979" b="2308"/>
          <a:stretch>
            <a:fillRect/>
          </a:stretch>
        </p:blipFill>
        <p:spPr>
          <a:xfrm>
            <a:off x="3523615" y="1064260"/>
            <a:ext cx="5517515" cy="3420745"/>
          </a:xfrm>
          <a:prstGeom prst="rect">
            <a:avLst/>
          </a:prstGeom>
        </p:spPr>
      </p:pic>
    </p:spTree>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114300" y="861695"/>
            <a:ext cx="2576830" cy="3592830"/>
          </a:xfrm>
        </p:spPr>
        <p:txBody>
          <a:bodyPr/>
          <a:lstStyle/>
          <a:p>
            <a:pPr marL="0" indent="0" algn="just" rtl="0">
              <a:buFont typeface="Arial" panose="020B0604020202020204" pitchFamily="34" charset="0"/>
              <a:buNone/>
            </a:pPr>
            <a:r>
              <a:rPr lang="pt-BR" sz="1800"/>
              <a:t>O que acontece quando o </a:t>
            </a:r>
            <a:r>
              <a:rPr lang="pt-BR" sz="1800" b="1">
                <a:solidFill>
                  <a:srgbClr val="FF0000"/>
                </a:solidFill>
              </a:rPr>
              <a:t>destino real (final) não está na mesma LAN</a:t>
            </a:r>
            <a:r>
              <a:rPr lang="pt-BR" sz="1800"/>
              <a:t> e é remoto? </a:t>
            </a:r>
            <a:endParaRPr lang="pt-BR" sz="1800"/>
          </a:p>
          <a:p>
            <a:pPr marL="0" indent="0" algn="just" rtl="0">
              <a:buFont typeface="Arial" panose="020B0604020202020204" pitchFamily="34" charset="0"/>
              <a:buNone/>
            </a:pPr>
            <a:r>
              <a:rPr lang="pt-BR" sz="1800"/>
              <a:t>O que acontece quando </a:t>
            </a:r>
            <a:r>
              <a:rPr lang="pt-BR" sz="1800" b="1">
                <a:solidFill>
                  <a:srgbClr val="FF0000"/>
                </a:solidFill>
              </a:rPr>
              <a:t>PC1 tenta alcançar o servidor Web</a:t>
            </a:r>
            <a:r>
              <a:rPr lang="pt-BR" sz="1800"/>
              <a:t>?</a:t>
            </a:r>
            <a:endParaRPr lang="pt-BR" sz="1800"/>
          </a:p>
          <a:p>
            <a:pPr marL="0" indent="0" algn="just" rtl="0">
              <a:buFont typeface="Arial" panose="020B0604020202020204" pitchFamily="34" charset="0"/>
              <a:buNone/>
            </a:pPr>
            <a:r>
              <a:rPr lang="pt-BR" sz="1800"/>
              <a:t>Isso afeta as </a:t>
            </a:r>
            <a:r>
              <a:rPr lang="pt-BR" sz="1800" b="1">
                <a:solidFill>
                  <a:srgbClr val="FF0000"/>
                </a:solidFill>
              </a:rPr>
              <a:t>camadas de rede e de link de dados</a:t>
            </a:r>
            <a:r>
              <a:rPr lang="pt-BR" sz="1800"/>
              <a:t>?</a:t>
            </a:r>
            <a:endParaRPr lang="en-CA" altLang="en-US" sz="1800" dirty="0"/>
          </a:p>
        </p:txBody>
      </p:sp>
      <p:sp>
        <p:nvSpPr>
          <p:cNvPr id="4" name="Title 1"/>
          <p:cNvSpPr>
            <a:spLocks noGrp="1"/>
          </p:cNvSpPr>
          <p:nvPr>
            <p:ph type="title"/>
          </p:nvPr>
        </p:nvSpPr>
        <p:spPr>
          <a:xfrm>
            <a:off x="1" y="41393"/>
            <a:ext cx="9144000" cy="757551"/>
          </a:xfrm>
        </p:spPr>
        <p:txBody>
          <a:bodyPr/>
          <a:p>
            <a:pPr rtl="0"/>
            <a:r>
              <a:rPr lang="pt-BR" sz="1600"/>
              <a:t>Acesso aos Dados </a:t>
            </a:r>
            <a:br>
              <a:rPr lang="pt-BR"/>
            </a:br>
            <a:r>
              <a:rPr lang="pt-BR"/>
              <a:t>Dispositivos em uma Rede Remota</a:t>
            </a:r>
            <a:endParaRPr lang="pt-BR"/>
          </a:p>
        </p:txBody>
      </p:sp>
      <p:pic>
        <p:nvPicPr>
          <p:cNvPr id="5" name="Imagem 4"/>
          <p:cNvPicPr>
            <a:picLocks noChangeAspect="1"/>
          </p:cNvPicPr>
          <p:nvPr/>
        </p:nvPicPr>
        <p:blipFill>
          <a:blip r:embed="rId1">
            <a:clrChange>
              <a:clrFrom>
                <a:srgbClr val="FFFFFF">
                  <a:alpha val="100000"/>
                </a:srgbClr>
              </a:clrFrom>
              <a:clrTo>
                <a:srgbClr val="FFFFFF">
                  <a:alpha val="100000"/>
                  <a:alpha val="0"/>
                </a:srgbClr>
              </a:clrTo>
            </a:clrChange>
          </a:blip>
          <a:srcRect l="24778" t="31897" r="24858" b="8301"/>
          <a:stretch>
            <a:fillRect/>
          </a:stretch>
        </p:blipFill>
        <p:spPr>
          <a:xfrm>
            <a:off x="2570480" y="763905"/>
            <a:ext cx="6446520" cy="4146550"/>
          </a:xfrm>
          <a:prstGeom prst="rect">
            <a:avLst/>
          </a:prstGeom>
        </p:spPr>
      </p:pic>
    </p:spTree>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819993"/>
          </a:xfrm>
        </p:spPr>
        <p:txBody>
          <a:bodyPr/>
          <a:lstStyle/>
          <a:p>
            <a:pPr rtl="0"/>
            <a:r>
              <a:rPr lang="pt-BR" sz="1600"/>
              <a:t>Acessoa aos Dados </a:t>
            </a:r>
            <a:br>
              <a:rPr lang="en-US" altLang="en-US" dirty="0"/>
            </a:br>
            <a:r>
              <a:rPr lang="pt-BR"/>
              <a:t>Função dos Endereços da Camada de Rede</a:t>
            </a:r>
            <a:endParaRPr lang="pt-BR"/>
          </a:p>
        </p:txBody>
      </p:sp>
      <p:sp>
        <p:nvSpPr>
          <p:cNvPr id="13315" name="Content Placeholder 2"/>
          <p:cNvSpPr>
            <a:spLocks noGrp="1"/>
          </p:cNvSpPr>
          <p:nvPr>
            <p:ph idx="1"/>
          </p:nvPr>
        </p:nvSpPr>
        <p:spPr>
          <a:xfrm>
            <a:off x="114300" y="861695"/>
            <a:ext cx="3265805" cy="3896995"/>
          </a:xfrm>
        </p:spPr>
        <p:txBody>
          <a:bodyPr/>
          <a:lstStyle/>
          <a:p>
            <a:pPr marL="0" indent="0" algn="just" rtl="0">
              <a:buNone/>
            </a:pPr>
            <a:r>
              <a:rPr lang="pt-BR" sz="2300"/>
              <a:t>Quando a origem e o destino têm uma </a:t>
            </a:r>
            <a:r>
              <a:rPr lang="pt-BR" sz="2300" b="1"/>
              <a:t>parte de rede diferente</a:t>
            </a:r>
            <a:r>
              <a:rPr lang="pt-BR" sz="2300"/>
              <a:t>, isso significa que eles </a:t>
            </a:r>
            <a:r>
              <a:rPr lang="pt-BR" sz="2300" b="1">
                <a:solidFill>
                  <a:srgbClr val="FF0000"/>
                </a:solidFill>
              </a:rPr>
              <a:t>estão em redes diferentes</a:t>
            </a:r>
            <a:r>
              <a:rPr lang="pt-BR" sz="2300"/>
              <a:t>.</a:t>
            </a:r>
            <a:endParaRPr lang="pt-BR" sz="2300"/>
          </a:p>
          <a:p>
            <a:pPr lvl="1" algn="just" rtl="0"/>
            <a:r>
              <a:rPr lang="pt-BR" sz="2300" b="1"/>
              <a:t>PC1:</a:t>
            </a:r>
            <a:endParaRPr lang="pt-BR" sz="2300" b="1"/>
          </a:p>
          <a:p>
            <a:pPr lvl="2" algn="just" rtl="0"/>
            <a:r>
              <a:rPr lang="pt-BR" sz="1970" b="1">
                <a:solidFill>
                  <a:srgbClr val="FF0000"/>
                </a:solidFill>
              </a:rPr>
              <a:t>192.168.1</a:t>
            </a:r>
            <a:endParaRPr lang="pt-BR" sz="1970" b="1">
              <a:solidFill>
                <a:srgbClr val="FF0000"/>
              </a:solidFill>
            </a:endParaRPr>
          </a:p>
          <a:p>
            <a:pPr lvl="1" algn="just" rtl="0"/>
            <a:r>
              <a:rPr lang="pt-BR" sz="2300" b="1"/>
              <a:t>Servidor Web:</a:t>
            </a:r>
            <a:endParaRPr lang="pt-BR" sz="2300" b="1"/>
          </a:p>
          <a:p>
            <a:pPr lvl="2" algn="just" rtl="0"/>
            <a:r>
              <a:rPr lang="pt-BR" sz="1970" b="1">
                <a:solidFill>
                  <a:srgbClr val="0070C0"/>
                </a:solidFill>
              </a:rPr>
              <a:t>172.16.1</a:t>
            </a:r>
            <a:endParaRPr lang="pt-BR" altLang="en-US" sz="1970" b="1" dirty="0">
              <a:solidFill>
                <a:srgbClr val="0070C0"/>
              </a:solidFill>
            </a:endParaRPr>
          </a:p>
        </p:txBody>
      </p:sp>
      <p:pic>
        <p:nvPicPr>
          <p:cNvPr id="2" name="Imagem 1"/>
          <p:cNvPicPr>
            <a:picLocks noChangeAspect="1"/>
          </p:cNvPicPr>
          <p:nvPr/>
        </p:nvPicPr>
        <p:blipFill>
          <a:blip r:embed="rId1">
            <a:clrChange>
              <a:clrFrom>
                <a:srgbClr val="FFFFFF">
                  <a:alpha val="100000"/>
                </a:srgbClr>
              </a:clrFrom>
              <a:clrTo>
                <a:srgbClr val="FFFFFF">
                  <a:alpha val="100000"/>
                  <a:alpha val="0"/>
                </a:srgbClr>
              </a:clrTo>
            </a:clrChange>
          </a:blip>
          <a:srcRect l="24792" t="31026" r="24792" b="6282"/>
          <a:stretch>
            <a:fillRect/>
          </a:stretch>
        </p:blipFill>
        <p:spPr>
          <a:xfrm>
            <a:off x="3248025" y="918845"/>
            <a:ext cx="5786120" cy="3897630"/>
          </a:xfrm>
          <a:prstGeom prst="rect">
            <a:avLst/>
          </a:prstGeom>
        </p:spPr>
      </p:pic>
    </p:spTree>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89886"/>
            <a:ext cx="9144000" cy="743794"/>
          </a:xfrm>
        </p:spPr>
        <p:txBody>
          <a:bodyPr/>
          <a:lstStyle/>
          <a:p>
            <a:pPr rtl="0"/>
            <a:r>
              <a:rPr lang="pt-BR" sz="1600"/>
              <a:t>Acesso aos Dados </a:t>
            </a:r>
            <a:br>
              <a:rPr lang="en-US" altLang="en-US" dirty="0"/>
            </a:br>
            <a:r>
              <a:rPr lang="pt-BR"/>
              <a:t>Função dos Endereços da Camada de Enlace de Dados: Redes IP Diferentes</a:t>
            </a:r>
            <a:endParaRPr lang="pt-BR"/>
          </a:p>
        </p:txBody>
      </p:sp>
      <p:sp>
        <p:nvSpPr>
          <p:cNvPr id="13315" name="Content Placeholder 2"/>
          <p:cNvSpPr>
            <a:spLocks noGrp="1"/>
          </p:cNvSpPr>
          <p:nvPr>
            <p:ph idx="1"/>
          </p:nvPr>
        </p:nvSpPr>
        <p:spPr>
          <a:xfrm>
            <a:off x="114300" y="1012190"/>
            <a:ext cx="3415030" cy="3709035"/>
          </a:xfrm>
        </p:spPr>
        <p:txBody>
          <a:bodyPr/>
          <a:lstStyle/>
          <a:p>
            <a:pPr marL="0" indent="0" algn="just" rtl="0">
              <a:buNone/>
            </a:pPr>
            <a:r>
              <a:rPr lang="pt-BR" sz="1230">
                <a:ea typeface="MS PGothic"/>
              </a:rPr>
              <a:t>Quando o </a:t>
            </a:r>
            <a:r>
              <a:rPr lang="pt-BR" sz="1230" b="1">
                <a:ea typeface="MS PGothic"/>
              </a:rPr>
              <a:t>destino final for remoto</a:t>
            </a:r>
            <a:r>
              <a:rPr lang="pt-BR" sz="1230">
                <a:ea typeface="MS PGothic"/>
              </a:rPr>
              <a:t>, a </a:t>
            </a:r>
            <a:r>
              <a:rPr lang="pt-BR" sz="1230" b="1">
                <a:solidFill>
                  <a:srgbClr val="FF0000"/>
                </a:solidFill>
                <a:ea typeface="MS PGothic"/>
              </a:rPr>
              <a:t>Camada 3 fornecerá à Camada 2 o endereço IP do gateway padrão local</a:t>
            </a:r>
            <a:r>
              <a:rPr lang="pt-BR" sz="1230">
                <a:ea typeface="MS PGothic"/>
              </a:rPr>
              <a:t>, também conhecido como o </a:t>
            </a:r>
            <a:r>
              <a:rPr lang="pt-BR" sz="1230" b="1">
                <a:ea typeface="MS PGothic"/>
              </a:rPr>
              <a:t>endereço do roteador.</a:t>
            </a:r>
            <a:endParaRPr lang="pt-BR" sz="1230" b="1">
              <a:ea typeface="MS PGothic"/>
            </a:endParaRPr>
          </a:p>
          <a:p>
            <a:pPr marL="0" indent="0" algn="just" rtl="0">
              <a:buFont typeface="Arial" panose="020B0604020202020204" pitchFamily="34" charset="0"/>
              <a:buNone/>
            </a:pPr>
            <a:r>
              <a:rPr lang="pt-BR" sz="1230">
                <a:ea typeface="MS PGothic"/>
              </a:rPr>
              <a:t>O </a:t>
            </a:r>
            <a:r>
              <a:rPr lang="pt-BR" sz="1230" b="1">
                <a:ea typeface="MS PGothic"/>
              </a:rPr>
              <a:t>gateway padrão (DGW)</a:t>
            </a:r>
            <a:r>
              <a:rPr lang="pt-BR" sz="1230">
                <a:ea typeface="MS PGothic"/>
              </a:rPr>
              <a:t> é o </a:t>
            </a:r>
            <a:r>
              <a:rPr lang="pt-BR" sz="1230" b="1">
                <a:solidFill>
                  <a:srgbClr val="FF0000"/>
                </a:solidFill>
                <a:ea typeface="MS PGothic"/>
              </a:rPr>
              <a:t>endereço IP da interface do roteador</a:t>
            </a:r>
            <a:r>
              <a:rPr lang="pt-BR" sz="1230">
                <a:ea typeface="MS PGothic"/>
              </a:rPr>
              <a:t> que faz parte dessa </a:t>
            </a:r>
            <a:r>
              <a:rPr lang="pt-BR" sz="1230" b="1">
                <a:ea typeface="MS PGothic"/>
              </a:rPr>
              <a:t>LAN </a:t>
            </a:r>
            <a:r>
              <a:rPr lang="pt-BR" sz="1230">
                <a:ea typeface="MS PGothic"/>
              </a:rPr>
              <a:t>e será a </a:t>
            </a:r>
            <a:r>
              <a:rPr lang="pt-BR" sz="1230" b="1">
                <a:solidFill>
                  <a:srgbClr val="FF0000"/>
                </a:solidFill>
                <a:ea typeface="MS PGothic"/>
              </a:rPr>
              <a:t>“porta”</a:t>
            </a:r>
            <a:r>
              <a:rPr lang="pt-BR" sz="1230">
                <a:ea typeface="MS PGothic"/>
              </a:rPr>
              <a:t> ou </a:t>
            </a:r>
            <a:r>
              <a:rPr lang="pt-BR" sz="1230" b="1">
                <a:solidFill>
                  <a:srgbClr val="FF0000"/>
                </a:solidFill>
                <a:ea typeface="MS PGothic"/>
              </a:rPr>
              <a:t>“gateway”</a:t>
            </a:r>
            <a:r>
              <a:rPr lang="pt-BR" sz="1230">
                <a:ea typeface="MS PGothic"/>
              </a:rPr>
              <a:t> para todos os outros locais remotos.</a:t>
            </a:r>
            <a:endParaRPr lang="pt-BR" sz="1230">
              <a:ea typeface="MS PGothic"/>
            </a:endParaRPr>
          </a:p>
          <a:p>
            <a:pPr marL="0" indent="0" algn="just">
              <a:buFont typeface="Arial" panose="020B0604020202020204" pitchFamily="34" charset="0"/>
              <a:buNone/>
            </a:pPr>
            <a:r>
              <a:rPr lang="pt-BR" sz="1230">
                <a:ea typeface="MS PGothic"/>
              </a:rPr>
              <a:t>Todos os </a:t>
            </a:r>
            <a:r>
              <a:rPr lang="pt-BR" sz="1230" b="1">
                <a:solidFill>
                  <a:srgbClr val="FF0000"/>
                </a:solidFill>
                <a:ea typeface="MS PGothic"/>
              </a:rPr>
              <a:t>dispositivos na LAN</a:t>
            </a:r>
            <a:r>
              <a:rPr lang="pt-BR" sz="1230">
                <a:ea typeface="MS PGothic"/>
              </a:rPr>
              <a:t> devem ser informados sobre esse endereço ou seu tráfego será limitado somente à </a:t>
            </a:r>
            <a:r>
              <a:rPr lang="pt-BR" sz="1230" b="1">
                <a:ea typeface="MS PGothic"/>
              </a:rPr>
              <a:t>LAN</a:t>
            </a:r>
            <a:r>
              <a:rPr lang="pt-BR" sz="1230">
                <a:ea typeface="MS PGothic"/>
              </a:rPr>
              <a:t>. </a:t>
            </a:r>
            <a:endParaRPr lang="pt-BR" sz="1230">
              <a:ea typeface="MS PGothic"/>
            </a:endParaRPr>
          </a:p>
          <a:p>
            <a:pPr marL="0" indent="0" algn="just" rtl="0">
              <a:buFont typeface="Arial" panose="020B0604020202020204" pitchFamily="34" charset="0"/>
              <a:buNone/>
            </a:pPr>
            <a:r>
              <a:rPr lang="pt-BR" sz="1230">
                <a:ea typeface="MS PGothic"/>
              </a:rPr>
              <a:t>Depois que a</a:t>
            </a:r>
            <a:r>
              <a:rPr lang="pt-BR" sz="1230" b="1">
                <a:solidFill>
                  <a:srgbClr val="FF0000"/>
                </a:solidFill>
                <a:ea typeface="MS PGothic"/>
              </a:rPr>
              <a:t> Camada 2 em PC1</a:t>
            </a:r>
            <a:r>
              <a:rPr lang="pt-BR" sz="1230">
                <a:ea typeface="MS PGothic"/>
              </a:rPr>
              <a:t> for encaminha para o </a:t>
            </a:r>
            <a:r>
              <a:rPr lang="pt-BR" sz="1230" b="1">
                <a:ea typeface="MS PGothic"/>
              </a:rPr>
              <a:t>gateway padrão (Roteador)</a:t>
            </a:r>
            <a:r>
              <a:rPr lang="pt-BR" sz="1230">
                <a:ea typeface="MS PGothic"/>
              </a:rPr>
              <a:t>, o roteador poderá iniciar o processo de </a:t>
            </a:r>
            <a:r>
              <a:rPr lang="pt-BR" sz="1230" b="1">
                <a:solidFill>
                  <a:srgbClr val="FF0000"/>
                </a:solidFill>
                <a:ea typeface="MS PGothic"/>
              </a:rPr>
              <a:t>roteamento</a:t>
            </a:r>
            <a:r>
              <a:rPr lang="pt-BR" sz="1230">
                <a:ea typeface="MS PGothic"/>
              </a:rPr>
              <a:t> para obter as informações para o destino real. </a:t>
            </a:r>
            <a:endParaRPr lang="en-CA" altLang="en-US" sz="1230" dirty="0"/>
          </a:p>
        </p:txBody>
      </p:sp>
      <p:pic>
        <p:nvPicPr>
          <p:cNvPr id="2" name="Imagem 1"/>
          <p:cNvPicPr>
            <a:picLocks noChangeAspect="1"/>
          </p:cNvPicPr>
          <p:nvPr/>
        </p:nvPicPr>
        <p:blipFill>
          <a:blip r:embed="rId1">
            <a:clrChange>
              <a:clrFrom>
                <a:srgbClr val="FFFFFF">
                  <a:alpha val="100000"/>
                </a:srgbClr>
              </a:clrFrom>
              <a:clrTo>
                <a:srgbClr val="FFFFFF">
                  <a:alpha val="100000"/>
                  <a:alpha val="0"/>
                </a:srgbClr>
              </a:clrTo>
            </a:clrChange>
          </a:blip>
          <a:srcRect l="24792" t="31026" r="24792" b="6282"/>
          <a:stretch>
            <a:fillRect/>
          </a:stretch>
        </p:blipFill>
        <p:spPr>
          <a:xfrm>
            <a:off x="3528695" y="1012190"/>
            <a:ext cx="5505450" cy="3709035"/>
          </a:xfrm>
          <a:prstGeom prst="rect">
            <a:avLst/>
          </a:prstGeom>
        </p:spPr>
      </p:pic>
    </p:spTree>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93980" y="1050290"/>
            <a:ext cx="3434715" cy="3632835"/>
          </a:xfrm>
        </p:spPr>
        <p:txBody>
          <a:bodyPr/>
          <a:lstStyle/>
          <a:p>
            <a:pPr marL="0" indent="0" algn="just" rtl="0">
              <a:buFont typeface="Arial" panose="020B0604020202020204" pitchFamily="34" charset="0"/>
              <a:buNone/>
            </a:pPr>
            <a:r>
              <a:rPr lang="pt-BR" sz="1350">
                <a:ea typeface="MS PGothic"/>
              </a:rPr>
              <a:t>O </a:t>
            </a:r>
            <a:r>
              <a:rPr lang="pt-BR" sz="1350" b="1">
                <a:ea typeface="MS PGothic"/>
              </a:rPr>
              <a:t>endereçamento do link de dados</a:t>
            </a:r>
            <a:r>
              <a:rPr lang="pt-BR" sz="1350">
                <a:ea typeface="MS PGothic"/>
              </a:rPr>
              <a:t> é endereçamento local, portanto, ele terá uma </a:t>
            </a:r>
            <a:r>
              <a:rPr lang="pt-BR" sz="1350" b="1">
                <a:solidFill>
                  <a:srgbClr val="FF0000"/>
                </a:solidFill>
                <a:ea typeface="MS PGothic"/>
              </a:rPr>
              <a:t>origem e um destino para cada link</a:t>
            </a:r>
            <a:r>
              <a:rPr lang="pt-BR" sz="1350">
                <a:ea typeface="MS PGothic"/>
              </a:rPr>
              <a:t>.</a:t>
            </a:r>
            <a:endParaRPr lang="pt-BR" sz="1350">
              <a:ea typeface="MS PGothic"/>
            </a:endParaRPr>
          </a:p>
          <a:p>
            <a:pPr marL="0" indent="0" algn="just" rtl="0">
              <a:buFont typeface="Arial" panose="020B0604020202020204" pitchFamily="34" charset="0"/>
              <a:buNone/>
            </a:pPr>
            <a:r>
              <a:rPr lang="pt-BR" sz="1350">
                <a:ea typeface="MS PGothic"/>
              </a:rPr>
              <a:t>O </a:t>
            </a:r>
            <a:r>
              <a:rPr lang="pt-BR" sz="1350" b="1">
                <a:ea typeface="MS PGothic"/>
              </a:rPr>
              <a:t>endereçamento MAC</a:t>
            </a:r>
            <a:r>
              <a:rPr lang="pt-BR" sz="1350">
                <a:ea typeface="MS PGothic"/>
              </a:rPr>
              <a:t> para o primeiro segmento é:</a:t>
            </a:r>
            <a:endParaRPr lang="pt-BR" sz="1350">
              <a:ea typeface="MS PGothic"/>
            </a:endParaRPr>
          </a:p>
          <a:p>
            <a:pPr lvl="1" algn="just" rtl="0"/>
            <a:r>
              <a:rPr lang="pt-BR" sz="1350" b="1">
                <a:ea typeface="MS PGothic"/>
              </a:rPr>
              <a:t>Fonte: AA-AA-AA-AA-AA-AA</a:t>
            </a:r>
            <a:endParaRPr lang="pt-BR" sz="1350" b="1">
              <a:ea typeface="MS PGothic"/>
            </a:endParaRPr>
          </a:p>
          <a:p>
            <a:pPr lvl="2" algn="just" rtl="0"/>
            <a:r>
              <a:rPr lang="pt-BR" sz="1155">
                <a:ea typeface="MS PGothic"/>
              </a:rPr>
              <a:t>(PC1) Envia o quadro.</a:t>
            </a:r>
            <a:endParaRPr lang="pt-BR" sz="1155">
              <a:ea typeface="MS PGothic"/>
            </a:endParaRPr>
          </a:p>
          <a:p>
            <a:pPr lvl="1" algn="just" rtl="0"/>
            <a:r>
              <a:rPr lang="pt-BR" sz="1350" b="1">
                <a:ea typeface="MS PGothic"/>
              </a:rPr>
              <a:t>Destino: 11-11-11-11-11-11 </a:t>
            </a:r>
            <a:endParaRPr lang="pt-BR" sz="1350" b="1">
              <a:ea typeface="MS PGothic"/>
            </a:endParaRPr>
          </a:p>
          <a:p>
            <a:pPr lvl="2" algn="just" rtl="0"/>
            <a:r>
              <a:rPr lang="pt-BR" sz="1155">
                <a:ea typeface="MS PGothic"/>
              </a:rPr>
              <a:t>(R1- MAC de gateway padrão) Recebe o quadro.</a:t>
            </a:r>
            <a:endParaRPr lang="pt-BR" sz="1155">
              <a:ea typeface="MS PGothic"/>
            </a:endParaRPr>
          </a:p>
          <a:p>
            <a:pPr marL="0" indent="0" algn="just">
              <a:buNone/>
            </a:pPr>
            <a:r>
              <a:rPr lang="pt-BR" sz="1350" b="1">
                <a:ea typeface="MS PGothic"/>
              </a:rPr>
              <a:t>Observação: </a:t>
            </a:r>
            <a:r>
              <a:rPr lang="pt-BR" sz="1350">
                <a:ea typeface="MS PGothic"/>
              </a:rPr>
              <a:t>Embora o </a:t>
            </a:r>
            <a:r>
              <a:rPr lang="pt-BR" sz="1350" b="1">
                <a:solidFill>
                  <a:srgbClr val="FF0000"/>
                </a:solidFill>
                <a:ea typeface="MS PGothic"/>
              </a:rPr>
              <a:t>endereçamento local L2</a:t>
            </a:r>
            <a:r>
              <a:rPr lang="pt-BR" sz="1350">
                <a:ea typeface="MS PGothic"/>
              </a:rPr>
              <a:t> mude de link para link ou de salto para salto, o e</a:t>
            </a:r>
            <a:r>
              <a:rPr lang="pt-BR" sz="1350" b="1">
                <a:solidFill>
                  <a:srgbClr val="FF0000"/>
                </a:solidFill>
                <a:ea typeface="MS PGothic"/>
              </a:rPr>
              <a:t>ndereçamento L3 permanece o mesmo. </a:t>
            </a:r>
            <a:endParaRPr lang="en-CA" altLang="en-US" sz="1350" dirty="0"/>
          </a:p>
        </p:txBody>
      </p:sp>
      <p:sp>
        <p:nvSpPr>
          <p:cNvPr id="3" name="Title 1"/>
          <p:cNvSpPr>
            <a:spLocks noGrp="1"/>
          </p:cNvSpPr>
          <p:nvPr>
            <p:ph type="title"/>
          </p:nvPr>
        </p:nvSpPr>
        <p:spPr>
          <a:xfrm>
            <a:off x="0" y="66040"/>
            <a:ext cx="9144000" cy="925195"/>
          </a:xfrm>
        </p:spPr>
        <p:txBody>
          <a:bodyPr/>
          <a:p>
            <a:pPr rtl="0"/>
            <a:r>
              <a:rPr lang="pt-BR" sz="1600"/>
              <a:t>Acesso aos Dados </a:t>
            </a:r>
            <a:br>
              <a:rPr lang="en-US" altLang="en-US" dirty="0"/>
            </a:br>
            <a:r>
              <a:rPr lang="pt-BR"/>
              <a:t>Função dos Endereços da Camada de Enlace de Dados: Redes IP Diferentes (Continuação)</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4792" t="31026" r="24792" b="6282"/>
          <a:stretch>
            <a:fillRect/>
          </a:stretch>
        </p:blipFill>
        <p:spPr>
          <a:xfrm>
            <a:off x="3528695" y="1012190"/>
            <a:ext cx="5505450" cy="3709035"/>
          </a:xfrm>
          <a:prstGeom prst="rect">
            <a:avLst/>
          </a:prstGeom>
        </p:spPr>
      </p:pic>
    </p:spTree>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0"/>
            <a:ext cx="9144000" cy="861695"/>
          </a:xfrm>
        </p:spPr>
        <p:txBody>
          <a:bodyPr/>
          <a:lstStyle/>
          <a:p>
            <a:pPr rtl="0"/>
            <a:r>
              <a:rPr lang="pt-BR" sz="1600"/>
              <a:t>Acesso a dados </a:t>
            </a:r>
            <a:br>
              <a:rPr lang="en-US" altLang="en-US" dirty="0"/>
            </a:br>
            <a:r>
              <a:rPr lang="pt-BR"/>
              <a:t>Endereços de Enlace de Dados de Rede</a:t>
            </a:r>
            <a:endParaRPr lang="pt-BR"/>
          </a:p>
        </p:txBody>
      </p:sp>
      <p:sp>
        <p:nvSpPr>
          <p:cNvPr id="13315" name="Content Placeholder 2"/>
          <p:cNvSpPr>
            <a:spLocks noGrp="1"/>
          </p:cNvSpPr>
          <p:nvPr>
            <p:ph idx="1"/>
          </p:nvPr>
        </p:nvSpPr>
        <p:spPr>
          <a:xfrm>
            <a:off x="93980" y="895350"/>
            <a:ext cx="3274695" cy="3596005"/>
          </a:xfrm>
        </p:spPr>
        <p:txBody>
          <a:bodyPr/>
          <a:lstStyle/>
          <a:p>
            <a:pPr marL="0" indent="0" algn="just" rtl="0">
              <a:buFont typeface="Arial" panose="020B0604020202020204" pitchFamily="34" charset="0"/>
              <a:buNone/>
            </a:pPr>
            <a:r>
              <a:rPr lang="pt-BR" sz="1600"/>
              <a:t>Como o </a:t>
            </a:r>
            <a:r>
              <a:rPr lang="pt-BR" sz="1600" b="1"/>
              <a:t>endereçamento de link de dados</a:t>
            </a:r>
            <a:r>
              <a:rPr lang="pt-BR" sz="1600"/>
              <a:t> é </a:t>
            </a:r>
            <a:r>
              <a:rPr lang="pt-BR" sz="1600" b="1">
                <a:solidFill>
                  <a:srgbClr val="FF0000"/>
                </a:solidFill>
              </a:rPr>
              <a:t>endereçamento local</a:t>
            </a:r>
            <a:r>
              <a:rPr lang="pt-BR" sz="1600"/>
              <a:t>, ele terá uma origem e um destino para cada segmento ou salto da viagem para o destino.</a:t>
            </a:r>
            <a:endParaRPr lang="pt-BR" sz="1600"/>
          </a:p>
          <a:p>
            <a:pPr marL="0" indent="0" algn="just" rtl="0">
              <a:buFont typeface="Arial" panose="020B0604020202020204" pitchFamily="34" charset="0"/>
              <a:buNone/>
            </a:pPr>
            <a:r>
              <a:rPr lang="pt-BR" sz="1600"/>
              <a:t>O </a:t>
            </a:r>
            <a:r>
              <a:rPr lang="pt-BR" sz="1600" b="1"/>
              <a:t>endereçamento MAC</a:t>
            </a:r>
            <a:r>
              <a:rPr lang="pt-BR" sz="1600"/>
              <a:t> para o primeiro segmento é:</a:t>
            </a:r>
            <a:endParaRPr lang="pt-BR" sz="1600"/>
          </a:p>
          <a:p>
            <a:pPr lvl="1" algn="just" rtl="0"/>
            <a:r>
              <a:rPr lang="pt-BR" sz="1600" b="1">
                <a:solidFill>
                  <a:srgbClr val="FF0000"/>
                </a:solidFill>
              </a:rPr>
              <a:t>Origem: NIC PC</a:t>
            </a:r>
            <a:endParaRPr lang="pt-BR" sz="1600"/>
          </a:p>
          <a:p>
            <a:pPr lvl="2" algn="just" rtl="0"/>
            <a:r>
              <a:rPr lang="pt-BR" sz="1600"/>
              <a:t>envia quadro</a:t>
            </a:r>
            <a:endParaRPr lang="pt-BR" sz="1600"/>
          </a:p>
          <a:p>
            <a:pPr lvl="1" algn="just" rtl="0"/>
            <a:r>
              <a:rPr lang="pt-BR" sz="1600" b="1">
                <a:solidFill>
                  <a:srgbClr val="FF0000"/>
                </a:solidFill>
              </a:rPr>
              <a:t>Destino: Primeiro Roteador</a:t>
            </a:r>
            <a:endParaRPr lang="pt-BR" sz="1600" b="1">
              <a:solidFill>
                <a:srgbClr val="FF0000"/>
              </a:solidFill>
            </a:endParaRPr>
          </a:p>
          <a:p>
            <a:pPr lvl="2" algn="just" rtl="0"/>
            <a:r>
              <a:rPr lang="pt-BR" sz="1600"/>
              <a:t> Interface DGW) recebe quadro</a:t>
            </a:r>
            <a:endParaRPr lang="pt-BR" sz="1600"/>
          </a:p>
        </p:txBody>
      </p:sp>
      <p:pic>
        <p:nvPicPr>
          <p:cNvPr id="2" name="Imagem 1"/>
          <p:cNvPicPr>
            <a:picLocks noChangeAspect="1"/>
          </p:cNvPicPr>
          <p:nvPr/>
        </p:nvPicPr>
        <p:blipFill>
          <a:blip r:embed="rId1"/>
          <a:srcRect l="22813" t="42885" r="23229" b="8462"/>
          <a:stretch>
            <a:fillRect/>
          </a:stretch>
        </p:blipFill>
        <p:spPr>
          <a:xfrm>
            <a:off x="3314700" y="1330960"/>
            <a:ext cx="5756910" cy="2811780"/>
          </a:xfrm>
          <a:prstGeom prst="rect">
            <a:avLst/>
          </a:prstGeom>
        </p:spPr>
      </p:pic>
    </p:spTree>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122555" y="805180"/>
            <a:ext cx="3510915" cy="4000500"/>
          </a:xfrm>
        </p:spPr>
        <p:txBody>
          <a:bodyPr/>
          <a:lstStyle/>
          <a:p>
            <a:pPr marL="0" indent="0" algn="just" rtl="0">
              <a:buNone/>
            </a:pPr>
            <a:r>
              <a:rPr lang="pt-BR" sz="2500"/>
              <a:t>O </a:t>
            </a:r>
            <a:r>
              <a:rPr lang="pt-BR" sz="2500" b="1">
                <a:solidFill>
                  <a:srgbClr val="FF0000"/>
                </a:solidFill>
              </a:rPr>
              <a:t>endereçamento MAC</a:t>
            </a:r>
            <a:r>
              <a:rPr lang="pt-BR" sz="2500"/>
              <a:t> para o segundo salto é:</a:t>
            </a:r>
            <a:endParaRPr lang="pt-BR" sz="2500"/>
          </a:p>
          <a:p>
            <a:pPr lvl="1" algn="just" rtl="0"/>
            <a:r>
              <a:rPr lang="pt-BR" sz="2500" b="1">
                <a:solidFill>
                  <a:srgbClr val="FF0000"/>
                </a:solidFill>
              </a:rPr>
              <a:t>Origem</a:t>
            </a:r>
            <a:endParaRPr lang="pt-BR" sz="2500"/>
          </a:p>
          <a:p>
            <a:pPr lvl="2" algn="just" rtl="0"/>
            <a:r>
              <a:rPr lang="pt-BR" sz="2140"/>
              <a:t>Primeira interface de saída do Roteador) envia quadro</a:t>
            </a:r>
            <a:endParaRPr lang="pt-BR" sz="2140"/>
          </a:p>
          <a:p>
            <a:pPr lvl="1" algn="just" rtl="0"/>
            <a:r>
              <a:rPr lang="pt-BR" sz="2500" b="1">
                <a:solidFill>
                  <a:srgbClr val="FF0000"/>
                </a:solidFill>
              </a:rPr>
              <a:t>Destino</a:t>
            </a:r>
            <a:endParaRPr lang="pt-BR" sz="2500"/>
          </a:p>
          <a:p>
            <a:pPr lvl="2" algn="just" rtl="0"/>
            <a:r>
              <a:rPr lang="pt-BR" sz="2140"/>
              <a:t>Segundo Roteador) recebe quadro</a:t>
            </a:r>
            <a:endParaRPr lang="pt-BR" sz="2140"/>
          </a:p>
        </p:txBody>
      </p:sp>
      <p:sp>
        <p:nvSpPr>
          <p:cNvPr id="3" name="Title 1"/>
          <p:cNvSpPr>
            <a:spLocks noGrp="1"/>
          </p:cNvSpPr>
          <p:nvPr>
            <p:ph type="title"/>
          </p:nvPr>
        </p:nvSpPr>
        <p:spPr>
          <a:xfrm>
            <a:off x="0" y="0"/>
            <a:ext cx="9144000" cy="861695"/>
          </a:xfrm>
        </p:spPr>
        <p:txBody>
          <a:bodyPr/>
          <a:p>
            <a:pPr rtl="0"/>
            <a:r>
              <a:rPr lang="pt-BR" sz="1600"/>
              <a:t>Acesso a dados </a:t>
            </a:r>
            <a:br>
              <a:rPr lang="en-US" altLang="en-US" dirty="0"/>
            </a:br>
            <a:r>
              <a:rPr lang="pt-BR"/>
              <a:t>Endereços de Enlace de Dados de Rede </a:t>
            </a:r>
            <a:r>
              <a:rPr lang="pt-BR">
                <a:sym typeface="+mn-ea"/>
              </a:rPr>
              <a:t>(Continuação)</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2965" t="40494" r="23281" b="10929"/>
          <a:stretch>
            <a:fillRect/>
          </a:stretch>
        </p:blipFill>
        <p:spPr>
          <a:xfrm>
            <a:off x="3517265" y="1444625"/>
            <a:ext cx="5559425" cy="2721610"/>
          </a:xfrm>
          <a:prstGeom prst="rect">
            <a:avLst/>
          </a:prstGeom>
        </p:spPr>
      </p:pic>
    </p:spTree>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113665" y="861695"/>
            <a:ext cx="3256280" cy="3570605"/>
          </a:xfrm>
        </p:spPr>
        <p:txBody>
          <a:bodyPr/>
          <a:lstStyle/>
          <a:p>
            <a:pPr marL="0" indent="0" algn="just" rtl="0">
              <a:buNone/>
            </a:pPr>
            <a:r>
              <a:rPr lang="pt-BR" sz="2200"/>
              <a:t>O </a:t>
            </a:r>
            <a:r>
              <a:rPr lang="pt-BR" sz="2200" b="1"/>
              <a:t>endereçamento MAC </a:t>
            </a:r>
            <a:r>
              <a:rPr lang="pt-BR" sz="2200"/>
              <a:t>para o último segmento é:</a:t>
            </a:r>
            <a:endParaRPr lang="pt-BR" sz="2200"/>
          </a:p>
          <a:p>
            <a:pPr lvl="1" algn="just" rtl="0"/>
            <a:r>
              <a:rPr lang="pt-BR" sz="2200" b="1">
                <a:solidFill>
                  <a:srgbClr val="FF0000"/>
                </a:solidFill>
              </a:rPr>
              <a:t>Origem</a:t>
            </a:r>
            <a:endParaRPr lang="pt-BR" sz="2200"/>
          </a:p>
          <a:p>
            <a:pPr lvl="2" algn="just" rtl="0"/>
            <a:r>
              <a:rPr lang="pt-BR" sz="1885"/>
              <a:t>Segunda interface de saída do Roteador) envia quadro</a:t>
            </a:r>
            <a:endParaRPr lang="pt-BR" sz="1885"/>
          </a:p>
          <a:p>
            <a:pPr lvl="1" algn="just" rtl="0"/>
            <a:r>
              <a:rPr lang="pt-BR" sz="2200" b="1">
                <a:solidFill>
                  <a:srgbClr val="FF0000"/>
                </a:solidFill>
              </a:rPr>
              <a:t>Destino</a:t>
            </a:r>
            <a:endParaRPr lang="pt-BR" sz="2200"/>
          </a:p>
          <a:p>
            <a:pPr lvl="2" algn="just" rtl="0"/>
            <a:r>
              <a:rPr lang="pt-BR" sz="1885"/>
              <a:t>NIC do servidor Web) recebe quadro</a:t>
            </a:r>
            <a:endParaRPr lang="pt-BR" sz="1885"/>
          </a:p>
        </p:txBody>
      </p:sp>
      <p:sp>
        <p:nvSpPr>
          <p:cNvPr id="3" name="Title 1"/>
          <p:cNvSpPr>
            <a:spLocks noGrp="1"/>
          </p:cNvSpPr>
          <p:nvPr>
            <p:ph type="title"/>
          </p:nvPr>
        </p:nvSpPr>
        <p:spPr>
          <a:xfrm>
            <a:off x="0" y="0"/>
            <a:ext cx="9144000" cy="861695"/>
          </a:xfrm>
        </p:spPr>
        <p:txBody>
          <a:bodyPr/>
          <a:p>
            <a:pPr rtl="0"/>
            <a:r>
              <a:rPr lang="pt-BR" sz="1600"/>
              <a:t>Acesso a dados </a:t>
            </a:r>
            <a:br>
              <a:rPr lang="en-US" altLang="en-US" dirty="0"/>
            </a:br>
            <a:r>
              <a:rPr lang="pt-BR"/>
              <a:t>Endereços de Enlace de Dados de Rede </a:t>
            </a:r>
            <a:r>
              <a:rPr lang="pt-BR">
                <a:sym typeface="+mn-ea"/>
              </a:rPr>
              <a:t>(Continuação)</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2813" t="41731" r="23333" b="9808"/>
          <a:stretch>
            <a:fillRect/>
          </a:stretch>
        </p:blipFill>
        <p:spPr>
          <a:xfrm>
            <a:off x="3235325" y="1465580"/>
            <a:ext cx="5845175" cy="2849880"/>
          </a:xfrm>
          <a:prstGeom prst="rect">
            <a:avLst/>
          </a:prstGeom>
        </p:spPr>
      </p:pic>
    </p:spTree>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152400" y="819150"/>
            <a:ext cx="3082925" cy="3867785"/>
          </a:xfrm>
        </p:spPr>
        <p:txBody>
          <a:bodyPr/>
          <a:lstStyle/>
          <a:p>
            <a:pPr marL="0" indent="0" algn="just" rtl="0">
              <a:buFont typeface="Arial" panose="020B0604020202020204" pitchFamily="34" charset="0"/>
              <a:buNone/>
            </a:pPr>
            <a:r>
              <a:rPr lang="pt-BR" sz="1850"/>
              <a:t>Observe que o </a:t>
            </a:r>
            <a:r>
              <a:rPr lang="pt-BR" sz="1850" b="1">
                <a:solidFill>
                  <a:srgbClr val="FF0000"/>
                </a:solidFill>
              </a:rPr>
              <a:t>pacote não é modificado</a:t>
            </a:r>
            <a:r>
              <a:rPr lang="pt-BR" sz="1850"/>
              <a:t>, mas o </a:t>
            </a:r>
            <a:r>
              <a:rPr lang="pt-BR" sz="1850" b="1"/>
              <a:t>quadro é alterado</a:t>
            </a:r>
            <a:r>
              <a:rPr lang="pt-BR" sz="1850"/>
              <a:t>, portanto, o </a:t>
            </a:r>
            <a:r>
              <a:rPr lang="pt-BR" sz="1850" b="1">
                <a:solidFill>
                  <a:srgbClr val="FF0000"/>
                </a:solidFill>
              </a:rPr>
              <a:t>endereçamento IP L3</a:t>
            </a:r>
            <a:r>
              <a:rPr lang="pt-BR" sz="1850"/>
              <a:t> não muda de segmento para segmento como o </a:t>
            </a:r>
            <a:r>
              <a:rPr lang="pt-BR" sz="1850" b="1"/>
              <a:t>endereçamento MAC L2</a:t>
            </a:r>
            <a:r>
              <a:rPr lang="pt-BR" sz="1850"/>
              <a:t>.</a:t>
            </a:r>
            <a:endParaRPr lang="pt-BR" sz="1850"/>
          </a:p>
          <a:p>
            <a:pPr marL="0" indent="0" algn="just" rtl="0">
              <a:buFont typeface="Arial" panose="020B0604020202020204" pitchFamily="34" charset="0"/>
              <a:buNone/>
            </a:pPr>
            <a:r>
              <a:rPr lang="pt-BR" sz="1850"/>
              <a:t>O </a:t>
            </a:r>
            <a:r>
              <a:rPr lang="pt-BR" sz="1850" b="1">
                <a:solidFill>
                  <a:srgbClr val="FF0000"/>
                </a:solidFill>
              </a:rPr>
              <a:t>endereçamento L3</a:t>
            </a:r>
            <a:r>
              <a:rPr lang="pt-BR" sz="1850"/>
              <a:t> permanece o mesmo, uma vez que é </a:t>
            </a:r>
            <a:r>
              <a:rPr lang="pt-BR" sz="1850" b="1"/>
              <a:t>global e o destino final</a:t>
            </a:r>
            <a:r>
              <a:rPr lang="pt-BR" sz="1850"/>
              <a:t> ainda é o servidor Web.</a:t>
            </a:r>
            <a:endParaRPr lang="pt-BR" sz="1850"/>
          </a:p>
        </p:txBody>
      </p:sp>
      <p:sp>
        <p:nvSpPr>
          <p:cNvPr id="3" name="Title 1"/>
          <p:cNvSpPr>
            <a:spLocks noGrp="1"/>
          </p:cNvSpPr>
          <p:nvPr>
            <p:ph type="title"/>
          </p:nvPr>
        </p:nvSpPr>
        <p:spPr>
          <a:xfrm>
            <a:off x="1" y="1"/>
            <a:ext cx="8010523" cy="861386"/>
          </a:xfrm>
        </p:spPr>
        <p:txBody>
          <a:bodyPr/>
          <a:p>
            <a:pPr rtl="0"/>
            <a:r>
              <a:rPr lang="pt-BR" sz="1600"/>
              <a:t>Acesso a dados </a:t>
            </a:r>
            <a:br>
              <a:rPr lang="en-US" altLang="en-US" dirty="0"/>
            </a:br>
            <a:r>
              <a:rPr lang="pt-BR"/>
              <a:t>Endereços de Enlace de Dados (Continuação)</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2813" t="41731" r="23333" b="9808"/>
          <a:stretch>
            <a:fillRect/>
          </a:stretch>
        </p:blipFill>
        <p:spPr>
          <a:xfrm>
            <a:off x="3235325" y="1465580"/>
            <a:ext cx="5845175" cy="2849880"/>
          </a:xfrm>
          <a:prstGeom prst="rect">
            <a:avLst/>
          </a:prstGeom>
        </p:spPr>
      </p:pic>
    </p:spTree>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slow">
    <p:wipe/>
  </p:transition>
</p:sld>
</file>

<file path=ppt/tags/tag1.xml><?xml version="1.0" encoding="utf-8"?>
<p:tagLst xmlns:p="http://schemas.openxmlformats.org/presentationml/2006/main">
  <p:tag name="ARTICULATE_SLIDE_THUMBNAIL_REFRESH" val="1"/>
</p:tagLst>
</file>

<file path=ppt/tags/tag2.xml><?xml version="1.0" encoding="utf-8"?>
<p:tagLst xmlns:p="http://schemas.openxmlformats.org/presentationml/2006/main">
  <p:tag name="ARTICULATE_SLIDE_THUMBNAIL_REFRESH" val="1"/>
</p:tagLst>
</file>

<file path=ppt/tags/tag3.xml><?xml version="1.0" encoding="utf-8"?>
<p:tagLst xmlns:p="http://schemas.openxmlformats.org/presentationml/2006/main">
  <p:tag name="ARTICULATE_SLIDE_THUMBNAIL_REFRESH" val="1"/>
</p:tagLst>
</file>

<file path=ppt/tags/tag4.xml><?xml version="1.0" encoding="utf-8"?>
<p:tagLst xmlns:p="http://schemas.openxmlformats.org/presentationml/2006/main">
  <p:tag name="ARTICULATE_SLIDE_THUMBNAIL_REFRESH" val="1"/>
</p:tagLst>
</file>

<file path=ppt/tags/tag5.xml><?xml version="1.0" encoding="utf-8"?>
<p:tagLst xmlns:p="http://schemas.openxmlformats.org/presentationml/2006/main">
  <p:tag name="ARTICULATE_SLIDE_THUMBNAIL_REFRESH" val="1"/>
</p:tagLst>
</file>

<file path=ppt/tags/tag6.xml><?xml version="1.0" encoding="utf-8"?>
<p:tagLst xmlns:p="http://schemas.openxmlformats.org/presentationml/2006/main">
  <p:tag name="ARTICULATE_SLIDE_THUMBNAIL_REFRESH" val="1"/>
</p:tagLst>
</file>

<file path=ppt/tags/tag7.xml><?xml version="1.0" encoding="utf-8"?>
<p:tagLst xmlns:p="http://schemas.openxmlformats.org/presentationml/2006/main">
  <p:tag name="ARTICULATE_SLIDE_THUMBNAIL_REFRESH" val="1"/>
</p:tagLst>
</file>

<file path=ppt/tags/tag8.xml><?xml version="1.0" encoding="utf-8"?>
<p:tagLst xmlns:p="http://schemas.openxmlformats.org/presentationml/2006/main">
  <p:tag name="ARTICULATE_SLIDE_THUMBNAIL_REFRESH" val="1"/>
</p:tagLst>
</file>

<file path=ppt/tags/tag9.xml><?xml version="1.0" encoding="utf-8"?>
<p:tagLst xmlns:p="http://schemas.openxmlformats.org/presentationml/2006/main">
  <p:tag name="ARTICULATE_SLIDE_THUMBNAIL_REFRESH" val="1"/>
</p:tagLst>
</file>

<file path=ppt/tags/tag10.xml><?xml version="1.0" encoding="utf-8"?>
<p:tagLst xmlns:p="http://schemas.openxmlformats.org/presentationml/2006/main">
  <p:tag name="ARTICULATE_SLIDE_THUMBNAIL_REFRESH" val="1"/>
</p:tagLst>
</file>

<file path=ppt/tags/tag11.xml><?xml version="1.0" encoding="utf-8"?>
<p:tagLst xmlns:p="http://schemas.openxmlformats.org/presentationml/2006/main">
  <p:tag name="ARTICULATE_SLIDE_THUMBNAIL_REFRESH" val="1"/>
</p:tagLst>
</file>

<file path=ppt/tags/tag12.xml><?xml version="1.0" encoding="utf-8"?>
<p:tagLst xmlns:p="http://schemas.openxmlformats.org/presentationml/2006/main">
  <p:tag name="ARTICULATE_SLIDE_COUNT" val="67"/>
  <p:tag name="ARTICULATE_PROJECT_OPEN" val="0"/>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0</TotalTime>
  <Words>19619</Words>
  <Application>WPS Presentation</Application>
  <PresentationFormat>On-screen Show (16:9)</PresentationFormat>
  <Paragraphs>490</Paragraphs>
  <Slides>55</Slides>
  <Notes>75</Notes>
  <HiddenSlides>12</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55</vt:i4>
      </vt:variant>
    </vt:vector>
  </HeadingPairs>
  <TitlesOfParts>
    <vt:vector size="75" baseType="lpstr">
      <vt:lpstr>Arial</vt:lpstr>
      <vt:lpstr>SimSun</vt:lpstr>
      <vt:lpstr>Wingdings</vt:lpstr>
      <vt:lpstr>MS PGothic</vt:lpstr>
      <vt:lpstr>Droid Sans Fallback</vt:lpstr>
      <vt:lpstr>CiscoSans Thin</vt:lpstr>
      <vt:lpstr>Gubbi</vt:lpstr>
      <vt:lpstr>MS PGothic</vt:lpstr>
      <vt:lpstr>CiscoSans</vt:lpstr>
      <vt:lpstr>CiscoSans</vt:lpstr>
      <vt:lpstr>CiscoSans ExtraLight</vt:lpstr>
      <vt:lpstr>Arial</vt:lpstr>
      <vt:lpstr>CiscoSans ExtraLight</vt:lpstr>
      <vt:lpstr>OpenSymbol</vt:lpstr>
      <vt:lpstr>Microsoft YaHei</vt:lpstr>
      <vt:lpstr>Arial Unicode MS</vt:lpstr>
      <vt:lpstr>Calibri</vt:lpstr>
      <vt:lpstr>Trebuchet MS</vt:lpstr>
      <vt:lpstr>MS PGothic</vt:lpstr>
      <vt:lpstr>Default Theme</vt:lpstr>
      <vt:lpstr>Módulo 3: Protocolos e Modelos de Comunicação</vt:lpstr>
      <vt:lpstr>3.1 - As Regras</vt:lpstr>
      <vt:lpstr>As Regras  Princípios da Comunicação</vt:lpstr>
      <vt:lpstr>As Regras Protocolos de Comunicações</vt:lpstr>
      <vt:lpstr>As Regras  Estabelecimento de Regras</vt:lpstr>
      <vt:lpstr>As Regras  Estabelecimento de Regras (Continuação)</vt:lpstr>
      <vt:lpstr>As Regras Requisitos dos Protocolo de Rede</vt:lpstr>
      <vt:lpstr>As Regras  Codificação da Mensagem</vt:lpstr>
      <vt:lpstr>As Regras  Formatação e Encapsulamento da Mensagem</vt:lpstr>
      <vt:lpstr>As Regras  Tamanho da Mensagem</vt:lpstr>
      <vt:lpstr>As Regras  Temporização de Mensagem</vt:lpstr>
      <vt:lpstr>As regras  Opções de Entrega da Mensagem</vt:lpstr>
      <vt:lpstr>As Regras Uma Nota Sobre o Ícone de Nó</vt:lpstr>
      <vt:lpstr>3.2 - Protocolos</vt:lpstr>
      <vt:lpstr>Protocolos Visão Geral dos Protocolos de Rede</vt:lpstr>
      <vt:lpstr>Protocolos Funções dos Protocolos de Rede</vt:lpstr>
      <vt:lpstr>Protocolos Interação dos Protocolos de Rede</vt:lpstr>
      <vt:lpstr>3.3 - Conjuntos de Protocolos</vt:lpstr>
      <vt:lpstr>Conjuntos de Protocolos Conjuntos de Protocolos de Rede</vt:lpstr>
      <vt:lpstr>Conjuntos de Protocolos Evolução dos Conjuntos de Protocolos de Rede</vt:lpstr>
      <vt:lpstr>Conjuntos de Protocolos Exemplo do Protocolo TCP/IP de Redes</vt:lpstr>
      <vt:lpstr>Conjuntos de Protocolos Suíte do Protocolo TCP/IP de Redes</vt:lpstr>
      <vt:lpstr>Conjuntos de Protocolos Processo de Comunicação do Protocolo TCP/IP de Redes</vt:lpstr>
      <vt:lpstr>3.4 - Empresas de Padrões de Redes</vt:lpstr>
      <vt:lpstr>Empresas de Padrões Padrões Abertos</vt:lpstr>
      <vt:lpstr>Empresas de Padrões Padrões Ethernet</vt:lpstr>
      <vt:lpstr>Empresas de Padrões Padrões Ethernet (Continuação)</vt:lpstr>
      <vt:lpstr>Empresas de Padrões Padrões Eletrônicos e de Comunicações de Redes</vt:lpstr>
      <vt:lpstr>3.5 - Modelos de Referência</vt:lpstr>
      <vt:lpstr>Modelos de Referência Os Benefícios de se Usar um Modelo de Camadas em Redes</vt:lpstr>
      <vt:lpstr>Modelos de Referência Os Benefícios de se Usar um Modelo de Camadas em Redes</vt:lpstr>
      <vt:lpstr>Modelos de Referência O Modelo de Referência OSI para Redes</vt:lpstr>
      <vt:lpstr>Modelos de referência O Modelo de Referência TCP/IP de Redes</vt:lpstr>
      <vt:lpstr>Modelos de referência Comparação dos Modelos OSI e TCP/IP para Redes</vt:lpstr>
      <vt:lpstr>3.6 - Encapsulamento de Dados</vt:lpstr>
      <vt:lpstr>Encapsulamento de Dados  Segmentação e Multiplexação de Mensagens em Rede</vt:lpstr>
      <vt:lpstr>Encapsulamento de Dados Sequenciamento de Mensagens em Rede</vt:lpstr>
      <vt:lpstr>Encapsulamento de Dados Unidades de Dados de Protocolos de Rede</vt:lpstr>
      <vt:lpstr>Encapsulamento de Dados Exemplo de Encapsulamento de Rede</vt:lpstr>
      <vt:lpstr>Encapsulamento de Dados Exemplo de Desencapsulamento de Rede</vt:lpstr>
      <vt:lpstr>3.7 - Acesso aos Dados</vt:lpstr>
      <vt:lpstr>Acesso aos Dados  Endereços de Rede</vt:lpstr>
      <vt:lpstr>Acesso aos Dados  Endereços Lógicos da Camada 3 de Rede</vt:lpstr>
      <vt:lpstr>Acesso aos Dados  Endereços Lógicos da Camada 3 de Rede (Continuação)</vt:lpstr>
      <vt:lpstr>Acesso aos Dados  Dispositivos na Mesma Rede</vt:lpstr>
      <vt:lpstr>Acesso aos Dados  Função dos Endereços da Camada de Enlace de Dados</vt:lpstr>
      <vt:lpstr>Acesso aos Dados  Dispositivos em uma Rede Remota</vt:lpstr>
      <vt:lpstr>Acessoa aos Dados  Função dos Endereços da Camada de Rede</vt:lpstr>
      <vt:lpstr>Acesso aos Dados  Função dos Endereços da Camada de Enlace de Dados: Redes IP Diferentes</vt:lpstr>
      <vt:lpstr>Acesso aos Dados  Função dos Endereços da Camada de Enlace de Dados: Redes IP Diferentes (Continuação)</vt:lpstr>
      <vt:lpstr>Acesso a dados  Endereços de Enlace de Dados de Rede</vt:lpstr>
      <vt:lpstr>Acesso a dados  Endereços de Enlace de Dados de Rede (Continuação)</vt:lpstr>
      <vt:lpstr>Acesso a dados  Endereços de Enlace de Dados de Rede (Continuação)</vt:lpstr>
      <vt:lpstr>Acesso a dados  Endereços de Enlace de Dados (Continuação)</vt:lpstr>
      <vt:lpstr>PowerPoint 演示文稿</vt:lpstr>
    </vt:vector>
  </TitlesOfParts>
  <Company>Cisco Systems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vaamonde</cp:lastModifiedBy>
  <cp:revision>1043</cp:revision>
  <dcterms:created xsi:type="dcterms:W3CDTF">2026-04-05T03:56:10Z</dcterms:created>
  <dcterms:modified xsi:type="dcterms:W3CDTF">2026-04-05T03:56:10Z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y fmtid="{D5CDD505-2E9C-101B-9397-08002B2CF9AE}" pid="10" name="ICV">
    <vt:lpwstr/>
  </property>
  <property fmtid="{D5CDD505-2E9C-101B-9397-08002B2CF9AE}" pid="11" name="KSOProductBuildVer">
    <vt:lpwstr>1046-11.1.0.11723</vt:lpwstr>
  </property>
</Properties>
</file>