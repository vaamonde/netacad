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513" r:id="rId3"/>
    <p:sldId id="876" r:id="rId5"/>
    <p:sldId id="759" r:id="rId6"/>
    <p:sldId id="1054" r:id="rId7"/>
    <p:sldId id="1090" r:id="rId8"/>
    <p:sldId id="1101" r:id="rId9"/>
    <p:sldId id="1056" r:id="rId10"/>
    <p:sldId id="1057" r:id="rId11"/>
    <p:sldId id="1091" r:id="rId12"/>
    <p:sldId id="1092" r:id="rId13"/>
    <p:sldId id="1093" r:id="rId14"/>
    <p:sldId id="1094" r:id="rId15"/>
    <p:sldId id="1095" r:id="rId16"/>
    <p:sldId id="1096" r:id="rId17"/>
    <p:sldId id="1097" r:id="rId18"/>
    <p:sldId id="1102" r:id="rId19"/>
    <p:sldId id="1063" r:id="rId20"/>
    <p:sldId id="1098" r:id="rId21"/>
    <p:sldId id="1099" r:id="rId22"/>
    <p:sldId id="1100" r:id="rId23"/>
    <p:sldId id="1103" r:id="rId24"/>
    <p:sldId id="957" r:id="rId25"/>
    <p:sldId id="958" r:id="rId26"/>
    <p:sldId id="874" r:id="rId27"/>
    <p:sldId id="291" r:id="rId28"/>
  </p:sldIdLst>
  <p:sldSz cx="9144000" cy="5143500" type="screen16x9"/>
  <p:notesSz cx="6858000" cy="9144000"/>
  <p:custDataLst>
    <p:tags r:id="rId3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8" autoAdjust="0"/>
    <p:restoredTop sz="77285" autoAdjust="0"/>
  </p:normalViewPr>
  <p:slideViewPr>
    <p:cSldViewPr snapToGrid="0" showGuides="1">
      <p:cViewPr varScale="1">
        <p:scale>
          <a:sx n="68" d="100"/>
          <a:sy n="68" d="100"/>
        </p:scale>
        <p:origin x="1372" y="60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10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/>
              <a:t>Introdução às redes v7.0 (ITN)</a:t>
            </a:r>
            <a:endParaRPr lang="pt-BR" b="0"/>
          </a:p>
          <a:p>
            <a:pPr rtl="0">
              <a:buFontTx/>
              <a:buNone/>
            </a:pPr>
            <a:r>
              <a:rPr lang="pt-BR" sz="1200" b="0"/>
              <a:t>Módulo 9: Resolução de Endereços</a:t>
            </a:r>
            <a:endParaRPr lang="pt-BR" sz="1200" b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/>
              <a:t>Introdução às redes v7.0 (ITN)</a:t>
            </a:r>
            <a:endParaRPr lang="pt-BR" b="0"/>
          </a:p>
          <a:p>
            <a:pPr rtl="0">
              <a:buFontTx/>
              <a:buNone/>
            </a:pPr>
            <a:r>
              <a:rPr lang="pt-BR" sz="1200" b="0"/>
              <a:t>Módulo 9: Resolução de Endereços</a:t>
            </a:r>
            <a:endParaRPr lang="pt-BR" sz="1200" b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9 - Resolução de Endereços</a:t>
            </a:r>
            <a:endParaRPr lang="pt-BR" sz="1200" b="0"/>
          </a:p>
          <a:p>
            <a:pPr rtl="0">
              <a:buFontTx/>
              <a:buNone/>
            </a:pPr>
            <a:r>
              <a:rPr lang="pt-BR" sz="1200" b="0"/>
              <a:t>9.1 MAC e IP</a:t>
            </a:r>
            <a:endParaRPr lang="pt-BR" sz="1200" b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9.1 — MAC e IP</a:t>
            </a:r>
            <a:endParaRPr lang="pt-BR"/>
          </a:p>
          <a:p>
            <a:pPr rtl="0"/>
            <a:r>
              <a:rPr lang="pt-BR"/>
              <a:t>9.1.1 - Destino na Mesma Rede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9.1 MAC e IP</a:t>
            </a:r>
            <a:endParaRPr lang="pt-BR"/>
          </a:p>
          <a:p>
            <a:pPr rtl="0"/>
            <a:r>
              <a:rPr lang="pt-BR"/>
              <a:t>9.1.2 – Destino na rede remota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9 - Resolução de Endereços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9.1 - MAC e IP</a:t>
            </a:r>
            <a:endParaRPr lang="pt-BR"/>
          </a:p>
          <a:p>
            <a:pPr rtl="0"/>
            <a:r>
              <a:rPr lang="pt-BR"/>
              <a:t>9.1.3 – Packet Tracer – Identificar endereços MAC e IP</a:t>
            </a:r>
            <a:endParaRPr lang="pt-BR"/>
          </a:p>
          <a:p>
            <a:pPr rtl="0"/>
            <a:r>
              <a:rPr lang="pt-BR"/>
              <a:t>9.1.4 — Verifique o seu entendimento — MAC e IP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9 - Resolução de Endereços</a:t>
            </a:r>
            <a:endParaRPr lang="pt-BR" sz="1200" b="0"/>
          </a:p>
          <a:p>
            <a:pPr rtl="0">
              <a:buFontTx/>
              <a:buNone/>
            </a:pPr>
            <a:r>
              <a:rPr lang="pt-BR" sz="1200" b="0"/>
              <a:t>9.2 ARP</a:t>
            </a:r>
            <a:endParaRPr lang="pt-BR" sz="1200" b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9.2 — ARP</a:t>
            </a:r>
            <a:endParaRPr lang="pt-BR"/>
          </a:p>
          <a:p>
            <a:pPr rtl="0"/>
            <a:r>
              <a:rPr lang="pt-BR"/>
              <a:t>9.2.1 — Visão geral do ARP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9.2 — ARP</a:t>
            </a:r>
            <a:endParaRPr lang="pt-BR"/>
          </a:p>
          <a:p>
            <a:pPr rtl="0"/>
            <a:r>
              <a:rPr lang="pt-BR"/>
              <a:t>9.2.2 – Funções do ARP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9.2 — ARP</a:t>
            </a:r>
            <a:endParaRPr lang="pt-BR"/>
          </a:p>
          <a:p>
            <a:pPr rtl="0"/>
            <a:r>
              <a:rPr lang="pt-BR"/>
              <a:t>9.2.3 — Vídeo - Solicitação ARP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9.2 — ARP</a:t>
            </a:r>
            <a:endParaRPr lang="pt-BR"/>
          </a:p>
          <a:p>
            <a:pPr rtl="0"/>
            <a:r>
              <a:rPr lang="pt-BR"/>
              <a:t>9.2.4 - Vídeo - Operação do ARP - Resposta do ARP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9.2 — ARP</a:t>
            </a:r>
            <a:endParaRPr lang="pt-BR"/>
          </a:p>
          <a:p>
            <a:pPr rtl="0"/>
            <a:r>
              <a:rPr lang="pt-BR"/>
              <a:t>9.2.5 - Vídeo - Função ARP nas comunicações remotas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9.2 — ARP</a:t>
            </a:r>
            <a:endParaRPr lang="pt-BR"/>
          </a:p>
          <a:p>
            <a:pPr rtl="0"/>
            <a:r>
              <a:rPr lang="pt-BR"/>
              <a:t>9.2.6 – Remoção de entradas de uma tabela ARP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9.2 — ARP</a:t>
            </a:r>
            <a:endParaRPr lang="pt-BR"/>
          </a:p>
          <a:p>
            <a:pPr rtl="0"/>
            <a:r>
              <a:rPr lang="pt-BR"/>
              <a:t>9.2.7 Tabelas ARP em dispositivos de rede 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9.2 — ARP</a:t>
            </a:r>
            <a:endParaRPr lang="pt-BR"/>
          </a:p>
          <a:p>
            <a:pPr rtl="0"/>
            <a:r>
              <a:rPr lang="pt-BR"/>
              <a:t>9.2.8 — Problemas de ARP — Broadcast ARP e falsificação de ARP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9.2 — ARP</a:t>
            </a:r>
            <a:endParaRPr lang="pt-BR"/>
          </a:p>
          <a:p>
            <a:pPr rtl="0"/>
            <a:r>
              <a:rPr lang="pt-BR"/>
              <a:t>9.2.9 - Packet Tracer – Examine a Tabela ARP</a:t>
            </a:r>
            <a:endParaRPr lang="pt-BR"/>
          </a:p>
          <a:p>
            <a:pPr rtl="0"/>
            <a:r>
              <a:rPr lang="pt-BR"/>
              <a:t>9.2.10 - Verifique sua compreensão - ARP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9 - Resolução de Endereços</a:t>
            </a:r>
            <a:endParaRPr lang="pt-BR" sz="1200" b="0"/>
          </a:p>
          <a:p>
            <a:pPr rtl="0">
              <a:buFontTx/>
              <a:buNone/>
            </a:pPr>
            <a:r>
              <a:rPr lang="pt-BR" sz="1200" b="0"/>
              <a:t>9.3 Cabeamento de cobre</a:t>
            </a:r>
            <a:endParaRPr lang="pt-BR" sz="1200" b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9.3 - Descoberta de vizinhos de IPv6</a:t>
            </a:r>
            <a:endParaRPr lang="pt-BR"/>
          </a:p>
          <a:p>
            <a:pPr rtl="0"/>
            <a:r>
              <a:rPr lang="pt-BR"/>
              <a:t>9.3.1 - Vídeo - descoberta de vizinhos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9.3 - Descoberta de vizinhos de IPv6</a:t>
            </a:r>
            <a:endParaRPr lang="pt-BR"/>
          </a:p>
          <a:p>
            <a:pPr rtl="0"/>
            <a:r>
              <a:rPr lang="pt-BR"/>
              <a:t>9.3.2 — Mensagens de descoberta de vizinhos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9.3 - Descoberta de vizinhos de IPv6</a:t>
            </a:r>
            <a:endParaRPr lang="pt-BR"/>
          </a:p>
          <a:p>
            <a:pPr rtl="0"/>
            <a:r>
              <a:rPr lang="pt-BR"/>
              <a:t>9.3.3 — Descoberta de Vizinhos IPv6 — Resolução de Endereços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9.3 - Descoberta de vizinhos de IPv6</a:t>
            </a:r>
            <a:endParaRPr lang="pt-BR"/>
          </a:p>
          <a:p>
            <a:pPr rtl="0"/>
            <a:r>
              <a:rPr lang="pt-BR"/>
              <a:t>9.3.4 — Packet Tracer — Descoberta de Vizinhos IPv6</a:t>
            </a:r>
            <a:endParaRPr lang="pt-BR"/>
          </a:p>
          <a:p>
            <a:pPr rtl="0"/>
            <a:r>
              <a:rPr lang="pt-BR"/>
              <a:t>9.3.5 — Verifique seu entendimento — Descoberta de vizinhos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9 - Resolução de Endereços</a:t>
            </a:r>
            <a:endParaRPr lang="pt-BR" sz="1200" b="0"/>
          </a:p>
          <a:p>
            <a:pPr rtl="0">
              <a:buFontTx/>
              <a:buNone/>
            </a:pPr>
            <a:r>
              <a:rPr lang="pt-BR" sz="1200" b="0"/>
              <a:t>9.4 - Módulo Prática e Quiz</a:t>
            </a:r>
            <a:endParaRPr lang="pt-BR" sz="1200" b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9 - Resolução de Endereços</a:t>
            </a:r>
            <a:endParaRPr lang="pt-BR"/>
          </a:p>
          <a:p>
            <a:pPr rtl="0"/>
            <a:r>
              <a:rPr lang="pt-BR"/>
              <a:t>9.4 - Módulo Prática e Quiz</a:t>
            </a:r>
            <a:endParaRPr lang="pt-BR"/>
          </a:p>
          <a:p>
            <a:pPr rtl="0"/>
            <a:r>
              <a:rPr lang="pt-BR"/>
              <a:t>9.4.1 - O que eu aprendi neste módulo?</a:t>
            </a:r>
            <a:endParaRPr lang="pt-BR"/>
          </a:p>
          <a:p>
            <a:pPr rtl="0"/>
            <a:r>
              <a:rPr lang="pt-BR"/>
              <a:t>9.4.2 — Teste de Módulo — Resolução de Endereços</a:t>
            </a:r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9- Resolução de Endereços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  <a:endParaRPr lang="pt-BR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9: Resolução de Endereços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9.1 MAC e IP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MAC e IP </a:t>
            </a:r>
            <a:br>
              <a:rPr lang="en-US" dirty="0"/>
            </a:br>
            <a:r>
              <a:rPr lang="pt-BR" sz="2400"/>
              <a:t>Destino na mesma rede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9109" y="731838"/>
            <a:ext cx="8532920" cy="2341300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Dois </a:t>
            </a:r>
            <a:r>
              <a:rPr lang="pt-BR" sz="1600"/>
              <a:t> </a:t>
            </a:r>
            <a:r>
              <a:rPr lang="pt-BR" sz="1600">
                <a:solidFill>
                  <a:srgbClr val="000000"/>
                </a:solidFill>
              </a:rPr>
              <a:t>endereços principais são atribuídos a um dispositivo em uma LAN Ethernet: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Endereço físico da camada 2 (o endereço MAC)</a:t>
            </a:r>
            <a:r>
              <a:rPr lang="pt-BR" sz="1600">
                <a:solidFill>
                  <a:srgbClr val="000000"/>
                </a:solidFill>
              </a:rPr>
              <a:t> - Usado para comunicações de NIC para NIC na mesma rede Ethernet.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Endereço lógico (o endereço IP) </a:t>
            </a:r>
            <a:r>
              <a:rPr lang="pt-BR" sz="1600">
                <a:solidFill>
                  <a:srgbClr val="000000"/>
                </a:solidFill>
              </a:rPr>
              <a:t> - Usado para enviar o pacote do dispositivo de origem para o dispositivo de destino.</a:t>
            </a:r>
            <a:r>
              <a:rPr lang="pt-BR" sz="1600" b="1">
                <a:solidFill>
                  <a:srgbClr val="000000"/>
                </a:solidFill>
              </a:rPr>
              <a:t> </a:t>
            </a:r>
            <a:endParaRPr lang="pt-BR" sz="1600" b="1">
              <a:solidFill>
                <a:srgbClr val="000000"/>
              </a:solidFill>
            </a:endParaRPr>
          </a:p>
          <a:p>
            <a:pPr marL="73025" lvl="1" indent="0" rtl="0">
              <a:buNone/>
            </a:pPr>
            <a:r>
              <a:rPr lang="pt-BR" sz="1600">
                <a:solidFill>
                  <a:srgbClr val="000000"/>
                </a:solidFill>
              </a:rPr>
              <a:t>Endereços de camada 2 são usados para entregar quadros de uma NIC para outra NIC na mesma rede. Se o endereço IP de destino estiver na mesma rede, o endereço MAC de destino será o do dispositivo de destino.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3157730"/>
            <a:ext cx="4352544" cy="1724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MAC e IP </a:t>
            </a:r>
            <a:br>
              <a:rPr lang="en-US" dirty="0"/>
            </a:br>
            <a:r>
              <a:rPr lang="pt-BR" sz="2400"/>
              <a:t>Destino na rede remota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9110" y="731837"/>
            <a:ext cx="8448078" cy="1589524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Quando o endereço IP de destino estiver em uma rede remota, o endereço MAC de destino será o endereço do gateway padrão do host.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ARP é usado pelo IPv4 para associar o endereço IPv4 de um dispositivo ao endereço MAC da NIC do dispositivo.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ICMPv6 é usado pelo IPv6 para associar o endereço IPv6 de um dispositivo ao endereço MAC da NIC do dispositivo.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548" y="2321361"/>
            <a:ext cx="6481000" cy="2471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192" y="67935"/>
            <a:ext cx="9068585" cy="731837"/>
          </a:xfrm>
        </p:spPr>
        <p:txBody>
          <a:bodyPr/>
          <a:lstStyle/>
          <a:p>
            <a:pPr rtl="0"/>
            <a:r>
              <a:rPr lang="pt-BR" sz="1600"/>
              <a:t>MAC e IP </a:t>
            </a:r>
            <a:br>
              <a:rPr lang="en-US" dirty="0"/>
            </a:br>
            <a:r>
              <a:rPr lang="pt-BR" sz="2400"/>
              <a:t>Packet Tracer – Identificar endereços MAC e IP</a:t>
            </a:r>
            <a:endParaRPr lang="pt-BR" sz="240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1971" y="1121544"/>
            <a:ext cx="8280057" cy="3073946"/>
          </a:xfrm>
        </p:spPr>
        <p:txBody>
          <a:bodyPr/>
          <a:lstStyle/>
          <a:p>
            <a:pPr algn="l" rtl="0"/>
            <a:r>
              <a:rPr lang="pt-BR">
                <a:solidFill>
                  <a:srgbClr val="000000"/>
                </a:solidFill>
              </a:rPr>
              <a:t>Neste Packet Tracer, você atingirá os seguintes objetivos: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Coletar informações de PDU para comunicação de rede local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Coletar informações de PDU para comunicação remota de rede</a:t>
            </a:r>
            <a:endParaRPr lang="pt-BR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9.2 ARP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ARP</a:t>
            </a:r>
            <a:br>
              <a:rPr lang="en-US" dirty="0"/>
            </a:br>
            <a:r>
              <a:rPr lang="pt-BR" sz="2400"/>
              <a:t>ARP Visão geral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74662" y="844061"/>
            <a:ext cx="4187253" cy="3039781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Um dispositivo usa ARP para determinar o endereço MAC de destino de um dispositivo local quando conhece seu endereço IPv4.</a:t>
            </a:r>
            <a:endParaRPr lang="pt-BR" sz="1800">
              <a:solidFill>
                <a:srgbClr val="000000"/>
              </a:solidFill>
            </a:endParaRP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O ARP fornece duas funções básicas: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Resolução de endereços IPv4 em endereços MAC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Mantendo uma tabela ARP de mapeamentos de endereços IPv4 para MAC</a:t>
            </a:r>
            <a:endParaRPr lang="pt-BR" sz="180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1915" y="844061"/>
            <a:ext cx="4079662" cy="27946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ARP </a:t>
            </a:r>
            <a:br>
              <a:rPr lang="en-US" dirty="0"/>
            </a:br>
            <a:r>
              <a:rPr lang="pt-BR" sz="2400"/>
              <a:t>Funções do ARP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Um dispositivo pesquisará em sua tabela ARP um endereço IPv4 destino correspondente a um endereço MAC.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Se o endereço IPv4 de destino do pacote estiver na mesma rede, o dispositivo procurará na tabela ARP o endereço IPv4 de destino.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Se o endereço IPv4 de destino estiver em uma rede diferente, o dispositivo procurará na tabela ARP o endereço IPv4 do gateway padrão.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Se o dispositivo localizar o endereço IPv4, o endereço MAC correspondente será usado como o endereço MAC destino no quadro. 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Se nenhuma entrada for encontrada na tabela ARP, o dispositivo enviará uma requisição ARP.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Vídeo </a:t>
            </a:r>
            <a:br>
              <a:rPr lang="en-US" dirty="0"/>
            </a:br>
            <a:r>
              <a:rPr lang="pt-BR" sz="2400"/>
              <a:t>ARP - Solicitação ARP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Este vídeo cobrirá uma solicitação ARP para um endereço MAC.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Vídeo -</a:t>
            </a:r>
            <a:br>
              <a:rPr lang="en-US" dirty="0"/>
            </a:br>
            <a:r>
              <a:rPr lang="pt-BR" sz="2400"/>
              <a:t> Operação do ARP - Resposta do ARP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Este vídeo abordará uma resposta ARP em resposta a uma solicitação ARP.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Vídeo </a:t>
            </a:r>
            <a:br>
              <a:rPr lang="en-US" dirty="0"/>
            </a:br>
            <a:r>
              <a:rPr lang="pt-BR" sz="2400"/>
              <a:t>ARP- Função ARP nas comunicações remotas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Este vídeo abordará como uma solicitação ARP fornecerá ao host o endereço MAC do gateway padrão.</a:t>
            </a:r>
            <a:endParaRPr lang="pt-BR" sz="180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ARP </a:t>
            </a:r>
            <a:br>
              <a:rPr lang="en-US" dirty="0"/>
            </a:br>
            <a:r>
              <a:rPr lang="pt-BR" sz="2400"/>
              <a:t>Remoção de entradas de uma tabela ARP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13450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entradas na tabela ARP não são permanentes e são removidas quando um temporizador de cache ARP expira após um período de tempo especificado.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duração do timer do cache ARP varia de acordo com o sistema operacional.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entradas da tabela ARP também podem ser removidas manualmente pelo administrador. 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584" y="2235010"/>
            <a:ext cx="4998720" cy="26782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ARP</a:t>
            </a:r>
            <a:br>
              <a:rPr lang="en-US" dirty="0"/>
            </a:br>
            <a:r>
              <a:rPr lang="pt-BR" sz="2400"/>
              <a:t>Tabelas ARP em dispositivos de rede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73183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comando </a:t>
            </a:r>
            <a:r>
              <a:rPr lang="pt-BR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arp</a:t>
            </a:r>
            <a:r>
              <a:rPr lang="pt-BR" sz="1600">
                <a:solidFill>
                  <a:srgbClr val="000000"/>
                </a:solidFill>
              </a:rPr>
              <a:t> exibe a tabela ARP em um roteador Cisco.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comando </a:t>
            </a:r>
            <a:r>
              <a:rPr lang="pt-BR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—a</a:t>
            </a:r>
            <a:r>
              <a:rPr lang="pt-BR" sz="1600">
                <a:solidFill>
                  <a:srgbClr val="000000"/>
                </a:solidFill>
              </a:rPr>
              <a:t> exibe a tabela ARP em um PC com Windows 10.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9914" y="1756301"/>
            <a:ext cx="7715574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1200" b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show ip arp </a:t>
            </a:r>
            <a:endParaRPr lang="pt-BR" sz="1200" b="1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Protocol Address Age (min) Hardware Addr Type Interface</a:t>
            </a:r>
            <a:endParaRPr lang="pt-BR" sz="120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Internet 192.168.10.1 - a0e0.af0d.e140 ARPA GigabitEthernet0/0/0</a:t>
            </a:r>
            <a:endParaRPr lang="pt-BR" sz="120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9914" y="3011424"/>
            <a:ext cx="7715574" cy="120032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C:\Users\PC&gt;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-a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Interface: 192.168.1.124 — 0x10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Endereço de Internet Endereço Físico Tipo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 c8-d7-19-cc-a0-86 dynamic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192.168.1.101 08-3e-0c-f5-f7-77 dynamic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Problemas ARPARP — ARP Broadcasting e ARP Spoofing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21098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solicitações de ARP são recebidas e processadas por todos os dispositivos na rede local.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Transmissões de ARP excessivas podem causar alguma redução no desempenho.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respostas ARP podem ser falsificadas por um ator ameaçador para realizar um ataque de envenenamento por ARP.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switches de nível corporativo incluem técnicas de mitigação para proteção contra ataques ARP.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340" y="2798202"/>
            <a:ext cx="4436951" cy="23430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97963" y="284752"/>
            <a:ext cx="9068585" cy="731837"/>
          </a:xfrm>
        </p:spPr>
        <p:txBody>
          <a:bodyPr/>
          <a:lstStyle/>
          <a:p>
            <a:pPr rtl="0"/>
            <a:r>
              <a:rPr lang="pt-BR" sz="1600"/>
              <a:t>ARP </a:t>
            </a:r>
            <a:br>
              <a:rPr lang="en-US" dirty="0"/>
            </a:br>
            <a:r>
              <a:rPr lang="pt-BR" sz="2400"/>
              <a:t>Packet Tracer – Examine a tabela ARP</a:t>
            </a:r>
            <a:endParaRPr lang="pt-BR" sz="240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31971" y="1149825"/>
            <a:ext cx="8280057" cy="3073946"/>
          </a:xfrm>
        </p:spPr>
        <p:txBody>
          <a:bodyPr/>
          <a:lstStyle/>
          <a:p>
            <a:pPr algn="l" rtl="0"/>
            <a:r>
              <a:rPr lang="pt-BR">
                <a:solidFill>
                  <a:srgbClr val="000000"/>
                </a:solidFill>
              </a:rPr>
              <a:t>Neste Packet Tracer, você atingirá os seguintes objetivos: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Examinar uma Requisição ARP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Examinar a Tabela de Endereços MAC de um Switch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Examinar o Processo ARP em Comunicações Remotas</a:t>
            </a:r>
            <a:endParaRPr lang="pt-BR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9.3 Cabeamento de cobre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Vídeo de descoberta de vizinhos IPv6 — Descoberta de vizinhos IPv6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207390" y="848412"/>
            <a:ext cx="8547329" cy="357332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Este vídeo explicará o processo de como o IPv6 executa a resolução de endereço usando a solicitação de vizinhos ICMPv6 e mensagens de anúncios de vizinhos.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Descoberta de vizinhos IPv6</a:t>
            </a:r>
            <a:br>
              <a:rPr lang="en-US" dirty="0"/>
            </a:br>
            <a:r>
              <a:rPr lang="pt-BR" sz="2400"/>
              <a:t> Mensagens de descoberta de vizinhos IPv6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O protocolo IPv6 Neighbor Discovery (ND) fornece: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Resolução de endereços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Descoberta de rotas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Serviços de redirecionamento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As mensagens ICMPv6 Neighbor Solicitation (NS) e Neighbor Advertisement (NA) são usadas para mensagens dispositivo-para-dispositivo, como resolução de endereço.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As mensagens de solicitação de roteador ICMTPv6 (RS) e de anúncio de roteador (RA) são usadas para mensagens entre dispositivos e roteadores para detecção de roteador.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As mensagens de redirecionamento ICMPv6 são usadas por roteadores para melhor seleção de próximo salto.</a:t>
            </a:r>
            <a:endParaRPr lang="pt-BR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Descoberta de vizinhos</a:t>
            </a:r>
            <a:br>
              <a:rPr lang="en-US" dirty="0"/>
            </a:br>
            <a:r>
              <a:rPr lang="pt-BR" sz="2400"/>
              <a:t>IPv6 IPv6 — Resolução de endereços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5250730" y="774975"/>
            <a:ext cx="3773496" cy="272869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Dispositivos IPv6 usam ND para resolver o endereço MAC de um endereço IPv6 conhecido.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As mensagens de solicitação de vizinhos ICMPv6 são enviadas usando endereços de multicast Ethernet e IPv6 especiais. </a:t>
            </a:r>
            <a:endParaRPr lang="pt-BR" sz="18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47" y="899040"/>
            <a:ext cx="4776067" cy="3351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94263" y="923582"/>
            <a:ext cx="8280057" cy="3073946"/>
          </a:xfrm>
        </p:spPr>
        <p:txBody>
          <a:bodyPr/>
          <a:lstStyle/>
          <a:p>
            <a:pPr algn="l" rtl="0"/>
            <a:r>
              <a:rPr lang="pt-BR">
                <a:solidFill>
                  <a:srgbClr val="000000"/>
                </a:solidFill>
              </a:rPr>
              <a:t>Neste Packet Tracer, você atingirá os seguintes objetivos: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Parte 1: Rede local de descoberta de vizinhos IPv6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Parte 2: Rede remota de descoberta de vizinhos IPv6</a:t>
            </a:r>
            <a:endParaRPr lang="pt-BR">
              <a:solidFill>
                <a:srgbClr val="000000"/>
              </a:solidFill>
            </a:endParaRPr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0" y="67936"/>
            <a:ext cx="9068585" cy="731837"/>
          </a:xfrm>
        </p:spPr>
        <p:txBody>
          <a:bodyPr/>
          <a:lstStyle/>
          <a:p>
            <a:pPr rtl="0"/>
            <a:r>
              <a:rPr lang="pt-BR" sz="1600"/>
              <a:t>Descobreta de Vizinhos IPv6 Packet Tracer</a:t>
            </a:r>
            <a:br>
              <a:rPr lang="en-US" dirty="0"/>
            </a:br>
            <a:r>
              <a:rPr lang="pt-BR" sz="2400"/>
              <a:t> - Descoberta de Vizinhos IPv6 </a:t>
            </a:r>
            <a:endParaRPr lang="pt-BR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9.4 - 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panose="020B0604020202020204" pitchFamily="34" charset="0"/>
              </a:rPr>
              <a:t>Módulo Prática e Quiz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O que aprendi neste módulo?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Os endereços físicos da camada 2 (isto é, os endereços Ethernet Ethernet) são usados para entregar o quadro de enlace de dados com o pacote IP encapsulado de uma NIC para outra NIC na mesma rede. </a:t>
            </a:r>
            <a:endParaRPr lang="pt-BR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Se o endereço IP de destino estiver na mesma rede, o endereço MAC de destino será o do dispositivo de destino. </a:t>
            </a:r>
            <a:endParaRPr lang="pt-BR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Quando o endereço IP de destino (IPv4 ou IPv6) estiver em uma rede remota, o endereço MAC de destino será o endereço do gateway padrão do host (ou seja, a interface do roteador).</a:t>
            </a:r>
            <a:endParaRPr lang="pt-BR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Um dispositivo IPv4 usa ARP para determinar o endereço MAC de destino de um dispositivo local quando conhece seu endereço IPv4.</a:t>
            </a:r>
            <a:endParaRPr lang="pt-BR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 ARP fornece duas funções básicas: resolver endereços IPv4 para endereços MAC e manter uma tabela de mapeamentos de endereços IPv4 para MAC.</a:t>
            </a:r>
            <a:endParaRPr lang="pt-BR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Depois que a resposta do ARP é recebida, o dispositivo adiciona o endereço IPv4 e o endereço MAC correspondente à sua tabela ARP.</a:t>
            </a:r>
            <a:endParaRPr lang="pt-BR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Em cada dispositivo, um temporizador da cache ARP remove entradas ARP que não tenham sido usadas durante um determinado período.</a:t>
            </a:r>
            <a:endParaRPr lang="pt-BR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 IPv6 não usa ARP, ele usa o protocolo ND para resolver endereços MAC. </a:t>
            </a:r>
            <a:endParaRPr lang="pt-BR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Um dispositivo IPv6 usa ICMPv6 Neighbor Discovery para determinar o endereço MAC de destino de um dispositivo local quando ele conhece seu endereço IPv6.</a:t>
            </a:r>
            <a:endParaRPr lang="pt-BR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rtl="0" eaLnBrk="1" hangingPunct="1"/>
            <a:r>
              <a:rPr lang="pt-BR" sz="1400">
                <a:latin typeface="Arial" panose="020B0604020202020204" pitchFamily="34" charset="0"/>
              </a:rPr>
              <a:t>Module 9: Address Resolution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New Terms and Commands</a:t>
            </a:r>
            <a:endParaRPr lang="pt-BR">
              <a:latin typeface="Arial" panose="020B0604020202020204" pitchFamily="34" charset="0"/>
            </a:endParaRPr>
          </a:p>
        </p:txBody>
      </p:sp>
      <p:graphicFrame>
        <p:nvGraphicFramePr>
          <p:cNvPr id="9" name="Table 9"/>
          <p:cNvGraphicFramePr>
            <a:graphicFrameLocks noGrp="1"/>
          </p:cNvGraphicFramePr>
          <p:nvPr>
            <p:ph idx="1"/>
          </p:nvPr>
        </p:nvGraphicFramePr>
        <p:xfrm>
          <a:off x="144463" y="798513"/>
          <a:ext cx="8853486" cy="3474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26743"/>
                <a:gridCol w="4426743"/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Address Resolution Protocol (ARP)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ARP table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show ip arp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arpr -a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Neighbor Discovery protocol (ND)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Neighbor Solicitation (NS) message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Neighbor Advertisement (NA) message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Router Solicitation (RS) message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Router Advertisement (RA) message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ICMPv6 Redirect Message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6997</Words>
  <Application>WPS Presentation</Application>
  <PresentationFormat>On-screen Show (16:9)</PresentationFormat>
  <Paragraphs>180</Paragraphs>
  <Slides>25</Slides>
  <Notes>31</Notes>
  <HiddenSlides>6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Courier New</vt:lpstr>
      <vt:lpstr>Default Theme</vt:lpstr>
      <vt:lpstr>Módulo 9- Resolução de Endereços</vt:lpstr>
      <vt:lpstr>Módulo 9: Resolução de Endereços</vt:lpstr>
      <vt:lpstr>9.1 MAC e IP</vt:lpstr>
      <vt:lpstr>MAC e IP  Destino na mesma rede</vt:lpstr>
      <vt:lpstr>MAC e IP  Destino na rede remota</vt:lpstr>
      <vt:lpstr>MAC e IP  Packet Tracer – Identificar endereços MAC e IP</vt:lpstr>
      <vt:lpstr>9.2 ARP</vt:lpstr>
      <vt:lpstr>ARP ARP Visão geral</vt:lpstr>
      <vt:lpstr>ARP  Funções do ARP</vt:lpstr>
      <vt:lpstr>Vídeo  ARP - Solicitação ARP</vt:lpstr>
      <vt:lpstr>Vídeo -  Operação do ARP - Resposta do ARP</vt:lpstr>
      <vt:lpstr>Vídeo  ARP- Função ARP nas comunicações remotas</vt:lpstr>
      <vt:lpstr>ARP  Remoção de entradas de uma tabela ARP</vt:lpstr>
      <vt:lpstr>ARP Tabelas ARP em dispositivos de rede</vt:lpstr>
      <vt:lpstr>Problemas ARPARP — ARP Broadcasting e ARP Spoofing</vt:lpstr>
      <vt:lpstr>ARP  Packet Tracer – Examine a tabela ARP</vt:lpstr>
      <vt:lpstr>9.3 Cabeamento de cobre</vt:lpstr>
      <vt:lpstr> Vídeo de descoberta de vizinhos IPv6 — Descoberta de vizinhos IPv6</vt:lpstr>
      <vt:lpstr>Descoberta de vizinhos IPv6  Mensagens de descoberta de vizinhos IPv6</vt:lpstr>
      <vt:lpstr>Descoberta de vizinhos IPv6 IPv6 — Resolução de endereços</vt:lpstr>
      <vt:lpstr>Descobreta de Vizinhos IPv6 Packet Tracer  - Descoberta de Vizinhos IPv6 </vt:lpstr>
      <vt:lpstr>9.4 - Módulo Prática e Quiz</vt:lpstr>
      <vt:lpstr>Módulo Prática e Quiz O que aprendi neste módulo?</vt:lpstr>
      <vt:lpstr>Module 9: Address Resolution New Terms and Commands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250</cp:revision>
  <dcterms:created xsi:type="dcterms:W3CDTF">2026-04-05T04:05:16Z</dcterms:created>
  <dcterms:modified xsi:type="dcterms:W3CDTF">2026-04-05T04:05:16Z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