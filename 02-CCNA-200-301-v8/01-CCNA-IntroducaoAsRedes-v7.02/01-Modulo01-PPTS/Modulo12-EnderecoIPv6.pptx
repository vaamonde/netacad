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513" r:id="rId3"/>
    <p:sldId id="876" r:id="rId5"/>
    <p:sldId id="759" r:id="rId6"/>
    <p:sldId id="1054" r:id="rId7"/>
    <p:sldId id="1151" r:id="rId8"/>
    <p:sldId id="1056" r:id="rId9"/>
    <p:sldId id="1152" r:id="rId10"/>
    <p:sldId id="1153" r:id="rId11"/>
    <p:sldId id="1154" r:id="rId12"/>
    <p:sldId id="1063" r:id="rId13"/>
    <p:sldId id="1119" r:id="rId14"/>
    <p:sldId id="1155" r:id="rId15"/>
    <p:sldId id="1156" r:id="rId16"/>
    <p:sldId id="1157" r:id="rId17"/>
    <p:sldId id="1158" r:id="rId18"/>
    <p:sldId id="1159" r:id="rId19"/>
    <p:sldId id="1160" r:id="rId20"/>
    <p:sldId id="957" r:id="rId21"/>
    <p:sldId id="1161" r:id="rId22"/>
    <p:sldId id="1162" r:id="rId23"/>
    <p:sldId id="1163" r:id="rId24"/>
    <p:sldId id="1105" r:id="rId25"/>
    <p:sldId id="1164" r:id="rId26"/>
    <p:sldId id="1165" r:id="rId27"/>
    <p:sldId id="1166" r:id="rId28"/>
    <p:sldId id="1167" r:id="rId29"/>
    <p:sldId id="1168" r:id="rId30"/>
    <p:sldId id="1169" r:id="rId31"/>
    <p:sldId id="1170" r:id="rId32"/>
    <p:sldId id="1106" r:id="rId33"/>
    <p:sldId id="1171" r:id="rId34"/>
    <p:sldId id="1172" r:id="rId35"/>
    <p:sldId id="1174" r:id="rId36"/>
    <p:sldId id="1173" r:id="rId37"/>
    <p:sldId id="1184" r:id="rId38"/>
    <p:sldId id="1107" r:id="rId39"/>
    <p:sldId id="1175" r:id="rId40"/>
    <p:sldId id="1176" r:id="rId41"/>
    <p:sldId id="1177" r:id="rId42"/>
    <p:sldId id="1185" r:id="rId43"/>
    <p:sldId id="1104" r:id="rId44"/>
    <p:sldId id="1178" r:id="rId45"/>
    <p:sldId id="1179" r:id="rId46"/>
    <p:sldId id="1180" r:id="rId47"/>
    <p:sldId id="1181" r:id="rId48"/>
    <p:sldId id="1182" r:id="rId49"/>
    <p:sldId id="1064" r:id="rId50"/>
    <p:sldId id="1065" r:id="rId51"/>
    <p:sldId id="958" r:id="rId52"/>
    <p:sldId id="1183" r:id="rId53"/>
    <p:sldId id="874" r:id="rId54"/>
    <p:sldId id="291" r:id="rId55"/>
  </p:sldIdLst>
  <p:sldSz cx="9144000" cy="5143500" type="screen16x9"/>
  <p:notesSz cx="6858000" cy="9144000"/>
  <p:custDataLst>
    <p:tags r:id="rId60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  <p:cmAuthor id="3" name="Sue Livingston -X (suliving - UNICON INC at Cisco)" initials="SL-(-UIaC" lastIdx="29" clrIdx="3"/>
  <p:cmAuthor id="4" name="jagibbon" initials="jmg" lastIdx="8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7E9EB"/>
    <a:srgbClr val="592A8A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38" autoAdjust="0"/>
    <p:restoredTop sz="84371" autoAdjust="0"/>
  </p:normalViewPr>
  <p:slideViewPr>
    <p:cSldViewPr snapToGrid="0" showGuides="1">
      <p:cViewPr varScale="1">
        <p:scale>
          <a:sx n="76" d="100"/>
          <a:sy n="76" d="100"/>
        </p:scale>
        <p:origin x="1132" y="48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0" Type="http://schemas.openxmlformats.org/officeDocument/2006/relationships/tags" Target="tags/tag20.xml"/><Relationship Id="rId6" Type="http://schemas.openxmlformats.org/officeDocument/2006/relationships/slide" Target="slides/slide3.xml"/><Relationship Id="rId59" Type="http://schemas.openxmlformats.org/officeDocument/2006/relationships/commentAuthors" Target="commentAuthors.xml"/><Relationship Id="rId58" Type="http://schemas.openxmlformats.org/officeDocument/2006/relationships/tableStyles" Target="tableStyles.xml"/><Relationship Id="rId57" Type="http://schemas.openxmlformats.org/officeDocument/2006/relationships/viewProps" Target="viewProps.xml"/><Relationship Id="rId56" Type="http://schemas.openxmlformats.org/officeDocument/2006/relationships/presProps" Target="presProps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Introdução às redes v7.0 (ITN)</a:t>
            </a:r>
            <a:endParaRPr lang="pt-BR"/>
          </a:p>
          <a:p>
            <a:pPr rtl="0"/>
            <a:r>
              <a:rPr lang="pt-BR"/>
              <a:t>Módulo 12: Endereçamento IPv6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Programa da Cisco Networking Academy</a:t>
            </a:r>
            <a:endParaRPr lang="pt-BR"/>
          </a:p>
          <a:p>
            <a:pPr rtl="0"/>
            <a:r>
              <a:rPr lang="pt-BR"/>
              <a:t>Introdução às redes v7.0 (ITN)</a:t>
            </a:r>
            <a:endParaRPr lang="pt-BR"/>
          </a:p>
          <a:p>
            <a:pPr rtl="0"/>
            <a:r>
              <a:rPr lang="pt-BR"/>
              <a:t>Módulo 12: Endereçamento IPv6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12.1 Problemas IPv4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Módulo 12: Endereçamento IPv6</a:t>
            </a:r>
            <a:endParaRPr lang="pt-BR"/>
          </a:p>
          <a:p>
            <a:pPr rtl="0"/>
            <a:r>
              <a:rPr lang="pt-BR"/>
              <a:t>12.1 — Problemas IPv4</a:t>
            </a:r>
            <a:endParaRPr lang="pt-BR"/>
          </a:p>
          <a:p>
            <a:pPr rtl="0"/>
            <a:r>
              <a:rPr lang="pt-BR"/>
              <a:t>12.1.1 — Necessidade de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Módulo 12: Endereçamento IPv6</a:t>
            </a:r>
            <a:endParaRPr lang="pt-BR"/>
          </a:p>
          <a:p>
            <a:pPr rtl="0"/>
            <a:r>
              <a:rPr lang="pt-BR"/>
              <a:t>12.1 — Problemas IPv4</a:t>
            </a:r>
            <a:endParaRPr lang="pt-BR"/>
          </a:p>
          <a:p>
            <a:pPr rtl="0"/>
            <a:r>
              <a:rPr lang="pt-BR"/>
              <a:t>12.1.2 — Coexistência IPv4 e IPv6</a:t>
            </a:r>
            <a:endParaRPr lang="pt-BR"/>
          </a:p>
          <a:p>
            <a:pPr rtl="0"/>
            <a:r>
              <a:rPr lang="pt-BR"/>
              <a:t>12.1.3 — Verifique o seu entendimento — Problemas IPv4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12.2 Representação do Endereço IPv4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12.2 - Representação do Endereço IPv6</a:t>
            </a:r>
            <a:endParaRPr lang="pt-BR"/>
          </a:p>
          <a:p>
            <a:pPr rtl="0"/>
            <a:r>
              <a:rPr lang="pt-BR"/>
              <a:t>12.2.1 — Formatos de endereçamento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12.2 - Representação do Endereço IPv6</a:t>
            </a:r>
            <a:endParaRPr lang="pt-BR"/>
          </a:p>
          <a:p>
            <a:pPr rtl="0"/>
            <a:r>
              <a:rPr lang="pt-BR"/>
              <a:t>12.2.2 — Omitir zero à esquerda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12.2 - Representação do Endereço IPv6</a:t>
            </a:r>
            <a:endParaRPr lang="pt-BR"/>
          </a:p>
          <a:p>
            <a:pPr rtl="0"/>
            <a:r>
              <a:rPr lang="pt-BR"/>
              <a:t>12.2.2 — Regra 2 — Dois-pontos duplos</a:t>
            </a:r>
            <a:endParaRPr lang="pt-BR"/>
          </a:p>
          <a:p>
            <a:pPr rtl="0"/>
            <a:r>
              <a:rPr lang="pt-BR"/>
              <a:t>12.2.4 - Atividade - Representação do Endereço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12.2 Tipos de endereço IPv4</a:t>
            </a:r>
            <a:endParaRPr lang="pt-BR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12.3 — Tipos de endereço IPv6</a:t>
            </a:r>
            <a:endParaRPr lang="pt-BR"/>
          </a:p>
          <a:p>
            <a:pPr rtl="0"/>
            <a:r>
              <a:rPr lang="pt-BR"/>
              <a:t>12.3.1 — Unicast, Multicast, Anycast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12.3 — Tipos de endereço IPv6</a:t>
            </a:r>
            <a:endParaRPr lang="pt-BR"/>
          </a:p>
          <a:p>
            <a:pPr rtl="0"/>
            <a:r>
              <a:rPr lang="pt-BR"/>
              <a:t>Tamanho do prefixo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12.3 — Tipos de endereço IPv6</a:t>
            </a:r>
            <a:endParaRPr lang="pt-BR"/>
          </a:p>
          <a:p>
            <a:pPr rtl="0"/>
            <a:r>
              <a:rPr lang="pt-BR"/>
              <a:t>12.3.3 - Outros Tipos de Endereços IPv6 Unicast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12.3 — Tipos de endereço IPv6</a:t>
            </a:r>
            <a:endParaRPr lang="pt-BR"/>
          </a:p>
          <a:p>
            <a:pPr rtl="0"/>
            <a:r>
              <a:rPr lang="pt-BR"/>
              <a:t>12.3.4 — Uma nota sobre o endereço local exclusivo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12.3 — Tipos de endereço IPv6</a:t>
            </a:r>
            <a:endParaRPr lang="pt-BR"/>
          </a:p>
          <a:p>
            <a:pPr rtl="0"/>
            <a:r>
              <a:rPr lang="pt-BR"/>
              <a:t>12.3.5 — GUA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12.3 — Tipos de endereço IPv6</a:t>
            </a:r>
            <a:endParaRPr lang="pt-BR"/>
          </a:p>
          <a:p>
            <a:pPr rtl="0"/>
            <a:r>
              <a:rPr lang="pt-BR"/>
              <a:t>12.3.5 — Estrutura IPv6 GUA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12.3 — Tipos de endereço IPv6</a:t>
            </a:r>
            <a:endParaRPr lang="pt-BR"/>
          </a:p>
          <a:p>
            <a:pPr rtl="0"/>
            <a:r>
              <a:rPr lang="pt-BR"/>
              <a:t>12.3.6 — IPv6 LLA</a:t>
            </a:r>
            <a:endParaRPr lang="pt-BR"/>
          </a:p>
          <a:p>
            <a:pPr rtl="0"/>
            <a:r>
              <a:rPr lang="pt-BR"/>
              <a:t>12.3.7 — Verifique seu entendimento — Tipos de endereço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12.4- Configuração estática GUA e LLA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12.4 — Configuração estática GUA e LLA</a:t>
            </a:r>
            <a:endParaRPr lang="pt-BR"/>
          </a:p>
          <a:p>
            <a:pPr rtl="0"/>
            <a:r>
              <a:rPr lang="pt-BR"/>
              <a:t>12.4.1 — Configuração de GUA Estática em um Roteador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12.4 — Configuração estática GUA e LLA</a:t>
            </a:r>
            <a:endParaRPr lang="pt-BR"/>
          </a:p>
          <a:p>
            <a:pPr rtl="0"/>
            <a:r>
              <a:rPr lang="pt-BR"/>
              <a:t>12.4.2 — Configuração de GUA Estática em um Host Windows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12.4 — Configuração estática GUA e LLA</a:t>
            </a:r>
            <a:endParaRPr lang="pt-BR"/>
          </a:p>
          <a:p>
            <a:pPr rtl="0"/>
            <a:r>
              <a:rPr lang="pt-BR"/>
              <a:t>12.4.3 — Configuração de GUA estática de um endereço unicast local de link</a:t>
            </a:r>
            <a:endParaRPr lang="pt-BR"/>
          </a:p>
          <a:p>
            <a:pPr rtl="0"/>
            <a:r>
              <a:rPr lang="pt-BR"/>
              <a:t>12.4.4 — Verificador de sintaxe — Configuração Estática GUA e LLA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12.5 Endereçamento Dinâmico IPv4 para GUAs IPv6</a:t>
            </a:r>
            <a:endParaRPr lang="pt-BR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12.5 — Endereçamento dinâmico para GUAs IPv6</a:t>
            </a:r>
            <a:endParaRPr lang="pt-BR"/>
          </a:p>
          <a:p>
            <a:pPr rtl="0"/>
            <a:r>
              <a:rPr lang="pt-BR"/>
              <a:t>12.5.1 — Mensagens RS e RA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12.5 — Endereçamento dinâmico para GUAs IPv6</a:t>
            </a:r>
            <a:endParaRPr lang="pt-BR"/>
          </a:p>
          <a:p>
            <a:pPr rtl="0"/>
            <a:r>
              <a:rPr lang="pt-BR"/>
              <a:t>12.5.2 — Método 1: SLAAC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12.5 — Endereçamento dinâmico para GUAs IPv6</a:t>
            </a:r>
            <a:endParaRPr lang="pt-BR"/>
          </a:p>
          <a:p>
            <a:pPr rtl="0"/>
            <a:r>
              <a:rPr lang="pt-BR"/>
              <a:t>12.5.3 — Método 2: SLAAC e DHCP sem estado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12.5 — Endereçamento dinâmico para GUAs IPv6</a:t>
            </a:r>
            <a:endParaRPr lang="pt-BR"/>
          </a:p>
          <a:p>
            <a:pPr rtl="0"/>
            <a:r>
              <a:rPr lang="pt-BR"/>
              <a:t>12.5.4 — Método 3: DHCPv6 com estado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12.5 — Endereçamento dinâmico para GUAs IPv6</a:t>
            </a:r>
            <a:endParaRPr lang="pt-BR"/>
          </a:p>
          <a:p>
            <a:pPr rtl="0"/>
            <a:r>
              <a:rPr lang="pt-BR"/>
              <a:t>12.5.5 - Processo EUI-64 ou Gerado Aleatoriamente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12.5 — Endereçamento dinâmico para GUAs IPv6</a:t>
            </a:r>
            <a:endParaRPr lang="pt-BR"/>
          </a:p>
          <a:p>
            <a:pPr rtl="0"/>
            <a:r>
              <a:rPr lang="pt-BR"/>
              <a:t>12.5.6 — Processo EUI-64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12.5 — Endereçamento dinâmico para GUAs IPv6</a:t>
            </a:r>
            <a:endParaRPr lang="pt-BR"/>
          </a:p>
          <a:p>
            <a:pPr rtl="0"/>
            <a:r>
              <a:rPr lang="pt-BR"/>
              <a:t>12.5.7 - IDs da Interface Geradas Aleatoriamente</a:t>
            </a:r>
            <a:endParaRPr lang="pt-BR"/>
          </a:p>
          <a:p>
            <a:pPr rtl="0"/>
            <a:r>
              <a:rPr lang="pt-BR"/>
              <a:t>12.5.8 — Verifique seu entendimento — Endereço dinâmico para GUAs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12.6 Endereçamento dinâmico IPv4 para LLAs IPv6</a:t>
            </a:r>
            <a:endParaRPr lang="pt-BR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12.6 — Endereçamento dinâmico para LLAs IPv6</a:t>
            </a:r>
            <a:endParaRPr lang="pt-BR"/>
          </a:p>
          <a:p>
            <a:pPr rtl="0"/>
            <a:r>
              <a:rPr lang="pt-BR"/>
              <a:t>12.6.1 — LLAs dinâmicos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12.6 — Endereçamento dinâmico para LLAs IPv6</a:t>
            </a:r>
            <a:endParaRPr lang="pt-BR"/>
          </a:p>
          <a:p>
            <a:pPr rtl="0"/>
            <a:r>
              <a:rPr lang="pt-BR"/>
              <a:t>12.6.2 — LLAs dinâmicos no Windows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12.6 — Endereçamento dinâmico para LLAs IPv6</a:t>
            </a:r>
            <a:endParaRPr lang="pt-BR"/>
          </a:p>
          <a:p>
            <a:pPr rtl="0"/>
            <a:r>
              <a:rPr lang="pt-BR"/>
              <a:t>12.6.3 — LLAs dinâmicos em Cisco Routers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12.6 — Endereçamento dinâmico para LLAs IPv6</a:t>
            </a:r>
            <a:endParaRPr lang="pt-BR"/>
          </a:p>
          <a:p>
            <a:pPr rtl="0"/>
            <a:r>
              <a:rPr lang="pt-BR"/>
              <a:t>12.6.4 - Verificar a Configuração de Endereço IPv6</a:t>
            </a:r>
            <a:endParaRPr lang="pt-BR"/>
          </a:p>
          <a:p>
            <a:pPr rtl="0"/>
            <a:r>
              <a:rPr lang="pt-BR"/>
              <a:t>12.6.5 - Verificador de sintaxe - Verifique a configuração do endereço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12.6 — Endereçamento dinâmico para LLAs IPv6</a:t>
            </a:r>
            <a:endParaRPr lang="pt-BR"/>
          </a:p>
          <a:p>
            <a:pPr rtl="0"/>
            <a:r>
              <a:rPr lang="pt-BR"/>
              <a:t>12.6.6 - Packet Tracer – Configurando Endereçamento IPv6</a:t>
            </a:r>
            <a:endParaRPr lang="pt-B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12.7 Endereços de multicast IPv4</a:t>
            </a:r>
            <a:endParaRPr lang="pt-BR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12.7 — Endereços Multicast IPv6</a:t>
            </a:r>
            <a:endParaRPr lang="pt-BR"/>
          </a:p>
          <a:p>
            <a:pPr rtl="0"/>
            <a:r>
              <a:rPr lang="pt-BR"/>
              <a:t>12.7.1 - Endereços IPv6 Multicast Atribuídos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12.7 — Endereços Multicast IPv6</a:t>
            </a:r>
            <a:endParaRPr lang="pt-BR"/>
          </a:p>
          <a:p>
            <a:pPr rtl="0"/>
            <a:r>
              <a:rPr lang="pt-BR"/>
              <a:t>12.7.2 — Endereços Multicast IPv6 bem conhecidos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12.7 — Endereços Multicast IPv6</a:t>
            </a:r>
            <a:endParaRPr lang="pt-BR"/>
          </a:p>
          <a:p>
            <a:pPr rtl="0"/>
            <a:r>
              <a:rPr lang="pt-BR"/>
              <a:t>12.7.3 - Endereços IPv6 Multicast Solicited-Node</a:t>
            </a:r>
            <a:endParaRPr lang="pt-BR"/>
          </a:p>
          <a:p>
            <a:pPr rtl="0"/>
            <a:r>
              <a:rPr lang="pt-BR"/>
              <a:t>12.7.4 - Laboratório – Identificando Endereços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12.7 — Endereços Multicast IPv6</a:t>
            </a:r>
            <a:endParaRPr lang="pt-BR"/>
          </a:p>
          <a:p>
            <a:pPr rtl="0"/>
            <a:r>
              <a:rPr lang="pt-BR"/>
              <a:t>12.7.4 - Laboratório – Identificando Endereços IPv6</a:t>
            </a:r>
            <a:endParaRPr lang="pt-B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12- Endereçamento IPv6</a:t>
            </a:r>
            <a:endParaRPr lang="pt-BR"/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pt-BR"/>
              <a:t>12.8 Sub-rede uma rede IPv6</a:t>
            </a:r>
            <a:endParaRPr lang="pt-BR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12.8 Sub-rede uma rede IPv6</a:t>
            </a:r>
            <a:endParaRPr lang="pt-BR"/>
          </a:p>
          <a:p>
            <a:pPr rtl="0"/>
            <a:r>
              <a:rPr lang="pt-BR"/>
              <a:t>12.8.1 - Sub-rede usando o ID de sub-rede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12.8 Sub-rede uma rede IPv6</a:t>
            </a:r>
            <a:endParaRPr lang="pt-BR"/>
          </a:p>
          <a:p>
            <a:pPr rtl="0"/>
            <a:r>
              <a:rPr lang="pt-BR"/>
              <a:t>12.8.2 — Exemplo de sub-redes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12.8 Sub-rede uma rede IPv6</a:t>
            </a:r>
            <a:endParaRPr lang="pt-BR"/>
          </a:p>
          <a:p>
            <a:pPr rtl="0"/>
            <a:r>
              <a:rPr lang="pt-BR"/>
              <a:t>12.8.3 – Alocação de sub-redes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/>
              <a:t>12 - Endereçamento IPv6</a:t>
            </a:r>
            <a:endParaRPr lang="pt-BR"/>
          </a:p>
          <a:p>
            <a:pPr rtl="0"/>
            <a:r>
              <a:rPr lang="pt-BR"/>
              <a:t>12.8 Sub-rede uma rede IPv6</a:t>
            </a:r>
            <a:endParaRPr lang="pt-BR"/>
          </a:p>
          <a:p>
            <a:pPr rtl="0"/>
            <a:r>
              <a:rPr lang="pt-BR"/>
              <a:t>12.8.4 — Roteador configurado com sub-redes IPv6</a:t>
            </a:r>
            <a:endParaRPr lang="pt-BR"/>
          </a:p>
          <a:p>
            <a:pPr rtl="0"/>
            <a:r>
              <a:rPr lang="pt-BR"/>
              <a:t>12.8.5 — Verifique seu entendimento — Sub-rede uma rede IPv6</a:t>
            </a:r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12 - Endereçamento IPv6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12.9 - Módulo Prática e Quiz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12 - Endereçamento IPv6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12.9 - Módulo Prática e Quiz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b="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rPr>
              <a:t>12.9.1 - Packet Tracer – Implementando um Esquema de Endereçamento IPv6 com Sub-Redes</a:t>
            </a:r>
            <a:endParaRPr lang="pt-BR" sz="1200" b="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rtl="0"/>
            <a:fld id="{04267211-205D-47E8-9F29-7E4C01D43DC3}" type="slidenum">
              <a:rPr sz="800"/>
            </a:fld>
            <a:endParaRPr sz="8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12 - Endereçamento IPv6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rPr>
              <a:t>12.9 - Módulo Prática e Quiz</a:t>
            </a:r>
            <a:endParaRPr lang="pt-BR" sz="120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  <a:cs typeface="MS PGothic" charset="0"/>
            </a:endParaRPr>
          </a:p>
          <a:p>
            <a:pPr rtl="0">
              <a:lnSpc>
                <a:spcPct val="80000"/>
              </a:lnSpc>
              <a:buFontTx/>
              <a:buNone/>
            </a:pPr>
            <a:r>
              <a:rPr lang="pt-BR" sz="1200" b="0" kern="12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rPr>
              <a:t>12.9.2 – PTPM e Laboratório – Configurar Endereços IPv6 em Dispositivos de Rede</a:t>
            </a:r>
            <a:endParaRPr lang="pt-BR" sz="1200" b="0" kern="1200">
              <a:solidFill>
                <a:schemeClr val="tx1"/>
              </a:solidFill>
              <a:latin typeface="Arial" panose="020B0604020202020204" pitchFamily="34" charset="0"/>
              <a:ea typeface="MS PGothic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Conceitos de WLAN</a:t>
            </a:r>
            <a:endParaRPr lang="pt-BR"/>
          </a:p>
          <a:p>
            <a:pPr rtl="0"/>
            <a:r>
              <a:rPr lang="pt-BR"/>
              <a:t>12.8 - Módulo Prática e Quiz</a:t>
            </a:r>
            <a:endParaRPr lang="pt-BR"/>
          </a:p>
          <a:p>
            <a:pPr rtl="0"/>
            <a:r>
              <a:rPr lang="pt-BR"/>
              <a:t>12.9.3 - O que eu aprendi neste módulo?</a:t>
            </a:r>
            <a:endParaRPr lang="pt-BR"/>
          </a:p>
          <a:p>
            <a:pPr rtl="0"/>
            <a:r>
              <a:rPr lang="pt-BR"/>
              <a:t>12.9.4 — Teste de Módulo — Endereçamento IPv6</a:t>
            </a:r>
            <a:endParaRPr lang="pt-BR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3997A419-355F-A04A-96E0-21643AF8E9FF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rtl="0"/>
            <a:r>
              <a:rPr lang="pt-BR"/>
              <a:t>12 - Conceitos de WLAN</a:t>
            </a:r>
            <a:endParaRPr lang="pt-BR"/>
          </a:p>
          <a:p>
            <a:pPr rtl="0"/>
            <a:r>
              <a:rPr lang="pt-BR"/>
              <a:t>12.8 - Módulo Prática e Quiz</a:t>
            </a:r>
            <a:endParaRPr lang="pt-BR"/>
          </a:p>
          <a:p>
            <a:pPr rtl="0"/>
            <a:r>
              <a:rPr lang="pt-BR"/>
              <a:t>12.9.3 - O que eu aprendi neste módulo?</a:t>
            </a:r>
            <a:endParaRPr lang="pt-BR"/>
          </a:p>
          <a:p>
            <a:pPr rtl="0"/>
            <a:r>
              <a:rPr lang="pt-BR"/>
              <a:t>12.9.4 — Teste de Módulo — Endereçamento IPv6</a:t>
            </a:r>
            <a:endParaRPr lang="pt-BR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  <a:cs typeface="MS PGothic" charset="0"/>
              </a:defRPr>
            </a:lvl1pPr>
            <a:lvl2pPr marL="742950" indent="-28575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 defTabSz="90360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algn="ctr" defTabSz="903605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rtl="0"/>
            <a:fld id="{6C92755B-29FD-8743-9094-C0E3A734D22E}" type="slidenum">
              <a:rPr sz="800">
                <a:solidFill>
                  <a:prstClr val="black"/>
                </a:solidFill>
              </a:rPr>
            </a:fld>
            <a:endParaRPr sz="80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5641018C-6CAF-B84E-B92C-ECB119457FBA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800" indent="0">
              <a:buNone/>
              <a:defRPr/>
            </a:lvl2pPr>
            <a:lvl3pPr marL="427355" indent="0">
              <a:buNone/>
              <a:defRPr/>
            </a:lvl3pPr>
            <a:lvl4pPr marL="516890" indent="0">
              <a:buNone/>
              <a:defRPr/>
            </a:lvl4pPr>
            <a:lvl5pPr marL="60134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Cisco e/ou suas afiliadas. Todos os direitos reservados.   Documento confidencial da Cisco</a:t>
            </a:r>
            <a:endParaRPr lang="pt-BR" sz="60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3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4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5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750" marR="0" indent="-28575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 panose="020B0604020202020204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 panose="020B0604020202020204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  <a:endParaRPr lang="en-US" dirty="0"/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  <a:endParaRPr lang="en-US" dirty="0"/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  <a:endParaRPr lang="en-US" dirty="0"/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  <a:endParaRPr lang="en-US" dirty="0"/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  <a:endParaRPr lang="en-US" dirty="0"/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  <a:endParaRPr lang="en-US" dirty="0"/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  <a:endParaRPr lang="en-US" dirty="0"/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  <a:endParaRPr lang="en-US" dirty="0"/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  <a:endParaRPr lang="en-US" dirty="0"/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 panose="020B0604020202020204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  <a:endParaRPr lang="en-US" dirty="0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6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7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2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3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6080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/>
          <a:lstStyle>
            <a:lvl1pPr marL="170180" indent="-17018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text styles</a:t>
            </a:r>
            <a:endParaRPr lang="en-US">
              <a:sym typeface="Arial" panose="020B0604020202020204" pitchFamily="34" charset="0"/>
            </a:endParaRPr>
          </a:p>
          <a:p>
            <a:pPr lvl="1"/>
            <a:r>
              <a:rPr lang="en-US">
                <a:sym typeface="Arial" panose="020B0604020202020204" pitchFamily="34" charset="0"/>
              </a:rPr>
              <a:t>Second level</a:t>
            </a:r>
            <a:endParaRPr lang="en-US">
              <a:sym typeface="Arial" panose="020B0604020202020204" pitchFamily="34" charset="0"/>
            </a:endParaRPr>
          </a:p>
          <a:p>
            <a:pPr lvl="2"/>
            <a:r>
              <a:rPr lang="en-US">
                <a:sym typeface="Arial" panose="020B0604020202020204" pitchFamily="34" charset="0"/>
              </a:rPr>
              <a:t>Third level</a:t>
            </a:r>
            <a:endParaRPr lang="en-US">
              <a:sym typeface="Arial" panose="020B0604020202020204" pitchFamily="34" charset="0"/>
            </a:endParaRPr>
          </a:p>
          <a:p>
            <a:pPr lvl="3"/>
            <a:r>
              <a:rPr lang="en-US">
                <a:sym typeface="Arial" panose="020B0604020202020204" pitchFamily="34" charset="0"/>
              </a:rPr>
              <a:t>Fourth level</a:t>
            </a:r>
            <a:endParaRPr lang="en-US">
              <a:sym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anose="020B0604020202020204" pitchFamily="34" charset="0"/>
              </a:rPr>
              <a:t>Click to edit Master title style</a:t>
            </a:r>
            <a:endParaRPr lang="en-US" dirty="0"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/>
          <a:lstStyle/>
          <a:p>
            <a:pPr lvl="0"/>
            <a:r>
              <a:rPr lang="en-GB" altLang="en-US" dirty="0"/>
              <a:t>Title Goes Here</a:t>
            </a:r>
            <a:endParaRPr lang="en-GB" altLang="en-US" dirty="0"/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</a:fld>
            <a:endParaRPr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543048" y="4741653"/>
            <a:ext cx="2982478" cy="15451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61586" tIns="30792" rIns="61586" bIns="30792" anchor="b">
            <a:spAutoFit/>
          </a:bodyPr>
          <a:lstStyle/>
          <a:p>
            <a:pPr defTabSz="610870" rt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2019 Cisco e/ou suas afiliadas. Todos os direitos reservados.   Documento confidencial da Cisco</a:t>
            </a:r>
            <a:endParaRPr lang="pt-BR" sz="60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8" name="Freeform 6"/>
            <p:cNvSpPr/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9" name="Freeform 7"/>
            <p:cNvSpPr/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1" name="Freeform 9"/>
            <p:cNvSpPr/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4" name="Freeform 10"/>
            <p:cNvSpPr/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5" name="Freeform 11"/>
            <p:cNvSpPr/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6" name="Freeform 12"/>
            <p:cNvSpPr/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7" name="Freeform 13"/>
            <p:cNvSpPr/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8" name="Freeform 14"/>
            <p:cNvSpPr/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19" name="Freeform 15"/>
            <p:cNvSpPr/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0" name="Freeform 16"/>
            <p:cNvSpPr/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1" name="Freeform 17"/>
            <p:cNvSpPr/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  <p:sp>
          <p:nvSpPr>
            <p:cNvPr id="22" name="Freeform 18"/>
            <p:cNvSpPr/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slow">
    <p:wipe/>
  </p:transition>
  <p:txStyles>
    <p:titleStyle>
      <a:lvl1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MS PGothic" charset="0"/>
          <a:cs typeface="CiscoSans"/>
        </a:defRPr>
      </a:lvl1pPr>
      <a:lvl2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2pPr>
      <a:lvl3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3pPr>
      <a:lvl4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4pPr>
      <a:lvl5pPr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  <a:cs typeface="CiscoSans" pitchFamily="34" charset="0"/>
        </a:defRPr>
      </a:lvl5pPr>
      <a:lvl6pPr marL="4572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6pPr>
      <a:lvl7pPr marL="9144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7pPr>
      <a:lvl8pPr marL="13716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8pPr>
      <a:lvl9pPr marL="1828800" algn="l" defTabSz="684530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panose="020B0604020202020204" pitchFamily="34" charset="0"/>
          <a:ea typeface="MS PGothic" charset="0"/>
        </a:defRPr>
      </a:lvl9pPr>
    </p:titleStyle>
    <p:bodyStyle>
      <a:lvl1pPr marL="170180" indent="-170180" algn="l" defTabSz="684530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panose="020B0604020202020204" pitchFamily="34" charset="0"/>
        <a:buChar char="•"/>
        <a:defRPr lang="en-US" sz="1500" kern="1200" dirty="0">
          <a:solidFill>
            <a:schemeClr val="tx1"/>
          </a:solidFill>
          <a:latin typeface="+mn-lt"/>
          <a:ea typeface="MS PGothic" charset="0"/>
          <a:cs typeface="CiscoSans"/>
        </a:defRPr>
      </a:lvl1pPr>
      <a:lvl2pPr marL="358775" indent="-215900" algn="l" defTabSz="684530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MS PGothic" charset="0"/>
          <a:cs typeface="CiscoSans"/>
        </a:defRPr>
      </a:lvl2pPr>
      <a:lvl3pPr marL="431800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MS PGothic" charset="0"/>
          <a:cs typeface="CiscoSans"/>
        </a:defRPr>
      </a:lvl3pPr>
      <a:lvl4pPr marL="50355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4pPr>
      <a:lvl5pPr marL="574675" indent="-170180" algn="l" defTabSz="684530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panose="020B0604020202020204" pitchFamily="34" charset="0"/>
        <a:buChar char="•"/>
        <a:defRPr lang="en-US" sz="1100" kern="1200" dirty="0">
          <a:solidFill>
            <a:schemeClr val="tx1"/>
          </a:solidFill>
          <a:latin typeface="+mn-lt"/>
          <a:ea typeface="MS PGothic" charset="0"/>
          <a:cs typeface="CiscoSans"/>
        </a:defRPr>
      </a:lvl5pPr>
      <a:lvl6pPr marL="86360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990" indent="-171450" algn="l" defTabSz="685800" rtl="0" eaLnBrk="1" latinLnBrk="0" hangingPunct="1">
        <a:spcBef>
          <a:spcPts val="600"/>
        </a:spcBef>
        <a:buFont typeface="Arial" panose="020B0604020202020204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300" indent="0" algn="l" defTabSz="685800" rtl="0" eaLnBrk="1" latinLnBrk="0" hangingPunct="1">
        <a:spcBef>
          <a:spcPct val="20000"/>
        </a:spcBef>
        <a:buFont typeface="Arial" panose="020B0604020202020204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1219200"/>
            <a:ext cx="6557379" cy="1666626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12: Endereçamento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9497" y="3127609"/>
            <a:ext cx="5925246" cy="299001"/>
          </a:xfrm>
        </p:spPr>
        <p:txBody>
          <a:bodyPr/>
          <a:lstStyle/>
          <a:p>
            <a:pPr rtl="0"/>
            <a:r>
              <a:rPr lang="pt-BR">
                <a:solidFill>
                  <a:schemeClr val="bg2">
                    <a:lumMod val="40000"/>
                    <a:lumOff val="60000"/>
                  </a:schemeClr>
                </a:solidFill>
              </a:rPr>
              <a:t>Material do instrutor</a:t>
            </a:r>
            <a:endParaRPr lang="pt-BR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Módulo 12: endereçamento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Introdução às redes v7.0 (ITN)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12.1 Problemas IPv4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Problemas IPv4</a:t>
            </a:r>
            <a:br>
              <a:rPr lang="en-US" dirty="0"/>
            </a:br>
            <a:r>
              <a:rPr lang="pt-BR" sz="2400"/>
              <a:t>Necessidade de IPv6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 IPv4 está ficando sem endereços. O IPv6 é o sucessor do IPv4. Tem um maior espaço de endereço de 128 bits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 desenvolvimento do IPv6 também incluiu correções para limitações de IPv4 e outros aprimoramentos.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Com uma população cada vez maior na Internet, espaço de endereços IPv4 limitado, problemas com NAT e uma Internet das Coisas, chegou o momento de iniciar a transição para o IPv6.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57275" y="855419"/>
            <a:ext cx="3478852" cy="20637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Problemas do IPv4 </a:t>
            </a:r>
            <a:br>
              <a:rPr lang="en-US" dirty="0"/>
            </a:br>
            <a:r>
              <a:rPr lang="pt-BR" sz="2400"/>
              <a:t>A coexistência do IPv4 e do IPv6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1" y="855419"/>
            <a:ext cx="7913517" cy="3073946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chemeClr val="tx1"/>
                </a:solidFill>
              </a:rPr>
              <a:t>Tanto o IPv4 como o IPv6 coexistirão no futuro próximo e a transição levará vários anos.</a:t>
            </a:r>
            <a:endParaRPr lang="pt-BR" sz="160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>
                <a:solidFill>
                  <a:schemeClr val="tx1"/>
                </a:solidFill>
              </a:rPr>
              <a:t>A IETF criou vários protocolos e ferramentas para ajudar os administradores de rede a migrarem as redes para IPv6. As técnicas de migração podem ser divididas em três categorias:</a:t>
            </a:r>
            <a:endParaRPr lang="pt-BR" sz="1600">
              <a:solidFill>
                <a:schemeClr val="tx1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>
                <a:solidFill>
                  <a:schemeClr val="tx1"/>
                </a:solidFill>
              </a:rPr>
              <a:t>Pilha dupla - Os dispositivos de pilha dupla executam os protocolos IPv4 e IPv6 simultaneamente.</a:t>
            </a:r>
            <a:endParaRPr lang="pt-BR">
              <a:solidFill>
                <a:schemeClr val="tx1"/>
              </a:solidFill>
            </a:endParaRPr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b="1"/>
              <a:t>Tunelamento</a:t>
            </a:r>
            <a:r>
              <a:rPr lang="pt-BR"/>
              <a:t> -  Um método de transporte de pacotes IPv6 através de uma rede IPv4. O pacote IPv6 é encapsulado dentro de um pacote IPv4.</a:t>
            </a:r>
            <a:endParaRPr lang="pt-BR"/>
          </a:p>
          <a:p>
            <a:pPr marL="415925" lvl="1" indent="-342900" rtl="0">
              <a:buFont typeface="Arial" panose="020B0604020202020204" pitchFamily="34" charset="0"/>
              <a:buChar char="•"/>
            </a:pPr>
            <a:r>
              <a:rPr lang="pt-BR" b="1">
                <a:solidFill>
                  <a:schemeClr val="tx1"/>
                </a:solidFill>
              </a:rPr>
              <a:t>Tradução</a:t>
            </a:r>
            <a:r>
              <a:rPr lang="pt-BR">
                <a:solidFill>
                  <a:schemeClr val="tx1"/>
                </a:solidFill>
              </a:rPr>
              <a:t>: </a:t>
            </a:r>
            <a:r>
              <a:rPr lang="pt-BR" b="1">
                <a:solidFill>
                  <a:schemeClr val="tx1"/>
                </a:solidFill>
              </a:rPr>
              <a:t>a </a:t>
            </a:r>
            <a:r>
              <a:rPr lang="pt-BR"/>
              <a:t>NAT64 (Network Address Translation 64) permite que os dispositivos habilitados para IPv6 se comuniquem com os dispositivos habilitados para IPv4 usando uma técnica de tradução semelhante à NAT IPv4.</a:t>
            </a:r>
            <a:r>
              <a:rPr lang="pt-BR" b="1">
                <a:solidFill>
                  <a:schemeClr val="tx1"/>
                </a:solidFill>
              </a:rPr>
              <a:t> </a:t>
            </a: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1971" y="3918749"/>
            <a:ext cx="79135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/>
              <a:t>Observação: O</a:t>
            </a:r>
            <a:r>
              <a:rPr lang="pt-BR" sz="1400"/>
              <a:t> tunelamento e a tradução são para transição para IPv6 nativo e só devem ser usados quando necessário. O objetivo deve ser as comunicações IPv6 nativas da origem até o destino.</a:t>
            </a:r>
            <a:endParaRPr lang="pt-BR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Representação do Endereço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Representação deendereço IPv6 Formatos deendereçamentoIPv6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4003184"/>
          </a:xfrm>
        </p:spPr>
        <p:txBody>
          <a:bodyPr/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IPv6 têm 128 bits e são gravados em hexadecimal.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IPv6 não diferenciam maiúsculas e minúsculas e podem ser escritos tanto em minúsculas como em maiúsculas.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Como mostrado na Figura 1, o formato preferencial para escrever um endereço IPv6 é x: x: x: x: x: x: x: x, com cada “x” consistindo de quatro valores hexadecimais.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No IPv6, um hexteto é o termo não oficial usado para se referir a um segmento de 16 bits ou quatro valores hexadecimais.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Exemplos de endereços IPv6 no formato preferido:</a:t>
            </a:r>
            <a:endParaRPr lang="pt-BR" sz="1600">
              <a:solidFill>
                <a:schemeClr val="tx1"/>
              </a:solidFill>
            </a:endParaRPr>
          </a:p>
          <a:p>
            <a:pPr marL="358775" lvl="4" indent="0" rtl="0">
              <a:buNone/>
            </a:pPr>
            <a:r>
              <a:rPr lang="pt-BR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2001:0db8:0000:1111:0000:0000:0000:0200 </a:t>
            </a:r>
            <a:endParaRPr lang="pt-BR" sz="16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8775" lvl="4" indent="0" rtl="0">
              <a:buNone/>
            </a:pPr>
            <a:r>
              <a:rPr lang="pt-BR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2001:0db8:0000:00 a3:abcd:</a:t>
            </a:r>
            <a:r>
              <a:rPr lang="pt-BR" sz="160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pt-BR" sz="16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000:0000:1234 </a:t>
            </a:r>
            <a:endParaRPr lang="pt-BR" sz="160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Regra 1 de representação de endereço IPv6 — Omitir zero à esquerda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598726"/>
            <a:ext cx="7913516" cy="2895245"/>
          </a:xfrm>
        </p:spPr>
        <p:txBody>
          <a:bodyPr/>
          <a:lstStyle/>
          <a:p>
            <a:pPr marL="0" indent="0" algn="l" rtl="0"/>
            <a:r>
              <a:rPr lang="pt-BR" sz="1600">
                <a:solidFill>
                  <a:schemeClr val="tx1"/>
                </a:solidFill>
              </a:rPr>
              <a:t>A primeira regra para ajudar a reduzir a notação de endereços IPv6 é omitir quaisquer 0s (zeros) iniciais.</a:t>
            </a:r>
            <a:endParaRPr lang="pt-BR" sz="1600">
              <a:solidFill>
                <a:schemeClr val="tx1"/>
              </a:solidFill>
            </a:endParaRPr>
          </a:p>
          <a:p>
            <a:pPr marL="73025" lvl="1" indent="0" rtl="0">
              <a:buNone/>
            </a:pPr>
            <a:r>
              <a:rPr lang="pt-BR" sz="1600" b="1"/>
              <a:t>Exemplos:</a:t>
            </a:r>
            <a:endParaRPr lang="pt-BR" sz="1600" b="1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01AB pode ser representado como 1AB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09f0 pode ser representado como 9f0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0a00 pode ser representado como a00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00ab pode ser representado como ab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 b="1">
                <a:solidFill>
                  <a:schemeClr val="tx1"/>
                </a:solidFill>
              </a:rPr>
              <a:t>Observação</a:t>
            </a:r>
            <a:r>
              <a:rPr lang="pt-BR" sz="1600">
                <a:solidFill>
                  <a:schemeClr val="tx1"/>
                </a:solidFill>
              </a:rPr>
              <a:t>:</a:t>
            </a:r>
            <a:r>
              <a:rPr lang="pt-BR" sz="1600">
                <a:solidFill>
                  <a:schemeClr val="tx1"/>
                </a:solidFill>
              </a:rPr>
              <a:t>Essa regra se aplica somente aos 0s à esquerda, e NÃO aos 0s à direita. Caso contrário, o endereço ficaria ambíguo.</a:t>
            </a:r>
            <a:r>
              <a:rPr lang="pt-BR" sz="1600" b="1">
                <a:solidFill>
                  <a:schemeClr val="tx1"/>
                </a:solidFill>
              </a:rPr>
              <a:t> </a:t>
            </a:r>
            <a:endParaRPr lang="pt-BR" sz="1600" b="1">
              <a:solidFill>
                <a:schemeClr val="tx1"/>
              </a:solidFill>
            </a:endParaRPr>
          </a:p>
          <a:p>
            <a:pPr marL="415925" lvl="1" indent="-34290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6"/>
          <p:cNvGraphicFramePr/>
          <p:nvPr/>
        </p:nvGraphicFramePr>
        <p:xfrm>
          <a:off x="750745" y="3767534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/>
                <a:gridCol w="465397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Tipo</a:t>
                      </a:r>
                      <a:endParaRPr lang="pt-BR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Formato</a:t>
                      </a:r>
                      <a:endParaRPr lang="pt-BR" sz="110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Preferencial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db8: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0:1111: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200</a:t>
                      </a:r>
                      <a:endParaRPr lang="pt-BR" sz="1100"/>
                    </a:p>
                  </a:txBody>
                  <a:tcPr/>
                </a:tc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Sem zeros à esquerda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 db8:0: 1111:0: 0:0: 200</a:t>
                      </a:r>
                      <a:endParaRPr lang="pt-BR" sz="11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Regra 2 de Representação de Endereço IPv6 — Dois-pontos duplos</a:t>
            </a:r>
            <a:endParaRPr lang="pt-BR" sz="240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2399913"/>
          </a:xfrm>
        </p:spPr>
        <p:txBody>
          <a:bodyPr/>
          <a:lstStyle/>
          <a:p>
            <a:pPr marL="0" indent="0" algn="l" rtl="0"/>
            <a:r>
              <a:rPr lang="pt-BR" sz="1800">
                <a:solidFill>
                  <a:schemeClr val="tx1"/>
                </a:solidFill>
              </a:rPr>
              <a:t>Dois pontos-e-vírgula (: :) podem substituir qualquer sequência única e contígua de um ou mais hextets de 16 bits que consistem em todos os zeros. </a:t>
            </a:r>
            <a:endParaRPr lang="pt-BR" sz="180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 b="1">
                <a:solidFill>
                  <a:schemeClr val="tx1"/>
                </a:solidFill>
              </a:rPr>
              <a:t>Exemplo:</a:t>
            </a:r>
            <a:endParaRPr lang="pt-BR" sz="1600" b="1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</a:rPr>
              <a:t>2001:db8:cafe: 1:0:0:0:1 (0s principais omitidos) poderia ser representado como 2001:db8:cafe:1: :1</a:t>
            </a:r>
            <a:endParaRPr lang="pt-BR" sz="140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 b="1">
                <a:solidFill>
                  <a:schemeClr val="tx1"/>
                </a:solidFill>
              </a:rPr>
              <a:t>Observação</a:t>
            </a:r>
            <a:r>
              <a:rPr lang="pt-BR" sz="1600">
                <a:solidFill>
                  <a:schemeClr val="tx1"/>
                </a:solidFill>
              </a:rPr>
              <a:t>:</a:t>
            </a:r>
            <a:r>
              <a:rPr lang="pt-BR" sz="1400">
                <a:solidFill>
                  <a:schemeClr val="tx1"/>
                </a:solidFill>
              </a:rPr>
              <a:t>Os dois-pontos em dobro (::) só podem ser usados uma vez em um endereço; caso contrário, haveria mais de um endereço resultante possível.</a:t>
            </a:r>
            <a:endParaRPr lang="pt-BR" sz="140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</p:txBody>
      </p:sp>
      <p:graphicFrame>
        <p:nvGraphicFramePr>
          <p:cNvPr id="5" name="Content Placeholder 6"/>
          <p:cNvGraphicFramePr/>
          <p:nvPr/>
        </p:nvGraphicFramePr>
        <p:xfrm>
          <a:off x="668858" y="3255332"/>
          <a:ext cx="6617097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127"/>
                <a:gridCol w="4653970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Tipo</a:t>
                      </a:r>
                      <a:endParaRPr lang="pt-BR" sz="11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Formato</a:t>
                      </a:r>
                      <a:endParaRPr lang="pt-BR" sz="110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Preferencial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db8: </a:t>
                      </a:r>
                      <a:r>
                        <a:rPr lang="pt-BR" sz="1100" b="1"/>
                        <a:t>000</a:t>
                      </a:r>
                      <a:r>
                        <a:rPr lang="pt-BR" sz="1100"/>
                        <a:t>0:1111: </a:t>
                      </a:r>
                      <a:r>
                        <a:rPr lang="pt-BR" sz="1100" b="1"/>
                        <a:t>0000</a:t>
                      </a:r>
                      <a:r>
                        <a:rPr lang="pt-BR" sz="1100"/>
                        <a:t>: </a:t>
                      </a:r>
                      <a:r>
                        <a:rPr lang="pt-BR" sz="1100" b="1"/>
                        <a:t>0000</a:t>
                      </a:r>
                      <a:r>
                        <a:rPr lang="pt-BR" sz="1100"/>
                        <a:t>: </a:t>
                      </a:r>
                      <a:r>
                        <a:rPr lang="pt-BR" sz="1100" b="1"/>
                        <a:t>0000</a:t>
                      </a:r>
                      <a:r>
                        <a:rPr lang="pt-BR" sz="1100"/>
                        <a:t>: </a:t>
                      </a:r>
                      <a:r>
                        <a:rPr lang="pt-BR" sz="1100" b="1"/>
                        <a:t>0</a:t>
                      </a:r>
                      <a:r>
                        <a:rPr lang="pt-BR" sz="1100"/>
                        <a:t>200</a:t>
                      </a:r>
                      <a:endParaRPr lang="pt-BR" sz="1100"/>
                    </a:p>
                  </a:txBody>
                  <a:tcPr/>
                </a:tc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Compactado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/>
                        <a:t>2001:db8:0:1111::200</a:t>
                      </a:r>
                      <a:endParaRPr lang="pt-BR" sz="11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12.3 Tipos de endereço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 de Endereçamento IPv6 </a:t>
            </a:r>
            <a:br>
              <a:rPr lang="en-US" dirty="0"/>
            </a:br>
            <a:r>
              <a:rPr lang="pt-BR" sz="2400"/>
              <a:t>unicast, multicast, anycast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Existem três grandes categorias de endereços IPv6: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Unicast </a:t>
            </a:r>
            <a:r>
              <a:rPr lang="pt-BR" sz="1600" b="1">
                <a:solidFill>
                  <a:schemeClr val="tx1"/>
                </a:solidFill>
              </a:rPr>
              <a:t>– Um endereço IPv6 unicast identifica exclusivamente uma interface em um dispositivo habilitado para IPv6.</a:t>
            </a:r>
            <a:endParaRPr lang="pt-BR" sz="1600" b="1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Multicast </a:t>
            </a:r>
            <a:r>
              <a:rPr lang="pt-BR" sz="1600" b="1">
                <a:solidFill>
                  <a:schemeClr val="tx1"/>
                </a:solidFill>
              </a:rPr>
              <a:t>– Um endereço IPv6 multicast é usado para enviar um único pacote IPv6 para vários destinos.</a:t>
            </a:r>
            <a:endParaRPr lang="pt-BR" sz="1600" b="1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tx1"/>
                </a:solidFill>
              </a:rPr>
              <a:t>Anycast </a:t>
            </a:r>
            <a:r>
              <a:rPr lang="pt-BR" sz="1600">
                <a:solidFill>
                  <a:schemeClr val="tx1"/>
                </a:solidFill>
              </a:rPr>
              <a:t>– Um endereço IPv6 anycast é qualquer endereço IPv6 unicast que possa ser atribuído a vários dispositivos. Um pacote enviado a um endereço de anycast é roteado para o dispositivo mais próximo que tenha esse endereço.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 rtl="0"/>
            <a:r>
              <a:rPr lang="pt-BR" sz="1600" b="1">
                <a:solidFill>
                  <a:schemeClr val="tx1"/>
                </a:solidFill>
              </a:rPr>
              <a:t>Observação</a:t>
            </a:r>
            <a:r>
              <a:rPr lang="pt-BR" sz="1600">
                <a:solidFill>
                  <a:schemeClr val="tx1"/>
                </a:solidFill>
              </a:rPr>
              <a:t>: Ao contrário do IPv4, o IPv6 não possui um endereço de broadcast. No entanto, há um endereço multicast para todos os nós IPv6 que fornece basicamente o mesmo resultado.</a:t>
            </a:r>
            <a:endParaRPr lang="pt-BR" sz="1600">
              <a:solidFill>
                <a:schemeClr val="tx1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Tipos de endereços IPv6 </a:t>
            </a:r>
            <a:r>
              <a:rPr lang="pt-BR" sz="1600"/>
              <a:t>Comprimento do prefixo IPv6</a:t>
            </a:r>
            <a:endParaRPr lang="pt-BR" sz="16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312365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O comprimento do prefixo é representado na notação de barra e é usado para indicar a parte da rede de um endereço IPv6.</a:t>
            </a:r>
            <a:endParaRPr lang="pt-BR" sz="1600">
              <a:solidFill>
                <a:schemeClr val="tx1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O comprimento do prefixo pode variar de 0 a 128. O comprimento recomendado do prefixo IPv6 para LANs e a maioria dos outros tipos de redes é / 64.</a:t>
            </a:r>
            <a:endParaRPr lang="pt-BR" sz="1600">
              <a:solidFill>
                <a:schemeClr val="tx1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7923" y="2190466"/>
            <a:ext cx="4469641" cy="17276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1799" y="3952755"/>
            <a:ext cx="79903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/>
              <a:t>Observação</a:t>
            </a:r>
            <a:r>
              <a:rPr lang="pt-BR" sz="1400"/>
              <a:t>: É altamente recomendável usar um ID de interface de 64 bits para a maioria das redes. Isso ocorre porque a configuração automática de endereço sem estado (SLAAC) usa 64 bits para o ID de interface. Também facilita a criação e o gerenciamento de sub-redes</a:t>
            </a:r>
            <a:r>
              <a:rPr lang="pt-BR" sz="1200"/>
              <a:t>. 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Tipos de endereços IPv6 </a:t>
            </a:r>
            <a:r>
              <a:rPr lang="pt-BR" sz="1600"/>
              <a:t>Endereços IPv6 unicast</a:t>
            </a:r>
            <a:endParaRPr lang="pt-BR" sz="16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4741333" cy="3550598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Ao contrário dos dispositivos IPv4 que têm apenas um único endereço, os endereços IPv6 normalmente têm dois endereços unicast:</a:t>
            </a:r>
            <a:endParaRPr lang="pt-BR" sz="1600">
              <a:solidFill>
                <a:schemeClr val="tx1"/>
              </a:solidFill>
            </a:endParaRPr>
          </a:p>
          <a:p>
            <a:pPr marL="488950" lvl="2" indent="-342900">
              <a:buFont typeface="Arial" panose="020B0604020202020204" pitchFamily="34" charset="0"/>
              <a:buChar char="•"/>
            </a:pPr>
            <a:endParaRPr lang="en-US" sz="200" dirty="0"/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Um endereço unicast global(GUA) é semelhante a um endereço IPv4 público. São endereços de Internet roteáveis e globalmente exclusivos.</a:t>
            </a:r>
            <a:endParaRPr lang="pt-BR" sz="1600">
              <a:solidFill>
                <a:schemeClr val="tx1"/>
              </a:solidFill>
            </a:endParaRP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pt-BR" sz="1600" b="1">
                <a:solidFill>
                  <a:schemeClr val="tx1"/>
                </a:solidFill>
              </a:rPr>
              <a:t>Endereço local do link (LLA) - </a:t>
            </a:r>
            <a:r>
              <a:rPr lang="pt-BR" sz="1600">
                <a:solidFill>
                  <a:schemeClr val="tx1"/>
                </a:solidFill>
              </a:rPr>
              <a:t>obrigatório para todos os dispositivos habilitados para IPv6 e usado para se comunicar com outros dispositivos no mesmo link local. Os LLAs não são roteáveis e estão confinados a um único link.</a:t>
            </a:r>
            <a:r>
              <a:rPr lang="pt-BR" sz="1600" b="1">
                <a:solidFill>
                  <a:schemeClr val="tx1"/>
                </a:solidFill>
              </a:rPr>
              <a:t> </a:t>
            </a:r>
            <a:endParaRPr lang="pt-BR" sz="1600" b="1">
              <a:solidFill>
                <a:schemeClr val="tx1"/>
              </a:solidFill>
            </a:endParaRPr>
          </a:p>
          <a:p>
            <a:pPr marL="0" indent="0" algn="l"/>
            <a:endParaRPr lang="en-US" sz="16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1666" y="675564"/>
            <a:ext cx="3528847" cy="29820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IPv6</a:t>
            </a:r>
            <a:br>
              <a:rPr lang="en-US" dirty="0"/>
            </a:br>
            <a:r>
              <a:rPr lang="pt-BR" sz="2400"/>
              <a:t>Uma observação sobre o endereço local exclusivo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857250"/>
            <a:ext cx="7913688" cy="2690789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chemeClr val="tx1"/>
                </a:solidFill>
              </a:rPr>
              <a:t>Os endereços locais exclusivos do IPv6 (intervalo fc00 :: / 7 a fdff :: / 7) têm alguma semelhança com os endereços privados do RFC 1918 para o IPv4, mas existem diferenças significativas:</a:t>
            </a:r>
            <a:endParaRPr lang="pt-BR" sz="1800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unique local são utilizados para endereçamento local dentro de um site ou entre um número limitado de sites.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Os endereços unique local podem ser usados para dispositivos que nunca precisarão ou terão acesso por outra rede.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pt-BR" sz="1600">
                <a:solidFill>
                  <a:schemeClr val="tx1"/>
                </a:solidFill>
              </a:rPr>
              <a:t>Endereços locais exclusivos não são globalmente roteados ou traduzidos para um endereço IPv6 global.</a:t>
            </a:r>
            <a:endParaRPr lang="pt-BR" sz="1600">
              <a:solidFill>
                <a:schemeClr val="tx1"/>
              </a:solidFill>
            </a:endParaRPr>
          </a:p>
          <a:p>
            <a:pPr marL="0" indent="0" algn="l"/>
            <a:endParaRPr lang="en-US" sz="1800" dirty="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66383" y="3673452"/>
            <a:ext cx="77791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 b="1"/>
              <a:t>Nota</a:t>
            </a:r>
            <a:r>
              <a:rPr lang="pt-BR" sz="1600"/>
              <a:t>: Muitos sites usam a natureza privada dos endereços RFC 1918 para tentar proteger ou ocultar sua rede de possíveis riscos à segurança. Este nunca foi o uso pretendido de ULA. </a:t>
            </a:r>
            <a:r>
              <a:rPr lang="pt-BR" sz="1600" b="1"/>
              <a:t> </a:t>
            </a:r>
            <a:endParaRPr lang="pt-BR" sz="16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deendereço </a:t>
            </a:r>
            <a:br>
              <a:rPr lang="en-US" dirty="0"/>
            </a:br>
            <a:r>
              <a:rPr lang="pt-BR" sz="2400"/>
              <a:t>IPv6 GUAIPv6 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7913688" cy="1653559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chemeClr val="tx1"/>
                </a:solidFill>
              </a:rPr>
              <a:t>O endereço IPv6 unicast global (GUA) é globalmente exclusivo e roteável na Internet IPv6.</a:t>
            </a:r>
            <a:endParaRPr lang="pt-BR" sz="1600">
              <a:solidFill>
                <a:schemeClr val="tx1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</a:rPr>
              <a:t>Atualmente, apenas GUAs com os três primeiros bits de 001 ou 2000 :: / 3 estão sendo atribuídos.</a:t>
            </a:r>
            <a:endParaRPr lang="pt-BR" sz="1400">
              <a:solidFill>
                <a:schemeClr val="tx1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chemeClr val="tx1"/>
                </a:solidFill>
              </a:rPr>
              <a:t>GUAs atualmente disponíveis começam com um decimal 2 ou um 3 (Isso é apenas 1/8 do espaço total de endereços IPv6 disponível).</a:t>
            </a:r>
            <a:endParaRPr lang="pt-BR" sz="1400">
              <a:solidFill>
                <a:schemeClr val="tx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667" y="2756848"/>
            <a:ext cx="5097321" cy="1793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IPv6</a:t>
            </a:r>
            <a:r>
              <a:rPr lang="pt-BR" sz="2400"/>
              <a:t>Estrutura GUAIPv6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382733" y="555789"/>
            <a:ext cx="7913688" cy="3066433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 b="1">
                <a:solidFill>
                  <a:srgbClr val="000000"/>
                </a:solidFill>
              </a:rPr>
              <a:t>prefixo de roteamento global</a:t>
            </a:r>
            <a:endParaRPr lang="pt-BR" sz="1600" b="1">
              <a:solidFill>
                <a:srgbClr val="000000"/>
              </a:solidFill>
            </a:endParaRP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O prefixo global de roteamento é o prefixo (parte de rede) do endereço que é atribuído pelo provedor (como um ISP) a um cliente ou um site. O prefixo de roteamento global varia dependendo das políticas do ISP.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 b="1">
                <a:solidFill>
                  <a:srgbClr val="000000"/>
                </a:solidFill>
              </a:rPr>
              <a:t>ID da sub-rede</a:t>
            </a:r>
            <a:endParaRPr lang="pt-BR" sz="1600" b="1">
              <a:solidFill>
                <a:srgbClr val="000000"/>
              </a:solidFill>
            </a:endParaRP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O campo ID de sub-rede é a área entre o Prefixo de roteamento global e o ID da interface. A ID da sub-rede é usada por uma empresa para identificar sub-redes localmente.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 b="1">
                <a:solidFill>
                  <a:srgbClr val="000000"/>
                </a:solidFill>
              </a:rPr>
              <a:t>ID da interface</a:t>
            </a:r>
            <a:endParaRPr lang="pt-BR" sz="1600" b="1">
              <a:solidFill>
                <a:srgbClr val="000000"/>
              </a:solidFill>
            </a:endParaRP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A ID da interface IPv6 equivale à parte de host de um endereço IPv4. É altamente recomendável que as sub-redes /64 sejam usadas na maioria dos casos. 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31799" y="4178011"/>
            <a:ext cx="7815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200" b="1"/>
              <a:t>Nota</a:t>
            </a:r>
            <a:r>
              <a:rPr lang="pt-BR" sz="1200"/>
              <a:t>: O IPv6 permite que os endereços de host todos os 0 e todos os 1s possam ser atribuídos a um dispositivo. O endereço all-0s é reservado como endereço anycast do Subnet-Router e deve ser atribuído apenas aos roteadores.</a:t>
            </a:r>
            <a:endParaRPr lang="pt-BR" sz="1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Tipos de endereço IPv6 </a:t>
            </a:r>
            <a:br>
              <a:rPr lang="en-US" dirty="0"/>
            </a:br>
            <a:r>
              <a:rPr lang="pt-BR" sz="2400"/>
              <a:t>IPv6 LLA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504424" y="819502"/>
            <a:ext cx="8135151" cy="2214177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Um endereço IPv6 de link-local permite que um dispositivo se comunique com outros dispositivos habilitados para IPv6 no mesmo link e somente nesse link (sub-rede).</a:t>
            </a:r>
            <a:endParaRPr lang="pt-BR" sz="1600">
              <a:solidFill>
                <a:srgbClr val="000000"/>
              </a:solidFill>
            </a:endParaRPr>
          </a:p>
          <a:p>
            <a:pPr marL="170180" indent="-17018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Pacotes com um LLA de origem ou destino não podem ser roteados.</a:t>
            </a:r>
            <a:endParaRPr lang="pt-BR" sz="1400">
              <a:solidFill>
                <a:srgbClr val="000000"/>
              </a:solidFill>
            </a:endParaRPr>
          </a:p>
          <a:p>
            <a:pPr marL="170180" indent="-17018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Toda interface de rede habilitada para IPv6 deve ter um LLA.</a:t>
            </a:r>
            <a:endParaRPr lang="pt-BR" sz="1400">
              <a:solidFill>
                <a:srgbClr val="000000"/>
              </a:solidFill>
            </a:endParaRPr>
          </a:p>
          <a:p>
            <a:pPr marL="170180" indent="-17018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Se um LLA não estiver configurado manualmente em uma interface, o dispositivo criará automaticamente um.</a:t>
            </a:r>
            <a:endParaRPr lang="pt-BR" sz="1400">
              <a:solidFill>
                <a:srgbClr val="000000"/>
              </a:solidFill>
            </a:endParaRPr>
          </a:p>
          <a:p>
            <a:pPr marL="170180" indent="-17018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400">
                <a:solidFill>
                  <a:srgbClr val="000000"/>
                </a:solidFill>
              </a:rPr>
              <a:t>Os LLAs IPv6 estão no intervalo fe80: :/10.</a:t>
            </a:r>
            <a:endParaRPr lang="pt-BR" sz="140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289" y="3121345"/>
            <a:ext cx="4838608" cy="15857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12.4 Configuração estática GUA e LLA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Configuração estática GUA e LLA Configuração</a:t>
            </a:r>
            <a:br>
              <a:rPr lang="en-US" dirty="0"/>
            </a:br>
            <a:r>
              <a:rPr lang="pt-BR" sz="2400"/>
              <a:t>Estática de GUA em um Roteador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8135151" cy="2064285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maioria dos comandos de configuração e verificação do IPv6 no Cisco IOS são semelhantes aos seus equivalentes no IPv4. Em muitos casos, a única diferença é o uso de </a:t>
            </a:r>
            <a:r>
              <a:rPr lang="pt-BR" sz="1600" b="1">
                <a:solidFill>
                  <a:srgbClr val="000000"/>
                </a:solidFill>
              </a:rPr>
              <a:t>ipv6 </a:t>
            </a:r>
            <a:r>
              <a:rPr lang="pt-BR" sz="1600">
                <a:solidFill>
                  <a:srgbClr val="000000"/>
                </a:solidFill>
              </a:rPr>
              <a:t>em vez de </a:t>
            </a:r>
            <a:r>
              <a:rPr lang="pt-BR" sz="1600" b="1">
                <a:solidFill>
                  <a:srgbClr val="000000"/>
                </a:solidFill>
              </a:rPr>
              <a:t>ip </a:t>
            </a:r>
            <a:r>
              <a:rPr lang="pt-BR" sz="1600">
                <a:solidFill>
                  <a:srgbClr val="000000"/>
                </a:solidFill>
              </a:rPr>
              <a:t>nos comandos.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comando para configurar um GUA IPv6 em uma interface é: </a:t>
            </a:r>
            <a:r>
              <a:rPr lang="pt-BR" sz="1600" b="1">
                <a:solidFill>
                  <a:srgbClr val="000000"/>
                </a:solidFill>
              </a:rPr>
              <a:t>ipv6 address</a:t>
            </a:r>
            <a:r>
              <a:rPr lang="pt-BR" sz="1600">
                <a:solidFill>
                  <a:srgbClr val="000000"/>
                </a:solidFill>
              </a:rPr>
              <a:t> </a:t>
            </a:r>
            <a:r>
              <a:rPr lang="pt-BR" sz="1600" i="1">
                <a:solidFill>
                  <a:srgbClr val="000000"/>
                </a:solidFill>
              </a:rPr>
              <a:t>ipv6-address/prefix-length. </a:t>
            </a:r>
            <a:endParaRPr lang="pt-BR" sz="1600" i="1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exemplo mostra comandos para configurar um GUA na interface G0/0/0 em R1:</a:t>
            </a:r>
            <a:endParaRPr lang="pt-BR" sz="160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798864" y="3249227"/>
            <a:ext cx="4747759" cy="70788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2001:db8:acad:1::1/64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Configuração estática da GUA e do LLA </a:t>
            </a:r>
            <a:r>
              <a:rPr lang="pt-BR" sz="1600"/>
              <a:t>Configuração estática da GUA em um host do Windows</a:t>
            </a:r>
            <a:endParaRPr lang="pt-BR" sz="16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1"/>
            <a:ext cx="3474375" cy="2256790"/>
          </a:xfrm>
        </p:spPr>
        <p:txBody>
          <a:bodyPr/>
          <a:lstStyle/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Configurar manualmente o endereço IPv6 em um host é semelhante a configurar um endereço IPv4.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GUA ou LLA da interface do roteador podem ser usados como gateway padrão. A melhor prática é usar o LLA.</a:t>
            </a:r>
            <a:endParaRPr lang="pt-BR" sz="160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31799" y="3595055"/>
            <a:ext cx="34743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>
                <a:solidFill>
                  <a:srgbClr val="000000"/>
                </a:solidFill>
              </a:rPr>
              <a:t>Nota</a:t>
            </a:r>
            <a:r>
              <a:rPr lang="pt-BR" sz="1400">
                <a:solidFill>
                  <a:srgbClr val="000000"/>
                </a:solidFill>
              </a:rPr>
              <a:t>: Quando DHCPv6 ou SLAAC é usado, o LLA do roteador será especificado automaticamente como o endereço de gateway padrão.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172" y="922607"/>
            <a:ext cx="4151513" cy="35019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Configuração estática de GUA e LLA </a:t>
            </a:r>
            <a:br>
              <a:rPr lang="en-US" dirty="0"/>
            </a:br>
            <a:r>
              <a:rPr lang="pt-BR" sz="2400"/>
              <a:t>Configuração de GUA estática de um endereço Unicast local de link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1"/>
            <a:ext cx="7753412" cy="1841314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configuração manual do LLA permite criar um endereço reconhecível e fácil de lembrar. 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LLAS podem ser configurados manualmente usando o comando </a:t>
            </a:r>
            <a:r>
              <a:rPr lang="pt-BR" sz="1600" b="1">
                <a:solidFill>
                  <a:srgbClr val="000000"/>
                </a:solidFill>
              </a:rPr>
              <a:t>ipv6 address</a:t>
            </a:r>
            <a:r>
              <a:rPr lang="pt-BR" sz="1600">
                <a:solidFill>
                  <a:srgbClr val="000000"/>
                </a:solidFill>
              </a:rPr>
              <a:t> </a:t>
            </a:r>
            <a:r>
              <a:rPr lang="pt-BR" sz="1600" i="1">
                <a:solidFill>
                  <a:srgbClr val="000000"/>
                </a:solidFill>
              </a:rPr>
              <a:t>ipv6-link-local-address</a:t>
            </a:r>
            <a:r>
              <a:rPr lang="pt-BR" sz="1600">
                <a:solidFill>
                  <a:srgbClr val="000000"/>
                </a:solidFill>
              </a:rPr>
              <a:t> </a:t>
            </a:r>
            <a:r>
              <a:rPr lang="pt-BR" sz="1600" b="1">
                <a:solidFill>
                  <a:srgbClr val="000000"/>
                </a:solidFill>
              </a:rPr>
              <a:t>link-local</a:t>
            </a:r>
            <a:r>
              <a:rPr lang="pt-BR" sz="1600">
                <a:solidFill>
                  <a:srgbClr val="000000"/>
                </a:solidFill>
              </a:rPr>
              <a:t> 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exemplo mostra comandos para configurar um LLA na interface G0/0/0 em R1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834500" y="2876365"/>
            <a:ext cx="4747759" cy="707886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 (config-if) 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endereço fe80:: 1:1 link-local</a:t>
            </a:r>
            <a:endParaRPr kumimoji="0" lang="pt-BR" sz="1000" b="1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4790" y="3838049"/>
            <a:ext cx="67559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400" b="1">
                <a:solidFill>
                  <a:srgbClr val="000000"/>
                </a:solidFill>
              </a:rPr>
              <a:t>Observação</a:t>
            </a:r>
            <a:r>
              <a:rPr lang="pt-BR" sz="1400">
                <a:solidFill>
                  <a:srgbClr val="000000"/>
                </a:solidFill>
              </a:rPr>
              <a:t>: O mesmo LLA pode ser configurado em cada link, desde que seja exclusivo nesse link. A prática comum é criar um LLA diferente em cada interface do roteador para facilitar a identificação do roteador e da interface específica. </a:t>
            </a:r>
            <a:endParaRPr lang="pt-BR" sz="140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12.5 Endereçamento dinâmico para GUAs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</a:t>
            </a:r>
            <a:r>
              <a:rPr lang="pt-BR" sz="2400"/>
              <a:t>mensagens IPv6 GUASRS e RA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731837"/>
            <a:ext cx="8135151" cy="3561030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dispositivos obtêm endereços GUA dinamicamente através de mensagens ICMPv6 (Internet Control Message Protocol versão 6).</a:t>
            </a:r>
            <a:endParaRPr lang="pt-BR" sz="1600">
              <a:solidFill>
                <a:srgbClr val="000000"/>
              </a:solidFill>
            </a:endParaRP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As mensagens de solicitação de roteador (RS) são enviadas por dispositivos host para descobrir roteadores IPv6</a:t>
            </a:r>
            <a:endParaRPr lang="pt-BR" sz="1600">
              <a:solidFill>
                <a:srgbClr val="000000"/>
              </a:solidFill>
            </a:endParaRP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As mensagens de anúncio de roteador (RA) são enviadas por roteadores para informar os hosts sobre como obter um GUA IPv6 e fornecer informações úteis de rede, como:</a:t>
            </a:r>
            <a:endParaRPr lang="pt-BR" sz="1600">
              <a:solidFill>
                <a:srgbClr val="000000"/>
              </a:solidFill>
            </a:endParaRP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Prefixo de rede e comprimento do prefixo</a:t>
            </a:r>
            <a:endParaRPr lang="pt-BR" sz="1600">
              <a:solidFill>
                <a:srgbClr val="000000"/>
              </a:solidFill>
            </a:endParaRP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Endereço de gateway padrão</a:t>
            </a:r>
            <a:endParaRPr lang="pt-BR" sz="1600">
              <a:solidFill>
                <a:srgbClr val="000000"/>
              </a:solidFill>
            </a:endParaRP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Endereços DNS e nome de domínio</a:t>
            </a:r>
            <a:endParaRPr lang="pt-BR" sz="1600">
              <a:solidFill>
                <a:srgbClr val="000000"/>
              </a:solidFill>
            </a:endParaRPr>
          </a:p>
          <a:p>
            <a:pPr lvl="1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O RA pode fornecer três métodos para configurar um GUA IPv6:</a:t>
            </a:r>
            <a:endParaRPr lang="pt-BR" sz="1600">
              <a:solidFill>
                <a:srgbClr val="000000"/>
              </a:solidFill>
            </a:endParaRP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SLAAC</a:t>
            </a:r>
            <a:endParaRPr lang="pt-BR" sz="1600">
              <a:solidFill>
                <a:srgbClr val="000000"/>
              </a:solidFill>
            </a:endParaRP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SLAAC com servidor DHCPv6 stateless</a:t>
            </a:r>
            <a:endParaRPr lang="pt-BR" sz="1600">
              <a:solidFill>
                <a:srgbClr val="000000"/>
              </a:solidFill>
            </a:endParaRPr>
          </a:p>
          <a:p>
            <a:pPr lvl="2" rtl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r>
              <a:rPr lang="pt-BR" sz="1600">
                <a:solidFill>
                  <a:srgbClr val="000000"/>
                </a:solidFill>
              </a:rPr>
              <a:t>DHCPv6 stateful (sem SLAAC)</a:t>
            </a:r>
            <a:endParaRPr lang="pt-BR" sz="1600">
              <a:solidFill>
                <a:srgbClr val="000000"/>
              </a:solidFill>
            </a:endParaRPr>
          </a:p>
          <a:p>
            <a:pPr lvl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ct val="90000"/>
            </a:pPr>
            <a:endParaRPr lang="en-US" dirty="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GUAS IPv6</a:t>
            </a:r>
            <a:br>
              <a:rPr lang="en-US" dirty="0"/>
            </a:br>
            <a:r>
              <a:rPr lang="pt-BR" sz="2400"/>
              <a:t>Método 1: SLAAC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1"/>
            <a:ext cx="8135151" cy="1654884"/>
          </a:xfrm>
        </p:spPr>
        <p:txBody>
          <a:bodyPr/>
          <a:lstStyle/>
          <a:p>
            <a:pPr marL="170180" indent="-17018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SLAAC permite que um dispositivo configure um GUA sem os serviços do DHCPv6. </a:t>
            </a:r>
            <a:endParaRPr lang="pt-BR" sz="1600">
              <a:solidFill>
                <a:srgbClr val="000000"/>
              </a:solidFill>
            </a:endParaRPr>
          </a:p>
          <a:p>
            <a:pPr marL="170180" indent="-17018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Os dispositivos obtêm as informações necessárias para configurar um GUA a partir das mensagens de RA ICMPv6 do roteador local.</a:t>
            </a:r>
            <a:endParaRPr lang="pt-BR" sz="1600">
              <a:solidFill>
                <a:srgbClr val="000000"/>
              </a:solidFill>
            </a:endParaRPr>
          </a:p>
          <a:p>
            <a:pPr marL="170180" indent="-17018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prefixo é fornecido pelo RA e o dispositivo usa o EUI-64 ou método de geração aleatória para criar um ID de interface.</a:t>
            </a:r>
            <a:endParaRPr lang="pt-BR" sz="1600">
              <a:solidFill>
                <a:srgbClr val="000000"/>
              </a:solidFill>
            </a:endParaRPr>
          </a:p>
          <a:p>
            <a:pPr marL="170180" indent="-17018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b="1" dirty="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0124" y="2849792"/>
            <a:ext cx="5061211" cy="17167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GUAs</a:t>
            </a:r>
            <a:br>
              <a:rPr lang="en-US" dirty="0"/>
            </a:br>
            <a:r>
              <a:rPr lang="pt-BR" sz="2400"/>
              <a:t>Método 2: SLAAC e DHCP sem estado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1"/>
            <a:ext cx="8135151" cy="2403472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Um RA pode instruir um dispositivo a usar o SLAAC e o DHCPv6 sem estado. 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mensagem RA sugere que os dispositivos usam o seguinte:</a:t>
            </a:r>
            <a:endParaRPr lang="pt-BR" sz="1600">
              <a:solidFill>
                <a:srgbClr val="000000"/>
              </a:solidFill>
            </a:endParaRPr>
          </a:p>
          <a:p>
            <a:pPr marL="316230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SLAAC para criar seu próprio IPv6 GUA</a:t>
            </a:r>
            <a:endParaRPr lang="pt-BR" sz="1600">
              <a:solidFill>
                <a:srgbClr val="000000"/>
              </a:solidFill>
            </a:endParaRPr>
          </a:p>
          <a:p>
            <a:pPr marL="316230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LLA do roteador, que é o endereço IPv6 de origem RA, como o endereço de gateway padrão</a:t>
            </a:r>
            <a:endParaRPr lang="pt-BR" sz="1600">
              <a:solidFill>
                <a:srgbClr val="000000"/>
              </a:solidFill>
            </a:endParaRPr>
          </a:p>
          <a:p>
            <a:pPr marL="316230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servidor DHCPv6 stateless para obter outras informações como o endereço de um servidor DNS e um nome de domínio.</a:t>
            </a:r>
            <a:endParaRPr lang="pt-BR" sz="1600">
              <a:solidFill>
                <a:srgbClr val="000000"/>
              </a:solidFill>
            </a:endParaRPr>
          </a:p>
          <a:p>
            <a:pPr marL="243205" lvl="1" indent="-17018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endParaRPr lang="en-US" sz="800" b="1" dirty="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6068" y="3438523"/>
            <a:ext cx="3613209" cy="156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GUAs IPv6</a:t>
            </a:r>
            <a:br>
              <a:rPr lang="en-US" dirty="0"/>
            </a:br>
            <a:r>
              <a:rPr lang="pt-BR" sz="2400"/>
              <a:t>Método 3: DHCPv6 com estado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23333" y="620784"/>
            <a:ext cx="8135151" cy="2630416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Um RA pode instruir um dispositivo a usar apenas DHCPv6 com estado.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 DHCPv6 stateful é semelhante ao DHCP para IPv4. Um dispositivo pode receber automaticamente um GUA, comprimento de prefixo e os endereços de servidores DNS de um servidor DHCPv6 com estado.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 mensagem RA sugere que os dispositivos usam o seguinte:</a:t>
            </a:r>
            <a:endParaRPr lang="pt-BR" sz="1600">
              <a:solidFill>
                <a:srgbClr val="000000"/>
              </a:solidFill>
            </a:endParaRPr>
          </a:p>
          <a:p>
            <a:pPr marL="316230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LLA do roteador, que é o endereço IPv6 de origem RA, como o endereço de gateway padrão</a:t>
            </a:r>
            <a:endParaRPr lang="pt-BR" sz="1600">
              <a:solidFill>
                <a:srgbClr val="000000"/>
              </a:solidFill>
            </a:endParaRPr>
          </a:p>
          <a:p>
            <a:pPr marL="316230" lvl="2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servidor DHCPv6 stateful para obter o endereço unicast global, o endereço do servidor DNS, o nome do domínio e todas as demais informações.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135" y="3404657"/>
            <a:ext cx="3613209" cy="15600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GUAS</a:t>
            </a:r>
            <a:br>
              <a:rPr lang="en-US" dirty="0"/>
            </a:br>
            <a:r>
              <a:rPr lang="pt-BR" sz="2400"/>
              <a:t>EUI-64 processo vs. gerado aleatoriamente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1035050"/>
            <a:ext cx="3465497" cy="3332764"/>
          </a:xfrm>
        </p:spPr>
        <p:txBody>
          <a:bodyPr/>
          <a:lstStyle/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Quando a mensagem de RA é SLAAC ou SLAAC com DHCPv6 stateless, o cliente deve gerar sua própria ID da interface.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ID da interface pode ser criada por meio do processo EUI-64 ou de um número de 64 bits gerado aleatoriamente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1383" y="950785"/>
            <a:ext cx="4429956" cy="34170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GUAS</a:t>
            </a:r>
            <a:br>
              <a:rPr lang="en-US" dirty="0"/>
            </a:br>
            <a:r>
              <a:rPr lang="pt-BR" sz="2400"/>
              <a:t>EUI-64 processo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2012950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 IEEE definiu o processo de identificador exclusivo estendido (EUI) ou EUI-64 modificado, que executa o seguinte: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valor de 16 bits de fffe (em hexadecimal) é inserido no meio do endereço MAC Ethernet de 48 bits do cliente.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7</a:t>
            </a:r>
            <a:r>
              <a:rPr lang="pt-BR" sz="1600" baseline="30000">
                <a:solidFill>
                  <a:srgbClr val="000000"/>
                </a:solidFill>
              </a:rPr>
              <a:t>º</a:t>
            </a:r>
            <a:r>
              <a:rPr lang="pt-BR" sz="1600">
                <a:solidFill>
                  <a:srgbClr val="000000"/>
                </a:solidFill>
              </a:rPr>
              <a:t> bit do endereço MAC do cliente é revertido do binário 0 para 1.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Exemplo: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graphicFrame>
        <p:nvGraphicFramePr>
          <p:cNvPr id="7" name="Content Placeholder 6"/>
          <p:cNvGraphicFramePr/>
          <p:nvPr/>
        </p:nvGraphicFramePr>
        <p:xfrm>
          <a:off x="798511" y="3180385"/>
          <a:ext cx="3198941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2083"/>
                <a:gridCol w="1606858"/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pt-BR" sz="1100" b="0">
                          <a:solidFill>
                            <a:srgbClr val="000000"/>
                          </a:solidFill>
                        </a:rPr>
                        <a:t>MAC de 48 bits</a:t>
                      </a:r>
                      <a:endParaRPr lang="pt-BR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 b="0">
                          <a:solidFill>
                            <a:srgbClr val="000000"/>
                          </a:solidFill>
                        </a:rPr>
                        <a:t>fc: 99:47:75:ce:e0</a:t>
                      </a:r>
                      <a:endParaRPr lang="pt-BR" sz="11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E7E9EB"/>
                    </a:solidFill>
                  </a:tcPr>
                </a:tc>
              </a:tr>
              <a:tr h="1709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ID da interface EUI-64</a:t>
                      </a:r>
                      <a:endParaRPr lang="pt-BR" sz="1100">
                        <a:solidFill>
                          <a:srgbClr val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f</a:t>
                      </a:r>
                      <a:r>
                        <a:rPr lang="pt-BR" sz="1100">
                          <a:solidFill>
                            <a:srgbClr val="FF0000"/>
                          </a:solidFill>
                        </a:rPr>
                        <a:t>e</a:t>
                      </a:r>
                      <a:r>
                        <a:rPr lang="pt-BR" sz="1100">
                          <a:solidFill>
                            <a:srgbClr val="000000"/>
                          </a:solidFill>
                        </a:rPr>
                        <a:t>: 99:47:</a:t>
                      </a:r>
                      <a:r>
                        <a:rPr lang="pt-BR" sz="1100">
                          <a:solidFill>
                            <a:srgbClr val="FF0000"/>
                          </a:solidFill>
                        </a:rPr>
                        <a:t>ff:fe:75:ce:e0</a:t>
                      </a:r>
                      <a:endParaRPr lang="pt-BR" sz="11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GUAs IPv6</a:t>
            </a:r>
            <a:r>
              <a:rPr lang="pt-BR" sz="2400"/>
              <a:t>geradosaleatoriamente IDs de interface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731837"/>
            <a:ext cx="7913688" cy="1141849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Dependendo do sistema operacional, um dispositivo pode usar uma ID da interface gerada de forma aleatória em vez de usar o endereço MAC e o processo EUI-64.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Por exemplo, do Windows Vista em diante, o Windows usa uma ID da interface gerada de forma aleatória em vez de uma criada com o EUI-64.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8293" y="5884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310422" y="2086947"/>
            <a:ext cx="5724644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C:\&gt;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ipconfig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Connection-specific DNS Suffix . :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Address. . . . . . . . . . . :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 1:50 um 5:8 a35:a5bb:66e1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Link-local IPv6 Address . . . . .: fe80: :50a 5:8 a35:a5bb:66e1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Gateway Padrão . . . . . . . . . : fe80::1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C:\ &gt;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4934" y="3623647"/>
            <a:ext cx="7913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/>
              <a:t>Observação: para garantir a exclusividade de qualquer endereço IPv6 unicast, o cliente pode usar um processo conhecido como detecção de endereço duplicado (DAD). Isso equivale a uma solicitação ARP para seu próprio endereço. Se não houver resposta, significa que o endereço é exclusivo.</a:t>
            </a:r>
            <a:endParaRPr lang="pt-BR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12.6 Endereçamento dinâmico para LLAs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LLAs</a:t>
            </a:r>
            <a:br>
              <a:rPr lang="en-US" dirty="0"/>
            </a:br>
            <a:r>
              <a:rPr lang="pt-BR" sz="2400"/>
              <a:t>dinâmicos IPv6 LLAs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Todas as interfaces IPv6 devem ter um IPv6 LLA.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Como GUAs IPv6, os LLAs podem ser configurados dinamicamente.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Figura 1 mostra que o endereço de link local é criado dinamicamente com o prefixo FE80::/10 e que a ID da interface é criada por meio do processo EUI-64 ou por um número de 64 bits gerado aleatoriamente.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588" y="2451757"/>
            <a:ext cx="6212312" cy="1776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LLAs</a:t>
            </a:r>
            <a:br>
              <a:rPr lang="en-US" dirty="0"/>
            </a:br>
            <a:r>
              <a:rPr lang="pt-BR" sz="2400"/>
              <a:t>dinâmicos IPv6 LLAs no Windows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854198"/>
            <a:ext cx="7913688" cy="570410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Sistemas operacionais, como o Windows, normalmente usarão o mesmo método para um GUA criado pelo SLAAC e um LLA atribuído dinamicamente.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8293" y="588420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709731" y="1424608"/>
            <a:ext cx="2396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200" b="1">
                <a:solidFill>
                  <a:srgbClr val="000000"/>
                </a:solidFill>
              </a:rPr>
              <a:t>ID da interface gerada com EUI-64</a:t>
            </a:r>
            <a:endParaRPr lang="pt-BR" sz="1200" b="1">
              <a:solidFill>
                <a:srgbClr val="00000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276658" y="1714714"/>
            <a:ext cx="5878531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C:\&gt; ipconfig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Connection-specific DNS Suffix . :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Address. . . . . . . . . . . : 2001:db8:acad:1: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99:47</a:t>
            </a:r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75:cee0</a:t>
            </a:r>
            <a:endParaRPr lang="pt-BR" sz="100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Link-local IPv6 Address . . . . .: fe80::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99:47</a:t>
            </a:r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75:cee0</a:t>
            </a:r>
            <a:endParaRPr lang="pt-BR" sz="100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Padrão . . . . . . . . . : fe80::1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 &gt;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3473" y="3102431"/>
            <a:ext cx="2988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rtl="0"/>
            <a:r>
              <a:rPr lang="pt-BR" sz="1200" b="1">
                <a:solidFill>
                  <a:srgbClr val="000000"/>
                </a:solidFill>
              </a:rPr>
              <a:t>ID da interface gerada aleatoriamente com 64 bits</a:t>
            </a:r>
            <a:endParaRPr lang="pt-BR" sz="1200" b="1">
              <a:solidFill>
                <a:srgbClr val="000000"/>
              </a:solidFill>
            </a:endParaRP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1276657" y="337943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C:\&gt; ipconfig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Windows IP Configuration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Adaptador Ethernet Conexão de Área Local: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Connection-specific DNS Suffix . :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IPv6 Address. . . . . . . . . . . : 2001:db8:acad:1: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50a 5:8 a35:a5bb:66e1</a:t>
            </a:r>
            <a:endParaRPr lang="pt-BR" sz="100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Link-local IPv6 Address . . . . .: fe80::</a:t>
            </a:r>
            <a:r>
              <a:rPr lang="pt-BR" sz="1000">
                <a:solidFill>
                  <a:srgbClr val="FFC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50a 5:8 a35:a5bb:66e1</a:t>
            </a:r>
            <a:endParaRPr lang="pt-BR" sz="1000">
              <a:solidFill>
                <a:srgbClr val="FFC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Gateway Padrão . . . . . . . . . : fe80::1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 &gt;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LLAs</a:t>
            </a:r>
            <a:br>
              <a:rPr lang="en-US" dirty="0"/>
            </a:br>
            <a:r>
              <a:rPr lang="pt-BR" sz="2400"/>
              <a:t>dinâmicos IPv6 LLAs em Cisco Routers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roteadores Cisco criam automaticamente um endereço IPv6 de link local sempre que um endereço unicast global é atribuído à interface. Por padrão, os roteadores Cisco IOS usam o EUI-64 para gerar a ID da interface de todos os endereços de link local em interfaces IPv6.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Aqui está um exemplo de um LLA configurado dinamicamente na interface G0/0/0 de R1: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632734" y="257175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 hardware é ISR4221-2x1GE, o endereço é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7079.b392.3640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(bia 7079.b392.3640)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(Saída omitida)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FE80::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7279:B3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92:3640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2001:DB8:ACAD:1::1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Endereçamento dinâmico para IPv6 LLAs</a:t>
            </a:r>
            <a:br>
              <a:rPr lang="en-US" dirty="0"/>
            </a:br>
            <a:r>
              <a:rPr lang="pt-BR" sz="2400"/>
              <a:t>Verificar a configuração do endereço IPv6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866138"/>
            <a:ext cx="7913688" cy="1536700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roteadores Cisco criam automaticamente um endereço IPv6 de link local sempre que um endereço unicast global é atribuído à interface. Por padrão, os roteadores Cisco IOS usam o EUI-64 para gerar a ID da interface de todos os endereços de link local em interfaces IPv6.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Aqui está um exemplo de um LLA configurado dinamicamente na interface G0/0/0 de R1: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449378" y="2571750"/>
            <a:ext cx="5878532" cy="1323439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interface gigabitEthernet 0/0/0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está ativo, protocolo de linha está ativo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 hardware é ISR4221-2x1GE, o endereço é 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7079.b392.3640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(bia 7079.b392.3640)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(Saída omitida)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[up/up]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FE80::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7279:B3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FF:FE</a:t>
            </a:r>
            <a:r>
              <a:rPr kumimoji="0" lang="pt-BR" sz="1000" b="1" i="0" u="none" strike="noStrike" cap="none" normalizeH="0" baseline="0">
                <a:ln>
                  <a:noFill/>
                </a:ln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92:3640</a:t>
            </a: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sz="10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2001:DB8:ACAD:1::1 </a:t>
            </a:r>
            <a:endParaRPr kumimoji="0" lang="pt-BR" sz="1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lang="pt-BR" sz="1600"/>
              <a:t>Módulo Prática e Quiz</a:t>
            </a:r>
            <a:br>
              <a:rPr lang="en-US" altLang="en-US" sz="1600" dirty="0"/>
            </a:br>
            <a:r>
              <a:rPr lang="pt-BR"/>
              <a:t>Packet Tracer - Configurações Endereçamento IPv6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Neste Packet Tracer, você fará o seguinte:</a:t>
            </a:r>
            <a:endParaRPr lang="pt-BR" sz="1800"/>
          </a:p>
          <a:p>
            <a:pPr rtl="0"/>
            <a:r>
              <a:rPr lang="pt-BR" sz="1800"/>
              <a:t>Configurar o Endereçamento IPv6 no Roteador</a:t>
            </a:r>
            <a:endParaRPr lang="pt-BR" sz="1800"/>
          </a:p>
          <a:p>
            <a:pPr rtl="0"/>
            <a:r>
              <a:rPr lang="pt-BR" sz="1800"/>
              <a:t>Configurar o Endereçamento IPv6 em Servidores</a:t>
            </a:r>
            <a:endParaRPr lang="pt-BR" sz="1800"/>
          </a:p>
          <a:p>
            <a:pPr rtl="0"/>
            <a:r>
              <a:rPr lang="pt-BR" sz="1800"/>
              <a:t>Configurar o Endereçamento IPv6 em Clientes</a:t>
            </a:r>
            <a:endParaRPr lang="pt-BR" sz="1800"/>
          </a:p>
          <a:p>
            <a:pPr rtl="0"/>
            <a:r>
              <a:rPr lang="pt-BR" sz="1800"/>
              <a:t>Testar e Verificar a Conectividade da Rede</a:t>
            </a:r>
            <a:endParaRPr lang="pt-BR" sz="180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12.7 Endereços de multicast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Endereços IPv6 multicast </a:t>
            </a:r>
            <a:br>
              <a:rPr lang="en-US" dirty="0"/>
            </a:br>
            <a:r>
              <a:rPr lang="pt-BR" sz="2400"/>
              <a:t>Endereços IPv6 multicast atribuídos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50"/>
            <a:ext cx="7913688" cy="1536700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Os endereços multicast IPv6 têm o prefixo ff00::/8. Há dois tipos de endereços IPv6 multicast:</a:t>
            </a:r>
            <a:endParaRPr lang="pt-BR" sz="1600">
              <a:solidFill>
                <a:srgbClr val="000000"/>
              </a:solidFill>
            </a:endParaRPr>
          </a:p>
          <a:p>
            <a:pPr marL="35877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multicast bem conhecidos.</a:t>
            </a:r>
            <a:endParaRPr lang="pt-BR" sz="1600">
              <a:solidFill>
                <a:srgbClr val="000000"/>
              </a:solidFill>
            </a:endParaRPr>
          </a:p>
          <a:p>
            <a:pPr marL="35877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Endereços de difusão seletiva solicitados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endParaRPr lang="en-US" sz="18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800" dirty="0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7473" y="2874963"/>
            <a:ext cx="83454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pt-BR" sz="1600" b="1">
                <a:solidFill>
                  <a:srgbClr val="000000"/>
                </a:solidFill>
              </a:rPr>
              <a:t>Observação</a:t>
            </a:r>
            <a:r>
              <a:rPr lang="pt-BR" sz="1600">
                <a:solidFill>
                  <a:srgbClr val="000000"/>
                </a:solidFill>
              </a:rPr>
              <a:t>: os endereços multicast só podem ser endereços destino, e não endereços origem</a:t>
            </a:r>
            <a:r>
              <a:rPr lang="pt-BR" sz="1400">
                <a:solidFill>
                  <a:srgbClr val="000000"/>
                </a:solidFill>
              </a:rPr>
              <a:t>.</a:t>
            </a:r>
            <a:endParaRPr lang="pt-BR" sz="1400">
              <a:solidFill>
                <a:srgbClr val="000000"/>
              </a:solidFill>
            </a:endParaRPr>
          </a:p>
          <a:p>
            <a:endParaRPr lang="en-US" sz="1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Endereços multicast IPv6 Endereços de</a:t>
            </a:r>
            <a:r>
              <a:rPr lang="pt-BR" sz="2400"/>
              <a:t>multicast IPv6bem conhecidos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49"/>
            <a:ext cx="7913688" cy="2329587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Endereços multicast IPv6 conhecidos são atribuídos e reservados para grupos de dispositivos predefinidos.</a:t>
            </a:r>
            <a:endParaRPr lang="pt-BR" sz="16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Estes são dois grupos multicast atribuídos ao IPv6 comuns:</a:t>
            </a:r>
            <a:endParaRPr lang="pt-BR" sz="1600">
              <a:solidFill>
                <a:srgbClr val="000000"/>
              </a:solidFill>
            </a:endParaRPr>
          </a:p>
          <a:p>
            <a:pPr marL="35877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000000"/>
                </a:solidFill>
              </a:rPr>
              <a:t>ff02 :: 1 Grupo</a:t>
            </a:r>
            <a:r>
              <a:rPr lang="pt-BR">
                <a:solidFill>
                  <a:srgbClr val="000000"/>
                </a:solidFill>
              </a:rPr>
              <a:t> multicast de todos os nós - este é um grupo multicast ao qual todos os dispositivos habilitados para IPv6 se juntam. Um pacote enviado para esse grupo é recebido e processado por todas as interfaces IPv6 no link ou rede.</a:t>
            </a:r>
            <a:r>
              <a:rPr lang="pt-BR" b="1">
                <a:solidFill>
                  <a:srgbClr val="000000"/>
                </a:solidFill>
              </a:rPr>
              <a:t> </a:t>
            </a:r>
            <a:endParaRPr lang="pt-BR" b="1">
              <a:solidFill>
                <a:srgbClr val="000000"/>
              </a:solidFill>
            </a:endParaRPr>
          </a:p>
          <a:p>
            <a:pPr marL="358775" lvl="1" indent="-285750" rtl="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r>
              <a:rPr lang="pt-BR" b="1">
                <a:solidFill>
                  <a:srgbClr val="000000"/>
                </a:solidFill>
              </a:rPr>
              <a:t>ff02 :: 1 Grupo</a:t>
            </a:r>
            <a:r>
              <a:rPr lang="pt-BR">
                <a:solidFill>
                  <a:srgbClr val="000000"/>
                </a:solidFill>
              </a:rPr>
              <a:t> multicast de todos os nós - este é um grupo multicast ao qual todos os dispositivos habilitados para IPv6 se juntam. Um roteador se torna membro desse grupo quando é ativado como roteador IPv6 com o comando de configuração </a:t>
            </a:r>
            <a:r>
              <a:rPr lang="pt-BR" b="1">
                <a:solidFill>
                  <a:srgbClr val="000000"/>
                </a:solidFill>
              </a:rPr>
              <a:t>global </a:t>
            </a:r>
            <a:r>
              <a:rPr lang="pt-BR">
                <a:solidFill>
                  <a:srgbClr val="000000"/>
                </a:solidFill>
              </a:rPr>
              <a:t>ipv6 unicast-routing</a:t>
            </a:r>
            <a:r>
              <a:rPr lang="pt-BR" b="1">
                <a:solidFill>
                  <a:srgbClr val="000000"/>
                </a:solidFill>
              </a:rPr>
              <a:t>. </a:t>
            </a:r>
            <a:endParaRPr lang="pt-BR" b="1">
              <a:solidFill>
                <a:srgbClr val="000000"/>
              </a:solidFill>
            </a:endParaRPr>
          </a:p>
          <a:p>
            <a:pPr marL="358775" lvl="1" indent="-285750">
              <a:spcAft>
                <a:spcPts val="600"/>
              </a:spcAft>
              <a:buSzPct val="90000"/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  <a:p>
            <a:pPr marL="0" indent="0" algn="l" defTabSz="68453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Endereços IPv6 multicast </a:t>
            </a:r>
            <a:br>
              <a:rPr lang="en-US" dirty="0"/>
            </a:br>
            <a:r>
              <a:rPr lang="pt-BR" sz="2400"/>
              <a:t>Endereços IPv6 multicast do nó solicitado</a:t>
            </a:r>
            <a:endParaRPr lang="pt-BR" sz="24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49"/>
            <a:ext cx="3651927" cy="3350520"/>
          </a:xfrm>
        </p:spPr>
        <p:txBody>
          <a:bodyPr/>
          <a:lstStyle/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endereço multicast solicited-node é semelhante ao endereço multicast all-nodes.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endereço multicast de nó solicitado é mapeado para um endereço multicast Ethernet especial.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A NIC Ethernet pode filtrar o quadro examinando o endereço MAC de destino sem enviá-lo ao processo IPv6 para verificar se o dispositivo é o destino pretendido do pacote IPv6.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0332" y="967665"/>
            <a:ext cx="4301867" cy="308055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519"/>
          </a:xfrm>
        </p:spPr>
        <p:txBody>
          <a:bodyPr/>
          <a:lstStyle/>
          <a:p>
            <a:pPr rtl="0"/>
            <a:br>
              <a:rPr lang="en-US" altLang="en-US" dirty="0"/>
            </a:br>
            <a:r>
              <a:rPr lang="pt-BR"/>
              <a:t>Laboratório de Prática de Módulos e Questionários — Identificar Endereços IPv6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Neste laboratório, você completa os seguintes objetivos: 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Identificar os Diferentes Tipos de Endereços IPv6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Examinar o Endereço e a Interface de Rede de um Host IPv6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Praticar a Abreviação de Endereços IPv6</a:t>
            </a:r>
            <a:endParaRPr lang="pt-BR" sz="180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12.8 Sub-rede uma rede IPv6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Divisão de uma rede IPv6 em sub-redes </a:t>
            </a:r>
            <a:r>
              <a:rPr lang="pt-BR" sz="1600"/>
              <a:t>Divisão em sub-redes usando a ID da sub-rede</a:t>
            </a:r>
            <a:endParaRPr lang="pt-BR" sz="16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49"/>
            <a:ext cx="7984230" cy="1598084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800">
                <a:solidFill>
                  <a:srgbClr val="000000"/>
                </a:solidFill>
              </a:rPr>
              <a:t>O IPv6 foi projetado com a sub-rede em mente. </a:t>
            </a:r>
            <a:endParaRPr lang="pt-BR" sz="18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Um campo de ID de sub-rede separado no GUA IPv6 é usado para criar sub-redes. 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campo ID da sub-rede é a área entre o Prefixo de Roteamento Global e o ID da interface.</a:t>
            </a:r>
            <a:endParaRPr lang="pt-BR" sz="160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125" y="2571750"/>
            <a:ext cx="6805582" cy="15067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2400"/>
              <a:t>Exemplo de sub-redeIPv6 de rede</a:t>
            </a:r>
            <a:r>
              <a:rPr lang="pt-BR" sz="1600"/>
              <a:t>IPv6</a:t>
            </a:r>
            <a:endParaRPr lang="pt-BR" sz="16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1" y="1035049"/>
            <a:ext cx="3731826" cy="2863358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Dado o prefixo de roteamento global 2001:db8:acad: :/48 com um ID de sub-rede de 16 bits.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Permite 65.536/64 sub-redes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O prefixo de roteamento global é o mesmo para todas as sub-redes.</a:t>
            </a:r>
            <a:endParaRPr lang="pt-BR" sz="1600">
              <a:solidFill>
                <a:srgbClr val="000000"/>
              </a:solidFill>
            </a:endParaRPr>
          </a:p>
          <a:p>
            <a:pPr marL="285750" indent="-28575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pt-BR" sz="1600">
                <a:solidFill>
                  <a:srgbClr val="000000"/>
                </a:solidFill>
              </a:rPr>
              <a:t>Somente</a:t>
            </a:r>
            <a:r>
              <a:rPr lang="pt-BR" sz="1400">
                <a:solidFill>
                  <a:srgbClr val="000000"/>
                </a:solidFill>
              </a:rPr>
              <a:t> o hexteto da ID da sub-rede é incrementado em hexadecimal para cada sub-rede.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9263" y="1035049"/>
            <a:ext cx="4446225" cy="3072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br>
              <a:rPr lang="en-US" dirty="0"/>
            </a:br>
            <a:r>
              <a:rPr lang="pt-BR" sz="2400"/>
              <a:t>Divisão de uma rede IPv6 em sub-redes </a:t>
            </a:r>
            <a:r>
              <a:rPr lang="pt-BR" sz="1600"/>
              <a:t>Alocação de sub-rede IPv6</a:t>
            </a:r>
            <a:endParaRPr lang="pt-BR" sz="16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986659"/>
            <a:ext cx="7380549" cy="1392523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400">
                <a:solidFill>
                  <a:srgbClr val="000000"/>
                </a:solidFill>
              </a:rPr>
              <a:t>A topologia de exemplo requer cinco sub-redes, uma para cada LAN e também para o link serial entre R1 e R2.</a:t>
            </a:r>
            <a:endParaRPr lang="pt-BR" sz="1400">
              <a:solidFill>
                <a:srgbClr val="000000"/>
              </a:solidFill>
            </a:endParaRPr>
          </a:p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400">
                <a:solidFill>
                  <a:srgbClr val="000000"/>
                </a:solidFill>
              </a:rPr>
              <a:t>As cinco sub-redes IPv6 foram alocadas, com o campo ID de sub-rede 0001 a 0005. Cada sub-rede /64 fornecerá mais endereços que o necessário.</a:t>
            </a:r>
            <a:endParaRPr lang="pt-BR" sz="1400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298" y="2295062"/>
            <a:ext cx="3127775" cy="20998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507" y="2427572"/>
            <a:ext cx="3392842" cy="19673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pPr rtl="0"/>
            <a:r>
              <a:rPr lang="pt-BR" sz="1600"/>
              <a:t>Sub-rede um</a:t>
            </a:r>
            <a:br>
              <a:rPr lang="en-US" dirty="0"/>
            </a:br>
            <a:r>
              <a:rPr lang="pt-BR" sz="2400"/>
              <a:t>roteador de rede IPv6 configurado com sub-redes</a:t>
            </a:r>
            <a:r>
              <a:rPr lang="pt-BR" sz="1600"/>
              <a:t>IPv6</a:t>
            </a:r>
            <a:endParaRPr lang="pt-BR" sz="1600"/>
          </a:p>
        </p:txBody>
      </p:sp>
      <p:sp>
        <p:nvSpPr>
          <p:cNvPr id="6" name="Content Placeholder 3"/>
          <p:cNvSpPr>
            <a:spLocks noGrp="1"/>
          </p:cNvSpPr>
          <p:nvPr>
            <p:ph idx="1"/>
          </p:nvPr>
        </p:nvSpPr>
        <p:spPr>
          <a:xfrm>
            <a:off x="431800" y="986660"/>
            <a:ext cx="7380549" cy="731838"/>
          </a:xfrm>
        </p:spPr>
        <p:txBody>
          <a:bodyPr/>
          <a:lstStyle/>
          <a:p>
            <a:pPr marL="0" indent="0" algn="l" defTabSz="684530" rtl="0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pt-BR" sz="1600">
                <a:solidFill>
                  <a:srgbClr val="000000"/>
                </a:solidFill>
              </a:rPr>
              <a:t>O exemplo mostra que cada uma das interfaces do roteador no R1 foi configurada para estar em uma sub-rede IPv6 diferente.</a:t>
            </a:r>
            <a:endParaRPr lang="pt-BR" sz="1600">
              <a:solidFill>
                <a:srgbClr val="000000"/>
              </a:solidFill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523265" y="1871767"/>
            <a:ext cx="5398141" cy="1785104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gigabitEthernet 0/0/0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ipv6 address 2001:db8:acad:1::1/64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exit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gigabitEthernet 0/0/1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(config-if) # ipv6 endereço 2001:db8:acad:2: :1/64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exit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interface serial0/1/0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 (config-if) # ipv6 address 2001:db8:acad:3::1/64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defTabSz="914400" rtl="0" eaLnBrk="0" hangingPunct="0"/>
            <a:r>
              <a:rPr lang="pt-BR" sz="10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no shutdown</a:t>
            </a:r>
            <a:endParaRPr lang="pt-BR" sz="100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pPr rtl="0"/>
            <a:r>
              <a:rPr lang="pt-BR">
                <a:solidFill>
                  <a:schemeClr val="accent5">
                    <a:lumMod val="40000"/>
                    <a:lumOff val="60000"/>
                  </a:schemeClr>
                </a:solidFill>
              </a:rPr>
              <a:t>2.9 - Módulo Prática e Quiz</a:t>
            </a:r>
            <a:endParaRPr lang="pt-BR">
              <a:solidFill>
                <a:schemeClr val="accent5">
                  <a:lumMod val="40000"/>
                  <a:lumOff val="60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3862"/>
            <a:ext cx="9144000" cy="592921"/>
          </a:xfrm>
        </p:spPr>
        <p:txBody>
          <a:bodyPr/>
          <a:lstStyle/>
          <a:p>
            <a:pPr rtl="0"/>
            <a:r>
              <a:rPr lang="pt-BR" sz="1600"/>
              <a:t>Prática do módulo e rastreador do QuizPacket - </a:t>
            </a:r>
            <a:br>
              <a:rPr lang="en-US" altLang="en-US" sz="1600" dirty="0"/>
            </a:br>
            <a:r>
              <a:rPr lang="pt-BR"/>
              <a:t>implemente um esquema de endereçamento de sub-rede IPv6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79882" y="1034322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Neste Packet Tracer, você fará o seguinte:</a:t>
            </a:r>
            <a:endParaRPr lang="pt-BR" sz="1800"/>
          </a:p>
          <a:p>
            <a:pPr rtl="0"/>
            <a:r>
              <a:rPr lang="pt-BR" sz="1800"/>
              <a:t>Determinar sub-redes IPv6 e esquema de endereçamento</a:t>
            </a:r>
            <a:endParaRPr lang="pt-BR" sz="1800"/>
          </a:p>
          <a:p>
            <a:pPr rtl="0"/>
            <a:r>
              <a:rPr lang="pt-BR" sz="1800"/>
              <a:t>Configurar o endereçamento IPv6 em roteadores e PCs.</a:t>
            </a:r>
            <a:endParaRPr lang="pt-BR" sz="1800"/>
          </a:p>
          <a:p>
            <a:pPr rtl="0"/>
            <a:r>
              <a:rPr lang="pt-BR" sz="1800"/>
              <a:t>Verificar a conectividade</a:t>
            </a:r>
            <a:endParaRPr lang="pt-BR" sz="1800"/>
          </a:p>
          <a:p>
            <a:pPr marL="0" indent="0">
              <a:buNone/>
            </a:pPr>
            <a:endParaRPr lang="en-US" dirty="0"/>
          </a:p>
          <a:p>
            <a:endParaRPr lang="en-US" altLang="ja-JP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810519"/>
          </a:xfrm>
        </p:spPr>
        <p:txBody>
          <a:bodyPr/>
          <a:lstStyle/>
          <a:p>
            <a:pPr rtl="0"/>
            <a:r>
              <a:rPr lang="pt-BR" sz="1600"/>
              <a:t>Módulo Prático e Quiz</a:t>
            </a:r>
            <a:br>
              <a:rPr lang="en-US" altLang="en-US" dirty="0"/>
            </a:br>
            <a:r>
              <a:rPr lang="pt-BR"/>
              <a:t>Packet Tracer - Configurar Endereços IPv6 em Dispositivos de Rede - Modo Físico</a:t>
            </a:r>
            <a:br>
              <a:rPr lang="en-US" altLang="en-US" dirty="0"/>
            </a:br>
            <a:r>
              <a:rPr lang="pt-BR"/>
              <a:t>Laboratório – Configurar Enderços IPv6 em Dispositivos de Rede</a:t>
            </a: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idx="1"/>
          </p:nvPr>
        </p:nvSpPr>
        <p:spPr>
          <a:xfrm>
            <a:off x="169942" y="1292740"/>
            <a:ext cx="8649325" cy="3522688"/>
          </a:xfrm>
        </p:spPr>
        <p:txBody>
          <a:bodyPr/>
          <a:lstStyle/>
          <a:p>
            <a:pPr marL="0" indent="0" rtl="0">
              <a:buNone/>
            </a:pPr>
            <a:r>
              <a:rPr lang="pt-BR" sz="1800"/>
              <a:t>Nesta atividade do Packet Tracer, você atingirá os seguintes objetivos: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a topologia de rede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os hosts PC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e verificar configurações básicas do switch</a:t>
            </a:r>
            <a:endParaRPr lang="pt-BR" sz="1800"/>
          </a:p>
          <a:p>
            <a:pPr marL="0" indent="0" rtl="0">
              <a:buNone/>
            </a:pPr>
            <a:r>
              <a:rPr lang="pt-BR" sz="1800"/>
              <a:t>Neste laboratório, você completa os seguintes objetivos: 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Configure a topologia e defina as configurações básicas do roteador e do switch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Configurar endereços IPv6 manualmente</a:t>
            </a:r>
            <a:endParaRPr lang="pt-BR" sz="1800"/>
          </a:p>
          <a:p>
            <a:pPr rtl="0">
              <a:buFont typeface="Arial" panose="020B0604020202020204" pitchFamily="34" charset="0"/>
              <a:buChar char="•"/>
            </a:pPr>
            <a:r>
              <a:rPr lang="pt-BR" sz="1800"/>
              <a:t>Verificar a conectividade fim-a-fim</a:t>
            </a:r>
            <a:endParaRPr lang="pt-BR" sz="1800"/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Módulo Prática e Quiz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O que aprendi neste módulo?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5357" y="739677"/>
            <a:ext cx="8853286" cy="4155319"/>
          </a:xfrm>
        </p:spPr>
        <p:txBody>
          <a:bodyPr/>
          <a:lstStyle/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 IPv4 tem um máximo teórico de 4,3 bilhões de endereços.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A IETF criou vários protocolos e ferramentas para ajudar os administradores de rede a migrarem as redes para IPv6. As técnicas de migração podem ser divididas em três categorias: pilha dupla, encapsulamento e tradução.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Os endereços IPv6 têm 128 bits e são escritos como uma sequência de valores hexadecimais.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Como mostrado na Figura 1, o formato preferencial para escrever um endereço IPv6 é x: x: x: x: x: x: x: x, com cada “x” consistindo de quatro valores hexadecimais. 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Há três tipos de endereços IPv6: unicast, multicast e anycast.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Um endereço IPv6 unicast identifica exclusivamente uma interface em um dispositivo habilitado para IPv6. 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 endereço IPv6 unicast global (GUA) é globalmente exclusivo e roteável na Internet IPv6. 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Um endereço IPv6 de link-local permite que um dispositivo se comunique com outros dispositivos habilitados para IPv6 no mesmo link e somente nesse link (sub-rede).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O comando para configurar um GUA IPv6 em uma interface é </a:t>
            </a:r>
            <a:r>
              <a:rPr lang="pt-BR" sz="1550" b="1"/>
              <a:t>ipv6 address</a:t>
            </a:r>
            <a:r>
              <a:rPr lang="pt-BR" sz="1550"/>
              <a:t> </a:t>
            </a:r>
            <a:r>
              <a:rPr lang="pt-BR" sz="1550" i="1"/>
              <a:t>ipv6-address/prefix-length</a:t>
            </a:r>
            <a:r>
              <a:rPr lang="pt-BR" sz="1550"/>
              <a:t> . </a:t>
            </a:r>
            <a:endParaRPr lang="pt-BR" sz="1550"/>
          </a:p>
          <a:p>
            <a:pPr marL="11557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1550"/>
              <a:t>Um dispositivo obtém um GUA dinamicamente através de mensagens ICMPv6. Os roteadores IPv6 enviam mensagens ICMPv6 de RA a cada 200 segundos para todos os dispositivos habilitados para IPv6 na rede.</a:t>
            </a:r>
            <a:endParaRPr lang="pt-BR" sz="155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6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0"/>
            <a:r>
              <a:rPr lang="pt-BR" sz="1400">
                <a:latin typeface="Arial" panose="020B0604020202020204" pitchFamily="34" charset="0"/>
              </a:rPr>
              <a:t>Módulo Prática e Quiz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O que aprendi neste módulo? (Cont.)</a:t>
            </a:r>
            <a:endParaRPr lang="pt-BR">
              <a:latin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45357" y="722744"/>
            <a:ext cx="8853286" cy="4155319"/>
          </a:xfrm>
        </p:spPr>
        <p:txBody>
          <a:bodyPr/>
          <a:lstStyle/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As mensagens de RA têm três métodos: SLAAC, SLAAC com um servidor DHCPv6 sem estado e DHCPv6 com estado (sem SLAAC). 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A ID da interface pode ser criada por meio do processo EUI-64 ou de um número de 64 bits gerado aleatoriamente 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Esse processo usa o endereço MAC Ethernet de 48 bits de um cliente e insere outros 16 bits no meio do endereço MAC de 48 bits para criar uma ID da interface de 64 bits.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Depending upon the operating system, a device may use a randomly generated interface ID.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Todos os dispositivos IPv6 devem ter um IPv6 LLA. Um LLA pode ser configurado manualmente ou criado dinamicamente. 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Os roteadores Cisco criam automaticamente um endereço IPv6 de link local sempre que um endereço unicast global é atribuído à interface. 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Existem dois tipos de endereços multicast IPv6: endereços multicast conhecidos e endereços multicast de nós solicitados. 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Dois grupos de multicast atribuídos ao CommonIPv6 são: ff02: :1 Grupo de multicast de todos os nós e ff02: :2 Grupo de multicast de todos os roteadores.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Um endereço multicast solicited-node é semelhante ao endereço multicast all-nodes. A vantagem do endereço multicast solicited-node é que ele é mapeado para um endereço multicast Ethernet especial.</a:t>
            </a:r>
            <a:endParaRPr lang="pt-BR"/>
          </a:p>
          <a:p>
            <a:pPr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/>
              <a:t>O IPv6 foi projetado com a sub-rede em mente. Um campo de ID de sub-rede separado no GUA IPv6 é usado para criar sub-redes.</a:t>
            </a:r>
            <a:endParaRPr lang="pt-BR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 marL="0"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</p:txBody>
      </p:sp>
    </p:spTree>
    <p:custDataLst>
      <p:tags r:id="rId1"/>
    </p:custDataLst>
  </p:cSld>
  <p:clrMapOvr>
    <a:masterClrMapping/>
  </p:clrMapOvr>
  <p:transition spd="slow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rtl="0" eaLnBrk="1" hangingPunct="1"/>
            <a:r>
              <a:rPr lang="pt-BR" sz="1400">
                <a:latin typeface="Arial" panose="020B0604020202020204" pitchFamily="34" charset="0"/>
              </a:rPr>
              <a:t>Módulo 12: Conceitos de WLAN </a:t>
            </a:r>
            <a:br>
              <a:rPr lang="en-US" dirty="0">
                <a:latin typeface="Arial" panose="020B0604020202020204" pitchFamily="34" charset="0"/>
              </a:rPr>
            </a:br>
            <a:r>
              <a:rPr lang="pt-BR">
                <a:latin typeface="Arial" panose="020B0604020202020204" pitchFamily="34" charset="0"/>
              </a:rPr>
              <a:t>Novos Termos e Comandos</a:t>
            </a:r>
            <a:endParaRPr lang="pt-BR">
              <a:latin typeface="Arial" panose="020B0604020202020204" pitchFamily="34" charset="0"/>
            </a:endParaRPr>
          </a:p>
        </p:txBody>
      </p:sp>
      <p:graphicFrame>
        <p:nvGraphicFramePr>
          <p:cNvPr id="9" name="Table 9"/>
          <p:cNvGraphicFramePr>
            <a:graphicFrameLocks noGrp="1"/>
          </p:cNvGraphicFramePr>
          <p:nvPr>
            <p:ph idx="1"/>
          </p:nvPr>
        </p:nvGraphicFramePr>
        <p:xfrm>
          <a:off x="99152" y="798513"/>
          <a:ext cx="3425283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425283"/>
              </a:tblGrid>
              <a:tr h="370840">
                <a:tc>
                  <a:txBody>
                    <a:bodyPr/>
                    <a:lstStyle/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Hextet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Link-local address (LLA)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ipv6 address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SLAAC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Router advertisement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Router solicitation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EUI-64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 rtl="0">
                        <a:buFont typeface="Arial" panose="020B0604020202020204" pitchFamily="34" charset="0"/>
                        <a:buChar char="•"/>
                      </a:pPr>
                      <a:r>
                        <a:rPr lang="pt-BR" sz="1600" b="0">
                          <a:solidFill>
                            <a:srgbClr val="000000"/>
                          </a:solidFill>
                        </a:rPr>
                        <a:t>Multicast solicited-node</a:t>
                      </a:r>
                      <a:endParaRPr lang="pt-BR" sz="1600" b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ARTICULATE_SLIDE_THUMBNAIL_REFRESH" val="1"/>
</p:tagLst>
</file>

<file path=ppt/tags/tag8.xml><?xml version="1.0" encoding="utf-8"?>
<p:tagLst xmlns:p="http://schemas.openxmlformats.org/presentationml/2006/main">
  <p:tag name="ARTICULATE_SLIDE_THUMBNAIL_REFRESH" val="1"/>
</p:tagLst>
</file>

<file path=ppt/tags/tag9.xml><?xml version="1.0" encoding="utf-8"?>
<p:tagLst xmlns:p="http://schemas.openxmlformats.org/presentationml/2006/main">
  <p:tag name="ARTICULATE_SLIDE_THUMBNAIL_REFRESH" val="1"/>
</p:tagLst>
</file>

<file path=ppt/tags/tag10.xml><?xml version="1.0" encoding="utf-8"?>
<p:tagLst xmlns:p="http://schemas.openxmlformats.org/presentationml/2006/main">
  <p:tag name="ARTICULATE_SLIDE_THUMBNAIL_REFRESH" val="1"/>
</p:tagLst>
</file>

<file path=ppt/tags/tag11.xml><?xml version="1.0" encoding="utf-8"?>
<p:tagLst xmlns:p="http://schemas.openxmlformats.org/presentationml/2006/main">
  <p:tag name="ARTICULATE_SLIDE_THUMBNAIL_REFRESH" val="1"/>
</p:tagLst>
</file>

<file path=ppt/tags/tag12.xml><?xml version="1.0" encoding="utf-8"?>
<p:tagLst xmlns:p="http://schemas.openxmlformats.org/presentationml/2006/main">
  <p:tag name="ARTICULATE_SLIDE_THUMBNAIL_REFRESH" val="1"/>
</p:tagLst>
</file>

<file path=ppt/tags/tag13.xml><?xml version="1.0" encoding="utf-8"?>
<p:tagLst xmlns:p="http://schemas.openxmlformats.org/presentationml/2006/main">
  <p:tag name="ARTICULATE_SLIDE_THUMBNAIL_REFRESH" val="1"/>
</p:tagLst>
</file>

<file path=ppt/tags/tag14.xml><?xml version="1.0" encoding="utf-8"?>
<p:tagLst xmlns:p="http://schemas.openxmlformats.org/presentationml/2006/main">
  <p:tag name="ARTICULATE_SLIDE_THUMBNAIL_REFRESH" val="1"/>
</p:tagLst>
</file>

<file path=ppt/tags/tag15.xml><?xml version="1.0" encoding="utf-8"?>
<p:tagLst xmlns:p="http://schemas.openxmlformats.org/presentationml/2006/main">
  <p:tag name="ARTICULATE_SLIDE_THUMBNAIL_REFRESH" val="1"/>
</p:tagLst>
</file>

<file path=ppt/tags/tag16.xml><?xml version="1.0" encoding="utf-8"?>
<p:tagLst xmlns:p="http://schemas.openxmlformats.org/presentationml/2006/main">
  <p:tag name="ARTICULATE_SLIDE_THUMBNAIL_REFRESH" val="1"/>
</p:tagLst>
</file>

<file path=ppt/tags/tag17.xml><?xml version="1.0" encoding="utf-8"?>
<p:tagLst xmlns:p="http://schemas.openxmlformats.org/presentationml/2006/main">
  <p:tag name="ARTICULATE_SLIDE_THUMBNAIL_REFRESH" val="1"/>
</p:tagLst>
</file>

<file path=ppt/tags/tag18.xml><?xml version="1.0" encoding="utf-8"?>
<p:tagLst xmlns:p="http://schemas.openxmlformats.org/presentationml/2006/main">
  <p:tag name="ARTICULATE_SLIDE_THUMBNAIL_REFRESH" val="1"/>
</p:tagLst>
</file>

<file path=ppt/tags/tag19.xml><?xml version="1.0" encoding="utf-8"?>
<p:tagLst xmlns:p="http://schemas.openxmlformats.org/presentationml/2006/main">
  <p:tag name="ARTICULATE_SLIDE_THUMBNAIL_REFRESH" val="1"/>
</p:tagLst>
</file>

<file path=ppt/tags/tag20.xml><?xml version="1.0" encoding="utf-8"?>
<p:tagLst xmlns:p="http://schemas.openxmlformats.org/presentationml/2006/main">
  <p:tag name="ARTICULATE_SLIDE_COUNT" val="65"/>
  <p:tag name="ARTICULATE_PROJECT_OPEN" val="0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23287</Words>
  <Application>WPS Presentation</Application>
  <PresentationFormat>On-screen Show (16:9)</PresentationFormat>
  <Paragraphs>511</Paragraphs>
  <Slides>52</Slides>
  <Notes>63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72" baseType="lpstr">
      <vt:lpstr>Arial</vt:lpstr>
      <vt:lpstr>SimSun</vt:lpstr>
      <vt:lpstr>Wingdings</vt:lpstr>
      <vt:lpstr>MS PGothic</vt:lpstr>
      <vt:lpstr>Droid Sans Fallback</vt:lpstr>
      <vt:lpstr>CiscoSans Thin</vt:lpstr>
      <vt:lpstr>Gubbi</vt:lpstr>
      <vt:lpstr>MS PGothic</vt:lpstr>
      <vt:lpstr>CiscoSans</vt:lpstr>
      <vt:lpstr>CiscoSans</vt:lpstr>
      <vt:lpstr>CiscoSans ExtraLight</vt:lpstr>
      <vt:lpstr>Arial</vt:lpstr>
      <vt:lpstr>CiscoSans ExtraLight</vt:lpstr>
      <vt:lpstr>OpenSymbol</vt:lpstr>
      <vt:lpstr>Microsoft YaHei</vt:lpstr>
      <vt:lpstr>Arial Unicode MS</vt:lpstr>
      <vt:lpstr>Calibri</vt:lpstr>
      <vt:lpstr>Trebuchet MS</vt:lpstr>
      <vt:lpstr>Courier New</vt:lpstr>
      <vt:lpstr>Default Theme</vt:lpstr>
      <vt:lpstr>Módulo 12: Endereçamento IPv6</vt:lpstr>
      <vt:lpstr>Módulo 12: endereçamento IPv6</vt:lpstr>
      <vt:lpstr>12.1 Problemas IPv4</vt:lpstr>
      <vt:lpstr>Problemas IPv4 Necessidade de IPv6</vt:lpstr>
      <vt:lpstr>Problemas do IPv4  A coexistência do IPv4 e do IPv6</vt:lpstr>
      <vt:lpstr>Representação do Endereço IPv6</vt:lpstr>
      <vt:lpstr>Representação deendereço IPv6 Formatos deendereçamentoIPv6  </vt:lpstr>
      <vt:lpstr> Regra 1 de representação de endereço IPv6 — Omitir zero à esquerda</vt:lpstr>
      <vt:lpstr> Regra 2 de Representação de Endereço IPv6 — Dois-pontos duplos</vt:lpstr>
      <vt:lpstr>12.3 Tipos de endereço IPv6</vt:lpstr>
      <vt:lpstr>Tipo de Endereçamento IPv6  unicast, multicast, anycast</vt:lpstr>
      <vt:lpstr> Tipos de endereços IPv6 Comprimento do prefixo IPv6</vt:lpstr>
      <vt:lpstr> Tipos de endereços IPv6 Endereços IPv6 unicast</vt:lpstr>
      <vt:lpstr>Tipos de endereço IPv6 Uma observação sobre o endereço local exclusivo</vt:lpstr>
      <vt:lpstr>Tipos deendereço  IPv6 GUAIPv6 </vt:lpstr>
      <vt:lpstr>Tipos de endereço IPv6Estrutura GUAIPv6</vt:lpstr>
      <vt:lpstr>Tipos de endereço IPv6  IPv6 LLA</vt:lpstr>
      <vt:lpstr>12.4 Configuração estática GUA e LLA</vt:lpstr>
      <vt:lpstr>Configuração estática GUA e LLA Configuração Estática de GUA em um Roteador</vt:lpstr>
      <vt:lpstr> Configuração estática da GUA e do LLA Configuração estática da GUA em um host do Windows</vt:lpstr>
      <vt:lpstr>Configuração estática de GUA e LLA  Configuração de GUA estática de um endereço Unicast local de link</vt:lpstr>
      <vt:lpstr>12.5 Endereçamento dinâmico para GUAs IPv6</vt:lpstr>
      <vt:lpstr>Endereçamento dinâmico paramensagens IPv6 GUASRS e RA</vt:lpstr>
      <vt:lpstr>Endereçamento dinâmico para GUAS IPv6 Método 1: SLAAC</vt:lpstr>
      <vt:lpstr>Endereçamento dinâmico para IPv6 GUAs Método 2: SLAAC e DHCP sem estado</vt:lpstr>
      <vt:lpstr>Endereçamento dinâmico para GUAs IPv6 Método 3: DHCPv6 com estado</vt:lpstr>
      <vt:lpstr>Endereçamento dinâmico para IPv6 GUAS EUI-64 processo vs. gerado aleatoriamente</vt:lpstr>
      <vt:lpstr>Endereçamento dinâmico para IPv6 GUAS EUI-64 processo</vt:lpstr>
      <vt:lpstr>Endereçamento dinâmico para GUAs IPv6geradosaleatoriamente IDs de interface</vt:lpstr>
      <vt:lpstr>12.6 Endereçamento dinâmico para LLAs IPv6</vt:lpstr>
      <vt:lpstr>Endereçamento dinâmico para LLAs dinâmicos IPv6 LLAs</vt:lpstr>
      <vt:lpstr>Endereçamento dinâmico para LLAs dinâmicos IPv6 LLAs no Windows</vt:lpstr>
      <vt:lpstr>Endereçamento dinâmico para LLAs dinâmicos IPv6 LLAs em Cisco Routers</vt:lpstr>
      <vt:lpstr>Endereçamento dinâmico para IPv6 LLAs Verificar a configuração do endereço IPv6</vt:lpstr>
      <vt:lpstr>Módulo Prática e Quiz Packet Tracer - Configurações Endereçamento IPv6</vt:lpstr>
      <vt:lpstr>12.7 Endereços de multicast IPv6</vt:lpstr>
      <vt:lpstr>Endereços IPv6 multicast  Endereços IPv6 multicast atribuídos</vt:lpstr>
      <vt:lpstr>Endereços multicast IPv6 Endereços demulticast IPv6bem conhecidos</vt:lpstr>
      <vt:lpstr>Endereços IPv6 multicast  Endereços IPv6 multicast do nó solicitado</vt:lpstr>
      <vt:lpstr> Laboratório de Prática de Módulos e Questionários — Identificar Endereços IPv6</vt:lpstr>
      <vt:lpstr>12.8 Sub-rede uma rede IPv6</vt:lpstr>
      <vt:lpstr> Divisão de uma rede IPv6 em sub-redes Divisão em sub-redes usando a ID da sub-rede</vt:lpstr>
      <vt:lpstr>Exemplo de sub-redeIPv6 de redeIPv6</vt:lpstr>
      <vt:lpstr> Divisão de uma rede IPv6 em sub-redes Alocação de sub-rede IPv6</vt:lpstr>
      <vt:lpstr>Sub-rede um roteador de rede IPv6 configurado com sub-redesIPv6</vt:lpstr>
      <vt:lpstr>2.9 - Módulo Prática e Quiz</vt:lpstr>
      <vt:lpstr>Prática do módulo e rastreador do QuizPacket -  implemente um esquema de endereçamento de sub-rede IPv6</vt:lpstr>
      <vt:lpstr>Módulo Prático e Quiz Packet Tracer - Configurar Endereços IPv6 em Dispositivos de Rede - Modo Físico Laboratório – Configurar Enderços IPv6 em Dispositivos de Rede</vt:lpstr>
      <vt:lpstr>Módulo Prática e Quiz O que aprendi neste módulo?</vt:lpstr>
      <vt:lpstr>Módulo Prática e Quiz O que aprendi neste módulo? (Cont.)</vt:lpstr>
      <vt:lpstr>Módulo 12: Conceitos de WLAN  Novos Termos e Comandos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vaamonde</cp:lastModifiedBy>
  <cp:revision>397</cp:revision>
  <dcterms:created xsi:type="dcterms:W3CDTF">2026-04-05T04:09:01Z</dcterms:created>
  <dcterms:modified xsi:type="dcterms:W3CDTF">2026-04-05T04:09:01Z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  <property fmtid="{D5CDD505-2E9C-101B-9397-08002B2CF9AE}" pid="10" name="ICV">
    <vt:lpwstr/>
  </property>
  <property fmtid="{D5CDD505-2E9C-101B-9397-08002B2CF9AE}" pid="11" name="KSOProductBuildVer">
    <vt:lpwstr>1046-11.1.0.11723</vt:lpwstr>
  </property>
</Properties>
</file>