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876" r:id="rId5"/>
    <p:sldId id="759" r:id="rId6"/>
    <p:sldId id="1054" r:id="rId7"/>
    <p:sldId id="1091" r:id="rId8"/>
    <p:sldId id="1103" r:id="rId9"/>
    <p:sldId id="1056" r:id="rId10"/>
    <p:sldId id="1058" r:id="rId11"/>
    <p:sldId id="1092" r:id="rId12"/>
    <p:sldId id="1093" r:id="rId13"/>
    <p:sldId id="1094" r:id="rId14"/>
    <p:sldId id="1061" r:id="rId15"/>
    <p:sldId id="1095" r:id="rId16"/>
    <p:sldId id="1096" r:id="rId17"/>
    <p:sldId id="1097" r:id="rId18"/>
    <p:sldId id="1098" r:id="rId19"/>
    <p:sldId id="1099" r:id="rId20"/>
    <p:sldId id="1063" r:id="rId21"/>
    <p:sldId id="1064" r:id="rId22"/>
    <p:sldId id="1100" r:id="rId23"/>
    <p:sldId id="1104" r:id="rId24"/>
    <p:sldId id="1105" r:id="rId25"/>
    <p:sldId id="957" r:id="rId26"/>
    <p:sldId id="958" r:id="rId27"/>
    <p:sldId id="1102" r:id="rId28"/>
    <p:sldId id="1106" r:id="rId29"/>
    <p:sldId id="1107" r:id="rId30"/>
    <p:sldId id="1101" r:id="rId31"/>
    <p:sldId id="1089" r:id="rId32"/>
    <p:sldId id="874" r:id="rId33"/>
    <p:sldId id="291" r:id="rId34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0340" autoAdjust="0"/>
  </p:normalViewPr>
  <p:slideViewPr>
    <p:cSldViewPr snapToGrid="0" showGuides="1">
      <p:cViewPr varScale="1">
        <p:scale>
          <a:sx n="63" d="100"/>
          <a:sy n="63" d="100"/>
        </p:scale>
        <p:origin x="1380" y="5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3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  <a:endParaRPr lang="pt-BR" b="0"/>
          </a:p>
          <a:p>
            <a:pPr rtl="0"/>
            <a:r>
              <a:rPr lang="pt-BR"/>
              <a:t>Módulo 10: Configuração básica do roteador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10.1 Definir configurações iniciais do roteador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10.1 - Definir configurações iniciais do roteador</a:t>
            </a:r>
            <a:endParaRPr lang="pt-BR"/>
          </a:p>
          <a:p>
            <a:pPr rtl="0"/>
            <a:r>
              <a:rPr lang="pt-BR"/>
              <a:t>10.1.1 - Etapas básicas da configuração de roteamento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10.1 - Definir configurações iniciais do roteador</a:t>
            </a:r>
            <a:endParaRPr lang="pt-BR"/>
          </a:p>
          <a:p>
            <a:pPr rtl="0"/>
            <a:r>
              <a:rPr lang="pt-BR"/>
              <a:t>10.1.2 — Exemplo de Configuração de Roteamento Básico</a:t>
            </a:r>
            <a:endParaRPr lang="pt-BR"/>
          </a:p>
          <a:p>
            <a:pPr rtl="0"/>
            <a:r>
              <a:rPr lang="pt-BR"/>
              <a:t>10.1.3 - Verificador de Sintaxe — Configurar Definições Iniciais do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10.1 - Definir configurações iniciais do roteador</a:t>
            </a:r>
            <a:endParaRPr lang="pt-BR"/>
          </a:p>
          <a:p>
            <a:pPr rtl="0"/>
            <a:r>
              <a:rPr lang="pt-BR"/>
              <a:t>10.1.4 – Packet Tracer – Definição das configurações iniciais do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Configurar interfaces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10.2.1 Configurar interfaces do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10.2.2 — Exemplo de Configuração de Interfaces de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10.2.2 — Exemplo de Configuração de Interfaces de Roteador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10.2.3 – Verificar a configuração da Interface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 (Cont.)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10.2 — Configurar interfaces</a:t>
            </a:r>
            <a:endParaRPr lang="pt-BR"/>
          </a:p>
          <a:p>
            <a:pPr rtl="0"/>
            <a:r>
              <a:rPr lang="pt-BR"/>
              <a:t>10.2.4 — Comandos de Verificação de Configuração (Cont.)</a:t>
            </a:r>
            <a:endParaRPr lang="pt-BR"/>
          </a:p>
          <a:p>
            <a:pPr rtl="0"/>
            <a:r>
              <a:rPr lang="pt-BR"/>
              <a:t>10.2.5 Verificador de Sintaxe — Configurar Interfaces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10.3 Configurar o Gateway Padrão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10.3 – Configurar o gateway padrão</a:t>
            </a:r>
            <a:endParaRPr lang="pt-BR"/>
          </a:p>
          <a:p>
            <a:pPr rtl="0"/>
            <a:r>
              <a:rPr lang="pt-BR"/>
              <a:t>10.3.1 - Gateway padrão em um host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10.3 – Configurar o gateway padrão</a:t>
            </a:r>
            <a:endParaRPr lang="pt-BR"/>
          </a:p>
          <a:p>
            <a:pPr rtl="0"/>
            <a:r>
              <a:rPr lang="pt-BR"/>
              <a:t>10.3.2 - Gateway padrão em um switch</a:t>
            </a:r>
            <a:endParaRPr lang="pt-BR"/>
          </a:p>
          <a:p>
            <a:pPr rtl="0"/>
            <a:r>
              <a:rPr lang="pt-BR"/>
              <a:t>10.3.3 — Verificador de Sintaxe — Configurar o Gateway Padrão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10.3 - Configurar o gateway padrão</a:t>
            </a:r>
            <a:endParaRPr lang="pt-BR"/>
          </a:p>
          <a:p>
            <a:pPr rtl="0"/>
            <a:r>
              <a:rPr lang="pt-BR"/>
              <a:t>10.3.4 – Packet Tracer – Conectar um roteador a uma LAN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10.3 - Configurar o gateway padrão</a:t>
            </a:r>
            <a:endParaRPr lang="pt-BR"/>
          </a:p>
          <a:p>
            <a:pPr rtl="0"/>
            <a:r>
              <a:rPr lang="pt-BR"/>
              <a:t>10.3.5 - Packet Tracer - Solucionar problemas de gateway padrão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Módulo Prática e Quiz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Módulo Prática e Quiz</a:t>
            </a:r>
            <a:endParaRPr lang="pt-BR"/>
          </a:p>
          <a:p>
            <a:pPr rtl="0"/>
            <a:r>
              <a:rPr lang="pt-BR"/>
              <a:t>10.4.1 — Vídeo — Diferenças de Dispositivos de Rede: Parte 1</a:t>
            </a:r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Módulo Prática e Quiz</a:t>
            </a:r>
            <a:endParaRPr lang="pt-BR"/>
          </a:p>
          <a:p>
            <a:pPr rtl="0"/>
            <a:r>
              <a:rPr lang="pt-BR"/>
              <a:t>10.4.2 — Vídeo — Diferenças de Dispositivos de Rede: Parte 2</a:t>
            </a:r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Configurar o gateway padrão</a:t>
            </a:r>
            <a:endParaRPr lang="pt-BR"/>
          </a:p>
          <a:p>
            <a:pPr rtl="0"/>
            <a:r>
              <a:rPr lang="pt-BR"/>
              <a:t>10.4.3 — Tracer de Pacotes — Configuração Básica do Dispositivo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Configurar o gateway padrão</a:t>
            </a:r>
            <a:endParaRPr lang="pt-BR"/>
          </a:p>
          <a:p>
            <a:pPr rtl="0"/>
            <a:r>
              <a:rPr lang="pt-BR"/>
              <a:t>10.4.4 – PTPM e Laboratório – Construa uma rede de switches e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Módulo Prática e Quiz</a:t>
            </a:r>
            <a:endParaRPr lang="pt-BR"/>
          </a:p>
          <a:p>
            <a:pPr rtl="0"/>
            <a:r>
              <a:rPr lang="pt-BR"/>
              <a:t>10.4.5 - O que eu aprendi neste módulo?</a:t>
            </a:r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  <a:endParaRPr lang="pt-BR"/>
          </a:p>
          <a:p>
            <a:pPr rtl="0"/>
            <a:r>
              <a:rPr lang="pt-BR"/>
              <a:t>10.4 - Módulo Prática e Quiz</a:t>
            </a:r>
            <a:endParaRPr lang="pt-BR"/>
          </a:p>
          <a:p>
            <a:pPr rtl="0"/>
            <a:r>
              <a:rPr lang="pt-BR"/>
              <a:t>10.4.5 - O que aprendi neste módulo (cont.)?</a:t>
            </a:r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76473" y="4741653"/>
            <a:ext cx="2849053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10: Configuração básica do roteador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  <a:endParaRPr lang="pt-BR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10: Configuração básica do roteador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10.1 Definir configurações iniciais do roteador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ajustes iniciais </a:t>
            </a:r>
            <a:br>
              <a:rPr lang="en-US" dirty="0"/>
            </a:br>
            <a:r>
              <a:rPr lang="pt-BR" sz="2400"/>
              <a:t>Etapas de configuração básica do roteador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o nome do dispositivo.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modo EXEC privilegiado.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modo EXEC usuário.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acesso remoto Telnet/SSH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Criptografe todas as senhas em texto simples.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Forneça notificação legal e salve a configuração.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  <a:endParaRPr lang="pt-BR" sz="1200" i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endParaRPr lang="pt-BR" sz="1200" i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endParaRPr lang="pt-BR" sz="1200" i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endParaRPr lang="pt-BR" sz="1200" i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pt-BR" sz="1200" b="1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  <a:endParaRPr lang="pt-BR" sz="1200" b="1" i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Definir configurações iniciais do roteador </a:t>
            </a:r>
            <a:br>
              <a:rPr lang="en-US" dirty="0"/>
            </a:br>
            <a:r>
              <a:rPr lang="pt-BR" sz="2400"/>
              <a:t>Exemplo de configuração básica do roteador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Comandos para configuração básica do roteador no R1.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A configuração é salva na NVRAM.</a:t>
            </a:r>
            <a:endParaRPr lang="pt-BR" sz="150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Digite a mensagem TEXT. Termine com uma nova linha e o #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*************************************************** 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AVISO: O acesso não autorizado é proibido!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  <a:endParaRPr lang="pt-BR" sz="12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  <a:endParaRPr lang="pt-BR" sz="12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- Definir configurações iniciais do roteador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Verifique a configuração padrão do roteador.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e verifique a configuração inicial do roteador.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Salve o arquivo de configuração em execução.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Configurar interfaces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de interfaces</a:t>
            </a:r>
            <a:br>
              <a:rPr lang="en-US" dirty="0"/>
            </a:br>
            <a:r>
              <a:rPr lang="pt-BR" sz="2400"/>
              <a:t>Configurar interfaces de roteador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A configuração de uma interface de roteador inclui a emissão dos seguintes comandos: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 </a:t>
            </a:r>
            <a:r>
              <a:rPr kumimoji="0" lang="pt-BR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3"/>
          <p:cNvSpPr txBox="1"/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lang="en-US" sz="2000" b="0" i="0" kern="1200" baseline="0">
                <a:solidFill>
                  <a:schemeClr val="bg1"/>
                </a:solidFill>
                <a:latin typeface="+mn-lt"/>
                <a:ea typeface="MS PGothic" charset="0"/>
                <a:cs typeface="CiscoSans ExtraLight"/>
              </a:defRPr>
            </a:lvl1pPr>
            <a:lvl2pPr marL="358775" indent="-215900" algn="l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É uma boa prática usar o comando </a:t>
            </a:r>
            <a:r>
              <a:rPr lang="pt-BR" b="1">
                <a:solidFill>
                  <a:srgbClr val="000000"/>
                </a:solidFill>
              </a:rPr>
              <a:t>description</a:t>
            </a:r>
            <a:r>
              <a:rPr lang="pt-BR">
                <a:solidFill>
                  <a:srgbClr val="000000"/>
                </a:solidFill>
              </a:rPr>
              <a:t> para adicionar informações sobre a rede conectada à interface.</a:t>
            </a:r>
            <a:endParaRPr lang="pt-BR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comando </a:t>
            </a:r>
            <a:r>
              <a:rPr lang="pt-BR" b="1">
                <a:solidFill>
                  <a:srgbClr val="000000"/>
                </a:solidFill>
              </a:rPr>
              <a:t>no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lang="pt-BR" b="1">
                <a:solidFill>
                  <a:srgbClr val="000000"/>
                </a:solidFill>
              </a:rPr>
              <a:t>shutdown</a:t>
            </a:r>
            <a:r>
              <a:rPr lang="pt-BR">
                <a:solidFill>
                  <a:srgbClr val="000000"/>
                </a:solidFill>
              </a:rPr>
              <a:t> ativa a interface.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Exemplo de configuração de interfaces de roteador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G0/0/0 em R1 são mostrados aqui: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01:43:53.435: %LINK-3-UPDOWN: Interface GigabitEthernet0/0/0, changed state to down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01:43:56.447: %LINK-3-UPDOWN: Interface GigabitEthernet0/0/0, changed state to up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01:43:57.447: %LINEPROTO-5-UPDOWN: Line protocol on Interface GigabitEthernet0/0/0, changed state to up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 </a:t>
            </a:r>
            <a:br>
              <a:rPr lang="en-US" dirty="0"/>
            </a:br>
            <a:r>
              <a:rPr lang="pt-BR" sz="2400"/>
              <a:t>Exemplo de configuração de interfaces de roteador (cont)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G0/0/1 em R1 são mostrados aqui: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01:46:29.170: %LINK-3-UPDOWN: Interface GigabitEthernet0/0/1, changed state to down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01:46:32.171: %LINK-3-UPDOWN: Interface GigabitEthernet0/0/1, changed state to up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01:46:33.171: %LINEPROTO-5-UPDOWN: Line protocol on Interface GigabitEthernet0/0/1, changed state to up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 </a:t>
            </a:r>
            <a:br>
              <a:rPr lang="en-US" dirty="0"/>
            </a:br>
            <a:r>
              <a:rPr lang="pt-BR" sz="2400"/>
              <a:t>Verificar a configuração da interface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Para verificar a configuração da interface, use os comandos </a:t>
            </a:r>
            <a:r>
              <a:rPr lang="pt-BR" b="1">
                <a:solidFill>
                  <a:srgbClr val="000000"/>
                </a:solidFill>
              </a:rPr>
              <a:t>show ip interface brief </a:t>
            </a:r>
            <a:r>
              <a:rPr lang="pt-BR">
                <a:solidFill>
                  <a:srgbClr val="000000"/>
                </a:solidFill>
              </a:rPr>
              <a:t>e </a:t>
            </a:r>
            <a:r>
              <a:rPr lang="pt-BR" b="1">
                <a:solidFill>
                  <a:srgbClr val="000000"/>
                </a:solidFill>
              </a:rPr>
              <a:t>show ipv6 interface brief </a:t>
            </a:r>
            <a:r>
              <a:rPr lang="pt-BR">
                <a:solidFill>
                  <a:srgbClr val="000000"/>
                </a:solidFill>
              </a:rPr>
              <a:t>mostrados aqui: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rgbClr val="000000"/>
                </a:solidFill>
              </a:rPr>
              <a:t>A tabela resume os comandos show usados para verificar a configuração da interface</a:t>
            </a:r>
            <a:r>
              <a:rPr lang="pt-BR" sz="1600">
                <a:solidFill>
                  <a:srgbClr val="000000"/>
                </a:solidFill>
              </a:rPr>
              <a:t>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/>
                <a:gridCol w="4837493"/>
              </a:tblGrid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Comandos</a:t>
                      </a:r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Descrição</a:t>
                      </a:r>
                      <a:endParaRPr lang="pt-BR" sz="1400"/>
                    </a:p>
                  </a:txBody>
                  <a:tcPr/>
                </a:tc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todas as interfaces, seus endereços IP e seu status atual. </a:t>
                      </a:r>
                      <a:endParaRPr lang="pt-BR" sz="1400"/>
                    </a:p>
                  </a:txBody>
                  <a:tcPr/>
                </a:tc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o conteúdo das tabelas de roteamento IP armazenadas na RAM.</a:t>
                      </a:r>
                      <a:endParaRPr lang="pt-BR" sz="1400"/>
                    </a:p>
                  </a:txBody>
                  <a:tcPr/>
                </a:tc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estatísticas para todas as interfaces no dispositivo. Exibe somente as informações de endereçamento IPv4.</a:t>
                      </a:r>
                      <a:endParaRPr lang="pt-BR" sz="1400"/>
                    </a:p>
                  </a:txBody>
                  <a:tcPr/>
                </a:tc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as estatísticas do IPv4 para todas as interfaces em um roteador.</a:t>
                      </a:r>
                      <a:endParaRPr lang="pt-BR" sz="1400"/>
                    </a:p>
                  </a:txBody>
                  <a:tcPr/>
                </a:tc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  <a:endParaRPr lang="pt-BR" sz="14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as estatísticas do IPv6 para todas as interfaces em um roteador.</a:t>
                      </a:r>
                      <a:endParaRPr lang="pt-BR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Veja o status de todas as interfaces com os comandos </a:t>
            </a:r>
            <a:r>
              <a:rPr lang="pt-BR" sz="1600" b="1">
                <a:solidFill>
                  <a:srgbClr val="000000"/>
                </a:solidFill>
              </a:rPr>
              <a:t>show ip interface brief </a:t>
            </a:r>
            <a:r>
              <a:rPr lang="pt-BR" sz="1600">
                <a:solidFill>
                  <a:srgbClr val="000000"/>
                </a:solidFill>
              </a:rPr>
              <a:t>e </a:t>
            </a:r>
            <a:r>
              <a:rPr lang="pt-BR" sz="1600" b="1">
                <a:solidFill>
                  <a:srgbClr val="000000"/>
                </a:solidFill>
              </a:rPr>
              <a:t>show ipv6 interface brief </a:t>
            </a:r>
            <a:r>
              <a:rPr lang="pt-BR" sz="1600">
                <a:solidFill>
                  <a:srgbClr val="000000"/>
                </a:solidFill>
              </a:rPr>
              <a:t>, mostrados aqui: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o conteúdo das tabelas de roteamento IP com os comandos </a:t>
            </a:r>
            <a:r>
              <a:rPr lang="pt-BR" sz="1600" b="1">
                <a:solidFill>
                  <a:srgbClr val="000000"/>
                </a:solidFill>
              </a:rPr>
              <a:t>show ip route </a:t>
            </a:r>
            <a:r>
              <a:rPr lang="pt-BR" sz="1600">
                <a:solidFill>
                  <a:srgbClr val="000000"/>
                </a:solidFill>
              </a:rPr>
              <a:t>e </a:t>
            </a:r>
            <a:r>
              <a:rPr lang="pt-BR" sz="1600" b="1">
                <a:solidFill>
                  <a:srgbClr val="000000"/>
                </a:solidFill>
              </a:rPr>
              <a:t>show ipv6 route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set.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192.168.10.0/24 is directly connected, GigabitEthernet0/0/0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192.168.10.1/32 is directly connected, GigabitEthernet0/0/0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209.165.200.224/30 está conectado diretamente, GigabitEthernet0 / 0/1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209.165.200.225/32 está conectado diretamente, GigabitEthernet0 / 0/1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2001:DB8:ACAD:10::/64 [0/0]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2001:DB8:ACAD:10::1/128 [0/0]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2001:DB8:FEED:224::/64 [0/0]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2001:DB8:FEED:224: :1/128 [0/0]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receba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FF00::/8 [0/0]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Exibe estatísticas para todas as interfaces com o comando </a:t>
            </a:r>
            <a:r>
              <a:rPr lang="pt-BR" sz="1600" b="1">
                <a:solidFill>
                  <a:srgbClr val="000000"/>
                </a:solidFill>
              </a:rPr>
              <a:t>show interfaces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  <a:endParaRPr lang="pt-BR" sz="9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hardware é ISR4321-2x1ge, o endereço é a0e0.af0d.e140 (bia a0e0.af0d.e140)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 Mbps, o tipo de link é automático, o tipo de mídia é RJ45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controle de fluxo de saída está desativado, o controle de fluxo de entrada está desativado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Fila de entrada: 0/375/0/0 (tamanho/máx/quedas/descargas); Quedas na produção total: 0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9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estatísticas IPv4 para interfaces de roteador com o comando </a:t>
            </a:r>
            <a:r>
              <a:rPr lang="pt-BR" sz="1600" b="1">
                <a:solidFill>
                  <a:srgbClr val="000000"/>
                </a:solidFill>
              </a:rPr>
              <a:t>show ip interface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  <a:endParaRPr lang="pt-BR" sz="10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lista de acesso de entrada não está definida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proxy ARP está ativado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ARP de Proxy Local está desativado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nível de segurança é padrão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Dividir horizonte está ativado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Os redirecionamentos ICMP são sempre enviados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ICMP inacessível é sempre enviado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respostas da máscara ICMP nunca são enviadas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rápida de IP está habilitada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de fluxo de IP está desativada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  <a:endParaRPr lang="pt-BR" sz="24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estatísticas IPv6 para interfaces de roteador com o comando </a:t>
            </a:r>
            <a:r>
              <a:rPr lang="pt-BR" sz="1600" b="1">
                <a:solidFill>
                  <a:srgbClr val="000000"/>
                </a:solidFill>
              </a:rPr>
              <a:t>show ipv6 interface </a:t>
            </a:r>
            <a:r>
              <a:rPr lang="pt-BR" sz="1600">
                <a:solidFill>
                  <a:srgbClr val="000000"/>
                </a:solidFill>
              </a:rPr>
              <a:t>mostrado aqui: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  <a:endParaRPr lang="pt-BR" sz="1000" b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Configurar o Gateway Padrão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o gateway padrão</a:t>
            </a:r>
            <a:br>
              <a:rPr lang="en-US" dirty="0"/>
            </a:br>
            <a:r>
              <a:rPr lang="pt-BR" sz="2400"/>
              <a:t>Gateway padrão em um host</a:t>
            </a:r>
            <a:endParaRPr lang="pt-BR" sz="2400"/>
          </a:p>
        </p:txBody>
      </p:sp>
      <p:sp>
        <p:nvSpPr>
          <p:cNvPr id="10" name="TextBox 9"/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gateway padrão é usado quando um host envia um pacote para um dispositivo em outra rede.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endereço do gateway padrão geralmente é o endereço da interface do roteador associado à rede local do host.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alcançar o PC3, o PC1 aborda um pacote com o endereço IPv4 do PC3, mas encaminha o pacote para seu gateway padrão, a interface G0/0/0 de R1.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>
                <a:solidFill>
                  <a:srgbClr val="000000"/>
                </a:solidFill>
              </a:rPr>
              <a:t>Nota</a:t>
            </a:r>
            <a:r>
              <a:rPr lang="pt-BR" sz="1600">
                <a:solidFill>
                  <a:srgbClr val="000000"/>
                </a:solidFill>
              </a:rPr>
              <a:t>: O endereço IP do host e a interface do roteador devem estar na mesma rede.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o gateway padrão</a:t>
            </a:r>
            <a:br>
              <a:rPr lang="en-US" dirty="0"/>
            </a:br>
            <a:r>
              <a:rPr lang="pt-BR" sz="2400"/>
              <a:t>Gateway padrão em um switch</a:t>
            </a:r>
            <a:endParaRPr lang="pt-BR" sz="2400"/>
          </a:p>
        </p:txBody>
      </p:sp>
      <p:sp>
        <p:nvSpPr>
          <p:cNvPr id="10" name="TextBox 9"/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Um switch deve ter um endereço de gateway padrão configurado para gerenciar remotamente o switch de outra rede.</a:t>
            </a:r>
            <a:endParaRPr lang="pt-BR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Para configurar um gateway padrão IPv4 em um switch, use o comando de configuração global </a:t>
            </a:r>
            <a:r>
              <a:rPr lang="pt-BR" b="1">
                <a:solidFill>
                  <a:srgbClr val="000000"/>
                </a:solidFill>
              </a:rPr>
              <a:t>ip default-gateway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lang="pt-BR" i="1">
                <a:solidFill>
                  <a:srgbClr val="000000"/>
                </a:solidFill>
              </a:rPr>
              <a:t>ip-address </a:t>
            </a:r>
            <a:r>
              <a:rPr lang="pt-BR">
                <a:solidFill>
                  <a:srgbClr val="000000"/>
                </a:solidFill>
              </a:rPr>
              <a:t>.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29878" y="731837"/>
            <a:ext cx="4402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>
                <a:solidFill>
                  <a:srgbClr val="C00000"/>
                </a:solidFill>
              </a:rPr>
              <a:t>A MÍDIA ESTÁ TRABALHANDO EM UMA VERSÃO CORRIGIDA DO GRÁFICO DE 10.3.2.</a:t>
            </a:r>
            <a:endParaRPr lang="pt-BR">
              <a:solidFill>
                <a:srgbClr val="C00000"/>
              </a:solidFill>
            </a:endParaRPr>
          </a:p>
          <a:p>
            <a:pPr algn="ctr" rtl="0"/>
            <a:r>
              <a:rPr lang="pt-BR">
                <a:solidFill>
                  <a:srgbClr val="C00000"/>
                </a:solidFill>
              </a:rPr>
              <a:t>ESTÁ ERRADO NO AR, E NA LISTA GLOBAL DE ERROS</a:t>
            </a:r>
            <a:endParaRPr lang="pt-BR">
              <a:solidFill>
                <a:srgbClr val="C00000"/>
              </a:solidFill>
            </a:endParaRPr>
          </a:p>
        </p:txBody>
      </p:sp>
      <p:sp>
        <p:nvSpPr>
          <p:cNvPr id="4" name="Octagon 3"/>
          <p:cNvSpPr/>
          <p:nvPr/>
        </p:nvSpPr>
        <p:spPr>
          <a:xfrm>
            <a:off x="5116546" y="2355952"/>
            <a:ext cx="1828800" cy="1830983"/>
          </a:xfrm>
          <a:prstGeom prst="octagon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sz="3200"/>
              <a:t>STOP</a:t>
            </a:r>
            <a:endParaRPr lang="pt-BR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 </a:t>
            </a:r>
            <a:br>
              <a:rPr lang="en-US" dirty="0"/>
            </a:br>
            <a:r>
              <a:rPr lang="pt-BR" sz="2400"/>
              <a:t>Packet Tracer – Conecte um roteador a uma LAN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Exibe as informações do roteador.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interfaces do roteador. 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Verifique a configuração.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– Solucionar problemas de gateway padrão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Verificar a documentação de rede e usar testes para isolar problemas.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Determinar uma solução apropriada para um problema específico.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Implementar a solução.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Testar para verificar se o problema foi resolvido.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Documentar a solução.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10.4 - 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Prática do Módulo e Quiz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Vídeo - Diferenças de Dispositivos de Rede: Parte 1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Este vídeo abordará as diferentes características físicas do seguinte: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4000 Series.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2900 Series.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1900 Series.</a:t>
            </a:r>
            <a:endParaRPr lang="pt-BR" sz="180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Prática do Módulo e Quiz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Vídeo - Diferenças de Dispositivos de Rede: Parte 2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Este vídeo abordará as diferentes configurações do seguinte: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4000 Series.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2900 Series.</a:t>
            </a:r>
            <a:endParaRPr lang="pt-BR" sz="1800"/>
          </a:p>
          <a:p>
            <a:pPr marL="261620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1900 Series.</a:t>
            </a:r>
            <a:endParaRPr lang="pt-BR" sz="180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– Configuração básica do dispositivo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Complete a documentação da rede.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Executar as configurações básicas de dispositivo em um roteador e em um switch.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Verificar a conectividade e solucionar problemas.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5242" y="1654450"/>
            <a:ext cx="7815004" cy="2478331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a topologia e inicialize os dispositivos.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dispositivos e verifique a conectividade.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Exibir informações do dispositivo.</a:t>
            </a:r>
            <a:endParaRPr lang="pt-BR" sz="180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lang="pt-BR" sz="1600"/>
              <a:t>Configure configurações iniciais do roteador</a:t>
            </a:r>
            <a:br>
              <a:rPr lang="en-US" dirty="0"/>
            </a:br>
            <a:r>
              <a:rPr lang="pt-BR" sz="2400"/>
              <a:t>Packet Tracer – Construa uma rede de switches e roteador – Laboratório </a:t>
            </a:r>
            <a:br>
              <a:rPr lang="en-US" sz="2400" dirty="0"/>
            </a:br>
            <a:r>
              <a:rPr lang="pt-BR" sz="2400"/>
              <a:t>Modo Físico – Construa uma rede de switch e roteador</a:t>
            </a:r>
            <a:endParaRPr lang="pt-BR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As tarefas que devem ser concluídas ao definir as configurações iniciais em um roteador.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Configurar o nome do dispositivo.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modo EXEC privilegiado.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modo EXEC usuário.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acesso remoto Telnet/SSH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todas as senhas do arquivo de configuração.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Apresentar a notificação legal.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Salvar a configuração.</a:t>
            </a:r>
            <a:endParaRPr lang="pt-BR" sz="160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Para que os roteadores estejam acessíveis, as interfaces do roteador devem estar configuradas.</a:t>
            </a:r>
            <a:endParaRPr lang="pt-BR" sz="16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O uso do comando </a:t>
            </a:r>
            <a:r>
              <a:rPr lang="pt-BR" sz="1600" b="1"/>
              <a:t>no shutdown</a:t>
            </a:r>
            <a:r>
              <a:rPr lang="pt-BR" sz="1600"/>
              <a:t> ativa a interface. A interface também deve ser conectada a outro dispositivo, como switch ou roteador, para que a camada física esteja ativa. </a:t>
            </a:r>
            <a:r>
              <a:rPr lang="pt-BR" sz="1600" b="1"/>
              <a:t>Existem vários comandos que podem ser usados para verificar a configuração da interface, incluindo o show ip interface brief e show ipv6 interface brief , o show ip route e show ipv6 route , bem como show interfaces , show ip interface</a:t>
            </a:r>
            <a:r>
              <a:rPr lang="pt-BR" sz="1600"/>
              <a:t> e </a:t>
            </a:r>
            <a:r>
              <a:rPr lang="pt-BR" sz="1600" b="1"/>
              <a:t>show ipv6 interface. </a:t>
            </a:r>
            <a:endParaRPr lang="pt-BR" sz="1600" b="1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eu aprendi neste módulo (Cont.)?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Para que um dispositivo final alcance outras redes, um gateway padrão deve ser configurado.</a:t>
            </a:r>
            <a:endParaRPr lang="pt-BR" sz="18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O endereço IP do dispositivo host e o endereço da interface do roteador devem estar na mesma rede.</a:t>
            </a:r>
            <a:endParaRPr lang="pt-BR" sz="180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Um switch deve ter um endereço de gateway padrão configurado para gerenciar remotamente o switch de outra rede.</a:t>
            </a:r>
            <a:endParaRPr lang="pt-BR" sz="1800"/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Para configurar um gateway padrão IPv4 em um switch, use o comando de configuração global </a:t>
            </a:r>
            <a:r>
              <a:rPr lang="pt-BR" sz="1800" b="1"/>
              <a:t>ip default-gateway</a:t>
            </a:r>
            <a:r>
              <a:rPr lang="pt-BR" sz="1800"/>
              <a:t> </a:t>
            </a:r>
            <a:r>
              <a:rPr lang="pt-BR" sz="1800" i="1"/>
              <a:t>ip-address</a:t>
            </a:r>
            <a:r>
              <a:rPr lang="pt-BR" sz="1800"/>
              <a:t>.</a:t>
            </a:r>
            <a:endParaRPr lang="pt-BR" sz="1800"/>
          </a:p>
          <a:p>
            <a:endParaRPr lang="en-US" sz="1200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panose="020B0604020202020204" pitchFamily="34" charset="0"/>
              </a:rPr>
              <a:t>Módulo 10: Configuração básica do roteador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Novos Termos e Comandos</a:t>
            </a:r>
            <a:endParaRPr lang="pt-BR">
              <a:latin typeface="Arial" panose="020B0604020202020204" pitchFamily="34" charset="0"/>
            </a:endParaRPr>
          </a:p>
        </p:txBody>
      </p:sp>
      <p:graphicFrame>
        <p:nvGraphicFramePr>
          <p:cNvPr id="6" name="Table 9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/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interface brief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route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route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interfaces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interface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interface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ip default-gateway</a:t>
                      </a:r>
                      <a:endParaRPr lang="pt-BR" b="1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14209</Words>
  <Application>WPS Presentation</Application>
  <PresentationFormat>On-screen Show (16:9)</PresentationFormat>
  <Paragraphs>407</Paragraphs>
  <Slides>31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Courier New</vt:lpstr>
      <vt:lpstr>Abyssinica SIL</vt:lpstr>
      <vt:lpstr>Default Theme</vt:lpstr>
      <vt:lpstr>Módulo 10: Configuração básica do roteador</vt:lpstr>
      <vt:lpstr>Módulo 10: Configuração básica do roteador</vt:lpstr>
      <vt:lpstr>10.1 Definir configurações iniciais do roteador</vt:lpstr>
      <vt:lpstr>Configurar ajustes iniciais  Etapas de configuração básica do roteador</vt:lpstr>
      <vt:lpstr>Definir configurações iniciais do roteador  Exemplo de configuração básica do roteador</vt:lpstr>
      <vt:lpstr>Configurações iniciais do roteador Packet Tracer - Definir configurações iniciais do roteador</vt:lpstr>
      <vt:lpstr>10.2 Configurar interfaces</vt:lpstr>
      <vt:lpstr>Configuração de interfaces Configurar interfaces de roteador</vt:lpstr>
      <vt:lpstr>Configurar interfaces Exemplo de configuração de interfaces de roteador</vt:lpstr>
      <vt:lpstr>Configurar interfaces  Exemplo de configuração de interfaces de roteador (cont)</vt:lpstr>
      <vt:lpstr>Configurar interfaces  Verificar a configuração da interface</vt:lpstr>
      <vt:lpstr>Configurar interfaces Configurar comandos de verificação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10.3 Configurar o Gateway Padrão</vt:lpstr>
      <vt:lpstr>Configurar o gateway padrão Gateway padrão em um host</vt:lpstr>
      <vt:lpstr>Configurar o gateway padrão Gateway padrão em um switch</vt:lpstr>
      <vt:lpstr>Configurações iniciais do roteador  Packet Tracer – Conecte um roteador a uma LAN</vt:lpstr>
      <vt:lpstr>Configurações iniciais do roteador Packet Tracer – Solucionar problemas de gateway padrão</vt:lpstr>
      <vt:lpstr>10.4 - Módulo Prática e Quiz</vt:lpstr>
      <vt:lpstr>Prática do Módulo e Quiz  Vídeo - Diferenças de Dispositivos de Rede: Parte 1</vt:lpstr>
      <vt:lpstr>Prática do Módulo e Quiz  Vídeo - Diferenças de Dispositivos de Rede: Parte 2</vt:lpstr>
      <vt:lpstr>Configurações iniciais do roteador Packet Tracer – Configuração básica do dispositivo</vt:lpstr>
      <vt:lpstr>Configure configurações iniciais do roteador Packet Tracer – Construa uma rede de switches e roteador – Laboratório  Modo Físico – Construa uma rede de switch e roteador</vt:lpstr>
      <vt:lpstr>Módulo Prática e Quiz O que aprendi neste módulo?</vt:lpstr>
      <vt:lpstr>Módulo Prática e Quiz O que eu aprendi neste módulo (Cont.)?</vt:lpstr>
      <vt:lpstr>Módulo 10: Configuração básica do roteador  Novos Termos e Comandos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229</cp:revision>
  <dcterms:created xsi:type="dcterms:W3CDTF">2026-04-05T04:06:13Z</dcterms:created>
  <dcterms:modified xsi:type="dcterms:W3CDTF">2026-04-05T04:06:13Z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