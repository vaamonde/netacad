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513" r:id="rId3"/>
    <p:sldId id="876" r:id="rId5"/>
    <p:sldId id="759" r:id="rId6"/>
    <p:sldId id="1054" r:id="rId7"/>
    <p:sldId id="1098" r:id="rId8"/>
    <p:sldId id="1099" r:id="rId9"/>
    <p:sldId id="1100" r:id="rId10"/>
    <p:sldId id="1101" r:id="rId11"/>
    <p:sldId id="1102" r:id="rId12"/>
    <p:sldId id="1056" r:id="rId13"/>
    <p:sldId id="1103" r:id="rId14"/>
    <p:sldId id="1104" r:id="rId15"/>
    <p:sldId id="1106" r:id="rId16"/>
    <p:sldId id="1111" r:id="rId17"/>
    <p:sldId id="1118" r:id="rId18"/>
    <p:sldId id="1125" r:id="rId19"/>
    <p:sldId id="1126" r:id="rId20"/>
    <p:sldId id="1127" r:id="rId21"/>
    <p:sldId id="1128" r:id="rId22"/>
    <p:sldId id="1112" r:id="rId23"/>
    <p:sldId id="1119" r:id="rId24"/>
    <p:sldId id="1129" r:id="rId25"/>
    <p:sldId id="1130" r:id="rId26"/>
    <p:sldId id="1113" r:id="rId27"/>
    <p:sldId id="1120" r:id="rId28"/>
    <p:sldId id="1150" r:id="rId29"/>
    <p:sldId id="1131" r:id="rId30"/>
    <p:sldId id="1132" r:id="rId31"/>
    <p:sldId id="1133" r:id="rId32"/>
    <p:sldId id="1135" r:id="rId33"/>
    <p:sldId id="1114" r:id="rId34"/>
    <p:sldId id="1121" r:id="rId35"/>
    <p:sldId id="1137" r:id="rId36"/>
    <p:sldId id="1138" r:id="rId37"/>
    <p:sldId id="1139" r:id="rId38"/>
    <p:sldId id="1140" r:id="rId39"/>
    <p:sldId id="1115" r:id="rId40"/>
    <p:sldId id="1122" r:id="rId41"/>
    <p:sldId id="1141" r:id="rId42"/>
    <p:sldId id="1142" r:id="rId43"/>
    <p:sldId id="1143" r:id="rId44"/>
    <p:sldId id="1116" r:id="rId45"/>
    <p:sldId id="1123" r:id="rId46"/>
    <p:sldId id="1144" r:id="rId47"/>
    <p:sldId id="1145" r:id="rId48"/>
    <p:sldId id="1154" r:id="rId49"/>
    <p:sldId id="1146" r:id="rId50"/>
    <p:sldId id="1147" r:id="rId51"/>
    <p:sldId id="1117" r:id="rId52"/>
    <p:sldId id="1124" r:id="rId53"/>
    <p:sldId id="1148" r:id="rId54"/>
    <p:sldId id="1149" r:id="rId55"/>
    <p:sldId id="957" r:id="rId56"/>
    <p:sldId id="1155" r:id="rId57"/>
    <p:sldId id="1107" r:id="rId58"/>
    <p:sldId id="958" r:id="rId59"/>
    <p:sldId id="1157" r:id="rId60"/>
    <p:sldId id="874" r:id="rId61"/>
    <p:sldId id="291" r:id="rId62"/>
  </p:sldIdLst>
  <p:sldSz cx="9144000" cy="5143500" type="screen16x9"/>
  <p:notesSz cx="6858000" cy="9144000"/>
  <p:custDataLst>
    <p:tags r:id="rId67"/>
  </p:custDataLst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arbara Reif" initials="BR" lastIdx="3" clrIdx="0"/>
  <p:cmAuthor id="1" name="Jane Gibbons -X (jagibbon - DEL ORO CONSULTING INC at Cisco)" initials="JG-(-DOCIaC" lastIdx="28" clrIdx="1"/>
  <p:cmAuthor id="2" name="Bob Vachon" initials="BV" lastIdx="24" clrIdx="2"/>
  <p:cmAuthor id="3" name="Sue Livingston -X (suliving - UNICON INC at Cisco)" initials="SL-(-UIaC" lastIdx="29" clrIdx="3"/>
  <p:cmAuthor id="4" name="jagibbon" initials="jmg" lastIdx="8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AFE8FB"/>
    <a:srgbClr val="0000CC"/>
    <a:srgbClr val="000099"/>
    <a:srgbClr val="CC99FF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51" autoAdjust="0"/>
    <p:restoredTop sz="77285" autoAdjust="0"/>
  </p:normalViewPr>
  <p:slideViewPr>
    <p:cSldViewPr snapToGrid="0" showGuides="1">
      <p:cViewPr varScale="1">
        <p:scale>
          <a:sx n="70" d="100"/>
          <a:sy n="70" d="100"/>
        </p:scale>
        <p:origin x="1332" y="44"/>
      </p:cViewPr>
      <p:guideLst>
        <p:guide orient="horz" pos="1620"/>
        <p:guide pos="336"/>
      </p:guideLst>
    </p:cSldViewPr>
  </p:slideViewPr>
  <p:outlineViewPr>
    <p:cViewPr>
      <p:scale>
        <a:sx n="33" d="100"/>
        <a:sy n="33" d="100"/>
      </p:scale>
      <p:origin x="0" y="-22670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43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7" Type="http://schemas.openxmlformats.org/officeDocument/2006/relationships/tags" Target="tags/tag17.xml"/><Relationship Id="rId66" Type="http://schemas.openxmlformats.org/officeDocument/2006/relationships/commentAuthors" Target="commentAuthors.xml"/><Relationship Id="rId65" Type="http://schemas.openxmlformats.org/officeDocument/2006/relationships/tableStyles" Target="tableStyles.xml"/><Relationship Id="rId64" Type="http://schemas.openxmlformats.org/officeDocument/2006/relationships/viewProps" Target="viewProps.xml"/><Relationship Id="rId63" Type="http://schemas.openxmlformats.org/officeDocument/2006/relationships/presProps" Target="presProps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6337D9-3022-3D41-8D8A-BDF2F3B0DD8E}" type="datetimeFigureOut">
              <a:rPr lang="en-US" smtClean="0"/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1018C-6CAF-B84E-B92C-ECB119457FBA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pt-BR" b="0"/>
              <a:t>Programa da Cisco Networking Academy</a:t>
            </a:r>
            <a:endParaRPr lang="pt-BR" b="0"/>
          </a:p>
          <a:p>
            <a:pPr rtl="0">
              <a:buFontTx/>
              <a:buNone/>
            </a:pPr>
            <a:r>
              <a:rPr lang="pt-BR" b="0" baseline="0"/>
              <a:t>Introdução às redes v</a:t>
            </a:r>
            <a:r>
              <a:rPr lang="pt-BR" b="0"/>
              <a:t>7.0 (ITN)</a:t>
            </a:r>
            <a:endParaRPr lang="pt-BR" b="0"/>
          </a:p>
          <a:p>
            <a:pPr rtl="0">
              <a:buFontTx/>
              <a:buNone/>
            </a:pPr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Módulo 11: endereçamento IPv4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pt-BR" b="0"/>
              <a:t>Programa da Cisco Networking Academy</a:t>
            </a:r>
            <a:endParaRPr lang="pt-BR" b="0"/>
          </a:p>
          <a:p>
            <a:pPr rtl="0">
              <a:buFontTx/>
              <a:buNone/>
            </a:pPr>
            <a:r>
              <a:rPr lang="pt-BR" b="0" baseline="0"/>
              <a:t>Introdução às redes v</a:t>
            </a:r>
            <a:r>
              <a:rPr lang="pt-BR" b="0"/>
              <a:t>7.0 (ITN)</a:t>
            </a:r>
            <a:endParaRPr lang="pt-BR" b="0"/>
          </a:p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Módulo 11: endereçamento IPv4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11</a:t>
            </a:r>
            <a:r>
              <a:rPr lang="pt-BR" sz="1200" baseline="0">
                <a:solidFill>
                  <a:schemeClr val="accent5">
                    <a:lumMod val="40000"/>
                    <a:lumOff val="60000"/>
                  </a:schemeClr>
                </a:solidFill>
              </a:rPr>
              <a:t> -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Endereçamento IPv4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buFontTx/>
              <a:buNone/>
            </a:pPr>
            <a:r>
              <a:rPr lang="pt-BR" sz="1200" b="0"/>
              <a:t>11.1 — </a:t>
            </a:r>
            <a:r>
              <a:rPr lang="pt-BR"/>
              <a:t>Estrutura deEndereços IPv4 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11</a:t>
            </a:r>
            <a:r>
              <a:rPr lang="pt-BR" sz="1200" baseline="0">
                <a:solidFill>
                  <a:schemeClr val="accent5">
                    <a:lumMod val="40000"/>
                    <a:lumOff val="60000"/>
                  </a:schemeClr>
                </a:solidFill>
              </a:rPr>
              <a:t> -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Endereçamento IPv4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/>
            <a:r>
              <a:rPr lang="pt-BR"/>
              <a:t>11.1 - Estrutura de endereços IPv4</a:t>
            </a:r>
            <a:endParaRPr lang="pt-BR"/>
          </a:p>
          <a:p>
            <a:pPr rtl="0"/>
            <a:r>
              <a:rPr lang="pt-BR"/>
              <a:t>11.1.1 - Partes da rede e do host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11</a:t>
            </a:r>
            <a:r>
              <a:rPr lang="pt-BR" sz="1200" baseline="0">
                <a:solidFill>
                  <a:schemeClr val="accent5">
                    <a:lumMod val="40000"/>
                    <a:lumOff val="60000"/>
                  </a:schemeClr>
                </a:solidFill>
              </a:rPr>
              <a:t> -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Endereçamento IPv4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/>
            <a:r>
              <a:rPr lang="pt-BR"/>
              <a:t>11.1 - Estrutura de endereços IPv4</a:t>
            </a:r>
            <a:endParaRPr lang="pt-BR"/>
          </a:p>
          <a:p>
            <a:pPr rtl="0"/>
            <a:r>
              <a:rPr lang="pt-BR"/>
              <a:t>11.1.2 - A máscara de sub-rede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11</a:t>
            </a:r>
            <a:r>
              <a:rPr lang="pt-BR" sz="1200" baseline="0">
                <a:solidFill>
                  <a:schemeClr val="accent5">
                    <a:lumMod val="40000"/>
                    <a:lumOff val="60000"/>
                  </a:schemeClr>
                </a:solidFill>
              </a:rPr>
              <a:t> -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Endereçamento IPv4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/>
            <a:r>
              <a:rPr lang="pt-BR"/>
              <a:t>11.1 - Estrutura de endereços IPv4</a:t>
            </a:r>
            <a:endParaRPr lang="pt-BR"/>
          </a:p>
          <a:p>
            <a:pPr rtl="0"/>
            <a:r>
              <a:rPr lang="pt-BR"/>
              <a:t>11.1.3 - O comprimento do prefixo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11</a:t>
            </a:r>
            <a:r>
              <a:rPr lang="pt-BR" sz="1200" baseline="0">
                <a:solidFill>
                  <a:schemeClr val="accent5">
                    <a:lumMod val="40000"/>
                    <a:lumOff val="60000"/>
                  </a:schemeClr>
                </a:solidFill>
              </a:rPr>
              <a:t> -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Endereçamento IPv4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/>
            <a:r>
              <a:rPr lang="pt-BR"/>
              <a:t>11.1 - Estrutura de endereços IPv4</a:t>
            </a:r>
            <a:endParaRPr lang="pt-BR"/>
          </a:p>
          <a:p>
            <a:pPr rtl="0"/>
            <a:r>
              <a:rPr lang="pt-BR"/>
              <a:t>11.1.4 — Determinação da Rede: Lógica E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  <a:endParaRPr lang="pt-BR"/>
          </a:p>
          <a:p>
            <a:pPr rtl="0"/>
            <a:r>
              <a:rPr lang="pt-BR"/>
              <a:t>11.1 - Estrutura de endereços IPv4</a:t>
            </a:r>
            <a:endParaRPr lang="pt-BR"/>
          </a:p>
          <a:p>
            <a:pPr rtl="0"/>
            <a:r>
              <a:rPr lang="pt-BR"/>
              <a:t>11.1.5 - Vídeo - endereços de rede, host e transmissão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  <a:endParaRPr lang="pt-BR"/>
          </a:p>
          <a:p>
            <a:pPr rtl="0"/>
            <a:r>
              <a:rPr lang="pt-BR"/>
              <a:t>11.1 - Estrutura de endereços IPv4</a:t>
            </a:r>
            <a:endParaRPr lang="pt-BR"/>
          </a:p>
          <a:p>
            <a:pPr rtl="0"/>
            <a:r>
              <a:rPr lang="pt-BR"/>
              <a:t>11.1.6 - Endereços de rede, host e transmissão</a:t>
            </a:r>
            <a:endParaRPr lang="pt-BR"/>
          </a:p>
          <a:p>
            <a:pPr rtl="0"/>
            <a:r>
              <a:rPr lang="pt-BR"/>
              <a:t>11.1.7 - Atividade - ANDing para determinar o endereço de rede</a:t>
            </a:r>
            <a:endParaRPr lang="pt-BR"/>
          </a:p>
          <a:p>
            <a:pPr rtl="0"/>
            <a:r>
              <a:rPr lang="pt-BR"/>
              <a:t>11.1.8 — Verifique o seu entendimento - Estrutura de endereços IPv4</a:t>
            </a:r>
            <a:endParaRPr lang="pt-BR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  <a:endParaRPr lang="pt-BR"/>
          </a:p>
          <a:p>
            <a:pPr rtl="0"/>
            <a:r>
              <a:rPr lang="pt-BR"/>
              <a:t>11.2 - Unicast IPv4, transmissão e multicast</a:t>
            </a:r>
            <a:endParaRPr lang="pt-BR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  <a:endParaRPr lang="pt-BR"/>
          </a:p>
          <a:p>
            <a:pPr rtl="0"/>
            <a:r>
              <a:rPr lang="pt-BR"/>
              <a:t>11.2 - Unicast IPv4, transmissão e multicast</a:t>
            </a:r>
            <a:endParaRPr lang="pt-BR"/>
          </a:p>
          <a:p>
            <a:pPr rtl="0"/>
            <a:r>
              <a:rPr lang="pt-BR"/>
              <a:t>11.2.1 — Unicast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  <a:endParaRPr lang="pt-BR"/>
          </a:p>
          <a:p>
            <a:pPr rtl="0"/>
            <a:r>
              <a:rPr lang="pt-BR"/>
              <a:t>11.2 - Unicast IPv4, transmissão e multicast</a:t>
            </a:r>
            <a:endParaRPr lang="pt-BR"/>
          </a:p>
          <a:p>
            <a:pPr rtl="0"/>
            <a:r>
              <a:rPr lang="pt-BR"/>
              <a:t>11.2.2 — Transmissão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  <a:endParaRPr lang="pt-BR"/>
          </a:p>
          <a:p>
            <a:pPr rtl="0"/>
            <a:r>
              <a:rPr lang="pt-BR"/>
              <a:t>11.2 - Unicast IPv4, transmissão e multicast</a:t>
            </a:r>
            <a:endParaRPr lang="pt-BR"/>
          </a:p>
          <a:p>
            <a:pPr rtl="0"/>
            <a:r>
              <a:rPr lang="pt-BR"/>
              <a:t>11.2.3 — Multicast</a:t>
            </a:r>
            <a:endParaRPr lang="pt-BR"/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pt-BR"/>
              <a:t>11.2.4 - </a:t>
            </a:r>
            <a:r>
              <a:rPr lang="pt-B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Atividade - Unicast, Broadcast ou Multicast</a:t>
            </a:r>
            <a:endParaRPr lang="pt-BR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  <a:endParaRPr lang="pt-BR"/>
          </a:p>
          <a:p>
            <a:pPr rtl="0"/>
            <a:r>
              <a:rPr lang="pt-BR"/>
              <a:t>11.3 - Tipos de endereços IPv4</a:t>
            </a:r>
            <a:endParaRPr lang="pt-BR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  <a:endParaRPr lang="pt-BR"/>
          </a:p>
          <a:p>
            <a:pPr rtl="0"/>
            <a:r>
              <a:rPr lang="pt-BR"/>
              <a:t>11.3 - Tipos de endereços IPv4</a:t>
            </a:r>
            <a:endParaRPr lang="pt-BR"/>
          </a:p>
          <a:p>
            <a:pPr rtl="0"/>
            <a:r>
              <a:rPr lang="pt-BR"/>
              <a:t>11.3.1 - Endereços IPv4 públicos e privados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  <a:endParaRPr lang="pt-BR"/>
          </a:p>
          <a:p>
            <a:pPr rtl="0"/>
            <a:r>
              <a:rPr lang="pt-BR"/>
              <a:t>11.3 - Tipos de endereços IPv4</a:t>
            </a:r>
            <a:endParaRPr lang="pt-BR"/>
          </a:p>
          <a:p>
            <a:pPr rtl="0"/>
            <a:r>
              <a:rPr lang="pt-BR"/>
              <a:t>11.3.2 — Roteamento para a Internet</a:t>
            </a:r>
            <a:endParaRPr lang="pt-BR"/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pt-BR"/>
              <a:t>11.3.3 - </a:t>
            </a:r>
            <a:r>
              <a:rPr lang="pt-B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Atividade - passar ou bloquear endereços IPv4</a:t>
            </a:r>
            <a:endParaRPr lang="pt-BR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  <a:endParaRPr lang="pt-BR"/>
          </a:p>
          <a:p>
            <a:pPr rtl="0"/>
            <a:r>
              <a:rPr lang="pt-BR"/>
              <a:t>11.3 - Tipos de endereços IPv4</a:t>
            </a:r>
            <a:endParaRPr lang="pt-BR"/>
          </a:p>
          <a:p>
            <a:pPr rtl="0"/>
            <a:r>
              <a:rPr lang="pt-BR"/>
              <a:t>11.3.4 - Endereços IPv4 de uso especial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  <a:endParaRPr lang="pt-BR"/>
          </a:p>
          <a:p>
            <a:pPr rtl="0"/>
            <a:r>
              <a:rPr lang="pt-BR"/>
              <a:t>11.3 - Tipos de endereços IPv4</a:t>
            </a:r>
            <a:endParaRPr lang="pt-BR"/>
          </a:p>
          <a:p>
            <a:pPr rtl="0"/>
            <a:r>
              <a:rPr lang="pt-BR"/>
              <a:t>11.3.5 – Endereçamento classful de herdado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  <a:endParaRPr lang="pt-BR"/>
          </a:p>
          <a:p>
            <a:pPr rtl="0"/>
            <a:r>
              <a:rPr lang="pt-BR"/>
              <a:t>11.3 - Tipos de endereços IPv4</a:t>
            </a:r>
            <a:endParaRPr lang="pt-BR"/>
          </a:p>
          <a:p>
            <a:pPr rtl="0"/>
            <a:r>
              <a:rPr lang="pt-BR"/>
              <a:t>11.3.6 – Atribuição de endereços IP</a:t>
            </a:r>
            <a:endParaRPr lang="pt-BR"/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pt-BR"/>
              <a:t>11.3.7 - </a:t>
            </a:r>
            <a:r>
              <a:rPr lang="pt-B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Atividade - Endereço IPv4 público ou privado</a:t>
            </a:r>
            <a:endParaRPr lang="pt-BR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pt-BR"/>
              <a:t>11.3.8 — </a:t>
            </a:r>
            <a:r>
              <a:rPr lang="pt-B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Verifique o seu entendimento - Tipos de endereços IPv4</a:t>
            </a:r>
            <a:endParaRPr lang="pt-BR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  <a:endParaRPr lang="pt-BR"/>
          </a:p>
          <a:p>
            <a:pPr rtl="0"/>
            <a:r>
              <a:rPr lang="pt-BR"/>
              <a:t>11.4 — Segmentação de rede</a:t>
            </a:r>
            <a:endParaRPr lang="pt-BR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  <a:endParaRPr lang="pt-BR"/>
          </a:p>
          <a:p>
            <a:pPr rtl="0"/>
            <a:r>
              <a:rPr lang="pt-BR"/>
              <a:t>11.4 — Segmentação de rede</a:t>
            </a:r>
            <a:endParaRPr lang="pt-BR"/>
          </a:p>
          <a:p>
            <a:pPr rtl="0"/>
            <a:r>
              <a:rPr lang="pt-BR"/>
              <a:t>11.4.1 — Domínios de transmissão e segmentação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  <a:endParaRPr lang="pt-BR"/>
          </a:p>
          <a:p>
            <a:pPr rtl="0"/>
            <a:r>
              <a:rPr lang="pt-BR"/>
              <a:t>11.4 — Segmentação de rede</a:t>
            </a:r>
            <a:endParaRPr lang="pt-BR"/>
          </a:p>
          <a:p>
            <a:pPr rtl="0"/>
            <a:r>
              <a:rPr lang="pt-BR"/>
              <a:t>11.4.2 –Problemas com domínios de broadcast grandes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  <a:endParaRPr lang="pt-BR"/>
          </a:p>
          <a:p>
            <a:pPr rtl="0"/>
            <a:r>
              <a:rPr lang="pt-BR"/>
              <a:t>11.4 — Segmentação de rede</a:t>
            </a:r>
            <a:endParaRPr lang="pt-BR"/>
          </a:p>
          <a:p>
            <a:pPr rtl="0"/>
            <a:r>
              <a:rPr lang="pt-BR"/>
              <a:t>11.4.3 — Razões para segmentar redes</a:t>
            </a:r>
            <a:endParaRPr lang="pt-BR"/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pt-BR"/>
              <a:t>11.4.4 — </a:t>
            </a:r>
            <a:r>
              <a:rPr lang="pt-B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Verifique seu entendimento - Segmentação de rede</a:t>
            </a:r>
            <a:endParaRPr lang="pt-BR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  <a:endParaRPr lang="pt-BR"/>
          </a:p>
          <a:p>
            <a:pPr rtl="0"/>
            <a:r>
              <a:rPr lang="pt-BR"/>
              <a:t>11.5 — Sub-rede uma rede IPv4</a:t>
            </a:r>
            <a:endParaRPr lang="pt-BR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  <a:endParaRPr lang="pt-BR"/>
          </a:p>
          <a:p>
            <a:pPr rtl="0"/>
            <a:r>
              <a:rPr lang="pt-BR"/>
              <a:t>11.5 — Sub-rede uma rede IPv4</a:t>
            </a:r>
            <a:endParaRPr lang="pt-BR"/>
          </a:p>
          <a:p>
            <a:pPr rtl="0"/>
            <a:r>
              <a:rPr lang="pt-BR"/>
              <a:t>11.5.1 — Sub-rede em um limite de octeto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  <a:endParaRPr lang="pt-BR"/>
          </a:p>
          <a:p>
            <a:pPr rtl="0"/>
            <a:r>
              <a:rPr lang="pt-BR"/>
              <a:t>11.5 — Sub-rede uma rede IPv4</a:t>
            </a:r>
            <a:endParaRPr lang="pt-BR"/>
          </a:p>
          <a:p>
            <a:pPr rtl="0"/>
            <a:r>
              <a:rPr lang="pt-BR"/>
              <a:t>11.5.1 — Sub-rede em um limite de octeto (Cont.)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  <a:endParaRPr lang="pt-BR"/>
          </a:p>
          <a:p>
            <a:pPr rtl="0"/>
            <a:r>
              <a:rPr lang="pt-BR"/>
              <a:t>11.5 — Sub-rede uma rede IPv4</a:t>
            </a:r>
            <a:endParaRPr lang="pt-BR"/>
          </a:p>
          <a:p>
            <a:pPr rtl="0"/>
            <a:r>
              <a:rPr lang="pt-BR"/>
              <a:t>11.5.2 — Sub-rede dentro de um limite de octeto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  <a:endParaRPr lang="pt-BR"/>
          </a:p>
          <a:p>
            <a:pPr rtl="0"/>
            <a:r>
              <a:rPr lang="pt-BR"/>
              <a:t>11.5 — Sub-rede uma rede IPv4</a:t>
            </a:r>
            <a:endParaRPr lang="pt-BR"/>
          </a:p>
          <a:p>
            <a:pPr rtl="0"/>
            <a:r>
              <a:rPr lang="pt-BR"/>
              <a:t>11.5.3 – Vídeo – A máscara de sub-rede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  <a:endParaRPr lang="pt-BR"/>
          </a:p>
          <a:p>
            <a:pPr rtl="0"/>
            <a:r>
              <a:rPr lang="pt-BR"/>
              <a:t>11.5 — Sub-rede uma rede IPv4</a:t>
            </a:r>
            <a:endParaRPr lang="pt-BR"/>
          </a:p>
          <a:p>
            <a:pPr rtl="0"/>
            <a:r>
              <a:rPr lang="pt-BR"/>
              <a:t>11.5.4 - Vídeo - Sub-rede com o número mágico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  <a:endParaRPr lang="pt-BR"/>
          </a:p>
          <a:p>
            <a:pPr rtl="0"/>
            <a:r>
              <a:rPr lang="pt-BR"/>
              <a:t>11.5 — Sub-rede uma rede IPv4</a:t>
            </a:r>
            <a:endParaRPr lang="pt-BR"/>
          </a:p>
          <a:p>
            <a:pPr rtl="0"/>
            <a:r>
              <a:rPr lang="pt-BR"/>
              <a:t>11.5.5 — Packet Tracer — Sub-rede uma rede IPv4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  <a:endParaRPr lang="pt-BR"/>
          </a:p>
          <a:p>
            <a:pPr rtl="0"/>
            <a:r>
              <a:rPr lang="pt-BR"/>
              <a:t>11.6 — Sub-rede uma Barra 16 e um Prefixo de Barra 8</a:t>
            </a:r>
            <a:endParaRPr lang="pt-BR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  <a:endParaRPr lang="pt-BR"/>
          </a:p>
          <a:p>
            <a:pPr rtl="0"/>
            <a:r>
              <a:rPr lang="pt-BR"/>
              <a:t>11.6 — Sub-rede uma Barra 16 e um Prefixo de Barra 8</a:t>
            </a:r>
            <a:endParaRPr lang="pt-BR"/>
          </a:p>
          <a:p>
            <a:pPr rtl="0"/>
            <a:r>
              <a:rPr lang="pt-BR"/>
              <a:t>11.6.1 — Criar sub-redes com um prefixo de Barra 16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  <a:endParaRPr lang="pt-BR"/>
          </a:p>
          <a:p>
            <a:pPr rtl="0"/>
            <a:r>
              <a:rPr lang="pt-BR"/>
              <a:t>11.6 — Sub-rede uma Barra 16 e um Prefixo de Barra 8</a:t>
            </a:r>
            <a:endParaRPr lang="pt-BR"/>
          </a:p>
          <a:p>
            <a:pPr rtl="0"/>
            <a:r>
              <a:rPr lang="pt-BR"/>
              <a:t>11.6.2 — Criar 100 sub-redes com um prefixo Slash 16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  <a:endParaRPr lang="pt-BR"/>
          </a:p>
          <a:p>
            <a:pPr rtl="0"/>
            <a:r>
              <a:rPr lang="pt-BR"/>
              <a:t>11.6 — Sub-rede uma Barra 16 e um Prefixo de Barra 8</a:t>
            </a:r>
            <a:endParaRPr lang="pt-BR"/>
          </a:p>
          <a:p>
            <a:pPr rtl="0"/>
            <a:r>
              <a:rPr lang="pt-BR"/>
              <a:t>11.6.3 — Criar 1000 sub-redes com um prefixo Slash 8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  <a:endParaRPr lang="pt-BR"/>
          </a:p>
          <a:p>
            <a:pPr rtl="0"/>
            <a:r>
              <a:rPr lang="pt-BR"/>
              <a:t>11.6 — Sub-rede uma Barra 16 e um Prefixo de Barra 8</a:t>
            </a:r>
            <a:endParaRPr lang="pt-BR"/>
          </a:p>
          <a:p>
            <a:pPr rtl="0"/>
            <a:r>
              <a:rPr lang="pt-BR"/>
              <a:t>11.6.4 — Vídeo — Sub-rede em vários octetos</a:t>
            </a:r>
            <a:endParaRPr lang="pt-BR"/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pt-BR"/>
              <a:t>11.6.5 - </a:t>
            </a:r>
            <a:r>
              <a:rPr lang="pt-B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Atividade - Calcular a máscara de sub-rede</a:t>
            </a:r>
            <a:endParaRPr lang="pt-BR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  <a:endParaRPr lang="pt-BR"/>
          </a:p>
          <a:p>
            <a:pPr rtl="0"/>
            <a:r>
              <a:rPr lang="pt-BR"/>
              <a:t>11.6 — Sub-rede uma Barra 16 e um Prefixo de Barra 8</a:t>
            </a:r>
            <a:endParaRPr lang="pt-BR"/>
          </a:p>
          <a:p>
            <a:pPr rtl="0"/>
            <a:r>
              <a:rPr lang="pt-BR"/>
              <a:t>11.6.6 - Laboratório - Calcular sub-redes IPv4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  <a:endParaRPr lang="pt-BR"/>
          </a:p>
          <a:p>
            <a:pPr rtl="0"/>
            <a:r>
              <a:rPr lang="pt-BR"/>
              <a:t>11.7 - Sub-rede para atender aos requisitos</a:t>
            </a:r>
            <a:endParaRPr lang="pt-BR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  <a:endParaRPr lang="pt-BR"/>
          </a:p>
          <a:p>
            <a:pPr rtl="0"/>
            <a:r>
              <a:rPr lang="pt-BR"/>
              <a:t>11.7 - Sub-rede para atender aos requisitos</a:t>
            </a:r>
            <a:endParaRPr lang="pt-BR"/>
          </a:p>
          <a:p>
            <a:pPr rtl="0"/>
            <a:r>
              <a:rPr lang="pt-BR"/>
              <a:t>11.7.1 — Sub-rede Privada versus Espaço de Endereço IPv4 Público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  <a:endParaRPr lang="pt-BR"/>
          </a:p>
          <a:p>
            <a:pPr rtl="0"/>
            <a:r>
              <a:rPr lang="pt-BR"/>
              <a:t>11.7 - Sub-rede para atender aos requisitos</a:t>
            </a:r>
            <a:endParaRPr lang="pt-BR"/>
          </a:p>
          <a:p>
            <a:pPr rtl="0"/>
            <a:r>
              <a:rPr lang="pt-BR"/>
              <a:t>11.7.2 — Minimizar endereços IPv4 de host não utilizados e maximizar sub-redes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  <a:endParaRPr lang="pt-BR"/>
          </a:p>
          <a:p>
            <a:pPr rtl="0"/>
            <a:r>
              <a:rPr lang="pt-BR"/>
              <a:t>11.7 - Sub-rede para atender aos requisitos</a:t>
            </a:r>
            <a:endParaRPr lang="pt-BR"/>
          </a:p>
          <a:p>
            <a:pPr rtl="0"/>
            <a:r>
              <a:rPr lang="pt-BR"/>
              <a:t>11.7.3 — Exemplo: sub-rede IPv4 eficiente</a:t>
            </a:r>
            <a:endParaRPr lang="pt-BR"/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pt-BR"/>
              <a:t>11.7.4 – </a:t>
            </a:r>
            <a:r>
              <a:rPr lang="pt-B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Atividade - Determinar o número de bits a serem emprestados</a:t>
            </a:r>
            <a:endParaRPr lang="pt-BR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  <a:endParaRPr lang="pt-BR"/>
          </a:p>
          <a:p>
            <a:pPr rtl="0"/>
            <a:r>
              <a:rPr lang="pt-BR"/>
              <a:t>11.7 - Sub-rede para atender aos requisitos</a:t>
            </a:r>
            <a:endParaRPr lang="pt-BR"/>
          </a:p>
          <a:p>
            <a:pPr rtl="0"/>
            <a:r>
              <a:rPr lang="pt-BR"/>
              <a:t>11.7.5 – Packet Tracer – Criação de sub-redes no cenário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  <a:endParaRPr lang="pt-BR"/>
          </a:p>
          <a:p>
            <a:pPr rtl="0"/>
            <a:r>
              <a:rPr lang="pt-BR"/>
              <a:t>11.8 — VLSM</a:t>
            </a:r>
            <a:endParaRPr lang="pt-BR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  <a:endParaRPr lang="pt-BR"/>
          </a:p>
          <a:p>
            <a:pPr rtl="0"/>
            <a:r>
              <a:rPr lang="pt-BR"/>
              <a:t>11.8 — VLSM</a:t>
            </a:r>
            <a:endParaRPr lang="pt-BR"/>
          </a:p>
          <a:p>
            <a:pPr rtl="0"/>
            <a:r>
              <a:rPr lang="pt-BR"/>
              <a:t>11.8.1 — Vídeo — Noções básicas do VLSM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  <a:endParaRPr lang="pt-BR"/>
          </a:p>
          <a:p>
            <a:pPr rtl="0"/>
            <a:r>
              <a:rPr lang="pt-BR"/>
              <a:t>11.8 — VLSM</a:t>
            </a:r>
            <a:endParaRPr lang="pt-BR"/>
          </a:p>
          <a:p>
            <a:pPr rtl="0"/>
            <a:r>
              <a:rPr lang="pt-BR"/>
              <a:t>11.8.2 — Vídeo — Exemplo VLSM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  <a:endParaRPr lang="pt-BR"/>
          </a:p>
          <a:p>
            <a:pPr rtl="0"/>
            <a:r>
              <a:rPr lang="pt-BR"/>
              <a:t>11.8 — VLSM</a:t>
            </a:r>
            <a:endParaRPr lang="pt-BR"/>
          </a:p>
          <a:p>
            <a:pPr rtl="0"/>
            <a:r>
              <a:rPr lang="pt-BR"/>
              <a:t>11.8.3 - Conservação de endereços IPv4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  <a:endParaRPr lang="pt-BR"/>
          </a:p>
          <a:p>
            <a:pPr rtl="0"/>
            <a:r>
              <a:rPr lang="pt-BR"/>
              <a:t>11.8 — VLSM</a:t>
            </a:r>
            <a:endParaRPr lang="pt-BR"/>
          </a:p>
          <a:p>
            <a:pPr rtl="0"/>
            <a:r>
              <a:rPr lang="pt-BR"/>
              <a:t>11.8.3 - Conservação de endereços IPv4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  <a:endParaRPr lang="pt-BR"/>
          </a:p>
          <a:p>
            <a:pPr rtl="0"/>
            <a:r>
              <a:rPr lang="pt-BR"/>
              <a:t>11.8 — VLSM</a:t>
            </a:r>
            <a:endParaRPr lang="pt-BR"/>
          </a:p>
          <a:p>
            <a:pPr rtl="0"/>
            <a:r>
              <a:rPr lang="pt-BR"/>
              <a:t>11.8.4 — VLSM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  <a:endParaRPr lang="pt-BR"/>
          </a:p>
          <a:p>
            <a:pPr rtl="0"/>
            <a:r>
              <a:rPr lang="pt-BR"/>
              <a:t>11.8 — VLSM</a:t>
            </a:r>
            <a:endParaRPr lang="pt-BR"/>
          </a:p>
          <a:p>
            <a:pPr rtl="0"/>
            <a:r>
              <a:rPr lang="pt-BR"/>
              <a:t>11.8.5 — Atribuição de endereço de topologia VLSM</a:t>
            </a:r>
            <a:endParaRPr lang="pt-BR"/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pt-BR"/>
              <a:t>11.8.6 — </a:t>
            </a:r>
            <a:r>
              <a:rPr lang="pt-B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Atividade - Prática VLSM</a:t>
            </a:r>
            <a:endParaRPr lang="pt-BR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  <a:endParaRPr lang="pt-BR"/>
          </a:p>
          <a:p>
            <a:pPr rtl="0"/>
            <a:r>
              <a:rPr lang="pt-BR"/>
              <a:t>11.9 – Design estruturado</a:t>
            </a:r>
            <a:endParaRPr lang="pt-BR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  <a:endParaRPr lang="pt-BR"/>
          </a:p>
          <a:p>
            <a:pPr rtl="0"/>
            <a:r>
              <a:rPr lang="pt-BR"/>
              <a:t>11.9 – Design estruturado</a:t>
            </a:r>
            <a:endParaRPr lang="pt-BR"/>
          </a:p>
          <a:p>
            <a:pPr rtl="0"/>
            <a:r>
              <a:rPr lang="pt-BR"/>
              <a:t>11.9.1 - Planejamento de endereços de rede IPv4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  <a:endParaRPr lang="pt-BR"/>
          </a:p>
          <a:p>
            <a:pPr rtl="0"/>
            <a:r>
              <a:rPr lang="pt-BR"/>
              <a:t>11.9 – Design estruturado</a:t>
            </a:r>
            <a:endParaRPr lang="pt-BR"/>
          </a:p>
          <a:p>
            <a:pPr rtl="0"/>
            <a:r>
              <a:rPr lang="pt-BR"/>
              <a:t>11.9.2 — Atribuição de endereço de dispositivo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  <a:endParaRPr lang="pt-BR"/>
          </a:p>
          <a:p>
            <a:pPr rtl="0"/>
            <a:r>
              <a:rPr lang="pt-BR"/>
              <a:t>11.9 – Design estruturado</a:t>
            </a:r>
            <a:endParaRPr lang="pt-BR"/>
          </a:p>
          <a:p>
            <a:pPr rtl="0"/>
            <a:r>
              <a:rPr lang="pt-BR"/>
              <a:t>11.9.3 — Packet Tracer - Prática de projeto e implementação do VLSM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  <a:endParaRPr lang="pt-BR"/>
          </a:p>
          <a:p>
            <a:pPr rtl="0"/>
            <a:r>
              <a:rPr lang="pt-BR"/>
              <a:t>11.10 - Módulo Prática e Quiz</a:t>
            </a:r>
            <a:endParaRPr lang="pt-BR"/>
          </a:p>
          <a:p>
            <a:pPr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  <a:endParaRPr lang="pt-BR"/>
          </a:p>
          <a:p>
            <a:pPr rtl="0"/>
            <a:r>
              <a:rPr lang="pt-BR"/>
              <a:t>11.10 – Design estruturado</a:t>
            </a:r>
            <a:endParaRPr lang="pt-BR"/>
          </a:p>
          <a:p>
            <a:pPr rtl="0"/>
            <a:r>
              <a:rPr lang="pt-BR"/>
              <a:t>11.10.1 - Packet Tracer - Projete e implemente um esquema de endereçamento VLSM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  <a:endParaRPr lang="pt-BR"/>
          </a:p>
          <a:p>
            <a:pPr rtl="0"/>
            <a:r>
              <a:rPr lang="pt-BR"/>
              <a:t>11.10 – Design estruturado</a:t>
            </a:r>
            <a:endParaRPr lang="pt-BR"/>
          </a:p>
          <a:p>
            <a:pPr rtl="0"/>
            <a:r>
              <a:rPr lang="pt-BR"/>
              <a:t>11.10.2 – Packet Tracer e Laboratório – Projetar e Implementar um Esquema de Endereçamento VLSM</a:t>
            </a:r>
            <a:endParaRPr lang="pt-BR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defRPr>
            </a:lvl1pPr>
            <a:lvl2pPr marL="742950" indent="-28575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 rtl="0"/>
            <a:fld id="{3997A419-355F-A04A-96E0-21643AF8E9FF}" type="slidenum">
              <a:rPr sz="800">
                <a:solidFill>
                  <a:prstClr val="black"/>
                </a:solidFill>
              </a:rPr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t-BR"/>
              <a:t>11 - Endereçamento IPv4</a:t>
            </a:r>
            <a:endParaRPr lang="pt-BR"/>
          </a:p>
          <a:p>
            <a:pPr rtl="0"/>
            <a:r>
              <a:rPr lang="pt-BR"/>
              <a:t>11.10 – Design estruturado</a:t>
            </a:r>
            <a:endParaRPr lang="pt-BR"/>
          </a:p>
          <a:p>
            <a:pPr rtl="0"/>
            <a:r>
              <a:rPr lang="pt-BR"/>
              <a:t>11.10.3 - O que eu aprendi neste módulo?</a:t>
            </a:r>
            <a:endParaRPr lang="pt-BR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defRPr>
            </a:lvl1pPr>
            <a:lvl2pPr marL="742950" indent="-28575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 rtl="0"/>
            <a:fld id="{3997A419-355F-A04A-96E0-21643AF8E9FF}" type="slidenum">
              <a:rPr sz="800">
                <a:solidFill>
                  <a:prstClr val="black"/>
                </a:solidFill>
              </a:rPr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t-BR"/>
              <a:t>11 - Endereçamento IPv4</a:t>
            </a:r>
            <a:endParaRPr lang="pt-BR"/>
          </a:p>
          <a:p>
            <a:pPr rtl="0"/>
            <a:r>
              <a:rPr lang="pt-BR"/>
              <a:t>11.10 – Design estruturado</a:t>
            </a:r>
            <a:endParaRPr lang="pt-BR"/>
          </a:p>
          <a:p>
            <a:pPr rtl="0"/>
            <a:r>
              <a:rPr lang="pt-BR"/>
              <a:t>11.10.3 - O que eu aprendi neste módulo? (continuação)</a:t>
            </a:r>
            <a:endParaRPr lang="pt-BR"/>
          </a:p>
          <a:p>
            <a:pPr rtl="0"/>
            <a:r>
              <a:rPr lang="pt-BR"/>
              <a:t>11.10.4 — Teste de Módulo — Endereçamento IPv4</a:t>
            </a:r>
            <a:endParaRPr lang="pt-BR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defRPr>
            </a:lvl1pPr>
            <a:lvl2pPr marL="742950" indent="-28575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 rtl="0"/>
            <a:fld id="{6C92755B-29FD-8743-9094-C0E3A734D22E}" type="slidenum">
              <a:rPr sz="800">
                <a:solidFill>
                  <a:prstClr val="black"/>
                </a:solidFill>
              </a:rPr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3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800" indent="0">
              <a:buNone/>
              <a:defRPr/>
            </a:lvl2pPr>
            <a:lvl3pPr marL="427355" indent="0">
              <a:buNone/>
              <a:defRPr/>
            </a:lvl3pPr>
            <a:lvl4pPr marL="516890" indent="0">
              <a:buNone/>
              <a:defRPr/>
            </a:lvl4pPr>
            <a:lvl5pPr marL="60134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5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1"/>
                </a:solidFill>
                <a:latin typeface="+mn-lt"/>
                <a:cs typeface="CiscoSans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rgbClr val="004C69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accent1"/>
                </a:solidFill>
                <a:latin typeface="+mj-lt"/>
              </a:defRPr>
            </a:lvl1pPr>
            <a:lvl2pPr marL="304800" indent="0">
              <a:buNone/>
              <a:defRPr/>
            </a:lvl2pPr>
            <a:lvl3pPr marL="427355" indent="0">
              <a:buNone/>
              <a:defRPr/>
            </a:lvl3pPr>
            <a:lvl4pPr marL="516890" indent="0">
              <a:buNone/>
              <a:defRPr/>
            </a:lvl4pPr>
            <a:lvl5pPr marL="60134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chemeClr val="accent1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6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800" indent="0">
              <a:buNone/>
              <a:defRPr/>
            </a:lvl2pPr>
            <a:lvl3pPr marL="427355" indent="0">
              <a:buNone/>
              <a:defRPr/>
            </a:lvl3pPr>
            <a:lvl4pPr marL="516890" indent="0">
              <a:buNone/>
              <a:defRPr/>
            </a:lvl4pPr>
            <a:lvl5pPr marL="60134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3_Seg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256994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4600" b="0" i="0" spc="0" baseline="0">
                <a:solidFill>
                  <a:schemeClr val="accent5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870" rtl="0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</a:fld>
            <a:endParaRPr sz="60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9" name="Rectangle 4"/>
          <p:cNvSpPr>
            <a:spLocks noChangeArrowheads="1"/>
          </p:cNvSpPr>
          <p:nvPr userDrawn="1"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870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t>© 2016 Cisco e/ou suas afiliadas. Todos os direitos reservados.   Documento confidencial da Cisco</a:t>
            </a:r>
            <a:endParaRPr lang="pt-BR" sz="60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grpSp>
        <p:nvGrpSpPr>
          <p:cNvPr id="11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rgbClr val="086D8E"/>
          </a:solidFill>
        </p:grpSpPr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6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7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8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9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0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1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2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3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4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5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lti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4662" y="1347788"/>
            <a:ext cx="8280057" cy="3073946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750" marR="0" indent="-28575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defRPr sz="2000" b="0" i="0" baseline="0">
                <a:solidFill>
                  <a:schemeClr val="bg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Title Placeholder 5"/>
          <p:cNvSpPr>
            <a:spLocks noGrp="1"/>
          </p:cNvSpPr>
          <p:nvPr>
            <p:ph type="title"/>
          </p:nvPr>
        </p:nvSpPr>
        <p:spPr bwMode="auto">
          <a:xfrm>
            <a:off x="437766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0" y="2552550"/>
            <a:ext cx="698624" cy="698624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FFFFFF"/>
              </a:solidFill>
              <a:cs typeface="Arial" panose="020B0604020202020204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426607"/>
            <a:ext cx="698624" cy="698624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bg1"/>
              </a:solidFill>
              <a:cs typeface="Arial" panose="020B0604020202020204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0" y="3653093"/>
            <a:ext cx="698624" cy="698624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049FD9"/>
              </a:solidFill>
              <a:cs typeface="Arial" panose="020B0604020202020204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365250" y="1432522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365250" y="25577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365250" y="36530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0" y="2552550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  <a:endParaRPr lang="en-US" dirty="0"/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1" y="3651140"/>
            <a:ext cx="698624" cy="693381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  <a:endParaRPr lang="en-US" dirty="0"/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575610" y="1427248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 panose="020B0604020202020204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 panose="020B0604020202020204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 panose="020B0604020202020204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  <a:endParaRPr lang="en-US" dirty="0"/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  <a:endParaRPr lang="en-US" dirty="0"/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  <a:endParaRPr lang="en-US" dirty="0"/>
          </a:p>
        </p:txBody>
      </p:sp>
      <p:sp>
        <p:nvSpPr>
          <p:cNvPr id="13" name="Oval 12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 panose="020B0604020202020204"/>
            </a:endParaRP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  <a:endParaRPr lang="en-US" dirty="0"/>
          </a:p>
        </p:txBody>
      </p:sp>
      <p:sp>
        <p:nvSpPr>
          <p:cNvPr id="17" name="Oval 16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 panose="020B0604020202020204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rgbClr val="FFFFFF"/>
              </a:solidFill>
              <a:cs typeface="Arial" panose="020B0604020202020204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45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6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7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8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  <a:endParaRPr lang="en-US" dirty="0"/>
          </a:p>
        </p:txBody>
      </p:sp>
      <p:sp>
        <p:nvSpPr>
          <p:cNvPr id="49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  <a:endParaRPr lang="en-US" dirty="0"/>
          </a:p>
        </p:txBody>
      </p:sp>
      <p:sp>
        <p:nvSpPr>
          <p:cNvPr id="50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  <a:endParaRPr lang="en-US" dirty="0"/>
          </a:p>
        </p:txBody>
      </p:sp>
      <p:sp>
        <p:nvSpPr>
          <p:cNvPr id="51" name="Oval 50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52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3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  <a:endParaRPr lang="en-US" dirty="0"/>
          </a:p>
        </p:txBody>
      </p:sp>
      <p:sp>
        <p:nvSpPr>
          <p:cNvPr id="54" name="Oval 53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55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6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  <a:endParaRPr lang="en-US" dirty="0"/>
          </a:p>
        </p:txBody>
      </p:sp>
      <p:sp>
        <p:nvSpPr>
          <p:cNvPr id="57" name="Oval 56"/>
          <p:cNvSpPr/>
          <p:nvPr/>
        </p:nvSpPr>
        <p:spPr>
          <a:xfrm>
            <a:off x="4414576" y="1983084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4414575" y="1332693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4414576" y="2631212"/>
            <a:ext cx="464815" cy="464815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60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5011349" y="1338608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1" name="Text Placeholder 17"/>
          <p:cNvSpPr>
            <a:spLocks noGrp="1"/>
          </p:cNvSpPr>
          <p:nvPr>
            <p:ph type="body" sz="quarter" idx="24"/>
          </p:nvPr>
        </p:nvSpPr>
        <p:spPr>
          <a:xfrm>
            <a:off x="5011350" y="198832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2" name="Text Placeholder 17"/>
          <p:cNvSpPr>
            <a:spLocks noGrp="1"/>
          </p:cNvSpPr>
          <p:nvPr>
            <p:ph type="body" sz="quarter" idx="25"/>
          </p:nvPr>
        </p:nvSpPr>
        <p:spPr>
          <a:xfrm>
            <a:off x="5011350" y="263121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3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4414576" y="1331287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6</a:t>
            </a:r>
            <a:endParaRPr lang="en-US" dirty="0"/>
          </a:p>
        </p:txBody>
      </p:sp>
      <p:sp>
        <p:nvSpPr>
          <p:cNvPr id="64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4414576" y="198308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7</a:t>
            </a:r>
            <a:endParaRPr lang="en-US" dirty="0"/>
          </a:p>
        </p:txBody>
      </p:sp>
      <p:sp>
        <p:nvSpPr>
          <p:cNvPr id="65" name="Text Placeholder 17"/>
          <p:cNvSpPr>
            <a:spLocks noGrp="1"/>
          </p:cNvSpPr>
          <p:nvPr>
            <p:ph type="body" sz="quarter" idx="28" hasCustomPrompt="1"/>
          </p:nvPr>
        </p:nvSpPr>
        <p:spPr>
          <a:xfrm>
            <a:off x="4414577" y="262925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8</a:t>
            </a:r>
            <a:endParaRPr lang="en-US" dirty="0"/>
          </a:p>
        </p:txBody>
      </p:sp>
      <p:sp>
        <p:nvSpPr>
          <p:cNvPr id="66" name="Oval 65"/>
          <p:cNvSpPr/>
          <p:nvPr/>
        </p:nvSpPr>
        <p:spPr>
          <a:xfrm>
            <a:off x="4414577" y="3278347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67" name="Text Placeholder 17"/>
          <p:cNvSpPr>
            <a:spLocks noGrp="1"/>
          </p:cNvSpPr>
          <p:nvPr>
            <p:ph type="body" sz="quarter" idx="29"/>
          </p:nvPr>
        </p:nvSpPr>
        <p:spPr>
          <a:xfrm>
            <a:off x="5011351" y="327834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8" name="Text Placeholder 17"/>
          <p:cNvSpPr>
            <a:spLocks noGrp="1"/>
          </p:cNvSpPr>
          <p:nvPr>
            <p:ph type="body" sz="quarter" idx="30" hasCustomPrompt="1"/>
          </p:nvPr>
        </p:nvSpPr>
        <p:spPr>
          <a:xfrm>
            <a:off x="4414578" y="327639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9</a:t>
            </a:r>
            <a:endParaRPr lang="en-US" dirty="0"/>
          </a:p>
        </p:txBody>
      </p:sp>
      <p:sp>
        <p:nvSpPr>
          <p:cNvPr id="69" name="Oval 68"/>
          <p:cNvSpPr/>
          <p:nvPr/>
        </p:nvSpPr>
        <p:spPr>
          <a:xfrm>
            <a:off x="4414578" y="3925482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70" name="Text Placeholder 17"/>
          <p:cNvSpPr>
            <a:spLocks noGrp="1"/>
          </p:cNvSpPr>
          <p:nvPr>
            <p:ph type="body" sz="quarter" idx="31"/>
          </p:nvPr>
        </p:nvSpPr>
        <p:spPr>
          <a:xfrm>
            <a:off x="5011352" y="392548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71" name="Text Placeholder 17"/>
          <p:cNvSpPr>
            <a:spLocks noGrp="1"/>
          </p:cNvSpPr>
          <p:nvPr>
            <p:ph type="body" sz="quarter" idx="32" hasCustomPrompt="1"/>
          </p:nvPr>
        </p:nvSpPr>
        <p:spPr>
          <a:xfrm>
            <a:off x="4414579" y="392352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10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1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9143999" cy="5165874"/>
          </a:xfrm>
          <a:prstGeom prst="rect">
            <a:avLst/>
          </a:prstGeom>
        </p:spPr>
      </p:pic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9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9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3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1">
              <a:lumMod val="75000"/>
            </a:schemeClr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9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473441" y="4954263"/>
            <a:ext cx="676910" cy="1892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5">
                <a:solidFill>
                  <a:schemeClr val="tx2"/>
                </a:solidFill>
              </a:defRPr>
            </a:lvl1pPr>
          </a:lstStyle>
          <a:p>
            <a:pPr defTabSz="386080">
              <a:defRPr/>
            </a:pPr>
            <a:fld id="{2F5CCB13-0A32-4557-88E9-079F0C330695}" type="slidenum">
              <a:rPr lang="en-US" kern="0" smtClean="0">
                <a:solidFill>
                  <a:srgbClr val="595959"/>
                </a:solidFill>
              </a:rPr>
            </a:fld>
            <a:endParaRPr lang="en-US" kern="0" dirty="0">
              <a:solidFill>
                <a:srgbClr val="595959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44065" y="798944"/>
            <a:ext cx="8853286" cy="4155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/>
          <a:lstStyle>
            <a:lvl1pPr marL="170180" indent="-17018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4pPr>
          </a:lstStyle>
          <a:p>
            <a:pPr lvl="0"/>
            <a:r>
              <a:rPr lang="en-US">
                <a:sym typeface="Arial" panose="020B0604020202020204" pitchFamily="34" charset="0"/>
              </a:rPr>
              <a:t>Click to edit Master text styles</a:t>
            </a:r>
            <a:endParaRPr lang="en-US">
              <a:sym typeface="Arial" panose="020B0604020202020204" pitchFamily="34" charset="0"/>
            </a:endParaRPr>
          </a:p>
          <a:p>
            <a:pPr lvl="1"/>
            <a:r>
              <a:rPr lang="en-US">
                <a:sym typeface="Arial" panose="020B0604020202020204" pitchFamily="34" charset="0"/>
              </a:rPr>
              <a:t>Second level</a:t>
            </a:r>
            <a:endParaRPr lang="en-US">
              <a:sym typeface="Arial" panose="020B0604020202020204" pitchFamily="34" charset="0"/>
            </a:endParaRPr>
          </a:p>
          <a:p>
            <a:pPr lvl="2"/>
            <a:r>
              <a:rPr lang="en-US">
                <a:sym typeface="Arial" panose="020B0604020202020204" pitchFamily="34" charset="0"/>
              </a:rPr>
              <a:t>Third level</a:t>
            </a:r>
            <a:endParaRPr lang="en-US">
              <a:sym typeface="Arial" panose="020B0604020202020204" pitchFamily="34" charset="0"/>
            </a:endParaRPr>
          </a:p>
          <a:p>
            <a:pPr lvl="3"/>
            <a:r>
              <a:rPr lang="en-US">
                <a:sym typeface="Arial" panose="020B0604020202020204" pitchFamily="34" charset="0"/>
              </a:rPr>
              <a:t>Fourth level</a:t>
            </a:r>
            <a:endParaRPr lang="en-US">
              <a:sym typeface="Arial" panose="020B0604020202020204" pitchFamily="34" charset="0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lnSpc>
                <a:spcPct val="100000"/>
              </a:lnSpc>
              <a:defRPr sz="2400"/>
            </a:lvl1pPr>
          </a:lstStyle>
          <a:p>
            <a:pPr lvl="0"/>
            <a:r>
              <a:rPr lang="en-US">
                <a:sym typeface="Arial" panose="020B0604020202020204" pitchFamily="34" charset="0"/>
              </a:rPr>
              <a:t>Click to edit Master title style</a:t>
            </a:r>
            <a:endParaRPr lang="en-US" dirty="0"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5"/>
          <p:cNvSpPr>
            <a:spLocks noGrp="1"/>
          </p:cNvSpPr>
          <p:nvPr>
            <p:ph type="title"/>
          </p:nvPr>
        </p:nvSpPr>
        <p:spPr bwMode="auto">
          <a:xfrm>
            <a:off x="438150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/>
          <a:lstStyle/>
          <a:p>
            <a:pPr lvl="0"/>
            <a:r>
              <a:rPr lang="en-GB" altLang="en-US" dirty="0"/>
              <a:t>Title Goes Here</a:t>
            </a:r>
            <a:endParaRPr lang="en-GB" altLang="en-US" dirty="0"/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870" rtl="0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</a:fld>
            <a:endParaRPr sz="600">
              <a:solidFill>
                <a:schemeClr val="accent3">
                  <a:lumMod val="85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ltGray">
          <a:xfrm>
            <a:off x="5668256" y="4741653"/>
            <a:ext cx="2857270" cy="15451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61586" tIns="30792" rIns="61586" bIns="30792" anchor="b">
            <a:spAutoFit/>
          </a:bodyPr>
          <a:lstStyle/>
          <a:p>
            <a:pPr defTabSz="610870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t>© 2019 Cisco e/ou suas afiliadas. Todos os direitos reservados.   Documento confidencial da Cisco</a:t>
            </a:r>
            <a:endParaRPr lang="pt-BR" sz="600">
              <a:solidFill>
                <a:schemeClr val="accent3">
                  <a:lumMod val="85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chemeClr val="accent5"/>
          </a:solidFill>
        </p:grpSpPr>
        <p:sp>
          <p:nvSpPr>
            <p:cNvPr id="7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8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9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1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6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7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8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9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0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1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2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 spd="slow">
    <p:wipe/>
  </p:transition>
  <p:txStyles>
    <p:titleStyle>
      <a:lvl1pPr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lang="en-US" sz="3200" kern="1200" dirty="0">
          <a:solidFill>
            <a:schemeClr val="accent4"/>
          </a:solidFill>
          <a:latin typeface="+mj-lt"/>
          <a:ea typeface="MS PGothic" charset="0"/>
          <a:cs typeface="CiscoSans"/>
        </a:defRPr>
      </a:lvl1pPr>
      <a:lvl2pPr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  <a:cs typeface="CiscoSans" pitchFamily="34" charset="0"/>
        </a:defRPr>
      </a:lvl2pPr>
      <a:lvl3pPr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  <a:cs typeface="CiscoSans" pitchFamily="34" charset="0"/>
        </a:defRPr>
      </a:lvl3pPr>
      <a:lvl4pPr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  <a:cs typeface="CiscoSans" pitchFamily="34" charset="0"/>
        </a:defRPr>
      </a:lvl4pPr>
      <a:lvl5pPr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  <a:cs typeface="CiscoSans" pitchFamily="34" charset="0"/>
        </a:defRPr>
      </a:lvl5pPr>
      <a:lvl6pPr marL="457200"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</a:defRPr>
      </a:lvl6pPr>
      <a:lvl7pPr marL="914400"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</a:defRPr>
      </a:lvl7pPr>
      <a:lvl8pPr marL="1371600"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</a:defRPr>
      </a:lvl8pPr>
      <a:lvl9pPr marL="1828800"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</a:defRPr>
      </a:lvl9pPr>
    </p:titleStyle>
    <p:bodyStyle>
      <a:lvl1pPr marL="170180" indent="-170180" algn="l" defTabSz="684530" rtl="0" eaLnBrk="1" fontAlgn="base" hangingPunct="1">
        <a:lnSpc>
          <a:spcPct val="95000"/>
        </a:lnSpc>
        <a:spcBef>
          <a:spcPts val="1075"/>
        </a:spcBef>
        <a:spcAft>
          <a:spcPct val="0"/>
        </a:spcAft>
        <a:buClr>
          <a:schemeClr val="tx2"/>
        </a:buClr>
        <a:buSzPct val="90000"/>
        <a:buFont typeface="Arial" panose="020B0604020202020204" pitchFamily="34" charset="0"/>
        <a:buChar char="•"/>
        <a:defRPr lang="en-US" sz="1500" kern="1200" dirty="0">
          <a:solidFill>
            <a:schemeClr val="tx1"/>
          </a:solidFill>
          <a:latin typeface="+mn-lt"/>
          <a:ea typeface="MS PGothic" charset="0"/>
          <a:cs typeface="CiscoSans"/>
        </a:defRPr>
      </a:lvl1pPr>
      <a:lvl2pPr marL="358775" indent="-215900" algn="l" defTabSz="684530" rtl="0" eaLnBrk="1" fontAlgn="base" hangingPunct="1">
        <a:lnSpc>
          <a:spcPct val="95000"/>
        </a:lnSpc>
        <a:spcBef>
          <a:spcPts val="6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defRPr lang="en-US" sz="1400" kern="1200" dirty="0">
          <a:solidFill>
            <a:schemeClr val="tx1"/>
          </a:solidFill>
          <a:latin typeface="+mn-lt"/>
          <a:ea typeface="MS PGothic" charset="0"/>
          <a:cs typeface="CiscoSans"/>
        </a:defRPr>
      </a:lvl2pPr>
      <a:lvl3pPr marL="431800" indent="-170180" algn="l" defTabSz="684530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MS PGothic" charset="0"/>
          <a:cs typeface="CiscoSans"/>
        </a:defRPr>
      </a:lvl3pPr>
      <a:lvl4pPr marL="503555" indent="-170180" algn="l" defTabSz="684530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panose="020B0604020202020204" pitchFamily="34" charset="0"/>
        <a:buChar char="•"/>
        <a:defRPr lang="en-US" sz="1100" kern="1200" dirty="0">
          <a:solidFill>
            <a:schemeClr val="tx1"/>
          </a:solidFill>
          <a:latin typeface="+mn-lt"/>
          <a:ea typeface="MS PGothic" charset="0"/>
          <a:cs typeface="CiscoSans"/>
        </a:defRPr>
      </a:lvl4pPr>
      <a:lvl5pPr marL="574675" indent="-170180" algn="l" defTabSz="684530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panose="020B0604020202020204" pitchFamily="34" charset="0"/>
        <a:buChar char="•"/>
        <a:defRPr lang="en-US" sz="1100" kern="1200" dirty="0">
          <a:solidFill>
            <a:schemeClr val="tx1"/>
          </a:solidFill>
          <a:latin typeface="+mn-lt"/>
          <a:ea typeface="MS PGothic" charset="0"/>
          <a:cs typeface="CiscoSans"/>
        </a:defRPr>
      </a:lvl5pPr>
      <a:lvl6pPr marL="863600" indent="-171450" algn="l" defTabSz="685800" rtl="0" eaLnBrk="1" latinLnBrk="0" hangingPunct="1">
        <a:spcBef>
          <a:spcPts val="600"/>
        </a:spcBef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935990" indent="-171450" algn="l" defTabSz="685800" rtl="0" eaLnBrk="1" latinLnBrk="0" hangingPunct="1">
        <a:spcBef>
          <a:spcPts val="600"/>
        </a:spcBef>
        <a:buFont typeface="Arial" panose="020B0604020202020204" pitchFamily="34" charset="0"/>
        <a:buChar char="•"/>
        <a:defRPr sz="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400300" indent="0" algn="l" defTabSz="685800" rtl="0" eaLnBrk="1" latinLnBrk="0" hangingPunct="1">
        <a:spcBef>
          <a:spcPct val="20000"/>
        </a:spcBef>
        <a:buFont typeface="Arial" panose="020B0604020202020204" pitchFamily="34" charset="0"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3.xml"/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4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9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5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0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0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8.png"/></Relationships>
</file>

<file path=ppt/slides/_rels/slide4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6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28.png"/><Relationship Id="rId1" Type="http://schemas.openxmlformats.org/officeDocument/2006/relationships/image" Target="../media/image29.png"/></Relationships>
</file>

<file path=ppt/slides/_rels/slide4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7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32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6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7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4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8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5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9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469497" y="1219200"/>
            <a:ext cx="6557379" cy="1666626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Módulo 11: Endereçamento IPv4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69497" y="3127609"/>
            <a:ext cx="5925246" cy="299001"/>
          </a:xfrm>
        </p:spPr>
        <p:txBody>
          <a:bodyPr/>
          <a:lstStyle/>
          <a:p>
            <a:pPr rtl="0"/>
            <a:r>
              <a:rPr lang="pt-BR">
                <a:solidFill>
                  <a:schemeClr val="bg2">
                    <a:lumMod val="40000"/>
                    <a:lumOff val="60000"/>
                  </a:schemeClr>
                </a:solidFill>
              </a:rPr>
              <a:t>Material do instrutor</a:t>
            </a:r>
            <a:endParaRPr lang="pt-BR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469497" y="3809526"/>
            <a:ext cx="2368954" cy="902174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Introdução às redes v7.0 (ITN) 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endParaRPr lang="en-US" dirty="0"/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469497" y="2316480"/>
            <a:ext cx="6658416" cy="1080143"/>
          </a:xfrm>
        </p:spPr>
        <p:txBody>
          <a:bodyPr/>
          <a:lstStyle/>
          <a:p>
            <a:pPr rtl="0"/>
            <a:r>
              <a:rPr lang="pt-BR" sz="4400">
                <a:solidFill>
                  <a:schemeClr val="accent5">
                    <a:lumMod val="40000"/>
                    <a:lumOff val="60000"/>
                  </a:schemeClr>
                </a:solidFill>
              </a:rPr>
              <a:t>Módulo 11: endereçamento IPv4</a:t>
            </a:r>
            <a:endParaRPr lang="pt-BR" sz="440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469497" y="3809526"/>
            <a:ext cx="2368954" cy="902174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Introdução às redes v7.0 (ITN)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endParaRPr lang="en-US" dirty="0"/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598042" cy="92964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11.1 Estrutura de endereço IPv4</a:t>
            </a:r>
            <a:b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</a:br>
            <a:endParaRPr lang="en-US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Estrutura do endereço IPv4 </a:t>
            </a:r>
            <a:br>
              <a:rPr lang="en-US" dirty="0"/>
            </a:br>
            <a:r>
              <a:rPr lang="pt-BR" sz="2400"/>
              <a:t>Partes de rede e host</a:t>
            </a:r>
            <a:endParaRPr lang="pt-BR" sz="240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2085744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Um endereço IPv4 é um endereço hierárquico de 32 bits, composto por uma parte da rede e uma parte do host. 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Ao determinar a parte da rede versus a parte do host, você deve observar o fluxo de 32 bits.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Uma máscara de sub-rede é usada para determinar as partes da rede e do host. </a:t>
            </a:r>
            <a:endParaRPr lang="pt-BR" sz="1600">
              <a:solidFill>
                <a:srgbClr val="00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0804" y="3066806"/>
            <a:ext cx="4457929" cy="152407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Estrutura de endereço IPv4</a:t>
            </a:r>
            <a:br>
              <a:rPr lang="en-US" dirty="0"/>
            </a:br>
            <a:r>
              <a:rPr lang="pt-BR" sz="2400"/>
              <a:t>A máscara de sub-rede</a:t>
            </a:r>
            <a:endParaRPr lang="pt-BR" sz="240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731837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Para identificar as partes da rede e do host de um endereço IPv4, a máscara de sub-rede é comparada com o endereço IPv4 bit por bit, da esquerda para a direita.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</p:txBody>
      </p:sp>
      <p:sp>
        <p:nvSpPr>
          <p:cNvPr id="5" name="Content Placeholder 3"/>
          <p:cNvSpPr txBox="1"/>
          <p:nvPr/>
        </p:nvSpPr>
        <p:spPr>
          <a:xfrm>
            <a:off x="431971" y="1684028"/>
            <a:ext cx="3031991" cy="1546852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750" marR="0" indent="-28575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defRPr lang="en-US" sz="2000" b="0" i="0" kern="1200" baseline="0">
                <a:solidFill>
                  <a:schemeClr val="bg1"/>
                </a:solidFill>
                <a:latin typeface="+mn-lt"/>
                <a:ea typeface="MS PGothic" charset="0"/>
                <a:cs typeface="CiscoSans ExtraLight"/>
              </a:defRPr>
            </a:lvl1pPr>
            <a:lvl2pPr marL="358775" indent="-215900" algn="l" defTabSz="684530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MS PGothic" charset="0"/>
                <a:cs typeface="CiscoSans"/>
              </a:defRPr>
            </a:lvl2pPr>
            <a:lvl3pPr marL="431800" indent="-170180" algn="l" defTabSz="684530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MS PGothic" charset="0"/>
                <a:cs typeface="CiscoSans"/>
              </a:defRPr>
            </a:lvl3pPr>
            <a:lvl4pPr marL="503555" indent="-170180" algn="l" defTabSz="684530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MS PGothic" charset="0"/>
                <a:cs typeface="CiscoSans"/>
              </a:defRPr>
            </a:lvl4pPr>
            <a:lvl5pPr marL="574675" indent="-170180" algn="l" defTabSz="684530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MS PGothic" charset="0"/>
                <a:cs typeface="CiscoSans"/>
              </a:defRPr>
            </a:lvl5pPr>
            <a:lvl6pPr marL="863600" indent="-171450" algn="l" defTabSz="685800" rtl="0" eaLnBrk="1" latinLnBrk="0" hangingPunct="1">
              <a:spcBef>
                <a:spcPts val="600"/>
              </a:spcBef>
              <a:buFont typeface="Arial" panose="020B0604020202020204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990" indent="-171450" algn="l" defTabSz="685800" rtl="0" eaLnBrk="1" latinLnBrk="0" hangingPunct="1">
              <a:spcBef>
                <a:spcPts val="600"/>
              </a:spcBef>
              <a:buFont typeface="Arial" panose="020B0604020202020204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O processo real usado para identificar as partes da rede e do host é chamado AND.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74858" y="1710838"/>
            <a:ext cx="4470630" cy="2159111"/>
          </a:xfrm>
          <a:prstGeom prst="rect">
            <a:avLst/>
          </a:prstGeom>
          <a:ln>
            <a:solidFill>
              <a:srgbClr val="0070C0"/>
            </a:solidFill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Estrutura do endereço IPv4</a:t>
            </a:r>
            <a:br>
              <a:rPr lang="en-US" dirty="0"/>
            </a:br>
            <a:r>
              <a:rPr lang="pt-BR" sz="2400"/>
              <a:t>O comprimento do prefixo</a:t>
            </a:r>
            <a:endParaRPr lang="pt-BR" sz="240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510802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Um comprimento de prefixo é um método menos complicado usado para identificar um endereço de máscara de sub-rede.</a:t>
            </a:r>
            <a:endParaRPr lang="pt-BR" sz="1600">
              <a:solidFill>
                <a:srgbClr val="000000"/>
              </a:solidFill>
            </a:endParaRPr>
          </a:p>
        </p:txBody>
      </p:sp>
      <p:sp>
        <p:nvSpPr>
          <p:cNvPr id="5" name="Content Placeholder 3"/>
          <p:cNvSpPr txBox="1"/>
          <p:nvPr/>
        </p:nvSpPr>
        <p:spPr>
          <a:xfrm>
            <a:off x="431970" y="1447090"/>
            <a:ext cx="3376237" cy="3073946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750" marR="0" indent="-28575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defRPr lang="en-US" sz="2000" b="0" i="0" kern="1200" baseline="0">
                <a:solidFill>
                  <a:schemeClr val="bg1"/>
                </a:solidFill>
                <a:latin typeface="+mn-lt"/>
                <a:ea typeface="MS PGothic" charset="0"/>
                <a:cs typeface="CiscoSans ExtraLight"/>
              </a:defRPr>
            </a:lvl1pPr>
            <a:lvl2pPr marL="358775" indent="-215900" algn="l" defTabSz="684530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MS PGothic" charset="0"/>
                <a:cs typeface="CiscoSans"/>
              </a:defRPr>
            </a:lvl2pPr>
            <a:lvl3pPr marL="431800" indent="-170180" algn="l" defTabSz="684530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MS PGothic" charset="0"/>
                <a:cs typeface="CiscoSans"/>
              </a:defRPr>
            </a:lvl3pPr>
            <a:lvl4pPr marL="503555" indent="-170180" algn="l" defTabSz="684530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MS PGothic" charset="0"/>
                <a:cs typeface="CiscoSans"/>
              </a:defRPr>
            </a:lvl4pPr>
            <a:lvl5pPr marL="574675" indent="-170180" algn="l" defTabSz="684530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MS PGothic" charset="0"/>
                <a:cs typeface="CiscoSans"/>
              </a:defRPr>
            </a:lvl5pPr>
            <a:lvl6pPr marL="863600" indent="-171450" algn="l" defTabSz="685800" rtl="0" eaLnBrk="1" latinLnBrk="0" hangingPunct="1">
              <a:spcBef>
                <a:spcPts val="600"/>
              </a:spcBef>
              <a:buFont typeface="Arial" panose="020B0604020202020204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990" indent="-171450" algn="l" defTabSz="685800" rtl="0" eaLnBrk="1" latinLnBrk="0" hangingPunct="1">
              <a:spcBef>
                <a:spcPts val="600"/>
              </a:spcBef>
              <a:buFont typeface="Arial" panose="020B0604020202020204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O comprimento do prefixo é o número de bits definido como 1 na máscara de sub-rede. 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Está escrito em "notação de barra", portanto, conte o número de bits na máscara de sub-rede e adicione-a com uma barra.</a:t>
            </a:r>
            <a:endParaRPr lang="pt-BR" sz="1600">
              <a:solidFill>
                <a:srgbClr val="000000"/>
              </a:solidFill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046221" y="1366221"/>
          <a:ext cx="4762500" cy="345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0619"/>
                <a:gridCol w="2628321"/>
                <a:gridCol w="983560"/>
              </a:tblGrid>
              <a:tr h="340940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50" b="1">
                          <a:effectLst/>
                        </a:rPr>
                        <a:t>Máscara de Sub-Rede</a:t>
                      </a:r>
                      <a:endParaRPr lang="pt-BR" sz="1050" b="1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50" b="1">
                          <a:effectLst/>
                        </a:rPr>
                        <a:t>Endereço de 32 bits</a:t>
                      </a:r>
                      <a:endParaRPr lang="pt-BR" sz="1050" b="1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50" b="1">
                          <a:effectLst/>
                        </a:rPr>
                        <a:t>Prefixo </a:t>
                      </a:r>
                      <a:endParaRPr lang="pt-BR" sz="1050" b="1">
                        <a:effectLst/>
                      </a:endParaRPr>
                    </a:p>
                    <a:p>
                      <a:pPr algn="l" rtl="0" fontAlgn="ctr"/>
                      <a:r>
                        <a:rPr lang="pt-BR" sz="1050" b="1">
                          <a:effectLst/>
                        </a:rPr>
                        <a:t>Tamanho</a:t>
                      </a:r>
                      <a:endParaRPr lang="pt-BR" sz="1050" b="1">
                        <a:effectLst/>
                      </a:endParaRPr>
                    </a:p>
                  </a:txBody>
                  <a:tcPr marL="31750" marR="31750" marT="31750" marB="31750" anchor="ctr"/>
                </a:tc>
              </a:tr>
              <a:tr h="340940"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255.0.0.0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11111111.00000000.00000000.00000000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/8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</a:tr>
              <a:tr h="340940"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255.255.0.0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11111111.11111111.00000000.00000000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/16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</a:tr>
              <a:tr h="340940"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255.255.255.0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11111111.11111111.11111111.00000000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/24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</a:tr>
              <a:tr h="340940"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255.255.255.128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11111111.111111.11111111.10000000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/25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</a:tr>
              <a:tr h="340940"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255.255.255.192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11111111.11111111.11111111.11000000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/26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</a:tr>
              <a:tr h="340940"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255.255.255.224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11111111.11111111.11111111.11100000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/27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</a:tr>
              <a:tr h="340940"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255.255.255.240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11111111.11111111.11111111.11110000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/28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</a:tr>
              <a:tr h="340940"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255.255.255.248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11111111.11111111.11111111.11111000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/29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</a:tr>
              <a:tr h="340940"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255.255.255.252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11111111.11111111.11111111.11111100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/30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Estrutura de Endereços IPv4</a:t>
            </a:r>
            <a:br>
              <a:rPr lang="en-US" dirty="0"/>
            </a:br>
            <a:r>
              <a:rPr lang="pt-BR" sz="2400"/>
              <a:t>Determinando a Rede: Lógica E</a:t>
            </a:r>
            <a:endParaRPr lang="pt-BR" sz="240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1522021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Uma operação lógica AND booleana é usada na determinação do endereço de rede.</a:t>
            </a:r>
            <a:endParaRPr lang="pt-BR" sz="1600">
              <a:solidFill>
                <a:srgbClr val="000000"/>
              </a:solidFill>
            </a:endParaRPr>
          </a:p>
          <a:p>
            <a:pPr marL="415925" lvl="1" indent="-342900" rtl="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0000"/>
                </a:solidFill>
              </a:rPr>
              <a:t>Lógico AND é a comparação de dois bits onde apenas um 1 E 1 produz um 1 e qualquer outra combinação resulta em um 0.</a:t>
            </a:r>
            <a:endParaRPr lang="pt-BR">
              <a:solidFill>
                <a:srgbClr val="000000"/>
              </a:solidFill>
            </a:endParaRPr>
          </a:p>
          <a:p>
            <a:pPr marL="415925" lvl="1" indent="-342900" rtl="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0000"/>
                </a:solidFill>
              </a:rPr>
              <a:t>1 E 1 = 1, 0 E 1 = 0, 1 E 0 = 0, 0 E 0 = 0</a:t>
            </a:r>
            <a:endParaRPr lang="pt-BR">
              <a:solidFill>
                <a:srgbClr val="000000"/>
              </a:solidFill>
            </a:endParaRPr>
          </a:p>
          <a:p>
            <a:pPr marL="415925" lvl="1" indent="-342900" rtl="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0000"/>
                </a:solidFill>
              </a:rPr>
              <a:t>1 = Verdadeiro e 0 = Falso</a:t>
            </a:r>
            <a:endParaRPr lang="pt-BR">
              <a:solidFill>
                <a:srgbClr val="000000"/>
              </a:solidFill>
            </a:endParaRPr>
          </a:p>
        </p:txBody>
      </p:sp>
      <p:sp>
        <p:nvSpPr>
          <p:cNvPr id="5" name="Content Placeholder 3"/>
          <p:cNvSpPr txBox="1"/>
          <p:nvPr/>
        </p:nvSpPr>
        <p:spPr>
          <a:xfrm>
            <a:off x="431971" y="2483539"/>
            <a:ext cx="3849573" cy="1987652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750" marR="0" indent="-28575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defRPr lang="en-US" sz="2000" b="0" i="0" kern="1200" baseline="0">
                <a:solidFill>
                  <a:schemeClr val="bg1"/>
                </a:solidFill>
                <a:latin typeface="+mn-lt"/>
                <a:ea typeface="MS PGothic" charset="0"/>
                <a:cs typeface="CiscoSans ExtraLight"/>
              </a:defRPr>
            </a:lvl1pPr>
            <a:lvl2pPr marL="358775" indent="-215900" algn="l" defTabSz="684530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MS PGothic" charset="0"/>
                <a:cs typeface="CiscoSans"/>
              </a:defRPr>
            </a:lvl2pPr>
            <a:lvl3pPr marL="431800" indent="-170180" algn="l" defTabSz="684530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MS PGothic" charset="0"/>
                <a:cs typeface="CiscoSans"/>
              </a:defRPr>
            </a:lvl3pPr>
            <a:lvl4pPr marL="503555" indent="-170180" algn="l" defTabSz="684530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MS PGothic" charset="0"/>
                <a:cs typeface="CiscoSans"/>
              </a:defRPr>
            </a:lvl4pPr>
            <a:lvl5pPr marL="574675" indent="-170180" algn="l" defTabSz="684530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MS PGothic" charset="0"/>
                <a:cs typeface="CiscoSans"/>
              </a:defRPr>
            </a:lvl5pPr>
            <a:lvl6pPr marL="863600" indent="-171450" algn="l" defTabSz="685800" rtl="0" eaLnBrk="1" latinLnBrk="0" hangingPunct="1">
              <a:spcBef>
                <a:spcPts val="600"/>
              </a:spcBef>
              <a:buFont typeface="Arial" panose="020B0604020202020204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990" indent="-171450" algn="l" defTabSz="685800" rtl="0" eaLnBrk="1" latinLnBrk="0" hangingPunct="1">
              <a:spcBef>
                <a:spcPts val="600"/>
              </a:spcBef>
              <a:buFont typeface="Arial" panose="020B0604020202020204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Para identificar o endereço de rede, o endereço IPv4 do host é AND logicamente, bit a bit, com a máscara de sub-rede para identificar o endereço de rede.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1158" y="2377440"/>
            <a:ext cx="4534133" cy="19876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Estrutura de endereço IPv4</a:t>
            </a:r>
            <a:br>
              <a:rPr lang="en-US" dirty="0"/>
            </a:br>
            <a:r>
              <a:rPr lang="pt-BR" sz="2400"/>
              <a:t>Vídeo - endereços de rede, host e transmissão</a:t>
            </a:r>
            <a:endParaRPr lang="pt-BR" sz="2400"/>
          </a:p>
        </p:txBody>
      </p:sp>
      <p:sp>
        <p:nvSpPr>
          <p:cNvPr id="6" name="Content Placeholder 3"/>
          <p:cNvSpPr txBox="1"/>
          <p:nvPr/>
        </p:nvSpPr>
        <p:spPr>
          <a:xfrm>
            <a:off x="431971" y="864846"/>
            <a:ext cx="8280057" cy="1522021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750" marR="0" indent="-28575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defRPr lang="en-US" sz="2000" b="0" i="0" kern="1200" baseline="0">
                <a:solidFill>
                  <a:schemeClr val="bg1"/>
                </a:solidFill>
                <a:latin typeface="+mn-lt"/>
                <a:ea typeface="MS PGothic" charset="0"/>
                <a:cs typeface="CiscoSans ExtraLight"/>
              </a:defRPr>
            </a:lvl1pPr>
            <a:lvl2pPr marL="358775" indent="-215900" algn="l" defTabSz="684530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MS PGothic" charset="0"/>
                <a:cs typeface="CiscoSans"/>
              </a:defRPr>
            </a:lvl2pPr>
            <a:lvl3pPr marL="431800" indent="-170180" algn="l" defTabSz="684530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MS PGothic" charset="0"/>
                <a:cs typeface="CiscoSans"/>
              </a:defRPr>
            </a:lvl3pPr>
            <a:lvl4pPr marL="503555" indent="-170180" algn="l" defTabSz="684530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MS PGothic" charset="0"/>
                <a:cs typeface="CiscoSans"/>
              </a:defRPr>
            </a:lvl4pPr>
            <a:lvl5pPr marL="574675" indent="-170180" algn="l" defTabSz="684530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MS PGothic" charset="0"/>
                <a:cs typeface="CiscoSans"/>
              </a:defRPr>
            </a:lvl5pPr>
            <a:lvl6pPr marL="863600" indent="-171450" algn="l" defTabSz="685800" rtl="0" eaLnBrk="1" latinLnBrk="0" hangingPunct="1">
              <a:spcBef>
                <a:spcPts val="600"/>
              </a:spcBef>
              <a:buFont typeface="Arial" panose="020B0604020202020204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990" indent="-171450" algn="l" defTabSz="685800" rtl="0" eaLnBrk="1" latinLnBrk="0" hangingPunct="1">
              <a:spcBef>
                <a:spcPts val="600"/>
              </a:spcBef>
              <a:buFont typeface="Arial" panose="020B0604020202020204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/>
            <a:r>
              <a:rPr lang="pt-BR" sz="1600">
                <a:solidFill>
                  <a:srgbClr val="000000"/>
                </a:solidFill>
              </a:rPr>
              <a:t>Este vídeo aborda o seguinte: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Endereço de rede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Endereço de Broadcast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Primeiro host utilizável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Último host utilizável</a:t>
            </a:r>
            <a:endParaRPr lang="pt-BR" sz="1600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Estrutura de endereço IPv4</a:t>
            </a:r>
            <a:br>
              <a:rPr lang="en-US" dirty="0"/>
            </a:br>
            <a:r>
              <a:rPr lang="pt-BR" sz="2400"/>
              <a:t> Endereços de rede, host e transmissão</a:t>
            </a:r>
            <a:endParaRPr lang="pt-BR" sz="240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1971" y="2222298"/>
            <a:ext cx="2898633" cy="1607424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31971" y="855419"/>
            <a:ext cx="5667615" cy="1328383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Dentro de cada rede há três tipos de endereços IP:</a:t>
            </a:r>
            <a:endParaRPr lang="pt-BR" sz="1600">
              <a:solidFill>
                <a:srgbClr val="000000"/>
              </a:solidFill>
            </a:endParaRPr>
          </a:p>
          <a:p>
            <a:pPr marL="415925" lvl="1" indent="-342900" rtl="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0000"/>
                </a:solidFill>
              </a:rPr>
              <a:t>Endereço de rede</a:t>
            </a:r>
            <a:endParaRPr lang="pt-BR">
              <a:solidFill>
                <a:srgbClr val="000000"/>
              </a:solidFill>
            </a:endParaRPr>
          </a:p>
          <a:p>
            <a:pPr marL="415925" lvl="1" indent="-342900" rtl="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0000"/>
                </a:solidFill>
              </a:rPr>
              <a:t>Endereços de host</a:t>
            </a:r>
            <a:endParaRPr lang="pt-BR">
              <a:solidFill>
                <a:srgbClr val="000000"/>
              </a:solidFill>
            </a:endParaRPr>
          </a:p>
          <a:p>
            <a:pPr marL="415925" lvl="1" indent="-342900" rtl="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0000"/>
                </a:solidFill>
              </a:rPr>
              <a:t>Endereço de broadcast</a:t>
            </a:r>
            <a:endParaRPr lang="pt-BR">
              <a:solidFill>
                <a:srgbClr val="000000"/>
              </a:solidFill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512820" y="2247024"/>
          <a:ext cx="5494020" cy="2237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3980"/>
                <a:gridCol w="2461260"/>
                <a:gridCol w="822960"/>
                <a:gridCol w="845820"/>
              </a:tblGrid>
              <a:tr h="370840"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 marL="31750" marR="31750" marT="31750" marB="3175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50" b="1">
                          <a:effectLst/>
                        </a:rPr>
                        <a:t>Parte de rede</a:t>
                      </a:r>
                      <a:endParaRPr lang="pt-BR" sz="1050" b="1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50" b="1">
                          <a:effectLst/>
                        </a:rPr>
                        <a:t>Parte de host</a:t>
                      </a:r>
                      <a:endParaRPr lang="pt-BR" sz="1050" b="1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50" b="1">
                          <a:effectLst/>
                        </a:rPr>
                        <a:t>Bitsde host</a:t>
                      </a:r>
                      <a:endParaRPr lang="pt-BR" sz="1050" b="1">
                        <a:effectLst/>
                      </a:endParaRPr>
                    </a:p>
                  </a:txBody>
                  <a:tcPr marL="31750" marR="31750" marT="31750" marB="31750" anchor="ctr"/>
                </a:tc>
              </a:tr>
              <a:tr h="370840"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Máscara de sub-rede</a:t>
                      </a:r>
                      <a:endParaRPr lang="pt-BR" sz="1000" b="0">
                        <a:effectLst/>
                      </a:endParaRPr>
                    </a:p>
                    <a:p>
                      <a:pPr rtl="0" fontAlgn="ctr"/>
                      <a:r>
                        <a:rPr lang="pt-BR" sz="1000" b="1">
                          <a:effectLst/>
                        </a:rPr>
                        <a:t>255.255.255.</a:t>
                      </a:r>
                      <a:r>
                        <a:rPr lang="pt-BR" sz="1000" b="0">
                          <a:effectLst/>
                        </a:rPr>
                        <a:t>0 ou </a:t>
                      </a:r>
                      <a:r>
                        <a:rPr lang="pt-BR" sz="1000" b="1">
                          <a:effectLst/>
                        </a:rPr>
                        <a:t>/24</a:t>
                      </a:r>
                      <a:endParaRPr lang="pt-BR" sz="1000" b="1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255 255 255</a:t>
                      </a:r>
                      <a:b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11111111 111111 111111 111111</a:t>
                      </a:r>
                      <a:endParaRPr lang="pt-BR" sz="1000" b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b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00000000</a:t>
                      </a:r>
                      <a:endParaRPr lang="pt-BR" sz="1000" b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endParaRPr lang="en-CA" sz="1000" b="0" dirty="0">
                        <a:effectLst/>
                      </a:endParaRPr>
                    </a:p>
                  </a:txBody>
                  <a:tcPr marL="31750" marR="31750" marT="31750" marB="31750" anchor="ctr"/>
                </a:tc>
              </a:tr>
              <a:tr h="370840"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Endereço de rede</a:t>
                      </a:r>
                      <a:endParaRPr lang="pt-BR" sz="1000" b="0">
                        <a:effectLst/>
                      </a:endParaRPr>
                    </a:p>
                    <a:p>
                      <a:pPr rtl="0" fontAlgn="ctr"/>
                      <a:r>
                        <a:rPr lang="pt-BR" sz="1000" b="1">
                          <a:effectLst/>
                        </a:rPr>
                        <a:t>192.168.10.</a:t>
                      </a:r>
                      <a:r>
                        <a:rPr lang="pt-BR" sz="1000" b="0">
                          <a:effectLst/>
                        </a:rPr>
                        <a:t>0 ou </a:t>
                      </a:r>
                      <a:r>
                        <a:rPr lang="pt-BR" sz="1000" b="1">
                          <a:effectLst/>
                        </a:rPr>
                        <a:t>/24</a:t>
                      </a:r>
                      <a:endParaRPr lang="pt-BR" sz="1000" b="1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192 168 10</a:t>
                      </a:r>
                      <a:b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11000000 10100000 00001010</a:t>
                      </a:r>
                      <a:endParaRPr lang="pt-BR" sz="1000" b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b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00000000</a:t>
                      </a:r>
                      <a:endParaRPr lang="pt-BR" sz="1000" b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00" b="0">
                          <a:effectLst/>
                        </a:rPr>
                        <a:t>Todos os 0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</a:tr>
              <a:tr h="370840"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Primeiro endereço</a:t>
                      </a:r>
                      <a:endParaRPr lang="pt-BR" sz="1000" b="0">
                        <a:effectLst/>
                      </a:endParaRPr>
                    </a:p>
                    <a:p>
                      <a:pPr rtl="0" fontAlgn="ctr"/>
                      <a:r>
                        <a:rPr lang="pt-BR" sz="1000" b="1">
                          <a:effectLst/>
                        </a:rPr>
                        <a:t>192.168.10.1</a:t>
                      </a:r>
                      <a:r>
                        <a:rPr lang="pt-BR" sz="1000" b="0">
                          <a:effectLst/>
                        </a:rPr>
                        <a:t> ou </a:t>
                      </a:r>
                      <a:r>
                        <a:rPr lang="pt-BR" sz="1000" b="1">
                          <a:effectLst/>
                        </a:rPr>
                        <a:t>/24</a:t>
                      </a:r>
                      <a:endParaRPr lang="pt-BR" sz="1000" b="1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192 168 10</a:t>
                      </a:r>
                      <a:b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11000000 10100000 00001010</a:t>
                      </a:r>
                      <a:endParaRPr lang="pt-BR" sz="1000" b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b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00000001</a:t>
                      </a:r>
                      <a:endParaRPr lang="pt-BR" sz="1000" b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00" b="0">
                          <a:effectLst/>
                        </a:rPr>
                        <a:t>Todos os 0s e um 1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</a:tr>
              <a:tr h="370840"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Último endereço</a:t>
                      </a:r>
                      <a:endParaRPr lang="pt-BR" sz="1000" b="0">
                        <a:effectLst/>
                      </a:endParaRPr>
                    </a:p>
                    <a:p>
                      <a:pPr rtl="0" fontAlgn="ctr"/>
                      <a:r>
                        <a:rPr lang="pt-BR" sz="1000" b="1">
                          <a:effectLst/>
                        </a:rPr>
                        <a:t>192.168.10.254</a:t>
                      </a:r>
                      <a:r>
                        <a:rPr lang="pt-BR" sz="1000" b="0">
                          <a:effectLst/>
                        </a:rPr>
                        <a:t> ou </a:t>
                      </a:r>
                      <a:r>
                        <a:rPr lang="pt-BR" sz="1000" b="1">
                          <a:effectLst/>
                        </a:rPr>
                        <a:t>/24</a:t>
                      </a:r>
                      <a:endParaRPr lang="pt-BR" sz="1000" b="1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192 168 10</a:t>
                      </a:r>
                      <a:b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11000000 10100000 00001010</a:t>
                      </a:r>
                      <a:endParaRPr lang="pt-BR" sz="1000" b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254</a:t>
                      </a:r>
                      <a:b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11111110</a:t>
                      </a:r>
                      <a:endParaRPr lang="pt-BR" sz="1000" b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00" b="0">
                          <a:effectLst/>
                        </a:rPr>
                        <a:t>Todos os 1s e um 0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</a:tr>
              <a:tr h="370840"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Endereço de broadcast</a:t>
                      </a:r>
                      <a:endParaRPr lang="pt-BR" sz="1000" b="0">
                        <a:effectLst/>
                      </a:endParaRPr>
                    </a:p>
                    <a:p>
                      <a:pPr rtl="0" fontAlgn="ctr"/>
                      <a:r>
                        <a:rPr lang="pt-BR" sz="1000" b="1">
                          <a:effectLst/>
                        </a:rPr>
                        <a:t>192.168.10.255</a:t>
                      </a:r>
                      <a:r>
                        <a:rPr lang="pt-BR" sz="1000" b="0">
                          <a:effectLst/>
                        </a:rPr>
                        <a:t> ou </a:t>
                      </a:r>
                      <a:r>
                        <a:rPr lang="pt-BR" sz="1000" b="1">
                          <a:effectLst/>
                        </a:rPr>
                        <a:t>/24</a:t>
                      </a:r>
                      <a:endParaRPr lang="pt-BR" sz="1000" b="1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192 168 10</a:t>
                      </a:r>
                      <a:b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11000000 10100000 00001010</a:t>
                      </a:r>
                      <a:endParaRPr lang="pt-BR" sz="1000" b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255</a:t>
                      </a:r>
                      <a:b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</a:t>
                      </a:r>
                      <a:endParaRPr lang="pt-BR" sz="1000" b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00" b="0">
                          <a:effectLst/>
                        </a:rPr>
                        <a:t>Todos os 1s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848344" cy="92964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11.2 Unicast IPv4, transmissão e multicast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Unicast IPv4, Broadcast e Multicast</a:t>
            </a:r>
            <a:br>
              <a:rPr lang="en-US" dirty="0"/>
            </a:br>
            <a:r>
              <a:rPr lang="pt-BR" sz="2400"/>
              <a:t>Unicast</a:t>
            </a:r>
            <a:endParaRPr lang="pt-BR" sz="240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1180771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A transmissão unicast está enviando um pacote para um endereço IP de destino.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Por exemplo, o PC em 172.16.4.1 envia um pacote unicast para a impressora em 172.16.4.253.</a:t>
            </a:r>
            <a:endParaRPr lang="pt-BR" sz="1600">
              <a:solidFill>
                <a:srgbClr val="00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392" y="2132314"/>
            <a:ext cx="2829973" cy="2316347"/>
          </a:xfrm>
          <a:prstGeom prst="rect">
            <a:avLst/>
          </a:prstGeom>
        </p:spPr>
      </p:pic>
      <p:sp>
        <p:nvSpPr>
          <p:cNvPr id="6" name="Arrow: Right 5"/>
          <p:cNvSpPr/>
          <p:nvPr/>
        </p:nvSpPr>
        <p:spPr>
          <a:xfrm>
            <a:off x="3971431" y="2840019"/>
            <a:ext cx="1050306" cy="247426"/>
          </a:xfrm>
          <a:prstGeom prst="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2151" y="2132314"/>
            <a:ext cx="2829973" cy="23163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Unicast IPv4, Broadcast e Multicast</a:t>
            </a:r>
            <a:br>
              <a:rPr lang="en-US" dirty="0"/>
            </a:br>
            <a:r>
              <a:rPr lang="pt-BR" sz="2400"/>
              <a:t>Broadcast</a:t>
            </a:r>
            <a:endParaRPr lang="pt-BR" sz="240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1001661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Transmissão de transmissão está enviando um pacote para todos os outros endereços IP de destino.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Por exemplo, o PC em 172.16.4.1 envia um pacote de difusão para todos os hosts IPv4.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757" y="1992794"/>
            <a:ext cx="2814401" cy="2423094"/>
          </a:xfrm>
          <a:prstGeom prst="rect">
            <a:avLst/>
          </a:prstGeom>
        </p:spPr>
      </p:pic>
      <p:sp>
        <p:nvSpPr>
          <p:cNvPr id="6" name="Arrow: Right 5"/>
          <p:cNvSpPr/>
          <p:nvPr/>
        </p:nvSpPr>
        <p:spPr>
          <a:xfrm>
            <a:off x="4046847" y="2840019"/>
            <a:ext cx="1050306" cy="247426"/>
          </a:xfrm>
          <a:prstGeom prst="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6498" y="1992460"/>
            <a:ext cx="2814401" cy="24230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Unicast IPv4, transmissão e multicast</a:t>
            </a:r>
            <a:br>
              <a:rPr lang="en-US" dirty="0"/>
            </a:br>
            <a:r>
              <a:rPr lang="pt-BR" sz="2400"/>
              <a:t>Multicast</a:t>
            </a:r>
            <a:endParaRPr lang="pt-BR" sz="240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1180771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A transmissão multicast está enviando um pacote para um grupo de endereços multicast.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Por exemplo, o PC em 172.16.4.1 envia um pacote multicast para o endereço de grupo de multicast 224.10.10.5.</a:t>
            </a:r>
            <a:endParaRPr lang="pt-BR" sz="1600">
              <a:solidFill>
                <a:srgbClr val="00000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273" y="2278304"/>
            <a:ext cx="2862981" cy="2169526"/>
          </a:xfrm>
          <a:prstGeom prst="rect">
            <a:avLst/>
          </a:prstGeom>
        </p:spPr>
      </p:pic>
      <p:sp>
        <p:nvSpPr>
          <p:cNvPr id="8" name="Arrow: Right 7"/>
          <p:cNvSpPr/>
          <p:nvPr/>
        </p:nvSpPr>
        <p:spPr>
          <a:xfrm>
            <a:off x="3999712" y="2840019"/>
            <a:ext cx="1050306" cy="247426"/>
          </a:xfrm>
          <a:prstGeom prst="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3711" y="2280614"/>
            <a:ext cx="2862981" cy="21695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848344" cy="92964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11.3 Tipos de endereços IPv4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Tipos de endereços IPv4</a:t>
            </a:r>
            <a:br>
              <a:rPr lang="en-US" dirty="0"/>
            </a:br>
            <a:r>
              <a:rPr lang="pt-BR" sz="2400"/>
              <a:t> Endereços IPv4 públicos e privados</a:t>
            </a:r>
            <a:endParaRPr lang="pt-BR" sz="240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825923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Conforme definido na RFC 1918, os endereços IPv4 públicos são roteados globalmente entre os roteadores do provedor de serviços de Internet (ISP). 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No entanto, os endereços privados não são globalmente roteáveis.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</p:txBody>
      </p:sp>
      <p:sp>
        <p:nvSpPr>
          <p:cNvPr id="5" name="Content Placeholder 3"/>
          <p:cNvSpPr txBox="1"/>
          <p:nvPr/>
        </p:nvSpPr>
        <p:spPr>
          <a:xfrm>
            <a:off x="431971" y="1681342"/>
            <a:ext cx="4269121" cy="2460352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750" marR="0" indent="-28575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defRPr lang="en-US" sz="2000" b="0" i="0" kern="1200" baseline="0">
                <a:solidFill>
                  <a:schemeClr val="bg1"/>
                </a:solidFill>
                <a:latin typeface="+mn-lt"/>
                <a:ea typeface="MS PGothic" charset="0"/>
                <a:cs typeface="CiscoSans ExtraLight"/>
              </a:defRPr>
            </a:lvl1pPr>
            <a:lvl2pPr marL="358775" indent="-215900" algn="l" defTabSz="684530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MS PGothic" charset="0"/>
                <a:cs typeface="CiscoSans"/>
              </a:defRPr>
            </a:lvl2pPr>
            <a:lvl3pPr marL="431800" indent="-170180" algn="l" defTabSz="684530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MS PGothic" charset="0"/>
                <a:cs typeface="CiscoSans"/>
              </a:defRPr>
            </a:lvl3pPr>
            <a:lvl4pPr marL="503555" indent="-170180" algn="l" defTabSz="684530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MS PGothic" charset="0"/>
                <a:cs typeface="CiscoSans"/>
              </a:defRPr>
            </a:lvl4pPr>
            <a:lvl5pPr marL="574675" indent="-170180" algn="l" defTabSz="684530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MS PGothic" charset="0"/>
                <a:cs typeface="CiscoSans"/>
              </a:defRPr>
            </a:lvl5pPr>
            <a:lvl6pPr marL="863600" indent="-171450" algn="l" defTabSz="685800" rtl="0" eaLnBrk="1" latinLnBrk="0" hangingPunct="1">
              <a:spcBef>
                <a:spcPts val="600"/>
              </a:spcBef>
              <a:buFont typeface="Arial" panose="020B0604020202020204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990" indent="-171450" algn="l" defTabSz="685800" rtl="0" eaLnBrk="1" latinLnBrk="0" hangingPunct="1">
              <a:spcBef>
                <a:spcPts val="600"/>
              </a:spcBef>
              <a:buFont typeface="Arial" panose="020B0604020202020204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Endereços privados são blocos comuns de endereços usados pela maioria das organizações para atribuir endereços IPv4 a hosts internos.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Os endereços IPv4 privados não são exclusivos e podem ser usados internamente em qualquer rede.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173532" y="1804924"/>
          <a:ext cx="3644396" cy="1511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648"/>
                <a:gridCol w="2424748"/>
              </a:tblGrid>
              <a:tr h="370840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100" b="1">
                          <a:effectLst/>
                        </a:rPr>
                        <a:t>Endereço de rede e prefixo</a:t>
                      </a:r>
                      <a:endParaRPr lang="pt-BR" sz="1100" b="1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100" b="1">
                          <a:effectLst/>
                        </a:rPr>
                        <a:t>RFC 1918 Intervalo de endereços privados</a:t>
                      </a:r>
                      <a:endParaRPr lang="pt-BR" sz="1100" b="1">
                        <a:effectLst/>
                      </a:endParaRPr>
                    </a:p>
                  </a:txBody>
                  <a:tcPr marL="31750" marR="31750" marT="31750" marB="31750" anchor="ctr"/>
                </a:tc>
              </a:tr>
              <a:tr h="370840">
                <a:tc>
                  <a:txBody>
                    <a:bodyPr/>
                    <a:lstStyle/>
                    <a:p>
                      <a:pPr rtl="0" fontAlgn="ctr"/>
                      <a:r>
                        <a:rPr lang="pt-BR" sz="1100" b="0">
                          <a:effectLst/>
                        </a:rPr>
                        <a:t>10.0.0.0/8</a:t>
                      </a:r>
                      <a:endParaRPr lang="pt-BR" sz="1100" b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100" b="0">
                          <a:effectLst/>
                        </a:rPr>
                        <a:t>10.0.0.0 - 10.255.255.255</a:t>
                      </a:r>
                      <a:endParaRPr lang="pt-BR" sz="1100" b="0">
                        <a:effectLst/>
                      </a:endParaRPr>
                    </a:p>
                  </a:txBody>
                  <a:tcPr marL="31750" marR="31750" marT="31750" marB="31750" anchor="ctr"/>
                </a:tc>
              </a:tr>
              <a:tr h="370840">
                <a:tc>
                  <a:txBody>
                    <a:bodyPr/>
                    <a:lstStyle/>
                    <a:p>
                      <a:pPr rtl="0" fontAlgn="ctr"/>
                      <a:r>
                        <a:rPr lang="pt-BR" sz="1100" b="0">
                          <a:effectLst/>
                        </a:rPr>
                        <a:t>172.16.0.0/12</a:t>
                      </a:r>
                      <a:endParaRPr lang="pt-BR" sz="1100" b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100" b="0">
                          <a:effectLst/>
                        </a:rPr>
                        <a:t>172.16.0.0 - 172.31.255.255</a:t>
                      </a:r>
                      <a:endParaRPr lang="pt-BR" sz="1100" b="0">
                        <a:effectLst/>
                      </a:endParaRPr>
                    </a:p>
                  </a:txBody>
                  <a:tcPr marL="31750" marR="31750" marT="31750" marB="31750" anchor="ctr"/>
                </a:tc>
              </a:tr>
              <a:tr h="370840">
                <a:tc>
                  <a:txBody>
                    <a:bodyPr/>
                    <a:lstStyle/>
                    <a:p>
                      <a:pPr rtl="0" fontAlgn="ctr"/>
                      <a:r>
                        <a:rPr lang="pt-BR" sz="1100" b="0">
                          <a:effectLst/>
                        </a:rPr>
                        <a:t>192.168.0.0/16</a:t>
                      </a:r>
                      <a:endParaRPr lang="pt-BR" sz="1100" b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100" b="0">
                          <a:effectLst/>
                        </a:rPr>
                        <a:t>192.168.0.0 - 192.168.255.255</a:t>
                      </a:r>
                      <a:endParaRPr lang="pt-BR" sz="1100" b="0">
                        <a:effectLst/>
                      </a:endParaRPr>
                    </a:p>
                  </a:txBody>
                  <a:tcPr marL="31750" marR="31750" marT="31750" marB="31750" anchor="ctr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Tipos de Endereços IPv4</a:t>
            </a:r>
            <a:br>
              <a:rPr lang="en-US" dirty="0"/>
            </a:br>
            <a:r>
              <a:rPr lang="pt-BR" sz="2400"/>
              <a:t>Roteamento para a Internet</a:t>
            </a:r>
            <a:endParaRPr lang="pt-BR" sz="240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728192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A conversão de endereços de rede (NAT) converte endereços IPv4 privados em endereços IPv4 públicos.</a:t>
            </a:r>
            <a:endParaRPr lang="pt-BR" sz="1600">
              <a:solidFill>
                <a:srgbClr val="000000"/>
              </a:solidFill>
            </a:endParaRPr>
          </a:p>
        </p:txBody>
      </p:sp>
      <p:sp>
        <p:nvSpPr>
          <p:cNvPr id="5" name="Content Placeholder 3"/>
          <p:cNvSpPr txBox="1"/>
          <p:nvPr/>
        </p:nvSpPr>
        <p:spPr>
          <a:xfrm>
            <a:off x="431971" y="1683758"/>
            <a:ext cx="2905739" cy="3073946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750" marR="0" indent="-28575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defRPr lang="en-US" sz="2000" b="0" i="0" kern="1200" baseline="0">
                <a:solidFill>
                  <a:schemeClr val="bg1"/>
                </a:solidFill>
                <a:latin typeface="+mn-lt"/>
                <a:ea typeface="MS PGothic" charset="0"/>
                <a:cs typeface="CiscoSans ExtraLight"/>
              </a:defRPr>
            </a:lvl1pPr>
            <a:lvl2pPr marL="358775" indent="-215900" algn="l" defTabSz="684530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MS PGothic" charset="0"/>
                <a:cs typeface="CiscoSans"/>
              </a:defRPr>
            </a:lvl2pPr>
            <a:lvl3pPr marL="431800" indent="-170180" algn="l" defTabSz="684530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MS PGothic" charset="0"/>
                <a:cs typeface="CiscoSans"/>
              </a:defRPr>
            </a:lvl3pPr>
            <a:lvl4pPr marL="503555" indent="-170180" algn="l" defTabSz="684530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MS PGothic" charset="0"/>
                <a:cs typeface="CiscoSans"/>
              </a:defRPr>
            </a:lvl4pPr>
            <a:lvl5pPr marL="574675" indent="-170180" algn="l" defTabSz="684530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MS PGothic" charset="0"/>
                <a:cs typeface="CiscoSans"/>
              </a:defRPr>
            </a:lvl5pPr>
            <a:lvl6pPr marL="863600" indent="-171450" algn="l" defTabSz="685800" rtl="0" eaLnBrk="1" latinLnBrk="0" hangingPunct="1">
              <a:spcBef>
                <a:spcPts val="600"/>
              </a:spcBef>
              <a:buFont typeface="Arial" panose="020B0604020202020204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990" indent="-171450" algn="l" defTabSz="685800" rtl="0" eaLnBrk="1" latinLnBrk="0" hangingPunct="1">
              <a:spcBef>
                <a:spcPts val="600"/>
              </a:spcBef>
              <a:buFont typeface="Arial" panose="020B0604020202020204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Normalmente, o NAT é habilitado no roteador de borda que se conecta à Internet.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Ele converte o endereço privado interno em um endereço IP global público.</a:t>
            </a:r>
            <a:endParaRPr lang="pt-BR" sz="1600">
              <a:solidFill>
                <a:srgbClr val="00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7710" y="1583611"/>
            <a:ext cx="5288257" cy="34402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Tipos de endereços IPv4</a:t>
            </a:r>
            <a:br>
              <a:rPr lang="en-US" dirty="0"/>
            </a:br>
            <a:r>
              <a:rPr lang="pt-BR" sz="2400"/>
              <a:t> Endereços IPv4 de uso especial</a:t>
            </a:r>
            <a:endParaRPr lang="pt-BR" sz="240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31971" y="855419"/>
            <a:ext cx="4799905" cy="1478990"/>
          </a:xfrm>
        </p:spPr>
        <p:txBody>
          <a:bodyPr/>
          <a:lstStyle/>
          <a:p>
            <a:pPr marL="0" indent="0" algn="l" rtl="0"/>
            <a:r>
              <a:rPr lang="pt-BR">
                <a:solidFill>
                  <a:srgbClr val="000000"/>
                </a:solidFill>
              </a:rPr>
              <a:t>Endereços de loopback</a:t>
            </a:r>
            <a:endParaRPr lang="pt-BR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127.0.0.0 / 8 (127.0.0.1 a 127.255.255.254)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Comumente identificado como apenas 127.0.0.1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Usado em um host para testar se o TCP / IP está operacional.</a:t>
            </a:r>
            <a:endParaRPr lang="pt-BR" sz="1600">
              <a:solidFill>
                <a:srgbClr val="00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57308" y="1214135"/>
            <a:ext cx="3564074" cy="876875"/>
          </a:xfrm>
          <a:prstGeom prst="rect">
            <a:avLst/>
          </a:prstGeom>
        </p:spPr>
      </p:pic>
      <p:sp>
        <p:nvSpPr>
          <p:cNvPr id="5" name="Content Placeholder 3"/>
          <p:cNvSpPr txBox="1"/>
          <p:nvPr/>
        </p:nvSpPr>
        <p:spPr>
          <a:xfrm>
            <a:off x="431970" y="2385343"/>
            <a:ext cx="8206421" cy="1906958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750" marR="0" indent="-28575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defRPr lang="en-US" sz="2000" b="0" i="0" kern="1200" baseline="0">
                <a:solidFill>
                  <a:schemeClr val="bg1"/>
                </a:solidFill>
                <a:latin typeface="+mn-lt"/>
                <a:ea typeface="MS PGothic" charset="0"/>
                <a:cs typeface="CiscoSans ExtraLight"/>
              </a:defRPr>
            </a:lvl1pPr>
            <a:lvl2pPr marL="358775" indent="-215900" algn="l" defTabSz="684530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MS PGothic" charset="0"/>
                <a:cs typeface="CiscoSans"/>
              </a:defRPr>
            </a:lvl2pPr>
            <a:lvl3pPr marL="431800" indent="-170180" algn="l" defTabSz="684530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MS PGothic" charset="0"/>
                <a:cs typeface="CiscoSans"/>
              </a:defRPr>
            </a:lvl3pPr>
            <a:lvl4pPr marL="503555" indent="-170180" algn="l" defTabSz="684530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MS PGothic" charset="0"/>
                <a:cs typeface="CiscoSans"/>
              </a:defRPr>
            </a:lvl4pPr>
            <a:lvl5pPr marL="574675" indent="-170180" algn="l" defTabSz="684530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MS PGothic" charset="0"/>
                <a:cs typeface="CiscoSans"/>
              </a:defRPr>
            </a:lvl5pPr>
            <a:lvl6pPr marL="863600" indent="-171450" algn="l" defTabSz="685800" rtl="0" eaLnBrk="1" latinLnBrk="0" hangingPunct="1">
              <a:spcBef>
                <a:spcPts val="600"/>
              </a:spcBef>
              <a:buFont typeface="Arial" panose="020B0604020202020204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990" indent="-171450" algn="l" defTabSz="685800" rtl="0" eaLnBrk="1" latinLnBrk="0" hangingPunct="1">
              <a:spcBef>
                <a:spcPts val="600"/>
              </a:spcBef>
              <a:buFont typeface="Arial" panose="020B0604020202020204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/>
            <a:r>
              <a:rPr lang="pt-BR">
                <a:solidFill>
                  <a:srgbClr val="000000"/>
                </a:solidFill>
              </a:rPr>
              <a:t>Endereços locais de link</a:t>
            </a:r>
            <a:endParaRPr lang="pt-BR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169.254.0.0 / 16 (169.254.0.1 a 169.254.255.254)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Comumente conhecido como endereços APIPA (Automatic Private IP Addressing) ou endereços auto-atribuídos. 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Usado pelos clientes DHCP do Windows para se autoconfigurar quando nenhum servidor DHCP está disponível.</a:t>
            </a:r>
            <a:endParaRPr lang="pt-BR" sz="1600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Tipos de endereços IPv4</a:t>
            </a:r>
            <a:br>
              <a:rPr lang="en-US" dirty="0"/>
            </a:br>
            <a:r>
              <a:rPr lang="pt-BR" sz="2400"/>
              <a:t>Endereçamento Classificado Legado</a:t>
            </a:r>
            <a:endParaRPr lang="pt-BR" sz="240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2551" y="1248180"/>
            <a:ext cx="3163682" cy="1836595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31972" y="685733"/>
            <a:ext cx="4956309" cy="4060826"/>
          </a:xfrm>
        </p:spPr>
        <p:txBody>
          <a:bodyPr/>
          <a:lstStyle/>
          <a:p>
            <a:pPr marL="0" indent="0" algn="l" rtl="0"/>
            <a:r>
              <a:rPr lang="pt-BR">
                <a:solidFill>
                  <a:srgbClr val="000000"/>
                </a:solidFill>
              </a:rPr>
              <a:t>RFC 790 (1981) alocado endereços IPv4 em classes</a:t>
            </a:r>
            <a:endParaRPr lang="pt-BR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Classe A (0.0.0/8 a 127.0.0.0/8)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Classe B (128.0.0.0 /16 — 191.255.0.0 /16)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Classe C (192.0.0.0 /24 — 223.255.255.0 /24)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Classe D (224.0.0.0 a 239.0.0.0)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Classe E (240.0.0.0 — 255.0.0.0)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Endereços de classe desperdiçaram muitos endereços IPv4.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0" indent="0" algn="l" rtl="0"/>
            <a:r>
              <a:rPr lang="pt-BR" sz="1600">
                <a:solidFill>
                  <a:srgbClr val="000000"/>
                </a:solidFill>
              </a:rPr>
              <a:t>A alocação de endereços de classe foi substituída por endereçamento sem classe que ignora as regras das classes (A, B, C). </a:t>
            </a:r>
            <a:endParaRPr lang="pt-BR" sz="1600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Tipos de endereço IPv4 </a:t>
            </a:r>
            <a:br>
              <a:rPr lang="en-US" dirty="0"/>
            </a:br>
            <a:r>
              <a:rPr lang="pt-BR" sz="2400"/>
              <a:t>Atribuição de endereços IP</a:t>
            </a:r>
            <a:endParaRPr lang="pt-BR" sz="240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737711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A IANA (Internet Assigned Numbers Authority) gerencia e aloca blocos de endereços IPv4 e IPv6 a cinco RIRs (Registros Regionais da Internet). </a:t>
            </a:r>
            <a:endParaRPr lang="pt-BR" sz="1600">
              <a:solidFill>
                <a:srgbClr val="000000"/>
              </a:solidFill>
            </a:endParaRPr>
          </a:p>
        </p:txBody>
      </p:sp>
      <p:sp>
        <p:nvSpPr>
          <p:cNvPr id="5" name="Content Placeholder 3"/>
          <p:cNvSpPr txBox="1"/>
          <p:nvPr/>
        </p:nvSpPr>
        <p:spPr>
          <a:xfrm>
            <a:off x="431970" y="1681116"/>
            <a:ext cx="3337951" cy="2248249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750" marR="0" indent="-28575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defRPr lang="en-US" sz="2000" b="0" i="0" kern="1200" baseline="0">
                <a:solidFill>
                  <a:schemeClr val="bg1"/>
                </a:solidFill>
                <a:latin typeface="+mn-lt"/>
                <a:ea typeface="MS PGothic" charset="0"/>
                <a:cs typeface="CiscoSans ExtraLight"/>
              </a:defRPr>
            </a:lvl1pPr>
            <a:lvl2pPr marL="358775" indent="-215900" algn="l" defTabSz="684530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MS PGothic" charset="0"/>
                <a:cs typeface="CiscoSans"/>
              </a:defRPr>
            </a:lvl2pPr>
            <a:lvl3pPr marL="431800" indent="-170180" algn="l" defTabSz="684530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MS PGothic" charset="0"/>
                <a:cs typeface="CiscoSans"/>
              </a:defRPr>
            </a:lvl3pPr>
            <a:lvl4pPr marL="503555" indent="-170180" algn="l" defTabSz="684530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MS PGothic" charset="0"/>
                <a:cs typeface="CiscoSans"/>
              </a:defRPr>
            </a:lvl4pPr>
            <a:lvl5pPr marL="574675" indent="-170180" algn="l" defTabSz="684530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MS PGothic" charset="0"/>
                <a:cs typeface="CiscoSans"/>
              </a:defRPr>
            </a:lvl5pPr>
            <a:lvl6pPr marL="863600" indent="-171450" algn="l" defTabSz="685800" rtl="0" eaLnBrk="1" latinLnBrk="0" hangingPunct="1">
              <a:spcBef>
                <a:spcPts val="600"/>
              </a:spcBef>
              <a:buFont typeface="Arial" panose="020B0604020202020204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990" indent="-171450" algn="l" defTabSz="685800" rtl="0" eaLnBrk="1" latinLnBrk="0" hangingPunct="1">
              <a:spcBef>
                <a:spcPts val="600"/>
              </a:spcBef>
              <a:buFont typeface="Arial" panose="020B0604020202020204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Os RIRs são responsáveis pela alocação de endereços IP aos ISPs que fornecem blocos de endereços IPv4 a ISPs e organizações menores. </a:t>
            </a:r>
            <a:endParaRPr lang="pt-BR" sz="1600">
              <a:solidFill>
                <a:srgbClr val="00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7299" y="1681116"/>
            <a:ext cx="4607351" cy="237183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848344" cy="92964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11.4 Segmentação</a:t>
            </a:r>
            <a:br>
              <a:rPr lang="en-CA" dirty="0">
                <a:solidFill>
                  <a:schemeClr val="accent5">
                    <a:lumMod val="40000"/>
                    <a:lumOff val="60000"/>
                  </a:schemeClr>
                </a:solidFill>
              </a:rPr>
            </a:br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de rede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Segmentação de rede</a:t>
            </a:r>
            <a:br>
              <a:rPr lang="en-US" dirty="0"/>
            </a:br>
            <a:r>
              <a:rPr lang="pt-BR" sz="2400"/>
              <a:t>Domínios e Segmentação de Broadcast</a:t>
            </a:r>
            <a:endParaRPr lang="pt-BR" sz="2400"/>
          </a:p>
        </p:txBody>
      </p:sp>
      <p:sp>
        <p:nvSpPr>
          <p:cNvPr id="4" name="Content Placeholder 1"/>
          <p:cNvSpPr>
            <a:spLocks noGrp="1"/>
          </p:cNvSpPr>
          <p:nvPr>
            <p:ph idx="1"/>
          </p:nvPr>
        </p:nvSpPr>
        <p:spPr>
          <a:xfrm>
            <a:off x="431971" y="855418"/>
            <a:ext cx="8217177" cy="1190197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Muitos protocolos usam transmissões ou multicasts (por exemplo, ARP usam transmissões para localizar outros dispositivos, hosts enviam transmissões de descoberta DHCP para localizar um servidor DHCP).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Os switches propagam broadcasts por todas as interfaces, exceto a interface em que foram recebidos. </a:t>
            </a:r>
            <a:endParaRPr lang="pt-BR" sz="1600">
              <a:solidFill>
                <a:srgbClr val="00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5916" y="1910848"/>
            <a:ext cx="4432055" cy="2638933"/>
          </a:xfrm>
          <a:prstGeom prst="rect">
            <a:avLst/>
          </a:prstGeom>
        </p:spPr>
      </p:pic>
      <p:sp>
        <p:nvSpPr>
          <p:cNvPr id="5" name="Content Placeholder 3"/>
          <p:cNvSpPr txBox="1"/>
          <p:nvPr/>
        </p:nvSpPr>
        <p:spPr>
          <a:xfrm>
            <a:off x="5464792" y="2205317"/>
            <a:ext cx="3324206" cy="2344464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750" marR="0" indent="-28575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defRPr lang="en-US" sz="2000" b="0" i="0" kern="1200" baseline="0">
                <a:solidFill>
                  <a:schemeClr val="bg1"/>
                </a:solidFill>
                <a:latin typeface="+mn-lt"/>
                <a:ea typeface="MS PGothic" charset="0"/>
                <a:cs typeface="CiscoSans ExtraLight"/>
              </a:defRPr>
            </a:lvl1pPr>
            <a:lvl2pPr marL="358775" indent="-215900" algn="l" defTabSz="684530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MS PGothic" charset="0"/>
                <a:cs typeface="CiscoSans"/>
              </a:defRPr>
            </a:lvl2pPr>
            <a:lvl3pPr marL="431800" indent="-170180" algn="l" defTabSz="684530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MS PGothic" charset="0"/>
                <a:cs typeface="CiscoSans"/>
              </a:defRPr>
            </a:lvl3pPr>
            <a:lvl4pPr marL="503555" indent="-170180" algn="l" defTabSz="684530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MS PGothic" charset="0"/>
                <a:cs typeface="CiscoSans"/>
              </a:defRPr>
            </a:lvl4pPr>
            <a:lvl5pPr marL="574675" indent="-170180" algn="l" defTabSz="684530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MS PGothic" charset="0"/>
                <a:cs typeface="CiscoSans"/>
              </a:defRPr>
            </a:lvl5pPr>
            <a:lvl6pPr marL="863600" indent="-171450" algn="l" defTabSz="685800" rtl="0" eaLnBrk="1" latinLnBrk="0" hangingPunct="1">
              <a:spcBef>
                <a:spcPts val="600"/>
              </a:spcBef>
              <a:buFont typeface="Arial" panose="020B0604020202020204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990" indent="-171450" algn="l" defTabSz="685800" rtl="0" eaLnBrk="1" latinLnBrk="0" hangingPunct="1">
              <a:spcBef>
                <a:spcPts val="600"/>
              </a:spcBef>
              <a:buFont typeface="Arial" panose="020B0604020202020204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O único dispositivo que interrompe as transmissões é um roteador.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Roteadores não propagam broadcasts. 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Cada interface do roteador se conecta a um domínio de broadcast e as transmissões são propagadas apenas dentro desse domínio de broadcast específico.</a:t>
            </a:r>
            <a:endParaRPr lang="pt-BR" sz="1600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Segmentação de rede</a:t>
            </a:r>
            <a:br>
              <a:rPr lang="en-US" dirty="0"/>
            </a:br>
            <a:r>
              <a:rPr lang="pt-BR" sz="2400"/>
              <a:t>Problemas com grandes domínios de transmissão</a:t>
            </a:r>
            <a:endParaRPr lang="pt-BR" sz="240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31971" y="855418"/>
            <a:ext cx="4807003" cy="3899461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Um problema desse tipo de domínio é que os hosts podem gerar broadcasts em excesso e afetar a rede de forma negativa.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A solução é reduzir o tamanho da rede para criar domínios de broadcast menores em um processo denominado divisão em sub-redes. 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Dividindo o endereço de rede 172.16.0.0 / 16 em duas sub-redes de 200 usuários cada: 172.16.0.0 / 24 e 172.16.1.0 / 24. 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Os broadcasts são propagados apenas dentro dos domínios de broadcast menores. </a:t>
            </a:r>
            <a:endParaRPr lang="pt-BR" sz="1600">
              <a:solidFill>
                <a:srgbClr val="00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7794" y="582072"/>
            <a:ext cx="3330224" cy="198000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5109" y="2791150"/>
            <a:ext cx="3802562" cy="175576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Segmentação de rede </a:t>
            </a:r>
            <a:br>
              <a:rPr lang="en-US" dirty="0"/>
            </a:br>
            <a:r>
              <a:rPr lang="pt-BR" sz="2400"/>
              <a:t>Razões para segmentar redes</a:t>
            </a:r>
            <a:endParaRPr lang="pt-BR" sz="240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1550058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A divisão em sub-redes reduz o tráfego total da rede e melhora seu desempenho. 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Ele pode ser usado para implementar políticas de segurança entre sub-redes.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A sub-rede reduz o número de dispositivos afetados pelo tráfego de transmissão anormal.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As sub-redes são usadas por uma variedade de razões, incluindo: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75431" y="2492000"/>
            <a:ext cx="2698320" cy="1806839"/>
          </a:xfrm>
          <a:prstGeom prst="rect">
            <a:avLst/>
          </a:prstGeom>
          <a:noFill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t"/>
          <a:lstStyle/>
          <a:p>
            <a:pPr rtl="0"/>
            <a:r>
              <a:rPr lang="pt-BR" sz="1600"/>
              <a:t>Local</a:t>
            </a:r>
            <a:endParaRPr lang="pt-BR" sz="160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756" y="2914594"/>
            <a:ext cx="2789064" cy="131832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342986" y="2492000"/>
            <a:ext cx="2698320" cy="2036970"/>
          </a:xfrm>
          <a:prstGeom prst="rect">
            <a:avLst/>
          </a:prstGeom>
          <a:noFill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t"/>
          <a:lstStyle/>
          <a:p>
            <a:pPr rtl="0"/>
            <a:r>
              <a:rPr lang="pt-BR" sz="1600"/>
              <a:t>Grupo ou Função</a:t>
            </a:r>
            <a:endParaRPr lang="pt-BR" sz="160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7358" y="2879280"/>
            <a:ext cx="2372228" cy="157170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319781" y="2483461"/>
            <a:ext cx="2523186" cy="2036970"/>
          </a:xfrm>
          <a:prstGeom prst="rect">
            <a:avLst/>
          </a:prstGeom>
          <a:noFill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t"/>
          <a:lstStyle/>
          <a:p>
            <a:pPr rtl="0"/>
            <a:r>
              <a:rPr lang="pt-BR" sz="1600"/>
              <a:t>Tipo de dispositivo</a:t>
            </a:r>
            <a:endParaRPr lang="pt-BR" sz="160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832" y="2900796"/>
            <a:ext cx="2372228" cy="15717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848344" cy="92964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11.5 Sub-rede uma rede</a:t>
            </a:r>
            <a:br>
              <a:rPr lang="en-CA" dirty="0">
                <a:solidFill>
                  <a:schemeClr val="accent5">
                    <a:lumMod val="40000"/>
                    <a:lumOff val="60000"/>
                  </a:schemeClr>
                </a:solidFill>
              </a:rPr>
            </a:br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IPv4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Sub-rede de uma rede IPv4</a:t>
            </a:r>
            <a:br>
              <a:rPr lang="en-US" dirty="0"/>
            </a:br>
            <a:r>
              <a:rPr lang="pt-BR" sz="2400"/>
              <a:t>Sub-rede em um limite de octeto</a:t>
            </a:r>
            <a:endParaRPr lang="pt-BR" sz="240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1114783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É mais fácil dividir redes em sub-redes nos limites dos octetos: /8, /16 e /24. 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Observe que o uso de prefixos mais longos diminui o número de hosts por sub-rede.</a:t>
            </a:r>
            <a:endParaRPr lang="pt-BR" sz="1600">
              <a:solidFill>
                <a:srgbClr val="000000"/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91974" y="2111017"/>
          <a:ext cx="6896100" cy="1567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3376"/>
                <a:gridCol w="1215438"/>
                <a:gridCol w="3473910"/>
                <a:gridCol w="1103376"/>
              </a:tblGrid>
              <a:tr h="370840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100" b="1">
                          <a:effectLst/>
                        </a:rPr>
                        <a:t>Comprimento do Prefixo</a:t>
                      </a:r>
                      <a:endParaRPr lang="pt-BR" sz="1100" b="1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100" b="1">
                          <a:effectLst/>
                        </a:rPr>
                        <a:t>Máscara de sub-rede</a:t>
                      </a:r>
                      <a:endParaRPr lang="pt-BR" sz="1100" b="1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100" b="1">
                          <a:effectLst/>
                        </a:rPr>
                        <a:t>Máscara de sub-rede em binário (n = rede, h = host)</a:t>
                      </a:r>
                      <a:endParaRPr lang="pt-BR" sz="1100" b="1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100" b="1">
                          <a:effectLst/>
                        </a:rPr>
                        <a:t>Nº de hosts</a:t>
                      </a:r>
                      <a:endParaRPr lang="pt-BR" sz="1100" b="1">
                        <a:effectLst/>
                      </a:endParaRPr>
                    </a:p>
                  </a:txBody>
                  <a:tcPr marL="31750" marR="31750" marT="31750" marB="31750" anchor="ctr"/>
                </a:tc>
              </a:tr>
              <a:tr h="370840">
                <a:tc>
                  <a:txBody>
                    <a:bodyPr/>
                    <a:lstStyle/>
                    <a:p>
                      <a:pPr rtl="0" fontAlgn="ctr"/>
                      <a:r>
                        <a:rPr lang="pt-BR" sz="1100" b="1">
                          <a:effectLst/>
                        </a:rPr>
                        <a:t>/8</a:t>
                      </a:r>
                      <a:endParaRPr lang="pt-BR" sz="1100" b="1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100" b="1">
                          <a:effectLst/>
                        </a:rPr>
                        <a:t>255</a:t>
                      </a:r>
                      <a:r>
                        <a:rPr lang="pt-BR" sz="1100" b="0">
                          <a:effectLst/>
                        </a:rPr>
                        <a:t>.0.0.0</a:t>
                      </a:r>
                      <a:endParaRPr lang="pt-BR" sz="1100" b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1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</a:t>
                      </a:r>
                      <a:r>
                        <a:rPr lang="pt-BR" sz="11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.hhhhhhhh.hhhhhhhh.hhhhhhhh </a:t>
                      </a:r>
                      <a:br>
                        <a:rPr lang="en-CA" sz="11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1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</a:t>
                      </a:r>
                      <a:r>
                        <a:rPr lang="pt-BR" sz="11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.00000000.00000000.00000000</a:t>
                      </a:r>
                      <a:endParaRPr lang="pt-BR" sz="1100" b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16.777.214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</a:tr>
              <a:tr h="370840">
                <a:tc>
                  <a:txBody>
                    <a:bodyPr/>
                    <a:lstStyle/>
                    <a:p>
                      <a:pPr rtl="0" fontAlgn="ctr"/>
                      <a:r>
                        <a:rPr lang="pt-BR" sz="1100" b="1">
                          <a:effectLst/>
                        </a:rPr>
                        <a:t>/16</a:t>
                      </a:r>
                      <a:endParaRPr lang="pt-BR" sz="1100" b="1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100" b="1">
                          <a:effectLst/>
                        </a:rPr>
                        <a:t>255.255</a:t>
                      </a:r>
                      <a:r>
                        <a:rPr lang="pt-BR" sz="1100" b="0">
                          <a:effectLst/>
                        </a:rPr>
                        <a:t>.0.0</a:t>
                      </a:r>
                      <a:endParaRPr lang="pt-BR" sz="1100" b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1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nnnnnnnn.nnnnnnnn</a:t>
                      </a:r>
                      <a:r>
                        <a:rPr lang="pt-BR" sz="11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.hhhhhhhh.hhhhhhhh </a:t>
                      </a:r>
                      <a:br>
                        <a:rPr lang="en-CA" sz="11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1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11111111.11111111</a:t>
                      </a:r>
                      <a:r>
                        <a:rPr lang="pt-BR" sz="11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.00000000.00000000</a:t>
                      </a:r>
                      <a:endParaRPr lang="pt-BR" sz="1100" b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65.534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</a:tr>
              <a:tr h="370840">
                <a:tc>
                  <a:txBody>
                    <a:bodyPr/>
                    <a:lstStyle/>
                    <a:p>
                      <a:pPr rtl="0" fontAlgn="ctr"/>
                      <a:r>
                        <a:rPr lang="pt-BR" sz="1100" b="1">
                          <a:effectLst/>
                        </a:rPr>
                        <a:t>/24</a:t>
                      </a:r>
                      <a:endParaRPr lang="pt-BR" sz="1100" b="1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100" b="1">
                          <a:effectLst/>
                        </a:rPr>
                        <a:t>255.255.255</a:t>
                      </a:r>
                      <a:r>
                        <a:rPr lang="pt-BR" sz="1100" b="0">
                          <a:effectLst/>
                        </a:rPr>
                        <a:t>.0</a:t>
                      </a:r>
                      <a:endParaRPr lang="pt-BR" sz="1100" b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1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nnnnnnnn.nnnnnnnn</a:t>
                      </a:r>
                      <a:r>
                        <a:rPr lang="pt-BR" sz="11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</a:t>
                      </a:r>
                      <a:r>
                        <a:rPr lang="pt-BR" sz="11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</a:t>
                      </a:r>
                      <a:r>
                        <a:rPr lang="pt-BR" sz="11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.hhhhhhhh </a:t>
                      </a:r>
                      <a:br>
                        <a:rPr lang="en-CA" sz="11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1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11111111.11111111.11111111</a:t>
                      </a:r>
                      <a:r>
                        <a:rPr lang="pt-BR" sz="11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.00000000</a:t>
                      </a:r>
                      <a:endParaRPr lang="pt-BR" sz="1100" b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254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Sub-rede de uma rede IPv4</a:t>
            </a:r>
            <a:br>
              <a:rPr lang="en-US" dirty="0"/>
            </a:br>
            <a:r>
              <a:rPr lang="pt-BR" sz="2400"/>
              <a:t> em um limite de octeto (cont.)</a:t>
            </a:r>
            <a:endParaRPr lang="pt-BR" sz="240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807768"/>
            <a:ext cx="8280057" cy="362511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Na primeira tabela 10.0.0.0/8 é sub-rede usando /16 e na segunda tabela, uma máscara /24.</a:t>
            </a:r>
            <a:endParaRPr lang="pt-BR" sz="1600">
              <a:solidFill>
                <a:srgbClr val="000000"/>
              </a:solidFill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1246211"/>
          <a:ext cx="3870960" cy="3435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6314"/>
                <a:gridCol w="1741186"/>
                <a:gridCol w="1013460"/>
              </a:tblGrid>
              <a:tr h="409211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b="1">
                          <a:effectLst/>
                        </a:rPr>
                        <a:t>Endereço de sub-rede </a:t>
                      </a:r>
                      <a:br>
                        <a:rPr lang="en-CA" sz="1000" b="1" dirty="0">
                          <a:effectLst/>
                        </a:rPr>
                      </a:br>
                      <a:r>
                        <a:rPr lang="pt-BR" sz="1000" b="0">
                          <a:effectLst/>
                        </a:rPr>
                        <a:t>(256 possíveis sub-redes)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b="1">
                          <a:effectLst/>
                        </a:rPr>
                        <a:t>Intervalo de hosts </a:t>
                      </a:r>
                      <a:br>
                        <a:rPr lang="en-CA" sz="1000" b="1" dirty="0">
                          <a:effectLst/>
                        </a:rPr>
                      </a:br>
                      <a:r>
                        <a:rPr lang="pt-BR" sz="1000" b="0">
                          <a:effectLst/>
                        </a:rPr>
                        <a:t>(65.534 hosts possíveis por sub-rede)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b="1">
                          <a:effectLst/>
                        </a:rPr>
                        <a:t>Broadcast</a:t>
                      </a:r>
                      <a:endParaRPr lang="pt-BR" sz="1000" b="1">
                        <a:effectLst/>
                      </a:endParaRPr>
                    </a:p>
                  </a:txBody>
                  <a:tcPr marL="31750" marR="31750" marT="31750" marB="31750" anchor="ctr"/>
                </a:tc>
              </a:tr>
              <a:tr h="291438"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10.0</a:t>
                      </a:r>
                      <a:r>
                        <a:rPr lang="pt-BR" sz="1000" b="0">
                          <a:effectLst/>
                        </a:rPr>
                        <a:t>.0.0</a:t>
                      </a:r>
                      <a:r>
                        <a:rPr lang="pt-BR" sz="1000" b="1">
                          <a:effectLst/>
                        </a:rPr>
                        <a:t>/16</a:t>
                      </a:r>
                      <a:endParaRPr lang="pt-BR" sz="1000" b="1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10.0</a:t>
                      </a:r>
                      <a:r>
                        <a:rPr lang="pt-BR" sz="1000" b="0">
                          <a:effectLst/>
                        </a:rPr>
                        <a:t>.0.1 - </a:t>
                      </a:r>
                      <a:r>
                        <a:rPr lang="pt-BR" sz="1000" b="1">
                          <a:effectLst/>
                        </a:rPr>
                        <a:t>10.0</a:t>
                      </a:r>
                      <a:r>
                        <a:rPr lang="pt-BR" sz="1000" b="0">
                          <a:effectLst/>
                        </a:rPr>
                        <a:t>.255.254 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10.0</a:t>
                      </a:r>
                      <a:r>
                        <a:rPr lang="pt-BR" sz="1000" b="0">
                          <a:effectLst/>
                        </a:rPr>
                        <a:t>.255.255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</a:tr>
              <a:tr h="291438"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10.1.</a:t>
                      </a:r>
                      <a:r>
                        <a:rPr lang="pt-BR" sz="1000" b="0">
                          <a:effectLst/>
                        </a:rPr>
                        <a:t>0.0</a:t>
                      </a:r>
                      <a:r>
                        <a:rPr lang="pt-BR" sz="1000" b="1">
                          <a:effectLst/>
                        </a:rPr>
                        <a:t>/16</a:t>
                      </a:r>
                      <a:endParaRPr lang="pt-BR" sz="1000" b="1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10.1</a:t>
                      </a:r>
                      <a:r>
                        <a:rPr lang="pt-BR" sz="1000" b="0">
                          <a:effectLst/>
                        </a:rPr>
                        <a:t>.0.1 - </a:t>
                      </a:r>
                      <a:r>
                        <a:rPr lang="pt-BR" sz="1000" b="1">
                          <a:effectLst/>
                        </a:rPr>
                        <a:t>10.1</a:t>
                      </a:r>
                      <a:r>
                        <a:rPr lang="pt-BR" sz="1000" b="0">
                          <a:effectLst/>
                        </a:rPr>
                        <a:t>.255.254 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10.1</a:t>
                      </a:r>
                      <a:r>
                        <a:rPr lang="pt-BR" sz="1000" b="0">
                          <a:effectLst/>
                        </a:rPr>
                        <a:t>.255.255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</a:tr>
              <a:tr h="291438"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10.2</a:t>
                      </a:r>
                      <a:r>
                        <a:rPr lang="pt-BR" sz="1000" b="0">
                          <a:effectLst/>
                        </a:rPr>
                        <a:t>.0.0</a:t>
                      </a:r>
                      <a:r>
                        <a:rPr lang="pt-BR" sz="1000" b="1">
                          <a:effectLst/>
                        </a:rPr>
                        <a:t>/16</a:t>
                      </a:r>
                      <a:endParaRPr lang="pt-BR" sz="1000" b="1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10.2</a:t>
                      </a:r>
                      <a:r>
                        <a:rPr lang="pt-BR" sz="1000" b="0">
                          <a:effectLst/>
                        </a:rPr>
                        <a:t>.0.1 - </a:t>
                      </a:r>
                      <a:r>
                        <a:rPr lang="pt-BR" sz="1000" b="1">
                          <a:effectLst/>
                        </a:rPr>
                        <a:t>10.2</a:t>
                      </a:r>
                      <a:r>
                        <a:rPr lang="pt-BR" sz="1000" b="0">
                          <a:effectLst/>
                        </a:rPr>
                        <a:t>.255.254 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10.2</a:t>
                      </a:r>
                      <a:r>
                        <a:rPr lang="pt-BR" sz="1000" b="0">
                          <a:effectLst/>
                        </a:rPr>
                        <a:t>.255.255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</a:tr>
              <a:tr h="291438"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10.3</a:t>
                      </a:r>
                      <a:r>
                        <a:rPr lang="pt-BR" sz="1000" b="0">
                          <a:effectLst/>
                        </a:rPr>
                        <a:t>.0.0</a:t>
                      </a:r>
                      <a:r>
                        <a:rPr lang="pt-BR" sz="1000" b="1">
                          <a:effectLst/>
                        </a:rPr>
                        <a:t>/16</a:t>
                      </a:r>
                      <a:endParaRPr lang="pt-BR" sz="1000" b="1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10.3</a:t>
                      </a:r>
                      <a:r>
                        <a:rPr lang="pt-BR" sz="1000" b="0">
                          <a:effectLst/>
                        </a:rPr>
                        <a:t>.0.1 - </a:t>
                      </a:r>
                      <a:r>
                        <a:rPr lang="pt-BR" sz="1000" b="1">
                          <a:effectLst/>
                        </a:rPr>
                        <a:t>10.3</a:t>
                      </a:r>
                      <a:r>
                        <a:rPr lang="pt-BR" sz="1000" b="0">
                          <a:effectLst/>
                        </a:rPr>
                        <a:t>.255.254 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10.3</a:t>
                      </a:r>
                      <a:r>
                        <a:rPr lang="pt-BR" sz="1000" b="0">
                          <a:effectLst/>
                        </a:rPr>
                        <a:t>.255.255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</a:tr>
              <a:tr h="291438"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10.4</a:t>
                      </a:r>
                      <a:r>
                        <a:rPr lang="pt-BR" sz="1000" b="0">
                          <a:effectLst/>
                        </a:rPr>
                        <a:t>.0.0</a:t>
                      </a:r>
                      <a:r>
                        <a:rPr lang="pt-BR" sz="1000" b="1">
                          <a:effectLst/>
                        </a:rPr>
                        <a:t>/16</a:t>
                      </a:r>
                      <a:endParaRPr lang="pt-BR" sz="1000" b="1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10.4</a:t>
                      </a:r>
                      <a:r>
                        <a:rPr lang="pt-BR" sz="1000" b="0">
                          <a:effectLst/>
                        </a:rPr>
                        <a:t>.0.1 - </a:t>
                      </a:r>
                      <a:r>
                        <a:rPr lang="pt-BR" sz="1000" b="1">
                          <a:effectLst/>
                        </a:rPr>
                        <a:t>10.4</a:t>
                      </a:r>
                      <a:r>
                        <a:rPr lang="pt-BR" sz="1000" b="0">
                          <a:effectLst/>
                        </a:rPr>
                        <a:t>.255.254 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10.4</a:t>
                      </a:r>
                      <a:r>
                        <a:rPr lang="pt-BR" sz="1000" b="0">
                          <a:effectLst/>
                        </a:rPr>
                        <a:t>.255.255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</a:tr>
              <a:tr h="291438"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10.5</a:t>
                      </a:r>
                      <a:r>
                        <a:rPr lang="pt-BR" sz="1000" b="0">
                          <a:effectLst/>
                        </a:rPr>
                        <a:t>.0.0</a:t>
                      </a:r>
                      <a:r>
                        <a:rPr lang="pt-BR" sz="1000" b="1">
                          <a:effectLst/>
                        </a:rPr>
                        <a:t>/16</a:t>
                      </a:r>
                      <a:endParaRPr lang="pt-BR" sz="1000" b="1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10.5</a:t>
                      </a:r>
                      <a:r>
                        <a:rPr lang="pt-BR" sz="1000" b="0">
                          <a:effectLst/>
                        </a:rPr>
                        <a:t>.0.1 - </a:t>
                      </a:r>
                      <a:r>
                        <a:rPr lang="pt-BR" sz="1000" b="1">
                          <a:effectLst/>
                        </a:rPr>
                        <a:t>10.5</a:t>
                      </a:r>
                      <a:r>
                        <a:rPr lang="pt-BR" sz="1000" b="0">
                          <a:effectLst/>
                        </a:rPr>
                        <a:t>.255.254 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10.5</a:t>
                      </a:r>
                      <a:r>
                        <a:rPr lang="pt-BR" sz="1000" b="0">
                          <a:effectLst/>
                        </a:rPr>
                        <a:t>.255.255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</a:tr>
              <a:tr h="291438"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10.6</a:t>
                      </a:r>
                      <a:r>
                        <a:rPr lang="pt-BR" sz="1000" b="0">
                          <a:effectLst/>
                        </a:rPr>
                        <a:t>.0.0</a:t>
                      </a:r>
                      <a:r>
                        <a:rPr lang="pt-BR" sz="1000" b="1">
                          <a:effectLst/>
                        </a:rPr>
                        <a:t>/16</a:t>
                      </a:r>
                      <a:endParaRPr lang="pt-BR" sz="1000" b="1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10.6</a:t>
                      </a:r>
                      <a:r>
                        <a:rPr lang="pt-BR" sz="1000" b="0">
                          <a:effectLst/>
                        </a:rPr>
                        <a:t>.0.1 - </a:t>
                      </a:r>
                      <a:r>
                        <a:rPr lang="pt-BR" sz="1000" b="1">
                          <a:effectLst/>
                        </a:rPr>
                        <a:t>10.6</a:t>
                      </a:r>
                      <a:r>
                        <a:rPr lang="pt-BR" sz="1000" b="0">
                          <a:effectLst/>
                        </a:rPr>
                        <a:t>.255.254 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10.6</a:t>
                      </a:r>
                      <a:r>
                        <a:rPr lang="pt-BR" sz="1000" b="0">
                          <a:effectLst/>
                        </a:rPr>
                        <a:t>.255.255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</a:tr>
              <a:tr h="291438"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10.7</a:t>
                      </a:r>
                      <a:r>
                        <a:rPr lang="pt-BR" sz="1000" b="0">
                          <a:effectLst/>
                        </a:rPr>
                        <a:t>.0.0</a:t>
                      </a:r>
                      <a:r>
                        <a:rPr lang="pt-BR" sz="1000" b="1">
                          <a:effectLst/>
                        </a:rPr>
                        <a:t>/16</a:t>
                      </a:r>
                      <a:endParaRPr lang="pt-BR" sz="1000" b="1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10.7</a:t>
                      </a:r>
                      <a:r>
                        <a:rPr lang="pt-BR" sz="1000" b="0">
                          <a:effectLst/>
                        </a:rPr>
                        <a:t>.0.1 - </a:t>
                      </a:r>
                      <a:r>
                        <a:rPr lang="pt-BR" sz="1000" b="1">
                          <a:effectLst/>
                        </a:rPr>
                        <a:t>10.7</a:t>
                      </a:r>
                      <a:r>
                        <a:rPr lang="pt-BR" sz="1000" b="0">
                          <a:effectLst/>
                        </a:rPr>
                        <a:t>.255.254 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10.7</a:t>
                      </a:r>
                      <a:r>
                        <a:rPr lang="pt-BR" sz="1000" b="0">
                          <a:effectLst/>
                        </a:rPr>
                        <a:t>.255.255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</a:tr>
              <a:tr h="291438"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...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...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...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</a:tr>
              <a:tr h="291438"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10.255</a:t>
                      </a:r>
                      <a:r>
                        <a:rPr lang="pt-BR" sz="1000" b="0">
                          <a:effectLst/>
                        </a:rPr>
                        <a:t>.0.0</a:t>
                      </a:r>
                      <a:r>
                        <a:rPr lang="pt-BR" sz="1000" b="1">
                          <a:effectLst/>
                        </a:rPr>
                        <a:t>/16</a:t>
                      </a:r>
                      <a:endParaRPr lang="pt-BR" sz="1000" b="1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10.255</a:t>
                      </a:r>
                      <a:r>
                        <a:rPr lang="pt-BR" sz="1000" b="0">
                          <a:effectLst/>
                        </a:rPr>
                        <a:t>.0.1 - </a:t>
                      </a:r>
                      <a:r>
                        <a:rPr lang="pt-BR" sz="1000" b="1">
                          <a:effectLst/>
                        </a:rPr>
                        <a:t>10.255</a:t>
                      </a:r>
                      <a:r>
                        <a:rPr lang="pt-BR" sz="1000" b="0">
                          <a:effectLst/>
                        </a:rPr>
                        <a:t>.255.254 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10.255</a:t>
                      </a:r>
                      <a:r>
                        <a:rPr lang="pt-BR" sz="1000" b="0">
                          <a:effectLst/>
                        </a:rPr>
                        <a:t>.255.255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671059" y="1246212"/>
          <a:ext cx="4152901" cy="3435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7621"/>
                <a:gridCol w="1998805"/>
                <a:gridCol w="956475"/>
              </a:tblGrid>
              <a:tr h="520177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b="1">
                          <a:effectLst/>
                        </a:rPr>
                        <a:t>Endereço de sub-rede </a:t>
                      </a:r>
                      <a:br>
                        <a:rPr lang="en-CA" sz="1000" b="1" dirty="0">
                          <a:effectLst/>
                        </a:rPr>
                      </a:br>
                      <a:r>
                        <a:rPr lang="pt-BR" sz="1000" b="0">
                          <a:effectLst/>
                        </a:rPr>
                        <a:t>(65.536 sub-redes possíveis)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b="1">
                          <a:effectLst/>
                        </a:rPr>
                        <a:t>Intervalo de hosts </a:t>
                      </a:r>
                      <a:br>
                        <a:rPr lang="en-CA" sz="1000" b="1" dirty="0">
                          <a:effectLst/>
                        </a:rPr>
                      </a:br>
                      <a:r>
                        <a:rPr lang="pt-BR" sz="1000" b="0">
                          <a:effectLst/>
                        </a:rPr>
                        <a:t>(254 hosts possíveis por sub-rede)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b="1">
                          <a:effectLst/>
                        </a:rPr>
                        <a:t>Broadcast</a:t>
                      </a:r>
                      <a:endParaRPr lang="pt-BR" sz="1000" b="1">
                        <a:effectLst/>
                      </a:endParaRPr>
                    </a:p>
                  </a:txBody>
                  <a:tcPr marL="31750" marR="31750" marT="31750" marB="31750" anchor="ctr"/>
                </a:tc>
              </a:tr>
              <a:tr h="242909"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10.0.0</a:t>
                      </a:r>
                      <a:r>
                        <a:rPr lang="pt-BR" sz="1000" b="0">
                          <a:effectLst/>
                        </a:rPr>
                        <a:t>.0</a:t>
                      </a:r>
                      <a:r>
                        <a:rPr lang="pt-BR" sz="1000" b="1">
                          <a:effectLst/>
                        </a:rPr>
                        <a:t>/24</a:t>
                      </a:r>
                      <a:endParaRPr lang="pt-BR" sz="1000" b="1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10.0.0</a:t>
                      </a:r>
                      <a:r>
                        <a:rPr lang="pt-BR" sz="1000" b="0">
                          <a:effectLst/>
                        </a:rPr>
                        <a:t>.1 - </a:t>
                      </a:r>
                      <a:r>
                        <a:rPr lang="pt-BR" sz="1000" b="1">
                          <a:effectLst/>
                        </a:rPr>
                        <a:t>10.0.0</a:t>
                      </a:r>
                      <a:r>
                        <a:rPr lang="pt-BR" sz="1000" b="0">
                          <a:effectLst/>
                        </a:rPr>
                        <a:t>.254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10.0.0</a:t>
                      </a:r>
                      <a:r>
                        <a:rPr lang="pt-BR" sz="1000" b="0">
                          <a:effectLst/>
                        </a:rPr>
                        <a:t>.255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</a:tr>
              <a:tr h="242909"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10.0.1</a:t>
                      </a:r>
                      <a:r>
                        <a:rPr lang="pt-BR" sz="1000" b="0">
                          <a:effectLst/>
                        </a:rPr>
                        <a:t>.0</a:t>
                      </a:r>
                      <a:r>
                        <a:rPr lang="pt-BR" sz="1000" b="1">
                          <a:effectLst/>
                        </a:rPr>
                        <a:t>/24</a:t>
                      </a:r>
                      <a:endParaRPr lang="pt-BR" sz="1000" b="1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10.0.1</a:t>
                      </a:r>
                      <a:r>
                        <a:rPr lang="pt-BR" sz="1000" b="0">
                          <a:effectLst/>
                        </a:rPr>
                        <a:t>.1 - </a:t>
                      </a:r>
                      <a:r>
                        <a:rPr lang="pt-BR" sz="1000" b="1">
                          <a:effectLst/>
                        </a:rPr>
                        <a:t>10.0.1</a:t>
                      </a:r>
                      <a:r>
                        <a:rPr lang="pt-BR" sz="1000" b="0">
                          <a:effectLst/>
                        </a:rPr>
                        <a:t>.254 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10.0.1</a:t>
                      </a:r>
                      <a:r>
                        <a:rPr lang="pt-BR" sz="1000" b="0">
                          <a:effectLst/>
                        </a:rPr>
                        <a:t>.255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</a:tr>
              <a:tr h="242909"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10.0.2</a:t>
                      </a:r>
                      <a:r>
                        <a:rPr lang="pt-BR" sz="1000" b="0">
                          <a:effectLst/>
                        </a:rPr>
                        <a:t>.0</a:t>
                      </a:r>
                      <a:r>
                        <a:rPr lang="pt-BR" sz="1000" b="1">
                          <a:effectLst/>
                        </a:rPr>
                        <a:t>/24</a:t>
                      </a:r>
                      <a:endParaRPr lang="pt-BR" sz="1000" b="1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10.0.2</a:t>
                      </a:r>
                      <a:r>
                        <a:rPr lang="pt-BR" sz="1000" b="0">
                          <a:effectLst/>
                        </a:rPr>
                        <a:t>.1 - </a:t>
                      </a:r>
                      <a:r>
                        <a:rPr lang="pt-BR" sz="1000" b="1">
                          <a:effectLst/>
                        </a:rPr>
                        <a:t>10.0.2</a:t>
                      </a:r>
                      <a:r>
                        <a:rPr lang="pt-BR" sz="1000" b="0">
                          <a:effectLst/>
                        </a:rPr>
                        <a:t>.254 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10.0.2</a:t>
                      </a:r>
                      <a:r>
                        <a:rPr lang="pt-BR" sz="1000" b="0">
                          <a:effectLst/>
                        </a:rPr>
                        <a:t>.255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</a:tr>
              <a:tr h="242909"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…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…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…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</a:tr>
              <a:tr h="242909"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10.0.255</a:t>
                      </a:r>
                      <a:r>
                        <a:rPr lang="pt-BR" sz="1000" b="0">
                          <a:effectLst/>
                        </a:rPr>
                        <a:t>.0</a:t>
                      </a:r>
                      <a:r>
                        <a:rPr lang="pt-BR" sz="1000" b="1">
                          <a:effectLst/>
                        </a:rPr>
                        <a:t>/24</a:t>
                      </a:r>
                      <a:endParaRPr lang="pt-BR" sz="1000" b="1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10.0.255</a:t>
                      </a:r>
                      <a:r>
                        <a:rPr lang="pt-BR" sz="1000" b="0">
                          <a:effectLst/>
                        </a:rPr>
                        <a:t>.1 - </a:t>
                      </a:r>
                      <a:r>
                        <a:rPr lang="pt-BR" sz="1000" b="1">
                          <a:effectLst/>
                        </a:rPr>
                        <a:t>10.0.255</a:t>
                      </a:r>
                      <a:r>
                        <a:rPr lang="pt-BR" sz="1000" b="0">
                          <a:effectLst/>
                        </a:rPr>
                        <a:t>.254 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10.0.255</a:t>
                      </a:r>
                      <a:r>
                        <a:rPr lang="pt-BR" sz="1000" b="0">
                          <a:effectLst/>
                        </a:rPr>
                        <a:t>.255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</a:tr>
              <a:tr h="242909"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10.1.0</a:t>
                      </a:r>
                      <a:r>
                        <a:rPr lang="pt-BR" sz="1000" b="0">
                          <a:effectLst/>
                        </a:rPr>
                        <a:t>.0</a:t>
                      </a:r>
                      <a:r>
                        <a:rPr lang="pt-BR" sz="1000" b="1">
                          <a:effectLst/>
                        </a:rPr>
                        <a:t>/24</a:t>
                      </a:r>
                      <a:endParaRPr lang="pt-BR" sz="1000" b="1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10.1.0</a:t>
                      </a:r>
                      <a:r>
                        <a:rPr lang="pt-BR" sz="1000" b="0">
                          <a:effectLst/>
                        </a:rPr>
                        <a:t>.1 - </a:t>
                      </a:r>
                      <a:r>
                        <a:rPr lang="pt-BR" sz="1000" b="1">
                          <a:effectLst/>
                        </a:rPr>
                        <a:t>10.1.0</a:t>
                      </a:r>
                      <a:r>
                        <a:rPr lang="pt-BR" sz="1000" b="0">
                          <a:effectLst/>
                        </a:rPr>
                        <a:t>.254 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10.1.0</a:t>
                      </a:r>
                      <a:r>
                        <a:rPr lang="pt-BR" sz="1000" b="0">
                          <a:effectLst/>
                        </a:rPr>
                        <a:t>.255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</a:tr>
              <a:tr h="242909"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10.1.1</a:t>
                      </a:r>
                      <a:r>
                        <a:rPr lang="pt-BR" sz="1000" b="0">
                          <a:effectLst/>
                        </a:rPr>
                        <a:t>.0</a:t>
                      </a:r>
                      <a:r>
                        <a:rPr lang="pt-BR" sz="1000" b="1">
                          <a:effectLst/>
                        </a:rPr>
                        <a:t>/24</a:t>
                      </a:r>
                      <a:endParaRPr lang="pt-BR" sz="1000" b="1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10.1.1</a:t>
                      </a:r>
                      <a:r>
                        <a:rPr lang="pt-BR" sz="1000" b="0">
                          <a:effectLst/>
                        </a:rPr>
                        <a:t>.1 - </a:t>
                      </a:r>
                      <a:r>
                        <a:rPr lang="pt-BR" sz="1000" b="1">
                          <a:effectLst/>
                        </a:rPr>
                        <a:t>10.1.1</a:t>
                      </a:r>
                      <a:r>
                        <a:rPr lang="pt-BR" sz="1000" b="0">
                          <a:effectLst/>
                        </a:rPr>
                        <a:t>.254 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10.1.1</a:t>
                      </a:r>
                      <a:r>
                        <a:rPr lang="pt-BR" sz="1000" b="0">
                          <a:effectLst/>
                        </a:rPr>
                        <a:t>.255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</a:tr>
              <a:tr h="242909"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10.1.2</a:t>
                      </a:r>
                      <a:r>
                        <a:rPr lang="pt-BR" sz="1000" b="0">
                          <a:effectLst/>
                        </a:rPr>
                        <a:t>.0</a:t>
                      </a:r>
                      <a:r>
                        <a:rPr lang="pt-BR" sz="1000" b="1">
                          <a:effectLst/>
                        </a:rPr>
                        <a:t>/24</a:t>
                      </a:r>
                      <a:endParaRPr lang="pt-BR" sz="1000" b="1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10.1.2</a:t>
                      </a:r>
                      <a:r>
                        <a:rPr lang="pt-BR" sz="1000" b="0">
                          <a:effectLst/>
                        </a:rPr>
                        <a:t>.1 - </a:t>
                      </a:r>
                      <a:r>
                        <a:rPr lang="pt-BR" sz="1000" b="1">
                          <a:effectLst/>
                        </a:rPr>
                        <a:t>10.1.2</a:t>
                      </a:r>
                      <a:r>
                        <a:rPr lang="pt-BR" sz="1000" b="0">
                          <a:effectLst/>
                        </a:rPr>
                        <a:t>.254 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10.1.2</a:t>
                      </a:r>
                      <a:r>
                        <a:rPr lang="pt-BR" sz="1000" b="0">
                          <a:effectLst/>
                        </a:rPr>
                        <a:t>.255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</a:tr>
              <a:tr h="242909"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…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…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…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</a:tr>
              <a:tr h="242909"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10.100.0</a:t>
                      </a:r>
                      <a:r>
                        <a:rPr lang="pt-BR" sz="1000" b="0">
                          <a:effectLst/>
                        </a:rPr>
                        <a:t>.0</a:t>
                      </a:r>
                      <a:r>
                        <a:rPr lang="pt-BR" sz="1000" b="1">
                          <a:effectLst/>
                        </a:rPr>
                        <a:t>/24</a:t>
                      </a:r>
                      <a:endParaRPr lang="pt-BR" sz="1000" b="1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10.100.0</a:t>
                      </a:r>
                      <a:r>
                        <a:rPr lang="pt-BR" sz="1000" b="0">
                          <a:effectLst/>
                        </a:rPr>
                        <a:t>.1 - </a:t>
                      </a:r>
                      <a:r>
                        <a:rPr lang="pt-BR" sz="1000" b="1">
                          <a:effectLst/>
                        </a:rPr>
                        <a:t>10.100.0</a:t>
                      </a:r>
                      <a:r>
                        <a:rPr lang="pt-BR" sz="1000" b="0">
                          <a:effectLst/>
                        </a:rPr>
                        <a:t>.254 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10.100.0</a:t>
                      </a:r>
                      <a:r>
                        <a:rPr lang="pt-BR" sz="1000" b="0">
                          <a:effectLst/>
                        </a:rPr>
                        <a:t>.255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</a:tr>
              <a:tr h="242909"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...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...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...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</a:tr>
              <a:tr h="242909"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10.255.255</a:t>
                      </a:r>
                      <a:r>
                        <a:rPr lang="pt-BR" sz="1000" b="0">
                          <a:effectLst/>
                        </a:rPr>
                        <a:t>.0</a:t>
                      </a:r>
                      <a:r>
                        <a:rPr lang="pt-BR" sz="1000" b="1">
                          <a:effectLst/>
                        </a:rPr>
                        <a:t>/24</a:t>
                      </a:r>
                      <a:endParaRPr lang="pt-BR" sz="1000" b="1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10.255.255</a:t>
                      </a:r>
                      <a:r>
                        <a:rPr lang="pt-BR" sz="1000" b="0">
                          <a:effectLst/>
                        </a:rPr>
                        <a:t>.1 - </a:t>
                      </a:r>
                      <a:r>
                        <a:rPr lang="pt-BR" sz="1000" b="1">
                          <a:effectLst/>
                        </a:rPr>
                        <a:t>10.2255.255</a:t>
                      </a:r>
                      <a:r>
                        <a:rPr lang="pt-BR" sz="1000" b="0">
                          <a:effectLst/>
                        </a:rPr>
                        <a:t>.254 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10.255.255</a:t>
                      </a:r>
                      <a:r>
                        <a:rPr lang="pt-BR" sz="1000" b="0">
                          <a:effectLst/>
                        </a:rPr>
                        <a:t>.255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Sub-rede uma rede IPv4 </a:t>
            </a:r>
            <a:br>
              <a:rPr lang="en-US" dirty="0"/>
            </a:br>
            <a:r>
              <a:rPr lang="pt-BR" sz="2400"/>
              <a:t>Sub-rede dentro de um limite de octeto</a:t>
            </a:r>
            <a:endParaRPr lang="pt-BR" sz="240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464334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Consulte a tabela para ver seis maneiras de sub-rede uma rede /24.</a:t>
            </a:r>
            <a:endParaRPr lang="pt-BR" sz="1600">
              <a:solidFill>
                <a:srgbClr val="000000"/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207769" y="1457067"/>
          <a:ext cx="672846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/>
                <a:gridCol w="1203960"/>
                <a:gridCol w="3092530"/>
                <a:gridCol w="747950"/>
                <a:gridCol w="723900"/>
              </a:tblGrid>
              <a:tr h="370840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b="1">
                          <a:effectLst/>
                        </a:rPr>
                        <a:t>Comprimento do Prefixo</a:t>
                      </a:r>
                      <a:endParaRPr lang="pt-BR" sz="1000" b="1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b="1">
                          <a:effectLst/>
                        </a:rPr>
                        <a:t>Máscara de sub-rede</a:t>
                      </a:r>
                      <a:endParaRPr lang="pt-BR" sz="1000" b="1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b="1">
                          <a:effectLst/>
                        </a:rPr>
                        <a:t>Máscara de Sub-Rede em Binário</a:t>
                      </a:r>
                      <a:br>
                        <a:rPr lang="en-CA" sz="1000" b="1" dirty="0">
                          <a:effectLst/>
                        </a:rPr>
                      </a:br>
                      <a:r>
                        <a:rPr lang="pt-BR" sz="1000" b="1">
                          <a:effectLst/>
                        </a:rPr>
                        <a:t>(n = rede, h = host)</a:t>
                      </a:r>
                      <a:endParaRPr lang="pt-BR" sz="1000" b="1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b="1">
                          <a:effectLst/>
                        </a:rPr>
                        <a:t>Nº de subredes</a:t>
                      </a:r>
                      <a:endParaRPr lang="pt-BR" sz="1000" b="1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b="1">
                          <a:effectLst/>
                        </a:rPr>
                        <a:t>Nº de hosts</a:t>
                      </a:r>
                      <a:endParaRPr lang="pt-BR" sz="1000" b="1">
                        <a:effectLst/>
                      </a:endParaRPr>
                    </a:p>
                  </a:txBody>
                  <a:tcPr marL="31750" marR="31750" marT="31750" marB="31750" anchor="ctr"/>
                </a:tc>
              </a:tr>
              <a:tr h="370840"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/25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255.255.255.128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nnnnnnnn.nnnnnnnn.nnnnnnnn.</a:t>
                      </a:r>
                      <a:r>
                        <a:rPr lang="pt-BR" sz="10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</a:t>
                      </a:r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hhhhhhh</a:t>
                      </a:r>
                      <a:b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11111111.11111111.11111111.</a:t>
                      </a:r>
                      <a:r>
                        <a:rPr lang="pt-BR" sz="10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0000000</a:t>
                      </a:r>
                      <a:endParaRPr lang="pt-BR" sz="1000" b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2</a:t>
                      </a:r>
                      <a:endParaRPr lang="pt-BR" sz="1000" b="1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126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</a:tr>
              <a:tr h="370840"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/26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255.255.255.192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nnnnnnnn.nnnnnnnn.nnnnnnnn.</a:t>
                      </a:r>
                      <a:r>
                        <a:rPr lang="pt-BR" sz="10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</a:t>
                      </a:r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hhhhhh</a:t>
                      </a:r>
                      <a:b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11111111.11111111.11111111.</a:t>
                      </a:r>
                      <a:r>
                        <a:rPr lang="pt-BR" sz="10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</a:t>
                      </a:r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000000</a:t>
                      </a:r>
                      <a:endParaRPr lang="pt-BR" sz="1000" b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4</a:t>
                      </a:r>
                      <a:endParaRPr lang="pt-BR" sz="1000" b="1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62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</a:tr>
              <a:tr h="370840"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/27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255.255.255.224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nnnnnnnn.nnnnnnnn.nnnnnnnn.</a:t>
                      </a:r>
                      <a:r>
                        <a:rPr lang="pt-BR" sz="10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</a:t>
                      </a:r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hhhhh</a:t>
                      </a:r>
                      <a:b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11111111.11111111.11111111.</a:t>
                      </a:r>
                      <a:r>
                        <a:rPr lang="pt-BR" sz="10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</a:t>
                      </a:r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00000</a:t>
                      </a:r>
                      <a:endParaRPr lang="pt-BR" sz="1000" b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8</a:t>
                      </a:r>
                      <a:endParaRPr lang="pt-BR" sz="1000" b="1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30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</a:tr>
              <a:tr h="370840"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/28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255.255.255.240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nnnnnnnn.nnnnnnnn.nnnnnnnn.</a:t>
                      </a:r>
                      <a:r>
                        <a:rPr lang="pt-BR" sz="10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</a:t>
                      </a:r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hhhh</a:t>
                      </a:r>
                      <a:b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11111111.11111111.11111111.</a:t>
                      </a:r>
                      <a:r>
                        <a:rPr lang="pt-BR" sz="10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</a:t>
                      </a:r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0000</a:t>
                      </a:r>
                      <a:endParaRPr lang="pt-BR" sz="1000" b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16</a:t>
                      </a:r>
                      <a:endParaRPr lang="pt-BR" sz="1000" b="1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14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</a:tr>
              <a:tr h="370840"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/29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255.255.255.248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nnnnnnnn.nnnnnnnn.nnnnnnnn.</a:t>
                      </a:r>
                      <a:r>
                        <a:rPr lang="pt-BR" sz="10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</a:t>
                      </a:r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hhh</a:t>
                      </a:r>
                      <a:b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11111111.11111111.11111111.</a:t>
                      </a:r>
                      <a:r>
                        <a:rPr lang="pt-BR" sz="10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</a:t>
                      </a:r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</a:t>
                      </a:r>
                      <a:endParaRPr lang="pt-BR" sz="1000" b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32</a:t>
                      </a:r>
                      <a:endParaRPr lang="pt-BR" sz="1000" b="1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6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</a:tr>
              <a:tr h="370840"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/30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255.255.255.252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nnnnnnnn.nnnnnnnn.nnnnnnnn.</a:t>
                      </a:r>
                      <a:r>
                        <a:rPr lang="pt-BR" sz="10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</a:t>
                      </a:r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hh</a:t>
                      </a:r>
                      <a:b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11111111.11111111.11111111.</a:t>
                      </a:r>
                      <a:r>
                        <a:rPr lang="pt-BR" sz="10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</a:t>
                      </a:r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</a:t>
                      </a:r>
                      <a:endParaRPr lang="pt-BR" sz="1000" b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64</a:t>
                      </a:r>
                      <a:endParaRPr lang="pt-BR" sz="1000" b="1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2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Sub-rede de uma Rede IPv4</a:t>
            </a:r>
            <a:br>
              <a:rPr lang="en-US" dirty="0"/>
            </a:br>
            <a:r>
              <a:rPr lang="pt-BR" sz="2400"/>
              <a:t>Video - A máscara de sub-rede</a:t>
            </a:r>
            <a:endParaRPr lang="pt-BR" sz="240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3073946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Este vídeo irá demonstrar o processo de sub-redes.</a:t>
            </a:r>
            <a:endParaRPr lang="pt-BR" sz="1600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Sub-rede de uma Rede IPv4</a:t>
            </a:r>
            <a:br>
              <a:rPr lang="en-US" dirty="0"/>
            </a:br>
            <a:r>
              <a:rPr lang="pt-BR" sz="2400"/>
              <a:t>Video - Sub-rede com o Número Mágico</a:t>
            </a:r>
            <a:endParaRPr lang="pt-BR" sz="240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3073946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Este vídeo demonstrará sub-redes com o número mágico.</a:t>
            </a:r>
            <a:endParaRPr lang="pt-BR" sz="1600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Sub-rede um</a:t>
            </a:r>
            <a:r>
              <a:rPr lang="pt-BR" sz="2400"/>
              <a:t>rastreador depacotes de rede IPv4 — sub-rede uma rede IPv4</a:t>
            </a:r>
            <a:endParaRPr lang="pt-BR" sz="240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3073946"/>
          </a:xfrm>
        </p:spPr>
        <p:txBody>
          <a:bodyPr/>
          <a:lstStyle/>
          <a:p>
            <a:pPr marL="0" indent="0" algn="l" rtl="0">
              <a:spcBef>
                <a:spcPts val="0"/>
              </a:spcBef>
            </a:pPr>
            <a:r>
              <a:rPr lang="pt-BR" sz="1600">
                <a:solidFill>
                  <a:srgbClr val="000000"/>
                </a:solidFill>
              </a:rPr>
              <a:t>Neste Packet Tracer, você fará o seguinte:</a:t>
            </a:r>
            <a:endParaRPr lang="pt-BR" sz="1600">
              <a:solidFill>
                <a:srgbClr val="000000"/>
              </a:solidFill>
            </a:endParaRPr>
          </a:p>
          <a:p>
            <a:pPr marL="0" indent="0" algn="l">
              <a:spcBef>
                <a:spcPts val="0"/>
              </a:spcBef>
            </a:pPr>
            <a:endParaRPr lang="en-US" sz="1600" dirty="0">
              <a:solidFill>
                <a:srgbClr val="000000"/>
              </a:solidFill>
            </a:endParaRPr>
          </a:p>
          <a:p>
            <a:pPr marL="285750" indent="-28575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Projetar um esquema de sub-rede de rede IPv4</a:t>
            </a:r>
            <a:endParaRPr lang="pt-BR" sz="1600">
              <a:solidFill>
                <a:srgbClr val="000000"/>
              </a:solidFill>
            </a:endParaRPr>
          </a:p>
          <a:p>
            <a:pPr marL="285750" indent="-28575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Configurar os Dispositivos</a:t>
            </a:r>
            <a:endParaRPr lang="pt-BR" sz="1600">
              <a:solidFill>
                <a:srgbClr val="000000"/>
              </a:solidFill>
            </a:endParaRPr>
          </a:p>
          <a:p>
            <a:pPr marL="285750" indent="-28575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Testar e Solucionar Problemas da Rede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848344" cy="92964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11.6 Sub-rede uma Barra 16 e um Prefixo de Barra 8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Sub-rede uma barra 16 e um prefixo de barra 8</a:t>
            </a:r>
            <a:br>
              <a:rPr lang="en-US" dirty="0"/>
            </a:br>
            <a:r>
              <a:rPr lang="pt-BR" sz="2400"/>
              <a:t>Criar sub-redes com um prefixo de barra 16</a:t>
            </a:r>
            <a:endParaRPr lang="pt-BR" sz="2400"/>
          </a:p>
        </p:txBody>
      </p:sp>
      <p:sp>
        <p:nvSpPr>
          <p:cNvPr id="7" name="Content Placeholder 3"/>
          <p:cNvSpPr>
            <a:spLocks noGrp="1"/>
          </p:cNvSpPr>
          <p:nvPr>
            <p:ph idx="1"/>
          </p:nvPr>
        </p:nvSpPr>
        <p:spPr>
          <a:xfrm>
            <a:off x="347128" y="855419"/>
            <a:ext cx="2875109" cy="3073946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A tabela destaca todos os cenários possíveis para a sub-rede de um prefixo /16.</a:t>
            </a:r>
            <a:endParaRPr lang="pt-BR" sz="1600">
              <a:solidFill>
                <a:srgbClr val="000000"/>
              </a:solidFill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259945" y="617507"/>
          <a:ext cx="5836920" cy="448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3499"/>
                <a:gridCol w="1033188"/>
                <a:gridCol w="2410773"/>
                <a:gridCol w="725510"/>
                <a:gridCol w="663950"/>
              </a:tblGrid>
              <a:tr h="159578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800" b="1">
                          <a:effectLst/>
                        </a:rPr>
                        <a:t>Comprimento do Prefixo</a:t>
                      </a:r>
                      <a:endParaRPr lang="pt-BR" sz="800" b="1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800" b="1">
                          <a:effectLst/>
                        </a:rPr>
                        <a:t>Máscara de sub-rede</a:t>
                      </a:r>
                      <a:endParaRPr lang="pt-BR" sz="800" b="1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800" b="1">
                          <a:effectLst/>
                        </a:rPr>
                        <a:t>Endereço de rede (n = rede, h = host)</a:t>
                      </a:r>
                      <a:endParaRPr lang="pt-BR" sz="800" b="1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800" b="1">
                          <a:effectLst/>
                        </a:rPr>
                        <a:t>Nº de subredes</a:t>
                      </a:r>
                      <a:endParaRPr lang="pt-BR" sz="800" b="1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800" b="1">
                          <a:effectLst/>
                        </a:rPr>
                        <a:t>Nº de hosts</a:t>
                      </a:r>
                      <a:endParaRPr lang="pt-BR" sz="800" b="1">
                        <a:effectLst/>
                      </a:endParaRPr>
                    </a:p>
                  </a:txBody>
                  <a:tcPr marL="31750" marR="31750" marT="31750" marB="31750" anchor="ctr"/>
                </a:tc>
              </a:tr>
              <a:tr h="264506"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</a:rPr>
                        <a:t>/17</a:t>
                      </a:r>
                      <a:endParaRPr lang="pt-BR" sz="800" b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</a:rPr>
                        <a:t>255.255.</a:t>
                      </a:r>
                      <a:r>
                        <a:rPr lang="pt-BR" sz="800" b="1">
                          <a:effectLst/>
                        </a:rPr>
                        <a:t>128</a:t>
                      </a:r>
                      <a:r>
                        <a:rPr lang="pt-BR" sz="800" b="0">
                          <a:effectLst/>
                        </a:rPr>
                        <a:t>.0</a:t>
                      </a:r>
                      <a:endParaRPr lang="pt-BR" sz="800" b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nnnnnnnn.nnnnnnnn.</a:t>
                      </a:r>
                      <a:r>
                        <a:rPr lang="pt-BR" sz="8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</a:t>
                      </a:r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hhhhhhh.hhhhhhhh </a:t>
                      </a:r>
                      <a:b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11111111.11111111.</a:t>
                      </a:r>
                      <a:r>
                        <a:rPr lang="pt-BR" sz="8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0000000.00000000</a:t>
                      </a:r>
                      <a:endParaRPr lang="pt-BR" sz="800" b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1">
                          <a:effectLst/>
                        </a:rPr>
                        <a:t>2</a:t>
                      </a:r>
                      <a:endParaRPr lang="pt-BR" sz="800" b="1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</a:rPr>
                        <a:t>32766</a:t>
                      </a:r>
                      <a:endParaRPr lang="pt-BR" sz="800" b="0">
                        <a:effectLst/>
                      </a:endParaRPr>
                    </a:p>
                  </a:txBody>
                  <a:tcPr marL="31750" marR="31750" marT="31750" marB="31750" anchor="ctr"/>
                </a:tc>
              </a:tr>
              <a:tr h="264506"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</a:rPr>
                        <a:t>/18</a:t>
                      </a:r>
                      <a:endParaRPr lang="pt-BR" sz="800" b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</a:rPr>
                        <a:t>255.255.</a:t>
                      </a:r>
                      <a:r>
                        <a:rPr lang="pt-BR" sz="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192</a:t>
                      </a:r>
                      <a:r>
                        <a:rPr lang="pt-BR" sz="800" b="0">
                          <a:effectLst/>
                        </a:rPr>
                        <a:t>.0</a:t>
                      </a:r>
                      <a:endParaRPr lang="pt-BR" sz="800" b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nnnnnnnn.nnnnnnn. </a:t>
                      </a:r>
                      <a:r>
                        <a:rPr lang="pt-BR" sz="8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</a:t>
                      </a:r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hhhhhhhhhhhhhh </a:t>
                      </a:r>
                      <a:b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11111111.111111.</a:t>
                      </a:r>
                      <a:r>
                        <a:rPr lang="pt-BR" sz="8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</a:t>
                      </a:r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000000.00000000</a:t>
                      </a:r>
                      <a:endParaRPr lang="pt-BR" sz="800" b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1">
                          <a:effectLst/>
                        </a:rPr>
                        <a:t>4</a:t>
                      </a:r>
                      <a:endParaRPr lang="pt-BR" sz="800" b="1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</a:rPr>
                        <a:t>16382</a:t>
                      </a:r>
                      <a:endParaRPr lang="pt-BR" sz="800" b="0">
                        <a:effectLst/>
                      </a:endParaRPr>
                    </a:p>
                  </a:txBody>
                  <a:tcPr marL="31750" marR="31750" marT="31750" marB="31750" anchor="ctr"/>
                </a:tc>
              </a:tr>
              <a:tr h="264506"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</a:rPr>
                        <a:t>/19</a:t>
                      </a:r>
                      <a:endParaRPr lang="pt-BR" sz="800" b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</a:rPr>
                        <a:t>255.255.</a:t>
                      </a:r>
                      <a:r>
                        <a:rPr lang="pt-BR" sz="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224</a:t>
                      </a:r>
                      <a:r>
                        <a:rPr lang="pt-BR" sz="800" b="0">
                          <a:effectLst/>
                        </a:rPr>
                        <a:t>.0</a:t>
                      </a:r>
                      <a:endParaRPr lang="pt-BR" sz="800" b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nnnnnnnn.nnnnnnn. </a:t>
                      </a:r>
                      <a:r>
                        <a:rPr lang="pt-BR" sz="8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</a:t>
                      </a:r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hhhhhhhhhhhh </a:t>
                      </a:r>
                      <a:b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11111111.111111.</a:t>
                      </a:r>
                      <a:r>
                        <a:rPr lang="pt-BR" sz="8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</a:t>
                      </a:r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00000.00000000</a:t>
                      </a:r>
                      <a:endParaRPr lang="pt-BR" sz="800" b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1">
                          <a:effectLst/>
                        </a:rPr>
                        <a:t>8</a:t>
                      </a:r>
                      <a:endParaRPr lang="pt-BR" sz="800" b="1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</a:rPr>
                        <a:t>8190</a:t>
                      </a:r>
                      <a:endParaRPr lang="pt-BR" sz="800" b="0">
                        <a:effectLst/>
                      </a:endParaRPr>
                    </a:p>
                  </a:txBody>
                  <a:tcPr marL="31750" marR="31750" marT="31750" marB="31750" anchor="ctr"/>
                </a:tc>
              </a:tr>
              <a:tr h="264506"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</a:rPr>
                        <a:t>/20</a:t>
                      </a:r>
                      <a:endParaRPr lang="pt-BR" sz="800" b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</a:rPr>
                        <a:t>255.255.</a:t>
                      </a:r>
                      <a:r>
                        <a:rPr lang="pt-BR" sz="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240</a:t>
                      </a:r>
                      <a:r>
                        <a:rPr lang="pt-BR" sz="800" b="0">
                          <a:effectLst/>
                        </a:rPr>
                        <a:t>.0</a:t>
                      </a:r>
                      <a:endParaRPr lang="pt-BR" sz="800" b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nnnnnnnn.nnnnnnn. </a:t>
                      </a:r>
                      <a:r>
                        <a:rPr lang="pt-BR" sz="8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</a:t>
                      </a:r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hhhhhhhhhhhh </a:t>
                      </a:r>
                      <a:b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11111111.111111.</a:t>
                      </a:r>
                      <a:r>
                        <a:rPr lang="pt-BR" sz="8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</a:t>
                      </a:r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0000.00000000</a:t>
                      </a:r>
                      <a:endParaRPr lang="pt-BR" sz="800" b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1">
                          <a:effectLst/>
                        </a:rPr>
                        <a:t>16</a:t>
                      </a:r>
                      <a:endParaRPr lang="pt-BR" sz="800" b="1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</a:rPr>
                        <a:t>4094</a:t>
                      </a:r>
                      <a:endParaRPr lang="pt-BR" sz="800" b="0">
                        <a:effectLst/>
                      </a:endParaRPr>
                    </a:p>
                  </a:txBody>
                  <a:tcPr marL="31750" marR="31750" marT="31750" marB="31750" anchor="ctr"/>
                </a:tc>
              </a:tr>
              <a:tr h="264506"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</a:rPr>
                        <a:t>/21</a:t>
                      </a:r>
                      <a:endParaRPr lang="pt-BR" sz="800" b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</a:rPr>
                        <a:t>255.255.</a:t>
                      </a:r>
                      <a:r>
                        <a:rPr lang="pt-BR" sz="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248</a:t>
                      </a:r>
                      <a:r>
                        <a:rPr lang="pt-BR" sz="800" b="0">
                          <a:effectLst/>
                        </a:rPr>
                        <a:t>.0</a:t>
                      </a:r>
                      <a:endParaRPr lang="pt-BR" sz="800" b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nnnnnnnn.nnnnnnn. </a:t>
                      </a:r>
                      <a:r>
                        <a:rPr lang="pt-BR" sz="8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</a:t>
                      </a:r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hhh.hhhhhhhh </a:t>
                      </a:r>
                      <a:b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11111111.111111.</a:t>
                      </a:r>
                      <a:r>
                        <a:rPr lang="pt-BR" sz="8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</a:t>
                      </a:r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000.00000000</a:t>
                      </a:r>
                      <a:endParaRPr lang="pt-BR" sz="800" b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1">
                          <a:effectLst/>
                        </a:rPr>
                        <a:t>32</a:t>
                      </a:r>
                      <a:endParaRPr lang="pt-BR" sz="800" b="1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</a:rPr>
                        <a:t>2046</a:t>
                      </a:r>
                      <a:endParaRPr lang="pt-BR" sz="800" b="0">
                        <a:effectLst/>
                      </a:endParaRPr>
                    </a:p>
                  </a:txBody>
                  <a:tcPr marL="31750" marR="31750" marT="31750" marB="31750" anchor="ctr"/>
                </a:tc>
              </a:tr>
              <a:tr h="264506"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</a:rPr>
                        <a:t>/22</a:t>
                      </a:r>
                      <a:endParaRPr lang="pt-BR" sz="800" b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</a:rPr>
                        <a:t>255.255.</a:t>
                      </a:r>
                      <a:r>
                        <a:rPr lang="pt-BR" sz="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252</a:t>
                      </a:r>
                      <a:r>
                        <a:rPr lang="pt-BR" sz="800" b="0">
                          <a:effectLst/>
                        </a:rPr>
                        <a:t>.0</a:t>
                      </a:r>
                      <a:endParaRPr lang="pt-BR" sz="800" b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nnnnnnnn.nnnnnnn. </a:t>
                      </a:r>
                      <a:r>
                        <a:rPr lang="pt-BR" sz="8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</a:t>
                      </a:r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hh.hhhhhhhh </a:t>
                      </a:r>
                      <a:b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11111111.111111.</a:t>
                      </a:r>
                      <a:r>
                        <a:rPr lang="pt-BR" sz="8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</a:t>
                      </a:r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00.00000000</a:t>
                      </a:r>
                      <a:endParaRPr lang="pt-BR" sz="800" b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1">
                          <a:effectLst/>
                        </a:rPr>
                        <a:t>64</a:t>
                      </a:r>
                      <a:endParaRPr lang="pt-BR" sz="800" b="1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</a:rPr>
                        <a:t>1022</a:t>
                      </a:r>
                      <a:endParaRPr lang="pt-BR" sz="800" b="0">
                        <a:effectLst/>
                      </a:endParaRPr>
                    </a:p>
                  </a:txBody>
                  <a:tcPr marL="31750" marR="31750" marT="31750" marB="31750" anchor="ctr"/>
                </a:tc>
              </a:tr>
              <a:tr h="264506"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</a:rPr>
                        <a:t>/23</a:t>
                      </a:r>
                      <a:endParaRPr lang="pt-BR" sz="800" b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</a:rPr>
                        <a:t>255.255.</a:t>
                      </a:r>
                      <a:r>
                        <a:rPr lang="pt-BR" sz="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254</a:t>
                      </a:r>
                      <a:r>
                        <a:rPr lang="pt-BR" sz="800" b="0">
                          <a:effectLst/>
                        </a:rPr>
                        <a:t>.0</a:t>
                      </a:r>
                      <a:endParaRPr lang="pt-BR" sz="800" b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nnnnnnnn.nnnnnnn. </a:t>
                      </a:r>
                      <a:r>
                        <a:rPr lang="pt-BR" sz="8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</a:t>
                      </a:r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h.hhhhhhhh </a:t>
                      </a:r>
                      <a:b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11111111.111111.</a:t>
                      </a:r>
                      <a:r>
                        <a:rPr lang="pt-BR" sz="8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</a:t>
                      </a:r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0.00000000</a:t>
                      </a:r>
                      <a:endParaRPr lang="pt-BR" sz="800" b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1">
                          <a:effectLst/>
                        </a:rPr>
                        <a:t>128</a:t>
                      </a:r>
                      <a:endParaRPr lang="pt-BR" sz="800" b="1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</a:rPr>
                        <a:t>510</a:t>
                      </a:r>
                      <a:endParaRPr lang="pt-BR" sz="800" b="0">
                        <a:effectLst/>
                      </a:endParaRPr>
                    </a:p>
                  </a:txBody>
                  <a:tcPr marL="31750" marR="31750" marT="31750" marB="31750" anchor="ctr"/>
                </a:tc>
              </a:tr>
              <a:tr h="264506"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</a:rPr>
                        <a:t>/24</a:t>
                      </a:r>
                      <a:endParaRPr lang="pt-BR" sz="800" b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</a:rPr>
                        <a:t>255.255.</a:t>
                      </a:r>
                      <a:r>
                        <a:rPr lang="pt-BR" sz="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255</a:t>
                      </a:r>
                      <a:r>
                        <a:rPr lang="pt-BR" sz="800" b="0">
                          <a:effectLst/>
                        </a:rPr>
                        <a:t>.</a:t>
                      </a:r>
                      <a:r>
                        <a:rPr lang="pt-BR" sz="800" b="1">
                          <a:effectLst/>
                        </a:rPr>
                        <a:t>0</a:t>
                      </a:r>
                      <a:endParaRPr lang="pt-BR" sz="800" b="1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nnnnnnnn.nnnnnnn. </a:t>
                      </a:r>
                      <a:r>
                        <a:rPr lang="pt-BR" sz="8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</a:t>
                      </a:r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.hhhhhhhh </a:t>
                      </a:r>
                      <a:b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11111111.111111.</a:t>
                      </a:r>
                      <a:r>
                        <a:rPr lang="pt-BR" sz="8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</a:t>
                      </a:r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.00000000</a:t>
                      </a:r>
                      <a:endParaRPr lang="pt-BR" sz="800" b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1">
                          <a:effectLst/>
                        </a:rPr>
                        <a:t>256</a:t>
                      </a:r>
                      <a:endParaRPr lang="pt-BR" sz="800" b="1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</a:rPr>
                        <a:t>254</a:t>
                      </a:r>
                      <a:endParaRPr lang="pt-BR" sz="800" b="0">
                        <a:effectLst/>
                      </a:endParaRPr>
                    </a:p>
                  </a:txBody>
                  <a:tcPr marL="31750" marR="31750" marT="31750" marB="31750" anchor="ctr"/>
                </a:tc>
              </a:tr>
              <a:tr h="264506"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</a:rPr>
                        <a:t>/25</a:t>
                      </a:r>
                      <a:endParaRPr lang="pt-BR" sz="800" b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</a:rPr>
                        <a:t>255.255.</a:t>
                      </a:r>
                      <a:r>
                        <a:rPr lang="pt-BR" sz="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255</a:t>
                      </a:r>
                      <a:r>
                        <a:rPr lang="pt-BR" sz="800" b="0">
                          <a:effectLst/>
                        </a:rPr>
                        <a:t>.</a:t>
                      </a:r>
                      <a:r>
                        <a:rPr lang="pt-BR" sz="800" b="1">
                          <a:effectLst/>
                        </a:rPr>
                        <a:t>128</a:t>
                      </a:r>
                      <a:endParaRPr lang="pt-BR" sz="800" b="1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nnnnnnnn.nnnnnnn. </a:t>
                      </a:r>
                      <a:r>
                        <a:rPr lang="pt-BR" sz="8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nnnnnnn.n</a:t>
                      </a:r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hhhhhhh </a:t>
                      </a:r>
                      <a:b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11111111.111111.</a:t>
                      </a:r>
                      <a:r>
                        <a:rPr lang="pt-BR" sz="8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</a:t>
                      </a:r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0000000</a:t>
                      </a:r>
                      <a:endParaRPr lang="pt-BR" sz="800" b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1">
                          <a:effectLst/>
                        </a:rPr>
                        <a:t>512</a:t>
                      </a:r>
                      <a:endParaRPr lang="pt-BR" sz="800" b="1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</a:rPr>
                        <a:t>126</a:t>
                      </a:r>
                      <a:endParaRPr lang="pt-BR" sz="800" b="0">
                        <a:effectLst/>
                      </a:endParaRPr>
                    </a:p>
                  </a:txBody>
                  <a:tcPr marL="31750" marR="31750" marT="31750" marB="31750" anchor="ctr"/>
                </a:tc>
              </a:tr>
              <a:tr h="264506"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</a:rPr>
                        <a:t>/26</a:t>
                      </a:r>
                      <a:endParaRPr lang="pt-BR" sz="800" b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</a:rPr>
                        <a:t>255.255.</a:t>
                      </a:r>
                      <a:r>
                        <a:rPr lang="pt-BR" sz="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255</a:t>
                      </a:r>
                      <a:r>
                        <a:rPr lang="pt-BR" sz="800" b="0">
                          <a:effectLst/>
                        </a:rPr>
                        <a:t>.</a:t>
                      </a:r>
                      <a:r>
                        <a:rPr lang="pt-BR" sz="800" b="1">
                          <a:effectLst/>
                        </a:rPr>
                        <a:t>192</a:t>
                      </a:r>
                      <a:endParaRPr lang="pt-BR" sz="800" b="1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nnnnnnnn.nnnnnnn. </a:t>
                      </a:r>
                      <a:r>
                        <a:rPr lang="pt-BR" sz="8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</a:t>
                      </a:r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hhhhhh </a:t>
                      </a:r>
                      <a:b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11111111.111111.</a:t>
                      </a:r>
                      <a:r>
                        <a:rPr lang="pt-BR" sz="8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</a:t>
                      </a:r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000000</a:t>
                      </a:r>
                      <a:endParaRPr lang="pt-BR" sz="800" b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1">
                          <a:effectLst/>
                        </a:rPr>
                        <a:t>1024</a:t>
                      </a:r>
                      <a:endParaRPr lang="pt-BR" sz="800" b="1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</a:rPr>
                        <a:t>62</a:t>
                      </a:r>
                      <a:endParaRPr lang="pt-BR" sz="800" b="0">
                        <a:effectLst/>
                      </a:endParaRPr>
                    </a:p>
                  </a:txBody>
                  <a:tcPr marL="31750" marR="31750" marT="31750" marB="31750" anchor="ctr"/>
                </a:tc>
              </a:tr>
              <a:tr h="264506"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</a:rPr>
                        <a:t>/27</a:t>
                      </a:r>
                      <a:endParaRPr lang="pt-BR" sz="800" b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</a:rPr>
                        <a:t>255.255.</a:t>
                      </a:r>
                      <a:r>
                        <a:rPr lang="pt-BR" sz="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255</a:t>
                      </a:r>
                      <a:r>
                        <a:rPr lang="pt-BR" sz="800" b="0">
                          <a:effectLst/>
                        </a:rPr>
                        <a:t>.</a:t>
                      </a:r>
                      <a:r>
                        <a:rPr lang="pt-BR" sz="800" b="1">
                          <a:effectLst/>
                        </a:rPr>
                        <a:t>224</a:t>
                      </a:r>
                      <a:endParaRPr lang="pt-BR" sz="800" b="1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nnnnnnnn.nnnnnnn. </a:t>
                      </a:r>
                      <a:r>
                        <a:rPr lang="pt-BR" sz="8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</a:t>
                      </a:r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hhhhh </a:t>
                      </a:r>
                      <a:b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11111111.111111.</a:t>
                      </a:r>
                      <a:r>
                        <a:rPr lang="pt-BR" sz="8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</a:t>
                      </a:r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00000</a:t>
                      </a:r>
                      <a:endParaRPr lang="pt-BR" sz="800" b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1">
                          <a:effectLst/>
                        </a:rPr>
                        <a:t>2048</a:t>
                      </a:r>
                      <a:endParaRPr lang="pt-BR" sz="800" b="1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</a:rPr>
                        <a:t>30</a:t>
                      </a:r>
                      <a:endParaRPr lang="pt-BR" sz="800" b="0">
                        <a:effectLst/>
                      </a:endParaRPr>
                    </a:p>
                  </a:txBody>
                  <a:tcPr marL="31750" marR="31750" marT="31750" marB="31750" anchor="ctr"/>
                </a:tc>
              </a:tr>
              <a:tr h="264506"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</a:rPr>
                        <a:t>/28</a:t>
                      </a:r>
                      <a:endParaRPr lang="pt-BR" sz="800" b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</a:rPr>
                        <a:t>255.255</a:t>
                      </a:r>
                      <a:r>
                        <a:rPr lang="pt-BR" sz="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.255. </a:t>
                      </a:r>
                      <a:r>
                        <a:rPr lang="pt-BR" sz="800" b="1">
                          <a:effectLst/>
                        </a:rPr>
                        <a:t>240</a:t>
                      </a:r>
                      <a:endParaRPr lang="pt-BR" sz="800" b="1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nnnnnnnn.nnnnnnn. </a:t>
                      </a:r>
                      <a:r>
                        <a:rPr lang="pt-BR" sz="8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</a:t>
                      </a:r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hhhh </a:t>
                      </a:r>
                      <a:b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11111111.111111.</a:t>
                      </a:r>
                      <a:r>
                        <a:rPr lang="pt-BR" sz="8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</a:t>
                      </a:r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0000</a:t>
                      </a:r>
                      <a:endParaRPr lang="pt-BR" sz="800" b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1">
                          <a:effectLst/>
                        </a:rPr>
                        <a:t>4096</a:t>
                      </a:r>
                      <a:endParaRPr lang="pt-BR" sz="800" b="1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</a:rPr>
                        <a:t>14</a:t>
                      </a:r>
                      <a:endParaRPr lang="pt-BR" sz="800" b="0">
                        <a:effectLst/>
                      </a:endParaRPr>
                    </a:p>
                  </a:txBody>
                  <a:tcPr marL="31750" marR="31750" marT="31750" marB="31750" anchor="ctr"/>
                </a:tc>
              </a:tr>
              <a:tr h="264506"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</a:rPr>
                        <a:t>/29</a:t>
                      </a:r>
                      <a:endParaRPr lang="pt-BR" sz="800" b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</a:rPr>
                        <a:t>255.255.</a:t>
                      </a:r>
                      <a:r>
                        <a:rPr lang="pt-BR" sz="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255</a:t>
                      </a:r>
                      <a:r>
                        <a:rPr lang="pt-BR" sz="800" b="0">
                          <a:effectLst/>
                        </a:rPr>
                        <a:t>.</a:t>
                      </a:r>
                      <a:r>
                        <a:rPr lang="pt-BR" sz="800" b="1">
                          <a:effectLst/>
                        </a:rPr>
                        <a:t>248</a:t>
                      </a:r>
                      <a:endParaRPr lang="pt-BR" sz="800" b="1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nnnnnnnn.nnnnnnn. </a:t>
                      </a:r>
                      <a:r>
                        <a:rPr lang="pt-BR" sz="8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</a:t>
                      </a:r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hhh </a:t>
                      </a:r>
                      <a:b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11111111.111111.</a:t>
                      </a:r>
                      <a:r>
                        <a:rPr lang="pt-BR" sz="8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</a:t>
                      </a:r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</a:t>
                      </a:r>
                      <a:endParaRPr lang="pt-BR" sz="800" b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1">
                          <a:effectLst/>
                        </a:rPr>
                        <a:t>8192</a:t>
                      </a:r>
                      <a:endParaRPr lang="pt-BR" sz="800" b="1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</a:rPr>
                        <a:t>6</a:t>
                      </a:r>
                      <a:endParaRPr lang="pt-BR" sz="800" b="0">
                        <a:effectLst/>
                      </a:endParaRPr>
                    </a:p>
                  </a:txBody>
                  <a:tcPr marL="31750" marR="31750" marT="31750" marB="31750" anchor="ctr"/>
                </a:tc>
              </a:tr>
              <a:tr h="264506"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</a:rPr>
                        <a:t>/30</a:t>
                      </a:r>
                      <a:endParaRPr lang="pt-BR" sz="800" b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</a:rPr>
                        <a:t>255.255.</a:t>
                      </a:r>
                      <a:r>
                        <a:rPr lang="pt-BR" sz="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255.</a:t>
                      </a:r>
                      <a:r>
                        <a:rPr lang="pt-BR" sz="800" b="1">
                          <a:effectLst/>
                        </a:rPr>
                        <a:t>252</a:t>
                      </a:r>
                      <a:endParaRPr lang="pt-BR" sz="800" b="1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nnnnnnnn.nnnnnnn. </a:t>
                      </a:r>
                      <a:r>
                        <a:rPr lang="pt-BR" sz="8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</a:t>
                      </a:r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hh </a:t>
                      </a:r>
                      <a:b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11111111.111111.</a:t>
                      </a:r>
                      <a:r>
                        <a:rPr lang="pt-BR" sz="8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</a:t>
                      </a:r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</a:t>
                      </a:r>
                      <a:endParaRPr lang="pt-BR" sz="800" b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1">
                          <a:effectLst/>
                        </a:rPr>
                        <a:t>16384</a:t>
                      </a:r>
                      <a:endParaRPr lang="pt-BR" sz="800" b="1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</a:rPr>
                        <a:t>2</a:t>
                      </a:r>
                      <a:endParaRPr lang="pt-BR" sz="800" b="0">
                        <a:effectLst/>
                      </a:endParaRPr>
                    </a:p>
                  </a:txBody>
                  <a:tcPr marL="31750" marR="31750" marT="31750" marB="31750" anchor="ctr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Sub-rede uma barra 16 e um prefixo de barra 8</a:t>
            </a:r>
            <a:br>
              <a:rPr lang="en-US" dirty="0"/>
            </a:br>
            <a:r>
              <a:rPr lang="pt-BR" sz="2400"/>
              <a:t>Criar 100 sub-redes com um prefixo de barra 16</a:t>
            </a:r>
            <a:endParaRPr lang="pt-BR" sz="240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31971" y="864845"/>
            <a:ext cx="5403221" cy="3669447"/>
          </a:xfrm>
        </p:spPr>
        <p:txBody>
          <a:bodyPr/>
          <a:lstStyle/>
          <a:p>
            <a:pPr marL="0" indent="0" algn="l" rtl="0"/>
            <a:r>
              <a:rPr lang="pt-BR" sz="1600">
                <a:solidFill>
                  <a:srgbClr val="000000"/>
                </a:solidFill>
              </a:rPr>
              <a:t>Considere uma empresa grande que precise de pelo menos 100 sub-redes e tenha escolhido o endereço privado 172.16.0.0/16 como endereço da rede interna.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A figura exibe o número de sub-redes que podem ser criadas ao emprestar bits do terceiro e do quarto octeto. 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Observe que agora existem até 14 bits de host que podem ser emprestados (ou seja, os últimos dois bits não podem ser emprestados).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0" indent="0" algn="l" rtl="0"/>
            <a:r>
              <a:rPr lang="pt-BR" sz="1600">
                <a:solidFill>
                  <a:srgbClr val="000000"/>
                </a:solidFill>
              </a:rPr>
              <a:t>Para satisfazer o requisito de 100 sub-redes para a empresa, 7 bits (ou seja, 2</a:t>
            </a:r>
            <a:r>
              <a:rPr lang="pt-BR" sz="1600" baseline="30000">
                <a:solidFill>
                  <a:srgbClr val="000000"/>
                </a:solidFill>
              </a:rPr>
              <a:t>7</a:t>
            </a:r>
            <a:r>
              <a:rPr lang="pt-BR" sz="1600">
                <a:solidFill>
                  <a:srgbClr val="000000"/>
                </a:solidFill>
              </a:rPr>
              <a:t> = 128 sub-redes) precisariam ser emprestados (para um total de 128 sub-redes).</a:t>
            </a:r>
            <a:endParaRPr lang="pt-BR" sz="1600">
              <a:solidFill>
                <a:srgbClr val="00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2029" y="855419"/>
            <a:ext cx="2914800" cy="280684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Sub-rede uma barra 16 e um prefixo de barra 8</a:t>
            </a:r>
            <a:br>
              <a:rPr lang="en-US" dirty="0"/>
            </a:br>
            <a:r>
              <a:rPr lang="pt-BR" sz="2400"/>
              <a:t>Criar 1000 sub-redes com um prefixo de barra 8</a:t>
            </a:r>
            <a:endParaRPr lang="pt-BR" sz="240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31971" y="855419"/>
            <a:ext cx="4863929" cy="3073946"/>
          </a:xfrm>
        </p:spPr>
        <p:txBody>
          <a:bodyPr/>
          <a:lstStyle/>
          <a:p>
            <a:pPr marL="0" indent="0" algn="l" rtl="0"/>
            <a:r>
              <a:rPr lang="pt-BR" sz="1600">
                <a:solidFill>
                  <a:srgbClr val="000000"/>
                </a:solidFill>
              </a:rPr>
              <a:t>Considere um pequeno ISP que requer 1000 sub-redes para seus clientes usando o endereço de rede 10.0.0.0/8, o que significa que há 8 bits na parte da rede e 24 bits de host disponíveis para empréstimo para sub-redes. 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400">
                <a:solidFill>
                  <a:srgbClr val="000000"/>
                </a:solidFill>
              </a:rPr>
              <a:t>A figura exibe o número de sub-redes que podem ser criadas ao emprestar bits do segundo e terceiro. </a:t>
            </a:r>
            <a:endParaRPr lang="pt-BR" sz="140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400">
                <a:solidFill>
                  <a:srgbClr val="000000"/>
                </a:solidFill>
              </a:rPr>
              <a:t>Observe que há agora até 22 bits de host que podem ser emprestados (ou seja, os últimos dois bits não podem ser emprestados).</a:t>
            </a:r>
            <a:endParaRPr lang="pt-BR" sz="140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0" indent="0" algn="l" rtl="0"/>
            <a:r>
              <a:rPr lang="pt-BR" sz="1600">
                <a:solidFill>
                  <a:srgbClr val="000000"/>
                </a:solidFill>
              </a:rPr>
              <a:t>Para satisfazer o requisito de 1000 sub-redes para a empresa, 10 bits (ou seja, 2</a:t>
            </a:r>
            <a:r>
              <a:rPr lang="pt-BR" sz="1600" baseline="30000">
                <a:solidFill>
                  <a:srgbClr val="000000"/>
                </a:solidFill>
              </a:rPr>
              <a:t>10</a:t>
            </a:r>
            <a:r>
              <a:rPr lang="pt-BR" sz="1600">
                <a:solidFill>
                  <a:srgbClr val="000000"/>
                </a:solidFill>
              </a:rPr>
              <a:t>= 1024 sub-redes) precisariam ser emprestados (para um total de 128 sub-redes)</a:t>
            </a:r>
            <a:endParaRPr lang="pt-BR" sz="1600">
              <a:solidFill>
                <a:srgbClr val="00000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9726" y="826108"/>
            <a:ext cx="3648229" cy="24247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Sub-rede um</a:t>
            </a:r>
            <a:br>
              <a:rPr lang="en-US" dirty="0"/>
            </a:br>
            <a:r>
              <a:rPr lang="pt-BR" sz="2400"/>
              <a:t>vídeo de barra 16 e um prefixo de barra 8 — sub-rede em vários octetos</a:t>
            </a:r>
            <a:endParaRPr lang="pt-BR" sz="2400"/>
          </a:p>
        </p:txBody>
      </p:sp>
      <p:sp>
        <p:nvSpPr>
          <p:cNvPr id="7" name="Content Placeholder 3"/>
          <p:cNvSpPr txBox="1"/>
          <p:nvPr/>
        </p:nvSpPr>
        <p:spPr>
          <a:xfrm>
            <a:off x="431971" y="855419"/>
            <a:ext cx="8345488" cy="3073946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750" marR="0" indent="-28575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defRPr lang="en-US" sz="2000" b="0" i="0" kern="1200" baseline="0">
                <a:solidFill>
                  <a:schemeClr val="bg1"/>
                </a:solidFill>
                <a:latin typeface="+mn-lt"/>
                <a:ea typeface="MS PGothic" charset="0"/>
                <a:cs typeface="CiscoSans ExtraLight"/>
              </a:defRPr>
            </a:lvl1pPr>
            <a:lvl2pPr marL="358775" indent="-215900" algn="l" defTabSz="684530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MS PGothic" charset="0"/>
                <a:cs typeface="CiscoSans"/>
              </a:defRPr>
            </a:lvl2pPr>
            <a:lvl3pPr marL="431800" indent="-170180" algn="l" defTabSz="684530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MS PGothic" charset="0"/>
                <a:cs typeface="CiscoSans"/>
              </a:defRPr>
            </a:lvl3pPr>
            <a:lvl4pPr marL="503555" indent="-170180" algn="l" defTabSz="684530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MS PGothic" charset="0"/>
                <a:cs typeface="CiscoSans"/>
              </a:defRPr>
            </a:lvl4pPr>
            <a:lvl5pPr marL="574675" indent="-170180" algn="l" defTabSz="684530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MS PGothic" charset="0"/>
                <a:cs typeface="CiscoSans"/>
              </a:defRPr>
            </a:lvl5pPr>
            <a:lvl6pPr marL="863600" indent="-171450" algn="l" defTabSz="685800" rtl="0" eaLnBrk="1" latinLnBrk="0" hangingPunct="1">
              <a:spcBef>
                <a:spcPts val="600"/>
              </a:spcBef>
              <a:buFont typeface="Arial" panose="020B0604020202020204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990" indent="-171450" algn="l" defTabSz="685800" rtl="0" eaLnBrk="1" latinLnBrk="0" hangingPunct="1">
              <a:spcBef>
                <a:spcPts val="600"/>
              </a:spcBef>
              <a:buFont typeface="Arial" panose="020B0604020202020204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/>
            <a:r>
              <a:rPr lang="pt-BR" sz="1600">
                <a:solidFill>
                  <a:srgbClr val="000000"/>
                </a:solidFill>
              </a:rPr>
              <a:t>Este vídeo demonstrará a criação de sub-redes em vários octetos.</a:t>
            </a:r>
            <a:endParaRPr lang="pt-BR" sz="1600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Sub-rede um laboratório de barra 16 e um</a:t>
            </a:r>
            <a:br>
              <a:rPr lang="en-US" dirty="0"/>
            </a:br>
            <a:r>
              <a:rPr lang="pt-BR" sz="2400"/>
              <a:t>laboratório de prefixo de barra 8 — Calcular sub-redes IPv4</a:t>
            </a:r>
            <a:endParaRPr lang="pt-BR" sz="240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3073946"/>
          </a:xfrm>
        </p:spPr>
        <p:txBody>
          <a:bodyPr/>
          <a:lstStyle/>
          <a:p>
            <a:pPr marL="0" indent="0" algn="l" rtl="0"/>
            <a:r>
              <a:rPr lang="pt-BR" sz="1600">
                <a:solidFill>
                  <a:srgbClr val="000000"/>
                </a:solidFill>
              </a:rPr>
              <a:t>Neste laboratório, você cumprirá os seguintes objetivos: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Parte 1: Determinar a Divisão de Endereços IPv4 em Sub-Redes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Parte 2: Calcular a Divisão de Endereços IPv4 em Sub-Redes</a:t>
            </a:r>
            <a:endParaRPr lang="pt-BR" sz="1600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848344" cy="92964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11.7 Sub-rede para atender aos requisitos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Sub-rede para atender aos requisitos</a:t>
            </a:r>
            <a:br>
              <a:rPr lang="en-US" dirty="0"/>
            </a:br>
            <a:r>
              <a:rPr lang="pt-BR" sz="2400"/>
              <a:t>Sub-rede Privada versus Espaço de Endereços IPv4 Público</a:t>
            </a:r>
            <a:endParaRPr lang="pt-BR" sz="240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31971" y="855419"/>
            <a:ext cx="4985849" cy="3073946"/>
          </a:xfrm>
        </p:spPr>
        <p:txBody>
          <a:bodyPr/>
          <a:lstStyle/>
          <a:p>
            <a:pPr marL="0" indent="0" algn="l" rtl="0"/>
            <a:r>
              <a:rPr lang="pt-BR" sz="1600">
                <a:solidFill>
                  <a:srgbClr val="000000"/>
                </a:solidFill>
              </a:rPr>
              <a:t>As redes corporativas terão: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Intranet - rede interna de uma empresa normalmente usando endereços IPv4 privados.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DMZ — A empresas que enfrentam servidores de internet. Os dispositivos na DMZ usam endereços IPv4 públicos.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Uma empresa poderia usar o 10.0.0.0/8 e sub-rede no limite de rede /16 ou /24. 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Os dispositivos DMZ teriam que ser configurados com endereços IP públicos.</a:t>
            </a:r>
            <a:endParaRPr lang="pt-BR" sz="1600">
              <a:solidFill>
                <a:srgbClr val="00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74134" y="1118336"/>
            <a:ext cx="3581835" cy="239236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Sub-rede para atender aos requisitos</a:t>
            </a:r>
            <a:br>
              <a:rPr lang="en-US" dirty="0"/>
            </a:br>
            <a:r>
              <a:rPr lang="pt-BR" sz="2000"/>
              <a:t>Minimizar endereços IPv4 de host não utilizados e maximizar sub-redes</a:t>
            </a:r>
            <a:endParaRPr lang="pt-BR" sz="200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973381"/>
          </a:xfrm>
        </p:spPr>
        <p:txBody>
          <a:bodyPr/>
          <a:lstStyle/>
          <a:p>
            <a:pPr marL="0" indent="0" algn="l" rtl="0"/>
            <a:r>
              <a:rPr lang="pt-BR" sz="1600">
                <a:solidFill>
                  <a:srgbClr val="000000"/>
                </a:solidFill>
              </a:rPr>
              <a:t>Há duas considerações no planejamento de sub-redes: 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O número de endereços de host necessários para cada rede 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O número de sub-redes individuais necessárias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207769" y="1944355"/>
          <a:ext cx="672846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/>
                <a:gridCol w="1203960"/>
                <a:gridCol w="3092530"/>
                <a:gridCol w="747950"/>
                <a:gridCol w="723900"/>
              </a:tblGrid>
              <a:tr h="370840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b="1">
                          <a:effectLst/>
                        </a:rPr>
                        <a:t>Comprimento do Prefixo</a:t>
                      </a:r>
                      <a:endParaRPr lang="pt-BR" sz="1000" b="1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b="1">
                          <a:effectLst/>
                        </a:rPr>
                        <a:t>Máscara de sub-rede</a:t>
                      </a:r>
                      <a:endParaRPr lang="pt-BR" sz="1000" b="1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b="1">
                          <a:effectLst/>
                        </a:rPr>
                        <a:t>Máscara de Sub-Rede em Binário</a:t>
                      </a:r>
                      <a:br>
                        <a:rPr lang="en-CA" sz="1000" b="1" dirty="0">
                          <a:effectLst/>
                        </a:rPr>
                      </a:br>
                      <a:r>
                        <a:rPr lang="pt-BR" sz="1000" b="1">
                          <a:effectLst/>
                        </a:rPr>
                        <a:t>(n = rede, h = host)</a:t>
                      </a:r>
                      <a:endParaRPr lang="pt-BR" sz="1000" b="1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b="1">
                          <a:effectLst/>
                        </a:rPr>
                        <a:t>Nº de subredes</a:t>
                      </a:r>
                      <a:endParaRPr lang="pt-BR" sz="1000" b="1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b="1">
                          <a:effectLst/>
                        </a:rPr>
                        <a:t>Nº de hosts</a:t>
                      </a:r>
                      <a:endParaRPr lang="pt-BR" sz="1000" b="1">
                        <a:effectLst/>
                      </a:endParaRPr>
                    </a:p>
                  </a:txBody>
                  <a:tcPr marL="31750" marR="31750" marT="31750" marB="31750" anchor="ctr"/>
                </a:tc>
              </a:tr>
              <a:tr h="370840"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/25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255.255.255.128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nnnnnnnn.nnnnnnnn.nnnnnnnn.</a:t>
                      </a:r>
                      <a:r>
                        <a:rPr lang="pt-BR" sz="10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</a:t>
                      </a:r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hhhhhhh</a:t>
                      </a:r>
                      <a:b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11111111.11111111.11111111.</a:t>
                      </a:r>
                      <a:r>
                        <a:rPr lang="pt-BR" sz="10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0000000</a:t>
                      </a:r>
                      <a:endParaRPr lang="pt-BR" sz="1000" b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2</a:t>
                      </a:r>
                      <a:endParaRPr lang="pt-BR" sz="1000" b="1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126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</a:tr>
              <a:tr h="370840"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/26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255.255.255.192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nnnnnnnn.nnnnnnnn.nnnnnnnn.</a:t>
                      </a:r>
                      <a:r>
                        <a:rPr lang="pt-BR" sz="10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</a:t>
                      </a:r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hhhhhh</a:t>
                      </a:r>
                      <a:b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11111111.11111111.11111111.</a:t>
                      </a:r>
                      <a:r>
                        <a:rPr lang="pt-BR" sz="10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</a:t>
                      </a:r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000000</a:t>
                      </a:r>
                      <a:endParaRPr lang="pt-BR" sz="1000" b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4</a:t>
                      </a:r>
                      <a:endParaRPr lang="pt-BR" sz="1000" b="1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62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</a:tr>
              <a:tr h="370840"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/27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255.255.255.224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nnnnnnnn.nnnnnnnn.nnnnnnnn.</a:t>
                      </a:r>
                      <a:r>
                        <a:rPr lang="pt-BR" sz="10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</a:t>
                      </a:r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hhhhh</a:t>
                      </a:r>
                      <a:b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11111111.11111111.11111111.</a:t>
                      </a:r>
                      <a:r>
                        <a:rPr lang="pt-BR" sz="10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</a:t>
                      </a:r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00000</a:t>
                      </a:r>
                      <a:endParaRPr lang="pt-BR" sz="1000" b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8</a:t>
                      </a:r>
                      <a:endParaRPr lang="pt-BR" sz="1000" b="1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30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</a:tr>
              <a:tr h="370840"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/28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255.255.255.240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nnnnnnnn.nnnnnnnn.nnnnnnnn.</a:t>
                      </a:r>
                      <a:r>
                        <a:rPr lang="pt-BR" sz="10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</a:t>
                      </a:r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hhhh</a:t>
                      </a:r>
                      <a:b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11111111.11111111.11111111.</a:t>
                      </a:r>
                      <a:r>
                        <a:rPr lang="pt-BR" sz="10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</a:t>
                      </a:r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0000</a:t>
                      </a:r>
                      <a:endParaRPr lang="pt-BR" sz="1000" b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16</a:t>
                      </a:r>
                      <a:endParaRPr lang="pt-BR" sz="1000" b="1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14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</a:tr>
              <a:tr h="370840"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/29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255.255.255.248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nnnnnnnn.nnnnnnnn.nnnnnnnn.</a:t>
                      </a:r>
                      <a:r>
                        <a:rPr lang="pt-BR" sz="10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</a:t>
                      </a:r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hhh</a:t>
                      </a:r>
                      <a:b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11111111.11111111.11111111.</a:t>
                      </a:r>
                      <a:r>
                        <a:rPr lang="pt-BR" sz="10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</a:t>
                      </a:r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</a:t>
                      </a:r>
                      <a:endParaRPr lang="pt-BR" sz="1000" b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32</a:t>
                      </a:r>
                      <a:endParaRPr lang="pt-BR" sz="1000" b="1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6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</a:tr>
              <a:tr h="370840"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/30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255.255.255.252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nnnnnnnn.nnnnnnnn.nnnnnnnn.</a:t>
                      </a:r>
                      <a:r>
                        <a:rPr lang="pt-BR" sz="10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</a:t>
                      </a:r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hh</a:t>
                      </a:r>
                      <a:b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11111111.11111111.11111111.</a:t>
                      </a:r>
                      <a:r>
                        <a:rPr lang="pt-BR" sz="10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</a:t>
                      </a:r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</a:t>
                      </a:r>
                      <a:endParaRPr lang="pt-BR" sz="1000" b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64</a:t>
                      </a:r>
                      <a:endParaRPr lang="pt-BR" sz="1000" b="1">
                        <a:effectLst/>
                      </a:endParaRP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2</a:t>
                      </a:r>
                      <a:endParaRPr lang="pt-BR" sz="1000" b="0">
                        <a:effectLst/>
                      </a:endParaRPr>
                    </a:p>
                  </a:txBody>
                  <a:tcPr marL="31750" marR="31750" marT="31750" marB="31750" anchor="ctr"/>
                </a:tc>
              </a:tr>
            </a:tbl>
          </a:graphicData>
        </a:graphic>
      </p:graphicFrame>
      <p:cxnSp>
        <p:nvCxnSpPr>
          <p:cNvPr id="10" name="Connector: Elbow 9"/>
          <p:cNvCxnSpPr/>
          <p:nvPr/>
        </p:nvCxnSpPr>
        <p:spPr>
          <a:xfrm>
            <a:off x="6019800" y="1304168"/>
            <a:ext cx="1516380" cy="602479"/>
          </a:xfrm>
          <a:prstGeom prst="bentConnector2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Elbow 12"/>
          <p:cNvCxnSpPr/>
          <p:nvPr/>
        </p:nvCxnSpPr>
        <p:spPr>
          <a:xfrm>
            <a:off x="4709160" y="1605407"/>
            <a:ext cx="2119081" cy="301240"/>
          </a:xfrm>
          <a:prstGeom prst="bentConnector2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br>
              <a:rPr lang="en-US" dirty="0"/>
            </a:br>
            <a:r>
              <a:rPr lang="pt-BR" sz="2400"/>
              <a:t>Exemplo de sub-rede para atender aos requisitos: sub-rede IPv4 eficiente</a:t>
            </a:r>
            <a:endParaRPr lang="pt-BR" sz="240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31972" y="855419"/>
            <a:ext cx="4709280" cy="3073946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Neste exemplo, a sede corporativa recebeu um endereço de rede pública 172.16.0.0/22 (10 bits de host) por seu ISP, fornecendo 1.022 endereços de host.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Existem cinco sites e, portanto, cinco conexões de internet, o que significa que a organização requer 10 sub-redes com a maior sub-rede requer 40 endereços.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Ele alocou 10 sub-redes com uma máscara de sub-rede /26 (ou seja, 255.255.255.192).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00700" y="925762"/>
            <a:ext cx="3031600" cy="108849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3229" y="2208184"/>
            <a:ext cx="3616498" cy="240647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Sub-rede para atender aos requisitos do </a:t>
            </a:r>
            <a:br>
              <a:rPr lang="en-US" dirty="0"/>
            </a:br>
            <a:r>
              <a:rPr lang="pt-BR" sz="2400"/>
              <a:t>Packet Tracer - Cenário de sub-rede</a:t>
            </a:r>
            <a:endParaRPr lang="pt-BR" sz="240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3073946"/>
          </a:xfrm>
        </p:spPr>
        <p:txBody>
          <a:bodyPr/>
          <a:lstStyle/>
          <a:p>
            <a:pPr marL="0" indent="0" algn="l" rtl="0">
              <a:spcBef>
                <a:spcPts val="0"/>
              </a:spcBef>
            </a:pPr>
            <a:r>
              <a:rPr lang="pt-BR" sz="1600">
                <a:solidFill>
                  <a:srgbClr val="000000"/>
                </a:solidFill>
              </a:rPr>
              <a:t>Neste Packet Tracer, você pode executar o seguinte:</a:t>
            </a:r>
            <a:endParaRPr lang="pt-BR" sz="1600">
              <a:solidFill>
                <a:srgbClr val="000000"/>
              </a:solidFill>
            </a:endParaRPr>
          </a:p>
          <a:p>
            <a:pPr marL="0" indent="0" algn="l">
              <a:spcBef>
                <a:spcPts val="0"/>
              </a:spcBef>
            </a:pPr>
            <a:endParaRPr lang="en-US" sz="1600" dirty="0">
              <a:solidFill>
                <a:srgbClr val="000000"/>
              </a:solidFill>
            </a:endParaRPr>
          </a:p>
          <a:p>
            <a:pPr marL="285750" indent="-28575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Projetar um Esquema de Endereçamento IP</a:t>
            </a:r>
            <a:endParaRPr lang="pt-BR" sz="1600">
              <a:solidFill>
                <a:srgbClr val="000000"/>
              </a:solidFill>
            </a:endParaRPr>
          </a:p>
          <a:p>
            <a:pPr marL="285750" indent="-28575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Parte 2: Atribuir Endereços IP a Dispositivos e Verificar a Conectividade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848344" cy="92964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11.8 VLSM</a:t>
            </a:r>
            <a:br>
              <a:rPr lang="en-CA" dirty="0">
                <a:solidFill>
                  <a:schemeClr val="accent5">
                    <a:lumMod val="40000"/>
                    <a:lumOff val="60000"/>
                  </a:schemeClr>
                </a:solidFill>
              </a:rPr>
            </a:br>
            <a:endParaRPr lang="en-CA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br>
              <a:rPr lang="en-US" dirty="0"/>
            </a:br>
            <a:r>
              <a:rPr lang="pt-BR" sz="2400"/>
              <a:t>Vídeo VLSM — Noções básicas do VLSM</a:t>
            </a:r>
            <a:endParaRPr lang="pt-BR" sz="240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3073946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Este vídeo explicará as noções básicas do VLSM.</a:t>
            </a:r>
            <a:endParaRPr lang="pt-BR" sz="1600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VLSM</a:t>
            </a:r>
            <a:br>
              <a:rPr lang="en-US" dirty="0"/>
            </a:br>
            <a:r>
              <a:rPr lang="pt-BR" sz="2400"/>
              <a:t>Video - Exemplo de VLSM</a:t>
            </a:r>
            <a:endParaRPr lang="pt-BR" sz="240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3073946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Este vídeo demonstrará a criação de sub-redes específicas para as necessidades da rede.</a:t>
            </a:r>
            <a:endParaRPr lang="pt-BR" sz="1600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2400"/>
              <a:t>Conservação deendereços IPv4 VLSM</a:t>
            </a:r>
            <a:endParaRPr lang="pt-BR" sz="240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1510709"/>
          </a:xfrm>
        </p:spPr>
        <p:txBody>
          <a:bodyPr/>
          <a:lstStyle/>
          <a:p>
            <a:pPr marL="0" indent="0" algn="l" rtl="0"/>
            <a:r>
              <a:rPr lang="pt-BR" sz="1600">
                <a:solidFill>
                  <a:srgbClr val="000000"/>
                </a:solidFill>
              </a:rPr>
              <a:t>Dada a topologia, 7 sub-redes são necessárias (ou seja, quatro LANs e três links WAN) e o maior número de host está no Edifício D com 28 hosts.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Uma máscara /27 forneceria 8 sub-redes de 30 endereços IP de host e, portanto, suportaria essa topologia.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0096" y="2771225"/>
            <a:ext cx="5683805" cy="154297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2400"/>
              <a:t>Conservação de endereçosIPv4 VLSM (Cont.) </a:t>
            </a:r>
            <a:endParaRPr lang="pt-BR" sz="240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31971" y="855419"/>
            <a:ext cx="6091377" cy="944845"/>
          </a:xfrm>
        </p:spPr>
        <p:txBody>
          <a:bodyPr/>
          <a:lstStyle/>
          <a:p>
            <a:pPr marL="0" indent="0" algn="l" rtl="0"/>
            <a:r>
              <a:rPr lang="pt-BR" sz="1600">
                <a:solidFill>
                  <a:srgbClr val="000000"/>
                </a:solidFill>
              </a:rPr>
              <a:t>No entanto, os links WAN ponto a ponto exigem apenas dois endereços e, portanto, desperdiçam 28 endereços cada um para um total de 84 endereços não utilizados.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32093" y="731837"/>
            <a:ext cx="2221789" cy="94484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97" y="1800264"/>
            <a:ext cx="5683805" cy="1542972"/>
          </a:xfrm>
          <a:prstGeom prst="rect">
            <a:avLst/>
          </a:prstGeom>
        </p:spPr>
      </p:pic>
      <p:sp>
        <p:nvSpPr>
          <p:cNvPr id="6" name="Content Placeholder 3"/>
          <p:cNvSpPr txBox="1"/>
          <p:nvPr/>
        </p:nvSpPr>
        <p:spPr>
          <a:xfrm>
            <a:off x="431971" y="3343237"/>
            <a:ext cx="8280058" cy="1304964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750" marR="0" indent="-28575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defRPr lang="en-US" sz="2000" b="0" i="0" kern="1200" baseline="0">
                <a:solidFill>
                  <a:schemeClr val="bg1"/>
                </a:solidFill>
                <a:latin typeface="+mn-lt"/>
                <a:ea typeface="MS PGothic" charset="0"/>
                <a:cs typeface="CiscoSans ExtraLight"/>
              </a:defRPr>
            </a:lvl1pPr>
            <a:lvl2pPr marL="358775" indent="-215900" algn="l" defTabSz="684530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MS PGothic" charset="0"/>
                <a:cs typeface="CiscoSans"/>
              </a:defRPr>
            </a:lvl2pPr>
            <a:lvl3pPr marL="431800" indent="-170180" algn="l" defTabSz="684530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MS PGothic" charset="0"/>
                <a:cs typeface="CiscoSans"/>
              </a:defRPr>
            </a:lvl3pPr>
            <a:lvl4pPr marL="503555" indent="-170180" algn="l" defTabSz="684530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MS PGothic" charset="0"/>
                <a:cs typeface="CiscoSans"/>
              </a:defRPr>
            </a:lvl4pPr>
            <a:lvl5pPr marL="574675" indent="-170180" algn="l" defTabSz="684530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MS PGothic" charset="0"/>
                <a:cs typeface="CiscoSans"/>
              </a:defRPr>
            </a:lvl5pPr>
            <a:lvl6pPr marL="863600" indent="-171450" algn="l" defTabSz="685800" rtl="0" eaLnBrk="1" latinLnBrk="0" hangingPunct="1">
              <a:spcBef>
                <a:spcPts val="600"/>
              </a:spcBef>
              <a:buFont typeface="Arial" panose="020B0604020202020204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990" indent="-171450" algn="l" defTabSz="685800" rtl="0" eaLnBrk="1" latinLnBrk="0" hangingPunct="1">
              <a:spcBef>
                <a:spcPts val="600"/>
              </a:spcBef>
              <a:buFont typeface="Arial" panose="020B0604020202020204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A aplicação de um esquema de divisão em sub-redes tradicional a esse cenário não é muito eficaz e resulta em desperdício.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O VLSM foi desenvolvido para evitar o desperdício de endereços, permitindo-nos sub-rede de uma sub-rede.</a:t>
            </a:r>
            <a:endParaRPr lang="pt-BR" sz="1600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VLSM</a:t>
            </a:r>
            <a:br>
              <a:rPr lang="en-US" dirty="0"/>
            </a:br>
            <a:r>
              <a:rPr lang="pt-BR" sz="2400"/>
              <a:t>VLSM</a:t>
            </a:r>
            <a:endParaRPr lang="pt-BR" sz="240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15154" y="855420"/>
            <a:ext cx="5519249" cy="2411390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O lado esquerdo exibe o esquema de sub-rede tradicional (ou seja, a mesma máscara de sub-rede), enquanto o lado direito ilustra como o VLSM pode ser usado para sub-rede de uma sub-rede e dividiu a última sub-rede em oito sub-redes /30.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Ao usar o VLSM, comece sempre satisfazendo os requisitos do host da maior sub-rede e continue a sub-rede até que os requisitos do host da menor sub-rede sejam atendidos.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A topologia resultante com VLSM aplicada.</a:t>
            </a:r>
            <a:endParaRPr lang="pt-BR" sz="1600">
              <a:solidFill>
                <a:srgbClr val="000000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4531" y="941078"/>
            <a:ext cx="3199159" cy="196096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2308" y="3313944"/>
            <a:ext cx="4484235" cy="14389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2400"/>
              <a:t>Atribuição de endereço de topologiaVLSM VLSM</a:t>
            </a:r>
            <a:endParaRPr lang="pt-BR" sz="240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788446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Usando sub-redes VLSM, as redes LAN e inter-roteador podem ser abordadas sem desperdício desnecessário, como mostrado no diagrama de topologia lógica.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4799" y="1700427"/>
            <a:ext cx="7174401" cy="27536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848344" cy="92964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11.9 Projeto estruturado</a:t>
            </a:r>
            <a:br>
              <a:rPr lang="en-CA" dirty="0">
                <a:solidFill>
                  <a:schemeClr val="accent5">
                    <a:lumMod val="40000"/>
                    <a:lumOff val="60000"/>
                  </a:schemeClr>
                </a:solidFill>
              </a:rPr>
            </a:br>
            <a:endParaRPr lang="en-CA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Projeto Estruturado</a:t>
            </a:r>
            <a:br>
              <a:rPr lang="en-US" dirty="0"/>
            </a:br>
            <a:r>
              <a:rPr lang="pt-BR" sz="2400"/>
              <a:t>Planejamento de endereços de rede IPv4</a:t>
            </a:r>
            <a:endParaRPr lang="pt-BR" sz="240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3073946"/>
          </a:xfrm>
        </p:spPr>
        <p:txBody>
          <a:bodyPr/>
          <a:lstStyle/>
          <a:p>
            <a:pPr marL="0" indent="0" algn="l" rtl="0"/>
            <a:r>
              <a:rPr lang="pt-BR" sz="1600">
                <a:solidFill>
                  <a:srgbClr val="000000"/>
                </a:solidFill>
              </a:rPr>
              <a:t>O planejamento de rede IP é crucial para desenvolver uma solução escalável para uma rede corporativa. 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400">
                <a:solidFill>
                  <a:srgbClr val="000000"/>
                </a:solidFill>
              </a:rPr>
              <a:t>Para desenvolver um esquema de endereçamento de toda a rede IPv4, você precisa saber quantas sub-redes são necessárias, quantos hosts uma sub-rede específica requer, quais dispositivos fazem parte da sub-rede, quais partes da rede usam endereços privados e quais usam públicos e muitos outros fatores determinantes. </a:t>
            </a:r>
            <a:endParaRPr lang="pt-BR" sz="140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400" dirty="0">
              <a:solidFill>
                <a:srgbClr val="000000"/>
              </a:solidFill>
            </a:endParaRPr>
          </a:p>
          <a:p>
            <a:pPr marL="0" indent="0" algn="l" rtl="0"/>
            <a:r>
              <a:rPr lang="pt-BR" sz="1600">
                <a:solidFill>
                  <a:srgbClr val="000000"/>
                </a:solidFill>
              </a:rPr>
              <a:t>Examine as necessidades do uso da rede de uma organização e como as sub-redes serão estruturadas. 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400">
                <a:solidFill>
                  <a:srgbClr val="000000"/>
                </a:solidFill>
              </a:rPr>
              <a:t>Realize um estudo de requisitos de rede examinando toda a rede para determinar como cada área será segmentada. </a:t>
            </a:r>
            <a:endParaRPr lang="pt-BR" sz="140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400">
                <a:solidFill>
                  <a:srgbClr val="000000"/>
                </a:solidFill>
              </a:rPr>
              <a:t>Determine quantas sub-redes são necessárias e quantos hosts por sub-rede. </a:t>
            </a:r>
            <a:endParaRPr lang="pt-BR" sz="140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400">
                <a:solidFill>
                  <a:srgbClr val="000000"/>
                </a:solidFill>
              </a:rPr>
              <a:t>Determine pools de endereços DHCP e pools de VLAN de camada 2.</a:t>
            </a:r>
            <a:endParaRPr lang="pt-BR" sz="1400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2400"/>
              <a:t>Atribuição de endereço dedispositivo de</a:t>
            </a:r>
            <a:r>
              <a:rPr lang="pt-BR" sz="1600"/>
              <a:t>design estruturado</a:t>
            </a:r>
            <a:endParaRPr lang="pt-BR" sz="160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3073946"/>
          </a:xfrm>
        </p:spPr>
        <p:txBody>
          <a:bodyPr/>
          <a:lstStyle/>
          <a:p>
            <a:pPr marL="0" indent="0" algn="l" rtl="0"/>
            <a:r>
              <a:rPr lang="pt-BR" sz="1600">
                <a:solidFill>
                  <a:srgbClr val="000000"/>
                </a:solidFill>
              </a:rPr>
              <a:t>Dentro de uma rede, existem diferentes tipos de dispositivos que exigem endereços: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400" b="1">
                <a:solidFill>
                  <a:srgbClr val="000000"/>
                </a:solidFill>
              </a:rPr>
              <a:t>Clientes de usuários finais</a:t>
            </a:r>
            <a:r>
              <a:rPr lang="pt-BR" sz="1400">
                <a:solidFill>
                  <a:srgbClr val="000000"/>
                </a:solidFill>
              </a:rPr>
              <a:t>— A maioria usa DHCP para reduzir erros e sobrecarga na equipe de suporte de rede. Os clientes IPv6 podem obter informações de endereço usando DHCPv6 ou SLAAC.</a:t>
            </a:r>
            <a:endParaRPr lang="pt-BR" sz="140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400" b="1">
                <a:solidFill>
                  <a:srgbClr val="000000"/>
                </a:solidFill>
              </a:rPr>
              <a:t>Servidores e periféricos </a:t>
            </a:r>
            <a:r>
              <a:rPr lang="pt-BR" sz="1400">
                <a:solidFill>
                  <a:srgbClr val="000000"/>
                </a:solidFill>
              </a:rPr>
              <a:t>- Devem ter um endereço IP estático previsível.</a:t>
            </a:r>
            <a:r>
              <a:rPr lang="pt-BR" sz="1400" b="1">
                <a:solidFill>
                  <a:srgbClr val="000000"/>
                </a:solidFill>
              </a:rPr>
              <a:t> </a:t>
            </a:r>
            <a:endParaRPr lang="pt-BR" sz="1400" b="1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400" b="1">
                <a:solidFill>
                  <a:srgbClr val="000000"/>
                </a:solidFill>
              </a:rPr>
              <a:t>Servidores acessíveis a partir da Internet </a:t>
            </a:r>
            <a:r>
              <a:rPr lang="pt-BR" sz="1400">
                <a:solidFill>
                  <a:srgbClr val="000000"/>
                </a:solidFill>
              </a:rPr>
              <a:t>— Os servidores devem ter um endereço IPv4 público, mais frequentemente acessado usando NAT. </a:t>
            </a:r>
            <a:r>
              <a:rPr lang="pt-BR" sz="1400" b="1">
                <a:solidFill>
                  <a:srgbClr val="000000"/>
                </a:solidFill>
              </a:rPr>
              <a:t> </a:t>
            </a:r>
            <a:endParaRPr lang="pt-BR" sz="1400" b="1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400" b="1">
                <a:solidFill>
                  <a:srgbClr val="000000"/>
                </a:solidFill>
              </a:rPr>
              <a:t>Dispositivos intermediários </a:t>
            </a:r>
            <a:r>
              <a:rPr lang="pt-BR" sz="1400">
                <a:solidFill>
                  <a:srgbClr val="000000"/>
                </a:solidFill>
              </a:rPr>
              <a:t>- os dispositivos recebem endereços para gerenciamento, monitoramento e segurança de rede.</a:t>
            </a:r>
            <a:r>
              <a:rPr lang="pt-BR" sz="1400" b="1">
                <a:solidFill>
                  <a:srgbClr val="000000"/>
                </a:solidFill>
              </a:rPr>
              <a:t> </a:t>
            </a:r>
            <a:endParaRPr lang="pt-BR" sz="1400" b="1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400" b="1">
                <a:solidFill>
                  <a:srgbClr val="000000"/>
                </a:solidFill>
              </a:rPr>
              <a:t>Gateway</a:t>
            </a:r>
            <a:r>
              <a:rPr lang="pt-BR" sz="1400">
                <a:solidFill>
                  <a:srgbClr val="000000"/>
                </a:solidFill>
              </a:rPr>
              <a:t> — Os roteadores e os dispositivos de firewall são gateway para os hosts dessa rede. </a:t>
            </a:r>
            <a:endParaRPr lang="pt-BR" sz="140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0" indent="0" algn="l" rtl="0"/>
            <a:r>
              <a:rPr lang="pt-BR" sz="1600">
                <a:solidFill>
                  <a:srgbClr val="000000"/>
                </a:solidFill>
              </a:rPr>
              <a:t>Ao desenvolver um esquema de endereçamento IP, geralmente é recomendável que você tenha um padrão definido de como os endereços são alocados para cada tipo de dispositivo. </a:t>
            </a:r>
            <a:endParaRPr lang="pt-BR" sz="1600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2400"/>
              <a:t>Packet Tracer de design estrutural — Prática de projeto e implementação do VLSM</a:t>
            </a:r>
            <a:endParaRPr lang="pt-BR" sz="240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3073946"/>
          </a:xfrm>
        </p:spPr>
        <p:txBody>
          <a:bodyPr/>
          <a:lstStyle/>
          <a:p>
            <a:pPr marL="0" indent="0" algn="l" rtl="0">
              <a:spcBef>
                <a:spcPts val="0"/>
              </a:spcBef>
            </a:pPr>
            <a:r>
              <a:rPr lang="pt-BR" sz="1600">
                <a:solidFill>
                  <a:srgbClr val="000000"/>
                </a:solidFill>
              </a:rPr>
              <a:t>Neste Packet Tracer, você fará o seguinte:</a:t>
            </a:r>
            <a:endParaRPr lang="pt-BR" sz="1600">
              <a:solidFill>
                <a:srgbClr val="000000"/>
              </a:solidFill>
            </a:endParaRPr>
          </a:p>
          <a:p>
            <a:pPr marL="0" indent="0" algn="l">
              <a:spcBef>
                <a:spcPts val="0"/>
              </a:spcBef>
            </a:pPr>
            <a:endParaRPr lang="en-US" sz="1600" dirty="0">
              <a:solidFill>
                <a:srgbClr val="000000"/>
              </a:solidFill>
            </a:endParaRPr>
          </a:p>
          <a:p>
            <a:pPr marL="285750" indent="-28575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Examinar os Requisitos de Rede</a:t>
            </a:r>
            <a:endParaRPr lang="pt-BR" sz="1600">
              <a:solidFill>
                <a:srgbClr val="000000"/>
              </a:solidFill>
            </a:endParaRPr>
          </a:p>
          <a:p>
            <a:pPr marL="285750" indent="-28575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Projetar o Esquema de Endereçamento VLSM</a:t>
            </a:r>
            <a:endParaRPr lang="pt-BR" sz="1600">
              <a:solidFill>
                <a:srgbClr val="000000"/>
              </a:solidFill>
            </a:endParaRPr>
          </a:p>
          <a:p>
            <a:pPr marL="285750" indent="-28575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Atribuir Endereços IP a Dispositivos e Verificar a Conectividade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47520"/>
            <a:ext cx="8280314" cy="97028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11.10 - Módulo Prática e Quiz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31837"/>
          </a:xfrm>
        </p:spPr>
        <p:txBody>
          <a:bodyPr/>
          <a:lstStyle/>
          <a:p>
            <a:pPr rtl="0"/>
            <a:r>
              <a:rPr lang="pt-BR" sz="1600"/>
              <a:t>Projeto Estruturado</a:t>
            </a:r>
            <a:br>
              <a:rPr lang="en-US" dirty="0"/>
            </a:br>
            <a:r>
              <a:rPr lang="pt-BR" sz="2300"/>
              <a:t>Packet Tracer - Projete e implemente um esquema de endereçamento VLSM</a:t>
            </a:r>
            <a:endParaRPr lang="pt-BR" sz="230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3073946"/>
          </a:xfrm>
        </p:spPr>
        <p:txBody>
          <a:bodyPr/>
          <a:lstStyle/>
          <a:p>
            <a:pPr marL="0" indent="0" algn="l" rtl="0">
              <a:spcBef>
                <a:spcPts val="0"/>
              </a:spcBef>
            </a:pPr>
            <a:r>
              <a:rPr lang="pt-BR" sz="1600">
                <a:solidFill>
                  <a:srgbClr val="000000"/>
                </a:solidFill>
              </a:rPr>
              <a:t>Neste Packet Tracer, você pode executar o seguinte:</a:t>
            </a:r>
            <a:endParaRPr lang="pt-BR" sz="1600">
              <a:solidFill>
                <a:srgbClr val="000000"/>
              </a:solidFill>
            </a:endParaRPr>
          </a:p>
          <a:p>
            <a:pPr marL="0" indent="0" algn="l">
              <a:spcBef>
                <a:spcPts val="0"/>
              </a:spcBef>
            </a:pPr>
            <a:endParaRPr lang="en-US" sz="1600" dirty="0">
              <a:solidFill>
                <a:srgbClr val="000000"/>
              </a:solidFill>
            </a:endParaRPr>
          </a:p>
          <a:p>
            <a:pPr marL="285750" indent="-28575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Projetar um esquema de endereçamento IP VLSM dados requisitos</a:t>
            </a:r>
            <a:endParaRPr lang="pt-BR" sz="1600">
              <a:solidFill>
                <a:srgbClr val="000000"/>
              </a:solidFill>
            </a:endParaRPr>
          </a:p>
          <a:p>
            <a:pPr marL="285750" indent="-28575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Configurar endereçamento em dispositivos e hosts de rede</a:t>
            </a:r>
            <a:endParaRPr lang="pt-BR" sz="1600">
              <a:solidFill>
                <a:srgbClr val="000000"/>
              </a:solidFill>
            </a:endParaRPr>
          </a:p>
          <a:p>
            <a:pPr marL="285750" indent="-28575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Verifique a conectividade IP</a:t>
            </a:r>
            <a:endParaRPr lang="pt-BR" sz="1600">
              <a:solidFill>
                <a:srgbClr val="000000"/>
              </a:solidFill>
            </a:endParaRPr>
          </a:p>
          <a:p>
            <a:pPr marL="285750" indent="-28575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Solucione problemas de conectividade, conforme necessário.</a:t>
            </a:r>
            <a:endParaRPr lang="pt-BR" sz="1600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65242" y="1580233"/>
            <a:ext cx="7815004" cy="2478331"/>
          </a:xfrm>
        </p:spPr>
        <p:txBody>
          <a:bodyPr/>
          <a:lstStyle/>
          <a:p>
            <a:pPr marL="0" indent="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lang="pt-BR" sz="1800">
                <a:solidFill>
                  <a:srgbClr val="000000"/>
                </a:solidFill>
              </a:rPr>
              <a:t>Na atividade do modo físico do Packet Tracer e no laboratório, você completará os seguintes objetivos:</a:t>
            </a:r>
            <a:endParaRPr lang="pt-BR" sz="180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800">
                <a:solidFill>
                  <a:srgbClr val="000000"/>
                </a:solidFill>
              </a:rPr>
              <a:t>Examinar os Requisitos da Rede</a:t>
            </a:r>
            <a:endParaRPr lang="pt-BR" sz="180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800">
                <a:solidFill>
                  <a:srgbClr val="000000"/>
                </a:solidFill>
              </a:rPr>
              <a:t>Projetar o Esquema de Endereçamento VLSM</a:t>
            </a:r>
            <a:endParaRPr lang="pt-BR" sz="180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800">
                <a:solidFill>
                  <a:srgbClr val="000000"/>
                </a:solidFill>
              </a:rPr>
              <a:t>Cabear e Configurar a Rede IPv4</a:t>
            </a:r>
            <a:endParaRPr lang="pt-BR" sz="1800">
              <a:solidFill>
                <a:srgbClr val="000000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1487055"/>
          </a:xfrm>
        </p:spPr>
        <p:txBody>
          <a:bodyPr/>
          <a:lstStyle/>
          <a:p>
            <a:pPr rtl="0"/>
            <a:r>
              <a:rPr lang="pt-BR" sz="1600"/>
              <a:t>Projeto Estruturado</a:t>
            </a:r>
            <a:br>
              <a:rPr lang="en-US" dirty="0"/>
            </a:br>
            <a:r>
              <a:rPr lang="pt-BR" sz="2400"/>
              <a:t>Packet Tracer – </a:t>
            </a:r>
            <a:r>
              <a:rPr kumimoji="0" lang="pt-BR" sz="2400" b="0" i="0" u="none" strike="noStrike" kern="1200" cap="none" spc="0" normalizeH="0" baseline="0">
                <a:ln>
                  <a:noFill/>
                </a:ln>
                <a:solidFill>
                  <a:srgbClr val="004C69"/>
                </a:solidFill>
                <a:effectLst/>
                <a:uLnTx/>
                <a:uFillTx/>
                <a:latin typeface="Arial" panose="020B0604020202020204"/>
                <a:ea typeface="MS PGothic" charset="0"/>
              </a:rPr>
              <a:t>Projetar e Implementar um Esquema de Endereçamento VLSM - Modo Físico</a:t>
            </a:r>
            <a:br>
              <a:rPr lang="en-US" sz="2400" dirty="0"/>
            </a:br>
            <a:r>
              <a:rPr lang="pt-BR" sz="2400"/>
              <a:t>Laboratório – Projetar e Implementar um Esquema de Endereçamento VLSM</a:t>
            </a:r>
            <a:endParaRPr lang="pt-BR" sz="2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400">
                <a:latin typeface="Arial" panose="020B0604020202020204" pitchFamily="34" charset="0"/>
              </a:rPr>
              <a:t>Módulo Prática e Quiz</a:t>
            </a:r>
            <a:br>
              <a:rPr lang="en-US" dirty="0">
                <a:latin typeface="Arial" panose="020B0604020202020204" pitchFamily="34" charset="0"/>
              </a:rPr>
            </a:br>
            <a:r>
              <a:rPr lang="pt-BR">
                <a:latin typeface="Arial" panose="020B0604020202020204" pitchFamily="34" charset="0"/>
              </a:rPr>
              <a:t>O que aprendi neste módulo?</a:t>
            </a:r>
            <a:endParaRPr lang="pt-BR">
              <a:latin typeface="Arial" panose="020B0604020202020204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82880" indent="-167005" rtl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pt-BR" sz="1600"/>
              <a:t>A estrutura de endereçamento IP consiste em um endereço de rede hierárquico de 32 bits que identifica uma rede e uma parte do host. Os dispositivos de rede usam um processo chamado ANDING usando o endereço IP e a máscara de sub-rede associada para identificar as partes da rede e do host.</a:t>
            </a:r>
            <a:endParaRPr lang="pt-BR" sz="1600"/>
          </a:p>
          <a:p>
            <a:pPr marL="182880" indent="-167005" rtl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pt-BR" sz="1600"/>
              <a:t>Os pacotes IPv4 de destino podem ser unicast, broadcast e multicast.</a:t>
            </a:r>
            <a:endParaRPr lang="pt-BR" sz="1600"/>
          </a:p>
          <a:p>
            <a:pPr marL="182880" indent="-167005" rtl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pt-BR" sz="1600"/>
              <a:t>Há endereços IP roteáveis globalmente como atribuídos pela IANA e há três intervalos de endereços IP privados que não podem ser roteados globalmente, mas podem ser usados em todas as redes privadas internas.</a:t>
            </a:r>
            <a:endParaRPr lang="pt-BR" sz="1600"/>
          </a:p>
          <a:p>
            <a:pPr marL="182880" indent="-167005" rtl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pt-BR" sz="1600"/>
              <a:t>Reduzir grandes domínios de difusão usando sub-redes para criar domínios de difusão menores, reduzir o tráfego geral de rede e melhorar o desempenho da rede. </a:t>
            </a:r>
            <a:endParaRPr lang="pt-BR" sz="1600"/>
          </a:p>
          <a:p>
            <a:pPr marL="182880" indent="-167005" rtl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pt-BR" sz="1600"/>
              <a:t>Crie sub-redes IPv4 usando um ou mais bits do host como bits de rede. No entanto, as redes são mais facilmente sub-redes no limite do octeto de / 8, / 16 e / 24.</a:t>
            </a:r>
            <a:endParaRPr lang="pt-BR" sz="1600"/>
          </a:p>
          <a:p>
            <a:pPr marL="182880" indent="-167005" rtl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pt-BR" sz="1600"/>
              <a:t>Redes maiores podem ser sub-redes nos limites /8 ou /16.</a:t>
            </a:r>
            <a:endParaRPr lang="pt-BR" sz="1600"/>
          </a:p>
          <a:p>
            <a:pPr marL="182880" indent="-167005" rtl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pt-BR" sz="1600"/>
              <a:t>Use o VLSM para reduzir o número de endereços de host não utilizados por sub-rede.</a:t>
            </a:r>
            <a:endParaRPr lang="pt-BR" sz="1600"/>
          </a:p>
          <a:p>
            <a:pPr marL="172720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sz="1600" dirty="0"/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400">
                <a:latin typeface="Arial" panose="020B0604020202020204" pitchFamily="34" charset="0"/>
              </a:rPr>
              <a:t>Módulo Prática e Quiz</a:t>
            </a:r>
            <a:br>
              <a:rPr lang="en-US" dirty="0">
                <a:latin typeface="Arial" panose="020B0604020202020204" pitchFamily="34" charset="0"/>
              </a:rPr>
            </a:br>
            <a:r>
              <a:rPr lang="pt-BR">
                <a:latin typeface="Arial" panose="020B0604020202020204" pitchFamily="34" charset="0"/>
              </a:rPr>
              <a:t>O que aprendi neste módulo? (Cont.)</a:t>
            </a:r>
            <a:endParaRPr lang="pt-BR">
              <a:latin typeface="Arial" panose="020B0604020202020204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82880" indent="-167005" rtl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pt-BR" sz="1600"/>
              <a:t>O VLSM permite que um espaço de rede seja dividido em partes desiguais. Sempre comece satisfazendo os requisitos de host da maior sub-rede. Continue a divisão em sub-redes até atender ao requisitos de host da menor sub-rede. </a:t>
            </a:r>
            <a:endParaRPr lang="pt-BR" sz="1600"/>
          </a:p>
          <a:p>
            <a:pPr marL="182880" indent="-167005" rtl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pt-BR" sz="1600"/>
              <a:t>Ao projetar um esquema de endereçamento de rede, considere os requisitos internos, DMZ e externos. Use um esquema de endereçamento IP interno consistente com um padrão definido de como os endereços são alocados para cada tipo de dispositivo.</a:t>
            </a:r>
            <a:endParaRPr lang="pt-BR" sz="1600"/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41394"/>
            <a:ext cx="9144000" cy="609056"/>
          </a:xfrm>
        </p:spPr>
        <p:txBody>
          <a:bodyPr/>
          <a:lstStyle/>
          <a:p>
            <a:pPr rtl="0" eaLnBrk="1" hangingPunct="1"/>
            <a:r>
              <a:rPr lang="pt-BR" sz="1400">
                <a:latin typeface="Arial" panose="020B0604020202020204" pitchFamily="34" charset="0"/>
              </a:rPr>
              <a:t>Módulo 11: Endereçamento IPv4</a:t>
            </a:r>
            <a:br>
              <a:rPr lang="en-US" dirty="0">
                <a:latin typeface="Arial" panose="020B0604020202020204" pitchFamily="34" charset="0"/>
              </a:rPr>
            </a:br>
            <a:r>
              <a:rPr lang="pt-BR">
                <a:latin typeface="Arial" panose="020B0604020202020204" pitchFamily="34" charset="0"/>
              </a:rPr>
              <a:t>Novos Termos e Comandos</a:t>
            </a:r>
            <a:endParaRPr lang="pt-BR">
              <a:latin typeface="Arial" panose="020B0604020202020204" pitchFamily="34" charset="0"/>
            </a:endParaRPr>
          </a:p>
        </p:txBody>
      </p:sp>
      <p:graphicFrame>
        <p:nvGraphicFramePr>
          <p:cNvPr id="9" name="Table 9"/>
          <p:cNvGraphicFramePr>
            <a:graphicFrameLocks noGrp="1"/>
          </p:cNvGraphicFramePr>
          <p:nvPr>
            <p:ph idx="1"/>
          </p:nvPr>
        </p:nvGraphicFramePr>
        <p:xfrm>
          <a:off x="144463" y="798513"/>
          <a:ext cx="8853486" cy="30784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426743"/>
                <a:gridCol w="4426743"/>
              </a:tblGrid>
              <a:tr h="370840">
                <a:tc>
                  <a:txBody>
                    <a:bodyPr/>
                    <a:lstStyle/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pt-BR" b="0">
                          <a:solidFill>
                            <a:srgbClr val="000000"/>
                          </a:solidFill>
                        </a:rPr>
                        <a:t>comprimento do prefixo</a:t>
                      </a:r>
                      <a:endParaRPr lang="pt-BR" b="0">
                        <a:solidFill>
                          <a:srgbClr val="000000"/>
                        </a:solidFill>
                      </a:endParaRP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pt-BR" b="0">
                          <a:solidFill>
                            <a:srgbClr val="000000"/>
                          </a:solidFill>
                        </a:rPr>
                        <a:t>AND lógico</a:t>
                      </a:r>
                      <a:endParaRPr lang="pt-BR" b="0">
                        <a:solidFill>
                          <a:srgbClr val="000000"/>
                        </a:solidFill>
                      </a:endParaRP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pt-BR" b="0">
                          <a:solidFill>
                            <a:srgbClr val="000000"/>
                          </a:solidFill>
                        </a:rPr>
                        <a:t>endereço de rede</a:t>
                      </a:r>
                      <a:endParaRPr lang="pt-BR" b="0">
                        <a:solidFill>
                          <a:srgbClr val="000000"/>
                        </a:solidFill>
                      </a:endParaRP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pt-BR" b="0">
                          <a:solidFill>
                            <a:srgbClr val="000000"/>
                          </a:solidFill>
                        </a:rPr>
                        <a:t>endereço de broadcast</a:t>
                      </a:r>
                      <a:endParaRPr lang="pt-BR" b="0">
                        <a:solidFill>
                          <a:srgbClr val="000000"/>
                        </a:solidFill>
                      </a:endParaRP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pt-BR" b="0">
                          <a:solidFill>
                            <a:srgbClr val="000000"/>
                          </a:solidFill>
                        </a:rPr>
                        <a:t>primeiro endereço utilizável</a:t>
                      </a:r>
                      <a:endParaRPr lang="pt-BR" b="0">
                        <a:solidFill>
                          <a:srgbClr val="000000"/>
                        </a:solidFill>
                      </a:endParaRP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pt-BR" b="0">
                          <a:solidFill>
                            <a:srgbClr val="000000"/>
                          </a:solidFill>
                        </a:rPr>
                        <a:t>último endereço utilizável</a:t>
                      </a:r>
                      <a:endParaRPr lang="pt-BR" b="0">
                        <a:solidFill>
                          <a:srgbClr val="000000"/>
                        </a:solidFill>
                      </a:endParaRP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pt-BR" b="0">
                          <a:solidFill>
                            <a:srgbClr val="000000"/>
                          </a:solidFill>
                        </a:rPr>
                        <a:t>Transmissão Unicast, Broadcast e Multicast</a:t>
                      </a:r>
                      <a:endParaRPr lang="pt-BR" b="0">
                        <a:solidFill>
                          <a:srgbClr val="000000"/>
                        </a:solidFill>
                      </a:endParaRP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pt-BR" b="0">
                          <a:solidFill>
                            <a:srgbClr val="000000"/>
                          </a:solidFill>
                        </a:rPr>
                        <a:t>endereços particulares</a:t>
                      </a:r>
                      <a:endParaRPr lang="pt-BR" b="0">
                        <a:solidFill>
                          <a:srgbClr val="000000"/>
                        </a:solidFill>
                      </a:endParaRP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pt-BR" b="0">
                          <a:solidFill>
                            <a:srgbClr val="000000"/>
                          </a:solidFill>
                        </a:rPr>
                        <a:t>Endereços públicos</a:t>
                      </a:r>
                      <a:endParaRPr lang="pt-BR" b="0">
                        <a:solidFill>
                          <a:srgbClr val="000000"/>
                        </a:solidFill>
                      </a:endParaRP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pt-BR" b="0">
                          <a:solidFill>
                            <a:srgbClr val="000000"/>
                          </a:solidFill>
                        </a:rPr>
                        <a:t>Tradução de Endereço de Rede (NAT)</a:t>
                      </a:r>
                      <a:endParaRPr lang="pt-BR" b="0">
                        <a:solidFill>
                          <a:srgbClr val="000000"/>
                        </a:solidFill>
                      </a:endParaRP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pt-BR" b="0">
                          <a:solidFill>
                            <a:srgbClr val="000000"/>
                          </a:solidFill>
                        </a:rPr>
                        <a:t>Endereços de loopback.</a:t>
                      </a:r>
                      <a:endParaRPr lang="pt-BR" b="0">
                        <a:solidFill>
                          <a:srgbClr val="000000"/>
                        </a:solidFill>
                      </a:endParaRP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pt-BR" b="0">
                          <a:solidFill>
                            <a:srgbClr val="000000"/>
                          </a:solidFill>
                        </a:rPr>
                        <a:t>Endereçamento IP Privado Automático (APIPA)</a:t>
                      </a:r>
                      <a:endParaRPr lang="pt-BR" b="0">
                        <a:solidFill>
                          <a:srgbClr val="000000"/>
                        </a:solidFill>
                      </a:endParaRP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pt-BR" b="0">
                          <a:solidFill>
                            <a:srgbClr val="000000"/>
                          </a:solidFill>
                        </a:rPr>
                        <a:t>Endereçamento de classe (Classe A, B, C, D e E)</a:t>
                      </a:r>
                      <a:endParaRPr lang="pt-BR" b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b="0">
                          <a:solidFill>
                            <a:srgbClr val="000000"/>
                          </a:solidFill>
                        </a:rPr>
                        <a:t>Internet Assigned Numbers Authority (IANA)</a:t>
                      </a:r>
                      <a:endParaRPr lang="pt-BR" b="0">
                        <a:solidFill>
                          <a:srgbClr val="000000"/>
                        </a:solidFill>
                      </a:endParaRPr>
                    </a:p>
                    <a:p>
                      <a:pPr rtl="0"/>
                      <a:r>
                        <a:rPr lang="pt-BR" b="0">
                          <a:solidFill>
                            <a:srgbClr val="000000"/>
                          </a:solidFill>
                        </a:rPr>
                        <a:t>Registros de Internet Regionais (RIRs)</a:t>
                      </a:r>
                      <a:endParaRPr lang="pt-BR" b="0">
                        <a:solidFill>
                          <a:srgbClr val="000000"/>
                        </a:solidFill>
                      </a:endParaRPr>
                    </a:p>
                    <a:p>
                      <a:pPr rtl="0"/>
                      <a:r>
                        <a:rPr lang="pt-BR" b="0">
                          <a:solidFill>
                            <a:srgbClr val="000000"/>
                          </a:solidFill>
                        </a:rPr>
                        <a:t>AFrinic, APNIC, ARIN, LACNIC e RIPE NCC </a:t>
                      </a:r>
                      <a:endParaRPr lang="pt-BR" b="0">
                        <a:solidFill>
                          <a:srgbClr val="000000"/>
                        </a:solidFill>
                      </a:endParaRPr>
                    </a:p>
                    <a:p>
                      <a:pPr rtl="0"/>
                      <a:r>
                        <a:rPr lang="pt-BR" b="0">
                          <a:solidFill>
                            <a:srgbClr val="000000"/>
                          </a:solidFill>
                        </a:rPr>
                        <a:t>domínio de broadcast</a:t>
                      </a:r>
                      <a:endParaRPr lang="pt-BR" b="0">
                        <a:solidFill>
                          <a:srgbClr val="000000"/>
                        </a:solidFill>
                      </a:endParaRPr>
                    </a:p>
                    <a:p>
                      <a:pPr rtl="0"/>
                      <a:r>
                        <a:rPr lang="pt-BR" b="0">
                          <a:solidFill>
                            <a:srgbClr val="000000"/>
                          </a:solidFill>
                        </a:rPr>
                        <a:t>Sub-redes</a:t>
                      </a:r>
                      <a:endParaRPr lang="pt-BR" b="0">
                        <a:solidFill>
                          <a:srgbClr val="000000"/>
                        </a:solidFill>
                      </a:endParaRPr>
                    </a:p>
                    <a:p>
                      <a:pPr rtl="0"/>
                      <a:r>
                        <a:rPr lang="pt-BR" b="0">
                          <a:solidFill>
                            <a:srgbClr val="000000"/>
                          </a:solidFill>
                        </a:rPr>
                        <a:t>Limite do octeto</a:t>
                      </a:r>
                      <a:endParaRPr lang="pt-BR" b="0">
                        <a:solidFill>
                          <a:srgbClr val="000000"/>
                        </a:solidFill>
                      </a:endParaRPr>
                    </a:p>
                    <a:p>
                      <a:pPr rtl="0"/>
                      <a:r>
                        <a:rPr lang="pt-BR" b="0">
                          <a:solidFill>
                            <a:srgbClr val="000000"/>
                          </a:solidFill>
                        </a:rPr>
                        <a:t>Máscara de Sub-rede de Comprimento Variável (VLSM) </a:t>
                      </a:r>
                      <a:endParaRPr lang="pt-BR" b="0">
                        <a:solidFill>
                          <a:srgbClr val="000000"/>
                        </a:solidFill>
                      </a:endParaRPr>
                    </a:p>
                    <a:p>
                      <a:endParaRPr lang="en-US" b="0" dirty="0">
                        <a:solidFill>
                          <a:srgbClr val="000000"/>
                        </a:solidFill>
                      </a:endParaRPr>
                    </a:p>
                    <a:p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custDataLst>
      <p:tags r:id="rId1"/>
    </p:custDataLst>
  </p:cSld>
  <p:clrMapOvr>
    <a:masterClrMapping/>
  </p:clrMapOvr>
  <p:transition spd="slow">
    <p:wip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  <p:transition spd="slow">
    <p:wipe/>
  </p:transition>
</p:sld>
</file>

<file path=ppt/tags/tag1.xml><?xml version="1.0" encoding="utf-8"?>
<p:tagLst xmlns:p="http://schemas.openxmlformats.org/presentationml/2006/main">
  <p:tag name="ARTICULATE_SLIDE_THUMBNAIL_REFRESH" val="1"/>
</p:tagLst>
</file>

<file path=ppt/tags/tag2.xml><?xml version="1.0" encoding="utf-8"?>
<p:tagLst xmlns:p="http://schemas.openxmlformats.org/presentationml/2006/main">
  <p:tag name="ARTICULATE_SLIDE_THUMBNAIL_REFRESH" val="1"/>
</p:tagLst>
</file>

<file path=ppt/tags/tag3.xml><?xml version="1.0" encoding="utf-8"?>
<p:tagLst xmlns:p="http://schemas.openxmlformats.org/presentationml/2006/main">
  <p:tag name="ARTICULATE_SLIDE_THUMBNAIL_REFRESH" val="1"/>
</p:tagLst>
</file>

<file path=ppt/tags/tag4.xml><?xml version="1.0" encoding="utf-8"?>
<p:tagLst xmlns:p="http://schemas.openxmlformats.org/presentationml/2006/main">
  <p:tag name="ARTICULATE_SLIDE_THUMBNAIL_REFRESH" val="1"/>
</p:tagLst>
</file>

<file path=ppt/tags/tag5.xml><?xml version="1.0" encoding="utf-8"?>
<p:tagLst xmlns:p="http://schemas.openxmlformats.org/presentationml/2006/main">
  <p:tag name="ARTICULATE_SLIDE_THUMBNAIL_REFRESH" val="1"/>
</p:tagLst>
</file>

<file path=ppt/tags/tag6.xml><?xml version="1.0" encoding="utf-8"?>
<p:tagLst xmlns:p="http://schemas.openxmlformats.org/presentationml/2006/main">
  <p:tag name="ARTICULATE_SLIDE_THUMBNAIL_REFRESH" val="1"/>
</p:tagLst>
</file>

<file path=ppt/tags/tag7.xml><?xml version="1.0" encoding="utf-8"?>
<p:tagLst xmlns:p="http://schemas.openxmlformats.org/presentationml/2006/main">
  <p:tag name="ARTICULATE_SLIDE_THUMBNAIL_REFRESH" val="1"/>
</p:tagLst>
</file>

<file path=ppt/tags/tag8.xml><?xml version="1.0" encoding="utf-8"?>
<p:tagLst xmlns:p="http://schemas.openxmlformats.org/presentationml/2006/main">
  <p:tag name="ARTICULATE_SLIDE_THUMBNAIL_REFRESH" val="1"/>
</p:tagLst>
</file>

<file path=ppt/tags/tag9.xml><?xml version="1.0" encoding="utf-8"?>
<p:tagLst xmlns:p="http://schemas.openxmlformats.org/presentationml/2006/main">
  <p:tag name="ARTICULATE_SLIDE_THUMBNAIL_REFRESH" val="1"/>
</p:tagLst>
</file>

<file path=ppt/tags/tag10.xml><?xml version="1.0" encoding="utf-8"?>
<p:tagLst xmlns:p="http://schemas.openxmlformats.org/presentationml/2006/main">
  <p:tag name="ARTICULATE_SLIDE_THUMBNAIL_REFRESH" val="1"/>
</p:tagLst>
</file>

<file path=ppt/tags/tag11.xml><?xml version="1.0" encoding="utf-8"?>
<p:tagLst xmlns:p="http://schemas.openxmlformats.org/presentationml/2006/main">
  <p:tag name="ARTICULATE_SLIDE_THUMBNAIL_REFRESH" val="1"/>
</p:tagLst>
</file>

<file path=ppt/tags/tag12.xml><?xml version="1.0" encoding="utf-8"?>
<p:tagLst xmlns:p="http://schemas.openxmlformats.org/presentationml/2006/main">
  <p:tag name="ARTICULATE_SLIDE_THUMBNAIL_REFRESH" val="1"/>
</p:tagLst>
</file>

<file path=ppt/tags/tag13.xml><?xml version="1.0" encoding="utf-8"?>
<p:tagLst xmlns:p="http://schemas.openxmlformats.org/presentationml/2006/main">
  <p:tag name="ARTICULATE_SLIDE_THUMBNAIL_REFRESH" val="1"/>
</p:tagLst>
</file>

<file path=ppt/tags/tag14.xml><?xml version="1.0" encoding="utf-8"?>
<p:tagLst xmlns:p="http://schemas.openxmlformats.org/presentationml/2006/main">
  <p:tag name="ARTICULATE_SLIDE_THUMBNAIL_REFRESH" val="1"/>
</p:tagLst>
</file>

<file path=ppt/tags/tag15.xml><?xml version="1.0" encoding="utf-8"?>
<p:tagLst xmlns:p="http://schemas.openxmlformats.org/presentationml/2006/main">
  <p:tag name="ARTICULATE_SLIDE_THUMBNAIL_REFRESH" val="1"/>
</p:tagLst>
</file>

<file path=ppt/tags/tag16.xml><?xml version="1.0" encoding="utf-8"?>
<p:tagLst xmlns:p="http://schemas.openxmlformats.org/presentationml/2006/main">
  <p:tag name="ARTICULATE_SLIDE_THUMBNAIL_REFRESH" val="1"/>
</p:tagLst>
</file>

<file path=ppt/tags/tag17.xml><?xml version="1.0" encoding="utf-8"?>
<p:tagLst xmlns:p="http://schemas.openxmlformats.org/presentationml/2006/main">
  <p:tag name="ARTICULATE_SLIDE_COUNT" val="65"/>
  <p:tag name="ARTICULATE_PROJECT_OPEN" val="0"/>
</p:tagLst>
</file>

<file path=ppt/theme/theme1.xml><?xml version="1.0" encoding="utf-8"?>
<a:theme xmlns:a="http://schemas.openxmlformats.org/drawingml/2006/main" name="Default Theme">
  <a:themeElements>
    <a:clrScheme name="Custom 6">
      <a:dk1>
        <a:srgbClr val="58585B"/>
      </a:dk1>
      <a:lt1>
        <a:srgbClr val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6A4D7"/>
        </a:solidFill>
        <a:ln>
          <a:noFill/>
        </a:ln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0</TotalTime>
  <Words>22721</Words>
  <Application>WPS Presentation</Application>
  <PresentationFormat>On-screen Show (16:9)</PresentationFormat>
  <Paragraphs>1017</Paragraphs>
  <Slides>59</Slides>
  <Notes>72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59</vt:i4>
      </vt:variant>
    </vt:vector>
  </HeadingPairs>
  <TitlesOfParts>
    <vt:vector size="80" baseType="lpstr">
      <vt:lpstr>Arial</vt:lpstr>
      <vt:lpstr>SimSun</vt:lpstr>
      <vt:lpstr>Wingdings</vt:lpstr>
      <vt:lpstr>MS PGothic</vt:lpstr>
      <vt:lpstr>Droid Sans Fallback</vt:lpstr>
      <vt:lpstr>CiscoSans Thin</vt:lpstr>
      <vt:lpstr>Gubbi</vt:lpstr>
      <vt:lpstr>MS PGothic</vt:lpstr>
      <vt:lpstr>CiscoSans</vt:lpstr>
      <vt:lpstr>CiscoSans</vt:lpstr>
      <vt:lpstr>CiscoSans ExtraLight</vt:lpstr>
      <vt:lpstr>Arial</vt:lpstr>
      <vt:lpstr>CiscoSans ExtraLight</vt:lpstr>
      <vt:lpstr>OpenSymbol</vt:lpstr>
      <vt:lpstr>Microsoft YaHei</vt:lpstr>
      <vt:lpstr>Arial Unicode MS</vt:lpstr>
      <vt:lpstr>Calibri</vt:lpstr>
      <vt:lpstr>Trebuchet MS</vt:lpstr>
      <vt:lpstr>Times New Roman</vt:lpstr>
      <vt:lpstr>Courier New</vt:lpstr>
      <vt:lpstr>Default Theme</vt:lpstr>
      <vt:lpstr>Módulo 11: Endereçamento IPv4</vt:lpstr>
      <vt:lpstr>Módulo 11: endereçamento IPv4</vt:lpstr>
      <vt:lpstr>11.1 Estrutura de endereço IPv4 </vt:lpstr>
      <vt:lpstr>Estrutura do endereço IPv4  Partes de rede e host</vt:lpstr>
      <vt:lpstr>Estrutura de endereço IPv4 A máscara de sub-rede</vt:lpstr>
      <vt:lpstr>Estrutura do endereço IPv4 O comprimento do prefixo</vt:lpstr>
      <vt:lpstr>Estrutura de Endereços IPv4 Determinando a Rede: Lógica E</vt:lpstr>
      <vt:lpstr>Estrutura de endereço IPv4 Vídeo - endereços de rede, host e transmissão</vt:lpstr>
      <vt:lpstr>Estrutura de endereço IPv4  Endereços de rede, host e transmissão</vt:lpstr>
      <vt:lpstr>11.2 Unicast IPv4, transmissão e multicast</vt:lpstr>
      <vt:lpstr>Unicast IPv4, Broadcast e Multicast Unicast</vt:lpstr>
      <vt:lpstr>Unicast IPv4, Broadcast e Multicast Broadcast</vt:lpstr>
      <vt:lpstr>Unicast IPv4, transmissão e multicast Multicast</vt:lpstr>
      <vt:lpstr>11.3 Tipos de endereços IPv4</vt:lpstr>
      <vt:lpstr>Tipos de endereços IPv4  Endereços IPv4 públicos e privados</vt:lpstr>
      <vt:lpstr>Tipos de Endereços IPv4 Roteamento para a Internet</vt:lpstr>
      <vt:lpstr>Tipos de endereços IPv4  Endereços IPv4 de uso especial</vt:lpstr>
      <vt:lpstr>Tipos de endereços IPv4 Endereçamento Classificado Legado</vt:lpstr>
      <vt:lpstr>Tipos de endereço IPv4  Atribuição de endereços IP</vt:lpstr>
      <vt:lpstr>11.4 Segmentação de rede</vt:lpstr>
      <vt:lpstr>Segmentação de rede Domínios e Segmentação de Broadcast</vt:lpstr>
      <vt:lpstr>Segmentação de rede Problemas com grandes domínios de transmissão</vt:lpstr>
      <vt:lpstr>Segmentação de rede  Razões para segmentar redes</vt:lpstr>
      <vt:lpstr>11.5 Sub-rede uma rede IPv4</vt:lpstr>
      <vt:lpstr>Sub-rede de uma rede IPv4 Sub-rede em um limite de octeto</vt:lpstr>
      <vt:lpstr>Sub-rede de uma rede IPv4  em um limite de octeto (cont.)</vt:lpstr>
      <vt:lpstr>Sub-rede uma rede IPv4  Sub-rede dentro de um limite de octeto</vt:lpstr>
      <vt:lpstr>Sub-rede de uma Rede IPv4 Video - A máscara de sub-rede</vt:lpstr>
      <vt:lpstr>Sub-rede de uma Rede IPv4 Video - Sub-rede com o Número Mágico</vt:lpstr>
      <vt:lpstr>Sub-rede umrastreador depacotes de rede IPv4 — sub-rede uma rede IPv4</vt:lpstr>
      <vt:lpstr>11.6 Sub-rede uma Barra 16 e um Prefixo de Barra 8</vt:lpstr>
      <vt:lpstr>Sub-rede uma barra 16 e um prefixo de barra 8 Criar sub-redes com um prefixo de barra 16</vt:lpstr>
      <vt:lpstr>Sub-rede uma barra 16 e um prefixo de barra 8 Criar 100 sub-redes com um prefixo de barra 16</vt:lpstr>
      <vt:lpstr>Sub-rede uma barra 16 e um prefixo de barra 8 Criar 1000 sub-redes com um prefixo de barra 8</vt:lpstr>
      <vt:lpstr>Sub-rede um vídeo de barra 16 e um prefixo de barra 8 — sub-rede em vários octetos</vt:lpstr>
      <vt:lpstr>Sub-rede um laboratório de barra 16 e um laboratório de prefixo de barra 8 — Calcular sub-redes IPv4</vt:lpstr>
      <vt:lpstr>11.7 Sub-rede para atender aos requisitos</vt:lpstr>
      <vt:lpstr>Sub-rede para atender aos requisitos Sub-rede Privada versus Espaço de Endereços IPv4 Público</vt:lpstr>
      <vt:lpstr>Sub-rede para atender aos requisitos Minimizar endereços IPv4 de host não utilizados e maximizar sub-redes</vt:lpstr>
      <vt:lpstr> Exemplo de sub-rede para atender aos requisitos: sub-rede IPv4 eficiente</vt:lpstr>
      <vt:lpstr>Sub-rede para atender aos requisitos do  Packet Tracer - Cenário de sub-rede</vt:lpstr>
      <vt:lpstr>11.8 VLSM </vt:lpstr>
      <vt:lpstr> Vídeo VLSM — Noções básicas do VLSM</vt:lpstr>
      <vt:lpstr>VLSM Video - Exemplo de VLSM</vt:lpstr>
      <vt:lpstr>Conservação deendereços IPv4 VLSM</vt:lpstr>
      <vt:lpstr>Conservação de endereçosIPv4 VLSM (Cont.) </vt:lpstr>
      <vt:lpstr>VLSM VLSM</vt:lpstr>
      <vt:lpstr>Atribuição de endereço de topologiaVLSM VLSM</vt:lpstr>
      <vt:lpstr>11.9 Projeto estruturado </vt:lpstr>
      <vt:lpstr>Projeto Estruturado Planejamento de endereços de rede IPv4</vt:lpstr>
      <vt:lpstr>Atribuição de endereço dedispositivo dedesign estruturado</vt:lpstr>
      <vt:lpstr>Packet Tracer de design estrutural — Prática de projeto e implementação do VLSM</vt:lpstr>
      <vt:lpstr>11.10 - Módulo Prática e Quiz</vt:lpstr>
      <vt:lpstr>Projeto Estruturado Packet Tracer - Projete e implemente um esquema de endereçamento VLSM</vt:lpstr>
      <vt:lpstr>Projeto Estruturado Packet Tracer – Projetar e Implementar um Esquema de Endereçamento VLSM - Modo Físico Laboratório – Projetar e Implementar um Esquema de Endereçamento VLSM</vt:lpstr>
      <vt:lpstr>Módulo Prática e Quiz O que aprendi neste módulo?</vt:lpstr>
      <vt:lpstr>Módulo Prática e Quiz O que aprendi neste módulo? (Cont.)</vt:lpstr>
      <vt:lpstr>Módulo 11: Endereçamento IPv4 Novos Termos e Comandos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2: Basic Switch and End Device Configuration</dc:title>
  <dc:creator>Stephanie Harvey</dc:creator>
  <cp:lastModifiedBy>vaamonde</cp:lastModifiedBy>
  <cp:revision>304</cp:revision>
  <dcterms:created xsi:type="dcterms:W3CDTF">2026-04-05T04:07:25Z</dcterms:created>
  <dcterms:modified xsi:type="dcterms:W3CDTF">2026-04-05T04:07:25Z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sync_ProviderInitializationData">
    <vt:lpwstr>https://cisco.jiveon.com</vt:lpwstr>
  </property>
  <property fmtid="{D5CDD505-2E9C-101B-9397-08002B2CF9AE}" pid="3" name="Offisync_UpdateToken">
    <vt:lpwstr>1</vt:lpwstr>
  </property>
  <property fmtid="{D5CDD505-2E9C-101B-9397-08002B2CF9AE}" pid="4" name="Offisync_ServerID">
    <vt:lpwstr>07841bbc-cd3c-4a76-827f-75a2226890f4</vt:lpwstr>
  </property>
  <property fmtid="{D5CDD505-2E9C-101B-9397-08002B2CF9AE}" pid="5" name="Offisync_UniqueId">
    <vt:lpwstr>1702406</vt:lpwstr>
  </property>
  <property fmtid="{D5CDD505-2E9C-101B-9397-08002B2CF9AE}" pid="6" name="Jive_VersionGuid">
    <vt:lpwstr>fd96a0b3-f68d-4727-8e4f-2128d37ed30a</vt:lpwstr>
  </property>
  <property fmtid="{D5CDD505-2E9C-101B-9397-08002B2CF9AE}" pid="7" name="Jive_LatestUserAccountName">
    <vt:lpwstr>alljohns</vt:lpwstr>
  </property>
  <property fmtid="{D5CDD505-2E9C-101B-9397-08002B2CF9AE}" pid="8" name="ArticulateGUID">
    <vt:lpwstr>F9A496F7-57D7-4028-9572-D40DFDF3715A</vt:lpwstr>
  </property>
  <property fmtid="{D5CDD505-2E9C-101B-9397-08002B2CF9AE}" pid="9" name="ArticulatePath">
    <vt:lpwstr>ITE7_Chp9_by_jg</vt:lpwstr>
  </property>
  <property fmtid="{D5CDD505-2E9C-101B-9397-08002B2CF9AE}" pid="10" name="ICV">
    <vt:lpwstr/>
  </property>
  <property fmtid="{D5CDD505-2E9C-101B-9397-08002B2CF9AE}" pid="11" name="KSOProductBuildVer">
    <vt:lpwstr>1046-11.1.0.11723</vt:lpwstr>
  </property>
</Properties>
</file>