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513" r:id="rId3"/>
    <p:sldId id="759" r:id="rId5"/>
    <p:sldId id="788" r:id="rId6"/>
    <p:sldId id="790" r:id="rId7"/>
    <p:sldId id="927" r:id="rId8"/>
    <p:sldId id="928" r:id="rId9"/>
    <p:sldId id="929" r:id="rId10"/>
    <p:sldId id="886" r:id="rId11"/>
    <p:sldId id="792" r:id="rId12"/>
    <p:sldId id="881" r:id="rId13"/>
    <p:sldId id="795" r:id="rId14"/>
    <p:sldId id="959" r:id="rId15"/>
    <p:sldId id="812" r:id="rId16"/>
    <p:sldId id="960" r:id="rId17"/>
    <p:sldId id="808" r:id="rId18"/>
    <p:sldId id="961" r:id="rId19"/>
    <p:sldId id="932" r:id="rId20"/>
    <p:sldId id="933" r:id="rId21"/>
    <p:sldId id="962" r:id="rId22"/>
    <p:sldId id="963" r:id="rId23"/>
    <p:sldId id="771" r:id="rId24"/>
    <p:sldId id="865" r:id="rId25"/>
    <p:sldId id="934" r:id="rId26"/>
    <p:sldId id="935" r:id="rId27"/>
    <p:sldId id="964" r:id="rId28"/>
    <p:sldId id="936" r:id="rId29"/>
    <p:sldId id="937" r:id="rId30"/>
    <p:sldId id="939" r:id="rId31"/>
    <p:sldId id="940" r:id="rId32"/>
    <p:sldId id="941" r:id="rId33"/>
    <p:sldId id="942" r:id="rId34"/>
    <p:sldId id="965" r:id="rId35"/>
    <p:sldId id="946" r:id="rId36"/>
    <p:sldId id="947" r:id="rId37"/>
    <p:sldId id="966" r:id="rId38"/>
    <p:sldId id="948" r:id="rId39"/>
    <p:sldId id="949" r:id="rId40"/>
    <p:sldId id="950" r:id="rId41"/>
    <p:sldId id="951" r:id="rId42"/>
    <p:sldId id="991" r:id="rId43"/>
    <p:sldId id="953" r:id="rId44"/>
    <p:sldId id="954" r:id="rId45"/>
    <p:sldId id="956" r:id="rId46"/>
    <p:sldId id="291" r:id="rId47"/>
  </p:sldIdLst>
  <p:sldSz cx="9144000" cy="5143500" type="screen16x9"/>
  <p:notesSz cx="6858000" cy="9144000"/>
  <p:custDataLst>
    <p:tags r:id="rId52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15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86402" autoAdjust="0"/>
  </p:normalViewPr>
  <p:slideViewPr>
    <p:cSldViewPr snapToGrid="0" showGuides="1">
      <p:cViewPr varScale="1">
        <p:scale>
          <a:sx n="78" d="100"/>
          <a:sy n="78" d="100"/>
        </p:scale>
        <p:origin x="964" y="4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45.xml"/><Relationship Id="rId51" Type="http://schemas.openxmlformats.org/officeDocument/2006/relationships/commentAuthors" Target="commentAuthors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  <a:endParaRPr lang="pt-BR"/>
          </a:p>
          <a:p>
            <a:pPr rtl="0"/>
            <a:r>
              <a:rPr lang="pt-BR"/>
              <a:t>CCNA 1</a:t>
            </a:r>
            <a:endParaRPr lang="pt-BR"/>
          </a:p>
          <a:p>
            <a:pPr rtl="0"/>
            <a:r>
              <a:rPr lang="pt-BR"/>
              <a:t>Módulo 2: Configuração Básica do Switch e do Dispositivo Final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Acesso ao Cisco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Acesso ao Cisco IOS</a:t>
            </a:r>
            <a:endParaRPr lang="pt-BR" sz="1200" kern="120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2.1.1 - Sistemas Operacionais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Acesso ao Cisco IOS</a:t>
            </a:r>
            <a:endParaRPr lang="pt-BR" sz="1200" kern="120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2.1.2 — GUI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Acesso ao Cisco IOS</a:t>
            </a:r>
            <a:endParaRPr lang="pt-BR" sz="1200" kern="120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2.1.3 – Finalidade de um SO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Acesso ao Cisco IOS</a:t>
            </a:r>
            <a:endParaRPr lang="pt-BR" sz="1200" kern="120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2.1.2.1 Métodos de Acesso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2.1 –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Acesso ao Cisco IOS</a:t>
            </a:r>
            <a:endParaRPr lang="pt-BR" sz="1200" kern="120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2.1.5 – Programas de emulação de terminal</a:t>
            </a:r>
            <a:endParaRPr lang="pt-BR">
              <a:latin typeface="Arial" panose="020B0604020202020204" pitchFamily="34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2.1.6 — Verifique seu entendimento - Cisco IOS Access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2.2 -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Navegação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2.2 -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Navegação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2.1.3.2 – Modos de comando primários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2.2 -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Navegação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2.2.2 — Modo de configuração e modos de subconfiguração</a:t>
            </a:r>
            <a:endParaRPr lang="pt-BR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2.2 -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Navegação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2.2.4 – Navegar entre os modos do 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2.2 - </a:t>
            </a:r>
            <a:r>
              <a:rPr lang="pt-BR" sz="1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Navegação</a:t>
            </a: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IOS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2.2.4 – Navegar entre os modos do 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2.3.1 – Estrutura básica de comandos do 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2.3.2 - Verificação de sintaxe do comando 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2.3.2 - Verificação de sintaxe do comando IOS 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2.3.3 – Recursos da ajuda do 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2.3.5 – Teclas de acesso e atalhos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2.3.5 – Teclas de acesso e atalhos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2.3 – A estrutura de comandos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2.3.5 – Teclas de acesso e atalhos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2.4.1 — Nomes de dispositivos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2.4.2 - Diretrizes de senha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2.4.3 - Configurar Senhas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2.4.3 - Configurar Senhas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2.4.4 - Criptografar as Senhas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2.4 – Configuração básica do dispositivo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2.4.5 – Mensagens de banner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2.5 - Salvar configurações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2.5 - Salvar configurações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2.5.1 - Arquivos de configuração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2.5 - Salvar configurações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2.5.2 - Alterar a Configuração Ativa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2.5 - Salvar configurações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2.5.4 – Capturar a Configuração em um arquivo de texto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2.5 - Salvar configurações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2.5.4 – Capturar a Configuração em um arquivo de texto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2.6 — Portas e Endereços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2.6 — Portas e Endereços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2.6.1 — Endereços IP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2.6 — Portas e Endereços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2.6.1 — Endereços IP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2.6 — Portas e Endereços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2.3.1.2 Interfaces e Portas</a:t>
            </a:r>
            <a:endParaRPr lang="pt-BR">
              <a:latin typeface="Arial" panose="020B0604020202020204" pitchFamily="34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2.6.3 — Verifique o seu entendimento - Portas e endereços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2.7 - Configurar endereços IP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2.7 - Configurar endereços IP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2.7.1 - Configuração manual de endereço IP para dispositivos finais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2.7 - Configurar endereços IP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2.7.2 - Configuração automática de endereço IP para dispositivos finais</a:t>
            </a:r>
            <a:endParaRPr lang="pt-BR">
              <a:latin typeface="Arial" panose="020B0604020202020204" pitchFamily="34" charset="0"/>
            </a:endParaRPr>
          </a:p>
          <a:p>
            <a:pPr rtl="0"/>
            <a:r>
              <a:rPr lang="pt-BR"/>
              <a:t>2.7.3 — Verificador de sintaxe — Verifique a configuração de IP do PC Windows</a:t>
            </a:r>
            <a:endParaRPr lang="pt-B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2.7 - Configurar endereços IP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2.7.2 - Configuração automática de endereço IP para dispositivos finais</a:t>
            </a:r>
            <a:endParaRPr lang="pt-BR">
              <a:latin typeface="Arial" panose="020B0604020202020204" pitchFamily="34" charset="0"/>
            </a:endParaRPr>
          </a:p>
          <a:p>
            <a:pPr rtl="0"/>
            <a:r>
              <a:rPr lang="pt-BR"/>
              <a:t>2.7.3 — Verificador de sintaxe — Verifique a configuração de IP do PC Windows</a:t>
            </a:r>
            <a:endParaRPr lang="pt-B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2.7 - Configurar endereços IP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2.7.4 - Configuração da Interface Virtual de Switch</a:t>
            </a:r>
            <a:endParaRPr lang="pt-BR">
              <a:latin typeface="Arial" panose="020B0604020202020204" pitchFamily="34" charset="0"/>
            </a:endParaRPr>
          </a:p>
          <a:p>
            <a:pPr rtl="0"/>
            <a:r>
              <a:rPr lang="pt-BR"/>
              <a:t>2.7.5 - Verificador de sintaxe - Configurar uma interface virtual do switch</a:t>
            </a:r>
            <a:endParaRPr lang="pt-B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2.8 - Verificar a conectividade.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/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 – Configuração básica do switch e do dispositivo final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2.8 - Verificar a conectividade.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2.8.2 - Testar a conectividade de ponta a ponta.</a:t>
            </a:r>
            <a:endParaRPr 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56028" y="4741653"/>
            <a:ext cx="286949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.xml"/><Relationship Id="rId2" Type="http://schemas.openxmlformats.org/officeDocument/2006/relationships/image" Target="../media/image3.png"/><Relationship Id="rId1" Type="http://schemas.openxmlformats.org/officeDocument/2006/relationships/image" Target="../media/image1.tif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.xml"/><Relationship Id="rId1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5.xml"/><Relationship Id="rId2" Type="http://schemas.openxmlformats.org/officeDocument/2006/relationships/image" Target="../media/image2.tiff"/><Relationship Id="rId1" Type="http://schemas.openxmlformats.org/officeDocument/2006/relationships/image" Target="../media/image3.tiff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6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GIF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7.xml"/><Relationship Id="rId2" Type="http://schemas.openxmlformats.org/officeDocument/2006/relationships/image" Target="../media/image5.tiff"/><Relationship Id="rId1" Type="http://schemas.openxmlformats.org/officeDocument/2006/relationships/image" Target="../media/image4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.xml"/><Relationship Id="rId4" Type="http://schemas.openxmlformats.org/officeDocument/2006/relationships/image" Target="../media/image9.tiff"/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image" Target="../media/image6.tiff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.xml"/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image" Target="../media/image10.tiff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.xml"/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image" Target="../media/image13.tiff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.xml"/><Relationship Id="rId2" Type="http://schemas.openxmlformats.org/officeDocument/2006/relationships/image" Target="../media/image17.tiff"/><Relationship Id="rId1" Type="http://schemas.openxmlformats.org/officeDocument/2006/relationships/image" Target="../media/image16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.xml"/><Relationship Id="rId3" Type="http://schemas.openxmlformats.org/officeDocument/2006/relationships/image" Target="../media/image20.tiff"/><Relationship Id="rId2" Type="http://schemas.openxmlformats.org/officeDocument/2006/relationships/image" Target="../media/image19.tiff"/><Relationship Id="rId1" Type="http://schemas.openxmlformats.org/officeDocument/2006/relationships/image" Target="../media/image18.tiff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7.xml"/><Relationship Id="rId2" Type="http://schemas.openxmlformats.org/officeDocument/2006/relationships/image" Target="../media/image22.tiff"/><Relationship Id="rId1" Type="http://schemas.openxmlformats.org/officeDocument/2006/relationships/image" Target="../media/image21.tiff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8.xml"/><Relationship Id="rId2" Type="http://schemas.openxmlformats.org/officeDocument/2006/relationships/image" Target="../media/image24.tiff"/><Relationship Id="rId1" Type="http://schemas.openxmlformats.org/officeDocument/2006/relationships/image" Target="../media/image23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.xml"/><Relationship Id="rId2" Type="http://schemas.openxmlformats.org/officeDocument/2006/relationships/image" Target="../media/image8.png"/><Relationship Id="rId1" Type="http://schemas.openxmlformats.org/officeDocument/2006/relationships/image" Target="../media/image25.tiff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4.xml"/><Relationship Id="rId2" Type="http://schemas.openxmlformats.org/officeDocument/2006/relationships/image" Target="../media/image27.tiff"/><Relationship Id="rId1" Type="http://schemas.openxmlformats.org/officeDocument/2006/relationships/image" Target="../media/image26.tiff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.xml"/><Relationship Id="rId1" Type="http://schemas.openxmlformats.org/officeDocument/2006/relationships/image" Target="../media/image28.tiff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6.xml"/><Relationship Id="rId2" Type="http://schemas.openxmlformats.org/officeDocument/2006/relationships/image" Target="../media/image30.tiff"/><Relationship Id="rId1" Type="http://schemas.openxmlformats.org/officeDocument/2006/relationships/image" Target="../media/image29.tiff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9.xml"/><Relationship Id="rId2" Type="http://schemas.openxmlformats.org/officeDocument/2006/relationships/image" Target="../media/image32.tiff"/><Relationship Id="rId1" Type="http://schemas.openxmlformats.org/officeDocument/2006/relationships/image" Target="../media/image31.tiff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0.xml"/><Relationship Id="rId2" Type="http://schemas.openxmlformats.org/officeDocument/2006/relationships/image" Target="../media/image12.png"/><Relationship Id="rId1" Type="http://schemas.openxmlformats.org/officeDocument/2006/relationships/image" Target="../media/image33.tiff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1.xml"/><Relationship Id="rId1" Type="http://schemas.openxmlformats.org/officeDocument/2006/relationships/image" Target="../media/image34.tiff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2.xml"/><Relationship Id="rId2" Type="http://schemas.openxmlformats.org/officeDocument/2006/relationships/image" Target="../media/image35.tiff"/><Relationship Id="rId1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4.xml"/><Relationship Id="rId1" Type="http://schemas.openxmlformats.org/officeDocument/2006/relationships/image" Target="../media/image36.tiff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5.xml"/><Relationship Id="rId1" Type="http://schemas.openxmlformats.org/officeDocument/2006/relationships/image" Target="../media/image37.tiff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6.xml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8.xml"/><Relationship Id="rId1" Type="http://schemas.openxmlformats.org/officeDocument/2006/relationships/image" Target="../media/image38.tiff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9.xml"/><Relationship Id="rId1" Type="http://schemas.openxmlformats.org/officeDocument/2006/relationships/image" Target="../media/image39.tiff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0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1.xml"/><Relationship Id="rId1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53035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2: Configuração Básica do Switch e dos Dispositivos Finais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  <a:sym typeface="+mn-ea"/>
              </a:rPr>
              <a:t>Versão: 1.0 - 01/04/2026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2.1 – Acesso ao Cisco IOS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altLang="en-US" sz="1600" dirty="0"/>
              <a:t>Acesso ao Cisco IOS</a:t>
            </a:r>
            <a:br>
              <a:rPr lang="en-US" altLang="en-US" dirty="0"/>
            </a:br>
            <a:r>
              <a:rPr lang="pt-BR"/>
              <a:t>Cisco IOS </a:t>
            </a:r>
            <a:r>
              <a:rPr lang="pt-BR"/>
              <a:t>Sistema Operacional de Redes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888396"/>
            <a:ext cx="3950857" cy="2967985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FF0000"/>
                </a:solidFill>
              </a:rPr>
              <a:t>Shell</a:t>
            </a:r>
            <a:r>
              <a:rPr lang="pt-BR" sz="1600">
                <a:solidFill>
                  <a:srgbClr val="FF0000"/>
                </a:solidFill>
              </a:rPr>
              <a:t> </a:t>
            </a:r>
            <a:r>
              <a:rPr lang="pt-BR" sz="1600"/>
              <a:t>- A interface de usuário que permite que os usuários solicitem tarefas específicas do computador. Essas solicitações podem ser feitas por meio da interface </a:t>
            </a:r>
            <a:r>
              <a:rPr lang="pt-BR" sz="1600" b="1"/>
              <a:t>CLI </a:t>
            </a:r>
            <a:r>
              <a:rPr lang="pt-BR" sz="1600"/>
              <a:t>ou </a:t>
            </a:r>
            <a:r>
              <a:rPr lang="pt-BR" sz="1600" b="1"/>
              <a:t>GUI</a:t>
            </a:r>
            <a:r>
              <a:rPr lang="pt-BR" sz="1600"/>
              <a:t>. 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FF0000"/>
                </a:solidFill>
              </a:rPr>
              <a:t>Kernel</a:t>
            </a:r>
            <a:r>
              <a:rPr lang="pt-BR" sz="1600">
                <a:solidFill>
                  <a:srgbClr val="FF0000"/>
                </a:solidFill>
              </a:rPr>
              <a:t> </a:t>
            </a:r>
            <a:r>
              <a:rPr lang="pt-BR" sz="1600"/>
              <a:t>- comunica-se entre o hardware e o software de um computador e gerencia como os recursos de hardware são usados para atender aos requisitos de software.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FF0000"/>
                </a:solidFill>
              </a:rPr>
              <a:t>Hardware</a:t>
            </a:r>
            <a:r>
              <a:rPr lang="pt-BR" sz="1600">
                <a:solidFill>
                  <a:srgbClr val="FF0000"/>
                </a:solidFill>
              </a:rPr>
              <a:t> </a:t>
            </a:r>
            <a:r>
              <a:rPr lang="pt-BR" sz="1600"/>
              <a:t>- A parte física de um computador, incluindo os componentes eletrônicos subjacentes.</a:t>
            </a:r>
            <a:endParaRPr lang="en-US" altLang="ja-JP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1925" y="913765"/>
            <a:ext cx="5088890" cy="296481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rcRect l="39295" t="37735" r="6628" b="51630"/>
          <a:stretch>
            <a:fillRect/>
          </a:stretch>
        </p:blipFill>
        <p:spPr>
          <a:xfrm>
            <a:off x="4095115" y="3878580"/>
            <a:ext cx="4965700" cy="5492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Acesso à Cisco IOS </a:t>
            </a:r>
            <a:br>
              <a:rPr lang="en-US" altLang="en-US" dirty="0"/>
            </a:br>
            <a:r>
              <a:rPr lang="pt-BR"/>
              <a:t>GUI (Graphical User Interface)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5357" y="798944"/>
            <a:ext cx="3939626" cy="3735939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/>
              <a:t>Uma </a:t>
            </a:r>
            <a:r>
              <a:rPr lang="pt-BR" b="1">
                <a:solidFill>
                  <a:srgbClr val="FF0000"/>
                </a:solidFill>
              </a:rPr>
              <a:t>GUI </a:t>
            </a:r>
            <a:r>
              <a:rPr lang="pt-BR"/>
              <a:t>permite que o usuário interaja com o sistema usando um ambiente de ícones gráficos, menus e janelas.</a:t>
            </a:r>
            <a:endParaRPr lang="pt-BR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/>
              <a:t>Uma </a:t>
            </a:r>
            <a:r>
              <a:rPr lang="pt-BR" b="1">
                <a:solidFill>
                  <a:srgbClr val="FF0000"/>
                </a:solidFill>
              </a:rPr>
              <a:t>GUI é mais amigável</a:t>
            </a:r>
            <a:r>
              <a:rPr lang="pt-BR"/>
              <a:t> e requer menos conhecimento da estrutura de comando subjacente que controla o sistema.</a:t>
            </a:r>
            <a:endParaRPr lang="pt-BR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/>
              <a:t>Exemplos deles são: </a:t>
            </a:r>
            <a:r>
              <a:rPr lang="pt-BR" b="1"/>
              <a:t>Windows, macOS, Linux KDE, Apple iOS e Android</a:t>
            </a:r>
            <a:r>
              <a:rPr lang="pt-BR"/>
              <a:t>.</a:t>
            </a:r>
            <a:endParaRPr lang="pt-BR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/>
              <a:t>As </a:t>
            </a:r>
            <a:r>
              <a:rPr lang="pt-BR" b="1">
                <a:solidFill>
                  <a:srgbClr val="FF0000"/>
                </a:solidFill>
              </a:rPr>
              <a:t>GUIs podem falhar, travar ou simplesmente não funcionar como especificado</a:t>
            </a:r>
            <a:r>
              <a:rPr lang="pt-BR"/>
              <a:t>. Por esses motivos, os dispositivos de rede geralmente são acessados por meio de uma </a:t>
            </a:r>
            <a:r>
              <a:rPr lang="pt-BR" b="1"/>
              <a:t>CLI</a:t>
            </a:r>
            <a:r>
              <a:rPr lang="pt-BR"/>
              <a:t>.</a:t>
            </a:r>
            <a:endParaRPr lang="pt-B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5900" y="1071245"/>
            <a:ext cx="5000625" cy="3000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sym typeface="+mn-ea"/>
              </a:rPr>
              <a:t>Acesso à Cisco IOS </a:t>
            </a:r>
            <a:br>
              <a:rPr lang="en-US" altLang="en-US" dirty="0"/>
            </a:br>
            <a:r>
              <a:rPr lang="pt-BR"/>
              <a:t>Cisco IOS </a:t>
            </a:r>
            <a:r>
              <a:rPr lang="pt-BR"/>
              <a:t>Finalidade do OS (Operation System)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5415" y="925830"/>
            <a:ext cx="4277360" cy="1612900"/>
          </a:xfrm>
        </p:spPr>
        <p:txBody>
          <a:bodyPr/>
          <a:lstStyle/>
          <a:p>
            <a:pPr marL="0" indent="0" algn="just" rtl="0">
              <a:spcAft>
                <a:spcPts val="100"/>
              </a:spcAft>
              <a:buNone/>
            </a:pPr>
            <a:r>
              <a:rPr lang="pt-BR"/>
              <a:t>O </a:t>
            </a:r>
            <a:r>
              <a:rPr lang="pt-BR" b="1">
                <a:solidFill>
                  <a:srgbClr val="FF0000"/>
                </a:solidFill>
              </a:rPr>
              <a:t>sistema operacional do PC</a:t>
            </a:r>
            <a:r>
              <a:rPr lang="pt-BR"/>
              <a:t> permite que um usuário faça o seguinte:</a:t>
            </a:r>
            <a:endParaRPr lang="pt-BR"/>
          </a:p>
          <a:p>
            <a:pPr lvl="1" algn="just" rtl="0">
              <a:spcAft>
                <a:spcPts val="100"/>
              </a:spcAft>
            </a:pPr>
            <a:r>
              <a:rPr lang="pt-BR" sz="1600" b="1"/>
              <a:t>Utilizar um mouse para fazer seleções e executar programas</a:t>
            </a:r>
            <a:endParaRPr lang="pt-BR" sz="1600" b="1"/>
          </a:p>
          <a:p>
            <a:pPr lvl="1" algn="just" rtl="0">
              <a:spcAft>
                <a:spcPts val="100"/>
              </a:spcAft>
            </a:pPr>
            <a:r>
              <a:rPr lang="pt-BR" sz="1600" b="1"/>
              <a:t>Inserir texto e comandos baseados em texto</a:t>
            </a:r>
            <a:endParaRPr lang="pt-BR" sz="1600" b="1"/>
          </a:p>
          <a:p>
            <a:pPr lvl="1" algn="just" rtl="0">
              <a:spcAft>
                <a:spcPts val="100"/>
              </a:spcAft>
            </a:pPr>
            <a:r>
              <a:rPr lang="pt-BR" sz="1600"/>
              <a:t>Exibir a saída em um monitor</a:t>
            </a:r>
            <a:endParaRPr lang="pt-BR" sz="1600"/>
          </a:p>
          <a:p>
            <a:pPr algn="just" rtl="0">
              <a:spcAft>
                <a:spcPts val="100"/>
              </a:spcAft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8495" y="3148965"/>
            <a:ext cx="4443730" cy="463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68495" y="932180"/>
            <a:ext cx="4387215" cy="2538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/>
            <a:r>
              <a:rPr lang="pt-BR" sz="1500">
                <a:solidFill>
                  <a:srgbClr val="000000"/>
                </a:solidFill>
              </a:rPr>
              <a:t>O </a:t>
            </a:r>
            <a:r>
              <a:rPr lang="pt-BR" sz="1500" b="1">
                <a:solidFill>
                  <a:srgbClr val="FF0000"/>
                </a:solidFill>
              </a:rPr>
              <a:t>sistema operacional de rede</a:t>
            </a:r>
            <a:r>
              <a:rPr lang="pt-BR" sz="1500">
                <a:solidFill>
                  <a:srgbClr val="000000"/>
                </a:solidFill>
              </a:rPr>
              <a:t> baseado em </a:t>
            </a:r>
            <a:r>
              <a:rPr lang="pt-BR" sz="1500" b="1">
                <a:solidFill>
                  <a:srgbClr val="FF0000"/>
                </a:solidFill>
              </a:rPr>
              <a:t>CLI </a:t>
            </a:r>
            <a:r>
              <a:rPr lang="pt-BR" sz="1500">
                <a:solidFill>
                  <a:srgbClr val="000000"/>
                </a:solidFill>
              </a:rPr>
              <a:t>permite que um técnico de rede faça o seguinte:</a:t>
            </a:r>
            <a:endParaRPr lang="pt-BR" sz="1500">
              <a:solidFill>
                <a:srgbClr val="000000"/>
              </a:solidFill>
            </a:endParaRPr>
          </a:p>
          <a:p>
            <a:pPr marL="742950" lvl="1" indent="-285750" algn="just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Use um teclado para executar programas de rede baseados na CLI</a:t>
            </a:r>
            <a:endParaRPr lang="pt-BR" sz="1600" b="1">
              <a:solidFill>
                <a:srgbClr val="000000"/>
              </a:solidFill>
            </a:endParaRPr>
          </a:p>
          <a:p>
            <a:pPr marL="742950" lvl="1" indent="-285750" algn="just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Use um teclado para inserir texto e comandos baseados em texto</a:t>
            </a:r>
            <a:endParaRPr lang="pt-BR" sz="1600" b="1">
              <a:solidFill>
                <a:srgbClr val="000000"/>
              </a:solidFill>
            </a:endParaRPr>
          </a:p>
          <a:p>
            <a:pPr marL="742950" lvl="1" indent="-285750" algn="just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Exibir a saída em um monitor</a:t>
            </a:r>
            <a:endParaRPr lang="pt-BR" sz="1600" b="1">
              <a:solidFill>
                <a:srgbClr val="000000"/>
              </a:solidFill>
            </a:endParaRPr>
          </a:p>
          <a:p>
            <a:pPr algn="just" rtl="0"/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" y="2516505"/>
            <a:ext cx="4058285" cy="21532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sym typeface="+mn-ea"/>
              </a:rPr>
              <a:t>Acesso à Cisco IOS </a:t>
            </a:r>
            <a:br>
              <a:rPr lang="en-US" altLang="en-US" dirty="0"/>
            </a:br>
            <a:r>
              <a:rPr lang="pt-BR"/>
              <a:t>Métodos de Acesso ao IOS</a:t>
            </a:r>
            <a:endParaRPr lang="pt-BR"/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753199"/>
            <a:ext cx="3939626" cy="3848341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FF0000"/>
                </a:solidFill>
              </a:rPr>
              <a:t>Console</a:t>
            </a:r>
            <a:r>
              <a:rPr lang="pt-BR" sz="1450">
                <a:solidFill>
                  <a:srgbClr val="FF0000"/>
                </a:solidFill>
              </a:rPr>
              <a:t> </a:t>
            </a:r>
            <a:r>
              <a:rPr lang="pt-BR" sz="1450"/>
              <a:t>— Uma porta de gerenciamento física usada para acessar um dispositivo para fornecer manutenção, como executar as configurações iniciais. </a:t>
            </a:r>
            <a:endParaRPr lang="pt-BR" sz="14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FF0000"/>
                </a:solidFill>
              </a:rPr>
              <a:t>Shell Seguro</a:t>
            </a:r>
            <a:r>
              <a:rPr lang="pt-BR" sz="1450" b="1"/>
              <a:t> </a:t>
            </a:r>
            <a:r>
              <a:rPr lang="pt-BR" sz="1450"/>
              <a:t>(</a:t>
            </a:r>
            <a:r>
              <a:rPr lang="pt-BR" sz="1450" b="1"/>
              <a:t>SSH</a:t>
            </a:r>
            <a:r>
              <a:rPr lang="pt-BR" sz="1450"/>
              <a:t>) – Estabelece uma conexão CLI segura remota com um dispositivo, por meio de uma interface virtual, em uma rede. (Nota: Este é o método recomendado para se conectar remotamente a um dispositivo.) </a:t>
            </a:r>
            <a:endParaRPr lang="pt-BR" sz="14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450" b="1">
                <a:solidFill>
                  <a:srgbClr val="FF0000"/>
                </a:solidFill>
              </a:rPr>
              <a:t>Telnet</a:t>
            </a:r>
            <a:r>
              <a:rPr lang="pt-BR" sz="1450">
                <a:solidFill>
                  <a:srgbClr val="FF0000"/>
                </a:solidFill>
              </a:rPr>
              <a:t> </a:t>
            </a:r>
            <a:r>
              <a:rPr lang="pt-BR" sz="1450"/>
              <a:t>— Estabelece uma conexão </a:t>
            </a:r>
            <a:r>
              <a:rPr lang="pt-BR" sz="1450" b="1"/>
              <a:t>CLI </a:t>
            </a:r>
            <a:r>
              <a:rPr lang="pt-BR" sz="1450"/>
              <a:t>remota insegura a um dispositivo através da rede. </a:t>
            </a:r>
            <a:r>
              <a:rPr lang="pt-BR" sz="1450" b="1"/>
              <a:t> </a:t>
            </a:r>
            <a:r>
              <a:rPr lang="pt-BR" sz="1450" b="1">
                <a:solidFill>
                  <a:srgbClr val="FF0000"/>
                </a:solidFill>
              </a:rPr>
              <a:t>(Nota: a autenticação do usuário, senhas e comandos são enviados pela rede em texto sem formatação.) </a:t>
            </a:r>
            <a:endParaRPr lang="en-US" sz="1450" dirty="0"/>
          </a:p>
        </p:txBody>
      </p:sp>
      <p:pic>
        <p:nvPicPr>
          <p:cNvPr id="102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114" y="2455883"/>
            <a:ext cx="4805378" cy="204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936" t="4039" r="4188" b="6817"/>
          <a:stretch>
            <a:fillRect/>
          </a:stretch>
        </p:blipFill>
        <p:spPr>
          <a:xfrm>
            <a:off x="4215130" y="148590"/>
            <a:ext cx="2266315" cy="221043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rcRect l="3988" t="4126" r="3491" b="6566"/>
          <a:stretch>
            <a:fillRect/>
          </a:stretch>
        </p:blipFill>
        <p:spPr>
          <a:xfrm>
            <a:off x="6764020" y="148590"/>
            <a:ext cx="2169795" cy="22802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Acesso ao Cisco IOS </a:t>
            </a:r>
            <a:br>
              <a:rPr lang="pt-BR" sz="1600"/>
            </a:br>
            <a:r>
              <a:rPr lang="pt-BR"/>
              <a:t>Programa de Emulação de Terminal</a:t>
            </a:r>
            <a:endParaRPr lang="pt-BR"/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810349"/>
            <a:ext cx="8710408" cy="1125021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Programas de</a:t>
            </a:r>
            <a:r>
              <a:rPr lang="pt-BR" sz="1600" b="1">
                <a:solidFill>
                  <a:srgbClr val="FF0000"/>
                </a:solidFill>
              </a:rPr>
              <a:t> emulação de terminal </a:t>
            </a:r>
            <a:r>
              <a:rPr lang="pt-BR" sz="1600"/>
              <a:t>são usados para se conectar a um dispositivo de rede por uma porta de console ou por uma conexão </a:t>
            </a:r>
            <a:r>
              <a:rPr lang="pt-BR" sz="1600" b="1"/>
              <a:t>SSH/Telnet</a:t>
            </a:r>
            <a:r>
              <a:rPr lang="pt-BR" sz="1600"/>
              <a:t>. 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Existem vários programas de emulação de terminal para escolher, como </a:t>
            </a:r>
            <a:r>
              <a:rPr lang="pt-BR" sz="1600" b="1">
                <a:solidFill>
                  <a:srgbClr val="FF0000"/>
                </a:solidFill>
              </a:rPr>
              <a:t>PuTTY, Tera Term e SecureCRT</a:t>
            </a:r>
            <a:r>
              <a:rPr lang="pt-BR" sz="1600"/>
              <a:t>. </a:t>
            </a:r>
            <a:endParaRPr lang="pt-BR" sz="1600"/>
          </a:p>
          <a:p>
            <a:pPr algn="just" rtl="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65" y="2019300"/>
            <a:ext cx="3380105" cy="2644775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420" y="2019300"/>
            <a:ext cx="5114290" cy="26447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823146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2.2 - Navegação no IOS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-635" y="41275"/>
            <a:ext cx="9144000" cy="650240"/>
          </a:xfrm>
        </p:spPr>
        <p:txBody>
          <a:bodyPr/>
          <a:lstStyle/>
          <a:p>
            <a:pPr rtl="0"/>
            <a:r>
              <a:rPr lang="pt-BR" sz="1600"/>
              <a:t>Navegação no IOS </a:t>
            </a:r>
            <a:br>
              <a:rPr lang="pt-BR"/>
            </a:br>
            <a:r>
              <a:rPr lang="pt-BR"/>
              <a:t>Modos de comando primários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64465" y="751205"/>
            <a:ext cx="4883785" cy="3913505"/>
          </a:xfrm>
        </p:spPr>
        <p:txBody>
          <a:bodyPr/>
          <a:lstStyle/>
          <a:p>
            <a:pPr marL="0" indent="0" rtl="0">
              <a:buNone/>
            </a:pPr>
            <a:r>
              <a:rPr lang="pt-BR" sz="2000" b="1">
                <a:solidFill>
                  <a:srgbClr val="FF0000"/>
                </a:solidFill>
              </a:rPr>
              <a:t>Modo EXEC do Usuário:</a:t>
            </a:r>
            <a:endParaRPr lang="pt-BR" sz="2000" b="1">
              <a:solidFill>
                <a:srgbClr val="FF0000"/>
              </a:solidFill>
            </a:endParaRPr>
          </a:p>
          <a:p>
            <a:pPr lvl="1" rtl="0"/>
            <a:r>
              <a:rPr lang="pt-BR" sz="2000"/>
              <a:t>Permite acesso a apenas um número limitado de comandos básicos de monitoramento</a:t>
            </a:r>
            <a:endParaRPr lang="pt-BR" sz="2000"/>
          </a:p>
          <a:p>
            <a:pPr lvl="1" rtl="0"/>
            <a:r>
              <a:rPr lang="pt-BR" sz="2000"/>
              <a:t>Identificado pelo prompt da CLI que termina com o </a:t>
            </a:r>
            <a:r>
              <a:rPr lang="pt-BR" sz="2000" b="1"/>
              <a:t>símbolo &gt; (maior)</a:t>
            </a:r>
            <a:endParaRPr lang="pt-BR" sz="2000" b="1"/>
          </a:p>
          <a:p>
            <a:pPr marL="0" indent="0" rtl="0">
              <a:buNone/>
            </a:pPr>
            <a:r>
              <a:rPr lang="pt-BR" sz="2000" b="1">
                <a:solidFill>
                  <a:srgbClr val="FF0000"/>
                </a:solidFill>
                <a:sym typeface="+mn-ea"/>
              </a:rPr>
              <a:t>Modo EXEC Privilégiado: </a:t>
            </a:r>
            <a:endParaRPr lang="pt-BR" sz="2000" b="1">
              <a:solidFill>
                <a:srgbClr val="FF0000"/>
              </a:solidFill>
            </a:endParaRPr>
          </a:p>
          <a:p>
            <a:pPr lvl="1" rtl="0"/>
            <a:r>
              <a:rPr lang="pt-BR" sz="2000">
                <a:sym typeface="+mn-ea"/>
              </a:rPr>
              <a:t>Permite acesso a todos os comandos e recursos</a:t>
            </a:r>
            <a:endParaRPr lang="pt-BR" sz="2000"/>
          </a:p>
          <a:p>
            <a:pPr lvl="1" rtl="0"/>
            <a:r>
              <a:rPr lang="pt-BR" sz="2000">
                <a:sym typeface="+mn-ea"/>
              </a:rPr>
              <a:t>Identificado pelo prompt da CLI que termina com o </a:t>
            </a:r>
            <a:r>
              <a:rPr lang="pt-BR" sz="2000" b="1">
                <a:sym typeface="+mn-ea"/>
              </a:rPr>
              <a:t>símbolo # (sustenido)</a:t>
            </a:r>
            <a:endParaRPr lang="en-US" sz="20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985" y="751205"/>
            <a:ext cx="3780790" cy="12382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985" y="1610360"/>
            <a:ext cx="3782060" cy="124587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985" y="2659380"/>
            <a:ext cx="3787140" cy="124015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620" y="3514725"/>
            <a:ext cx="3787140" cy="11499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275"/>
            <a:ext cx="9144000" cy="668020"/>
          </a:xfrm>
        </p:spPr>
        <p:txBody>
          <a:bodyPr/>
          <a:lstStyle/>
          <a:p>
            <a:pPr rtl="0"/>
            <a:r>
              <a:rPr lang="pt-BR" sz="1600">
                <a:sym typeface="+mn-ea"/>
              </a:rPr>
              <a:t>Navegação no IOS </a:t>
            </a:r>
            <a:br>
              <a:rPr lang="pt-BR"/>
            </a:br>
            <a:r>
              <a:rPr lang="pt-BR"/>
              <a:t>Modo de Configuração Global e Subconfiguração</a:t>
            </a: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idx="1"/>
          </p:nvPr>
        </p:nvSpPr>
        <p:spPr>
          <a:xfrm>
            <a:off x="93345" y="776605"/>
            <a:ext cx="4688840" cy="2764790"/>
          </a:xfrm>
        </p:spPr>
        <p:txBody>
          <a:bodyPr/>
          <a:lstStyle/>
          <a:p>
            <a:pPr marL="0" indent="0" algn="just" rtl="0">
              <a:spcAft>
                <a:spcPts val="100"/>
              </a:spcAft>
              <a:buNone/>
            </a:pPr>
            <a:r>
              <a:rPr lang="pt-BR" sz="2100" b="1">
                <a:solidFill>
                  <a:srgbClr val="FF0000"/>
                </a:solidFill>
              </a:rPr>
              <a:t>Modo de Configuração Global:</a:t>
            </a:r>
            <a:endParaRPr lang="pt-BR" sz="2100" b="1">
              <a:solidFill>
                <a:srgbClr val="FF0000"/>
              </a:solidFill>
            </a:endParaRPr>
          </a:p>
          <a:p>
            <a:pPr lvl="1" algn="just" rtl="0">
              <a:spcAft>
                <a:spcPts val="100"/>
              </a:spcAft>
            </a:pPr>
            <a:r>
              <a:rPr lang="pt-BR" sz="2100"/>
              <a:t>Usado para acessar opções de configuração no dispositivo </a:t>
            </a:r>
            <a:endParaRPr lang="en-US" sz="2100" dirty="0"/>
          </a:p>
          <a:p>
            <a:pPr marL="0" indent="0" algn="just" rtl="0">
              <a:spcAft>
                <a:spcPts val="100"/>
              </a:spcAft>
              <a:buNone/>
            </a:pPr>
            <a:r>
              <a:rPr lang="pt-BR" sz="2100" b="1">
                <a:solidFill>
                  <a:srgbClr val="FF0000"/>
                </a:solidFill>
              </a:rPr>
              <a:t>Modo de Configuração de Linhas:</a:t>
            </a:r>
            <a:r>
              <a:rPr lang="pt-BR" sz="2100" b="1"/>
              <a:t> </a:t>
            </a:r>
            <a:endParaRPr lang="pt-BR" sz="2100" b="1"/>
          </a:p>
          <a:p>
            <a:pPr lvl="1" algn="just" rtl="0"/>
            <a:r>
              <a:rPr lang="pt-BR" sz="2100"/>
              <a:t>Usado para configurar o acesso ao console, SSH, Telnet ou AUX</a:t>
            </a:r>
            <a:endParaRPr lang="en-US" sz="2100" dirty="0"/>
          </a:p>
          <a:p>
            <a:pPr marL="0" indent="0" algn="just" rtl="0">
              <a:spcAft>
                <a:spcPts val="100"/>
              </a:spcAft>
              <a:buNone/>
            </a:pPr>
            <a:r>
              <a:rPr lang="pt-BR" sz="2100" b="1">
                <a:solidFill>
                  <a:srgbClr val="FF0000"/>
                </a:solidFill>
              </a:rPr>
              <a:t>Modo de Configuração de Interface:</a:t>
            </a:r>
            <a:r>
              <a:rPr lang="pt-BR" sz="2100"/>
              <a:t> </a:t>
            </a:r>
            <a:endParaRPr lang="pt-BR" sz="2100"/>
          </a:p>
          <a:p>
            <a:pPr lvl="1" algn="just" rtl="0"/>
            <a:r>
              <a:rPr lang="pt-BR" sz="2100"/>
              <a:t>Usado para configurar uma porta de switch ou interface de roteador</a:t>
            </a:r>
            <a:endParaRPr lang="en-US" sz="2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185" y="776605"/>
            <a:ext cx="4276725" cy="11595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185" y="2003425"/>
            <a:ext cx="4276725" cy="11595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185" y="3230245"/>
            <a:ext cx="4250690" cy="11525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sym typeface="+mn-ea"/>
              </a:rPr>
              <a:t>Navegação no IOS </a:t>
            </a:r>
            <a:br>
              <a:rPr lang="en-US" altLang="en-US" sz="1600" dirty="0"/>
            </a:br>
            <a:r>
              <a:rPr lang="pt-BR"/>
              <a:t>Navegar entre os Modos do IOS</a:t>
            </a: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idx="1"/>
          </p:nvPr>
        </p:nvSpPr>
        <p:spPr>
          <a:xfrm>
            <a:off x="120650" y="797560"/>
            <a:ext cx="4702175" cy="367601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500" b="1">
                <a:solidFill>
                  <a:srgbClr val="FF0000"/>
                </a:solidFill>
              </a:rPr>
              <a:t>Modo EXEC com Privilégios:</a:t>
            </a:r>
            <a:endParaRPr lang="pt-BR" sz="1500" b="1">
              <a:solidFill>
                <a:srgbClr val="FF0000"/>
              </a:solidFill>
            </a:endParaRPr>
          </a:p>
          <a:p>
            <a:pPr lvl="1" algn="just" rtl="0">
              <a:spcAft>
                <a:spcPts val="400"/>
              </a:spcAft>
            </a:pPr>
            <a:r>
              <a:rPr lang="pt-BR" sz="1500"/>
              <a:t>Para passar do modo EXEC usuário para o modo EXEC privilegiado, use o comando </a:t>
            </a:r>
            <a:r>
              <a:rPr lang="pt-BR" sz="1500" b="1"/>
              <a:t>enable</a:t>
            </a:r>
            <a:r>
              <a:rPr lang="pt-BR" sz="1500"/>
              <a:t>.</a:t>
            </a:r>
            <a:endParaRPr lang="pt-BR" sz="1500"/>
          </a:p>
          <a:p>
            <a:pPr marL="0" indent="0" algn="just" rtl="0">
              <a:buNone/>
            </a:pPr>
            <a:r>
              <a:rPr lang="pt-BR" sz="1500" b="1">
                <a:solidFill>
                  <a:srgbClr val="FF0000"/>
                </a:solidFill>
              </a:rPr>
              <a:t>Modo de Configuração Global:</a:t>
            </a:r>
            <a:endParaRPr lang="pt-BR" sz="1500" b="1">
              <a:solidFill>
                <a:srgbClr val="FF0000"/>
              </a:solidFill>
            </a:endParaRPr>
          </a:p>
          <a:p>
            <a:pPr lvl="1" algn="just" rtl="0"/>
            <a:r>
              <a:rPr lang="pt-BR" sz="1500"/>
              <a:t>Para entrar e sair do modo de configuração global, use o comando </a:t>
            </a:r>
            <a:r>
              <a:rPr lang="pt-BR" sz="1500" b="1"/>
              <a:t>configure terminal</a:t>
            </a:r>
            <a:r>
              <a:rPr lang="pt-BR" sz="1500"/>
              <a:t> Retorne ao modo EXEC privilegiado com o comando </a:t>
            </a:r>
            <a:r>
              <a:rPr lang="pt-BR" sz="1500" b="1"/>
              <a:t>exit</a:t>
            </a:r>
            <a:r>
              <a:rPr lang="pt-BR" sz="1500"/>
              <a:t> </a:t>
            </a:r>
            <a:endParaRPr lang="pt-BR" sz="1500"/>
          </a:p>
          <a:p>
            <a:pPr marL="0" indent="0" algn="just" rtl="0">
              <a:buNone/>
            </a:pPr>
            <a:r>
              <a:rPr lang="pt-BR" sz="1500" b="1">
                <a:solidFill>
                  <a:srgbClr val="FF0000"/>
                </a:solidFill>
              </a:rPr>
              <a:t>Modo de Configuração de Linhas:</a:t>
            </a:r>
            <a:endParaRPr lang="pt-BR" sz="1500" b="1">
              <a:solidFill>
                <a:srgbClr val="FF0000"/>
              </a:solidFill>
            </a:endParaRPr>
          </a:p>
          <a:p>
            <a:pPr lvl="1" algn="just" rtl="0"/>
            <a:r>
              <a:rPr lang="pt-BR" sz="1500"/>
              <a:t>Para entrar e sair do modo de configuração de linha, use o comando de </a:t>
            </a:r>
            <a:r>
              <a:rPr lang="pt-BR" sz="1500" b="1"/>
              <a:t>line </a:t>
            </a:r>
            <a:r>
              <a:rPr lang="pt-BR" sz="1500"/>
              <a:t>seguido pelo tipo de linha de gerenciamento. Retorne ao modo de configuração global usando o comando </a:t>
            </a:r>
            <a:r>
              <a:rPr lang="pt-BR" sz="1500" b="1"/>
              <a:t>exit</a:t>
            </a:r>
            <a:endParaRPr lang="en-US" altLang="ja-JP" sz="15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190" y="1278255"/>
            <a:ext cx="4187190" cy="7861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190" y="2419985"/>
            <a:ext cx="4187190" cy="78041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190" y="3575050"/>
            <a:ext cx="4187190" cy="7423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Navegar no IOS </a:t>
            </a:r>
            <a:br>
              <a:rPr lang="en-US" altLang="en-US" sz="1600" dirty="0"/>
            </a:br>
            <a:r>
              <a:rPr lang="pt-BR"/>
              <a:t>Navegar entre os modos do IOS</a:t>
            </a: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idx="1"/>
          </p:nvPr>
        </p:nvSpPr>
        <p:spPr>
          <a:xfrm>
            <a:off x="114017" y="799067"/>
            <a:ext cx="4244686" cy="2928646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700" b="1">
                <a:solidFill>
                  <a:srgbClr val="FF0000"/>
                </a:solidFill>
              </a:rPr>
              <a:t>Modos de Subconfiguração: </a:t>
            </a:r>
            <a:endParaRPr lang="pt-BR" sz="1700" b="1">
              <a:solidFill>
                <a:srgbClr val="FF0000"/>
              </a:solidFill>
            </a:endParaRPr>
          </a:p>
          <a:p>
            <a:pPr lvl="1" algn="just" rtl="0"/>
            <a:r>
              <a:rPr lang="pt-BR" sz="1700"/>
              <a:t>Para sair de qualquer modo de subconfiguração e voltar ao modo de configuração global, use o comando </a:t>
            </a:r>
            <a:r>
              <a:rPr lang="pt-BR" sz="1700" b="1"/>
              <a:t>exit</a:t>
            </a:r>
            <a:r>
              <a:rPr lang="pt-BR" sz="1700" b="1" i="1"/>
              <a:t> </a:t>
            </a:r>
            <a:r>
              <a:rPr lang="pt-BR" sz="1700"/>
              <a:t>. Para retornar ao modo EXEC de privilégio, use o comando </a:t>
            </a:r>
            <a:r>
              <a:rPr lang="pt-BR" sz="1700" b="1"/>
              <a:t>end</a:t>
            </a:r>
            <a:r>
              <a:rPr lang="pt-BR" sz="1700"/>
              <a:t> ou combinação de </a:t>
            </a:r>
            <a:r>
              <a:rPr lang="pt-BR" sz="1700" b="1"/>
              <a:t>teclas Ctrl +Z</a:t>
            </a:r>
            <a:r>
              <a:rPr lang="pt-BR" sz="1700"/>
              <a:t> . </a:t>
            </a:r>
            <a:endParaRPr lang="en-US" sz="1700" dirty="0"/>
          </a:p>
          <a:p>
            <a:pPr lvl="1" algn="just" rtl="0"/>
            <a:r>
              <a:rPr lang="pt-BR" sz="1700"/>
              <a:t>Para mover diretamente de um modo de subconfiguração para outro, digite o comando de modo de subconfiguração desejado. No exemplo, o prompt de comando muda de </a:t>
            </a:r>
            <a:r>
              <a:rPr lang="pt-BR" sz="1700" b="1"/>
              <a:t>(config-line)#</a:t>
            </a:r>
            <a:r>
              <a:rPr lang="pt-BR" sz="1700"/>
              <a:t> para </a:t>
            </a:r>
            <a:r>
              <a:rPr lang="pt-BR" sz="1700" b="1"/>
              <a:t>(config-if)#</a:t>
            </a:r>
            <a:r>
              <a:rPr lang="pt-BR" sz="1700"/>
              <a:t>. </a:t>
            </a:r>
            <a:endParaRPr lang="en-US" altLang="ja-JP" sz="17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980" y="1229995"/>
            <a:ext cx="4716780" cy="6013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980" y="2035175"/>
            <a:ext cx="4716145" cy="5537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560" y="2458720"/>
            <a:ext cx="8589645" cy="9194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2.3 – A Estrutura de Comandos do IOS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</a:t>
            </a:r>
            <a:br>
              <a:rPr lang="pt-BR"/>
            </a:br>
            <a:r>
              <a:rPr lang="pt-BR"/>
              <a:t>Estrutura básica de comandos do IOS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91770" y="3978275"/>
            <a:ext cx="8726170" cy="661670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b="1"/>
              <a:t>Palavra-chave</a:t>
            </a:r>
            <a:r>
              <a:rPr lang="pt-BR"/>
              <a:t> - este é um parâmetro específico definido no sistema operacional</a:t>
            </a:r>
            <a:endParaRPr lang="pt-BR"/>
          </a:p>
          <a:p>
            <a:pPr rtl="0">
              <a:buFont typeface="Arial" panose="020B0604020202020204" pitchFamily="34" charset="0"/>
              <a:buChar char="•"/>
            </a:pPr>
            <a:r>
              <a:rPr lang="pt-BR" b="1"/>
              <a:t>Argumento </a:t>
            </a:r>
            <a:r>
              <a:rPr lang="pt-BR"/>
              <a:t>- não predefinido; um valor ou variável definido pelo usuário</a:t>
            </a:r>
            <a:endParaRPr lang="en-US" altLang="ja-JP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8012" b="3524"/>
          <a:stretch>
            <a:fillRect/>
          </a:stretch>
        </p:blipFill>
        <p:spPr>
          <a:xfrm>
            <a:off x="130810" y="784225"/>
            <a:ext cx="9072245" cy="32416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pt-BR"/>
            </a:br>
            <a:r>
              <a:rPr lang="pt-BR"/>
              <a:t>Sintaxe do comando do IOS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99060" y="1198880"/>
            <a:ext cx="4076700" cy="340931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 sz="1850"/>
              <a:t>Um comando pode exigir </a:t>
            </a:r>
            <a:r>
              <a:rPr lang="pt-BR" sz="1850" b="1">
                <a:solidFill>
                  <a:srgbClr val="FF0000"/>
                </a:solidFill>
              </a:rPr>
              <a:t>um ou mais argumentos</a:t>
            </a:r>
            <a:r>
              <a:rPr lang="pt-BR" sz="1850"/>
              <a:t>. Para determinar as palavras-chave e os argumentos necessários para um comando, consulte a sintaxe de comando. </a:t>
            </a:r>
            <a:endParaRPr lang="pt-BR" sz="1850"/>
          </a:p>
          <a:p>
            <a:pPr lvl="1" algn="just" rtl="0"/>
            <a:r>
              <a:rPr lang="pt-BR" sz="1850"/>
              <a:t>O </a:t>
            </a:r>
            <a:r>
              <a:rPr lang="pt-BR" sz="1850" b="1">
                <a:solidFill>
                  <a:srgbClr val="FF0000"/>
                </a:solidFill>
              </a:rPr>
              <a:t>texto em negrito</a:t>
            </a:r>
            <a:r>
              <a:rPr lang="pt-BR" sz="1850"/>
              <a:t> indica comandos e palavras-chave que são inseridos como mostrado. </a:t>
            </a:r>
            <a:endParaRPr lang="pt-BR" sz="1850"/>
          </a:p>
          <a:p>
            <a:pPr lvl="1" algn="just" rtl="0"/>
            <a:r>
              <a:rPr lang="pt-BR" sz="1850"/>
              <a:t>O </a:t>
            </a:r>
            <a:r>
              <a:rPr lang="pt-BR" sz="1850" b="1">
                <a:solidFill>
                  <a:srgbClr val="FF0000"/>
                </a:solidFill>
              </a:rPr>
              <a:t>texto em itálico</a:t>
            </a:r>
            <a:r>
              <a:rPr lang="pt-BR" sz="1850"/>
              <a:t> indica um argumento para o qual o usuário fornece o valor.</a:t>
            </a:r>
            <a:endParaRPr lang="pt-BR" sz="185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75125" y="1271905"/>
          <a:ext cx="4773930" cy="3128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320"/>
                <a:gridCol w="3610610"/>
              </a:tblGrid>
              <a:tr h="183316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Convenção</a:t>
                      </a:r>
                      <a:endParaRPr lang="pt-BR" sz="12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Descrição</a:t>
                      </a:r>
                      <a:endParaRPr lang="pt-BR" sz="1200"/>
                    </a:p>
                  </a:txBody>
                  <a:tcPr anchor="ctr" anchorCtr="0"/>
                </a:tc>
              </a:tr>
              <a:tr h="308073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>
                          <a:effectLst/>
                        </a:rPr>
                        <a:t>negrito</a:t>
                      </a:r>
                      <a:endParaRPr lang="pt-BR" sz="1200" b="1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>
                          <a:effectLst/>
                        </a:rPr>
                        <a:t>O texto em negrito indica comandos e palavras-chave que você insere literalmente, como mostradas.</a:t>
                      </a:r>
                      <a:endParaRPr lang="pt-BR" sz="120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46101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 i="1">
                          <a:effectLst/>
                        </a:rPr>
                        <a:t>itálico</a:t>
                      </a:r>
                      <a:endParaRPr lang="pt-BR" sz="1200" b="0" i="1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>
                          <a:effectLst/>
                        </a:rPr>
                        <a:t>O texto em itálico indica argumentos para os quais você fornece valores.</a:t>
                      </a:r>
                      <a:endParaRPr lang="pt-BR" sz="120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308073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>
                          <a:effectLst/>
                        </a:rPr>
                        <a:t>[</a:t>
                      </a:r>
                      <a:r>
                        <a:rPr lang="pt-BR" sz="1200" b="0">
                          <a:effectLst/>
                        </a:rPr>
                        <a:t>x</a:t>
                      </a:r>
                      <a:r>
                        <a:rPr lang="pt-BR" sz="1200" b="1">
                          <a:effectLst/>
                        </a:rPr>
                        <a:t>]</a:t>
                      </a:r>
                      <a:endParaRPr lang="pt-BR" sz="1200" b="1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>
                          <a:effectLst/>
                        </a:rPr>
                        <a:t>Colchetes indicam um elemento opcional (palavra-chave ou argumento).</a:t>
                      </a:r>
                      <a:endParaRPr lang="pt-BR" sz="120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331663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>
                          <a:effectLst/>
                        </a:rPr>
                        <a:t>{</a:t>
                      </a:r>
                      <a:r>
                        <a:rPr lang="pt-BR" sz="1200" b="0">
                          <a:effectLst/>
                        </a:rPr>
                        <a:t>x</a:t>
                      </a:r>
                      <a:r>
                        <a:rPr lang="pt-BR" sz="1200" b="1">
                          <a:effectLst/>
                        </a:rPr>
                        <a:t>}</a:t>
                      </a:r>
                      <a:endParaRPr lang="pt-BR" sz="1200" b="1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>
                          <a:effectLst/>
                        </a:rPr>
                        <a:t>Chaves indicam um elemento necessário (palavra-chave ou argumento).</a:t>
                      </a:r>
                      <a:endParaRPr lang="pt-BR" sz="120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55249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>
                          <a:effectLst/>
                        </a:rPr>
                        <a:t>[</a:t>
                      </a:r>
                      <a:r>
                        <a:rPr lang="pt-BR" sz="1200" b="0">
                          <a:effectLst/>
                        </a:rPr>
                        <a:t>x</a:t>
                      </a:r>
                      <a:r>
                        <a:rPr lang="pt-BR" sz="1200" b="1">
                          <a:effectLst/>
                        </a:rPr>
                        <a:t> {</a:t>
                      </a:r>
                      <a:r>
                        <a:rPr lang="pt-BR" sz="1200" b="0">
                          <a:effectLst/>
                        </a:rPr>
                        <a:t>y</a:t>
                      </a:r>
                      <a:r>
                        <a:rPr lang="pt-BR" sz="1200" b="1">
                          <a:effectLst/>
                        </a:rPr>
                        <a:t> | </a:t>
                      </a:r>
                      <a:r>
                        <a:rPr lang="pt-BR" sz="1200" b="0">
                          <a:effectLst/>
                        </a:rPr>
                        <a:t>z</a:t>
                      </a:r>
                      <a:r>
                        <a:rPr lang="pt-BR" sz="1200" b="1">
                          <a:effectLst/>
                        </a:rPr>
                        <a:t> }]</a:t>
                      </a:r>
                      <a:endParaRPr lang="pt-BR" sz="1200" b="1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0">
                          <a:effectLst/>
                        </a:rPr>
                        <a:t>Chaves e linhas verticais entre colchetes indicam uma escolha obrigatória dentro de um elemento opcional. Espaços são usados para delinear claramente partes do comando.</a:t>
                      </a:r>
                      <a:endParaRPr lang="pt-BR" sz="120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en-US" dirty="0"/>
            </a:br>
            <a:r>
              <a:rPr lang="pt-BR"/>
              <a:t>Sintaxe do comando do IOS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95885" y="810895"/>
            <a:ext cx="8075295" cy="435610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 sintaxe fornece o padrão, ou formato, que deve ser usado ao inserir um comando.</a:t>
            </a:r>
            <a:endParaRPr lang="pt-BR" sz="1600"/>
          </a:p>
        </p:txBody>
      </p:sp>
      <p:sp>
        <p:nvSpPr>
          <p:cNvPr id="12" name="Rectangle 6"/>
          <p:cNvSpPr txBox="1">
            <a:spLocks noChangeArrowheads="1"/>
          </p:cNvSpPr>
          <p:nvPr/>
        </p:nvSpPr>
        <p:spPr bwMode="auto">
          <a:xfrm>
            <a:off x="182880" y="1229360"/>
            <a:ext cx="4537075" cy="247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 algn="l" defTabSz="68453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1pPr>
            <a:lvl2pPr marL="358775" indent="-21590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buFont typeface="Arial" panose="020B0604020202020204" pitchFamily="34" charset="0"/>
              <a:buChar char="•"/>
            </a:pPr>
            <a:r>
              <a:rPr lang="pt-BR" sz="1750"/>
              <a:t>O comando é </a:t>
            </a:r>
            <a:r>
              <a:rPr lang="pt-BR" sz="1750" b="1">
                <a:solidFill>
                  <a:srgbClr val="FF0000"/>
                </a:solidFill>
              </a:rPr>
              <a:t>ping</a:t>
            </a:r>
            <a:r>
              <a:rPr lang="pt-BR" sz="1750">
                <a:solidFill>
                  <a:srgbClr val="FF0000"/>
                </a:solidFill>
              </a:rPr>
              <a:t> </a:t>
            </a:r>
            <a:r>
              <a:rPr lang="pt-BR" sz="1750"/>
              <a:t>e o argumento definido pelo usuário é o </a:t>
            </a:r>
            <a:r>
              <a:rPr lang="pt-BR" sz="1750" i="1"/>
              <a:t>ip-address</a:t>
            </a:r>
            <a:r>
              <a:rPr lang="pt-BR" sz="1750"/>
              <a:t> do dispositivo de destino. Por exemplo, </a:t>
            </a:r>
            <a:r>
              <a:rPr lang="pt-BR" sz="1750" b="1"/>
              <a:t>ping </a:t>
            </a:r>
            <a:r>
              <a:rPr lang="pt-BR" sz="1750" i="1"/>
              <a:t>10.10.10.5</a:t>
            </a:r>
            <a:r>
              <a:rPr lang="pt-BR" sz="1750"/>
              <a:t>.</a:t>
            </a:r>
            <a:endParaRPr lang="pt-BR" sz="17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750">
                <a:sym typeface="+mn-ea"/>
              </a:rPr>
              <a:t>O comando é </a:t>
            </a:r>
            <a:r>
              <a:rPr lang="pt-BR" sz="1750" b="1">
                <a:solidFill>
                  <a:srgbClr val="FF0000"/>
                </a:solidFill>
                <a:sym typeface="+mn-ea"/>
              </a:rPr>
              <a:t>traceroute</a:t>
            </a:r>
            <a:r>
              <a:rPr lang="pt-BR" sz="1750">
                <a:solidFill>
                  <a:srgbClr val="FF0000"/>
                </a:solidFill>
                <a:sym typeface="+mn-ea"/>
              </a:rPr>
              <a:t> </a:t>
            </a:r>
            <a:r>
              <a:rPr lang="pt-BR" sz="1750">
                <a:sym typeface="+mn-ea"/>
              </a:rPr>
              <a:t>e o argumento definido pelo usuário é o </a:t>
            </a:r>
            <a:r>
              <a:rPr lang="pt-BR" sz="1750" i="1">
                <a:sym typeface="+mn-ea"/>
              </a:rPr>
              <a:t>ip-address</a:t>
            </a:r>
            <a:r>
              <a:rPr lang="pt-BR" sz="1750">
                <a:sym typeface="+mn-ea"/>
              </a:rPr>
              <a:t> do dispositivo de destino. Por exemplo, </a:t>
            </a:r>
            <a:r>
              <a:rPr lang="pt-BR" sz="1750" b="1">
                <a:sym typeface="+mn-ea"/>
              </a:rPr>
              <a:t>traceroute </a:t>
            </a:r>
            <a:r>
              <a:rPr lang="pt-BR" sz="1750" i="1">
                <a:sym typeface="+mn-ea"/>
              </a:rPr>
              <a:t>192.168.254.254</a:t>
            </a:r>
            <a:r>
              <a:rPr lang="pt-BR" sz="1750">
                <a:sym typeface="+mn-ea"/>
              </a:rPr>
              <a:t>.</a:t>
            </a:r>
            <a:endParaRPr lang="pt-BR" sz="1750"/>
          </a:p>
          <a:p>
            <a:pPr algn="just" rtl="0">
              <a:buFont typeface="Arial" panose="020B0604020202020204" pitchFamily="34" charset="0"/>
              <a:buChar char="•"/>
            </a:pPr>
            <a:endParaRPr lang="pt-BR" sz="1750"/>
          </a:p>
          <a:p>
            <a:pPr algn="just" rtl="0">
              <a:buFont typeface="Arial" panose="020B0604020202020204" pitchFamily="34" charset="0"/>
              <a:buChar char="•"/>
            </a:pPr>
            <a:endParaRPr lang="en-US" sz="1750" i="1" dirty="0"/>
          </a:p>
        </p:txBody>
      </p:sp>
      <p:sp>
        <p:nvSpPr>
          <p:cNvPr id="8" name="TextBox 7"/>
          <p:cNvSpPr txBox="1"/>
          <p:nvPr/>
        </p:nvSpPr>
        <p:spPr>
          <a:xfrm>
            <a:off x="182880" y="3660140"/>
            <a:ext cx="8760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 rtl="0">
              <a:buClr>
                <a:schemeClr val="tx1"/>
              </a:buClr>
              <a:buSzPct val="90000"/>
              <a:buFont typeface="Wingdings" panose="05000000000000000000" pitchFamily="2" charset="2"/>
              <a:buNone/>
            </a:pPr>
            <a:r>
              <a:rPr lang="pt-BR" sz="1600">
                <a:solidFill>
                  <a:srgbClr val="000000"/>
                </a:solidFill>
              </a:rPr>
              <a:t>Se um comando é complexo com vários argumentos, você pode vê-lo representado assim: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1370" y="1350010"/>
            <a:ext cx="4331970" cy="7035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70" y="2526665"/>
            <a:ext cx="4331335" cy="650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95" y="3997325"/>
            <a:ext cx="8360410" cy="5499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en-US" dirty="0"/>
            </a:br>
            <a:r>
              <a:rPr lang="pt-BR"/>
              <a:t>Recursos da ajuda do IOS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30175" y="798830"/>
            <a:ext cx="8757285" cy="582930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1600"/>
              <a:t>O </a:t>
            </a:r>
            <a:r>
              <a:rPr lang="pt-BR" sz="1600" b="1">
                <a:solidFill>
                  <a:srgbClr val="FF0000"/>
                </a:solidFill>
              </a:rPr>
              <a:t>IOS tem duas formas</a:t>
            </a:r>
            <a:r>
              <a:rPr lang="pt-BR" sz="1600"/>
              <a:t> de ajuda disponíveis: ajuda sensível ao contexto e verificação da sintaxe do comando.</a:t>
            </a:r>
            <a:endParaRPr lang="pt-BR" sz="1600"/>
          </a:p>
          <a:p>
            <a:pPr marL="261620" lvl="2" indent="0" algn="ctr">
              <a:buNone/>
            </a:pPr>
            <a:endParaRPr lang="en-US" dirty="0"/>
          </a:p>
          <a:p>
            <a:pPr marL="261620" lvl="2" indent="0" algn="ctr">
              <a:buNone/>
            </a:pPr>
            <a:endParaRPr lang="en-US" dirty="0"/>
          </a:p>
          <a:p>
            <a:pPr algn="ctr"/>
            <a:endParaRPr lang="en-US" dirty="0"/>
          </a:p>
          <a:p>
            <a:pPr algn="ctr"/>
            <a:endParaRPr lang="en-US" altLang="ja-JP" dirty="0"/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132080" y="1453515"/>
            <a:ext cx="4265295" cy="201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 algn="l" defTabSz="68453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1pPr>
            <a:lvl2pPr marL="358775" indent="-21590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buFont typeface="Arial" panose="020B0604020202020204" pitchFamily="34" charset="0"/>
              <a:buChar char="•"/>
            </a:pPr>
            <a:r>
              <a:rPr lang="pt-BR" sz="1450"/>
              <a:t>A </a:t>
            </a:r>
            <a:r>
              <a:rPr lang="pt-BR" sz="1450" b="1"/>
              <a:t>ajuda contextual</a:t>
            </a:r>
            <a:r>
              <a:rPr lang="pt-BR" sz="1450"/>
              <a:t> permite que você encontre rapidamente respostas para estas perguntas:</a:t>
            </a:r>
            <a:endParaRPr lang="pt-BR" sz="1450"/>
          </a:p>
          <a:p>
            <a:pPr lvl="2" algn="just" rtl="0"/>
            <a:r>
              <a:rPr lang="pt-BR" sz="1450"/>
              <a:t>Quais comandos estão disponíveis em cada modo de comando?</a:t>
            </a:r>
            <a:endParaRPr lang="pt-BR" sz="1450"/>
          </a:p>
          <a:p>
            <a:pPr lvl="2" algn="just" rtl="0"/>
            <a:r>
              <a:rPr lang="pt-BR" sz="1450"/>
              <a:t>Quais comandos começam com caracteres específicos ou grupo de caracteres?</a:t>
            </a:r>
            <a:endParaRPr lang="pt-BR" sz="1450"/>
          </a:p>
          <a:p>
            <a:pPr lvl="2" algn="just" rtl="0"/>
            <a:r>
              <a:rPr lang="pt-BR" sz="1450"/>
              <a:t>Quais argumentos e palavras-chave estão disponíveis para comandos específicos?</a:t>
            </a:r>
            <a:endParaRPr lang="pt-BR" sz="1450"/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4568825" y="1453515"/>
            <a:ext cx="4319270" cy="181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 algn="l" defTabSz="68453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1pPr>
            <a:lvl2pPr marL="358775" indent="-21590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A </a:t>
            </a:r>
            <a:r>
              <a:rPr lang="pt-BR" sz="1600" b="1"/>
              <a:t>verificação da sintaxe</a:t>
            </a:r>
            <a:r>
              <a:rPr lang="pt-BR" sz="1600"/>
              <a:t> de comandos verifica se um comando válido foi inserido pelo usuário. </a:t>
            </a:r>
            <a:endParaRPr lang="pt-BR" sz="1600"/>
          </a:p>
          <a:p>
            <a:pPr lvl="2" algn="just" rtl="0"/>
            <a:r>
              <a:rPr lang="pt-BR" sz="1600"/>
              <a:t>No entanto, se o interpretador não puder entender o comando sendo inserido, ele fornecerá feedback descrevendo o que está errado com o comando.</a:t>
            </a:r>
            <a:endParaRPr lang="pt-BR" sz="1600"/>
          </a:p>
          <a:p>
            <a:pPr algn="just" rtl="0"/>
            <a:endParaRPr lang="en-US" altLang="ja-JP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" y="3823970"/>
            <a:ext cx="4265295" cy="6927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70" y="3823970"/>
            <a:ext cx="4276725" cy="6940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en-US" dirty="0"/>
            </a:br>
            <a:r>
              <a:rPr lang="pt-BR"/>
              <a:t>Teclas de acesso e atalhos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19380" y="872490"/>
            <a:ext cx="4511675" cy="3618865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850"/>
              <a:t>A </a:t>
            </a:r>
            <a:r>
              <a:rPr lang="pt-BR" sz="1850" b="1">
                <a:solidFill>
                  <a:srgbClr val="FF0000"/>
                </a:solidFill>
              </a:rPr>
              <a:t>CLI do IOS</a:t>
            </a:r>
            <a:r>
              <a:rPr lang="pt-BR" sz="1850"/>
              <a:t> fornece teclas de atalho e atalhos que facilitam a configuração, o monitoramento e a solução de problemas.</a:t>
            </a:r>
            <a:endParaRPr lang="pt-BR" sz="18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850"/>
              <a:t>Os comandos e as palavras-chave </a:t>
            </a:r>
            <a:r>
              <a:rPr lang="pt-BR" sz="1850" b="1">
                <a:solidFill>
                  <a:srgbClr val="FF0000"/>
                </a:solidFill>
              </a:rPr>
              <a:t>podem ser abreviados</a:t>
            </a:r>
            <a:r>
              <a:rPr lang="pt-BR" sz="1850"/>
              <a:t> para o número mínimo de caracteres que identifica uma seleção exclusiva. Por exemplo, o comando </a:t>
            </a:r>
            <a:r>
              <a:rPr lang="pt-BR" sz="1850" b="1"/>
              <a:t>configure</a:t>
            </a:r>
            <a:r>
              <a:rPr lang="pt-BR" sz="1850"/>
              <a:t> pode ser abreviado para </a:t>
            </a:r>
            <a:r>
              <a:rPr lang="pt-BR" sz="1850" b="1"/>
              <a:t>conf</a:t>
            </a:r>
            <a:r>
              <a:rPr lang="pt-BR" sz="1850"/>
              <a:t> porque </a:t>
            </a:r>
            <a:r>
              <a:rPr lang="pt-BR" sz="1850" b="1"/>
              <a:t>configure</a:t>
            </a:r>
            <a:r>
              <a:rPr lang="pt-BR" sz="1850"/>
              <a:t> é o único comando que se inicia com </a:t>
            </a:r>
            <a:r>
              <a:rPr lang="pt-BR" sz="1850" b="1"/>
              <a:t>conf</a:t>
            </a:r>
            <a:r>
              <a:rPr lang="pt-BR" sz="1850"/>
              <a:t>.</a:t>
            </a:r>
            <a:endParaRPr lang="en-US" altLang="ja-JP" sz="18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1525" y="1003935"/>
            <a:ext cx="4413250" cy="10312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525" y="2317750"/>
            <a:ext cx="4413885" cy="4584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en-US" dirty="0"/>
            </a:br>
            <a:r>
              <a:rPr lang="pt-BR"/>
              <a:t>Teclas de acesso e atalhos (Continuação)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00330" y="852805"/>
            <a:ext cx="8870950" cy="346075"/>
          </a:xfrm>
        </p:spPr>
        <p:txBody>
          <a:bodyPr/>
          <a:lstStyle/>
          <a:p>
            <a:pPr marL="0" indent="0" algn="ctr" rtl="0">
              <a:buNone/>
            </a:pPr>
            <a:r>
              <a:rPr lang="pt-BR" sz="1800"/>
              <a:t>A tabela abaixo é uma breve lista de </a:t>
            </a:r>
            <a:r>
              <a:rPr lang="pt-BR" sz="1800" b="1">
                <a:solidFill>
                  <a:srgbClr val="FF0000"/>
                </a:solidFill>
              </a:rPr>
              <a:t>teclas de atalhos</a:t>
            </a:r>
            <a:r>
              <a:rPr lang="pt-BR" sz="1800"/>
              <a:t> para melhorar a edição da linha de comando</a:t>
            </a:r>
            <a:r>
              <a:rPr lang="pt-BR" sz="1800"/>
              <a:t>. </a:t>
            </a:r>
            <a:endParaRPr lang="pt-BR" sz="1800"/>
          </a:p>
          <a:p>
            <a:pPr marL="0" indent="0" algn="ctr" rtl="0">
              <a:buNone/>
            </a:pPr>
            <a:endParaRPr lang="en-US" altLang="ja-JP" sz="1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330" y="1488440"/>
          <a:ext cx="8870950" cy="3469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050"/>
                <a:gridCol w="5930900"/>
              </a:tblGrid>
              <a:tr h="386080">
                <a:tc>
                  <a:txBody>
                    <a:bodyPr/>
                    <a:lstStyle/>
                    <a:p>
                      <a:pPr algn="ctr" rtl="0"/>
                      <a:r>
                        <a:rPr lang="pt-BR" sz="1850"/>
                        <a:t>Toque de Tecla</a:t>
                      </a:r>
                      <a:endParaRPr lang="pt-BR" sz="185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850"/>
                        <a:t>Descrição</a:t>
                      </a:r>
                      <a:endParaRPr lang="pt-BR" sz="1850"/>
                    </a:p>
                  </a:txBody>
                  <a:tcPr anchor="ctr" anchorCtr="0"/>
                </a:tc>
              </a:tr>
              <a:tr h="38608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1">
                          <a:solidFill>
                            <a:srgbClr val="FF0000"/>
                          </a:solidFill>
                          <a:effectLst/>
                        </a:rPr>
                        <a:t>Tab</a:t>
                      </a:r>
                      <a:endParaRPr lang="pt-BR" sz="185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0">
                          <a:effectLst/>
                        </a:rPr>
                        <a:t>Completa um nome de comando parcialmente digitado.</a:t>
                      </a:r>
                      <a:endParaRPr lang="pt-BR" sz="185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38544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1">
                          <a:solidFill>
                            <a:srgbClr val="00B050"/>
                          </a:solidFill>
                          <a:effectLst/>
                        </a:rPr>
                        <a:t>Backspace</a:t>
                      </a:r>
                      <a:endParaRPr lang="pt-BR" sz="1850" b="1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0">
                          <a:effectLst/>
                        </a:rPr>
                        <a:t>Apaga o caractere à esquerda do cursor.</a:t>
                      </a:r>
                      <a:endParaRPr lang="pt-BR" sz="185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48006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1">
                          <a:solidFill>
                            <a:srgbClr val="7030A0"/>
                          </a:solidFill>
                          <a:effectLst/>
                        </a:rPr>
                        <a:t>Seta para a Esquerda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0">
                          <a:effectLst/>
                        </a:rPr>
                        <a:t>ou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1">
                          <a:solidFill>
                            <a:srgbClr val="7030A0"/>
                          </a:solidFill>
                          <a:effectLst/>
                        </a:rPr>
                        <a:t>Ctrl-B</a:t>
                      </a:r>
                      <a:endParaRPr lang="pt-BR" sz="1850" b="1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0">
                          <a:effectLst/>
                        </a:rPr>
                        <a:t>Movem o cursor um caractere para a esquerda.</a:t>
                      </a:r>
                      <a:endParaRPr lang="pt-BR" sz="185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47942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Seta para a Direita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0">
                          <a:effectLst/>
                        </a:rPr>
                        <a:t>ou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1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Ctrl-F</a:t>
                      </a:r>
                      <a:endParaRPr lang="pt-BR" sz="1850" b="1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0">
                          <a:effectLst/>
                        </a:rPr>
                        <a:t>Movem o cursor um caractere para a direita.</a:t>
                      </a:r>
                      <a:endParaRPr lang="pt-BR" sz="185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  <a:tr h="48006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1">
                          <a:solidFill>
                            <a:srgbClr val="0070C0"/>
                          </a:solidFill>
                          <a:effectLst/>
                        </a:rPr>
                        <a:t>Seta para Cima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0">
                          <a:effectLst/>
                        </a:rPr>
                        <a:t>ou</a:t>
                      </a:r>
                      <a:r>
                        <a:rPr lang="pt-BR" sz="1850" b="1">
                          <a:effectLst/>
                        </a:rPr>
                        <a:t> </a:t>
                      </a:r>
                      <a:r>
                        <a:rPr lang="pt-BR" sz="1850" b="1">
                          <a:solidFill>
                            <a:srgbClr val="0070C0"/>
                          </a:solidFill>
                          <a:effectLst/>
                        </a:rPr>
                        <a:t>Ctrl-P</a:t>
                      </a:r>
                      <a:endParaRPr lang="pt-BR" sz="1850" b="1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50" b="0">
                          <a:effectLst/>
                        </a:rPr>
                        <a:t>Relembram os comandos no buffer de histórico, a partir dos comandos mais recentes.</a:t>
                      </a:r>
                      <a:endParaRPr lang="pt-BR" sz="1850" b="0">
                        <a:effectLst/>
                      </a:endParaRPr>
                    </a:p>
                  </a:txBody>
                  <a:tcPr marL="47625" marR="47625" marT="47625" marB="47625" anchor="ctr" anchorCtr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A estrutura de comandos </a:t>
            </a:r>
            <a:br>
              <a:rPr lang="en-US" dirty="0"/>
            </a:br>
            <a:r>
              <a:rPr lang="pt-BR"/>
              <a:t>Teclas de acesso e atalhos (Continuação)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16205" y="852805"/>
            <a:ext cx="4374515" cy="1790700"/>
          </a:xfrm>
        </p:spPr>
        <p:txBody>
          <a:bodyPr/>
          <a:lstStyle/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Quando uma saída de comando produz mais texto do que pode ser exibido em uma janela de terminal, o IOS exibirá um prompt </a:t>
            </a:r>
            <a:r>
              <a:rPr lang="pt-BR" sz="1600" b="1">
                <a:solidFill>
                  <a:srgbClr val="FF0000"/>
                </a:solidFill>
              </a:rPr>
              <a:t>“—More—”</a:t>
            </a:r>
            <a:r>
              <a:rPr lang="pt-BR" sz="1600"/>
              <a:t> . A tabela abaixo descreve os pressionamentos de teclas que podem ser usados quando esse prompt é exibido.</a:t>
            </a:r>
            <a:endParaRPr lang="pt-BR" sz="160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4572635" y="865505"/>
            <a:ext cx="4408805" cy="591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 algn="l" defTabSz="684530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1pPr>
            <a:lvl2pPr marL="358775" indent="-21590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2pPr>
            <a:lvl3pPr marL="431800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3pPr>
            <a:lvl4pPr marL="503555" indent="-170180" algn="l" defTabSz="684530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MS PGothic" charset="0"/>
                <a:cs typeface="CiscoSans"/>
              </a:defRPr>
            </a:lvl4pPr>
            <a:lvl5pPr marL="574675" indent="-170180" algn="l" defTabSz="684530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MS PGothic" charset="0"/>
                <a:cs typeface="CiscoSans"/>
              </a:defRPr>
            </a:lvl5pPr>
            <a:lvl6pPr marL="86360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990" indent="-171450" algn="l" defTabSz="685800" rtl="0" eaLnBrk="1" latinLnBrk="0" hangingPunct="1">
              <a:spcBef>
                <a:spcPts val="600"/>
              </a:spcBef>
              <a:buFont typeface="Arial" panose="020B0604020202020204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rtl="0">
              <a:buFont typeface="Arial" panose="020B0604020202020204" pitchFamily="34" charset="0"/>
              <a:buChar char="•"/>
            </a:pPr>
            <a:r>
              <a:rPr lang="pt-BR" sz="1600"/>
              <a:t>A tabela abaixo lista comandos que podem ser usados para sair de uma operação.</a:t>
            </a:r>
            <a:endParaRPr lang="pt-BR" sz="160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635" y="1454785"/>
          <a:ext cx="4408805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5"/>
                <a:gridCol w="3114040"/>
              </a:tblGrid>
              <a:tr h="274320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Toque de tecla</a:t>
                      </a:r>
                      <a:endParaRPr lang="pt-B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Descrição</a:t>
                      </a:r>
                      <a:endParaRPr lang="pt-BR" sz="1200"/>
                    </a:p>
                  </a:txBody>
                  <a:tcPr/>
                </a:tc>
              </a:tr>
              <a:tr h="50207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>
                          <a:solidFill>
                            <a:srgbClr val="FF0000"/>
                          </a:solidFill>
                          <a:effectLst/>
                        </a:rPr>
                        <a:t>Ctrl-C</a:t>
                      </a:r>
                      <a:endParaRPr lang="pt-BR" sz="160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0">
                          <a:effectLst/>
                        </a:rPr>
                        <a:t>Em qualquer modo de configuração, finaliza o modo de configuração e retorna ao modo EXEC privilegiado. </a:t>
                      </a:r>
                      <a:endParaRPr lang="pt-BR" sz="1050" b="0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47616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>
                          <a:solidFill>
                            <a:srgbClr val="00B050"/>
                          </a:solidFill>
                          <a:effectLst/>
                        </a:rPr>
                        <a:t>Ctrl-Z</a:t>
                      </a:r>
                      <a:endParaRPr lang="pt-BR" sz="1600" b="1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0">
                          <a:effectLst/>
                        </a:rPr>
                        <a:t>Em qualquer modo de configuração, finaliza o modo de configuração e retorna ao modo EXEC privilegiado.</a:t>
                      </a:r>
                      <a:endParaRPr lang="pt-BR" sz="1050" b="0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47616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>
                          <a:solidFill>
                            <a:srgbClr val="7030A0"/>
                          </a:solidFill>
                          <a:effectLst/>
                        </a:rPr>
                        <a:t>Ctrl-Shift-6</a:t>
                      </a:r>
                      <a:endParaRPr lang="pt-BR" sz="1600" b="1">
                        <a:solidFill>
                          <a:srgbClr val="7030A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1">
                          <a:solidFill>
                            <a:srgbClr val="FF0000"/>
                          </a:solidFill>
                          <a:effectLst/>
                        </a:rPr>
                        <a:t>Sequência de quebra para todas as finalidades usada para abortar pesquisas DNS, traceroutes, pings, etc.</a:t>
                      </a:r>
                      <a:endParaRPr lang="pt-BR" sz="105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6205" y="2642235"/>
          <a:ext cx="4373880" cy="1998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2654935"/>
              </a:tblGrid>
              <a:tr h="307340"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Toque de tecla</a:t>
                      </a:r>
                      <a:endParaRPr lang="pt-B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/>
                        <a:t>Descrição</a:t>
                      </a:r>
                      <a:endParaRPr lang="pt-BR" sz="1200"/>
                    </a:p>
                  </a:txBody>
                  <a:tcPr/>
                </a:tc>
              </a:tr>
              <a:tr h="56261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0">
                          <a:effectLst/>
                        </a:rPr>
                        <a:t>Tecla</a:t>
                      </a:r>
                      <a:r>
                        <a:rPr lang="pt-BR" sz="1600" b="1">
                          <a:effectLst/>
                        </a:rPr>
                        <a:t> </a:t>
                      </a:r>
                      <a:r>
                        <a:rPr lang="pt-BR" sz="1600" b="1">
                          <a:solidFill>
                            <a:srgbClr val="FF0000"/>
                          </a:solidFill>
                          <a:effectLst/>
                        </a:rPr>
                        <a:t>Enter</a:t>
                      </a:r>
                      <a:endParaRPr lang="pt-BR" sz="1600" b="1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0">
                          <a:effectLst/>
                        </a:rPr>
                        <a:t>Exibe a próxima linha.</a:t>
                      </a:r>
                      <a:endParaRPr lang="pt-BR" sz="1050" b="0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5334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>
                          <a:solidFill>
                            <a:srgbClr val="00B050"/>
                          </a:solidFill>
                          <a:effectLst/>
                        </a:rPr>
                        <a:t>Barra de Espaço</a:t>
                      </a:r>
                      <a:endParaRPr lang="pt-BR" sz="1600" b="1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0">
                          <a:effectLst/>
                        </a:rPr>
                        <a:t>Exibe a próxima tela.</a:t>
                      </a:r>
                      <a:endParaRPr lang="pt-BR" sz="1050" b="0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594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b="1">
                          <a:solidFill>
                            <a:srgbClr val="0070C0"/>
                          </a:solidFill>
                          <a:effectLst/>
                        </a:rPr>
                        <a:t>Qualquer outra chave</a:t>
                      </a:r>
                      <a:endParaRPr lang="pt-BR" sz="1600" b="1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50" b="0">
                          <a:effectLst/>
                        </a:rPr>
                        <a:t>Encerra a sequência de exibição, retornando ao modo EXEC privilegiado.</a:t>
                      </a:r>
                      <a:endParaRPr lang="pt-BR" sz="1050" b="0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2264410"/>
            <a:ext cx="828031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2.4 - Configuração Básica dos Dispositivos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Configuração Básica do Dispositivo</a:t>
            </a:r>
            <a:br>
              <a:rPr lang="pt-BR" sz="160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Nomes dos dispositivos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2075" y="855345"/>
            <a:ext cx="4358640" cy="382460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650"/>
              <a:t>O </a:t>
            </a:r>
            <a:r>
              <a:rPr lang="pt-BR" sz="1650" b="1">
                <a:solidFill>
                  <a:srgbClr val="FF0000"/>
                </a:solidFill>
              </a:rPr>
              <a:t>primeiro comando</a:t>
            </a:r>
            <a:r>
              <a:rPr lang="pt-BR" sz="1650"/>
              <a:t> de configuração em qualquer dispositivo deve ser dar a ele um </a:t>
            </a:r>
            <a:r>
              <a:rPr lang="pt-BR" sz="1650" b="1"/>
              <a:t>nome de host exclusivo</a:t>
            </a:r>
            <a:r>
              <a:rPr lang="pt-BR" sz="1650"/>
              <a:t>. </a:t>
            </a:r>
            <a:endParaRPr lang="pt-BR" sz="1650"/>
          </a:p>
          <a:p>
            <a:pPr marL="0" indent="0" algn="just" rtl="0">
              <a:buFont typeface="Arial" panose="020B0604020202020204" pitchFamily="34" charset="0"/>
              <a:buNone/>
            </a:pPr>
            <a:r>
              <a:rPr lang="pt-BR" sz="1650"/>
              <a:t>Por padrão, todos os dispositivos recebem </a:t>
            </a:r>
            <a:r>
              <a:rPr lang="pt-BR" sz="1650" b="1">
                <a:solidFill>
                  <a:srgbClr val="FF0000"/>
                </a:solidFill>
              </a:rPr>
              <a:t>um nome padrão de fábrica</a:t>
            </a:r>
            <a:r>
              <a:rPr lang="pt-BR" sz="1650"/>
              <a:t>. Por exemplo, um switch Cisco IOS é </a:t>
            </a:r>
            <a:r>
              <a:rPr lang="pt-BR" sz="1650" b="1"/>
              <a:t>“Switch”</a:t>
            </a:r>
            <a:r>
              <a:rPr lang="pt-BR" sz="1650"/>
              <a:t>.</a:t>
            </a:r>
            <a:endParaRPr lang="pt-BR" sz="1650"/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pt-BR" sz="1650">
                <a:sym typeface="+mn-ea"/>
              </a:rPr>
              <a:t>Diretriz para dispositivos de nomeação:</a:t>
            </a:r>
            <a:endParaRPr lang="pt-BR" sz="165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550" b="1">
                <a:sym typeface="+mn-ea"/>
              </a:rPr>
              <a:t>Começar com uma letra</a:t>
            </a:r>
            <a:endParaRPr lang="pt-BR" sz="155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550" b="1">
                <a:sym typeface="+mn-ea"/>
              </a:rPr>
              <a:t>Não conter espaços</a:t>
            </a:r>
            <a:endParaRPr lang="pt-BR" sz="155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550" b="1">
                <a:sym typeface="+mn-ea"/>
              </a:rPr>
              <a:t>Terminar com uma letra ou dígito</a:t>
            </a:r>
            <a:endParaRPr lang="pt-BR" sz="155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550" b="1">
                <a:sym typeface="+mn-ea"/>
              </a:rPr>
              <a:t>Usar somente letras, números e traços</a:t>
            </a:r>
            <a:endParaRPr lang="pt-BR" sz="155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550" b="1">
                <a:sym typeface="+mn-ea"/>
              </a:rPr>
              <a:t>Ter menos de 64 caracteres</a:t>
            </a:r>
            <a:endParaRPr lang="en-US" sz="1650" dirty="0"/>
          </a:p>
        </p:txBody>
      </p:sp>
      <p:sp>
        <p:nvSpPr>
          <p:cNvPr id="3" name="TextBox 2"/>
          <p:cNvSpPr txBox="1"/>
          <p:nvPr/>
        </p:nvSpPr>
        <p:spPr>
          <a:xfrm>
            <a:off x="4450715" y="3357880"/>
            <a:ext cx="458597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/>
            <a:r>
              <a:rPr lang="pt-BR" sz="2000" b="1">
                <a:solidFill>
                  <a:srgbClr val="000000"/>
                </a:solidFill>
              </a:rPr>
              <a:t>Nota</a:t>
            </a:r>
            <a:r>
              <a:rPr lang="pt-BR" sz="2000">
                <a:solidFill>
                  <a:srgbClr val="000000"/>
                </a:solidFill>
              </a:rPr>
              <a:t>: Para retornar o switch ao prompt padrão, use o comando </a:t>
            </a:r>
            <a:r>
              <a:rPr lang="pt-BR" sz="2000" b="1">
                <a:solidFill>
                  <a:srgbClr val="000000"/>
                </a:solidFill>
              </a:rPr>
              <a:t> </a:t>
            </a:r>
            <a:r>
              <a:rPr lang="pt-BR" sz="2000" b="1">
                <a:solidFill>
                  <a:srgbClr val="FF0000"/>
                </a:solidFill>
              </a:rPr>
              <a:t>no hostname</a:t>
            </a:r>
            <a:r>
              <a:rPr lang="pt-BR" sz="2000">
                <a:solidFill>
                  <a:srgbClr val="000000"/>
                </a:solidFill>
              </a:rPr>
              <a:t> no Modo de Configuração Global: (global config)</a:t>
            </a:r>
            <a:r>
              <a:rPr lang="pt-BR" sz="2000" b="1">
                <a:solidFill>
                  <a:srgbClr val="000000"/>
                </a:solidFill>
              </a:rPr>
              <a:t>.</a:t>
            </a:r>
            <a:endParaRPr lang="pt-BR" sz="2000" b="1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0715" y="2606040"/>
            <a:ext cx="4586605" cy="75184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3344" t="32265" r="13733" b="24969"/>
          <a:stretch>
            <a:fillRect/>
          </a:stretch>
        </p:blipFill>
        <p:spPr>
          <a:xfrm>
            <a:off x="4450715" y="198755"/>
            <a:ext cx="4586605" cy="24072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  <a:sym typeface="+mn-ea"/>
              </a:rPr>
              <a:t>Configuração Básica do Dispositivo</a:t>
            </a:r>
            <a:br>
              <a:rPr lang="pt-BR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Diretrizes de Senha Segura</a:t>
            </a:r>
            <a:endParaRPr lang="pt-BR" sz="1600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415" y="798830"/>
            <a:ext cx="4953000" cy="388556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600"/>
              <a:t>O uso de </a:t>
            </a:r>
            <a:r>
              <a:rPr lang="pt-BR" sz="1600" b="1">
                <a:solidFill>
                  <a:srgbClr val="FF0000"/>
                </a:solidFill>
              </a:rPr>
              <a:t>senhas fracas</a:t>
            </a:r>
            <a:r>
              <a:rPr lang="pt-BR" sz="1600"/>
              <a:t> ou facilmente adivinhadas é uma preocupação de segurança.</a:t>
            </a:r>
            <a:endParaRPr lang="pt-BR" sz="16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600"/>
              <a:t>Todos os dispositivos de rede </a:t>
            </a:r>
            <a:r>
              <a:rPr lang="pt-BR" sz="1600" b="1">
                <a:solidFill>
                  <a:srgbClr val="FF0000"/>
                </a:solidFill>
              </a:rPr>
              <a:t>devem limitar o acesso administrativo protegendo EXEC privilegiado</a:t>
            </a:r>
            <a:r>
              <a:rPr lang="pt-BR" sz="1600"/>
              <a:t>, EXEC de usuário e acesso remoto Telnet com senhas. Além disso, todas as senhas devem </a:t>
            </a:r>
            <a:r>
              <a:rPr lang="pt-BR" sz="1600" b="1"/>
              <a:t>ser criptografadas</a:t>
            </a:r>
            <a:r>
              <a:rPr lang="pt-BR" sz="1600"/>
              <a:t> e notificações legais fornecidas.</a:t>
            </a:r>
            <a:endParaRPr lang="pt-BR" sz="1600"/>
          </a:p>
          <a:p>
            <a:pPr marL="0" indent="0" algn="just" rtl="0">
              <a:buNone/>
            </a:pPr>
            <a:r>
              <a:rPr lang="pt-BR" sz="1600">
                <a:sym typeface="+mn-ea"/>
              </a:rPr>
              <a:t>Diretrizes de senha </a:t>
            </a:r>
            <a:endParaRPr lang="pt-BR" sz="1600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 b="1">
                <a:sym typeface="+mn-ea"/>
              </a:rPr>
              <a:t>Use senhas com mais de oito caracteres.</a:t>
            </a:r>
            <a:endParaRPr lang="pt-BR" sz="130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 b="1">
                <a:sym typeface="+mn-ea"/>
              </a:rPr>
              <a:t>Use uma combinação de letras maiúsculas e minúsculas, números, caracteres especiais e/ou sequências numéricas.</a:t>
            </a:r>
            <a:endParaRPr lang="pt-BR" sz="130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 b="1">
                <a:sym typeface="+mn-ea"/>
              </a:rPr>
              <a:t>Evite usar a mesma senha para todos os dispositivos.</a:t>
            </a:r>
            <a:endParaRPr lang="pt-BR" sz="1300" b="1"/>
          </a:p>
          <a:p>
            <a:pPr lvl="2" algn="just" rtl="0">
              <a:buFont typeface="Arial" panose="020B0604020202020204" pitchFamily="34" charset="0"/>
              <a:buChar char="•"/>
            </a:pPr>
            <a:r>
              <a:rPr lang="pt-BR" sz="1300" b="1">
                <a:sym typeface="+mn-ea"/>
              </a:rPr>
              <a:t>Não use palavras comuns, pois é fácil adivinhá-las.</a:t>
            </a:r>
            <a:endParaRPr lang="pt-BR" sz="1300" b="1"/>
          </a:p>
        </p:txBody>
      </p:sp>
      <p:sp>
        <p:nvSpPr>
          <p:cNvPr id="2" name="Rectangle 1"/>
          <p:cNvSpPr/>
          <p:nvPr/>
        </p:nvSpPr>
        <p:spPr>
          <a:xfrm>
            <a:off x="5012055" y="3371215"/>
            <a:ext cx="3970020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pt-BR" sz="1400" b="1">
                <a:solidFill>
                  <a:srgbClr val="FF0000"/>
                </a:solidFill>
                <a:latin typeface="CiscoSans"/>
              </a:rPr>
              <a:t>Observação:</a:t>
            </a:r>
            <a:r>
              <a:rPr lang="pt-BR" sz="1400" b="1">
                <a:solidFill>
                  <a:srgbClr val="000000"/>
                </a:solidFill>
                <a:latin typeface="CiscoSans"/>
              </a:rPr>
              <a:t> a maioria dos laboratórios neste curso usa senhas simples, como </a:t>
            </a:r>
            <a:r>
              <a:rPr lang="pt-BR" sz="1400">
                <a:solidFill>
                  <a:srgbClr val="000000"/>
                </a:solidFill>
                <a:latin typeface="CiscoSans"/>
              </a:rPr>
              <a:t> </a:t>
            </a:r>
            <a:r>
              <a:rPr lang="pt-BR" sz="1400" b="1">
                <a:solidFill>
                  <a:srgbClr val="FF0000"/>
                </a:solidFill>
                <a:latin typeface="CiscoSans"/>
              </a:rPr>
              <a:t>cisco </a:t>
            </a:r>
            <a:r>
              <a:rPr lang="pt-BR" sz="1400" b="1">
                <a:solidFill>
                  <a:srgbClr val="000000"/>
                </a:solidFill>
                <a:latin typeface="CiscoSans"/>
              </a:rPr>
              <a:t>ou </a:t>
            </a:r>
            <a:r>
              <a:rPr lang="pt-BR" sz="1400" b="1">
                <a:solidFill>
                  <a:srgbClr val="FF0000"/>
                </a:solidFill>
                <a:latin typeface="CiscoSans"/>
              </a:rPr>
              <a:t>class</a:t>
            </a:r>
            <a:r>
              <a:rPr lang="pt-BR" sz="1400">
                <a:solidFill>
                  <a:srgbClr val="000000"/>
                </a:solidFill>
                <a:latin typeface="CiscoSans"/>
              </a:rPr>
              <a:t>. Essas senhas são consideradas fracas e facilmente adivinháveis e devem ser evitadas nos ambientes de produção.</a:t>
            </a:r>
            <a:endParaRPr lang="pt-BR" sz="1400">
              <a:solidFill>
                <a:srgbClr val="000000"/>
              </a:solidFill>
              <a:latin typeface="CiscoSan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305" y="293370"/>
            <a:ext cx="3017520" cy="301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  <a:sym typeface="+mn-ea"/>
              </a:rPr>
              <a:t>Configuração Básica do Dispositivo</a:t>
            </a:r>
            <a:br>
              <a:rPr lang="pt-BR" sz="1600">
                <a:latin typeface="Arial" panose="020B0604020202020204" pitchFamily="34" charset="0"/>
                <a:sym typeface="+mn-ea"/>
              </a:rPr>
            </a:br>
            <a:r>
              <a:rPr lang="pt-BR">
                <a:latin typeface="Arial" panose="020B0604020202020204" pitchFamily="34" charset="0"/>
              </a:rPr>
              <a:t>Configuração de Senhas de Acesso ao Console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6680" y="798830"/>
            <a:ext cx="4426585" cy="374650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600"/>
              <a:t>Acesso seguro ao </a:t>
            </a:r>
            <a:r>
              <a:rPr lang="pt-BR" sz="1600" b="1">
                <a:solidFill>
                  <a:srgbClr val="FF0000"/>
                </a:solidFill>
              </a:rPr>
              <a:t>modo EXEC do usuário</a:t>
            </a:r>
            <a:r>
              <a:rPr lang="pt-BR" sz="1600"/>
              <a:t>.</a:t>
            </a:r>
            <a:endParaRPr lang="pt-BR" sz="16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500"/>
              <a:t>Primeiro, entre no modo de configuração do console de linha usando o comando </a:t>
            </a:r>
            <a:r>
              <a:rPr lang="pt-BR" sz="1500" b="1">
                <a:solidFill>
                  <a:srgbClr val="FF0000"/>
                </a:solidFill>
              </a:rPr>
              <a:t>line console 0</a:t>
            </a:r>
            <a:r>
              <a:rPr lang="pt-BR" sz="1500"/>
              <a:t> no modo de configuração global.</a:t>
            </a:r>
            <a:endParaRPr lang="pt-BR" sz="15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500"/>
              <a:t>Em seguida, especifique a senha do modo EXEC usuário com o comando: </a:t>
            </a:r>
            <a:r>
              <a:rPr lang="pt-BR" sz="1500" b="1"/>
              <a:t>password </a:t>
            </a:r>
            <a:r>
              <a:rPr lang="pt-BR" sz="1500" i="1"/>
              <a:t>password</a:t>
            </a:r>
            <a:r>
              <a:rPr lang="pt-BR" sz="1500"/>
              <a:t>. </a:t>
            </a:r>
            <a:endParaRPr lang="pt-BR" sz="15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500"/>
              <a:t>Por fim, use o comando: </a:t>
            </a:r>
            <a:r>
              <a:rPr lang="pt-BR" sz="1500" b="1"/>
              <a:t>login</a:t>
            </a:r>
            <a:r>
              <a:rPr lang="pt-BR" sz="1500"/>
              <a:t> para permitir o acesso ao EXEC usuário.</a:t>
            </a:r>
            <a:endParaRPr lang="pt-BR" sz="15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600">
                <a:sym typeface="+mn-ea"/>
              </a:rPr>
              <a:t>Protegendo o acesso seguro do </a:t>
            </a:r>
            <a:r>
              <a:rPr lang="pt-BR" sz="1600" b="1">
                <a:solidFill>
                  <a:srgbClr val="FF0000"/>
                </a:solidFill>
                <a:sym typeface="+mn-ea"/>
              </a:rPr>
              <a:t>modo EXEC P</a:t>
            </a:r>
            <a:r>
              <a:rPr lang="pt-BR" sz="1600" b="1">
                <a:solidFill>
                  <a:srgbClr val="FF0000"/>
                </a:solidFill>
                <a:sym typeface="+mn-ea"/>
              </a:rPr>
              <a:t>rivilegiado</a:t>
            </a:r>
            <a:r>
              <a:rPr lang="pt-BR" sz="1600">
                <a:sym typeface="+mn-ea"/>
              </a:rPr>
              <a:t>:</a:t>
            </a:r>
            <a:endParaRPr lang="pt-BR" sz="16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600">
                <a:sym typeface="+mn-ea"/>
              </a:rPr>
              <a:t> </a:t>
            </a:r>
            <a:r>
              <a:rPr lang="pt-BR" sz="1500">
                <a:sym typeface="+mn-ea"/>
              </a:rPr>
              <a:t>Primeiro entre no modo de configuração global com o comando: </a:t>
            </a:r>
            <a:r>
              <a:rPr lang="pt-BR" sz="1500" b="1">
                <a:sym typeface="+mn-ea"/>
              </a:rPr>
              <a:t>configure terminal</a:t>
            </a:r>
            <a:r>
              <a:rPr lang="pt-BR" sz="1500">
                <a:sym typeface="+mn-ea"/>
              </a:rPr>
              <a:t>.</a:t>
            </a:r>
            <a:endParaRPr lang="pt-BR" sz="15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500">
                <a:sym typeface="+mn-ea"/>
              </a:rPr>
              <a:t> Em seguida, use o comando </a:t>
            </a:r>
            <a:r>
              <a:rPr lang="pt-BR" sz="1500" b="1">
                <a:sym typeface="+mn-ea"/>
              </a:rPr>
              <a:t>enable secret </a:t>
            </a:r>
            <a:r>
              <a:rPr lang="pt-BR" sz="1500" i="1">
                <a:sym typeface="+mn-ea"/>
              </a:rPr>
              <a:t>password</a:t>
            </a:r>
            <a:r>
              <a:rPr lang="pt-BR" sz="1500">
                <a:sym typeface="+mn-ea"/>
              </a:rPr>
              <a:t> </a:t>
            </a:r>
            <a:endParaRPr lang="pt-BR" sz="15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0075" y="798830"/>
            <a:ext cx="4592320" cy="1289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75" y="2190750"/>
            <a:ext cx="4599305" cy="8902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  <a:sym typeface="+mn-ea"/>
              </a:rPr>
              <a:t>Configuração Básica do Dispositivo</a:t>
            </a:r>
            <a:br>
              <a:rPr lang="pt-BR" sz="1600">
                <a:latin typeface="Arial" panose="020B0604020202020204" pitchFamily="34" charset="0"/>
                <a:sym typeface="+mn-ea"/>
              </a:rPr>
            </a:br>
            <a:r>
              <a:rPr lang="pt-BR">
                <a:latin typeface="Arial" panose="020B0604020202020204" pitchFamily="34" charset="0"/>
                <a:sym typeface="+mn-ea"/>
              </a:rPr>
              <a:t>Configuração de Senhas de Acesso Remoto via VTY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3980" y="836930"/>
            <a:ext cx="4580255" cy="386207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800"/>
              <a:t>Protegendo o acesso à </a:t>
            </a:r>
            <a:r>
              <a:rPr lang="pt-BR" sz="1800" b="1">
                <a:solidFill>
                  <a:srgbClr val="FF0000"/>
                </a:solidFill>
              </a:rPr>
              <a:t>linha VTY</a:t>
            </a:r>
            <a:r>
              <a:rPr lang="pt-BR" sz="1800"/>
              <a:t>:</a:t>
            </a:r>
            <a:endParaRPr lang="pt-BR" sz="18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800"/>
              <a:t>Primeiro entre no modo de configuração VTY de linha usando o comando:</a:t>
            </a:r>
            <a:r>
              <a:rPr lang="pt-BR" sz="1800" b="1"/>
              <a:t> line vty </a:t>
            </a:r>
            <a:r>
              <a:rPr lang="pt-BR" sz="1800" i="1"/>
              <a:t>0 15</a:t>
            </a:r>
            <a:r>
              <a:rPr lang="pt-BR" sz="1800" b="1"/>
              <a:t> </a:t>
            </a:r>
            <a:r>
              <a:rPr lang="pt-BR" sz="1800"/>
              <a:t>no modo de configuração global.</a:t>
            </a:r>
            <a:endParaRPr lang="pt-BR" sz="18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800"/>
              <a:t>Em seguida, especifique a senha VTY com o comando: </a:t>
            </a:r>
            <a:r>
              <a:rPr lang="pt-BR" sz="1800" b="1"/>
              <a:t>password </a:t>
            </a:r>
            <a:r>
              <a:rPr lang="pt-BR" sz="1800" i="1"/>
              <a:t>senha</a:t>
            </a:r>
            <a:r>
              <a:rPr lang="pt-BR" sz="1800"/>
              <a:t>. </a:t>
            </a:r>
            <a:endParaRPr lang="pt-BR" sz="1800"/>
          </a:p>
          <a:p>
            <a:pPr lvl="2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800"/>
              <a:t>Por fim, use o comando: </a:t>
            </a:r>
            <a:r>
              <a:rPr lang="pt-BR" sz="1800" b="1"/>
              <a:t>login</a:t>
            </a:r>
            <a:r>
              <a:rPr lang="pt-BR" sz="1800"/>
              <a:t> para permitir o acesso via </a:t>
            </a:r>
            <a:r>
              <a:rPr lang="pt-BR" sz="1800" b="1">
                <a:solidFill>
                  <a:srgbClr val="FF0000"/>
                </a:solidFill>
              </a:rPr>
              <a:t>VTY</a:t>
            </a:r>
            <a:r>
              <a:rPr lang="pt-BR" sz="1800"/>
              <a:t>.</a:t>
            </a:r>
            <a:endParaRPr lang="pt-BR" sz="1800"/>
          </a:p>
          <a:p>
            <a:pPr marL="0" lvl="2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800" b="1">
                <a:solidFill>
                  <a:srgbClr val="FF0000"/>
                </a:solidFill>
                <a:sym typeface="+mn-ea"/>
              </a:rPr>
              <a:t>Observação:</a:t>
            </a:r>
            <a:r>
              <a:rPr lang="pt-BR" sz="1800">
                <a:sym typeface="+mn-ea"/>
              </a:rPr>
              <a:t> As linhas VTY permitem </a:t>
            </a:r>
            <a:r>
              <a:rPr lang="pt-BR" sz="1800" b="1">
                <a:sym typeface="+mn-ea"/>
              </a:rPr>
              <a:t>acesso remoto usando Telnet ou SSH</a:t>
            </a:r>
            <a:r>
              <a:rPr lang="pt-BR" sz="1800">
                <a:sym typeface="+mn-ea"/>
              </a:rPr>
              <a:t> ao dispositivo. Muitos switches Cisco são compatíveis com até </a:t>
            </a:r>
            <a:r>
              <a:rPr lang="pt-BR" sz="1800" b="1">
                <a:solidFill>
                  <a:srgbClr val="FF0000"/>
                </a:solidFill>
                <a:sym typeface="+mn-ea"/>
              </a:rPr>
              <a:t>16 linhas</a:t>
            </a:r>
            <a:r>
              <a:rPr lang="pt-BR" sz="1800">
                <a:sym typeface="+mn-ea"/>
              </a:rPr>
              <a:t> VTY numeradas de </a:t>
            </a:r>
            <a:r>
              <a:rPr lang="pt-BR" sz="1800" b="1">
                <a:solidFill>
                  <a:srgbClr val="FF0000"/>
                </a:solidFill>
                <a:sym typeface="+mn-ea"/>
              </a:rPr>
              <a:t>0 a 15</a:t>
            </a:r>
            <a:r>
              <a:rPr lang="pt-BR" sz="1800">
                <a:sym typeface="+mn-ea"/>
              </a:rPr>
              <a:t>. </a:t>
            </a:r>
            <a:endParaRPr lang="pt-BR" sz="18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6605" y="836930"/>
            <a:ext cx="4467860" cy="12395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Configuração básica do dispositivo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 altLang="en-US" dirty="0">
                <a:latin typeface="Arial" panose="020B0604020202020204" pitchFamily="34" charset="0"/>
              </a:rPr>
              <a:t>Habilitar o Serviço de Criptografia de S</a:t>
            </a:r>
            <a:r>
              <a:rPr lang="pt-BR">
                <a:latin typeface="Arial" panose="020B0604020202020204" pitchFamily="34" charset="0"/>
              </a:rPr>
              <a:t>enhas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4930" y="824230"/>
            <a:ext cx="4457700" cy="346964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250"/>
              <a:t>Os arquivos </a:t>
            </a:r>
            <a:r>
              <a:rPr lang="pt-BR" sz="2250" b="1">
                <a:solidFill>
                  <a:srgbClr val="FF0000"/>
                </a:solidFill>
              </a:rPr>
              <a:t>startup-config</a:t>
            </a:r>
            <a:r>
              <a:rPr lang="pt-BR" sz="2250"/>
              <a:t> e </a:t>
            </a:r>
            <a:r>
              <a:rPr lang="pt-BR" sz="2250" b="1">
                <a:solidFill>
                  <a:srgbClr val="FF0000"/>
                </a:solidFill>
              </a:rPr>
              <a:t>running-config</a:t>
            </a:r>
            <a:r>
              <a:rPr lang="pt-BR" sz="2250"/>
              <a:t> exibem a maioria das senhas em texto simples.</a:t>
            </a:r>
            <a:endParaRPr lang="pt-BR" sz="22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250"/>
              <a:t>Para criptografar senhas, use o comando de configuração global: </a:t>
            </a:r>
            <a:r>
              <a:rPr lang="pt-BR" sz="2250" b="1"/>
              <a:t>service password-encryption</a:t>
            </a:r>
            <a:r>
              <a:rPr lang="pt-BR" sz="2250"/>
              <a:t>.</a:t>
            </a:r>
            <a:endParaRPr lang="pt-BR" sz="22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250">
                <a:sym typeface="+mn-ea"/>
              </a:rPr>
              <a:t>Use o comando: </a:t>
            </a:r>
            <a:r>
              <a:rPr lang="pt-BR" sz="2250" b="1">
                <a:sym typeface="+mn-ea"/>
              </a:rPr>
              <a:t>show running-config</a:t>
            </a:r>
            <a:r>
              <a:rPr lang="pt-BR" sz="2250">
                <a:sym typeface="+mn-ea"/>
              </a:rPr>
              <a:t> para verificar se as senhas do dispositivo agora </a:t>
            </a:r>
            <a:r>
              <a:rPr lang="pt-BR" sz="2250" b="1">
                <a:solidFill>
                  <a:srgbClr val="FF0000"/>
                </a:solidFill>
                <a:sym typeface="+mn-ea"/>
              </a:rPr>
              <a:t>estão criptografadas. </a:t>
            </a:r>
            <a:endParaRPr lang="pt-BR" sz="2250" b="1">
              <a:solidFill>
                <a:srgbClr val="FF0000"/>
              </a:solidFill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2630" y="824230"/>
            <a:ext cx="4483100" cy="7613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630" y="1637030"/>
            <a:ext cx="4482465" cy="28168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Configuração básica de dispositivos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Mensagens de Banner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415" y="846455"/>
            <a:ext cx="4432935" cy="383984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000"/>
              <a:t>Uma </a:t>
            </a:r>
            <a:r>
              <a:rPr lang="pt-BR" sz="2000" b="1">
                <a:solidFill>
                  <a:srgbClr val="FF0000"/>
                </a:solidFill>
              </a:rPr>
              <a:t>mensagem de banner</a:t>
            </a:r>
            <a:r>
              <a:rPr lang="pt-BR" sz="2000"/>
              <a:t> é importante para avisar que pessoas </a:t>
            </a:r>
            <a:r>
              <a:rPr lang="pt-BR" sz="2000" b="1"/>
              <a:t>não autorizadas</a:t>
            </a:r>
            <a:r>
              <a:rPr lang="pt-BR" sz="2000"/>
              <a:t> tentem acessar o dispositivo. </a:t>
            </a:r>
            <a:endParaRPr lang="pt-BR" sz="20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000"/>
              <a:t>Para criar uma mensagem de banner do dia em um dispositivo de rede, use o comando de configuração global: </a:t>
            </a:r>
            <a:r>
              <a:rPr lang="pt-BR" sz="2000" b="1"/>
              <a:t>banner motd # </a:t>
            </a:r>
            <a:r>
              <a:rPr lang="pt-BR" sz="2000" i="1"/>
              <a:t>A mensagem do dia</a:t>
            </a:r>
            <a:r>
              <a:rPr lang="pt-BR" sz="2000" b="1"/>
              <a:t> # </a:t>
            </a:r>
            <a:r>
              <a:rPr lang="pt-BR" sz="2000"/>
              <a:t>. </a:t>
            </a:r>
            <a:endParaRPr lang="pt-BR" sz="20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000">
                <a:sym typeface="+mn-ea"/>
              </a:rPr>
              <a:t>O </a:t>
            </a:r>
            <a:r>
              <a:rPr lang="pt-BR" sz="2000" b="1">
                <a:solidFill>
                  <a:srgbClr val="FF0000"/>
                </a:solidFill>
                <a:sym typeface="+mn-ea"/>
              </a:rPr>
              <a:t>“#”</a:t>
            </a:r>
            <a:r>
              <a:rPr lang="pt-BR" sz="2000">
                <a:sym typeface="+mn-ea"/>
              </a:rPr>
              <a:t> na sintaxe do comando é denominado </a:t>
            </a:r>
            <a:r>
              <a:rPr lang="pt-BR" sz="2000" b="1">
                <a:solidFill>
                  <a:srgbClr val="FF0000"/>
                </a:solidFill>
                <a:sym typeface="+mn-ea"/>
              </a:rPr>
              <a:t>caractere de delimitação.</a:t>
            </a:r>
            <a:r>
              <a:rPr lang="pt-BR" sz="2000">
                <a:sym typeface="+mn-ea"/>
              </a:rPr>
              <a:t> Ele é inserido antes e depois da mensagem. </a:t>
            </a:r>
            <a:endParaRPr lang="pt-BR" sz="2000"/>
          </a:p>
        </p:txBody>
      </p:sp>
      <p:sp>
        <p:nvSpPr>
          <p:cNvPr id="6" name="TextBox 5"/>
          <p:cNvSpPr txBox="1"/>
          <p:nvPr/>
        </p:nvSpPr>
        <p:spPr>
          <a:xfrm>
            <a:off x="4455160" y="1350010"/>
            <a:ext cx="45885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2000">
                <a:solidFill>
                  <a:srgbClr val="000000"/>
                </a:solidFill>
              </a:rPr>
              <a:t>O banner será exibido nas tentativas de acessar o dispositivo. </a:t>
            </a:r>
            <a:endParaRPr lang="pt-BR" sz="200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5160" y="846455"/>
            <a:ext cx="4589145" cy="492760"/>
          </a:xfrm>
          <a:prstGeom prst="rect">
            <a:avLst/>
          </a:prstGeom>
        </p:spPr>
      </p:pic>
      <p:sp>
        <p:nvSpPr>
          <p:cNvPr id="20" name="Down Arrow 19"/>
          <p:cNvSpPr/>
          <p:nvPr/>
        </p:nvSpPr>
        <p:spPr>
          <a:xfrm>
            <a:off x="6655433" y="1986040"/>
            <a:ext cx="187961" cy="292389"/>
          </a:xfrm>
          <a:prstGeom prst="down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160" y="2327910"/>
            <a:ext cx="4587875" cy="23075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849120"/>
            <a:ext cx="8280314" cy="8686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2.5 - Salvar as Configurações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Salvar as configurações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Arquivos de Configuração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1280" y="798830"/>
            <a:ext cx="8853170" cy="2025015"/>
          </a:xfrm>
        </p:spPr>
        <p:txBody>
          <a:bodyPr/>
          <a:lstStyle/>
          <a:p>
            <a:pPr marL="0" indent="0" algn="just" rtl="0">
              <a:buNone/>
            </a:pPr>
            <a:r>
              <a:rPr lang="pt-BR"/>
              <a:t>Há </a:t>
            </a:r>
            <a:r>
              <a:rPr lang="pt-BR" b="1"/>
              <a:t>dois arquivos </a:t>
            </a:r>
            <a:r>
              <a:rPr lang="pt-BR"/>
              <a:t>de sistema que armazenam a configuração do dispositivo:</a:t>
            </a:r>
            <a:endParaRPr lang="pt-BR"/>
          </a:p>
          <a:p>
            <a:pPr lvl="2" algn="just" rtl="0"/>
            <a:r>
              <a:rPr lang="pt-BR" b="1">
                <a:solidFill>
                  <a:srgbClr val="FF0000"/>
                </a:solidFill>
              </a:rPr>
              <a:t>startup-config</a:t>
            </a:r>
            <a:r>
              <a:rPr lang="pt-BR"/>
              <a:t> - Este é o arquivo de configuração salvo armazenado na </a:t>
            </a:r>
            <a:r>
              <a:rPr lang="pt-BR" b="1"/>
              <a:t>NVRAM</a:t>
            </a:r>
            <a:r>
              <a:rPr lang="pt-BR"/>
              <a:t>. Ele contém todos os comandos que serão usados pelo dispositivo na inicialização ou reinicialização. O flash não perde seu conteúdo quando o dispositivo está desligado.</a:t>
            </a:r>
            <a:r>
              <a:rPr lang="pt-BR" b="1"/>
              <a:t> </a:t>
            </a:r>
            <a:endParaRPr lang="pt-BR" b="1"/>
          </a:p>
          <a:p>
            <a:pPr lvl="2" algn="just" rtl="0"/>
            <a:r>
              <a:rPr lang="pt-BR" b="1">
                <a:solidFill>
                  <a:srgbClr val="FF0000"/>
                </a:solidFill>
              </a:rPr>
              <a:t>running-config</a:t>
            </a:r>
            <a:r>
              <a:rPr lang="pt-BR"/>
              <a:t> - Isto é armazenado na memória de acesso aleatório </a:t>
            </a:r>
            <a:r>
              <a:rPr lang="pt-BR" b="1">
                <a:solidFill>
                  <a:srgbClr val="FF0000"/>
                </a:solidFill>
              </a:rPr>
              <a:t>RAM</a:t>
            </a:r>
            <a:r>
              <a:rPr lang="pt-BR"/>
              <a:t>. Ele reflete a configuração atual. A modificação de uma configuração ativa afeta o funcionamento de um dispositivo Cisco imediatamente. A RAM é uma </a:t>
            </a:r>
            <a:r>
              <a:rPr lang="pt-BR" b="1"/>
              <a:t>memória volátil</a:t>
            </a:r>
            <a:r>
              <a:rPr lang="pt-BR"/>
              <a:t>. Ela perde todo o seu conteúdo quando o dispositivo é desligado ou reiniciado.</a:t>
            </a:r>
            <a:endParaRPr lang="pt-BR"/>
          </a:p>
          <a:p>
            <a:pPr lvl="2" algn="just" rtl="0"/>
            <a:r>
              <a:rPr lang="pt-BR"/>
              <a:t>Para salvar as alterações feitas na configuração ativa no arquivo de configuração de inicialização, use o comando do modo EXEC privilegiado: </a:t>
            </a:r>
            <a:r>
              <a:rPr lang="pt-BR" b="1"/>
              <a:t>copy running-config startup-config</a:t>
            </a:r>
            <a:r>
              <a:rPr lang="pt-BR"/>
              <a:t>.</a:t>
            </a:r>
            <a:endParaRPr lang="pt-BR"/>
          </a:p>
          <a:p>
            <a:pPr marL="0" indent="0" algn="just" rtl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" y="2823845"/>
            <a:ext cx="4399915" cy="18395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70" y="2823845"/>
            <a:ext cx="4411980" cy="1844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Salvar as configurações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Alterar a Configuração de Execução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5090" y="725170"/>
            <a:ext cx="4481830" cy="395732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400"/>
              <a:t>Se as </a:t>
            </a:r>
            <a:r>
              <a:rPr lang="pt-BR" sz="1400" b="1">
                <a:solidFill>
                  <a:srgbClr val="FF0000"/>
                </a:solidFill>
              </a:rPr>
              <a:t>alterações feitas na configuração em execução</a:t>
            </a:r>
            <a:r>
              <a:rPr lang="pt-BR" sz="1400"/>
              <a:t> não tiverem o efeito desejado e a configuração ainda não foi salva, você poderá restaurar o dispositivo para a configuração anterior. Para fazer isso, você pode:</a:t>
            </a:r>
            <a:endParaRPr lang="pt-BR" sz="140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400"/>
              <a:t>Remova os comandos alterados individualmente.</a:t>
            </a:r>
            <a:endParaRPr lang="pt-BR" sz="140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400"/>
              <a:t>Recarregar o dispositivo usando o comando do modo EXEC privilegiado: </a:t>
            </a:r>
            <a:r>
              <a:rPr lang="pt-BR" sz="1400" b="1"/>
              <a:t>reload</a:t>
            </a:r>
            <a:r>
              <a:rPr lang="pt-BR" sz="1400"/>
              <a:t>. </a:t>
            </a:r>
            <a:endParaRPr lang="pt-BR" sz="1400"/>
          </a:p>
          <a:p>
            <a:pPr marL="0" lvl="1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400" b="1">
                <a:solidFill>
                  <a:srgbClr val="FF0000"/>
                </a:solidFill>
              </a:rPr>
              <a:t>Observação:</a:t>
            </a:r>
            <a:r>
              <a:rPr lang="pt-BR" sz="1400"/>
              <a:t> Isso fará com que o dispositivo fique </a:t>
            </a:r>
            <a:r>
              <a:rPr lang="pt-BR" sz="1400" b="1"/>
              <a:t>off-line brevemente</a:t>
            </a:r>
            <a:r>
              <a:rPr lang="pt-BR" sz="1400"/>
              <a:t>, levando ao tempo de inatividade da rede.  </a:t>
            </a:r>
            <a:endParaRPr lang="pt-BR" sz="14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400"/>
              <a:t>Se as alterações indesejadas foram salvas na </a:t>
            </a:r>
            <a:r>
              <a:rPr lang="pt-BR" sz="1400" b="1"/>
              <a:t>startup-config</a:t>
            </a:r>
            <a:r>
              <a:rPr lang="pt-BR" sz="1400"/>
              <a:t>, pode ser necessário limpar todas as configurações usando o comando: </a:t>
            </a:r>
            <a:r>
              <a:rPr lang="pt-BR" sz="1400" b="1"/>
              <a:t>erase startup-config</a:t>
            </a:r>
            <a:r>
              <a:rPr lang="pt-BR" sz="1400"/>
              <a:t> no modo EXEC de privilégio. </a:t>
            </a:r>
            <a:endParaRPr lang="pt-BR" sz="140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400"/>
              <a:t>Depois de apagar o </a:t>
            </a:r>
            <a:r>
              <a:rPr lang="pt-BR" sz="1400" b="1"/>
              <a:t>startup-config</a:t>
            </a:r>
            <a:r>
              <a:rPr lang="pt-BR" sz="1400"/>
              <a:t>, recarregue o dispositivo para limpar o arquivo r</a:t>
            </a:r>
            <a:r>
              <a:rPr lang="pt-BR" sz="1400" b="1"/>
              <a:t>unning-config</a:t>
            </a:r>
            <a:r>
              <a:rPr lang="pt-BR" sz="1400"/>
              <a:t> da RAM. </a:t>
            </a:r>
            <a:endParaRPr lang="pt-BR" sz="1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2775" y="798830"/>
            <a:ext cx="4596130" cy="6032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775" y="1538605"/>
            <a:ext cx="4595495" cy="6692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Salvar as configurações </a:t>
            </a:r>
            <a:br>
              <a:rPr lang="en-US" sz="1600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Salvar</a:t>
            </a:r>
            <a:r>
              <a:rPr lang="pt-BR">
                <a:latin typeface="Arial" panose="020B0604020202020204" pitchFamily="34" charset="0"/>
              </a:rPr>
              <a:t> as Configurações em um Arquivo Texto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9380" y="798830"/>
            <a:ext cx="4786630" cy="383921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2000"/>
              <a:t>Os arquivos de configuração também podem ser </a:t>
            </a:r>
            <a:r>
              <a:rPr lang="pt-BR" sz="2000" b="1">
                <a:solidFill>
                  <a:srgbClr val="FF0000"/>
                </a:solidFill>
              </a:rPr>
              <a:t>salvos e armazenados em um documento de texto</a:t>
            </a:r>
            <a:r>
              <a:rPr lang="pt-BR" sz="2000"/>
              <a:t>. </a:t>
            </a:r>
            <a:endParaRPr lang="pt-BR" sz="2000"/>
          </a:p>
          <a:p>
            <a:pPr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 sz="2000" b="1"/>
              <a:t>Etapa 1. </a:t>
            </a:r>
            <a:r>
              <a:rPr lang="pt-BR" sz="2000"/>
              <a:t>Abra um software de emulação de terminal, como </a:t>
            </a:r>
            <a:r>
              <a:rPr lang="pt-BR" sz="2000" b="1"/>
              <a:t>PuTTY</a:t>
            </a:r>
            <a:r>
              <a:rPr lang="pt-BR" sz="2000"/>
              <a:t> ou Tera Term (Figura 1) que já está conectado a um switch.</a:t>
            </a:r>
            <a:endParaRPr lang="pt-BR" sz="2000"/>
          </a:p>
          <a:p>
            <a:pPr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 sz="2000" b="1"/>
              <a:t>Etapa 2. </a:t>
            </a:r>
            <a:r>
              <a:rPr lang="pt-BR" sz="2000"/>
              <a:t>Ative o </a:t>
            </a:r>
            <a:r>
              <a:rPr lang="pt-BR" sz="2000" b="1"/>
              <a:t>registro</a:t>
            </a:r>
            <a:r>
              <a:rPr lang="pt-BR" sz="2000"/>
              <a:t> no software do terminal e atribua um nome e um local para salvar o arquivo de log. A Figura 2 mostra que: </a:t>
            </a:r>
            <a:r>
              <a:rPr lang="pt-BR" sz="2000" b="1"/>
              <a:t>All session output</a:t>
            </a:r>
            <a:r>
              <a:rPr lang="pt-BR" sz="2000"/>
              <a:t> será capturado no arquivo especificado (isto é, MySwitchLogs).</a:t>
            </a:r>
            <a:endParaRPr lang="pt-BR" sz="2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3320" y="798830"/>
            <a:ext cx="3884930" cy="38392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  <a:sym typeface="+mn-ea"/>
              </a:rPr>
              <a:t>Salvar as configurações </a:t>
            </a:r>
            <a:br>
              <a:rPr>
                <a:latin typeface="Arial" panose="020B0604020202020204" pitchFamily="34" charset="0"/>
                <a:sym typeface="+mn-ea"/>
              </a:rPr>
            </a:br>
            <a:r>
              <a:rPr lang="pt-BR">
                <a:latin typeface="Arial" panose="020B0604020202020204" pitchFamily="34" charset="0"/>
                <a:sym typeface="+mn-ea"/>
              </a:rPr>
              <a:t>Salvar as Configurações em um Arquivo Texto (Continuação)</a:t>
            </a:r>
            <a:endParaRPr lang="pt-BR" sz="1600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2715" y="897890"/>
            <a:ext cx="4773295" cy="3707765"/>
          </a:xfrm>
        </p:spPr>
        <p:txBody>
          <a:bodyPr/>
          <a:lstStyle/>
          <a:p>
            <a:pPr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 sz="1700" b="1"/>
              <a:t>Etapa 3. </a:t>
            </a:r>
            <a:r>
              <a:rPr lang="pt-BR" sz="1700"/>
              <a:t>Execute o comando:</a:t>
            </a:r>
            <a:r>
              <a:rPr lang="pt-BR" sz="1700" b="1"/>
              <a:t> show running-config </a:t>
            </a:r>
            <a:r>
              <a:rPr lang="pt-BR" sz="1700"/>
              <a:t>ou </a:t>
            </a:r>
            <a:r>
              <a:rPr lang="pt-BR" sz="1700" b="1"/>
              <a:t>show startup-config </a:t>
            </a:r>
            <a:r>
              <a:rPr lang="pt-BR" sz="1700"/>
              <a:t>no prompt EXEC privilegiado. O texto exibido na janela do terminal será inserido no arquivo escolhido.</a:t>
            </a:r>
            <a:r>
              <a:rPr lang="pt-BR" sz="1700" b="1"/>
              <a:t> </a:t>
            </a:r>
            <a:endParaRPr lang="pt-BR" sz="1700" b="1"/>
          </a:p>
          <a:p>
            <a:pPr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 sz="1700" b="1"/>
              <a:t>Etapa 4. </a:t>
            </a:r>
            <a:r>
              <a:rPr lang="pt-BR" sz="1700"/>
              <a:t>Desative o </a:t>
            </a:r>
            <a:r>
              <a:rPr lang="pt-BR" sz="1700" b="1"/>
              <a:t>log </a:t>
            </a:r>
            <a:r>
              <a:rPr lang="pt-BR" sz="1700"/>
              <a:t>no software de terminal. A Figura mostra como desativar o log escolhendo a </a:t>
            </a:r>
            <a:r>
              <a:rPr lang="pt-BR" sz="1700" b="1"/>
              <a:t>opção de log de sessão </a:t>
            </a:r>
            <a:r>
              <a:rPr lang="pt-BR" sz="1700"/>
              <a:t>None</a:t>
            </a:r>
            <a:r>
              <a:rPr lang="pt-BR" sz="1700" b="1"/>
              <a:t>.</a:t>
            </a:r>
            <a:endParaRPr lang="pt-BR" sz="1700" b="1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700" b="1">
                <a:solidFill>
                  <a:srgbClr val="FF0000"/>
                </a:solidFill>
                <a:sym typeface="+mn-ea"/>
              </a:rPr>
              <a:t>Nota:</a:t>
            </a:r>
            <a:r>
              <a:rPr lang="pt-BR" sz="1700">
                <a:sym typeface="+mn-ea"/>
              </a:rPr>
              <a:t> O arquivo de texto criado pode ser usado como um</a:t>
            </a:r>
            <a:r>
              <a:rPr lang="pt-BR" sz="1700" b="1">
                <a:solidFill>
                  <a:srgbClr val="FF0000"/>
                </a:solidFill>
                <a:sym typeface="+mn-ea"/>
              </a:rPr>
              <a:t> registro de como o dispositivo está implementado atualmente</a:t>
            </a:r>
            <a:r>
              <a:rPr lang="pt-BR" sz="1700">
                <a:sym typeface="+mn-ea"/>
              </a:rPr>
              <a:t>. Talvez seja necessário editar o arquivo antes de usá-lo para restaurar uma configuração salva em um dispositivo.</a:t>
            </a:r>
            <a:endParaRPr lang="pt-BR" sz="1700" b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710" y="897890"/>
            <a:ext cx="4246245" cy="65341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710" y="1609725"/>
            <a:ext cx="4245610" cy="30460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98320"/>
            <a:ext cx="8280314" cy="9194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2.6 - Portas e Endereços IP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Portas e Endereços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Endereços IPv4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4135" y="836930"/>
            <a:ext cx="5460365" cy="347027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O uso de </a:t>
            </a:r>
            <a:r>
              <a:rPr lang="pt-BR" sz="1750" b="1">
                <a:solidFill>
                  <a:srgbClr val="FF0000"/>
                </a:solidFill>
              </a:rPr>
              <a:t>endereços IP</a:t>
            </a:r>
            <a:r>
              <a:rPr lang="pt-BR" sz="1750"/>
              <a:t> é o principal meio de permitir que os dispositivos se localizem e estabeleçam comunicação ponto a ponto na Internet. 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A </a:t>
            </a:r>
            <a:r>
              <a:rPr lang="pt-BR" sz="1750" b="1"/>
              <a:t>estrutura de um endereço IPv4</a:t>
            </a:r>
            <a:r>
              <a:rPr lang="pt-BR" sz="1750"/>
              <a:t> é chamada </a:t>
            </a:r>
            <a:r>
              <a:rPr lang="pt-BR" sz="1750" b="1">
                <a:solidFill>
                  <a:srgbClr val="FF0000"/>
                </a:solidFill>
              </a:rPr>
              <a:t>notação decimal com ponto</a:t>
            </a:r>
            <a:r>
              <a:rPr lang="pt-BR" sz="1750"/>
              <a:t> e é representada por quatro números decimais entre</a:t>
            </a:r>
            <a:r>
              <a:rPr lang="pt-BR" sz="1750" b="1"/>
              <a:t> 0 e 255</a:t>
            </a:r>
            <a:r>
              <a:rPr lang="pt-BR" sz="1750"/>
              <a:t>.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Uma </a:t>
            </a:r>
            <a:r>
              <a:rPr lang="pt-BR" sz="1750" b="1">
                <a:solidFill>
                  <a:srgbClr val="FF0000"/>
                </a:solidFill>
              </a:rPr>
              <a:t>máscara de sub-rede IPv4</a:t>
            </a:r>
            <a:r>
              <a:rPr lang="pt-BR" sz="1750"/>
              <a:t> é um valor de </a:t>
            </a:r>
            <a:r>
              <a:rPr lang="pt-BR" sz="1750" b="1"/>
              <a:t>32 bits</a:t>
            </a:r>
            <a:r>
              <a:rPr lang="pt-BR" sz="1750"/>
              <a:t> que diferencia a parte da </a:t>
            </a:r>
            <a:r>
              <a:rPr lang="pt-BR" sz="1750" b="1"/>
              <a:t>rede do endereço da parte do host</a:t>
            </a:r>
            <a:r>
              <a:rPr lang="pt-BR" sz="1750"/>
              <a:t>. Juntamente com o endereço IPv4, a máscara de sub-rede </a:t>
            </a:r>
            <a:r>
              <a:rPr lang="pt-BR" sz="1750" b="1">
                <a:solidFill>
                  <a:srgbClr val="FF0000"/>
                </a:solidFill>
              </a:rPr>
              <a:t>determina a qual sub-rede o dispositivo é um membro</a:t>
            </a:r>
            <a:r>
              <a:rPr lang="pt-BR" sz="1750"/>
              <a:t>.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O </a:t>
            </a:r>
            <a:r>
              <a:rPr lang="pt-BR" sz="1750" b="1">
                <a:solidFill>
                  <a:srgbClr val="FF0000"/>
                </a:solidFill>
              </a:rPr>
              <a:t>endereço de gateway padrão</a:t>
            </a:r>
            <a:r>
              <a:rPr lang="pt-BR" sz="1750"/>
              <a:t> é o endereço IP do </a:t>
            </a:r>
            <a:r>
              <a:rPr lang="pt-BR" sz="1750" b="1"/>
              <a:t>roteador </a:t>
            </a:r>
            <a:r>
              <a:rPr lang="pt-BR" sz="1750"/>
              <a:t>que o host usará para acessar </a:t>
            </a:r>
            <a:r>
              <a:rPr lang="pt-BR" sz="1750" b="1">
                <a:solidFill>
                  <a:srgbClr val="FF0000"/>
                </a:solidFill>
              </a:rPr>
              <a:t>redes remotas, incluindo a Internet.</a:t>
            </a:r>
            <a:endParaRPr lang="pt-BR" sz="1750" b="1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3540" y="798830"/>
            <a:ext cx="3534410" cy="38379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Portas e endereços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  <a:sym typeface="+mn-ea"/>
              </a:rPr>
              <a:t>Endereços IPv4</a:t>
            </a:r>
            <a:r>
              <a:rPr lang="pt-BR">
                <a:latin typeface="Arial" panose="020B0604020202020204" pitchFamily="34" charset="0"/>
              </a:rPr>
              <a:t> (Continuação)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8750" y="792480"/>
            <a:ext cx="4845685" cy="390969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Os </a:t>
            </a:r>
            <a:r>
              <a:rPr lang="pt-BR" sz="1750" b="1">
                <a:solidFill>
                  <a:srgbClr val="FF0000"/>
                </a:solidFill>
              </a:rPr>
              <a:t>endereços IPv6 têm 128 bits</a:t>
            </a:r>
            <a:r>
              <a:rPr lang="pt-BR" sz="1750"/>
              <a:t> e são escritos como uma sequência de valores </a:t>
            </a:r>
            <a:r>
              <a:rPr lang="pt-BR" sz="1750" b="1"/>
              <a:t>hexadecimais</a:t>
            </a:r>
            <a:r>
              <a:rPr lang="pt-BR" sz="1750"/>
              <a:t>. A cada </a:t>
            </a:r>
            <a:r>
              <a:rPr lang="pt-BR" sz="1750" b="1"/>
              <a:t>quatro bits</a:t>
            </a:r>
            <a:r>
              <a:rPr lang="pt-BR" sz="1750"/>
              <a:t> é representado por um </a:t>
            </a:r>
            <a:r>
              <a:rPr lang="pt-BR" sz="1750" b="1">
                <a:solidFill>
                  <a:srgbClr val="FF0000"/>
                </a:solidFill>
              </a:rPr>
              <a:t>único dígito hexadecimal</a:t>
            </a:r>
            <a:r>
              <a:rPr lang="pt-BR" sz="1750"/>
              <a:t>; para um total de</a:t>
            </a:r>
            <a:r>
              <a:rPr lang="pt-BR" sz="1750" b="1"/>
              <a:t> 32 valores hexadecimais</a:t>
            </a:r>
            <a:r>
              <a:rPr lang="pt-BR" sz="1750"/>
              <a:t>. Grupos de </a:t>
            </a:r>
            <a:r>
              <a:rPr lang="pt-BR" sz="1750" b="1"/>
              <a:t>quatro dígitos hexadecimais</a:t>
            </a:r>
            <a:r>
              <a:rPr lang="pt-BR" sz="1750"/>
              <a:t> são separados por dois pontos </a:t>
            </a:r>
            <a:r>
              <a:rPr lang="pt-BR" sz="1750" b="1">
                <a:solidFill>
                  <a:srgbClr val="FF0000"/>
                </a:solidFill>
              </a:rPr>
              <a:t>“:”</a:t>
            </a:r>
            <a:r>
              <a:rPr lang="pt-BR" sz="1750"/>
              <a:t>. 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Os </a:t>
            </a:r>
            <a:r>
              <a:rPr lang="pt-BR" sz="1750" b="1"/>
              <a:t>endereços IPv6</a:t>
            </a:r>
            <a:r>
              <a:rPr lang="pt-BR" sz="1750"/>
              <a:t> não diferenciam </a:t>
            </a:r>
            <a:r>
              <a:rPr lang="pt-BR" sz="1750" b="1">
                <a:solidFill>
                  <a:srgbClr val="FF0000"/>
                </a:solidFill>
              </a:rPr>
              <a:t>maiúsculas e minúsculas</a:t>
            </a:r>
            <a:r>
              <a:rPr lang="pt-BR" sz="1750"/>
              <a:t> e podem ser escritos tanto em minúsculas como em maiúsculas.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 b="1">
                <a:latin typeface="CiscoSans"/>
                <a:sym typeface="+mn-ea"/>
              </a:rPr>
              <a:t>Observação</a:t>
            </a:r>
            <a:r>
              <a:rPr lang="pt-BR" sz="1750">
                <a:latin typeface="CiscoSans"/>
                <a:sym typeface="+mn-ea"/>
              </a:rPr>
              <a:t>: neste curso, o </a:t>
            </a:r>
            <a:r>
              <a:rPr lang="pt-BR" sz="1750" b="1">
                <a:latin typeface="CiscoSans"/>
                <a:sym typeface="+mn-ea"/>
              </a:rPr>
              <a:t>termo IP</a:t>
            </a:r>
            <a:r>
              <a:rPr lang="pt-BR" sz="1750">
                <a:latin typeface="CiscoSans"/>
                <a:sym typeface="+mn-ea"/>
              </a:rPr>
              <a:t> se refere tanto a </a:t>
            </a:r>
            <a:r>
              <a:rPr lang="pt-BR" sz="1750" b="1">
                <a:solidFill>
                  <a:srgbClr val="FF0000"/>
                </a:solidFill>
                <a:latin typeface="CiscoSans"/>
                <a:sym typeface="+mn-ea"/>
              </a:rPr>
              <a:t>protocolos IPv4 quanto IPv6</a:t>
            </a:r>
            <a:r>
              <a:rPr lang="pt-BR" sz="1750">
                <a:latin typeface="CiscoSans"/>
                <a:sym typeface="+mn-ea"/>
              </a:rPr>
              <a:t>. O </a:t>
            </a:r>
            <a:r>
              <a:rPr lang="pt-BR" sz="1750" b="1">
                <a:latin typeface="CiscoSans"/>
                <a:sym typeface="+mn-ea"/>
              </a:rPr>
              <a:t>IPv6</a:t>
            </a:r>
            <a:r>
              <a:rPr lang="pt-BR" sz="1750">
                <a:latin typeface="CiscoSans"/>
                <a:sym typeface="+mn-ea"/>
              </a:rPr>
              <a:t> é a versão mais recente do </a:t>
            </a:r>
            <a:r>
              <a:rPr lang="pt-BR" sz="1750" b="1">
                <a:latin typeface="CiscoSans"/>
                <a:sym typeface="+mn-ea"/>
              </a:rPr>
              <a:t>IP</a:t>
            </a:r>
            <a:r>
              <a:rPr lang="pt-BR" sz="1750">
                <a:latin typeface="CiscoSans"/>
                <a:sym typeface="+mn-ea"/>
              </a:rPr>
              <a:t> e está </a:t>
            </a:r>
            <a:r>
              <a:rPr lang="pt-BR" sz="1750" b="1">
                <a:solidFill>
                  <a:srgbClr val="FF0000"/>
                </a:solidFill>
                <a:latin typeface="CiscoSans"/>
                <a:sym typeface="+mn-ea"/>
              </a:rPr>
              <a:t>substituindo o IPv4 mais comum</a:t>
            </a:r>
            <a:r>
              <a:rPr lang="pt-BR" sz="1750">
                <a:latin typeface="CiscoSans"/>
                <a:sym typeface="+mn-ea"/>
              </a:rPr>
              <a:t>.</a:t>
            </a:r>
            <a:endParaRPr lang="pt-BR" sz="175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435" y="1003935"/>
            <a:ext cx="4020185" cy="33775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  <a:sym typeface="+mn-ea"/>
              </a:rPr>
              <a:t>Portas e endereços </a:t>
            </a:r>
            <a:br>
              <a:rPr>
                <a:latin typeface="Arial" panose="020B0604020202020204" pitchFamily="34" charset="0"/>
                <a:sym typeface="+mn-ea"/>
              </a:rPr>
            </a:br>
            <a:r>
              <a:rPr lang="pt-BR">
                <a:latin typeface="Arial" panose="020B0604020202020204" pitchFamily="34" charset="0"/>
              </a:rPr>
              <a:t>Interfaces e Portas (Switch, Router, Endpoint, etc)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1125" y="798830"/>
            <a:ext cx="4482465" cy="382397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/>
              <a:t>As comunicações em rede dependem de </a:t>
            </a:r>
            <a:r>
              <a:rPr lang="pt-BR" b="1">
                <a:solidFill>
                  <a:srgbClr val="FF0000"/>
                </a:solidFill>
              </a:rPr>
              <a:t>interfaces de dispositivos de usuário final</a:t>
            </a:r>
            <a:r>
              <a:rPr lang="pt-BR"/>
              <a:t>, </a:t>
            </a:r>
            <a:r>
              <a:rPr lang="pt-BR" b="1">
                <a:solidFill>
                  <a:srgbClr val="FF0000"/>
                </a:solidFill>
              </a:rPr>
              <a:t>interfaces de dispositivos de rede e cabos para conectá-las</a:t>
            </a:r>
            <a:r>
              <a:rPr lang="pt-BR"/>
              <a:t>.</a:t>
            </a:r>
            <a:endParaRPr lang="pt-BR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/>
              <a:t>Os tipos de </a:t>
            </a:r>
            <a:r>
              <a:rPr lang="pt-BR" b="1"/>
              <a:t>meio físico de rede</a:t>
            </a:r>
            <a:r>
              <a:rPr lang="pt-BR"/>
              <a:t> incluem </a:t>
            </a:r>
            <a:r>
              <a:rPr lang="pt-BR" b="1">
                <a:solidFill>
                  <a:srgbClr val="FF0000"/>
                </a:solidFill>
              </a:rPr>
              <a:t>cabos de cobre de par trançado, cabos de fibra óptica, cabos coaxiais ou sem fio</a:t>
            </a:r>
            <a:r>
              <a:rPr lang="pt-BR"/>
              <a:t>.</a:t>
            </a:r>
            <a:endParaRPr lang="pt-BR"/>
          </a:p>
          <a:p>
            <a:pPr marL="0" indent="0" algn="just" rtl="0">
              <a:buFont typeface="Arial" panose="020B0604020202020204" pitchFamily="34" charset="0"/>
              <a:buNone/>
            </a:pPr>
            <a:r>
              <a:rPr lang="pt-BR"/>
              <a:t>Diferentes tipos de meio físico de rede oferecem </a:t>
            </a:r>
            <a:r>
              <a:rPr lang="pt-BR" b="1"/>
              <a:t>características e benefícios diferentes</a:t>
            </a:r>
            <a:r>
              <a:rPr lang="pt-BR"/>
              <a:t>. Algumas das diferenças entre os vários tipos de meios incluem:</a:t>
            </a:r>
            <a:endParaRPr lang="pt-BR"/>
          </a:p>
          <a:p>
            <a:pPr lvl="3" algn="just" rtl="0">
              <a:spcAft>
                <a:spcPts val="100"/>
              </a:spcAft>
            </a:pPr>
            <a:r>
              <a:rPr lang="pt-BR" b="1"/>
              <a:t>A distância pela qual o meio físico consegue carregar um sinal com êxito</a:t>
            </a:r>
            <a:endParaRPr lang="pt-BR" b="1"/>
          </a:p>
          <a:p>
            <a:pPr lvl="3" algn="just" rtl="0">
              <a:spcAft>
                <a:spcPts val="100"/>
              </a:spcAft>
            </a:pPr>
            <a:r>
              <a:rPr lang="pt-BR" b="1"/>
              <a:t>O ambiente no qual o meio físico deve ser instalado</a:t>
            </a:r>
            <a:endParaRPr lang="pt-BR" b="1"/>
          </a:p>
          <a:p>
            <a:pPr lvl="3" algn="just" rtl="0">
              <a:spcAft>
                <a:spcPts val="100"/>
              </a:spcAft>
            </a:pPr>
            <a:r>
              <a:rPr lang="pt-BR" b="1"/>
              <a:t>A quantidade e a velocidade de dados nas quais eles devem ser transmitidos</a:t>
            </a:r>
            <a:endParaRPr lang="pt-BR" b="1"/>
          </a:p>
          <a:p>
            <a:pPr lvl="3" algn="just" rtl="0">
              <a:spcAft>
                <a:spcPts val="100"/>
              </a:spcAft>
            </a:pPr>
            <a:r>
              <a:rPr lang="pt-BR" b="1"/>
              <a:t>O custo do meio físico e da instalação</a:t>
            </a:r>
            <a:endParaRPr lang="en-US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1503" t="32123" r="11677" b="11228"/>
          <a:stretch>
            <a:fillRect/>
          </a:stretch>
        </p:blipFill>
        <p:spPr>
          <a:xfrm>
            <a:off x="4420235" y="1010285"/>
            <a:ext cx="4588510" cy="31229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987550"/>
            <a:ext cx="8280314" cy="88900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2.7 - Configurar Endereços IP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Configurar endereços IP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Configuração Manual de Endereço IP para Dispositivos Finais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7412" y="798653"/>
            <a:ext cx="5066723" cy="3511092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500"/>
              <a:t>Os </a:t>
            </a:r>
            <a:r>
              <a:rPr lang="pt-BR" sz="1500" b="1">
                <a:solidFill>
                  <a:srgbClr val="FF0000"/>
                </a:solidFill>
              </a:rPr>
              <a:t>dispositivos finais</a:t>
            </a:r>
            <a:r>
              <a:rPr lang="pt-BR" sz="1500"/>
              <a:t> na rede precisam de um endereço IP para se comunicar com outros dispositivos na rede. </a:t>
            </a:r>
            <a:endParaRPr lang="pt-BR" sz="15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500"/>
              <a:t>As informações do </a:t>
            </a:r>
            <a:r>
              <a:rPr lang="pt-BR" sz="1500" b="1">
                <a:solidFill>
                  <a:srgbClr val="FF0000"/>
                </a:solidFill>
              </a:rPr>
              <a:t>endereço IPv4</a:t>
            </a:r>
            <a:r>
              <a:rPr lang="pt-BR" sz="1500"/>
              <a:t> podem ser configuradas </a:t>
            </a:r>
            <a:r>
              <a:rPr lang="pt-BR" sz="1500" b="1"/>
              <a:t>manualmente </a:t>
            </a:r>
            <a:r>
              <a:rPr lang="pt-BR" sz="1500"/>
              <a:t>nos dispositivos finais ou </a:t>
            </a:r>
            <a:r>
              <a:rPr lang="pt-BR" sz="1500" b="1"/>
              <a:t>automaticamente </a:t>
            </a:r>
            <a:r>
              <a:rPr lang="pt-BR" sz="1500"/>
              <a:t>usando o </a:t>
            </a:r>
            <a:r>
              <a:rPr lang="pt-BR" sz="1500" b="1">
                <a:solidFill>
                  <a:srgbClr val="FF0000"/>
                </a:solidFill>
              </a:rPr>
              <a:t>DHCP</a:t>
            </a:r>
            <a:r>
              <a:rPr lang="pt-BR" sz="1500"/>
              <a:t> (Dynamic Host Configuration Protocol).</a:t>
            </a:r>
            <a:endParaRPr lang="pt-BR" sz="150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450"/>
              <a:t>Para configurar manualmente um endereço IPv4 em um host do Windows, abra o </a:t>
            </a:r>
            <a:r>
              <a:rPr lang="pt-BR" sz="1450" b="1"/>
              <a:t>Painel de controle &gt; Central de Rede e Compartilhamento &gt; Alterar as configurações</a:t>
            </a:r>
            <a:r>
              <a:rPr lang="pt-BR" sz="1450"/>
              <a:t> do adaptador e escolha o adaptador. Clique com o botão direito e selecione </a:t>
            </a:r>
            <a:r>
              <a:rPr lang="pt-BR" sz="1450" b="1"/>
              <a:t>Propriedades</a:t>
            </a:r>
            <a:r>
              <a:rPr lang="pt-BR" sz="1450"/>
              <a:t> para exibir as </a:t>
            </a:r>
            <a:r>
              <a:rPr lang="pt-BR" sz="1450" b="1"/>
              <a:t>Propriedades da Conexão Local</a:t>
            </a:r>
            <a:endParaRPr lang="pt-BR" sz="1450" b="1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450"/>
              <a:t>Depois, Clique em</a:t>
            </a:r>
            <a:r>
              <a:rPr lang="pt-BR" sz="1450" b="1"/>
              <a:t> Propriedades</a:t>
            </a:r>
            <a:r>
              <a:rPr lang="pt-BR" sz="1450"/>
              <a:t> para abrir a janela de</a:t>
            </a:r>
            <a:r>
              <a:rPr lang="pt-BR" sz="1450" b="1"/>
              <a:t> Propriedades do Protocolo IP Versão 4 (TCP/IPv4)</a:t>
            </a:r>
            <a:r>
              <a:rPr lang="pt-BR" sz="1450"/>
              <a:t>. Em seguida, configure o endereço IPv4 e as informações da máscara de sub-rede e o gateway padrão.</a:t>
            </a:r>
            <a:endParaRPr lang="en-US" sz="1450" dirty="0"/>
          </a:p>
        </p:txBody>
      </p:sp>
      <p:sp>
        <p:nvSpPr>
          <p:cNvPr id="5" name="Rectangle 4"/>
          <p:cNvSpPr/>
          <p:nvPr/>
        </p:nvSpPr>
        <p:spPr>
          <a:xfrm>
            <a:off x="5074920" y="4138295"/>
            <a:ext cx="391033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pt-BR" sz="1400" b="1">
                <a:solidFill>
                  <a:srgbClr val="000000"/>
                </a:solidFill>
                <a:latin typeface="CiscoSans"/>
              </a:rPr>
              <a:t>Observação</a:t>
            </a:r>
            <a:r>
              <a:rPr lang="pt-BR" sz="1400">
                <a:solidFill>
                  <a:srgbClr val="000000"/>
                </a:solidFill>
                <a:latin typeface="CiscoSans"/>
              </a:rPr>
              <a:t>: as opções de endereçamento e configuração IPv6 são semelhantes ao IPv4. </a:t>
            </a:r>
            <a:endParaRPr lang="pt-BR" sz="1400">
              <a:solidFill>
                <a:srgbClr val="000000"/>
              </a:solidFill>
              <a:latin typeface="CiscoSa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798830"/>
            <a:ext cx="3910965" cy="33451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Configurar endereços IP </a:t>
            </a:r>
            <a:br>
              <a:rPr lang="en-US" sz="1400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Configuração Automática de Endereço IP para Dispositivos Finais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8425" y="821690"/>
            <a:ext cx="4758690" cy="387985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600"/>
              <a:t>O </a:t>
            </a:r>
            <a:r>
              <a:rPr lang="pt-BR" sz="1600" b="1">
                <a:solidFill>
                  <a:srgbClr val="FF0000"/>
                </a:solidFill>
              </a:rPr>
              <a:t>DHCP habilita a configuração automática de endereço IPv4 </a:t>
            </a:r>
            <a:r>
              <a:rPr lang="pt-BR" sz="1600"/>
              <a:t>para todos os dispositivos finais com o DHCP ativo.</a:t>
            </a:r>
            <a:endParaRPr lang="pt-BR" sz="16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1600"/>
              <a:t>Os </a:t>
            </a:r>
            <a:r>
              <a:rPr lang="pt-BR" sz="1600" b="1"/>
              <a:t>dispositivos finais</a:t>
            </a:r>
            <a:r>
              <a:rPr lang="pt-BR" sz="1600"/>
              <a:t> são normalmente por padrão usando o DHCP para configuração automática de endereço IPv4.</a:t>
            </a:r>
            <a:endParaRPr lang="pt-BR" sz="160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Para configurar manualmente um endereço IPv4 em um host do Windows, abra o </a:t>
            </a:r>
            <a:r>
              <a:rPr lang="pt-BR" b="1"/>
              <a:t>Painel de controle &gt; Central de Rede e Compartilhamento &gt; Alterar as configurações</a:t>
            </a:r>
            <a:r>
              <a:rPr lang="pt-BR"/>
              <a:t> do adaptador e escolha o adaptador. Clique com o botão direito e selecione </a:t>
            </a:r>
            <a:r>
              <a:rPr lang="pt-BR" b="1"/>
              <a:t>Propriedades</a:t>
            </a:r>
            <a:r>
              <a:rPr lang="pt-BR"/>
              <a:t> para exibir as </a:t>
            </a:r>
            <a:r>
              <a:rPr lang="pt-BR" b="1"/>
              <a:t>Propriedades da Conexão Local</a:t>
            </a:r>
            <a:endParaRPr lang="pt-BR" b="1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Em seguida, clique em </a:t>
            </a:r>
            <a:r>
              <a:rPr lang="pt-BR" b="1"/>
              <a:t>Preferência</a:t>
            </a:r>
            <a:r>
              <a:rPr lang="pt-BR"/>
              <a:t>s para abrir a janela </a:t>
            </a:r>
            <a:r>
              <a:rPr lang="pt-BR" b="1"/>
              <a:t>Propriedades da Internet Protocol Versão 4 (TCP / IPv4)</a:t>
            </a:r>
            <a:r>
              <a:rPr lang="pt-BR"/>
              <a:t> e selecione </a:t>
            </a:r>
            <a:r>
              <a:rPr lang="pt-BR" b="1"/>
              <a:t>Obter um endereço IP automaticamente</a:t>
            </a:r>
            <a:r>
              <a:rPr lang="pt-BR"/>
              <a:t> e </a:t>
            </a:r>
            <a:r>
              <a:rPr lang="pt-BR" b="1"/>
              <a:t>Obter automaticamente o endereço do servidor DNS.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766945" y="3948430"/>
            <a:ext cx="4230370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pt-BR" sz="1400" b="1">
                <a:solidFill>
                  <a:srgbClr val="000000"/>
                </a:solidFill>
                <a:latin typeface="CiscoSans"/>
              </a:rPr>
              <a:t>Observação</a:t>
            </a:r>
            <a:r>
              <a:rPr lang="pt-BR" sz="1400">
                <a:solidFill>
                  <a:srgbClr val="000000"/>
                </a:solidFill>
                <a:latin typeface="CiscoSans"/>
              </a:rPr>
              <a:t>: o IPv6 usa </a:t>
            </a:r>
            <a:r>
              <a:rPr lang="pt-BR" sz="1400" b="1">
                <a:solidFill>
                  <a:srgbClr val="000000"/>
                </a:solidFill>
                <a:latin typeface="CiscoSans"/>
              </a:rPr>
              <a:t>DHCPv6 e SLAAC</a:t>
            </a:r>
            <a:r>
              <a:rPr lang="pt-BR" sz="1400">
                <a:solidFill>
                  <a:srgbClr val="000000"/>
                </a:solidFill>
                <a:latin typeface="CiscoSans"/>
              </a:rPr>
              <a:t> (Stateless Address Autoconfiguration) para alocação de endereços dinâmicos. </a:t>
            </a:r>
            <a:endParaRPr lang="pt-BR" sz="1400">
              <a:solidFill>
                <a:srgbClr val="000000"/>
              </a:solidFill>
              <a:latin typeface="CiscoSan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6945" y="864870"/>
            <a:ext cx="4229735" cy="30975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Configurar endereços IP </a:t>
            </a:r>
            <a:br>
              <a:rPr lang="en-US" sz="1400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Verificação do Endereço IP para Dispositivos Finais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8425" y="955040"/>
            <a:ext cx="4758690" cy="3569335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2300"/>
              <a:t>É possível exibir as </a:t>
            </a:r>
            <a:r>
              <a:rPr lang="pt-BR" sz="2300" b="1">
                <a:solidFill>
                  <a:srgbClr val="FF0000"/>
                </a:solidFill>
              </a:rPr>
              <a:t>definições de configuração de IP</a:t>
            </a:r>
            <a:r>
              <a:rPr lang="pt-BR" sz="2300"/>
              <a:t> em um PC com Windows usando o comando: </a:t>
            </a:r>
            <a:r>
              <a:rPr lang="pt-BR" sz="2300" b="1"/>
              <a:t>ipconfig </a:t>
            </a:r>
            <a:r>
              <a:rPr lang="pt-BR" sz="2300"/>
              <a:t>no prompt de comando. </a:t>
            </a:r>
            <a:endParaRPr lang="pt-BR" sz="23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2300"/>
              <a:t>A saída mostrará as </a:t>
            </a:r>
            <a:r>
              <a:rPr lang="pt-BR" sz="2300" b="1">
                <a:solidFill>
                  <a:srgbClr val="FF0000"/>
                </a:solidFill>
              </a:rPr>
              <a:t>informações de endereço IPv4</a:t>
            </a:r>
            <a:r>
              <a:rPr lang="pt-BR" sz="2300"/>
              <a:t>, máscara de sub-rede e gateway recebidas do servidor DHCP.</a:t>
            </a:r>
            <a:endParaRPr lang="pt-BR" sz="230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None/>
            </a:pPr>
            <a:r>
              <a:rPr lang="pt-BR" sz="2300"/>
              <a:t>Insira o comando para exibir a configuração IP em um PC com Windows.</a:t>
            </a:r>
            <a:endParaRPr lang="pt-BR" sz="230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1"/>
          <a:srcRect l="39722" t="50741" r="30417" b="27037"/>
          <a:stretch>
            <a:fillRect/>
          </a:stretch>
        </p:blipFill>
        <p:spPr>
          <a:xfrm>
            <a:off x="4763135" y="1849755"/>
            <a:ext cx="4252595" cy="17805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>
                <a:latin typeface="Arial" panose="020B0604020202020204" pitchFamily="34" charset="0"/>
              </a:rPr>
              <a:t>Configurar endereços IP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Interface Virtual de Switch (SVI)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3985" y="908050"/>
            <a:ext cx="4035425" cy="3797300"/>
          </a:xfrm>
        </p:spPr>
        <p:txBody>
          <a:bodyPr/>
          <a:lstStyle/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Para acessar o switch remotamente, um </a:t>
            </a:r>
            <a:r>
              <a:rPr lang="pt-BR" sz="1750" b="1">
                <a:solidFill>
                  <a:srgbClr val="FF0000"/>
                </a:solidFill>
              </a:rPr>
              <a:t>endereço IP e uma máscara de sub-rede</a:t>
            </a:r>
            <a:r>
              <a:rPr lang="pt-BR" sz="1750"/>
              <a:t> devem ser configurados na SVI. </a:t>
            </a:r>
            <a:endParaRPr lang="pt-BR" sz="1750"/>
          </a:p>
          <a:p>
            <a:pPr marL="0" indent="0" algn="just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 sz="1750"/>
              <a:t>Para </a:t>
            </a:r>
            <a:r>
              <a:rPr lang="pt-BR" sz="1750" b="1"/>
              <a:t>configurar um SVI</a:t>
            </a:r>
            <a:r>
              <a:rPr lang="pt-BR" sz="1750"/>
              <a:t> em um switch:</a:t>
            </a:r>
            <a:endParaRPr lang="pt-BR" sz="175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750"/>
              <a:t>Digite o comando: </a:t>
            </a:r>
            <a:r>
              <a:rPr lang="pt-BR" sz="1750" b="1"/>
              <a:t>interface vlan </a:t>
            </a:r>
            <a:r>
              <a:rPr lang="pt-BR" sz="1750" i="1"/>
              <a:t>1</a:t>
            </a:r>
            <a:r>
              <a:rPr lang="pt-BR" sz="1750"/>
              <a:t> no modo de configuração global.</a:t>
            </a:r>
            <a:endParaRPr lang="pt-BR" sz="1750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750"/>
              <a:t>Em seguida, atribua um endereço IPv4 usando o comando: </a:t>
            </a:r>
            <a:r>
              <a:rPr lang="pt-BR" sz="1750" b="1"/>
              <a:t>ip address </a:t>
            </a:r>
            <a:r>
              <a:rPr lang="pt-BR" sz="1750"/>
              <a:t> </a:t>
            </a:r>
            <a:r>
              <a:rPr lang="pt-BR" sz="1750" i="1"/>
              <a:t>ip-address subnet-mask.</a:t>
            </a:r>
            <a:endParaRPr lang="pt-BR" sz="1750" i="1"/>
          </a:p>
          <a:p>
            <a:pPr lvl="1" algn="just" rtl="0">
              <a:lnSpc>
                <a:spcPct val="85000"/>
              </a:lnSpc>
              <a:spcBef>
                <a:spcPct val="30000"/>
              </a:spcBef>
            </a:pPr>
            <a:r>
              <a:rPr lang="pt-BR" sz="1750"/>
              <a:t>Por fim, ative a interface virtual com o comando de configuração de interface: </a:t>
            </a:r>
            <a:r>
              <a:rPr lang="pt-BR" sz="1750" b="1"/>
              <a:t>no shutdown</a:t>
            </a:r>
            <a:r>
              <a:rPr lang="pt-BR" sz="1750"/>
              <a:t>. </a:t>
            </a:r>
            <a:endParaRPr lang="en-US" sz="175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165" y="975360"/>
            <a:ext cx="4942205" cy="7918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934210"/>
            <a:ext cx="8231464" cy="8788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2.8 - Verificar a Conectividade.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9055"/>
            <a:ext cx="9144000" cy="652780"/>
          </a:xfrm>
        </p:spPr>
        <p:txBody>
          <a:bodyPr/>
          <a:lstStyle/>
          <a:p>
            <a:pPr rtl="0"/>
            <a:r>
              <a:rPr lang="pt-BR" sz="1600"/>
              <a:t>Verificação de conectividade </a:t>
            </a:r>
            <a:br>
              <a:rPr lang="en-US" altLang="en-US" dirty="0"/>
            </a:br>
            <a:r>
              <a:rPr lang="pt-BR"/>
              <a:t>Testar a Conectividade de Ponta a Ponta</a:t>
            </a:r>
            <a:endParaRPr lang="pt-BR"/>
          </a:p>
        </p:txBody>
      </p:sp>
      <p:sp>
        <p:nvSpPr>
          <p:cNvPr id="2" name="Espaço Reservado para Conteúdo 1"/>
          <p:cNvSpPr/>
          <p:nvPr>
            <p:ph idx="1"/>
          </p:nvPr>
        </p:nvSpPr>
        <p:spPr>
          <a:xfrm>
            <a:off x="144145" y="798830"/>
            <a:ext cx="4196080" cy="3865245"/>
          </a:xfrm>
        </p:spPr>
        <p:txBody>
          <a:bodyPr/>
          <a:p>
            <a:pPr marL="0" indent="0" algn="just">
              <a:buNone/>
            </a:pPr>
            <a:r>
              <a:rPr lang="pt-BR" altLang="en-US" sz="1900"/>
              <a:t>O comando: </a:t>
            </a:r>
            <a:r>
              <a:rPr lang="pt-BR" altLang="en-US" sz="1900" b="1"/>
              <a:t>ping </a:t>
            </a:r>
            <a:r>
              <a:rPr lang="pt-BR" altLang="en-US" sz="1900"/>
              <a:t>pode ser usado para testar a conectividade com outro dispositivo na rede ou em um site na Internet.</a:t>
            </a:r>
            <a:endParaRPr lang="pt-BR" altLang="en-US" sz="1900"/>
          </a:p>
          <a:p>
            <a:pPr marL="0" indent="0" algn="just">
              <a:buNone/>
            </a:pPr>
            <a:r>
              <a:rPr lang="pt-BR" altLang="en-US" sz="1900"/>
              <a:t>O comando: </a:t>
            </a:r>
            <a:r>
              <a:rPr lang="pt-BR" altLang="en-US" sz="1900" b="1"/>
              <a:t>ipconfig </a:t>
            </a:r>
            <a:r>
              <a:rPr lang="pt-BR" altLang="en-US" sz="1900"/>
              <a:t>pode ser usado para verificar as configurações de endereçamento do dispositivo final</a:t>
            </a:r>
            <a:endParaRPr lang="pt-BR" altLang="en-US" sz="1900"/>
          </a:p>
          <a:p>
            <a:pPr marL="0" indent="0" algn="just">
              <a:buNone/>
            </a:pPr>
            <a:r>
              <a:rPr lang="pt-BR" altLang="en-US" sz="1900"/>
              <a:t>O comando: </a:t>
            </a:r>
            <a:r>
              <a:rPr lang="pt-BR" altLang="en-US" sz="1900" b="1"/>
              <a:t>show ip interface brief </a:t>
            </a:r>
            <a:r>
              <a:rPr lang="pt-BR" altLang="en-US" sz="1900"/>
              <a:t>pode ser usado para verificar as configurações de endereçamento do Switch</a:t>
            </a:r>
            <a:endParaRPr lang="pt-BR" altLang="en-US" sz="190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rcRect l="3932" t="19747" r="37597" b="58190"/>
          <a:stretch>
            <a:fillRect/>
          </a:stretch>
        </p:blipFill>
        <p:spPr>
          <a:xfrm>
            <a:off x="4229100" y="798830"/>
            <a:ext cx="4699635" cy="179578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rcRect l="3732" t="19550" r="41652" b="53990"/>
          <a:stretch>
            <a:fillRect/>
          </a:stretch>
        </p:blipFill>
        <p:spPr>
          <a:xfrm>
            <a:off x="4229100" y="2681605"/>
            <a:ext cx="4699000" cy="19837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SLIDE_THUMBNAIL_REFRESH" val="1"/>
</p:tagLst>
</file>

<file path=ppt/tags/tag14.xml><?xml version="1.0" encoding="utf-8"?>
<p:tagLst xmlns:p="http://schemas.openxmlformats.org/presentationml/2006/main">
  <p:tag name="ARTICULATE_SLIDE_THUMBNAIL_REFRESH" val="1"/>
</p:tagLst>
</file>

<file path=ppt/tags/tag15.xml><?xml version="1.0" encoding="utf-8"?>
<p:tagLst xmlns:p="http://schemas.openxmlformats.org/presentationml/2006/main">
  <p:tag name="ARTICULATE_SLIDE_THUMBNAIL_REFRESH" val="1"/>
</p:tagLst>
</file>

<file path=ppt/tags/tag16.xml><?xml version="1.0" encoding="utf-8"?>
<p:tagLst xmlns:p="http://schemas.openxmlformats.org/presentationml/2006/main">
  <p:tag name="ARTICULATE_SLIDE_THUMBNAIL_REFRESH" val="1"/>
</p:tagLst>
</file>

<file path=ppt/tags/tag17.xml><?xml version="1.0" encoding="utf-8"?>
<p:tagLst xmlns:p="http://schemas.openxmlformats.org/presentationml/2006/main">
  <p:tag name="ARTICULATE_SLIDE_THUMBNAIL_REFRESH" val="1"/>
</p:tagLst>
</file>

<file path=ppt/tags/tag18.xml><?xml version="1.0" encoding="utf-8"?>
<p:tagLst xmlns:p="http://schemas.openxmlformats.org/presentationml/2006/main">
  <p:tag name="ARTICULATE_SLIDE_THUMBNAIL_REFRESH" val="1"/>
</p:tagLst>
</file>

<file path=ppt/tags/tag19.xml><?xml version="1.0" encoding="utf-8"?>
<p:tagLst xmlns:p="http://schemas.openxmlformats.org/presentationml/2006/main">
  <p:tag name="ARTICULATE_SLIDE_THUMBNAIL_REFRESH" val="1"/>
</p:tagLst>
</file>

<file path=ppt/tags/tag20.xml><?xml version="1.0" encoding="utf-8"?>
<p:tagLst xmlns:p="http://schemas.openxmlformats.org/presentationml/2006/main">
  <p:tag name="ARTICULATE_SLIDE_THUMBNAIL_REFRESH" val="1"/>
</p:tagLst>
</file>

<file path=ppt/tags/tag21.xml><?xml version="1.0" encoding="utf-8"?>
<p:tagLst xmlns:p="http://schemas.openxmlformats.org/presentationml/2006/main">
  <p:tag name="ARTICULATE_SLIDE_THUMBNAIL_REFRESH" val="1"/>
</p:tagLst>
</file>

<file path=ppt/tags/tag22.xml><?xml version="1.0" encoding="utf-8"?>
<p:tagLst xmlns:p="http://schemas.openxmlformats.org/presentationml/2006/main">
  <p:tag name="ARTICULATE_SLIDE_THUMBNAIL_REFRESH" val="1"/>
</p:tagLst>
</file>

<file path=ppt/tags/tag23.xml><?xml version="1.0" encoding="utf-8"?>
<p:tagLst xmlns:p="http://schemas.openxmlformats.org/presentationml/2006/main">
  <p:tag name="ARTICULATE_SLIDE_THUMBNAIL_REFRESH" val="1"/>
</p:tagLst>
</file>

<file path=ppt/tags/tag24.xml><?xml version="1.0" encoding="utf-8"?>
<p:tagLst xmlns:p="http://schemas.openxmlformats.org/presentationml/2006/main">
  <p:tag name="ARTICULATE_SLIDE_THUMBNAIL_REFRESH" val="1"/>
</p:tagLst>
</file>

<file path=ppt/tags/tag25.xml><?xml version="1.0" encoding="utf-8"?>
<p:tagLst xmlns:p="http://schemas.openxmlformats.org/presentationml/2006/main">
  <p:tag name="ARTICULATE_SLIDE_THUMBNAIL_REFRESH" val="1"/>
</p:tagLst>
</file>

<file path=ppt/tags/tag26.xml><?xml version="1.0" encoding="utf-8"?>
<p:tagLst xmlns:p="http://schemas.openxmlformats.org/presentationml/2006/main">
  <p:tag name="ARTICULATE_SLIDE_THUMBNAIL_REFRESH" val="1"/>
</p:tagLst>
</file>

<file path=ppt/tags/tag27.xml><?xml version="1.0" encoding="utf-8"?>
<p:tagLst xmlns:p="http://schemas.openxmlformats.org/presentationml/2006/main">
  <p:tag name="ARTICULATE_SLIDE_THUMBNAIL_REFRESH" val="1"/>
</p:tagLst>
</file>

<file path=ppt/tags/tag28.xml><?xml version="1.0" encoding="utf-8"?>
<p:tagLst xmlns:p="http://schemas.openxmlformats.org/presentationml/2006/main">
  <p:tag name="ARTICULATE_SLIDE_THUMBNAIL_REFRESH" val="1"/>
</p:tagLst>
</file>

<file path=ppt/tags/tag29.xml><?xml version="1.0" encoding="utf-8"?>
<p:tagLst xmlns:p="http://schemas.openxmlformats.org/presentationml/2006/main">
  <p:tag name="ARTICULATE_SLIDE_THUMBNAIL_REFRESH" val="1"/>
</p:tagLst>
</file>

<file path=ppt/tags/tag30.xml><?xml version="1.0" encoding="utf-8"?>
<p:tagLst xmlns:p="http://schemas.openxmlformats.org/presentationml/2006/main">
  <p:tag name="ARTICULATE_SLIDE_THUMBNAIL_REFRESH" val="1"/>
</p:tagLst>
</file>

<file path=ppt/tags/tag31.xml><?xml version="1.0" encoding="utf-8"?>
<p:tagLst xmlns:p="http://schemas.openxmlformats.org/presentationml/2006/main">
  <p:tag name="ARTICULATE_SLIDE_THUMBNAIL_REFRESH" val="1"/>
</p:tagLst>
</file>

<file path=ppt/tags/tag32.xml><?xml version="1.0" encoding="utf-8"?>
<p:tagLst xmlns:p="http://schemas.openxmlformats.org/presentationml/2006/main">
  <p:tag name="ARTICULATE_SLIDE_THUMBNAIL_REFRESH" val="1"/>
</p:tagLst>
</file>

<file path=ppt/tags/tag33.xml><?xml version="1.0" encoding="utf-8"?>
<p:tagLst xmlns:p="http://schemas.openxmlformats.org/presentationml/2006/main">
  <p:tag name="ARTICULATE_SLIDE_THUMBNAIL_REFRESH" val="1"/>
</p:tagLst>
</file>

<file path=ppt/tags/tag34.xml><?xml version="1.0" encoding="utf-8"?>
<p:tagLst xmlns:p="http://schemas.openxmlformats.org/presentationml/2006/main">
  <p:tag name="ARTICULATE_SLIDE_THUMBNAIL_REFRESH" val="1"/>
</p:tagLst>
</file>

<file path=ppt/tags/tag35.xml><?xml version="1.0" encoding="utf-8"?>
<p:tagLst xmlns:p="http://schemas.openxmlformats.org/presentationml/2006/main">
  <p:tag name="ARTICULATE_SLIDE_THUMBNAIL_REFRESH" val="1"/>
</p:tagLst>
</file>

<file path=ppt/tags/tag36.xml><?xml version="1.0" encoding="utf-8"?>
<p:tagLst xmlns:p="http://schemas.openxmlformats.org/presentationml/2006/main">
  <p:tag name="ARTICULATE_SLIDE_THUMBNAIL_REFRESH" val="1"/>
</p:tagLst>
</file>

<file path=ppt/tags/tag37.xml><?xml version="1.0" encoding="utf-8"?>
<p:tagLst xmlns:p="http://schemas.openxmlformats.org/presentationml/2006/main">
  <p:tag name="ARTICULATE_SLIDE_THUMBNAIL_REFRESH" val="1"/>
</p:tagLst>
</file>

<file path=ppt/tags/tag38.xml><?xml version="1.0" encoding="utf-8"?>
<p:tagLst xmlns:p="http://schemas.openxmlformats.org/presentationml/2006/main">
  <p:tag name="ARTICULATE_SLIDE_THUMBNAIL_REFRESH" val="1"/>
</p:tagLst>
</file>

<file path=ppt/tags/tag39.xml><?xml version="1.0" encoding="utf-8"?>
<p:tagLst xmlns:p="http://schemas.openxmlformats.org/presentationml/2006/main">
  <p:tag name="ARTICULATE_SLIDE_THUMBNAIL_REFRESH" val="1"/>
</p:tagLst>
</file>

<file path=ppt/tags/tag40.xml><?xml version="1.0" encoding="utf-8"?>
<p:tagLst xmlns:p="http://schemas.openxmlformats.org/presentationml/2006/main">
  <p:tag name="ARTICULATE_SLIDE_THUMBNAIL_REFRESH" val="1"/>
</p:tagLst>
</file>

<file path=ppt/tags/tag41.xml><?xml version="1.0" encoding="utf-8"?>
<p:tagLst xmlns:p="http://schemas.openxmlformats.org/presentationml/2006/main">
  <p:tag name="ARTICULATE_SLIDE_THUMBNAIL_REFRESH" val="1"/>
</p:tagLst>
</file>

<file path=ppt/tags/tag42.xml><?xml version="1.0" encoding="utf-8"?>
<p:tagLst xmlns:p="http://schemas.openxmlformats.org/presentationml/2006/main">
  <p:tag name="ARTICULATE_SLIDE_THUMBNAIL_REFRESH" val="1"/>
</p:tagLst>
</file>

<file path=ppt/tags/tag43.xml><?xml version="1.0" encoding="utf-8"?>
<p:tagLst xmlns:p="http://schemas.openxmlformats.org/presentationml/2006/main">
  <p:tag name="ARTICULATE_SLIDE_THUMBNAIL_REFRESH" val="1"/>
</p:tagLst>
</file>

<file path=ppt/tags/tag44.xml><?xml version="1.0" encoding="utf-8"?>
<p:tagLst xmlns:p="http://schemas.openxmlformats.org/presentationml/2006/main">
  <p:tag name="ARTICULATE_SLIDE_THUMBNAIL_REFRESH" val="1"/>
</p:tagLst>
</file>

<file path=ppt/tags/tag45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19720</Words>
  <Application>WPS Presentation</Application>
  <PresentationFormat>On-screen Show (16:9)</PresentationFormat>
  <Paragraphs>375</Paragraphs>
  <Slides>44</Slides>
  <Notes>71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3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Default Theme</vt:lpstr>
      <vt:lpstr>Módulo 2: Configuração Básica do Switch e dos Dispositivos Finais</vt:lpstr>
      <vt:lpstr>2.1 – Acesso ao Cisco IOS</vt:lpstr>
      <vt:lpstr>Acesso ao Cisco IOS Cisco IOS Sistema Operacional de Redes</vt:lpstr>
      <vt:lpstr>Acesso à Cisco IOS  GUI (Graphical User Interface)</vt:lpstr>
      <vt:lpstr>Acesso à Cisco IOS  Cisco IOS Finalidade do OS (Operation System)</vt:lpstr>
      <vt:lpstr>Acesso à Cisco IOS  Métodos de Acesso ao IOS</vt:lpstr>
      <vt:lpstr>Acesso ao Cisco IOS  Programa de Emulação de Terminal</vt:lpstr>
      <vt:lpstr>2.2 - Navegação no IOS</vt:lpstr>
      <vt:lpstr>Navegação no IOS  Modos de comando primários</vt:lpstr>
      <vt:lpstr>Navegação no IOS  Modo de Configuração Global e Subconfiguração</vt:lpstr>
      <vt:lpstr>Navegação no IOS  Navegar entre os Modos do IOS</vt:lpstr>
      <vt:lpstr>Navegar no IOS  Navegar entre os modos do IOS</vt:lpstr>
      <vt:lpstr>2.3 – A Estrutura de Comandos do IOS</vt:lpstr>
      <vt:lpstr>A estrutura de comandos Estrutura básica de comandos do IOS</vt:lpstr>
      <vt:lpstr>A estrutura de comandos  Sintaxe do comando do IOS</vt:lpstr>
      <vt:lpstr>A estrutura de comandos  Sintaxe do comando do IOS</vt:lpstr>
      <vt:lpstr>A estrutura de comandos  Recursos da ajuda do IOS</vt:lpstr>
      <vt:lpstr>A estrutura de comandos  Teclas de acesso e atalhos</vt:lpstr>
      <vt:lpstr>A estrutura de comandos  Teclas de acesso e atalhos (Continuação)</vt:lpstr>
      <vt:lpstr>A estrutura de comandos  Teclas de acesso e atalhos (Continuação)</vt:lpstr>
      <vt:lpstr>2.4 - Configuração Básica dos Dispositivos de Rede</vt:lpstr>
      <vt:lpstr>Configuração Básica do Dispositivo Nomes dos dispositivos</vt:lpstr>
      <vt:lpstr>Configuração Básica do Dispositivo Diretrizes de Senha Segura</vt:lpstr>
      <vt:lpstr>Configuração Básica do Dispositivo Configuração de Senhas de Acesso ao Console</vt:lpstr>
      <vt:lpstr>Configuração Básica do Dispositivo Configuração de Senhas de Acesso Remoto via VTY</vt:lpstr>
      <vt:lpstr>Configuração básica do dispositivo Habilitar o Serviço de Criptografia de Senhas</vt:lpstr>
      <vt:lpstr>Configuração básica de dispositivos  Mensagens de Banner</vt:lpstr>
      <vt:lpstr>2.5 - Salvar as Configurações</vt:lpstr>
      <vt:lpstr>Salvar as configurações  Arquivos de Configuração</vt:lpstr>
      <vt:lpstr>Salvar as configurações  Alterar a Configuração de Execução</vt:lpstr>
      <vt:lpstr>Salvar as configurações  Salvar as Configurações em um Arquivo Texto</vt:lpstr>
      <vt:lpstr>Salvar as configurações  Salvar as Configurações em um Arquivo Texto (Continuação)</vt:lpstr>
      <vt:lpstr>2.6 - Portas e Endereços IP</vt:lpstr>
      <vt:lpstr>Portas e Endereços  Endereços IPv4</vt:lpstr>
      <vt:lpstr>Portas e endereços  Endereços IPv4 (Continuação)</vt:lpstr>
      <vt:lpstr>Portas e endereços  Interfaces e Portas (Switch, Router, Endpoint, etc)</vt:lpstr>
      <vt:lpstr>2.7 - Configurar Endereços IP</vt:lpstr>
      <vt:lpstr>Configurar endereços IP  Configuração Manual de Endereço IP para Dispositivos Finais</vt:lpstr>
      <vt:lpstr>Configurar endereços IP  Configuração Automática de Endereço IP para Dispositivos Finais</vt:lpstr>
      <vt:lpstr>Configurar endereços IP  Verificação do Endereço IP para Dispositivos Finais</vt:lpstr>
      <vt:lpstr>Configurar endereços IP Interface Virtual de Switch (SVI)</vt:lpstr>
      <vt:lpstr>2.8 - Verificar a Conectividade.</vt:lpstr>
      <vt:lpstr>Verificação de conectividade  Testar a Conectividade de Ponta a Ponta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239</cp:revision>
  <dcterms:created xsi:type="dcterms:W3CDTF">2026-04-05T03:53:09Z</dcterms:created>
  <dcterms:modified xsi:type="dcterms:W3CDTF">2026-04-05T03:53:09Z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