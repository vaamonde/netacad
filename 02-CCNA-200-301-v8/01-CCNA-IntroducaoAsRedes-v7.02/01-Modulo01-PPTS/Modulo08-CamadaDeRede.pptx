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876" r:id="rId5"/>
    <p:sldId id="759" r:id="rId6"/>
    <p:sldId id="628" r:id="rId7"/>
    <p:sldId id="926" r:id="rId8"/>
    <p:sldId id="1059" r:id="rId9"/>
    <p:sldId id="1060" r:id="rId10"/>
    <p:sldId id="1061" r:id="rId11"/>
    <p:sldId id="1062" r:id="rId12"/>
    <p:sldId id="1123" r:id="rId13"/>
    <p:sldId id="927" r:id="rId14"/>
    <p:sldId id="788" r:id="rId15"/>
    <p:sldId id="1070" r:id="rId16"/>
    <p:sldId id="1124" r:id="rId17"/>
    <p:sldId id="1071" r:id="rId18"/>
    <p:sldId id="886" r:id="rId19"/>
    <p:sldId id="936" r:id="rId20"/>
    <p:sldId id="1072" r:id="rId21"/>
    <p:sldId id="1074" r:id="rId22"/>
    <p:sldId id="1075" r:id="rId23"/>
    <p:sldId id="1125" r:id="rId24"/>
    <p:sldId id="1076" r:id="rId25"/>
    <p:sldId id="942" r:id="rId26"/>
    <p:sldId id="957" r:id="rId27"/>
    <p:sldId id="1126" r:id="rId28"/>
    <p:sldId id="1078" r:id="rId29"/>
    <p:sldId id="1079" r:id="rId30"/>
    <p:sldId id="1081" r:id="rId31"/>
    <p:sldId id="952" r:id="rId32"/>
    <p:sldId id="966" r:id="rId33"/>
    <p:sldId id="1082" r:id="rId34"/>
    <p:sldId id="1083" r:id="rId35"/>
    <p:sldId id="1127" r:id="rId36"/>
    <p:sldId id="1086" r:id="rId37"/>
    <p:sldId id="1087" r:id="rId38"/>
    <p:sldId id="980" r:id="rId39"/>
    <p:sldId id="1107" r:id="rId40"/>
    <p:sldId id="1129" r:id="rId41"/>
    <p:sldId id="1130" r:id="rId42"/>
    <p:sldId id="1121" r:id="rId43"/>
  </p:sldIdLst>
  <p:sldSz cx="9144000" cy="5143500" type="screen16x9"/>
  <p:notesSz cx="6858000" cy="9144000"/>
  <p:custDataLst>
    <p:tags r:id="rId4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75" d="100"/>
          <a:sy n="75" d="100"/>
        </p:scale>
        <p:origin x="1316" y="4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4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8: Protocolos e Módulos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8: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8.1.1 — </a:t>
            </a:r>
            <a:r>
              <a:rPr lang="pt-BR"/>
              <a:t>A camada de rede</a:t>
            </a:r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8.1.2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— </a:t>
            </a:r>
            <a:r>
              <a:rPr lang="pt-BR"/>
              <a:t>Encapsulamento IP </a:t>
            </a:r>
            <a:endParaRPr lang="pt-BR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8.1.3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 –</a:t>
            </a:r>
            <a:r>
              <a:rPr lang="pt-BR"/>
              <a:t> Características do IP</a:t>
            </a:r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8.1.4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-</a:t>
            </a:r>
            <a:r>
              <a:rPr lang="pt-BR"/>
              <a:t>Sem Conexão</a:t>
            </a:r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8.1.5 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-</a:t>
            </a:r>
            <a:r>
              <a:rPr lang="pt-BR"/>
              <a:t>Melhor esforço</a:t>
            </a:r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8.1.6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–</a:t>
            </a:r>
            <a:r>
              <a:rPr lang="pt-BR" sz="1200" b="0" baseline="0"/>
              <a:t> </a:t>
            </a:r>
            <a:r>
              <a:rPr lang="pt-BR"/>
              <a:t>Independente de mídia</a:t>
            </a:r>
            <a:endParaRPr lang="pt-BR"/>
          </a:p>
          <a:p>
            <a:pPr rtl="0">
              <a:buFontTx/>
              <a:buNone/>
            </a:pPr>
            <a:r>
              <a:rPr lang="pt-BR"/>
              <a:t>8.1.7</a:t>
            </a:r>
            <a:r>
              <a:rPr lang="pt-BR" baseline="0"/>
              <a:t> </a:t>
            </a:r>
            <a:r>
              <a:rPr lang="pt-BR" sz="1200">
                <a:effectLst/>
              </a:rPr>
              <a:t>Verifique o seu entendimento —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 Características </a:t>
            </a:r>
            <a:r>
              <a:rPr lang="pt-BR"/>
              <a:t>de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8.1.6</a:t>
            </a:r>
            <a:r>
              <a:rPr lang="pt-BR" baseline="0">
                <a:latin typeface="Arial" panose="020B0604020202020204" pitchFamily="34" charset="0"/>
              </a:rPr>
              <a:t> </a:t>
            </a:r>
            <a:r>
              <a:rPr lang="pt-BR" sz="1200" b="0"/>
              <a:t>–</a:t>
            </a:r>
            <a:r>
              <a:rPr lang="pt-BR" sz="1200" b="0" baseline="0"/>
              <a:t> </a:t>
            </a:r>
            <a:r>
              <a:rPr lang="pt-BR"/>
              <a:t>Independente de mídia</a:t>
            </a:r>
            <a:endParaRPr lang="pt-BR"/>
          </a:p>
          <a:p>
            <a:pPr rtl="0">
              <a:buFontTx/>
              <a:buNone/>
            </a:pPr>
            <a:r>
              <a:rPr lang="pt-BR"/>
              <a:t>8.1.7</a:t>
            </a:r>
            <a:r>
              <a:rPr lang="pt-BR" baseline="0"/>
              <a:t> </a:t>
            </a:r>
            <a:r>
              <a:rPr lang="pt-BR" sz="1200">
                <a:effectLst/>
              </a:rPr>
              <a:t>Verifique o seu entendimento —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 Características </a:t>
            </a:r>
            <a:r>
              <a:rPr lang="pt-BR"/>
              <a:t>de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8.2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8.2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8.2.1 -</a:t>
            </a:r>
            <a:r>
              <a:rPr lang="pt-BR"/>
              <a:t>Cabeçalho do Pacote IPv4</a:t>
            </a:r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8.2.2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- </a:t>
            </a:r>
            <a:r>
              <a:rPr lang="pt-BR"/>
              <a:t>Campos do cabeçalho de pacote IPv4</a:t>
            </a:r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8.2.2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-</a:t>
            </a:r>
            <a:r>
              <a:rPr lang="pt-BR"/>
              <a:t>Campos do cabeçalho de pacote IPv4</a:t>
            </a:r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8.2.3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-</a:t>
            </a:r>
            <a:r>
              <a:rPr lang="pt-BR"/>
              <a:t>Vídeo - Exemplo de cabeçalhos IPv4 no Wireshark</a:t>
            </a:r>
            <a:endParaRPr lang="pt-BR"/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8.2.4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>
                <a:effectLst/>
              </a:rPr>
              <a:t>— Verifique o seu entendimento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8.3.1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— </a:t>
            </a:r>
            <a:r>
              <a:rPr lang="pt-BR"/>
              <a:t>Limitações do IPv4 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8.3.2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— </a:t>
            </a:r>
            <a:r>
              <a:rPr lang="pt-BR"/>
              <a:t> Visão geral do IPv6 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8.3.3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— </a:t>
            </a:r>
            <a:r>
              <a:rPr lang="pt-BR"/>
              <a:t> Campos de cabeçalho de pacote IPv4 no cabeçalho do pacote IPv6 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8.3.4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- </a:t>
            </a:r>
            <a:r>
              <a:rPr lang="pt-BR"/>
              <a:t>Cabeçalho do Pacote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8.3.4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- </a:t>
            </a:r>
            <a:r>
              <a:rPr lang="pt-BR"/>
              <a:t>Cabeçalho do Pacote IPv6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8.3.5 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- </a:t>
            </a:r>
            <a:r>
              <a:rPr lang="pt-BR"/>
              <a:t>Vídeo - Exemplo de cabeçalhos IPv6 no Wireshark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8.3.6 </a:t>
            </a:r>
            <a:r>
              <a:rPr lang="pt-BR" sz="1200">
                <a:effectLst/>
              </a:rPr>
              <a:t>— Verifique seu entendimento —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8.4.1</a:t>
            </a:r>
            <a:r>
              <a:rPr lang="pt-BR" baseline="0"/>
              <a:t>- </a:t>
            </a:r>
            <a:r>
              <a:rPr lang="pt-BR"/>
              <a:t> Decisão de encaminhamento do host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8.4.1</a:t>
            </a:r>
            <a:r>
              <a:rPr lang="pt-BR" baseline="0"/>
              <a:t>- </a:t>
            </a:r>
            <a:r>
              <a:rPr lang="pt-BR"/>
              <a:t> Decisão de encaminhamento do host(Cont.)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8.4.2</a:t>
            </a:r>
            <a:r>
              <a:rPr lang="pt-BR" baseline="0"/>
              <a:t>-</a:t>
            </a:r>
            <a:r>
              <a:rPr lang="pt-BR"/>
              <a:t>Gateway padrão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8.4.3</a:t>
            </a:r>
            <a:r>
              <a:rPr lang="pt-BR" baseline="0"/>
              <a:t>-</a:t>
            </a:r>
            <a:r>
              <a:rPr lang="pt-BR"/>
              <a:t> Um host direciona para o gateway padrão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8.4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8.4.4</a:t>
            </a:r>
            <a:r>
              <a:rPr lang="pt-BR" baseline="0"/>
              <a:t>-</a:t>
            </a:r>
            <a:r>
              <a:rPr lang="pt-BR"/>
              <a:t> Tabelas de Roteamento dos Hosts</a:t>
            </a:r>
            <a:endParaRPr lang="pt-BR"/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8.4.5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</a:t>
            </a:r>
            <a:r>
              <a:rPr lang="pt-BR" sz="1200">
                <a:effectLst/>
              </a:rPr>
              <a:t>— Verifique seu entendimento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8.5.1 -</a:t>
            </a:r>
            <a:r>
              <a:rPr lang="pt-BR"/>
              <a:t>Decisão de Encaminhamento de Pacotes do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8.5.2 — </a:t>
            </a:r>
            <a:r>
              <a:rPr lang="pt-BR"/>
              <a:t>Tabela de roteamento de roteador IP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8.5.3 - </a:t>
            </a:r>
            <a:r>
              <a:rPr lang="pt-BR" sz="1200"/>
              <a:t>Roteamento estático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8.5.4 - </a:t>
            </a:r>
            <a:r>
              <a:rPr lang="pt-BR" sz="1200"/>
              <a:t>Roteamento dinâmico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8.5.5 - </a:t>
            </a:r>
            <a:r>
              <a:rPr lang="pt-BR"/>
              <a:t> Vídeo - Tabelas de roteamento de roteador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8.5.6 — </a:t>
            </a:r>
            <a:r>
              <a:rPr lang="pt-BR"/>
              <a:t>Introdução a uma Tabela de Roteamento IPv4</a:t>
            </a:r>
            <a:endParaRPr lang="pt-BR"/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>
                <a:latin typeface="Arial" panose="020B0604020202020204" pitchFamily="34" charset="0"/>
              </a:rPr>
              <a:t>8.5.7 - </a:t>
            </a:r>
            <a:r>
              <a:rPr lang="pt-BR" sz="1200">
                <a:effectLst/>
              </a:rPr>
              <a:t>Verifique sua compreensão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8.6 -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8.6 -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8.6.1</a:t>
            </a:r>
            <a:r>
              <a:rPr lang="pt-BR" baseline="0">
                <a:latin typeface="Arial" panose="020B0604020202020204" pitchFamily="34" charset="0"/>
              </a:rPr>
              <a:t> -</a:t>
            </a:r>
            <a:r>
              <a:rPr lang="pt-BR"/>
              <a:t> O que eu aprendi neste módulo?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28980" indent="-280670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21410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570355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18665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46761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1592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364865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1381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/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New Terms and Commands</a:t>
            </a:r>
            <a:endParaRPr 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28980" indent="-280670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21410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570355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18665" indent="-224155" defTabSz="88646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46761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1592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364865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13810" indent="-224155" algn="ctr" defTabSz="8864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/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New Terms and Commands</a:t>
            </a:r>
            <a:endParaRPr 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text styles</a:t>
            </a:r>
            <a:endParaRPr lang="en-US" dirty="0">
              <a:sym typeface="Arial" panose="020B0604020202020204" pitchFamily="34" charset="0"/>
            </a:endParaRPr>
          </a:p>
          <a:p>
            <a:pPr lvl="1"/>
            <a:r>
              <a:rPr lang="en-US" dirty="0">
                <a:sym typeface="Arial" panose="020B0604020202020204" pitchFamily="34" charset="0"/>
              </a:rPr>
              <a:t>Second level</a:t>
            </a:r>
            <a:endParaRPr lang="en-US" dirty="0">
              <a:sym typeface="Arial" panose="020B0604020202020204" pitchFamily="34" charset="0"/>
            </a:endParaRPr>
          </a:p>
          <a:p>
            <a:pPr lvl="2"/>
            <a:r>
              <a:rPr lang="en-US" dirty="0">
                <a:sym typeface="Arial" panose="020B0604020202020204" pitchFamily="34" charset="0"/>
              </a:rPr>
              <a:t>Third level</a:t>
            </a:r>
            <a:endParaRPr lang="en-US" dirty="0">
              <a:sym typeface="Arial" panose="020B0604020202020204" pitchFamily="34" charset="0"/>
            </a:endParaRPr>
          </a:p>
          <a:p>
            <a:pPr lvl="3"/>
            <a:r>
              <a:rPr lang="en-US" dirty="0">
                <a:sym typeface="Arial" panose="020B0604020202020204" pitchFamily="34" charset="0"/>
              </a:rPr>
              <a:t>Fourth level</a:t>
            </a: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7190087" cy="1666626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8: Camada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  <a:endParaRPr lang="pt-BR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pPr rtl="0"/>
            <a:r>
              <a:rPr lang="pt-BR" sz="46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8: Camada de rede</a:t>
            </a:r>
            <a:endParaRPr lang="pt-BR" sz="46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8.1 Características de camada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 Camada de Rede</a:t>
            </a:r>
            <a:endParaRPr lang="pt-BR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Fornece serviços para permitir que dispositivos finais troquem dados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versão 4 (IPv4) e IP versão 6 (IPv6) são os principais protocolos de comunicação de camada de rede.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camada de rede executa quatro operações básicas: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Endereça os dispositivos finais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Encapsulamento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Roteamento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Desencapsulamento</a:t>
            </a:r>
            <a:endParaRPr lang="pt-BR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Encapsulamento IP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encapsula o segmento da camada de transporte.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pode usar um pacote IPv4 ou IPv6 e não afetar o segmento da camada 4.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pacote IP será examinado por todos os dispositivos de camada 3 à medida que atravessa a rede.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endereçamento IP não muda de origem para destino.</a:t>
            </a:r>
            <a:endParaRPr lang="pt-BR" sz="1600"/>
          </a:p>
          <a:p>
            <a:pPr marL="0" indent="0" rtl="0">
              <a:buNone/>
            </a:pPr>
            <a:r>
              <a:rPr lang="pt-BR" sz="1600" b="1"/>
              <a:t>Observação: o </a:t>
            </a:r>
            <a:r>
              <a:rPr lang="pt-BR" sz="1600"/>
              <a:t>NAT mudará o endereçamento, mas será discutido em um módulo posterior. </a:t>
            </a:r>
            <a:endParaRPr lang="pt-BR" sz="1600"/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da camada de rede</a:t>
            </a:r>
            <a:br>
              <a:rPr lang="en-US" altLang="en-US" dirty="0"/>
            </a:br>
            <a:r>
              <a:rPr lang="pt-BR"/>
              <a:t>Características do IP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O IP deve ter baixa sobrecarga e pode ser descrito como:</a:t>
            </a:r>
            <a:endParaRPr lang="pt-BR" sz="1800"/>
          </a:p>
          <a:p>
            <a:pPr lvl="1" rtl="0"/>
            <a:r>
              <a:rPr lang="pt-BR" sz="1800"/>
              <a:t>Sem Conexão </a:t>
            </a:r>
            <a:endParaRPr lang="pt-BR" sz="1800"/>
          </a:p>
          <a:p>
            <a:pPr lvl="1" rtl="0"/>
            <a:r>
              <a:rPr lang="pt-BR" sz="1800"/>
              <a:t>Melhor Esforço</a:t>
            </a:r>
            <a:endParaRPr lang="pt-BR" sz="1800"/>
          </a:p>
          <a:p>
            <a:pPr lvl="1" rtl="0"/>
            <a:r>
              <a:rPr lang="pt-BR" sz="1800"/>
              <a:t>Independente de Mídia</a:t>
            </a:r>
            <a:endParaRPr lang="pt-BR" sz="180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Conexões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 não tem conexão 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Nenhuma conexão é estabelecida com o destino antes do envio dos pacotes de dados.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Não há informações de controle necessárias (sincronizações, confirmações, etc.).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destino receberá o pacote quando ele chegar, mas nenhuma pré-notificação é enviada por IP.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Se houver necessidade de tráfego orientado para conexão, outro protocolo irá lidar com isso (normalmente TCP na camada de transporte).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</a:t>
            </a:r>
            <a:br>
              <a:rPr lang="en-US" altLang="en-US" dirty="0"/>
            </a:br>
            <a:r>
              <a:rPr lang="pt-BR"/>
              <a:t>Melhor Esforço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3773052" cy="284966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 é melhor esforço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garantirá a entrega do pacote.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reduziu a sobrecarga, uma vez que não há mecanismo para reenviar dados que não são recebidos.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espera confirmações.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sabe se o outro dispositivo está operacional ou se recebeu o pacote.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</a:t>
            </a:r>
            <a:br>
              <a:rPr lang="en-US" altLang="en-US" dirty="0"/>
            </a:br>
            <a:r>
              <a:rPr lang="pt-BR"/>
              <a:t>Independente de mídia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IP não é confiável  </a:t>
            </a:r>
            <a:endParaRPr lang="pt-BR"/>
          </a:p>
          <a:p>
            <a:pPr lvl="1" rtl="0"/>
            <a:r>
              <a:rPr lang="pt-BR" sz="1500"/>
              <a:t>Ele não pode gerenciar ou corrigir pacotes não entregues ou corrompidos.</a:t>
            </a:r>
            <a:endParaRPr lang="pt-BR" sz="1500"/>
          </a:p>
          <a:p>
            <a:pPr lvl="1" rtl="0"/>
            <a:r>
              <a:rPr lang="pt-BR" sz="1500"/>
              <a:t>IP não pode retransmitir após um erro.</a:t>
            </a:r>
            <a:endParaRPr lang="pt-BR" sz="1500"/>
          </a:p>
          <a:p>
            <a:pPr lvl="1" rtl="0"/>
            <a:r>
              <a:rPr lang="pt-BR" sz="1500"/>
              <a:t>O IP não pode realinhar pacotes fora de sequência.</a:t>
            </a:r>
            <a:endParaRPr lang="pt-BR" sz="1500"/>
          </a:p>
          <a:p>
            <a:pPr lvl="1" rtl="0"/>
            <a:r>
              <a:rPr lang="pt-BR" sz="1500"/>
              <a:t>IP deve depender de outros protocolos para essas funções.</a:t>
            </a:r>
            <a:endParaRPr lang="pt-BR" sz="1500"/>
          </a:p>
          <a:p>
            <a:pPr marL="0" indent="0" rtl="0">
              <a:buNone/>
            </a:pPr>
            <a:r>
              <a:rPr lang="pt-BR"/>
              <a:t>O protocolo IP independe de meio físico.</a:t>
            </a:r>
            <a:endParaRPr lang="pt-BR"/>
          </a:p>
          <a:p>
            <a:pPr lvl="1" rtl="0"/>
            <a:r>
              <a:rPr lang="pt-BR" sz="1500"/>
              <a:t>O IP não se preocupa com o tipo de quadro exigido na camada de link de dados ou com o tipo de mídia na camada física.</a:t>
            </a:r>
            <a:endParaRPr lang="pt-BR" sz="1500"/>
          </a:p>
          <a:p>
            <a:pPr lvl="1" rtl="0"/>
            <a:r>
              <a:rPr lang="pt-BR" sz="1500"/>
              <a:t>IP pode ser enviado por qualquer tipo de mídia: cobre, fibra ou sem fio.</a:t>
            </a:r>
            <a:endParaRPr lang="pt-BR" sz="15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da Camada de Rede</a:t>
            </a:r>
            <a:r>
              <a:rPr lang="pt-BR"/>
              <a:t>Independente deMídia (Contd.) 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camada de rede estabelecerá a Unidade Máxima de Transmissão (MTU).</a:t>
            </a:r>
            <a:endParaRPr lang="pt-BR" sz="1600"/>
          </a:p>
          <a:p>
            <a:pPr lvl="1" rtl="0"/>
            <a:r>
              <a:rPr lang="pt-BR" sz="1600"/>
              <a:t>camada de rede recebe isso a partir de informações de controle enviadas pela camada de link de dados.</a:t>
            </a:r>
            <a:endParaRPr lang="pt-BR" sz="1600"/>
          </a:p>
          <a:p>
            <a:pPr lvl="1" rtl="0"/>
            <a:r>
              <a:rPr lang="pt-BR" sz="1600"/>
              <a:t>Em seguida, a rede estabelece o tamanho da MTU.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Fragmentação ocorre quando a Camada 3 divide o pacote IPv4 em unidades menores.</a:t>
            </a:r>
            <a:endParaRPr lang="pt-BR" sz="1600"/>
          </a:p>
          <a:p>
            <a:pPr lvl="1" rtl="0"/>
            <a:r>
              <a:rPr lang="pt-BR" sz="1600"/>
              <a:t>Fragmentação causa latência.</a:t>
            </a:r>
            <a:endParaRPr lang="pt-BR" sz="1600"/>
          </a:p>
          <a:p>
            <a:pPr lvl="1" rtl="0"/>
            <a:r>
              <a:rPr lang="pt-BR" sz="1600"/>
              <a:t>O IPv6 não fragmenta pacotes.</a:t>
            </a:r>
            <a:endParaRPr lang="pt-BR" sz="1600"/>
          </a:p>
          <a:p>
            <a:pPr lvl="1" rtl="0"/>
            <a:r>
              <a:rPr lang="pt-BR" sz="1600"/>
              <a:t>Exemplo: Roteador vai de Ethernet para uma WAN lenta com um MTU menor</a:t>
            </a:r>
            <a:endParaRPr lang="pt-BR" sz="1600"/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8.2 Pacote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Cabeçalho do Pacote IPv4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IPv4 é o principal protocolo de comunicação para a camada de rede.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O cabeçalho de rede tem muitas finalidades:</a:t>
            </a:r>
            <a:endParaRPr lang="pt-BR" sz="1600"/>
          </a:p>
          <a:p>
            <a:pPr lvl="1" rtl="0"/>
            <a:r>
              <a:rPr lang="pt-BR" sz="1600"/>
              <a:t>Ele garante que o pacote seja enviado na direção correta (para o destino).</a:t>
            </a:r>
            <a:endParaRPr lang="pt-BR" sz="1600"/>
          </a:p>
          <a:p>
            <a:pPr lvl="1" rtl="0"/>
            <a:r>
              <a:rPr lang="pt-BR" sz="1600"/>
              <a:t>Ele contém informações para o processamento da camada de rede em vários campos.</a:t>
            </a:r>
            <a:endParaRPr lang="pt-BR" sz="1600"/>
          </a:p>
          <a:p>
            <a:pPr lvl="1" rtl="0"/>
            <a:r>
              <a:rPr lang="pt-BR" sz="1600"/>
              <a:t>As informações no cabeçalho são usadas por todos os dispositivos de camada 3 que manipulam o pacote</a:t>
            </a:r>
            <a:endParaRPr lang="pt-BR" sz="1600"/>
          </a:p>
          <a:p>
            <a:pPr lvl="1"/>
            <a:endParaRPr lang="en-US" altLang="en-US" sz="1600" dirty="0"/>
          </a:p>
          <a:p>
            <a:pPr marL="0" indent="0" rtl="0">
              <a:buNone/>
            </a:pPr>
            <a:r>
              <a:rPr lang="pt-BR" sz="1600"/>
              <a:t> </a:t>
            </a:r>
            <a:endParaRPr lang="pt-BR" sz="160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Campos do Cabeçalho do Pacote IPv4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As características do cabeçalho de rede IPv4:</a:t>
            </a:r>
            <a:endParaRPr lang="pt-BR" sz="1600"/>
          </a:p>
          <a:p>
            <a:pPr lvl="1" rtl="0"/>
            <a:r>
              <a:rPr lang="pt-BR" sz="1600"/>
              <a:t>É em binário.</a:t>
            </a:r>
            <a:endParaRPr lang="pt-BR" sz="1600"/>
          </a:p>
          <a:p>
            <a:pPr lvl="1" rtl="0"/>
            <a:r>
              <a:rPr lang="pt-BR" sz="1600"/>
              <a:t>Contém vários campos de informação</a:t>
            </a:r>
            <a:endParaRPr lang="pt-BR" sz="1600"/>
          </a:p>
          <a:p>
            <a:pPr lvl="1" rtl="0"/>
            <a:r>
              <a:rPr lang="pt-BR" sz="1600"/>
              <a:t>O diagrama é lido da esquerda para a direita, 4 bytes por linha</a:t>
            </a:r>
            <a:endParaRPr lang="pt-BR" sz="1600"/>
          </a:p>
          <a:p>
            <a:pPr lvl="1" rtl="0"/>
            <a:r>
              <a:rPr lang="pt-BR" sz="1600"/>
              <a:t>Os dois campos mais importantes são a origem e o destino.</a:t>
            </a:r>
            <a:endParaRPr lang="pt-BR" sz="1600"/>
          </a:p>
          <a:p>
            <a:pPr marL="0" indent="0">
              <a:buNone/>
            </a:pPr>
            <a:endParaRPr lang="en-US" altLang="ja-JP" sz="1600" dirty="0"/>
          </a:p>
          <a:p>
            <a:pPr marL="0" indent="0" rtl="0">
              <a:buNone/>
            </a:pPr>
            <a:r>
              <a:rPr lang="pt-BR" sz="1600"/>
              <a:t>Protocolos podem ter uma ou mais funções.</a:t>
            </a:r>
            <a:endParaRPr lang="pt-BR" sz="16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Campos do Cabeçalho do Pacote IPv4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Estes são os campos mais importantes no cabeçalho IPv4:</a:t>
            </a:r>
            <a:endParaRPr lang="pt-BR" sz="16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64592" y="1417319"/>
          <a:ext cx="8750808" cy="348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6391656"/>
              </a:tblGrid>
              <a:tr h="349993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Função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356752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Versão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Isso</a:t>
                      </a:r>
                      <a:r>
                        <a:rPr lang="pt-BR" baseline="0"/>
                        <a:t> será para v4, ao contrário de v6, um campo de 4 bits = 0100 </a:t>
                      </a:r>
                      <a:endParaRPr lang="pt-BR" baseline="0"/>
                    </a:p>
                  </a:txBody>
                  <a:tcPr/>
                </a:tc>
              </a:tr>
              <a:tr h="36807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Serviços Diferenciados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Usado para QoS</a:t>
                      </a:r>
                      <a:r>
                        <a:rPr lang="pt-BR" baseline="0"/>
                        <a:t>: campo DiffServ — DS ou o IntServ mais antigo — ToS ou Tipo de Serviço </a:t>
                      </a:r>
                      <a:endParaRPr lang="pt-BR" baseline="0"/>
                    </a:p>
                  </a:txBody>
                  <a:tcPr/>
                </a:tc>
              </a:tr>
              <a:tr h="36971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Soma de verificação do cabeçalho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Detectar corrupção no cabeçalho IPv4</a:t>
                      </a:r>
                      <a:endParaRPr lang="pt-BR"/>
                    </a:p>
                  </a:txBody>
                  <a:tcPr/>
                </a:tc>
              </a:tr>
              <a:tr h="352068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Tempo de vida (TTL)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Contagem de saltos de camada 3. Quando se tornar zero, o roteador</a:t>
                      </a:r>
                      <a:r>
                        <a:rPr lang="pt-BR" baseline="0"/>
                        <a:t> descartará o pacote. </a:t>
                      </a:r>
                      <a:endParaRPr lang="pt-BR" baseline="0"/>
                    </a:p>
                  </a:txBody>
                  <a:tcPr/>
                </a:tc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Protocolos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I.D.s</a:t>
                      </a:r>
                      <a:r>
                        <a:rPr lang="pt-BR" baseline="0"/>
                        <a:t> protocolo de próximo nível: ICMP, TCP, UDP, etc.</a:t>
                      </a:r>
                      <a:endParaRPr lang="pt-BR" baseline="0"/>
                    </a:p>
                  </a:txBody>
                  <a:tcPr/>
                </a:tc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Origem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Endereço de origem de 32 bits</a:t>
                      </a:r>
                      <a:endParaRPr lang="pt-BR"/>
                    </a:p>
                  </a:txBody>
                  <a:tcPr/>
                </a:tc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de destino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 Endereço</a:t>
                      </a:r>
                      <a:r>
                        <a:rPr lang="pt-BR"/>
                        <a:t>de destino de 32 bits</a:t>
                      </a:r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144000" cy="829464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Pacote IPv4 </a:t>
            </a:r>
            <a:r>
              <a:rPr lang="pt-BR" sz="1600"/>
              <a:t>Demonstração em vídeo - Exemplo de cabeçalhos IPv4 em Wireshark</a:t>
            </a:r>
            <a:endParaRPr lang="pt-BR" sz="1600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0"/>
            <a:ext cx="8593327" cy="2103701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 vídeo aborda o seguinte: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Pacotes Ethernet IPv4 em Wireshark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informações de controle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diferença entre pacotes</a:t>
            </a:r>
            <a:endParaRPr lang="pt-BR" sz="1600"/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8.3 Pacotes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Pacote IPv6 </a:t>
            </a:r>
            <a:r>
              <a:rPr lang="pt-BR" sz="1600"/>
              <a:t>Limitações do IPv4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O IPv4 tem três limitações principais:</a:t>
            </a:r>
            <a:endParaRPr lang="pt-BR" sz="1600"/>
          </a:p>
          <a:p>
            <a:pPr lvl="1" rtl="0"/>
            <a:r>
              <a:rPr lang="pt-BR" sz="1600"/>
              <a:t>Esgotamento de endereços IPv4 — Nós basicamente ficamos sem endereçamento IPv4.</a:t>
            </a:r>
            <a:endParaRPr lang="pt-BR" sz="1600"/>
          </a:p>
          <a:p>
            <a:pPr lvl="1" rtl="0"/>
            <a:r>
              <a:rPr lang="pt-BR" sz="1600"/>
              <a:t>Falta de conectividade de ponta a ponta — Para que o IPv4 sobreviva a esse tempo, o endereçamento privado e o NAT foram criados. Isso terminou comunicações diretas com endereçamento público.</a:t>
            </a:r>
            <a:endParaRPr lang="pt-BR" sz="1600"/>
          </a:p>
          <a:p>
            <a:pPr lvl="1" rtl="0"/>
            <a:r>
              <a:rPr lang="pt-BR" sz="1600"/>
              <a:t>Maior complexidade da rede — o NAT foi concebido como solução temporária e cria problemas na rede como um efeito colateral da manipulação do endereçamento de cabeçalhos de rede. O NAT causa latência e solução de problemas.</a:t>
            </a:r>
            <a:endParaRPr lang="pt-BR" sz="160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Visão geral do IPv6 PacketsIPv6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O IPv6 foi desenvolvido pela Internet Engineering Task Force (IETF).</a:t>
            </a:r>
            <a:endParaRPr lang="pt-BR" sz="1400">
              <a:ea typeface="MS PGothic"/>
            </a:endParaRP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O IPv6 supera as limitações do IPv4.</a:t>
            </a:r>
            <a:endParaRPr lang="pt-BR" sz="1400">
              <a:ea typeface="MS PGothic"/>
            </a:endParaRP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Melhorias que o IPv6 fornece:</a:t>
            </a:r>
            <a:endParaRPr lang="pt-BR" sz="1400">
              <a:ea typeface="MS PGothic"/>
            </a:endParaRP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MS PGothic"/>
              </a:rPr>
              <a:t>Aumento do espaço de endereço </a:t>
            </a:r>
            <a:r>
              <a:rPr lang="pt-BR">
                <a:ea typeface="MS PGothic"/>
              </a:rPr>
              <a:t>— baseado no endereço de 128 bits, não em 32 bits</a:t>
            </a:r>
            <a:endParaRPr lang="pt-BR">
              <a:ea typeface="MS PGothic"/>
            </a:endParaRP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MS PGothic"/>
              </a:rPr>
              <a:t>Manipulação aprimorada de pacotes </a:t>
            </a:r>
            <a:r>
              <a:rPr lang="pt-BR">
                <a:ea typeface="MS PGothic"/>
              </a:rPr>
              <a:t>- O cabeçalho IPv6 foi simplificado com menos campos.</a:t>
            </a:r>
            <a:endParaRPr lang="pt-BR">
              <a:ea typeface="MS PGothic"/>
            </a:endParaRP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MS PGothic"/>
              </a:rPr>
              <a:t>Elimina a necessidade de NAT </a:t>
            </a:r>
            <a:r>
              <a:rPr lang="pt-BR">
                <a:ea typeface="MS PGothic"/>
              </a:rPr>
              <a:t>— uma vez que há uma grande quantidade de endereçamento, não há necessidade de usar o endereçamento privado internamente e ser mapeado para um endereço público compartilhado</a:t>
            </a:r>
            <a:endParaRPr lang="pt-BR">
              <a:ea typeface="MS PGothic"/>
            </a:endParaRPr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14662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Pacotes</a:t>
            </a:r>
            <a:br>
              <a:rPr lang="en-US" altLang="en-US" dirty="0"/>
            </a:br>
            <a:r>
              <a:rPr lang="pt-BR"/>
              <a:t>IPv6 Campos de cabeçalho de pacote IPv4 no cabeçalho do pacote IPv6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O cabeçalho IPv6 é simplificado, mas não menor.</a:t>
            </a:r>
            <a:endParaRPr lang="pt-BR" sz="1400">
              <a:ea typeface="MS PGothic"/>
            </a:endParaRP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O cabeçalho é fixado em 40 bytes ou octetos de comprimento.</a:t>
            </a:r>
            <a:endParaRPr lang="pt-BR" sz="1400">
              <a:ea typeface="MS PGothic"/>
            </a:endParaRP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Vários campos IPv4 foram removidos para melhorar o desempenho.</a:t>
            </a:r>
            <a:endParaRPr lang="pt-BR" sz="1400">
              <a:ea typeface="MS PGothic"/>
            </a:endParaRP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MS PGothic"/>
              </a:rPr>
              <a:t>Alguns campos IPv4 foram removidos para melhorar o desempenho:</a:t>
            </a:r>
            <a:endParaRPr lang="pt-BR" sz="1400">
              <a:ea typeface="MS PGothic"/>
            </a:endParaRPr>
          </a:p>
          <a:p>
            <a:pPr lvl="1" rtl="0"/>
            <a:r>
              <a:rPr lang="pt-BR">
                <a:ea typeface="MS PGothic"/>
              </a:rPr>
              <a:t>Flag</a:t>
            </a:r>
            <a:endParaRPr lang="pt-BR">
              <a:ea typeface="MS PGothic"/>
            </a:endParaRPr>
          </a:p>
          <a:p>
            <a:pPr lvl="1" rtl="0"/>
            <a:r>
              <a:rPr lang="pt-BR">
                <a:ea typeface="MS PGothic"/>
              </a:rPr>
              <a:t>Deslocamento do fragmento</a:t>
            </a:r>
            <a:endParaRPr lang="pt-BR">
              <a:ea typeface="MS PGothic"/>
            </a:endParaRPr>
          </a:p>
          <a:p>
            <a:pPr lvl="1" rtl="0"/>
            <a:r>
              <a:rPr lang="pt-BR">
                <a:ea typeface="MS PGothic"/>
              </a:rPr>
              <a:t>Soma de verificação do cabeçalho</a:t>
            </a:r>
            <a:endParaRPr lang="pt-BR">
              <a:ea typeface="MS PGothic"/>
            </a:endParaRP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1328283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Pacotes IPv6</a:t>
            </a:r>
            <a:br>
              <a:rPr lang="en-US" altLang="en-US" dirty="0"/>
            </a:br>
            <a:r>
              <a:rPr lang="pt-BR"/>
              <a:t>Cabeçalho do Pacote IPv6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Campos significativos no cabeçalho IPv4:</a:t>
            </a:r>
            <a:endParaRPr lang="pt-BR" sz="1600"/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449174"/>
          <a:ext cx="8750808" cy="36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6391656"/>
              </a:tblGrid>
              <a:tr h="349993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Função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356752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Versão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Isso</a:t>
                      </a:r>
                      <a:r>
                        <a:rPr lang="pt-BR" baseline="0"/>
                        <a:t> será para v6, ao contrário de v4, um campo de 4 bits = 0110 </a:t>
                      </a:r>
                      <a:endParaRPr lang="pt-BR" baseline="0"/>
                    </a:p>
                  </a:txBody>
                  <a:tcPr/>
                </a:tc>
              </a:tr>
              <a:tr h="36807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Classe de tráfego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Usado para QoS</a:t>
                      </a:r>
                      <a:r>
                        <a:rPr lang="pt-BR" baseline="0"/>
                        <a:t>: Equivalente ao campo DiffServ — DS </a:t>
                      </a:r>
                      <a:endParaRPr lang="pt-BR" baseline="0"/>
                    </a:p>
                  </a:txBody>
                  <a:tcPr/>
                </a:tc>
              </a:tr>
              <a:tr h="36971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Rótulo de fluxo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Informa o dispositivo para lidar com rótulos de fluxo idênticos da mesma maneira, </a:t>
                      </a:r>
                      <a:r>
                        <a:rPr lang="pt-BR"/>
                        <a:t>campo de 20 bits</a:t>
                      </a:r>
                      <a:endParaRPr lang="pt-BR"/>
                    </a:p>
                  </a:txBody>
                  <a:tcPr/>
                </a:tc>
              </a:tr>
              <a:tr h="352068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Tamanho da carga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 campo de 16 bits indica o comprimento da parte dos dados ou da carga útil do pacote IPv6</a:t>
                      </a:r>
                      <a:endParaRPr lang="pt-BR"/>
                    </a:p>
                  </a:txBody>
                  <a:tcPr/>
                </a:tc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Próximo cabeçalho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I.D.s</a:t>
                      </a:r>
                      <a:r>
                        <a:rPr lang="pt-BR" baseline="0"/>
                        <a:t> protocolo de próximo nível: ICMP, TCP, UDP, etc.</a:t>
                      </a:r>
                      <a:endParaRPr lang="pt-BR" baseline="0"/>
                    </a:p>
                  </a:txBody>
                  <a:tcPr/>
                </a:tc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Limite de saltos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Substitui o</a:t>
                      </a:r>
                      <a:r>
                        <a:rPr lang="pt-BR" baseline="0"/>
                        <a:t> campo TTL </a:t>
                      </a:r>
                      <a:r>
                        <a:rPr lang="pt-BR"/>
                        <a:t>Contagem de saltos da Camada 3</a:t>
                      </a:r>
                      <a:endParaRPr lang="pt-BR"/>
                    </a:p>
                  </a:txBody>
                  <a:tcPr/>
                </a:tc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Origem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Endereço de origem de 128 bits</a:t>
                      </a:r>
                      <a:endParaRPr lang="pt-BR"/>
                    </a:p>
                  </a:txBody>
                  <a:tcPr/>
                </a:tc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de destino</a:t>
                      </a:r>
                      <a:endParaRPr lang="pt-B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 Endereço</a:t>
                      </a:r>
                      <a:r>
                        <a:rPr lang="pt-BR"/>
                        <a:t>de destino de 128 bits</a:t>
                      </a:r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IPv6 </a:t>
            </a:r>
            <a:br>
              <a:rPr lang="en-US" altLang="en-US" dirty="0"/>
            </a:br>
            <a:r>
              <a:rPr lang="pt-BR"/>
              <a:t>Cabeçalho do pacote IPv6 (continuação)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O pacote IPv6 também pode conter cabeçalhos de extensão (EH). 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Características dos cabeçalhos EH: 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fornecer informações opcionais sobre a camada de rede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são opcionais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são colocados entre o cabeçalho IPv6 e a carga útil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podem ser usado para fragmentação, segurança, suporte à mobilidade etc.</a:t>
            </a:r>
            <a:endParaRPr lang="pt-BR" sz="1600"/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 rtl="0">
              <a:buNone/>
            </a:pPr>
            <a:r>
              <a:rPr lang="pt-BR" sz="1600" b="1"/>
              <a:t>Nota:</a:t>
            </a:r>
            <a:r>
              <a:rPr lang="pt-BR" sz="1600"/>
              <a:t> Ao contrário do IPv4, os roteadores não fragmentam pacotes IPv6.</a:t>
            </a:r>
            <a:endParaRPr lang="pt-BR" sz="1600"/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IPv6 </a:t>
            </a:r>
            <a:br>
              <a:rPr lang="en-US" altLang="en-US" dirty="0"/>
            </a:br>
            <a:r>
              <a:rPr lang="pt-BR"/>
              <a:t>Vídeo - Exemplo de cabeçalhos IPv6 em Wireshark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581514" cy="2131285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 vídeo aborda o seguinte: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Pacotes Ethernet IPv6 em Wireshark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informações de controle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diferença entre pacotes</a:t>
            </a:r>
            <a:endParaRPr lang="pt-BR" sz="1600"/>
          </a:p>
          <a:p>
            <a:pPr marL="0" indent="0">
              <a:buNone/>
            </a:pPr>
            <a:endParaRPr lang="en-CA" altLang="en-US" dirty="0"/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8.4 Como um host roteia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Decisão de encaminhamento do host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Os pacotes são sempre criados na origem.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Cada dispositivo host cria sua própria tabela de roteamento.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Um host pode enviar pacotes para o seguinte:</a:t>
            </a:r>
            <a:endParaRPr lang="pt-BR" sz="1800"/>
          </a:p>
          <a:p>
            <a:pPr lvl="1" rtl="0"/>
            <a:r>
              <a:rPr lang="pt-BR" sz="1700"/>
              <a:t>Próprio — 127.0.0.1 (IPv4),: :1 (IPv6)</a:t>
            </a:r>
            <a:endParaRPr lang="pt-BR" sz="1700"/>
          </a:p>
          <a:p>
            <a:pPr lvl="1" rtl="0"/>
            <a:r>
              <a:rPr lang="pt-BR" sz="1700"/>
              <a:t>Hosts locais — o destino está na mesma LAN</a:t>
            </a:r>
            <a:endParaRPr lang="pt-BR" sz="1700"/>
          </a:p>
          <a:p>
            <a:pPr lvl="1" rtl="0"/>
            <a:r>
              <a:rPr lang="pt-BR" sz="1700"/>
              <a:t>Hosts remotos — os dispositivos não estão na mesma LAN </a:t>
            </a:r>
            <a:endParaRPr lang="pt-BR" sz="17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051" y="3181961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Decisão de encaminhamento do host (Cont.)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dispositivo de origem determina se o destino é local ou remoto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Método de determinação:</a:t>
            </a:r>
            <a:endParaRPr lang="pt-BR" sz="18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IPv4 — A fonte usa seu próprio endereço IP e máscara de sub-rede, juntamente com o endereço IP de destino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IPv6 — A fonte usa o endereço de rede e o prefixo anunciados pelo roteador local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O tráfego local é despejado da interface do host a ser tratado por um dispositivo intermediário.</a:t>
            </a:r>
            <a:endParaRPr lang="pt-BR" sz="17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O tráfego remoto é encaminhado diretamente para o gateway padrão na LAN.</a:t>
            </a:r>
            <a:endParaRPr lang="pt-BR" sz="17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984" y="35201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Gateway padrão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Um roteador ou switch de camada 3 pode ser um gateway padrão.</a:t>
            </a:r>
            <a:endParaRPr lang="pt-BR" sz="1800"/>
          </a:p>
          <a:p>
            <a:pPr marL="0" indent="0" rtl="0">
              <a:buNone/>
            </a:pPr>
            <a:r>
              <a:rPr lang="pt-BR" sz="1800"/>
              <a:t>Recursos de um gateway padrão (DGW):</a:t>
            </a:r>
            <a:endParaRPr lang="pt-BR" sz="18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deve ter um endereço IP no mesmo intervalo que o resto da LAN.</a:t>
            </a:r>
            <a:endParaRPr lang="pt-BR" sz="17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pode aceitar dados da LAN e é capaz de encaminhar o tráfego fora da LAN.</a:t>
            </a:r>
            <a:endParaRPr lang="pt-BR" sz="17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pode rotear para outras redes.</a:t>
            </a:r>
            <a:endParaRPr lang="pt-BR" sz="1700"/>
          </a:p>
          <a:p>
            <a:pPr marL="0" indent="0" rtl="0">
              <a:buNone/>
            </a:pPr>
            <a:r>
              <a:rPr lang="pt-BR" sz="1800"/>
              <a:t>Se um dispositivo não tiver um gateway padrão ou um gateway padrão incorreto, seu tráfego não poderá sair da LAN.</a:t>
            </a:r>
            <a:endParaRPr lang="pt-BR" sz="1800"/>
          </a:p>
          <a:p>
            <a:pPr lvl="1"/>
            <a:endParaRPr lang="en-US" sz="1700" dirty="0"/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é roteia</a:t>
            </a:r>
            <a:br>
              <a:rPr lang="en-US" altLang="en-US" sz="1600" dirty="0"/>
            </a:br>
            <a:r>
              <a:rPr lang="pt-BR"/>
              <a:t> Um host é roteado para o gateway padrão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host saberá o gateway padrão (DGW) estaticamente ou por meio de DHCP no IPv4.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IPv6 envia o DGW através de uma solicitação de roteador (RS) ou pode ser configurado manualmente.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 Um DGW é uma rota estática que será uma rota de último recurso na tabela de roteamento.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Todos os dispositivos na LAN precisarão do DGW do roteador se pretenderem enviar tráfego remotamente.</a:t>
            </a:r>
            <a:endParaRPr lang="pt-BR" sz="180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Tabelas de roteamento do host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No Windows, rotee print ou netstat -r para exibir a tabela de roteamento do PC</a:t>
            </a:r>
            <a:endParaRPr lang="pt-BR" sz="17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Três seções exibidas por estes dois comandos:</a:t>
            </a:r>
            <a:endParaRPr lang="pt-BR" sz="1700"/>
          </a:p>
          <a:p>
            <a:pPr lvl="1" rtl="0"/>
            <a:r>
              <a:rPr lang="pt-BR" sz="1600"/>
              <a:t>Lista de interfaces — todas as interfaces potenciais e endereçamento MAC</a:t>
            </a:r>
            <a:endParaRPr lang="pt-BR" sz="1600"/>
          </a:p>
          <a:p>
            <a:pPr lvl="1" rtl="0"/>
            <a:r>
              <a:rPr lang="pt-BR" sz="1600"/>
              <a:t>Tabela de roteamento IPv4</a:t>
            </a:r>
            <a:endParaRPr lang="pt-BR" sz="1600"/>
          </a:p>
          <a:p>
            <a:pPr lvl="1" rtl="0"/>
            <a:r>
              <a:rPr lang="pt-BR" sz="1600"/>
              <a:t>Tabela de roteamento IPv6</a:t>
            </a:r>
            <a:endParaRPr lang="pt-BR" sz="16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Introdução ao Roteamento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à</a:t>
            </a:r>
            <a:r>
              <a:rPr lang="pt-BR"/>
              <a:t>decisão de encaminhamento de pacotes doroteador de roteamento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que acontece quando o roteador recebe o quadro do dispositivo host?</a:t>
            </a:r>
            <a:endParaRPr lang="pt-BR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à</a:t>
            </a:r>
            <a:r>
              <a:rPr lang="pt-BR"/>
              <a:t>Tabela de Roteamento do RoteadorIP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Há três tipos de rotas na tabela de roteamento de um roteador: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Conexão Direta </a:t>
            </a:r>
            <a:r>
              <a:rPr lang="pt-BR"/>
              <a:t>— Essas rotas são adicionadas automaticamente pelo roteador, desde que a interface esteja ativa e tenha endereçamento. 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Remoto</a:t>
            </a:r>
            <a:r>
              <a:rPr lang="pt-BR"/>
              <a:t> — Estas são as rotas em que o roteador não tem uma conexão direta e pode ser aprendido: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Manualmente — com uma rota estática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Dinamicamente — usando um protocolo de roteamento para que os roteadores compartilhem suas informações entre si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Rota Padrão </a:t>
            </a:r>
            <a:r>
              <a:rPr lang="pt-BR"/>
              <a:t>— isso encaminha todo o tráfego para uma direção específica quando não houver correspondência na tabela de roteamento </a:t>
            </a:r>
            <a:endParaRPr lang="pt-BR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235" y="3617541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5996198" cy="757551"/>
          </a:xfrm>
        </p:spPr>
        <p:txBody>
          <a:bodyPr/>
          <a:lstStyle/>
          <a:p>
            <a:pPr rtl="0"/>
            <a:r>
              <a:rPr lang="pt-BR" sz="1600"/>
              <a:t>Introdução ao Roteamento</a:t>
            </a:r>
            <a:br>
              <a:rPr lang="en-US" altLang="en-US" dirty="0"/>
            </a:br>
            <a:r>
              <a:rPr lang="pt-BR" sz="2400"/>
              <a:t>Estático de Roteamento</a:t>
            </a:r>
            <a:endParaRPr lang="pt-BR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Características estáticas da rota: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Deve ser configurado manualmente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Deve ser ajustado manualmente pelo administrador quando houver uma alteração na topologia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Bom para pequenas redes não redundantes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Muitas vezes usado em conjunto com um protocolo de roteamento dinâmico para configurar uma rota padrão</a:t>
            </a:r>
            <a:endParaRPr lang="pt-BR" sz="160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5417371" cy="757551"/>
          </a:xfrm>
        </p:spPr>
        <p:txBody>
          <a:bodyPr/>
          <a:lstStyle/>
          <a:p>
            <a:pPr rtl="0"/>
            <a:r>
              <a:rPr lang="pt-BR" sz="1600"/>
              <a:t>Introdução ao Roteamento</a:t>
            </a:r>
            <a:br>
              <a:rPr lang="en-US" altLang="en-US" sz="1600" dirty="0"/>
            </a:br>
            <a:r>
              <a:rPr lang="pt-BR"/>
              <a:t>Dinâmico de Roteamento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Rotas dinâmicas automaticamente: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Descobrir redes remotas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Manter as informações de roteamento atualizadas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Escolher o melhor caminho para uma rede de destino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Encontre novos caminhos melhores quando houver uma alteração de topologia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O roteamento dinâmico também pode compartilhar rotas padrão estáticas com os outros roteadores.</a:t>
            </a:r>
            <a:endParaRPr lang="pt-BR" sz="160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ao Roteamento de</a:t>
            </a:r>
            <a:br>
              <a:rPr lang="en-US" altLang="en-US" dirty="0"/>
            </a:br>
            <a:r>
              <a:rPr lang="pt-BR"/>
              <a:t>Vídeo — Tabelas de Roteamento de Roteadores IPv4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49383" y="798944"/>
            <a:ext cx="8427026" cy="30933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rtl="0">
              <a:buNone/>
            </a:pPr>
            <a:r>
              <a:rPr lang="pt-BR" sz="1800"/>
              <a:t>Este vídeo explicará as informações na tabela de roteamento do roteador IPv4.</a:t>
            </a:r>
            <a:endParaRPr lang="pt-BR" sz="1800"/>
          </a:p>
        </p:txBody>
      </p:sp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a roteamento</a:t>
            </a:r>
            <a:br>
              <a:rPr lang="en-US" altLang="en-US" dirty="0"/>
            </a:br>
            <a:r>
              <a:rPr lang="pt-BR"/>
              <a:t>Introdução a uma tabela de roteamento IPv4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comando </a:t>
            </a:r>
            <a:r>
              <a:rPr lang="pt-BR" b="1"/>
              <a:t>show ip route </a:t>
            </a:r>
            <a:r>
              <a:rPr lang="pt-BR"/>
              <a:t>mostra as seguintes fontes de rota:</a:t>
            </a:r>
            <a:endParaRPr lang="pt-BR"/>
          </a:p>
          <a:p>
            <a:pPr lvl="1" rtl="0"/>
            <a:r>
              <a:rPr lang="pt-BR" b="1"/>
              <a:t>L</a:t>
            </a:r>
            <a:r>
              <a:rPr lang="pt-BR"/>
              <a:t> - Endereço IP da interface local diretamente conectado</a:t>
            </a:r>
            <a:endParaRPr lang="pt-BR"/>
          </a:p>
          <a:p>
            <a:pPr lvl="1" rtl="0"/>
            <a:r>
              <a:rPr lang="pt-BR" b="1"/>
              <a:t>C</a:t>
            </a:r>
            <a:r>
              <a:rPr lang="pt-BR"/>
              <a:t> - Rede diretamente conectada</a:t>
            </a:r>
            <a:endParaRPr lang="pt-BR"/>
          </a:p>
          <a:p>
            <a:pPr lvl="1" rtl="0"/>
            <a:r>
              <a:rPr lang="pt-BR" b="1"/>
              <a:t>S</a:t>
            </a:r>
            <a:r>
              <a:rPr lang="pt-BR"/>
              <a:t> — A rota estática foi configurada manualmente por um administrador</a:t>
            </a:r>
            <a:endParaRPr lang="pt-BR"/>
          </a:p>
          <a:p>
            <a:pPr lvl="1" rtl="0"/>
            <a:r>
              <a:rPr lang="pt-BR" b="1"/>
              <a:t>O</a:t>
            </a:r>
            <a:r>
              <a:rPr lang="pt-BR"/>
              <a:t>- OSPF</a:t>
            </a:r>
            <a:endParaRPr lang="pt-BR"/>
          </a:p>
          <a:p>
            <a:pPr lvl="1" rtl="0"/>
            <a:r>
              <a:rPr lang="pt-BR" b="1"/>
              <a:t>D</a:t>
            </a:r>
            <a:r>
              <a:rPr lang="pt-BR"/>
              <a:t>- EIGRP</a:t>
            </a:r>
            <a:endParaRPr lang="pt-BR"/>
          </a:p>
          <a:p>
            <a:pPr marL="0" indent="0" rtl="0">
              <a:buNone/>
            </a:pPr>
            <a:r>
              <a:rPr lang="pt-BR"/>
              <a:t>Este comando mostra tipos de rotas:</a:t>
            </a:r>
            <a:endParaRPr lang="pt-BR"/>
          </a:p>
          <a:p>
            <a:pPr lvl="1" rtl="0"/>
            <a:r>
              <a:rPr lang="pt-BR"/>
              <a:t>Conexão Direta - C e L</a:t>
            </a:r>
            <a:endParaRPr lang="pt-BR"/>
          </a:p>
          <a:p>
            <a:pPr lvl="1" rtl="0"/>
            <a:r>
              <a:rPr lang="pt-BR"/>
              <a:t>Rotas remotas - O, D, etc.</a:t>
            </a:r>
            <a:endParaRPr lang="pt-BR"/>
          </a:p>
          <a:p>
            <a:pPr lvl="1" rtl="0"/>
            <a:r>
              <a:rPr lang="pt-BR"/>
              <a:t>Rotas padrão - S * </a:t>
            </a:r>
            <a:endParaRPr lang="pt-B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8.6 - 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dirty="0"/>
            </a:br>
            <a:r>
              <a:rPr lang="pt-BR"/>
              <a:t>O que aprendi neste módulo?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874434"/>
          </a:xfrm>
        </p:spPr>
        <p:txBody>
          <a:bodyPr/>
          <a:lstStyle/>
          <a:p>
            <a:pPr lvl="2" rtl="0"/>
            <a:r>
              <a:rPr lang="pt-BR" sz="1600"/>
              <a:t>O IP é sem conexão, o melhor esforço e independente da mídia.</a:t>
            </a:r>
            <a:endParaRPr lang="pt-BR" sz="1600"/>
          </a:p>
          <a:p>
            <a:pPr lvl="2" rtl="0"/>
            <a:r>
              <a:rPr lang="pt-BR" sz="1600"/>
              <a:t>O IP não garante a entrega de pacotes.</a:t>
            </a:r>
            <a:endParaRPr lang="pt-BR" sz="1600"/>
          </a:p>
          <a:p>
            <a:pPr lvl="2" rtl="0"/>
            <a:r>
              <a:rPr lang="pt-BR" sz="1600"/>
              <a:t>Um cabeçalho de pacote IPv4 consiste em campos que contêm informações sobre o pacote.</a:t>
            </a:r>
            <a:endParaRPr lang="pt-BR" sz="1600"/>
          </a:p>
          <a:p>
            <a:pPr lvl="2" rtl="0"/>
            <a:r>
              <a:rPr lang="pt-BR" sz="1600"/>
              <a:t>O IPv6 supera a falta de conectividade de ponta a ponta do IPv4 e o aumento da complexidade da rede.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Um dispositivo determinará se um destino é ele próprio, outro host local e um host remoto.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Um gateway padrão é o roteador que faz parte da LAN e será usado como porta para outras redes.</a:t>
            </a:r>
            <a:endParaRPr lang="pt-BR" sz="1600"/>
          </a:p>
          <a:p>
            <a:pPr lvl="2" rtl="0"/>
            <a:r>
              <a:rPr lang="pt-BR" sz="1600"/>
              <a:t>A tabela de roteamento contém uma lista de todos os endereços de rede conhecidos (prefixos) e para onde encaminhar o pacote.</a:t>
            </a:r>
            <a:endParaRPr lang="pt-BR" sz="1600"/>
          </a:p>
          <a:p>
            <a:pPr lvl="2" rtl="0"/>
            <a:r>
              <a:rPr lang="pt-BR" sz="1600"/>
              <a:t>O roteador usa máscara de sub-rede mais longa ou correspondência de prefixo.</a:t>
            </a:r>
            <a:endParaRPr lang="pt-BR" sz="1600"/>
          </a:p>
          <a:p>
            <a:pPr lvl="2" rtl="0"/>
            <a:r>
              <a:rPr lang="pt-BR" sz="1600"/>
              <a:t>A tabela de roteamento tem três tipos de entradas de rota: redes conectadas diretamente, redes remotas e uma rota padrão.</a:t>
            </a:r>
            <a:endParaRPr lang="pt-BR" sz="1600"/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993"/>
            <a:ext cx="9144000" cy="757551"/>
          </a:xfrm>
        </p:spPr>
        <p:txBody>
          <a:bodyPr/>
          <a:lstStyle/>
          <a:p>
            <a:pPr rtl="0"/>
            <a:r>
              <a:rPr lang="pt-BR" sz="1800"/>
              <a:t>Network Layer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New Terms and Commands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86690" y="1028311"/>
            <a:ext cx="2721476" cy="3709769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Encapsulation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Routing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De-encapsulation</a:t>
            </a:r>
            <a:endParaRPr lang="pt-BR" sz="1600"/>
          </a:p>
          <a:p>
            <a:pPr rtl="0" fontAlgn="b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Data payload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Packet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Internet Protocol Version 4 (IPv4)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Internet Protocol Version 6 (IPv6)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Network Layer PDU = IP Packet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 Header</a:t>
            </a:r>
            <a:endParaRPr lang="pt-BR" sz="1600"/>
          </a:p>
        </p:txBody>
      </p:sp>
      <p:sp>
        <p:nvSpPr>
          <p:cNvPr id="6" name="Content Placeholder 1"/>
          <p:cNvSpPr txBox="1"/>
          <p:nvPr/>
        </p:nvSpPr>
        <p:spPr bwMode="auto">
          <a:xfrm>
            <a:off x="3008166" y="1019059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124" tIns="41061" rIns="82124" bIns="41061" numCol="1" anchor="t" anchorCtr="0" compatLnSpc="1"/>
          <a:lstStyle>
            <a:lvl1pPr marL="236855" indent="-236855" algn="l" defTabSz="81470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74675" indent="-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2pPr>
            <a:lvl3pPr marL="914400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3pPr>
            <a:lvl4pPr marL="1254125" indent="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4pPr>
            <a:lvl5pPr marL="1605280" indent="22415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5pPr>
            <a:lvl6pPr marL="20624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6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8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40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Best effort delivery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Media independent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Connectionless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Unreliable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Maximum Transmission Unit (MTU)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Version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Differentiated Services (DS)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Time-to-Live (TTL)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Internet Control Message Protocol (ICMP)</a:t>
            </a:r>
            <a:endParaRPr lang="pt-BR" sz="1600">
              <a:solidFill>
                <a:srgbClr val="000000"/>
              </a:solidFill>
            </a:endParaRPr>
          </a:p>
          <a:p>
            <a:pPr marL="0" indent="0" eaLnBrk="1" fontAlgn="b" hangingPunct="1">
              <a:buNone/>
            </a:pPr>
            <a:endParaRPr lang="en-US" sz="1600" dirty="0"/>
          </a:p>
        </p:txBody>
      </p:sp>
      <p:sp>
        <p:nvSpPr>
          <p:cNvPr id="8" name="Content Placeholder 1"/>
          <p:cNvSpPr txBox="1"/>
          <p:nvPr/>
        </p:nvSpPr>
        <p:spPr bwMode="auto">
          <a:xfrm>
            <a:off x="5858547" y="1028311"/>
            <a:ext cx="2841064" cy="3657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124" tIns="41061" rIns="82124" bIns="41061" numCol="1" anchor="t" anchorCtr="0" compatLnSpc="1"/>
          <a:lstStyle>
            <a:lvl1pPr marL="236855" indent="-236855" algn="l" defTabSz="81470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74675" indent="-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2pPr>
            <a:lvl3pPr marL="914400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3pPr>
            <a:lvl4pPr marL="1254125" indent="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4pPr>
            <a:lvl5pPr marL="1605280" indent="22415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5pPr>
            <a:lvl6pPr marL="20624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6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8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40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Identification, Flags, Fragment Offset fields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Network Address Translation (NAT)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Traffic Class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Flow Label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Payload Length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Next Header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Hop Limit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Extension Headers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Local host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Remote host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Default Gateway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 sz="1800">
                <a:latin typeface="Arial" panose="020B0604020202020204" pitchFamily="34" charset="0"/>
              </a:rPr>
              <a:t>Network Layer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New Terms and Commands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76908" y="1019059"/>
            <a:ext cx="2721476" cy="3709769"/>
          </a:xfrm>
          <a:ln>
            <a:solidFill>
              <a:srgbClr val="000000"/>
            </a:solidFill>
          </a:ln>
        </p:spPr>
        <p:txBody>
          <a:bodyPr/>
          <a:lstStyle/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netstat –r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route print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interface list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IPv4 Route Table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IPv6 Route Table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directly-connected routes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remote routes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default route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 b="1"/>
              <a:t>show ip route</a:t>
            </a:r>
            <a:endParaRPr lang="pt-BR" sz="1600" b="1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route source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destination network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outgoing interface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administrative distance</a:t>
            </a:r>
            <a:endParaRPr lang="pt-BR" sz="1600"/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metric</a:t>
            </a:r>
            <a:endParaRPr lang="pt-BR" sz="1600"/>
          </a:p>
        </p:txBody>
      </p:sp>
      <p:sp>
        <p:nvSpPr>
          <p:cNvPr id="6" name="Content Placeholder 1"/>
          <p:cNvSpPr txBox="1"/>
          <p:nvPr/>
        </p:nvSpPr>
        <p:spPr bwMode="auto">
          <a:xfrm>
            <a:off x="3005998" y="1019058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124" tIns="41061" rIns="82124" bIns="41061" numCol="1" anchor="t" anchorCtr="0" compatLnSpc="1"/>
          <a:lstStyle>
            <a:lvl1pPr marL="236855" indent="-236855" algn="l" defTabSz="81470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74675" indent="-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2pPr>
            <a:lvl3pPr marL="914400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3pPr>
            <a:lvl4pPr marL="1254125" indent="11747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4pPr>
            <a:lvl5pPr marL="1605280" indent="224155" algn="l" defTabSz="814705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5pPr>
            <a:lvl6pPr marL="20624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6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8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4080" algn="l" defTabSz="81470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next-hop</a:t>
            </a:r>
            <a:endParaRPr lang="pt-BR" sz="1600">
              <a:solidFill>
                <a:srgbClr val="000000"/>
              </a:solidFill>
            </a:endParaRP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route timestamp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COUNT" val="67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12870</Words>
  <Application>WPS Presentation</Application>
  <PresentationFormat>On-screen Show (16:9)</PresentationFormat>
  <Paragraphs>407</Paragraphs>
  <Slides>40</Slides>
  <Notes>46</Notes>
  <HiddenSlides>8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1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MS PGothic</vt:lpstr>
      <vt:lpstr>Wingdings</vt:lpstr>
      <vt:lpstr>Default Theme</vt:lpstr>
      <vt:lpstr>Módulo 8: Camada de rede</vt:lpstr>
      <vt:lpstr>Módulo 8: Camada de rede</vt:lpstr>
      <vt:lpstr>8.1 Características de camada de rede</vt:lpstr>
      <vt:lpstr>Características de camada de rede   Camada de Rede</vt:lpstr>
      <vt:lpstr>Características de camada de rede  Encapsulamento IP</vt:lpstr>
      <vt:lpstr>Características da camada de rede Características do IP</vt:lpstr>
      <vt:lpstr>Características de camada de rede  Conexões</vt:lpstr>
      <vt:lpstr>Características de camada de rede Melhor Esforço</vt:lpstr>
      <vt:lpstr>Características de camada de rede Independente de mídia</vt:lpstr>
      <vt:lpstr>Características da Camada de RedeIndependente deMídia (Contd.) </vt:lpstr>
      <vt:lpstr>8.2 Pacote IPv4</vt:lpstr>
      <vt:lpstr>Pacote IPv4  Cabeçalho do Pacote IPv4</vt:lpstr>
      <vt:lpstr>Pacote IPv4  Campos do Cabeçalho do Pacote IPv4</vt:lpstr>
      <vt:lpstr>Pacote IPv4  Campos do Cabeçalho do Pacote IPv4</vt:lpstr>
      <vt:lpstr> Pacote IPv4 Demonstração em vídeo - Exemplo de cabeçalhos IPv4 em Wireshark</vt:lpstr>
      <vt:lpstr>8.3 Pacotes IPv6</vt:lpstr>
      <vt:lpstr> Pacote IPv6 Limitações do IPv4</vt:lpstr>
      <vt:lpstr>Visão geral do IPv6 PacketsIPv6</vt:lpstr>
      <vt:lpstr>Pacotes IPv6 Campos de cabeçalho de pacote IPv4 no cabeçalho do pacote IPv6</vt:lpstr>
      <vt:lpstr>Pacotes IPv6 Cabeçalho do Pacote IPv6</vt:lpstr>
      <vt:lpstr>Pacote IPv6  Cabeçalho do pacote IPv6 (continuação)</vt:lpstr>
      <vt:lpstr>Pacote IPv6  Vídeo - Exemplo de cabeçalhos IPv6 em Wireshark</vt:lpstr>
      <vt:lpstr>8.4 Como um host roteia</vt:lpstr>
      <vt:lpstr>Como um host roteia  Decisão de encaminhamento do host</vt:lpstr>
      <vt:lpstr>Como um host roteia  Decisão de encaminhamento do host (Cont.)</vt:lpstr>
      <vt:lpstr>Como um host roteia  Gateway padrão</vt:lpstr>
      <vt:lpstr>Como um host é roteia  Um host é roteado para o gateway padrão</vt:lpstr>
      <vt:lpstr>Como um host roteia  Tabelas de roteamento do host</vt:lpstr>
      <vt:lpstr>8.5 Introdução ao Roteamento</vt:lpstr>
      <vt:lpstr>Introdução àdecisão de encaminhamento de pacotes doroteador de roteamento</vt:lpstr>
      <vt:lpstr>Introdução àTabela de Roteamento do RoteadorIP</vt:lpstr>
      <vt:lpstr>Introdução ao Roteamento Estático de Roteamento</vt:lpstr>
      <vt:lpstr>Introdução ao Roteamento Dinâmico de Roteamento</vt:lpstr>
      <vt:lpstr>Introdução ao Roteamento de Vídeo — Tabelas de Roteamento de Roteadores IPv4</vt:lpstr>
      <vt:lpstr>Introdução a roteamento Introdução a uma tabela de roteamento IPv4</vt:lpstr>
      <vt:lpstr>8.6 - Módulo Prática e Quiz</vt:lpstr>
      <vt:lpstr>Módulo Prática e Quiz O que aprendi neste módulo?</vt:lpstr>
      <vt:lpstr>Network Layer New Terms and Commands</vt:lpstr>
      <vt:lpstr>Network Layer New Terms and Commands</vt:lpstr>
      <vt:lpstr>PowerPoint 演示文稿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vaamonde</cp:lastModifiedBy>
  <cp:revision>1042</cp:revision>
  <dcterms:created xsi:type="dcterms:W3CDTF">2026-04-05T04:04:45Z</dcterms:created>
  <dcterms:modified xsi:type="dcterms:W3CDTF">2026-04-05T04:04:45Z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