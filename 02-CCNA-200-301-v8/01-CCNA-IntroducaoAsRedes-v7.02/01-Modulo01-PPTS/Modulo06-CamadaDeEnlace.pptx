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876" r:id="rId3"/>
    <p:sldId id="759" r:id="rId5"/>
    <p:sldId id="1054" r:id="rId6"/>
    <p:sldId id="1090" r:id="rId7"/>
    <p:sldId id="1091" r:id="rId8"/>
    <p:sldId id="1092" r:id="rId9"/>
    <p:sldId id="1056" r:id="rId10"/>
    <p:sldId id="1057" r:id="rId11"/>
    <p:sldId id="1093" r:id="rId12"/>
    <p:sldId id="1094" r:id="rId13"/>
    <p:sldId id="1095" r:id="rId14"/>
    <p:sldId id="1096" r:id="rId15"/>
    <p:sldId id="1097" r:id="rId16"/>
    <p:sldId id="1098" r:id="rId17"/>
    <p:sldId id="1099" r:id="rId18"/>
    <p:sldId id="1063" r:id="rId19"/>
    <p:sldId id="1064" r:id="rId20"/>
    <p:sldId id="1100" r:id="rId21"/>
    <p:sldId id="1101" r:id="rId22"/>
    <p:sldId id="1102" r:id="rId23"/>
    <p:sldId id="291" r:id="rId24"/>
  </p:sldIdLst>
  <p:sldSz cx="9144000" cy="5143500" type="screen16x9"/>
  <p:notesSz cx="6858000" cy="9144000"/>
  <p:custDataLst>
    <p:tags r:id="rId29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  <p:cmAuthor id="3" name="Sue Livingston -X (suliving - UNICON INC at Cisco)" initials="SL-(-UIaC" lastIdx="29" clrIdx="3"/>
  <p:cmAuthor id="4" name="jagibbon" initials="jmg" lastIdx="8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32" autoAdjust="0"/>
    <p:restoredTop sz="77288" autoAdjust="0"/>
  </p:normalViewPr>
  <p:slideViewPr>
    <p:cSldViewPr snapToGrid="0" showGuides="1">
      <p:cViewPr varScale="1">
        <p:scale>
          <a:sx n="68" d="100"/>
          <a:sy n="68" d="100"/>
        </p:scale>
        <p:origin x="1244" y="60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gs" Target="tags/tag6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Programa da Cisco Networking Academy</a:t>
            </a:r>
            <a:endParaRPr lang="pt-BR"/>
          </a:p>
          <a:p>
            <a:pPr rtl="0"/>
            <a:r>
              <a:rPr lang="pt-BR"/>
              <a:t>Introdução às redes v7.0 (ITN)</a:t>
            </a:r>
            <a:endParaRPr lang="pt-BR"/>
          </a:p>
          <a:p>
            <a:pPr rtl="0"/>
            <a:r>
              <a:rPr lang="pt-BR"/>
              <a:t>Módulo 6: Camada de Link de Dados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6.1 - Finalidade da camada de enlace de dados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6.1 – Propósito da camada de enlace de dados</a:t>
            </a:r>
            <a:endParaRPr lang="pt-BR"/>
          </a:p>
          <a:p>
            <a:pPr rtl="0"/>
            <a:r>
              <a:rPr lang="pt-BR"/>
              <a:t>6.1.1 - A camada de enlace de dados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6.1 – Propósito da camada de enlace de dados</a:t>
            </a:r>
            <a:endParaRPr lang="pt-BR"/>
          </a:p>
          <a:p>
            <a:pPr rtl="0"/>
            <a:r>
              <a:rPr lang="pt-BR"/>
              <a:t>6.1.2 — Sublcamadas de link de dados LAN/MAN IEEE 802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6.1 – Propósito da camada de enlace de dados</a:t>
            </a:r>
            <a:endParaRPr lang="pt-BR"/>
          </a:p>
          <a:p>
            <a:pPr rtl="0"/>
            <a:r>
              <a:rPr lang="pt-BR"/>
              <a:t>6.1.3 – Fornecimento de acesso ao meio físico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6.1 – Propósito da camada de enlace de dados</a:t>
            </a:r>
            <a:endParaRPr lang="pt-BR"/>
          </a:p>
          <a:p>
            <a:pPr rtl="0"/>
            <a:r>
              <a:rPr lang="pt-BR"/>
              <a:t>6.1.4 – Padrões de camada de enlace de dados</a:t>
            </a:r>
            <a:endParaRPr lang="pt-BR"/>
          </a:p>
          <a:p>
            <a:pPr rtl="0"/>
            <a:r>
              <a:rPr lang="pt-BR"/>
              <a:t>6.1.5 — Verifique seu entendimento — Finalidade da camada de link de dados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6.2 - Topologias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6.2 — Topologias</a:t>
            </a:r>
            <a:endParaRPr lang="pt-BR"/>
          </a:p>
          <a:p>
            <a:pPr rtl="0"/>
            <a:r>
              <a:rPr lang="pt-BR"/>
              <a:t>6.2.1 – Topologias físicas e lógicas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6.2 — Topologias</a:t>
            </a:r>
            <a:endParaRPr lang="pt-BR"/>
          </a:p>
          <a:p>
            <a:pPr rtl="0"/>
            <a:r>
              <a:rPr lang="pt-BR"/>
              <a:t>6.2.2 - Topologias da WAN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6.2 — Topologias</a:t>
            </a:r>
            <a:endParaRPr lang="pt-BR"/>
          </a:p>
          <a:p>
            <a:pPr rtl="0"/>
            <a:r>
              <a:rPr lang="pt-BR"/>
              <a:t>6.2.3 - Topologia de WAN ponto a ponto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6.2 — Topologias</a:t>
            </a:r>
            <a:endParaRPr lang="pt-BR"/>
          </a:p>
          <a:p>
            <a:pPr rtl="0"/>
            <a:r>
              <a:rPr lang="pt-BR"/>
              <a:t>6.2.4 – Topologias LAN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6.2 — Topologias</a:t>
            </a:r>
            <a:endParaRPr lang="pt-BR"/>
          </a:p>
          <a:p>
            <a:pPr rtl="0"/>
            <a:r>
              <a:rPr lang="pt-BR"/>
              <a:t>6.2.5 — Comunicação em meio e full duplex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6.2 — Topologias</a:t>
            </a:r>
            <a:endParaRPr lang="pt-BR"/>
          </a:p>
          <a:p>
            <a:pPr rtl="0"/>
            <a:r>
              <a:rPr lang="pt-BR"/>
              <a:t>6.2.6 - Métodos de controle de acesso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6.2 — Topologias</a:t>
            </a:r>
            <a:endParaRPr lang="pt-BR"/>
          </a:p>
          <a:p>
            <a:pPr rtl="0"/>
            <a:r>
              <a:rPr lang="pt-BR"/>
              <a:t>6.2.7 - Acesso baseado em contenção - CSMA / CD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6.2 — Topologias</a:t>
            </a:r>
            <a:endParaRPr lang="pt-BR"/>
          </a:p>
          <a:p>
            <a:pPr rtl="0"/>
            <a:r>
              <a:rPr lang="pt-BR"/>
              <a:t>6.2.8 - Acesso baseado em contenção - CSMA / CA</a:t>
            </a:r>
            <a:endParaRPr lang="pt-BR"/>
          </a:p>
          <a:p>
            <a:pPr rtl="0"/>
            <a:r>
              <a:rPr lang="pt-BR"/>
              <a:t>6.2.9 — Verifique seu entendimento - Topologias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6.3 - Quadro de link de dados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6.3 – Quadro de enlace de dados</a:t>
            </a:r>
            <a:endParaRPr lang="pt-BR"/>
          </a:p>
          <a:p>
            <a:pPr rtl="0"/>
            <a:r>
              <a:rPr lang="pt-BR"/>
              <a:t>6.3.1 — O quadro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6.3 – Quadro de enlace de dados</a:t>
            </a:r>
            <a:endParaRPr lang="pt-BR"/>
          </a:p>
          <a:p>
            <a:pPr rtl="0"/>
            <a:r>
              <a:rPr lang="pt-BR"/>
              <a:t>6.3.2 - Campos do quadro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6.3 – Quadro de enlace de dados</a:t>
            </a:r>
            <a:endParaRPr lang="pt-BR"/>
          </a:p>
          <a:p>
            <a:pPr rtl="0"/>
            <a:r>
              <a:rPr lang="pt-BR"/>
              <a:t>6.3.3 - Endereço da camada 2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6.3 – Quadro de enlace de dados</a:t>
            </a:r>
            <a:endParaRPr lang="pt-BR"/>
          </a:p>
          <a:p>
            <a:pPr rtl="0"/>
            <a:r>
              <a:rPr lang="pt-BR"/>
              <a:t>6.3.4 – Quadros de LAN e WAN</a:t>
            </a:r>
            <a:endParaRPr lang="pt-BR"/>
          </a:p>
          <a:p>
            <a:pPr rtl="0"/>
            <a:r>
              <a:rPr lang="pt-BR"/>
              <a:t>6.3.5 — Verifique seu entendimento — Quadro de link de dados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Confidencial da Cisco</a:t>
            </a:r>
            <a:endParaRPr lang="pt-BR"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  <a:endParaRPr lang="en-US" dirty="0"/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  <a:endParaRPr lang="en-US" dirty="0"/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  <a:endParaRPr lang="en-US" dirty="0"/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  <a:endParaRPr lang="en-US" dirty="0"/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6080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/>
          <a:lstStyle>
            <a:lvl1pPr marL="170180" indent="-17018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anose="020B0604020202020204" pitchFamily="34" charset="0"/>
              </a:rPr>
              <a:t>Click to edit Master text styles</a:t>
            </a:r>
            <a:endParaRPr lang="en-US">
              <a:sym typeface="Arial" panose="020B0604020202020204" pitchFamily="34" charset="0"/>
            </a:endParaRPr>
          </a:p>
          <a:p>
            <a:pPr lvl="1"/>
            <a:r>
              <a:rPr lang="en-US">
                <a:sym typeface="Arial" panose="020B0604020202020204" pitchFamily="34" charset="0"/>
              </a:rPr>
              <a:t>Second level</a:t>
            </a:r>
            <a:endParaRPr lang="en-US">
              <a:sym typeface="Arial" panose="020B0604020202020204" pitchFamily="34" charset="0"/>
            </a:endParaRPr>
          </a:p>
          <a:p>
            <a:pPr lvl="2"/>
            <a:r>
              <a:rPr lang="en-US">
                <a:sym typeface="Arial" panose="020B0604020202020204" pitchFamily="34" charset="0"/>
              </a:rPr>
              <a:t>Third level</a:t>
            </a:r>
            <a:endParaRPr lang="en-US">
              <a:sym typeface="Arial" panose="020B0604020202020204" pitchFamily="34" charset="0"/>
            </a:endParaRPr>
          </a:p>
          <a:p>
            <a:pPr lvl="3"/>
            <a:r>
              <a:rPr lang="en-US">
                <a:sym typeface="Arial" panose="020B0604020202020204" pitchFamily="34" charset="0"/>
              </a:rPr>
              <a:t>Fourth level</a:t>
            </a:r>
            <a:endParaRPr lang="en-US">
              <a:sym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anose="020B0604020202020204" pitchFamily="34" charset="0"/>
              </a:rPr>
              <a:t>Click to edit Master title style</a:t>
            </a:r>
            <a:endParaRPr lang="en-US" dirty="0"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/>
          <a:lstStyle/>
          <a:p>
            <a:pPr lvl="0"/>
            <a:r>
              <a:rPr lang="en-GB" altLang="en-US" dirty="0"/>
              <a:t>Title Goes Here</a:t>
            </a:r>
            <a:endParaRPr lang="en-GB" altLang="en-US" dirty="0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Confidencial da Cisco</a:t>
            </a:r>
            <a:endParaRPr lang="pt-BR"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slow">
    <p:wipe/>
  </p:transition>
  <p:txStyles>
    <p:titleStyle>
      <a:lvl1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MS PGothic" charset="0"/>
          <a:cs typeface="CiscoSans"/>
        </a:defRPr>
      </a:lvl1pPr>
      <a:lvl2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2pPr>
      <a:lvl3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3pPr>
      <a:lvl4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4pPr>
      <a:lvl5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5pPr>
      <a:lvl6pPr marL="4572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6pPr>
      <a:lvl7pPr marL="9144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7pPr>
      <a:lvl8pPr marL="13716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8pPr>
      <a:lvl9pPr marL="18288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9pPr>
    </p:titleStyle>
    <p:bodyStyle>
      <a:lvl1pPr marL="170180" indent="-170180" algn="l" defTabSz="684530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panose="020B0604020202020204" pitchFamily="34" charset="0"/>
        <a:buChar char="•"/>
        <a:defRPr lang="en-US" sz="1500" kern="1200" dirty="0">
          <a:solidFill>
            <a:schemeClr val="tx1"/>
          </a:solidFill>
          <a:latin typeface="+mn-lt"/>
          <a:ea typeface="MS PGothic" charset="0"/>
          <a:cs typeface="CiscoSans"/>
        </a:defRPr>
      </a:lvl1pPr>
      <a:lvl2pPr marL="358775" indent="-215900" algn="l" defTabSz="684530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MS PGothic" charset="0"/>
          <a:cs typeface="CiscoSans"/>
        </a:defRPr>
      </a:lvl2pPr>
      <a:lvl3pPr marL="431800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MS PGothic" charset="0"/>
          <a:cs typeface="CiscoSans"/>
        </a:defRPr>
      </a:lvl3pPr>
      <a:lvl4pPr marL="50355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4pPr>
      <a:lvl5pPr marL="57467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5pPr>
      <a:lvl6pPr marL="86360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99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0" algn="l" defTabSz="685800" rtl="0" eaLnBrk="1" latinLnBrk="0" hangingPunct="1">
        <a:spcBef>
          <a:spcPct val="20000"/>
        </a:spcBef>
        <a:buFont typeface="Arial" panose="020B0604020202020204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1808480"/>
            <a:ext cx="6672708" cy="1080143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6: Camada de Enlace (Link) de Dados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ubtitle 6"/>
          <p:cNvSpPr txBox="1"/>
          <p:nvPr/>
        </p:nvSpPr>
        <p:spPr>
          <a:xfrm>
            <a:off x="469497" y="3646043"/>
            <a:ext cx="2368954" cy="902174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 defTabSz="684530" rtl="0" eaLnBrk="1" fontAlgn="base" hangingPunct="1">
              <a:lnSpc>
                <a:spcPct val="95000"/>
              </a:lnSpc>
              <a:spcBef>
                <a:spcPts val="1075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defRPr lang="en-US" sz="1200" b="0" i="0" kern="1200">
                <a:solidFill>
                  <a:schemeClr val="accent5"/>
                </a:solidFill>
                <a:latin typeface="+mn-lt"/>
                <a:ea typeface="MS PGothic" charset="0"/>
                <a:cs typeface="CiscoSans"/>
              </a:defRPr>
            </a:lvl1pPr>
            <a:lvl2pPr marL="342900" indent="0" algn="ctr" defTabSz="684530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defRPr lang="en-US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charset="0"/>
                <a:cs typeface="CiscoSans"/>
              </a:defRPr>
            </a:lvl2pPr>
            <a:lvl3pPr marL="685800" indent="0" algn="ctr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None/>
              <a:def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charset="0"/>
                <a:cs typeface="CiscoSans"/>
              </a:defRPr>
            </a:lvl3pPr>
            <a:lvl4pPr marL="1028700" indent="0" algn="ctr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None/>
              <a:defRPr lang="en-US" sz="11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charset="0"/>
                <a:cs typeface="CiscoSans"/>
              </a:defRPr>
            </a:lvl4pPr>
            <a:lvl5pPr marL="1371600" indent="0" algn="ctr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None/>
              <a:defRPr lang="en-US" sz="11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charset="0"/>
                <a:cs typeface="CiscoSans"/>
              </a:defRPr>
            </a:lvl5pPr>
            <a:lvl6pPr marL="1714500" indent="0" algn="ctr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9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2565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  <a:sym typeface="+mn-ea"/>
              </a:rPr>
              <a:t>Versão: 1.0 - 01/04/2026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657088"/>
            <a:ext cx="7598042" cy="1473462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6.1 - Finalidade da Camada de Enlace de Dados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31520"/>
          </a:xfrm>
        </p:spPr>
        <p:txBody>
          <a:bodyPr/>
          <a:lstStyle/>
          <a:p>
            <a:pPr rtl="0"/>
            <a:r>
              <a:rPr lang="pt-BR" sz="1600"/>
              <a:t>Finalidade da Camada de Enlace de Dados </a:t>
            </a:r>
            <a:br>
              <a:rPr lang="en-US" dirty="0"/>
            </a:br>
            <a:r>
              <a:rPr lang="pt-BR" sz="2400"/>
              <a:t>A camada de Enlace de Dados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647065"/>
            <a:ext cx="3734435" cy="3850005"/>
          </a:xfrm>
        </p:spPr>
        <p:txBody>
          <a:bodyPr/>
          <a:lstStyle/>
          <a:p>
            <a:pPr marL="342900" indent="-342900" algn="just" rtl="0"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</a:rPr>
              <a:t>A camada </a:t>
            </a:r>
            <a:r>
              <a:rPr lang="pt-BR" sz="1700" b="1">
                <a:solidFill>
                  <a:srgbClr val="FF0000"/>
                </a:solidFill>
              </a:rPr>
              <a:t>Data Link</a:t>
            </a:r>
            <a:r>
              <a:rPr lang="pt-BR" sz="1700">
                <a:solidFill>
                  <a:srgbClr val="000000"/>
                </a:solidFill>
              </a:rPr>
              <a:t> é responsável pelas comunicações entre </a:t>
            </a:r>
            <a:r>
              <a:rPr lang="pt-BR" sz="1700" b="1">
                <a:solidFill>
                  <a:srgbClr val="0070C0"/>
                </a:solidFill>
              </a:rPr>
              <a:t>Placas de Interface de Rede (NIC)</a:t>
            </a:r>
            <a:r>
              <a:rPr lang="pt-BR" sz="1700">
                <a:solidFill>
                  <a:srgbClr val="000000"/>
                </a:solidFill>
              </a:rPr>
              <a:t> do </a:t>
            </a:r>
            <a:r>
              <a:rPr lang="pt-BR" sz="1700" b="1">
                <a:solidFill>
                  <a:srgbClr val="000000"/>
                </a:solidFill>
              </a:rPr>
              <a:t>dispositivo final (Endpoint)</a:t>
            </a:r>
            <a:r>
              <a:rPr lang="pt-BR" sz="1700">
                <a:solidFill>
                  <a:srgbClr val="000000"/>
                </a:solidFill>
              </a:rPr>
              <a:t>.</a:t>
            </a:r>
            <a:endParaRPr lang="pt-BR" sz="1700">
              <a:solidFill>
                <a:srgbClr val="000000"/>
              </a:solidFill>
            </a:endParaRPr>
          </a:p>
          <a:p>
            <a:pPr marL="342900" indent="-342900" algn="just" rtl="0"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</a:rPr>
              <a:t>Ele permite que os </a:t>
            </a:r>
            <a:r>
              <a:rPr lang="pt-BR" sz="1700" b="1">
                <a:solidFill>
                  <a:srgbClr val="FF0000"/>
                </a:solidFill>
              </a:rPr>
              <a:t>protocolos de camada superior</a:t>
            </a:r>
            <a:r>
              <a:rPr lang="pt-BR" sz="1700">
                <a:solidFill>
                  <a:srgbClr val="000000"/>
                </a:solidFill>
              </a:rPr>
              <a:t> acessem a mídia da camada física e </a:t>
            </a:r>
            <a:r>
              <a:rPr lang="pt-BR" sz="1700" b="1">
                <a:solidFill>
                  <a:srgbClr val="000000"/>
                </a:solidFill>
              </a:rPr>
              <a:t>Encapsula Pacotes da Camada 3 (IPv4 e IPv6)</a:t>
            </a:r>
            <a:r>
              <a:rPr lang="pt-BR" sz="1700">
                <a:solidFill>
                  <a:srgbClr val="000000"/>
                </a:solidFill>
              </a:rPr>
              <a:t> em </a:t>
            </a:r>
            <a:r>
              <a:rPr lang="pt-BR" sz="1700" b="1">
                <a:solidFill>
                  <a:srgbClr val="0070C0"/>
                </a:solidFill>
              </a:rPr>
              <a:t>Frames (Quadros) da Camada 2.</a:t>
            </a:r>
            <a:endParaRPr lang="pt-BR" sz="1700" b="1">
              <a:solidFill>
                <a:srgbClr val="0070C0"/>
              </a:solidFill>
            </a:endParaRPr>
          </a:p>
          <a:p>
            <a:pPr marL="342900" indent="-342900" algn="just" rtl="0"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</a:rPr>
              <a:t>Ele também executa a </a:t>
            </a:r>
            <a:r>
              <a:rPr lang="pt-BR" sz="1700" b="1">
                <a:solidFill>
                  <a:srgbClr val="000000"/>
                </a:solidFill>
              </a:rPr>
              <a:t>detecção de erros</a:t>
            </a:r>
            <a:r>
              <a:rPr lang="pt-BR" sz="1700">
                <a:solidFill>
                  <a:srgbClr val="000000"/>
                </a:solidFill>
              </a:rPr>
              <a:t> e rejeita quadros corrompidos.</a:t>
            </a:r>
            <a:endParaRPr lang="en-US" sz="1700" dirty="0">
              <a:solidFill>
                <a:srgbClr val="000000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9139" t="32468" r="11771" b="8436"/>
          <a:stretch>
            <a:fillRect/>
          </a:stretch>
        </p:blipFill>
        <p:spPr>
          <a:xfrm>
            <a:off x="3734435" y="647065"/>
            <a:ext cx="5264785" cy="3965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31520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Finalidade da Camada de Enlace de Dados </a:t>
            </a:r>
            <a:br>
              <a:rPr sz="1600">
                <a:sym typeface="+mn-ea"/>
              </a:rPr>
            </a:br>
            <a:r>
              <a:rPr lang="pt-BR" sz="2400"/>
              <a:t>IEEE 802 Subcamadas de Enlace de Dados </a:t>
            </a:r>
            <a:r>
              <a:rPr lang="pt-BR" sz="2400">
                <a:sym typeface="+mn-ea"/>
              </a:rPr>
              <a:t>LAN/MAN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98120" y="729615"/>
            <a:ext cx="4040505" cy="3957320"/>
          </a:xfrm>
        </p:spPr>
        <p:txBody>
          <a:bodyPr/>
          <a:lstStyle/>
          <a:p>
            <a:pPr marL="0" indent="0" algn="just" rtl="0"/>
            <a:r>
              <a:rPr lang="pt-BR" sz="1600">
                <a:solidFill>
                  <a:srgbClr val="000000"/>
                </a:solidFill>
              </a:rPr>
              <a:t>Os </a:t>
            </a:r>
            <a:r>
              <a:rPr lang="pt-BR" sz="1600" b="1">
                <a:solidFill>
                  <a:srgbClr val="FF0000"/>
                </a:solidFill>
              </a:rPr>
              <a:t>Padrões IEEE 802 LAN/MAN</a:t>
            </a:r>
            <a:r>
              <a:rPr lang="pt-BR" sz="1600">
                <a:solidFill>
                  <a:srgbClr val="000000"/>
                </a:solidFill>
              </a:rPr>
              <a:t> são específicos para o tipo de rede </a:t>
            </a:r>
            <a:r>
              <a:rPr lang="pt-BR" sz="1600" b="1">
                <a:solidFill>
                  <a:srgbClr val="000000"/>
                </a:solidFill>
              </a:rPr>
              <a:t>(Ethernet, WLAN, WPAN, etc).</a:t>
            </a:r>
            <a:endParaRPr lang="pt-BR" sz="1600" b="1">
              <a:solidFill>
                <a:srgbClr val="000000"/>
              </a:solidFill>
            </a:endParaRPr>
          </a:p>
          <a:p>
            <a:pPr marL="0" indent="0" algn="just"/>
            <a:endParaRPr lang="en-US" sz="1600" dirty="0">
              <a:solidFill>
                <a:srgbClr val="000000"/>
              </a:solidFill>
            </a:endParaRPr>
          </a:p>
          <a:p>
            <a:pPr marL="0" indent="0" algn="just" rtl="0"/>
            <a:r>
              <a:rPr lang="pt-BR" sz="1600">
                <a:solidFill>
                  <a:srgbClr val="000000"/>
                </a:solidFill>
              </a:rPr>
              <a:t>A </a:t>
            </a:r>
            <a:r>
              <a:rPr lang="pt-BR" sz="1600" b="1">
                <a:solidFill>
                  <a:srgbClr val="FF0000"/>
                </a:solidFill>
              </a:rPr>
              <a:t>Camada de Enlace de Dados</a:t>
            </a:r>
            <a:r>
              <a:rPr lang="pt-BR" sz="1600">
                <a:solidFill>
                  <a:srgbClr val="000000"/>
                </a:solidFill>
              </a:rPr>
              <a:t> consiste em duas subcamadas. </a:t>
            </a:r>
            <a:r>
              <a:rPr lang="pt-BR" sz="1600" b="1">
                <a:solidFill>
                  <a:srgbClr val="000000"/>
                </a:solidFill>
              </a:rPr>
              <a:t>Controle de Link Lógico (LLC)</a:t>
            </a:r>
            <a:r>
              <a:rPr lang="pt-BR" sz="1600">
                <a:solidFill>
                  <a:srgbClr val="000000"/>
                </a:solidFill>
              </a:rPr>
              <a:t> e </a:t>
            </a:r>
            <a:r>
              <a:rPr lang="pt-BR" sz="1600" b="1">
                <a:solidFill>
                  <a:srgbClr val="000000"/>
                </a:solidFill>
              </a:rPr>
              <a:t>Controle de Acesso a Mídia (MAC). </a:t>
            </a:r>
            <a:endParaRPr lang="pt-BR" sz="1600" b="1">
              <a:solidFill>
                <a:srgbClr val="000000"/>
              </a:solidFill>
            </a:endParaRPr>
          </a:p>
          <a:p>
            <a:pPr marL="488950" lvl="2" indent="-342900" algn="just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subcamada </a:t>
            </a:r>
            <a:r>
              <a:rPr lang="pt-BR" sz="1600" b="1">
                <a:solidFill>
                  <a:srgbClr val="000000"/>
                </a:solidFill>
              </a:rPr>
              <a:t>LLC </a:t>
            </a:r>
            <a:r>
              <a:rPr lang="pt-BR" sz="1600">
                <a:solidFill>
                  <a:srgbClr val="000000"/>
                </a:solidFill>
              </a:rPr>
              <a:t>se comunica entre o software de rede nas camadas superiores e o hardware do dispositivo nas camadas inferiores.</a:t>
            </a:r>
            <a:endParaRPr lang="pt-BR" sz="1600">
              <a:solidFill>
                <a:srgbClr val="000000"/>
              </a:solidFill>
            </a:endParaRPr>
          </a:p>
          <a:p>
            <a:pPr marL="488950" lvl="2" indent="-342900" algn="just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subcamada </a:t>
            </a:r>
            <a:r>
              <a:rPr lang="pt-BR" sz="1600" b="1">
                <a:solidFill>
                  <a:srgbClr val="000000"/>
                </a:solidFill>
              </a:rPr>
              <a:t>MAC </a:t>
            </a:r>
            <a:r>
              <a:rPr lang="pt-BR" sz="1600">
                <a:solidFill>
                  <a:srgbClr val="000000"/>
                </a:solidFill>
              </a:rPr>
              <a:t>é responsável pelo encapsulamento de dados e controle de acesso à mídia.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/>
          <a:srcRect l="9743" t="25872" r="10194" b="14532"/>
          <a:stretch>
            <a:fillRect/>
          </a:stretch>
        </p:blipFill>
        <p:spPr>
          <a:xfrm>
            <a:off x="4238625" y="731520"/>
            <a:ext cx="4757420" cy="383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3365" cy="731520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Finalidade da Camada de Enlace de Dados </a:t>
            </a:r>
            <a:br>
              <a:rPr sz="1600">
                <a:sym typeface="+mn-ea"/>
              </a:rPr>
            </a:br>
            <a:r>
              <a:rPr lang="pt-BR" sz="2400"/>
              <a:t>Fornecendo Acesso ao Meio Físico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2235" y="649605"/>
            <a:ext cx="4485640" cy="3923665"/>
          </a:xfrm>
        </p:spPr>
        <p:txBody>
          <a:bodyPr/>
          <a:lstStyle/>
          <a:p>
            <a:pPr marL="0" indent="0" algn="just" rtl="0"/>
            <a:r>
              <a:rPr lang="pt-BR" sz="165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Pacotes trocados entre </a:t>
            </a:r>
            <a:r>
              <a:rPr lang="pt-BR" sz="165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Nós </a:t>
            </a:r>
            <a:r>
              <a:rPr lang="pt-BR" sz="165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podem enfrentar várias camadas de </a:t>
            </a:r>
            <a:r>
              <a:rPr lang="pt-BR" sz="165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Enlace de Dados</a:t>
            </a:r>
            <a:r>
              <a:rPr lang="pt-BR" sz="165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transições de mídia.</a:t>
            </a:r>
            <a:endParaRPr lang="pt-BR" sz="165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/>
            <a:endParaRPr lang="en-US" sz="165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rtl="0"/>
            <a:r>
              <a:rPr lang="pt-BR" sz="165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 cada </a:t>
            </a:r>
            <a:r>
              <a:rPr lang="pt-BR" sz="165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salto ao longo do caminho</a:t>
            </a:r>
            <a:r>
              <a:rPr lang="pt-BR" sz="165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um roteador executa quatro funções básicas da Camada 2:</a:t>
            </a:r>
            <a:endParaRPr lang="pt-BR" sz="165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65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Aceita um </a:t>
            </a:r>
            <a:r>
              <a:rPr lang="pt-BR" sz="165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quadro da mídia de rede</a:t>
            </a:r>
            <a:r>
              <a:rPr lang="pt-BR" sz="165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165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65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Desencapsula </a:t>
            </a:r>
            <a:r>
              <a:rPr lang="pt-BR" sz="165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quadro para expor o </a:t>
            </a:r>
            <a:r>
              <a:rPr lang="pt-BR" sz="165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pacote encapsulado</a:t>
            </a:r>
            <a:r>
              <a:rPr lang="pt-BR" sz="165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165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5925" lvl="1" indent="-342900" algn="just" rtl="0"/>
            <a:r>
              <a:rPr lang="pt-BR" sz="165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Encapsula novamente o pacote</a:t>
            </a:r>
            <a:r>
              <a:rPr lang="pt-BR" sz="165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em um novo quadro.</a:t>
            </a:r>
            <a:endParaRPr lang="pt-BR" sz="165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5925" lvl="1" indent="-342900" algn="just" rtl="0"/>
            <a:r>
              <a:rPr lang="pt-BR" sz="165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Encaminha o novo quadro no meio</a:t>
            </a:r>
            <a:r>
              <a:rPr lang="pt-BR" sz="165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próximo segmento de rede.</a:t>
            </a:r>
            <a:endParaRPr lang="en-US" sz="165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9146" t="29468" r="16347" b="30724"/>
          <a:stretch>
            <a:fillRect/>
          </a:stretch>
        </p:blipFill>
        <p:spPr>
          <a:xfrm>
            <a:off x="4587875" y="33020"/>
            <a:ext cx="4441190" cy="239331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9292" t="29744" r="16646" b="30724"/>
          <a:stretch>
            <a:fillRect/>
          </a:stretch>
        </p:blipFill>
        <p:spPr>
          <a:xfrm>
            <a:off x="4587875" y="2426335"/>
            <a:ext cx="4441190" cy="2226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8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Finalidade da Camada de Enlace de Dados</a:t>
            </a:r>
            <a:br>
              <a:rPr lang="pt-BR" sz="1600">
                <a:sym typeface="+mn-ea"/>
              </a:rPr>
            </a:br>
            <a:r>
              <a:rPr lang="pt-BR" sz="2400"/>
              <a:t>Padrões da Camada de Enlace de Dados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6840" y="636270"/>
            <a:ext cx="3896995" cy="3827780"/>
          </a:xfrm>
        </p:spPr>
        <p:txBody>
          <a:bodyPr/>
          <a:lstStyle/>
          <a:p>
            <a:pPr marL="0" indent="0" algn="just" rtl="0"/>
            <a:r>
              <a:rPr lang="pt-BR" sz="1900">
                <a:solidFill>
                  <a:srgbClr val="000000"/>
                </a:solidFill>
              </a:rPr>
              <a:t>Os protocolos de camada de </a:t>
            </a:r>
            <a:r>
              <a:rPr lang="pt-BR" sz="1900" b="1">
                <a:solidFill>
                  <a:srgbClr val="FF0000"/>
                </a:solidFill>
              </a:rPr>
              <a:t>Enlace de Dados</a:t>
            </a:r>
            <a:r>
              <a:rPr lang="pt-BR" sz="1900">
                <a:solidFill>
                  <a:srgbClr val="000000"/>
                </a:solidFill>
              </a:rPr>
              <a:t> são definidos por organizações de engenharia:</a:t>
            </a:r>
            <a:endParaRPr lang="pt-BR" sz="1900">
              <a:solidFill>
                <a:srgbClr val="00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900" b="1">
                <a:solidFill>
                  <a:srgbClr val="0070C0"/>
                </a:solidFill>
              </a:rPr>
              <a:t>Instituto de Engenheiros Elétricos e Eletrônicos (IEEE).</a:t>
            </a:r>
            <a:endParaRPr lang="pt-BR" sz="1900" b="1">
              <a:solidFill>
                <a:srgbClr val="0070C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900" b="1">
                <a:solidFill>
                  <a:srgbClr val="0070C0"/>
                </a:solidFill>
              </a:rPr>
              <a:t>União Internacional de Telecomunicações (UIT).</a:t>
            </a:r>
            <a:endParaRPr lang="pt-BR" sz="1900" b="1">
              <a:solidFill>
                <a:srgbClr val="0070C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900" b="1">
                <a:solidFill>
                  <a:srgbClr val="0070C0"/>
                </a:solidFill>
              </a:rPr>
              <a:t>Organizações Internacionais de Normalização (ISO).</a:t>
            </a:r>
            <a:endParaRPr lang="pt-BR" sz="1900" b="1">
              <a:solidFill>
                <a:srgbClr val="0070C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900" b="1">
                <a:solidFill>
                  <a:srgbClr val="0070C0"/>
                </a:solidFill>
              </a:rPr>
              <a:t>Instituto Nacional Americano de Padrões (ANSI).</a:t>
            </a:r>
            <a:endParaRPr lang="en-US" sz="1900" dirty="0">
              <a:solidFill>
                <a:srgbClr val="000000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1840" t="33346" r="11090" b="15224"/>
          <a:stretch>
            <a:fillRect/>
          </a:stretch>
        </p:blipFill>
        <p:spPr>
          <a:xfrm>
            <a:off x="4013835" y="616585"/>
            <a:ext cx="4924425" cy="39858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6.2 - Topologias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31520"/>
          </a:xfrm>
        </p:spPr>
        <p:txBody>
          <a:bodyPr/>
          <a:lstStyle/>
          <a:p>
            <a:pPr rtl="0"/>
            <a:r>
              <a:rPr lang="pt-BR" sz="1600"/>
              <a:t>Topologias Físicas e Lógicas</a:t>
            </a:r>
            <a:br>
              <a:rPr lang="en-US" dirty="0"/>
            </a:br>
            <a:r>
              <a:rPr lang="pt-BR" sz="2400"/>
              <a:t>Topologias Físicas e Lógicas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158115" y="731520"/>
            <a:ext cx="3935095" cy="3978275"/>
          </a:xfrm>
        </p:spPr>
        <p:txBody>
          <a:bodyPr/>
          <a:lstStyle/>
          <a:p>
            <a:pPr marL="0" indent="0" algn="just" rtl="0"/>
            <a:r>
              <a:rPr lang="pt-BR" sz="1700">
                <a:solidFill>
                  <a:srgbClr val="000000"/>
                </a:solidFill>
              </a:rPr>
              <a:t>A topologia de uma rede é o </a:t>
            </a:r>
            <a:r>
              <a:rPr lang="pt-BR" sz="1700" b="1">
                <a:solidFill>
                  <a:srgbClr val="FF0000"/>
                </a:solidFill>
              </a:rPr>
              <a:t>arranjo e o relacionamento dos dispositivos de rede</a:t>
            </a:r>
            <a:r>
              <a:rPr lang="pt-BR" sz="1700">
                <a:solidFill>
                  <a:srgbClr val="000000"/>
                </a:solidFill>
              </a:rPr>
              <a:t> e as interconexões entre eles.</a:t>
            </a:r>
            <a:endParaRPr lang="pt-BR" sz="1700">
              <a:solidFill>
                <a:srgbClr val="000000"/>
              </a:solidFill>
            </a:endParaRPr>
          </a:p>
          <a:p>
            <a:pPr marL="0" indent="0" algn="just"/>
            <a:endParaRPr lang="en-US" sz="1700" dirty="0">
              <a:solidFill>
                <a:srgbClr val="000000"/>
              </a:solidFill>
            </a:endParaRPr>
          </a:p>
          <a:p>
            <a:pPr marL="0" indent="0" algn="just" rtl="0"/>
            <a:r>
              <a:rPr lang="pt-BR" sz="1700">
                <a:solidFill>
                  <a:srgbClr val="000000"/>
                </a:solidFill>
              </a:rPr>
              <a:t>Existem </a:t>
            </a:r>
            <a:r>
              <a:rPr lang="pt-BR" sz="1700" b="1">
                <a:solidFill>
                  <a:srgbClr val="FF0000"/>
                </a:solidFill>
              </a:rPr>
              <a:t>dois tipos de topologias</a:t>
            </a:r>
            <a:r>
              <a:rPr lang="pt-BR" sz="1700">
                <a:solidFill>
                  <a:srgbClr val="000000"/>
                </a:solidFill>
              </a:rPr>
              <a:t> usadas ao descrever redes:</a:t>
            </a:r>
            <a:endParaRPr lang="pt-BR" sz="1700">
              <a:solidFill>
                <a:srgbClr val="00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700" b="1">
                <a:solidFill>
                  <a:srgbClr val="0070C0"/>
                </a:solidFill>
              </a:rPr>
              <a:t>Topologia Física</a:t>
            </a:r>
            <a:r>
              <a:rPr lang="pt-BR" sz="1700" b="1">
                <a:solidFill>
                  <a:srgbClr val="000000"/>
                </a:solidFill>
              </a:rPr>
              <a:t> </a:t>
            </a:r>
            <a:r>
              <a:rPr lang="pt-BR" sz="1700">
                <a:solidFill>
                  <a:srgbClr val="000000"/>
                </a:solidFill>
              </a:rPr>
              <a:t>— mostra as </a:t>
            </a:r>
            <a:r>
              <a:rPr lang="pt-BR" sz="1700" b="1">
                <a:solidFill>
                  <a:srgbClr val="000000"/>
                </a:solidFill>
              </a:rPr>
              <a:t>conexões físicas</a:t>
            </a:r>
            <a:r>
              <a:rPr lang="pt-BR" sz="1700">
                <a:solidFill>
                  <a:srgbClr val="000000"/>
                </a:solidFill>
              </a:rPr>
              <a:t> e como os dispositivos estão interligados. </a:t>
            </a:r>
            <a:endParaRPr lang="pt-BR" sz="1700">
              <a:solidFill>
                <a:srgbClr val="00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700" b="1">
                <a:solidFill>
                  <a:srgbClr val="0070C0"/>
                </a:solidFill>
              </a:rPr>
              <a:t>Topologia Lógica</a:t>
            </a:r>
            <a:r>
              <a:rPr lang="pt-BR" sz="1700" b="1">
                <a:solidFill>
                  <a:srgbClr val="000000"/>
                </a:solidFill>
              </a:rPr>
              <a:t> </a:t>
            </a:r>
            <a:r>
              <a:rPr lang="pt-BR" sz="1700">
                <a:solidFill>
                  <a:srgbClr val="000000"/>
                </a:solidFill>
              </a:rPr>
              <a:t>— identifica as </a:t>
            </a:r>
            <a:r>
              <a:rPr lang="pt-BR" sz="1700" b="1">
                <a:solidFill>
                  <a:srgbClr val="000000"/>
                </a:solidFill>
              </a:rPr>
              <a:t>conexões virtuais</a:t>
            </a:r>
            <a:r>
              <a:rPr lang="pt-BR" sz="1700">
                <a:solidFill>
                  <a:srgbClr val="000000"/>
                </a:solidFill>
              </a:rPr>
              <a:t> entre dispositivos usando interfaces de dispositivo e esquemas de endereçamento IP. </a:t>
            </a:r>
            <a:endParaRPr lang="en-US" sz="1700" dirty="0">
              <a:solidFill>
                <a:srgbClr val="000000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9146" t="35974" r="9444" b="17436"/>
          <a:stretch>
            <a:fillRect/>
          </a:stretch>
        </p:blipFill>
        <p:spPr>
          <a:xfrm>
            <a:off x="4093210" y="84455"/>
            <a:ext cx="4852670" cy="237172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0194" t="44282" r="10792" b="13423"/>
          <a:stretch>
            <a:fillRect/>
          </a:stretch>
        </p:blipFill>
        <p:spPr>
          <a:xfrm>
            <a:off x="4093210" y="2470785"/>
            <a:ext cx="4852670" cy="2170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Topologias Físicas e Lógicas</a:t>
            </a:r>
            <a:br>
              <a:rPr lang="en-US" dirty="0"/>
            </a:br>
            <a:r>
              <a:rPr lang="pt-BR" sz="2400"/>
              <a:t>As Topologias de WAN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65405" y="731520"/>
            <a:ext cx="4578985" cy="3942715"/>
          </a:xfrm>
        </p:spPr>
        <p:txBody>
          <a:bodyPr/>
          <a:lstStyle/>
          <a:p>
            <a:pPr marL="0" indent="0" algn="just" rtl="0"/>
            <a:r>
              <a:rPr lang="pt-BR" sz="1800">
                <a:solidFill>
                  <a:srgbClr val="000000"/>
                </a:solidFill>
              </a:rPr>
              <a:t>Existem três topologias físicas comuns da WAN: </a:t>
            </a:r>
            <a:endParaRPr lang="pt-BR" sz="1800">
              <a:solidFill>
                <a:srgbClr val="00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800" b="1">
                <a:solidFill>
                  <a:srgbClr val="0070C0"/>
                </a:solidFill>
              </a:rPr>
              <a:t>Ponto a Ponto</a:t>
            </a:r>
            <a:r>
              <a:rPr lang="pt-BR" sz="1800">
                <a:solidFill>
                  <a:srgbClr val="000000"/>
                </a:solidFill>
              </a:rPr>
              <a:t> — a topologia WAN mais simples e comum. Consiste em uma ligação permanente entre dois pontos finais. </a:t>
            </a:r>
            <a:endParaRPr lang="pt-BR" sz="1800">
              <a:solidFill>
                <a:srgbClr val="00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800" b="1">
                <a:solidFill>
                  <a:srgbClr val="0070C0"/>
                </a:solidFill>
              </a:rPr>
              <a:t>Hub e Spoke</a:t>
            </a:r>
            <a:r>
              <a:rPr lang="pt-BR" sz="1800" b="1">
                <a:solidFill>
                  <a:srgbClr val="000000"/>
                </a:solidFill>
              </a:rPr>
              <a:t> </a:t>
            </a:r>
            <a:r>
              <a:rPr lang="pt-BR" sz="1800">
                <a:solidFill>
                  <a:srgbClr val="000000"/>
                </a:solidFill>
              </a:rPr>
              <a:t>- semelhante a uma topologia em estrela, na qual um site central interconecta sites de filial por meio de links ponto a ponto.</a:t>
            </a:r>
            <a:endParaRPr lang="pt-BR" sz="1800">
              <a:solidFill>
                <a:srgbClr val="00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800" b="1">
                <a:solidFill>
                  <a:srgbClr val="0070C0"/>
                </a:solidFill>
              </a:rPr>
              <a:t>Malha</a:t>
            </a:r>
            <a:r>
              <a:rPr lang="pt-BR" sz="1800">
                <a:solidFill>
                  <a:srgbClr val="0070C0"/>
                </a:solidFill>
              </a:rPr>
              <a:t> </a:t>
            </a:r>
            <a:r>
              <a:rPr lang="pt-BR" sz="1800">
                <a:solidFill>
                  <a:srgbClr val="000000"/>
                </a:solidFill>
              </a:rPr>
              <a:t>- fornece alta disponibilidade, mas requer que todos os sistemas finais estejam conectados a todos os outros sistemas finais.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7437" t="63513" r="27736" b="29340"/>
          <a:stretch>
            <a:fillRect/>
          </a:stretch>
        </p:blipFill>
        <p:spPr>
          <a:xfrm>
            <a:off x="4644390" y="195580"/>
            <a:ext cx="4399915" cy="76009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4736" t="42340" r="25340" b="18135"/>
          <a:stretch>
            <a:fillRect/>
          </a:stretch>
        </p:blipFill>
        <p:spPr>
          <a:xfrm>
            <a:off x="6509385" y="846455"/>
            <a:ext cx="2534920" cy="217487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5486" t="44699" r="25333" b="17436"/>
          <a:stretch>
            <a:fillRect/>
          </a:stretch>
        </p:blipFill>
        <p:spPr>
          <a:xfrm>
            <a:off x="4644390" y="2383155"/>
            <a:ext cx="2746375" cy="2291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3365" cy="731520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Topologias Físicas e Lógicas</a:t>
            </a:r>
            <a:br>
              <a:rPr lang="en-US" dirty="0"/>
            </a:br>
            <a:r>
              <a:rPr lang="pt-BR" sz="2400"/>
              <a:t>Topologia de WAN (Wide Area Network) Ponto a Ponto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33020" y="731520"/>
            <a:ext cx="9006840" cy="1536700"/>
          </a:xfrm>
        </p:spPr>
        <p:txBody>
          <a:bodyPr/>
          <a:lstStyle/>
          <a:p>
            <a:pPr marL="342900" indent="-342900" algn="just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As topologias </a:t>
            </a:r>
            <a:r>
              <a:rPr lang="pt-BR" b="1">
                <a:solidFill>
                  <a:srgbClr val="FF0000"/>
                </a:solidFill>
              </a:rPr>
              <a:t>Ponta a Ponta</a:t>
            </a:r>
            <a:r>
              <a:rPr lang="pt-BR">
                <a:solidFill>
                  <a:srgbClr val="000000"/>
                </a:solidFill>
              </a:rPr>
              <a:t> físicas conectam diretamente dois nós.</a:t>
            </a:r>
            <a:endParaRPr lang="pt-BR">
              <a:solidFill>
                <a:srgbClr val="000000"/>
              </a:solidFill>
            </a:endParaRPr>
          </a:p>
          <a:p>
            <a:pPr marL="342900" indent="-342900" algn="just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Os nós não podem </a:t>
            </a:r>
            <a:r>
              <a:rPr lang="pt-BR" b="1">
                <a:solidFill>
                  <a:srgbClr val="FF0000"/>
                </a:solidFill>
              </a:rPr>
              <a:t>compartilhar a mídia</a:t>
            </a:r>
            <a:r>
              <a:rPr lang="pt-BR">
                <a:solidFill>
                  <a:srgbClr val="000000"/>
                </a:solidFill>
              </a:rPr>
              <a:t> com outros hosts.</a:t>
            </a:r>
            <a:endParaRPr lang="pt-BR">
              <a:solidFill>
                <a:srgbClr val="000000"/>
              </a:solidFill>
            </a:endParaRPr>
          </a:p>
          <a:p>
            <a:pPr marL="342900" indent="-342900" algn="just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Como todos os </a:t>
            </a:r>
            <a:r>
              <a:rPr lang="pt-BR" b="1">
                <a:solidFill>
                  <a:srgbClr val="0070C0"/>
                </a:solidFill>
              </a:rPr>
              <a:t>quadros na mídia só podem viajar de ou para os dois nós</a:t>
            </a:r>
            <a:r>
              <a:rPr lang="pt-BR">
                <a:solidFill>
                  <a:srgbClr val="000000"/>
                </a:solidFill>
              </a:rPr>
              <a:t>, os protocolos </a:t>
            </a:r>
            <a:r>
              <a:rPr lang="pt-BR" b="1">
                <a:solidFill>
                  <a:srgbClr val="FF0000"/>
                </a:solidFill>
              </a:rPr>
              <a:t>WAN Ponto a Ponto</a:t>
            </a:r>
            <a:r>
              <a:rPr lang="pt-BR">
                <a:solidFill>
                  <a:srgbClr val="000000"/>
                </a:solidFill>
              </a:rPr>
              <a:t> podem ser muito simples.</a:t>
            </a:r>
            <a:endParaRPr lang="pt-BR">
              <a:solidFill>
                <a:srgbClr val="000000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8950" lvl="2" indent="-342900" algn="just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/>
            <a:endParaRPr lang="en-US" sz="1600" dirty="0">
              <a:solidFill>
                <a:srgbClr val="000000"/>
              </a:solidFill>
            </a:endParaRPr>
          </a:p>
          <a:p>
            <a:pPr marL="0" indent="0" algn="just"/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/>
          <a:srcRect l="17840" t="65731" r="16938" b="26019"/>
          <a:stretch>
            <a:fillRect/>
          </a:stretch>
        </p:blipFill>
        <p:spPr>
          <a:xfrm>
            <a:off x="226060" y="2162810"/>
            <a:ext cx="8813800" cy="96583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0944" t="43724" r="10194" b="41103"/>
          <a:stretch>
            <a:fillRect/>
          </a:stretch>
        </p:blipFill>
        <p:spPr>
          <a:xfrm>
            <a:off x="226060" y="3128645"/>
            <a:ext cx="8813800" cy="1503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3365" cy="731520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Topologias Físicas e Lógicas</a:t>
            </a:r>
            <a:br>
              <a:rPr lang="en-US" dirty="0"/>
            </a:br>
            <a:r>
              <a:rPr lang="pt-BR" sz="2400"/>
              <a:t>Topologias LAN (Local Area Network)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152410" y="691645"/>
            <a:ext cx="4047061" cy="3613533"/>
          </a:xfrm>
        </p:spPr>
        <p:txBody>
          <a:bodyPr/>
          <a:lstStyle/>
          <a:p>
            <a:pPr marL="0" indent="0" algn="just" rtl="0"/>
            <a:r>
              <a:rPr lang="pt-BR" sz="1550">
                <a:solidFill>
                  <a:srgbClr val="000000"/>
                </a:solidFill>
              </a:rPr>
              <a:t>Os </a:t>
            </a:r>
            <a:r>
              <a:rPr lang="pt-BR" sz="1550" b="1">
                <a:solidFill>
                  <a:srgbClr val="FF0000"/>
                </a:solidFill>
              </a:rPr>
              <a:t>dispositivos finais em LANs</a:t>
            </a:r>
            <a:r>
              <a:rPr lang="pt-BR" sz="1550">
                <a:solidFill>
                  <a:srgbClr val="000000"/>
                </a:solidFill>
              </a:rPr>
              <a:t> são normalmente interconectados usando uma </a:t>
            </a:r>
            <a:r>
              <a:rPr lang="pt-BR" sz="1550" b="1">
                <a:solidFill>
                  <a:srgbClr val="000000"/>
                </a:solidFill>
              </a:rPr>
              <a:t>Topologia Estrela ou Estelar Estendida</a:t>
            </a:r>
            <a:r>
              <a:rPr lang="pt-BR" sz="1550">
                <a:solidFill>
                  <a:srgbClr val="000000"/>
                </a:solidFill>
              </a:rPr>
              <a:t>. Topologias estrelas e estrelas estendidas são </a:t>
            </a:r>
            <a:r>
              <a:rPr lang="pt-BR" sz="1550" b="1">
                <a:solidFill>
                  <a:srgbClr val="0070C0"/>
                </a:solidFill>
              </a:rPr>
              <a:t>fáceis de instalar</a:t>
            </a:r>
            <a:r>
              <a:rPr lang="pt-BR" sz="1550">
                <a:solidFill>
                  <a:srgbClr val="000000"/>
                </a:solidFill>
              </a:rPr>
              <a:t>, muito escaláveis e fáceis de solucionar problemas.</a:t>
            </a:r>
            <a:endParaRPr lang="pt-BR" sz="1550">
              <a:solidFill>
                <a:srgbClr val="000000"/>
              </a:solidFill>
            </a:endParaRPr>
          </a:p>
          <a:p>
            <a:pPr marL="0" indent="0" algn="just"/>
            <a:endParaRPr lang="en-US" sz="1550" dirty="0">
              <a:solidFill>
                <a:srgbClr val="000000"/>
              </a:solidFill>
            </a:endParaRPr>
          </a:p>
          <a:p>
            <a:pPr marL="0" indent="0" algn="just" rtl="0"/>
            <a:r>
              <a:rPr lang="pt-BR" sz="1550">
                <a:solidFill>
                  <a:srgbClr val="000000"/>
                </a:solidFill>
              </a:rPr>
              <a:t>As tecnologias </a:t>
            </a:r>
            <a:r>
              <a:rPr lang="pt-BR" sz="1550" b="1">
                <a:solidFill>
                  <a:srgbClr val="0070C0"/>
                </a:solidFill>
              </a:rPr>
              <a:t>Early Ethernet</a:t>
            </a:r>
            <a:r>
              <a:rPr lang="pt-BR" sz="1550">
                <a:solidFill>
                  <a:srgbClr val="000000"/>
                </a:solidFill>
              </a:rPr>
              <a:t> e </a:t>
            </a:r>
            <a:r>
              <a:rPr lang="pt-BR" sz="1550" b="1">
                <a:solidFill>
                  <a:srgbClr val="0070C0"/>
                </a:solidFill>
              </a:rPr>
              <a:t>Token Ring Legacy</a:t>
            </a:r>
            <a:r>
              <a:rPr lang="pt-BR" sz="1550">
                <a:solidFill>
                  <a:srgbClr val="000000"/>
                </a:solidFill>
              </a:rPr>
              <a:t> fornecem duas topologias adicionais:</a:t>
            </a:r>
            <a:endParaRPr lang="pt-BR" sz="1550">
              <a:solidFill>
                <a:srgbClr val="00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550" b="1">
                <a:solidFill>
                  <a:srgbClr val="FF0000"/>
                </a:solidFill>
              </a:rPr>
              <a:t>Barramento</a:t>
            </a:r>
            <a:r>
              <a:rPr lang="pt-BR" sz="1550">
                <a:solidFill>
                  <a:srgbClr val="FF0000"/>
                </a:solidFill>
              </a:rPr>
              <a:t> </a:t>
            </a:r>
            <a:r>
              <a:rPr lang="pt-BR" sz="1550">
                <a:solidFill>
                  <a:srgbClr val="000000"/>
                </a:solidFill>
              </a:rPr>
              <a:t>- Todos os sistemas finais encadeados e terminados em cada extremidade.</a:t>
            </a:r>
            <a:endParaRPr lang="pt-BR" sz="1550">
              <a:solidFill>
                <a:srgbClr val="00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550" b="1">
                <a:solidFill>
                  <a:srgbClr val="FF0000"/>
                </a:solidFill>
              </a:rPr>
              <a:t>Anel </a:t>
            </a:r>
            <a:r>
              <a:rPr lang="pt-BR" sz="1550">
                <a:solidFill>
                  <a:srgbClr val="000000"/>
                </a:solidFill>
              </a:rPr>
              <a:t>— Cada sistema final é conectado aos seus respectivos vizinhos para formar um anel. </a:t>
            </a:r>
            <a:endParaRPr lang="en-US" sz="1550" dirty="0">
              <a:solidFill>
                <a:srgbClr val="000000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9146" t="33622" r="9597" b="13981"/>
          <a:stretch>
            <a:fillRect/>
          </a:stretch>
        </p:blipFill>
        <p:spPr>
          <a:xfrm>
            <a:off x="4199255" y="925830"/>
            <a:ext cx="4836160" cy="33794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/>
          <p:nvPr/>
        </p:nvSpPr>
        <p:spPr bwMode="auto">
          <a:xfrm>
            <a:off x="0" y="0"/>
            <a:ext cx="9143365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/>
          <a:lstStyle>
            <a:lvl1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3200" kern="1200">
                <a:solidFill>
                  <a:srgbClr val="004C69"/>
                </a:solidFill>
                <a:latin typeface="+mj-lt"/>
                <a:ea typeface="MS PGothic" charset="0"/>
                <a:cs typeface="CiscoSans"/>
              </a:defRPr>
            </a:lvl1pPr>
            <a:lvl2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2pPr>
            <a:lvl3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3pPr>
            <a:lvl4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4pPr>
            <a:lvl5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5pPr>
            <a:lvl6pPr marL="4572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6pPr>
            <a:lvl7pPr marL="9144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7pPr>
            <a:lvl8pPr marL="13716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8pPr>
            <a:lvl9pPr marL="18288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r>
              <a:rPr lang="pt-BR" sz="1600">
                <a:sym typeface="+mn-ea"/>
              </a:rPr>
              <a:t>Topologias Físicas e Lógicas</a:t>
            </a:r>
            <a:br>
              <a:rPr lang="en-US" dirty="0"/>
            </a:br>
            <a:r>
              <a:rPr lang="pt-BR" sz="2400"/>
              <a:t>Comunicação Hal Duplex e Full Duplex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65405" y="731520"/>
            <a:ext cx="4526280" cy="3909060"/>
          </a:xfrm>
        </p:spPr>
        <p:txBody>
          <a:bodyPr/>
          <a:lstStyle/>
          <a:p>
            <a:pPr marL="0" indent="0" algn="just" rtl="0"/>
            <a:r>
              <a:rPr lang="pt-BR" sz="1700" b="1">
                <a:solidFill>
                  <a:srgbClr val="FF0000"/>
                </a:solidFill>
              </a:rPr>
              <a:t>Comunicação Half-Duplex</a:t>
            </a:r>
            <a:endParaRPr lang="pt-BR" sz="1700" b="1">
              <a:solidFill>
                <a:srgbClr val="FF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</a:rPr>
              <a:t>Só permite que um dispositivo envie ou receba de cada vez em uma mídia compartilhada.</a:t>
            </a:r>
            <a:endParaRPr lang="pt-BR" sz="1700">
              <a:solidFill>
                <a:srgbClr val="00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</a:rPr>
              <a:t>Usado em WLANs e topologias de barramento herdadas com hubs Ethernet.</a:t>
            </a:r>
            <a:endParaRPr lang="pt-BR" sz="1700">
              <a:solidFill>
                <a:srgbClr val="000000"/>
              </a:solidFill>
            </a:endParaRPr>
          </a:p>
          <a:p>
            <a:pPr marL="0" indent="0" algn="just"/>
            <a:endParaRPr lang="en-US" sz="1700" b="1" dirty="0">
              <a:solidFill>
                <a:srgbClr val="000000"/>
              </a:solidFill>
            </a:endParaRPr>
          </a:p>
          <a:p>
            <a:pPr marL="0" indent="0" algn="just" rtl="0"/>
            <a:r>
              <a:rPr lang="pt-BR" sz="1700" b="1">
                <a:solidFill>
                  <a:srgbClr val="FF0000"/>
                </a:solidFill>
              </a:rPr>
              <a:t>Comunicação Full-Duplex</a:t>
            </a:r>
            <a:endParaRPr lang="pt-BR" sz="1700" b="1">
              <a:solidFill>
                <a:srgbClr val="FF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</a:rPr>
              <a:t>Permite que ambos os dispositivos transmitam e recebam simultaneamente em uma mídia compartilhada.</a:t>
            </a:r>
            <a:endParaRPr lang="pt-BR" sz="1700">
              <a:solidFill>
                <a:srgbClr val="00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</a:rPr>
              <a:t>Os comutadores Ethernet operam no modo full-duplex.</a:t>
            </a:r>
            <a:endParaRPr lang="en-US" sz="1700" dirty="0">
              <a:solidFill>
                <a:srgbClr val="000000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1431" t="46077" r="20840" b="38474"/>
          <a:stretch>
            <a:fillRect/>
          </a:stretch>
        </p:blipFill>
        <p:spPr>
          <a:xfrm>
            <a:off x="4674235" y="567055"/>
            <a:ext cx="4307205" cy="124841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rcRect l="21590" t="46359" r="20986" b="38885"/>
          <a:stretch>
            <a:fillRect/>
          </a:stretch>
        </p:blipFill>
        <p:spPr>
          <a:xfrm>
            <a:off x="4674235" y="1920875"/>
            <a:ext cx="4307205" cy="119888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1139" t="42622" r="20090" b="41244"/>
          <a:stretch>
            <a:fillRect/>
          </a:stretch>
        </p:blipFill>
        <p:spPr>
          <a:xfrm>
            <a:off x="4674235" y="3215640"/>
            <a:ext cx="4357370" cy="12960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/>
          <p:nvPr/>
        </p:nvSpPr>
        <p:spPr bwMode="auto">
          <a:xfrm>
            <a:off x="0" y="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/>
          <a:lstStyle>
            <a:lvl1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3200" kern="1200">
                <a:solidFill>
                  <a:srgbClr val="004C69"/>
                </a:solidFill>
                <a:latin typeface="+mj-lt"/>
                <a:ea typeface="MS PGothic" charset="0"/>
                <a:cs typeface="CiscoSans"/>
              </a:defRPr>
            </a:lvl1pPr>
            <a:lvl2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2pPr>
            <a:lvl3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3pPr>
            <a:lvl4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4pPr>
            <a:lvl5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5pPr>
            <a:lvl6pPr marL="4572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6pPr>
            <a:lvl7pPr marL="9144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7pPr>
            <a:lvl8pPr marL="13716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8pPr>
            <a:lvl9pPr marL="18288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r>
              <a:rPr lang="pt-BR" sz="1600">
                <a:sym typeface="+mn-ea"/>
              </a:rPr>
              <a:t>Topologias Físicas e Lógicas</a:t>
            </a:r>
            <a:br>
              <a:rPr lang="en-US" dirty="0"/>
            </a:br>
            <a:r>
              <a:rPr lang="pt-BR" sz="2400"/>
              <a:t>Métodos de Controle de Acesso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157480" y="637540"/>
            <a:ext cx="4305935" cy="4059555"/>
          </a:xfrm>
        </p:spPr>
        <p:txBody>
          <a:bodyPr/>
          <a:lstStyle/>
          <a:p>
            <a:pPr marL="0" indent="0" algn="just" rtl="0"/>
            <a:r>
              <a:rPr lang="pt-BR" sz="1450" b="1">
                <a:solidFill>
                  <a:srgbClr val="FF0000"/>
                </a:solidFill>
              </a:rPr>
              <a:t>Acesso Baseado em Contenção</a:t>
            </a:r>
            <a:endParaRPr lang="pt-BR" sz="1450" b="1">
              <a:solidFill>
                <a:srgbClr val="FF0000"/>
              </a:solidFill>
            </a:endParaRPr>
          </a:p>
          <a:p>
            <a:pPr marL="73025" lvl="1" indent="0" algn="just" rtl="0">
              <a:buNone/>
            </a:pPr>
            <a:r>
              <a:rPr lang="pt-BR" sz="1450">
                <a:solidFill>
                  <a:srgbClr val="000000"/>
                </a:solidFill>
              </a:rPr>
              <a:t>Todos os nós operando em </a:t>
            </a:r>
            <a:r>
              <a:rPr lang="pt-BR" sz="1450" b="1">
                <a:solidFill>
                  <a:srgbClr val="000000"/>
                </a:solidFill>
              </a:rPr>
              <a:t>Half-Duplex</a:t>
            </a:r>
            <a:r>
              <a:rPr lang="pt-BR" sz="1450">
                <a:solidFill>
                  <a:srgbClr val="000000"/>
                </a:solidFill>
              </a:rPr>
              <a:t>, competindo pelo uso do meio. Os exemplos são:</a:t>
            </a:r>
            <a:endParaRPr lang="pt-BR" sz="1450">
              <a:solidFill>
                <a:srgbClr val="000000"/>
              </a:solidFill>
            </a:endParaRPr>
          </a:p>
          <a:p>
            <a:pPr marL="488950" lvl="2" indent="-342900" algn="just" rtl="0">
              <a:buFont typeface="Arial" panose="020B0604020202020204" pitchFamily="34" charset="0"/>
              <a:buChar char="•"/>
            </a:pPr>
            <a:r>
              <a:rPr lang="pt-BR" sz="1450">
                <a:solidFill>
                  <a:srgbClr val="000000"/>
                </a:solidFill>
              </a:rPr>
              <a:t>A operadora detecta o </a:t>
            </a:r>
            <a:r>
              <a:rPr lang="pt-BR" sz="1450" b="1">
                <a:solidFill>
                  <a:srgbClr val="FF0000"/>
                </a:solidFill>
              </a:rPr>
              <a:t>Acesso Múltiplo com Detecção de Colisão</a:t>
            </a:r>
            <a:r>
              <a:rPr lang="pt-BR" sz="1450">
                <a:solidFill>
                  <a:srgbClr val="000000"/>
                </a:solidFill>
              </a:rPr>
              <a:t> (CSMA / CD) conforme usado na </a:t>
            </a:r>
            <a:r>
              <a:rPr lang="pt-BR" sz="1450" b="1">
                <a:solidFill>
                  <a:srgbClr val="000000"/>
                </a:solidFill>
              </a:rPr>
              <a:t>Ethernet </a:t>
            </a:r>
            <a:r>
              <a:rPr lang="pt-BR" sz="1450">
                <a:solidFill>
                  <a:srgbClr val="000000"/>
                </a:solidFill>
              </a:rPr>
              <a:t>de topologia de </a:t>
            </a:r>
            <a:r>
              <a:rPr lang="pt-BR" sz="1450" b="1">
                <a:solidFill>
                  <a:srgbClr val="0070C0"/>
                </a:solidFill>
              </a:rPr>
              <a:t>barramento herdada</a:t>
            </a:r>
            <a:r>
              <a:rPr lang="pt-BR" sz="1450">
                <a:solidFill>
                  <a:srgbClr val="000000"/>
                </a:solidFill>
              </a:rPr>
              <a:t>.</a:t>
            </a:r>
            <a:endParaRPr lang="pt-BR" sz="1450">
              <a:solidFill>
                <a:srgbClr val="000000"/>
              </a:solidFill>
            </a:endParaRPr>
          </a:p>
          <a:p>
            <a:pPr marL="488950" lvl="2" indent="-342900" algn="just" rtl="0">
              <a:buFont typeface="Arial" panose="020B0604020202020204" pitchFamily="34" charset="0"/>
              <a:buChar char="•"/>
            </a:pPr>
            <a:r>
              <a:rPr lang="pt-BR" sz="1450">
                <a:solidFill>
                  <a:srgbClr val="000000"/>
                </a:solidFill>
              </a:rPr>
              <a:t>A operadora detecta o </a:t>
            </a:r>
            <a:r>
              <a:rPr lang="pt-BR" sz="1450" b="1">
                <a:solidFill>
                  <a:srgbClr val="FF0000"/>
                </a:solidFill>
              </a:rPr>
              <a:t>Acesso Múltiplo com Prevenção de Colisão</a:t>
            </a:r>
            <a:r>
              <a:rPr lang="pt-BR" sz="1450">
                <a:solidFill>
                  <a:srgbClr val="000000"/>
                </a:solidFill>
              </a:rPr>
              <a:t> (CSMA / CA), conforme usado nas </a:t>
            </a:r>
            <a:r>
              <a:rPr lang="pt-BR" sz="1450" b="1">
                <a:solidFill>
                  <a:srgbClr val="0070C0"/>
                </a:solidFill>
              </a:rPr>
              <a:t>LANs Sem-Fio</a:t>
            </a:r>
            <a:r>
              <a:rPr lang="pt-BR" sz="1450">
                <a:solidFill>
                  <a:srgbClr val="000000"/>
                </a:solidFill>
              </a:rPr>
              <a:t>.</a:t>
            </a:r>
            <a:endParaRPr lang="pt-BR" sz="1450">
              <a:solidFill>
                <a:srgbClr val="000000"/>
              </a:solidFill>
            </a:endParaRPr>
          </a:p>
          <a:p>
            <a:pPr marL="146050" lvl="2" indent="0" algn="just">
              <a:buNone/>
            </a:pPr>
            <a:endParaRPr lang="en-US" sz="1450" dirty="0">
              <a:solidFill>
                <a:srgbClr val="000000"/>
              </a:solidFill>
            </a:endParaRPr>
          </a:p>
          <a:p>
            <a:pPr marL="0" indent="0" algn="just" rtl="0"/>
            <a:r>
              <a:rPr lang="pt-BR" sz="1450" b="1">
                <a:solidFill>
                  <a:srgbClr val="000000"/>
                </a:solidFill>
              </a:rPr>
              <a:t>Acesso controlado</a:t>
            </a:r>
            <a:endParaRPr lang="pt-BR" sz="1450" b="1">
              <a:solidFill>
                <a:srgbClr val="00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450">
                <a:solidFill>
                  <a:srgbClr val="000000"/>
                </a:solidFill>
              </a:rPr>
              <a:t>Acesso determinístico onde cada nó tem seu próprio tempo no meio.</a:t>
            </a:r>
            <a:endParaRPr lang="pt-BR" sz="1450">
              <a:solidFill>
                <a:srgbClr val="00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450">
                <a:solidFill>
                  <a:srgbClr val="000000"/>
                </a:solidFill>
              </a:rPr>
              <a:t>Usado em </a:t>
            </a:r>
            <a:r>
              <a:rPr lang="pt-BR" sz="1450" b="1">
                <a:solidFill>
                  <a:srgbClr val="0070C0"/>
                </a:solidFill>
              </a:rPr>
              <a:t>redes herdadas</a:t>
            </a:r>
            <a:r>
              <a:rPr lang="pt-BR" sz="1450">
                <a:solidFill>
                  <a:srgbClr val="000000"/>
                </a:solidFill>
              </a:rPr>
              <a:t>, como </a:t>
            </a:r>
            <a:r>
              <a:rPr lang="pt-BR" sz="1450" b="1">
                <a:solidFill>
                  <a:srgbClr val="FF0000"/>
                </a:solidFill>
              </a:rPr>
              <a:t>Token Ring e ARCNET.</a:t>
            </a:r>
            <a:endParaRPr lang="en-US" sz="1450" dirty="0">
              <a:solidFill>
                <a:srgbClr val="000000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2896" t="38744" r="14097" b="29897"/>
          <a:stretch>
            <a:fillRect/>
          </a:stretch>
        </p:blipFill>
        <p:spPr>
          <a:xfrm>
            <a:off x="4463415" y="154305"/>
            <a:ext cx="4569460" cy="2126615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5590" t="41788" r="18292" b="10378"/>
          <a:stretch>
            <a:fillRect/>
          </a:stretch>
        </p:blipFill>
        <p:spPr>
          <a:xfrm>
            <a:off x="4463415" y="2280920"/>
            <a:ext cx="4570095" cy="23196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/>
          <p:nvPr/>
        </p:nvSpPr>
        <p:spPr bwMode="auto">
          <a:xfrm>
            <a:off x="0" y="0"/>
            <a:ext cx="9143365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/>
          <a:lstStyle>
            <a:lvl1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3200" kern="1200">
                <a:solidFill>
                  <a:srgbClr val="004C69"/>
                </a:solidFill>
                <a:latin typeface="+mj-lt"/>
                <a:ea typeface="MS PGothic" charset="0"/>
                <a:cs typeface="CiscoSans"/>
              </a:defRPr>
            </a:lvl1pPr>
            <a:lvl2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2pPr>
            <a:lvl3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3pPr>
            <a:lvl4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4pPr>
            <a:lvl5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5pPr>
            <a:lvl6pPr marL="4572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6pPr>
            <a:lvl7pPr marL="9144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7pPr>
            <a:lvl8pPr marL="13716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8pPr>
            <a:lvl9pPr marL="18288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r>
              <a:rPr lang="pt-BR" sz="1600">
                <a:sym typeface="+mn-ea"/>
              </a:rPr>
              <a:t>Topologias Físicas e Lógicas</a:t>
            </a:r>
            <a:br>
              <a:rPr lang="en-US" dirty="0"/>
            </a:br>
            <a:r>
              <a:rPr lang="pt-BR" sz="2400"/>
              <a:t>Acesso Baseado em Contenção - CSMA/CD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65405" y="623570"/>
            <a:ext cx="4511675" cy="4009390"/>
          </a:xfrm>
        </p:spPr>
        <p:txBody>
          <a:bodyPr/>
          <a:lstStyle/>
          <a:p>
            <a:pPr marL="0" indent="0" algn="just" rtl="0"/>
            <a:r>
              <a:rPr lang="pt-BR" sz="1400" b="1">
                <a:solidFill>
                  <a:srgbClr val="FF0000"/>
                </a:solidFill>
              </a:rPr>
              <a:t>CSMA/CD</a:t>
            </a:r>
            <a:endParaRPr lang="pt-BR" sz="1400" b="1">
              <a:solidFill>
                <a:srgbClr val="FF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Usado por </a:t>
            </a:r>
            <a:r>
              <a:rPr lang="pt-BR" sz="1400" b="1">
                <a:solidFill>
                  <a:srgbClr val="FF0000"/>
                </a:solidFill>
              </a:rPr>
              <a:t>LANs Ethernet Herdadas</a:t>
            </a:r>
            <a:r>
              <a:rPr lang="pt-BR" sz="1400">
                <a:solidFill>
                  <a:srgbClr val="000000"/>
                </a:solidFill>
              </a:rPr>
              <a:t>.</a:t>
            </a:r>
            <a:endParaRPr lang="pt-BR" sz="1400">
              <a:solidFill>
                <a:srgbClr val="00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Funciona no modo </a:t>
            </a:r>
            <a:r>
              <a:rPr lang="pt-BR" sz="1400" b="1">
                <a:solidFill>
                  <a:srgbClr val="000000"/>
                </a:solidFill>
              </a:rPr>
              <a:t>Half-Duplex</a:t>
            </a:r>
            <a:r>
              <a:rPr lang="pt-BR" sz="1400">
                <a:solidFill>
                  <a:srgbClr val="000000"/>
                </a:solidFill>
              </a:rPr>
              <a:t> onde apenas </a:t>
            </a:r>
            <a:r>
              <a:rPr lang="pt-BR" sz="1400" b="1">
                <a:solidFill>
                  <a:srgbClr val="FF0000"/>
                </a:solidFill>
              </a:rPr>
              <a:t>um </a:t>
            </a:r>
            <a:r>
              <a:rPr lang="pt-BR" sz="1400">
                <a:solidFill>
                  <a:srgbClr val="000000"/>
                </a:solidFill>
              </a:rPr>
              <a:t>dispositivo envia ou recebe de cada vez.</a:t>
            </a:r>
            <a:endParaRPr lang="pt-BR" sz="1400">
              <a:solidFill>
                <a:srgbClr val="00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Usa um processo de </a:t>
            </a:r>
            <a:r>
              <a:rPr lang="pt-BR" sz="1400" b="1">
                <a:solidFill>
                  <a:srgbClr val="FF0000"/>
                </a:solidFill>
              </a:rPr>
              <a:t>detecção de colisão</a:t>
            </a:r>
            <a:r>
              <a:rPr lang="pt-BR" sz="1400">
                <a:solidFill>
                  <a:srgbClr val="000000"/>
                </a:solidFill>
              </a:rPr>
              <a:t> para controlar quando um dispositivo pode enviar e o que acontece se vários dispositivos enviarem ao mesmo tempo.</a:t>
            </a:r>
            <a:endParaRPr lang="pt-BR" sz="1400">
              <a:solidFill>
                <a:srgbClr val="000000"/>
              </a:solidFill>
            </a:endParaRPr>
          </a:p>
          <a:p>
            <a:pPr marL="73025" lvl="1" indent="0" algn="just">
              <a:buNone/>
            </a:pPr>
            <a:endParaRPr lang="en-US" sz="1400" dirty="0">
              <a:solidFill>
                <a:srgbClr val="000000"/>
              </a:solidFill>
            </a:endParaRPr>
          </a:p>
          <a:p>
            <a:pPr marL="73025" lvl="1" indent="0" algn="just" rtl="0">
              <a:buNone/>
            </a:pPr>
            <a:r>
              <a:rPr lang="pt-BR" sz="1400" b="1">
                <a:solidFill>
                  <a:srgbClr val="000000"/>
                </a:solidFill>
              </a:rPr>
              <a:t>Processo de detecção de colisão CSMA/CD</a:t>
            </a:r>
            <a:r>
              <a:rPr lang="pt-BR" sz="1400">
                <a:solidFill>
                  <a:srgbClr val="000000"/>
                </a:solidFill>
              </a:rPr>
              <a:t>:</a:t>
            </a:r>
            <a:endParaRPr lang="pt-BR" sz="1400">
              <a:solidFill>
                <a:srgbClr val="000000"/>
              </a:solidFill>
            </a:endParaRPr>
          </a:p>
          <a:p>
            <a:pPr marL="488950" lvl="2" indent="-342900" algn="just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Dispositivos que transmitem simultaneamente </a:t>
            </a:r>
            <a:r>
              <a:rPr lang="pt-BR" sz="1400" b="1">
                <a:solidFill>
                  <a:srgbClr val="FF0000"/>
                </a:solidFill>
              </a:rPr>
              <a:t>resultarão em uma colisão</a:t>
            </a:r>
            <a:r>
              <a:rPr lang="pt-BR" sz="1400">
                <a:solidFill>
                  <a:srgbClr val="000000"/>
                </a:solidFill>
              </a:rPr>
              <a:t> de sinal na mídia compartilhada.</a:t>
            </a:r>
            <a:endParaRPr lang="pt-BR" sz="1400">
              <a:solidFill>
                <a:srgbClr val="000000"/>
              </a:solidFill>
            </a:endParaRPr>
          </a:p>
          <a:p>
            <a:pPr marL="488950" lvl="2" indent="-342900" algn="just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Dispositivos</a:t>
            </a:r>
            <a:r>
              <a:rPr lang="pt-BR" sz="1400" b="1">
                <a:solidFill>
                  <a:srgbClr val="FF0000"/>
                </a:solidFill>
              </a:rPr>
              <a:t> detectam a colisão</a:t>
            </a:r>
            <a:r>
              <a:rPr lang="pt-BR" sz="1400">
                <a:solidFill>
                  <a:srgbClr val="000000"/>
                </a:solidFill>
              </a:rPr>
              <a:t>.</a:t>
            </a:r>
            <a:endParaRPr lang="pt-BR" sz="1400">
              <a:solidFill>
                <a:srgbClr val="000000"/>
              </a:solidFill>
            </a:endParaRPr>
          </a:p>
          <a:p>
            <a:pPr marL="488950" lvl="2" indent="-342900" algn="just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Os dispositivos</a:t>
            </a:r>
            <a:r>
              <a:rPr lang="pt-BR" sz="1400" b="1">
                <a:solidFill>
                  <a:srgbClr val="FF0000"/>
                </a:solidFill>
              </a:rPr>
              <a:t> aguardam um período aleatório de tempo</a:t>
            </a:r>
            <a:r>
              <a:rPr lang="pt-BR" sz="1400">
                <a:solidFill>
                  <a:srgbClr val="000000"/>
                </a:solidFill>
              </a:rPr>
              <a:t> e retransmitem dados.</a:t>
            </a:r>
            <a:endParaRPr lang="en-US" sz="1400" dirty="0">
              <a:solidFill>
                <a:srgbClr val="000000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5792" t="62269" r="19646" b="11904"/>
          <a:stretch>
            <a:fillRect/>
          </a:stretch>
        </p:blipFill>
        <p:spPr>
          <a:xfrm>
            <a:off x="4577080" y="556895"/>
            <a:ext cx="4481830" cy="2079625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0243" t="49397" r="19639" b="23942"/>
          <a:stretch>
            <a:fillRect/>
          </a:stretch>
        </p:blipFill>
        <p:spPr>
          <a:xfrm>
            <a:off x="4577080" y="2636520"/>
            <a:ext cx="4481195" cy="19824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/>
          <p:nvPr/>
        </p:nvSpPr>
        <p:spPr bwMode="auto">
          <a:xfrm>
            <a:off x="0" y="0"/>
            <a:ext cx="9143365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/>
          <a:lstStyle>
            <a:lvl1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3200" kern="1200">
                <a:solidFill>
                  <a:srgbClr val="004C69"/>
                </a:solidFill>
                <a:latin typeface="+mj-lt"/>
                <a:ea typeface="MS PGothic" charset="0"/>
                <a:cs typeface="CiscoSans"/>
              </a:defRPr>
            </a:lvl1pPr>
            <a:lvl2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2pPr>
            <a:lvl3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3pPr>
            <a:lvl4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4pPr>
            <a:lvl5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5pPr>
            <a:lvl6pPr marL="4572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6pPr>
            <a:lvl7pPr marL="9144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7pPr>
            <a:lvl8pPr marL="13716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8pPr>
            <a:lvl9pPr marL="18288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r>
              <a:rPr lang="pt-BR" sz="1600">
                <a:sym typeface="+mn-ea"/>
              </a:rPr>
              <a:t>Topologias Físicas e Lógicas</a:t>
            </a:r>
            <a:br>
              <a:rPr lang="en-US" dirty="0"/>
            </a:br>
            <a:r>
              <a:rPr lang="pt-BR" sz="2400"/>
              <a:t>Acesso Baseado em Contenção - CSMA/CA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102870" y="624205"/>
            <a:ext cx="4209415" cy="4046220"/>
          </a:xfrm>
        </p:spPr>
        <p:txBody>
          <a:bodyPr/>
          <a:lstStyle/>
          <a:p>
            <a:pPr marL="0" indent="0" algn="just" rtl="0"/>
            <a:r>
              <a:rPr lang="pt-BR" sz="1400" b="1">
                <a:solidFill>
                  <a:srgbClr val="FF0000"/>
                </a:solidFill>
              </a:rPr>
              <a:t>CSMA/CA</a:t>
            </a:r>
            <a:endParaRPr lang="pt-BR" sz="1400" b="1">
              <a:solidFill>
                <a:srgbClr val="FF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Usado por </a:t>
            </a:r>
            <a:r>
              <a:rPr lang="pt-BR" sz="1400" b="1">
                <a:solidFill>
                  <a:srgbClr val="FF0000"/>
                </a:solidFill>
              </a:rPr>
              <a:t>WLANs IEEE 802.11</a:t>
            </a:r>
            <a:r>
              <a:rPr lang="pt-BR" sz="1400">
                <a:solidFill>
                  <a:srgbClr val="000000"/>
                </a:solidFill>
              </a:rPr>
              <a:t>.</a:t>
            </a:r>
            <a:endParaRPr lang="pt-BR" sz="1400">
              <a:solidFill>
                <a:srgbClr val="00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Funciona no modo </a:t>
            </a:r>
            <a:r>
              <a:rPr lang="pt-BR" sz="1400" b="1">
                <a:solidFill>
                  <a:srgbClr val="000000"/>
                </a:solidFill>
              </a:rPr>
              <a:t>Half-Duplex</a:t>
            </a:r>
            <a:r>
              <a:rPr lang="pt-BR" sz="1400">
                <a:solidFill>
                  <a:srgbClr val="000000"/>
                </a:solidFill>
              </a:rPr>
              <a:t> onde apenas </a:t>
            </a:r>
            <a:r>
              <a:rPr lang="pt-BR" sz="1400" b="1">
                <a:solidFill>
                  <a:srgbClr val="000000"/>
                </a:solidFill>
              </a:rPr>
              <a:t>um </a:t>
            </a:r>
            <a:r>
              <a:rPr lang="pt-BR" sz="1400">
                <a:solidFill>
                  <a:srgbClr val="000000"/>
                </a:solidFill>
              </a:rPr>
              <a:t>dispositivo envia ou recebe de cada vez.</a:t>
            </a:r>
            <a:endParaRPr lang="pt-BR" sz="1400">
              <a:solidFill>
                <a:srgbClr val="00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Usa um processo de </a:t>
            </a:r>
            <a:r>
              <a:rPr lang="pt-BR" sz="1400" b="1">
                <a:solidFill>
                  <a:srgbClr val="FF0000"/>
                </a:solidFill>
              </a:rPr>
              <a:t>prevenção de colisão</a:t>
            </a:r>
            <a:r>
              <a:rPr lang="pt-BR" sz="1400">
                <a:solidFill>
                  <a:srgbClr val="000000"/>
                </a:solidFill>
              </a:rPr>
              <a:t> para controlar quando um dispositivo pode enviar e o que acontece se vários dispositivos enviarem ao mesmo tempo.</a:t>
            </a:r>
            <a:endParaRPr lang="pt-BR" sz="1400">
              <a:solidFill>
                <a:srgbClr val="000000"/>
              </a:solidFill>
            </a:endParaRPr>
          </a:p>
          <a:p>
            <a:pPr marL="73025" lvl="1" indent="0" algn="just">
              <a:buNone/>
            </a:pPr>
            <a:endParaRPr lang="en-US" sz="1400" dirty="0">
              <a:solidFill>
                <a:srgbClr val="000000"/>
              </a:solidFill>
            </a:endParaRPr>
          </a:p>
          <a:p>
            <a:pPr marL="0" lvl="1" indent="0" algn="just" defTabSz="457200" rtl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None/>
            </a:pPr>
            <a:r>
              <a:rPr lang="pt-BR" sz="1400" b="1">
                <a:solidFill>
                  <a:srgbClr val="000000"/>
                </a:solidFill>
              </a:rPr>
              <a:t>Processo de prevenção de colisão CSMA/CA</a:t>
            </a:r>
            <a:r>
              <a:rPr lang="pt-BR" sz="1400">
                <a:solidFill>
                  <a:srgbClr val="000000"/>
                </a:solidFill>
              </a:rPr>
              <a:t>:</a:t>
            </a:r>
            <a:endParaRPr lang="pt-BR" sz="1400">
              <a:solidFill>
                <a:srgbClr val="00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Ao transmitir, os</a:t>
            </a:r>
            <a:r>
              <a:rPr lang="pt-BR" sz="1400" b="1">
                <a:solidFill>
                  <a:srgbClr val="FF0000"/>
                </a:solidFill>
              </a:rPr>
              <a:t> dispositivos também incluem a duração de tempo</a:t>
            </a:r>
            <a:r>
              <a:rPr lang="pt-BR" sz="1400">
                <a:solidFill>
                  <a:srgbClr val="000000"/>
                </a:solidFill>
              </a:rPr>
              <a:t> necessária para a transmissão.</a:t>
            </a:r>
            <a:endParaRPr lang="pt-BR" sz="1400">
              <a:solidFill>
                <a:srgbClr val="00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Outros dispositivos na mídia compartilhada </a:t>
            </a:r>
            <a:r>
              <a:rPr lang="pt-BR" sz="1400" b="1">
                <a:solidFill>
                  <a:srgbClr val="FF0000"/>
                </a:solidFill>
              </a:rPr>
              <a:t>recebem as informações de duração do tempo</a:t>
            </a:r>
            <a:r>
              <a:rPr lang="pt-BR" sz="1400">
                <a:solidFill>
                  <a:srgbClr val="000000"/>
                </a:solidFill>
              </a:rPr>
              <a:t> e sabem por quanto tempo a mídia ficará indisponível.</a:t>
            </a:r>
            <a:endParaRPr lang="en-US" sz="1400" dirty="0">
              <a:solidFill>
                <a:srgbClr val="000000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1542" t="32795" r="8097" b="22692"/>
          <a:stretch>
            <a:fillRect/>
          </a:stretch>
        </p:blipFill>
        <p:spPr>
          <a:xfrm>
            <a:off x="4379595" y="1129030"/>
            <a:ext cx="4764405" cy="30372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2201545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6.3 - Quadro de Enlace de Dados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31520"/>
          </a:xfrm>
        </p:spPr>
        <p:txBody>
          <a:bodyPr/>
          <a:lstStyle/>
          <a:p>
            <a:pPr rtl="0"/>
            <a:r>
              <a:rPr lang="pt-BR" sz="1600"/>
              <a:t>Quadro de Enlace de Dados </a:t>
            </a:r>
            <a:br>
              <a:rPr lang="en-US" dirty="0"/>
            </a:br>
            <a:r>
              <a:rPr lang="pt-BR" sz="2400"/>
              <a:t>O quadro</a:t>
            </a:r>
            <a:endParaRPr lang="pt-BR" sz="24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8900" y="641985"/>
            <a:ext cx="8911590" cy="2040255"/>
          </a:xfrm>
        </p:spPr>
        <p:txBody>
          <a:bodyPr/>
          <a:lstStyle/>
          <a:p>
            <a:pPr marL="0" indent="0" algn="just" rtl="0"/>
            <a:r>
              <a:rPr lang="pt-BR" sz="1400">
                <a:solidFill>
                  <a:srgbClr val="000000"/>
                </a:solidFill>
              </a:rPr>
              <a:t>Os dados são </a:t>
            </a:r>
            <a:r>
              <a:rPr lang="pt-BR" sz="1400" b="1">
                <a:solidFill>
                  <a:srgbClr val="FF0000"/>
                </a:solidFill>
              </a:rPr>
              <a:t>Encapsulados pela Camada de Enlace de Dados</a:t>
            </a:r>
            <a:r>
              <a:rPr lang="pt-BR" sz="1400">
                <a:solidFill>
                  <a:srgbClr val="000000"/>
                </a:solidFill>
              </a:rPr>
              <a:t> com um </a:t>
            </a:r>
            <a:r>
              <a:rPr lang="pt-BR" sz="1400" b="1">
                <a:solidFill>
                  <a:srgbClr val="000000"/>
                </a:solidFill>
              </a:rPr>
              <a:t>cabeçalho</a:t>
            </a:r>
            <a:r>
              <a:rPr lang="pt-BR" sz="1400">
                <a:solidFill>
                  <a:srgbClr val="000000"/>
                </a:solidFill>
              </a:rPr>
              <a:t> e um </a:t>
            </a:r>
            <a:r>
              <a:rPr lang="pt-BR" sz="1400" b="1">
                <a:solidFill>
                  <a:srgbClr val="000000"/>
                </a:solidFill>
              </a:rPr>
              <a:t>trailer </a:t>
            </a:r>
            <a:r>
              <a:rPr lang="pt-BR" sz="1400">
                <a:solidFill>
                  <a:srgbClr val="000000"/>
                </a:solidFill>
              </a:rPr>
              <a:t>para formar um </a:t>
            </a:r>
            <a:r>
              <a:rPr lang="pt-BR" sz="1400" b="1">
                <a:solidFill>
                  <a:srgbClr val="0070C0"/>
                </a:solidFill>
              </a:rPr>
              <a:t>Quadro (Frame)</a:t>
            </a:r>
            <a:r>
              <a:rPr lang="pt-BR" sz="1400">
                <a:solidFill>
                  <a:srgbClr val="000000"/>
                </a:solidFill>
              </a:rPr>
              <a:t>. Um quadro de enlace de dados tem </a:t>
            </a:r>
            <a:r>
              <a:rPr lang="pt-BR" sz="1400" b="1">
                <a:solidFill>
                  <a:srgbClr val="000000"/>
                </a:solidFill>
              </a:rPr>
              <a:t>três partes</a:t>
            </a:r>
            <a:r>
              <a:rPr lang="pt-BR" sz="1400">
                <a:solidFill>
                  <a:srgbClr val="000000"/>
                </a:solidFill>
              </a:rPr>
              <a:t>:</a:t>
            </a:r>
            <a:endParaRPr lang="pt-BR" sz="1400">
              <a:solidFill>
                <a:srgbClr val="00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400" b="1">
                <a:solidFill>
                  <a:srgbClr val="FF0000"/>
                </a:solidFill>
              </a:rPr>
              <a:t>Cabeçalho</a:t>
            </a:r>
            <a:endParaRPr lang="pt-BR" sz="1400" b="1">
              <a:solidFill>
                <a:srgbClr val="FF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400" b="1">
                <a:solidFill>
                  <a:srgbClr val="FF0000"/>
                </a:solidFill>
              </a:rPr>
              <a:t>Dados</a:t>
            </a:r>
            <a:endParaRPr lang="pt-BR" sz="1400" b="1">
              <a:solidFill>
                <a:srgbClr val="FF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400" b="1">
                <a:solidFill>
                  <a:srgbClr val="FF0000"/>
                </a:solidFill>
              </a:rPr>
              <a:t>Trailer</a:t>
            </a:r>
            <a:endParaRPr lang="pt-BR" sz="1400" b="1">
              <a:solidFill>
                <a:srgbClr val="FF0000"/>
              </a:solidFill>
            </a:endParaRPr>
          </a:p>
          <a:p>
            <a:pPr marL="0" lvl="1" indent="0" algn="just" defTabSz="457200" rtl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None/>
            </a:pPr>
            <a:r>
              <a:rPr lang="pt-BR" sz="1400">
                <a:solidFill>
                  <a:srgbClr val="000000"/>
                </a:solidFill>
              </a:rPr>
              <a:t>Os campos do </a:t>
            </a:r>
            <a:r>
              <a:rPr lang="pt-BR" sz="1400" b="1">
                <a:solidFill>
                  <a:srgbClr val="FF0000"/>
                </a:solidFill>
              </a:rPr>
              <a:t>cabeçalho e do trailer</a:t>
            </a:r>
            <a:r>
              <a:rPr lang="pt-BR" sz="1400">
                <a:solidFill>
                  <a:srgbClr val="000000"/>
                </a:solidFill>
              </a:rPr>
              <a:t> variam de acordo com o </a:t>
            </a:r>
            <a:r>
              <a:rPr lang="pt-BR" sz="1400" b="1">
                <a:solidFill>
                  <a:srgbClr val="FF0000"/>
                </a:solidFill>
              </a:rPr>
              <a:t>protocolo da camada de enlace de dados</a:t>
            </a:r>
            <a:r>
              <a:rPr lang="pt-BR" sz="1400">
                <a:solidFill>
                  <a:srgbClr val="000000"/>
                </a:solidFill>
              </a:rPr>
              <a:t>. A quantidade de informações de controle transportadas no quadro varia de acordo com as informações de controle de acesso e a topologia lógica.</a:t>
            </a:r>
            <a:endParaRPr lang="pt-BR" sz="1400">
              <a:solidFill>
                <a:srgbClr val="000000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9743" t="48571" r="9743" b="23391"/>
          <a:stretch>
            <a:fillRect/>
          </a:stretch>
        </p:blipFill>
        <p:spPr>
          <a:xfrm>
            <a:off x="305435" y="2499995"/>
            <a:ext cx="8695055" cy="2132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Quadro de Enlace de Dados</a:t>
            </a:r>
            <a:r>
              <a:rPr lang="pt-BR" sz="1600"/>
              <a:t> </a:t>
            </a:r>
            <a:br>
              <a:rPr lang="en-US" dirty="0"/>
            </a:br>
            <a:r>
              <a:rPr lang="pt-BR" sz="2400"/>
              <a:t>Campos do Quadro</a:t>
            </a:r>
            <a:endParaRPr lang="pt-BR" sz="2400"/>
          </a:p>
        </p:txBody>
      </p:sp>
      <p:graphicFrame>
        <p:nvGraphicFramePr>
          <p:cNvPr id="6" name="Content Placeholder 6"/>
          <p:cNvGraphicFramePr/>
          <p:nvPr/>
        </p:nvGraphicFramePr>
        <p:xfrm>
          <a:off x="474662" y="2749860"/>
          <a:ext cx="823736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1847"/>
                <a:gridCol w="5735519"/>
              </a:tblGrid>
              <a:tr h="0"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Campo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Descrição</a:t>
                      </a:r>
                      <a:endParaRPr lang="pt-BR" sz="1100"/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0000"/>
                          </a:solidFill>
                        </a:rPr>
                        <a:t>Quadro (Frame) Início e Fim</a:t>
                      </a:r>
                      <a:endParaRPr lang="pt-BR" sz="1100" b="1">
                        <a:solidFill>
                          <a:srgbClr val="00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Identifica o início e o fim do quadro (frame)</a:t>
                      </a:r>
                      <a:endParaRPr lang="pt-BR" sz="1100">
                        <a:solidFill>
                          <a:srgbClr val="000000"/>
                        </a:solidFill>
                      </a:endParaRPr>
                    </a:p>
                  </a:txBody>
                  <a:tcPr anchor="ctr" anchorCtr="0"/>
                </a:tc>
              </a:tr>
              <a:tr h="259080"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0000"/>
                          </a:solidFill>
                        </a:rPr>
                        <a:t>Endereçamento</a:t>
                      </a:r>
                      <a:endParaRPr lang="pt-BR" sz="1100" b="1">
                        <a:solidFill>
                          <a:srgbClr val="00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Indica nós de origem e destino (MAC Address)</a:t>
                      </a:r>
                      <a:endParaRPr lang="pt-BR" sz="1100">
                        <a:solidFill>
                          <a:srgbClr val="000000"/>
                        </a:solidFill>
                      </a:endParaRPr>
                    </a:p>
                  </a:txBody>
                  <a:tcPr anchor="ctr" anchorCtr="0"/>
                </a:tc>
              </a:tr>
              <a:tr h="201380"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0000"/>
                          </a:solidFill>
                        </a:rPr>
                        <a:t>Tipo</a:t>
                      </a:r>
                      <a:endParaRPr lang="pt-BR" sz="1100" b="1">
                        <a:solidFill>
                          <a:srgbClr val="00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Identifica o protocolo encapsulado da Camada 3 (IPv4 ou IPv6)</a:t>
                      </a:r>
                      <a:endParaRPr lang="pt-BR" sz="1100">
                        <a:solidFill>
                          <a:srgbClr val="000000"/>
                        </a:solidFill>
                      </a:endParaRPr>
                    </a:p>
                  </a:txBody>
                  <a:tcPr anchor="ctr" anchorCtr="0"/>
                </a:tc>
              </a:tr>
              <a:tr h="174195"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0000"/>
                          </a:solidFill>
                        </a:rPr>
                        <a:t>Controle</a:t>
                      </a:r>
                      <a:endParaRPr lang="pt-BR" sz="1100" b="1">
                        <a:solidFill>
                          <a:srgbClr val="00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Identifica serviços de controle de fluxo (QoS)</a:t>
                      </a:r>
                      <a:endParaRPr lang="pt-BR" sz="1100">
                        <a:solidFill>
                          <a:srgbClr val="000000"/>
                        </a:solidFill>
                      </a:endParaRPr>
                    </a:p>
                  </a:txBody>
                  <a:tcPr anchor="ctr" anchorCtr="0"/>
                </a:tc>
              </a:tr>
              <a:tr h="274011"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0000"/>
                          </a:solidFill>
                        </a:rPr>
                        <a:t>Dados</a:t>
                      </a:r>
                      <a:endParaRPr lang="pt-BR" sz="1100" b="1">
                        <a:solidFill>
                          <a:srgbClr val="00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Contém a carga útil do quadro (1518 a 1522 bytes)</a:t>
                      </a:r>
                      <a:endParaRPr lang="pt-BR" sz="1100">
                        <a:solidFill>
                          <a:srgbClr val="000000"/>
                        </a:solidFill>
                      </a:endParaRPr>
                    </a:p>
                  </a:txBody>
                  <a:tcPr anchor="ctr" anchorCtr="0"/>
                </a:tc>
              </a:tr>
              <a:tr h="185728"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0000"/>
                          </a:solidFill>
                        </a:rPr>
                        <a:t>Detecção de Erros</a:t>
                      </a:r>
                      <a:endParaRPr lang="pt-BR" sz="1100" b="1">
                        <a:solidFill>
                          <a:srgbClr val="00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Usado para determinar erros de transmissão (CRC e FCS)</a:t>
                      </a:r>
                      <a:endParaRPr lang="pt-BR" sz="1100">
                        <a:solidFill>
                          <a:srgbClr val="000000"/>
                        </a:solidFill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9444" t="50090" r="9597" b="22974"/>
          <a:stretch>
            <a:fillRect/>
          </a:stretch>
        </p:blipFill>
        <p:spPr>
          <a:xfrm>
            <a:off x="1323975" y="393065"/>
            <a:ext cx="6538595" cy="23564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Quadro de Enlace de Dados</a:t>
            </a:r>
            <a:r>
              <a:rPr lang="pt-BR" sz="1600">
                <a:sym typeface="+mn-ea"/>
              </a:rPr>
              <a:t> </a:t>
            </a:r>
            <a:br>
              <a:rPr lang="en-US" dirty="0"/>
            </a:br>
            <a:r>
              <a:rPr lang="pt-BR" sz="2400"/>
              <a:t>Endereço da Camada 2</a:t>
            </a:r>
            <a:endParaRPr lang="pt-BR" sz="24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6040" y="628015"/>
            <a:ext cx="3521710" cy="4016375"/>
          </a:xfrm>
        </p:spPr>
        <p:txBody>
          <a:bodyPr/>
          <a:lstStyle/>
          <a:p>
            <a:pPr marL="342900" indent="-342900" algn="just" rtl="0">
              <a:buFont typeface="Arial" panose="020B0604020202020204" pitchFamily="34" charset="0"/>
              <a:buChar char="•"/>
            </a:pPr>
            <a:r>
              <a:rPr lang="pt-BR" sz="2300">
                <a:solidFill>
                  <a:srgbClr val="000000"/>
                </a:solidFill>
              </a:rPr>
              <a:t>Também referido como um </a:t>
            </a:r>
            <a:r>
              <a:rPr lang="pt-BR" sz="2300" b="1">
                <a:solidFill>
                  <a:srgbClr val="FF0000"/>
                </a:solidFill>
              </a:rPr>
              <a:t>endereço físico</a:t>
            </a:r>
            <a:r>
              <a:rPr lang="pt-BR" sz="2300">
                <a:solidFill>
                  <a:srgbClr val="000000"/>
                </a:solidFill>
              </a:rPr>
              <a:t>.</a:t>
            </a:r>
            <a:endParaRPr lang="pt-BR" sz="2300">
              <a:solidFill>
                <a:srgbClr val="000000"/>
              </a:solidFill>
            </a:endParaRPr>
          </a:p>
          <a:p>
            <a:pPr marL="342900" indent="-342900" algn="just" rtl="0">
              <a:buFont typeface="Arial" panose="020B0604020202020204" pitchFamily="34" charset="0"/>
              <a:buChar char="•"/>
            </a:pPr>
            <a:r>
              <a:rPr lang="pt-BR" sz="2300">
                <a:solidFill>
                  <a:srgbClr val="000000"/>
                </a:solidFill>
              </a:rPr>
              <a:t>Contido no </a:t>
            </a:r>
            <a:r>
              <a:rPr lang="pt-BR" sz="2300" b="1">
                <a:solidFill>
                  <a:srgbClr val="000000"/>
                </a:solidFill>
              </a:rPr>
              <a:t>cabeçalho do quadro</a:t>
            </a:r>
            <a:r>
              <a:rPr lang="pt-BR" sz="2300">
                <a:solidFill>
                  <a:srgbClr val="000000"/>
                </a:solidFill>
              </a:rPr>
              <a:t>.</a:t>
            </a:r>
            <a:endParaRPr lang="pt-BR" sz="2300">
              <a:solidFill>
                <a:srgbClr val="000000"/>
              </a:solidFill>
            </a:endParaRPr>
          </a:p>
          <a:p>
            <a:pPr marL="342900" indent="-342900" algn="just" rtl="0">
              <a:buFont typeface="Arial" panose="020B0604020202020204" pitchFamily="34" charset="0"/>
              <a:buChar char="•"/>
            </a:pPr>
            <a:r>
              <a:rPr lang="pt-BR" sz="2300">
                <a:solidFill>
                  <a:srgbClr val="000000"/>
                </a:solidFill>
              </a:rPr>
              <a:t>Usado apenas para </a:t>
            </a:r>
            <a:r>
              <a:rPr lang="pt-BR" sz="2300" b="1">
                <a:solidFill>
                  <a:srgbClr val="FF0000"/>
                </a:solidFill>
              </a:rPr>
              <a:t>entrega local</a:t>
            </a:r>
            <a:r>
              <a:rPr lang="pt-BR" sz="2300">
                <a:solidFill>
                  <a:srgbClr val="000000"/>
                </a:solidFill>
              </a:rPr>
              <a:t> de um quadro no link.</a:t>
            </a:r>
            <a:endParaRPr lang="pt-BR" sz="2300">
              <a:solidFill>
                <a:srgbClr val="000000"/>
              </a:solidFill>
            </a:endParaRPr>
          </a:p>
          <a:p>
            <a:pPr marL="342900" indent="-342900" algn="just" rtl="0">
              <a:buFont typeface="Arial" panose="020B0604020202020204" pitchFamily="34" charset="0"/>
              <a:buChar char="•"/>
            </a:pPr>
            <a:r>
              <a:rPr lang="pt-BR" sz="2300">
                <a:solidFill>
                  <a:srgbClr val="000000"/>
                </a:solidFill>
              </a:rPr>
              <a:t>Atualizado por cada </a:t>
            </a:r>
            <a:r>
              <a:rPr lang="pt-BR" sz="2300" b="1">
                <a:solidFill>
                  <a:srgbClr val="000000"/>
                </a:solidFill>
              </a:rPr>
              <a:t>dispositivo</a:t>
            </a:r>
            <a:r>
              <a:rPr lang="pt-BR" sz="2300">
                <a:solidFill>
                  <a:srgbClr val="000000"/>
                </a:solidFill>
              </a:rPr>
              <a:t> que encaminha o quadro.</a:t>
            </a:r>
            <a:endParaRPr lang="en-US" sz="2300" dirty="0">
              <a:solidFill>
                <a:srgbClr val="000000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8743" t="47186" r="19938" b="22147"/>
          <a:stretch>
            <a:fillRect/>
          </a:stretch>
        </p:blipFill>
        <p:spPr>
          <a:xfrm>
            <a:off x="3454400" y="112395"/>
            <a:ext cx="5607050" cy="243459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8736" t="47186" r="19938" b="22417"/>
          <a:stretch>
            <a:fillRect/>
          </a:stretch>
        </p:blipFill>
        <p:spPr>
          <a:xfrm>
            <a:off x="3587750" y="2546985"/>
            <a:ext cx="5473700" cy="2086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Quadro de Enlace de Dados</a:t>
            </a:r>
            <a:br>
              <a:rPr lang="en-US" dirty="0"/>
            </a:br>
            <a:r>
              <a:rPr lang="pt-BR" sz="2400"/>
              <a:t>Quadros de LAN e WAN</a:t>
            </a:r>
            <a:endParaRPr lang="pt-BR" sz="24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6040" y="641985"/>
            <a:ext cx="3893820" cy="4027170"/>
          </a:xfrm>
        </p:spPr>
        <p:txBody>
          <a:bodyPr/>
          <a:lstStyle/>
          <a:p>
            <a:pPr marL="0" indent="0" algn="just" rtl="0"/>
            <a:r>
              <a:rPr lang="pt-BR" sz="1750">
                <a:solidFill>
                  <a:srgbClr val="000000"/>
                </a:solidFill>
              </a:rPr>
              <a:t>A topologia lógica e a mídia física </a:t>
            </a:r>
            <a:r>
              <a:rPr lang="pt-BR" sz="1750" b="1">
                <a:solidFill>
                  <a:srgbClr val="FF0000"/>
                </a:solidFill>
              </a:rPr>
              <a:t>determinam o protocolo de enlace </a:t>
            </a:r>
            <a:r>
              <a:rPr lang="pt-BR" sz="1750">
                <a:solidFill>
                  <a:srgbClr val="000000"/>
                </a:solidFill>
              </a:rPr>
              <a:t>de dados usado:</a:t>
            </a:r>
            <a:endParaRPr lang="pt-BR" sz="1750">
              <a:solidFill>
                <a:srgbClr val="00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750" b="1">
                <a:solidFill>
                  <a:srgbClr val="000000"/>
                </a:solidFill>
              </a:rPr>
              <a:t>Ethernet 802.3</a:t>
            </a:r>
            <a:endParaRPr lang="pt-BR" sz="1750" b="1">
              <a:solidFill>
                <a:srgbClr val="00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750" b="1">
                <a:solidFill>
                  <a:srgbClr val="000000"/>
                </a:solidFill>
              </a:rPr>
              <a:t>802.11 sem fio</a:t>
            </a:r>
            <a:endParaRPr lang="pt-BR" sz="1750" b="1">
              <a:solidFill>
                <a:srgbClr val="00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750" b="1">
                <a:solidFill>
                  <a:srgbClr val="000000"/>
                </a:solidFill>
              </a:rPr>
              <a:t>Ponto a ponto (PPP)</a:t>
            </a:r>
            <a:endParaRPr lang="pt-BR" sz="1750" b="1">
              <a:solidFill>
                <a:srgbClr val="00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750" b="1">
                <a:solidFill>
                  <a:srgbClr val="000000"/>
                </a:solidFill>
              </a:rPr>
              <a:t>Controle de Enlace de Dados de Alto Nível (HDLC)</a:t>
            </a:r>
            <a:endParaRPr lang="pt-BR" sz="1750" b="1">
              <a:solidFill>
                <a:srgbClr val="000000"/>
              </a:solidFill>
            </a:endParaRPr>
          </a:p>
          <a:p>
            <a:pPr marL="415925" lvl="1" indent="-342900" algn="just" rtl="0">
              <a:buFont typeface="Arial" panose="020B0604020202020204" pitchFamily="34" charset="0"/>
              <a:buChar char="•"/>
            </a:pPr>
            <a:r>
              <a:rPr lang="pt-BR" sz="1750" b="1">
                <a:solidFill>
                  <a:srgbClr val="000000"/>
                </a:solidFill>
              </a:rPr>
              <a:t>Frame-Relay</a:t>
            </a:r>
            <a:endParaRPr lang="pt-BR" sz="1750" b="1">
              <a:solidFill>
                <a:srgbClr val="000000"/>
              </a:solidFill>
            </a:endParaRPr>
          </a:p>
          <a:p>
            <a:pPr marL="0" indent="0" algn="just"/>
            <a:endParaRPr lang="en-US" sz="1750" dirty="0">
              <a:solidFill>
                <a:srgbClr val="000000"/>
              </a:solidFill>
            </a:endParaRPr>
          </a:p>
          <a:p>
            <a:pPr marL="0" indent="0" algn="just" rtl="0"/>
            <a:r>
              <a:rPr lang="pt-BR" sz="1750">
                <a:solidFill>
                  <a:srgbClr val="000000"/>
                </a:solidFill>
              </a:rPr>
              <a:t>Cada protocolo executa o</a:t>
            </a:r>
            <a:r>
              <a:rPr lang="pt-BR" sz="1750" b="1">
                <a:solidFill>
                  <a:srgbClr val="0070C0"/>
                </a:solidFill>
              </a:rPr>
              <a:t> controle de acesso à mídia</a:t>
            </a:r>
            <a:r>
              <a:rPr lang="pt-BR" sz="1750">
                <a:solidFill>
                  <a:srgbClr val="000000"/>
                </a:solidFill>
              </a:rPr>
              <a:t> para topologias lógicas especificadas.</a:t>
            </a:r>
            <a:endParaRPr lang="en-US" sz="1750" dirty="0">
              <a:solidFill>
                <a:srgbClr val="000000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0944" t="39160" r="12139" b="13429"/>
          <a:stretch>
            <a:fillRect/>
          </a:stretch>
        </p:blipFill>
        <p:spPr>
          <a:xfrm>
            <a:off x="3959860" y="867410"/>
            <a:ext cx="5104130" cy="3408680"/>
          </a:xfrm>
          <a:prstGeom prst="rect">
            <a:avLst/>
          </a:prstGeom>
        </p:spPr>
      </p:pic>
      <p:sp>
        <p:nvSpPr>
          <p:cNvPr id="4" name="Caixa de Texto 3"/>
          <p:cNvSpPr txBox="1"/>
          <p:nvPr/>
        </p:nvSpPr>
        <p:spPr>
          <a:xfrm>
            <a:off x="3959543" y="468630"/>
            <a:ext cx="117094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pt-BR" altLang="en-US" sz="1000" b="1">
                <a:solidFill>
                  <a:srgbClr val="0070C0"/>
                </a:solidFill>
              </a:rPr>
              <a:t>Quadro Sem-Fio</a:t>
            </a:r>
            <a:endParaRPr lang="pt-BR" altLang="en-US" sz="1000" b="1">
              <a:solidFill>
                <a:srgbClr val="0070C0"/>
              </a:solidFill>
            </a:endParaRPr>
          </a:p>
          <a:p>
            <a:pPr algn="ctr"/>
            <a:r>
              <a:rPr lang="pt-BR" altLang="en-US" sz="1000" b="1">
                <a:solidFill>
                  <a:srgbClr val="0070C0"/>
                </a:solidFill>
              </a:rPr>
              <a:t>802.11</a:t>
            </a:r>
            <a:endParaRPr lang="pt-BR" altLang="en-US" sz="1000" b="1">
              <a:solidFill>
                <a:srgbClr val="0070C0"/>
              </a:solidFill>
            </a:endParaRPr>
          </a:p>
        </p:txBody>
      </p:sp>
      <p:sp>
        <p:nvSpPr>
          <p:cNvPr id="6" name="Caixa de Texto 5"/>
          <p:cNvSpPr txBox="1"/>
          <p:nvPr/>
        </p:nvSpPr>
        <p:spPr>
          <a:xfrm>
            <a:off x="3959543" y="3021965"/>
            <a:ext cx="92329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pt-BR" altLang="en-US" sz="1000" b="1">
                <a:solidFill>
                  <a:srgbClr val="00B050"/>
                </a:solidFill>
              </a:rPr>
              <a:t>Quadro PPP</a:t>
            </a:r>
            <a:endParaRPr lang="pt-BR" altLang="en-US" sz="1000" b="1">
              <a:solidFill>
                <a:srgbClr val="00B050"/>
              </a:solidFill>
            </a:endParaRPr>
          </a:p>
        </p:txBody>
      </p:sp>
      <p:sp>
        <p:nvSpPr>
          <p:cNvPr id="7" name="Caixa de Texto 6"/>
          <p:cNvSpPr txBox="1"/>
          <p:nvPr/>
        </p:nvSpPr>
        <p:spPr>
          <a:xfrm>
            <a:off x="5476876" y="867410"/>
            <a:ext cx="102171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pt-BR" altLang="en-US" sz="1000" b="1">
                <a:solidFill>
                  <a:srgbClr val="7030A0"/>
                </a:solidFill>
              </a:rPr>
              <a:t>Quadro HDLC</a:t>
            </a:r>
            <a:endParaRPr lang="pt-BR" altLang="en-US" sz="1000" b="1">
              <a:solidFill>
                <a:srgbClr val="7030A0"/>
              </a:solidFill>
            </a:endParaRPr>
          </a:p>
        </p:txBody>
      </p:sp>
      <p:sp>
        <p:nvSpPr>
          <p:cNvPr id="8" name="Caixa de Texto 7"/>
          <p:cNvSpPr txBox="1"/>
          <p:nvPr/>
        </p:nvSpPr>
        <p:spPr>
          <a:xfrm>
            <a:off x="7069456" y="1529080"/>
            <a:ext cx="10509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pt-BR" altLang="en-US" sz="1000" b="1">
                <a:solidFill>
                  <a:srgbClr val="FF0000"/>
                </a:solidFill>
              </a:rPr>
              <a:t>Quadro Frame</a:t>
            </a:r>
            <a:endParaRPr lang="pt-BR" altLang="en-US" sz="1000" b="1">
              <a:solidFill>
                <a:srgbClr val="FF0000"/>
              </a:solidFill>
            </a:endParaRPr>
          </a:p>
          <a:p>
            <a:pPr algn="ctr"/>
            <a:r>
              <a:rPr lang="pt-BR" altLang="en-US" sz="1000" b="1">
                <a:solidFill>
                  <a:srgbClr val="FF0000"/>
                </a:solidFill>
              </a:rPr>
              <a:t>Relay</a:t>
            </a:r>
            <a:endParaRPr lang="pt-BR" altLang="en-US" sz="1000" b="1">
              <a:solidFill>
                <a:srgbClr val="FF0000"/>
              </a:solidFill>
            </a:endParaRPr>
          </a:p>
        </p:txBody>
      </p:sp>
      <p:sp>
        <p:nvSpPr>
          <p:cNvPr id="9" name="Caixa de Texto 8"/>
          <p:cNvSpPr txBox="1"/>
          <p:nvPr/>
        </p:nvSpPr>
        <p:spPr>
          <a:xfrm>
            <a:off x="5214939" y="3863340"/>
            <a:ext cx="118491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pt-BR" altLang="en-US" sz="1000" b="1">
                <a:solidFill>
                  <a:schemeClr val="accent6">
                    <a:lumMod val="50000"/>
                  </a:schemeClr>
                </a:solidFill>
              </a:rPr>
              <a:t>Quadro Ethernet</a:t>
            </a:r>
            <a:endParaRPr lang="pt-BR" altLang="en-US" sz="1000" b="1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Caixa de Texto 9"/>
          <p:cNvSpPr txBox="1"/>
          <p:nvPr/>
        </p:nvSpPr>
        <p:spPr>
          <a:xfrm>
            <a:off x="6935154" y="3482340"/>
            <a:ext cx="118491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pt-BR" altLang="en-US" sz="1000" b="1">
                <a:solidFill>
                  <a:srgbClr val="000000"/>
                </a:solidFill>
              </a:rPr>
              <a:t>Quadro Ethernet</a:t>
            </a:r>
            <a:endParaRPr lang="pt-BR" altLang="en-US" sz="1000" b="1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transition spd="slow">
    <p:wipe/>
  </p:transition>
</p:sld>
</file>

<file path=ppt/tags/tag1.xml><?xml version="1.0" encoding="utf-8"?>
<p:tagLst xmlns:p="http://schemas.openxmlformats.org/presentationml/2006/main">
  <p:tag name="ARTICULATE_SLIDE_THUMBNAIL_REFRESH" val="1"/>
</p:tagLst>
</file>

<file path=ppt/tags/tag2.xml><?xml version="1.0" encoding="utf-8"?>
<p:tagLst xmlns:p="http://schemas.openxmlformats.org/presentationml/2006/main">
  <p:tag name="ARTICULATE_SLIDE_THUMBNAIL_REFRESH" val="1"/>
</p:tagLst>
</file>

<file path=ppt/tags/tag3.xml><?xml version="1.0" encoding="utf-8"?>
<p:tagLst xmlns:p="http://schemas.openxmlformats.org/presentationml/2006/main">
  <p:tag name="ARTICULATE_SLIDE_THUMBNAIL_REFRESH" val="1"/>
</p:tagLst>
</file>

<file path=ppt/tags/tag4.xml><?xml version="1.0" encoding="utf-8"?>
<p:tagLst xmlns:p="http://schemas.openxmlformats.org/presentationml/2006/main">
  <p:tag name="ARTICULATE_SLIDE_THUMBNAIL_REFRESH" val="1"/>
</p:tagLst>
</file>

<file path=ppt/tags/tag5.xml><?xml version="1.0" encoding="utf-8"?>
<p:tagLst xmlns:p="http://schemas.openxmlformats.org/presentationml/2006/main">
  <p:tag name="ARTICULATE_SLIDE_THUMBNAIL_REFRESH" val="1"/>
</p:tagLst>
</file>

<file path=ppt/tags/tag6.xml><?xml version="1.0" encoding="utf-8"?>
<p:tagLst xmlns:p="http://schemas.openxmlformats.org/presentationml/2006/main">
  <p:tag name="ARTICULATE_SLIDE_COUNT" val="65"/>
  <p:tag name="ARTICULATE_PROJECT_OPEN" val="0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7447</Words>
  <Application>WPS Presentation</Application>
  <PresentationFormat>On-screen Show (16:9)</PresentationFormat>
  <Paragraphs>191</Paragraphs>
  <Slides>21</Slides>
  <Notes>31</Notes>
  <HiddenSlides>6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0" baseType="lpstr">
      <vt:lpstr>Arial</vt:lpstr>
      <vt:lpstr>SimSun</vt:lpstr>
      <vt:lpstr>Wingdings</vt:lpstr>
      <vt:lpstr>MS PGothic</vt:lpstr>
      <vt:lpstr>Droid Sans Fallback</vt:lpstr>
      <vt:lpstr>CiscoSans Thin</vt:lpstr>
      <vt:lpstr>Gubbi</vt:lpstr>
      <vt:lpstr>MS PGothic</vt:lpstr>
      <vt:lpstr>CiscoSans</vt:lpstr>
      <vt:lpstr>CiscoSans</vt:lpstr>
      <vt:lpstr>CiscoSans ExtraLight</vt:lpstr>
      <vt:lpstr>Arial</vt:lpstr>
      <vt:lpstr>CiscoSans ExtraLight</vt:lpstr>
      <vt:lpstr>OpenSymbol</vt:lpstr>
      <vt:lpstr>Microsoft YaHei</vt:lpstr>
      <vt:lpstr>Arial Unicode MS</vt:lpstr>
      <vt:lpstr>Calibri</vt:lpstr>
      <vt:lpstr>Trebuchet MS</vt:lpstr>
      <vt:lpstr>Default Theme</vt:lpstr>
      <vt:lpstr>Módulo 6: Camada de Enlace (Link) de Dados</vt:lpstr>
      <vt:lpstr>6.1 - Finalidade da Camada de Enlace de Dados</vt:lpstr>
      <vt:lpstr>Finalidade da Camada de Enlace de Dados  A camada de Enlace de Dados</vt:lpstr>
      <vt:lpstr>Finalidade da Camada de Enlace de Dados  IEEE 802 Subcamadas de Enlace de Dados LAN/MAN</vt:lpstr>
      <vt:lpstr>Finalidade da Camada de Enlace de Dados  Fornecendo Acesso ao Meio Físico</vt:lpstr>
      <vt:lpstr>Finalidade da Camada de Enlace de Dados Padrões da Camada de Enlace de Dados</vt:lpstr>
      <vt:lpstr>6.2 - Topologias</vt:lpstr>
      <vt:lpstr>Topologias Físicas e Lógicas Topologias Físicas e Lógicas</vt:lpstr>
      <vt:lpstr>Topologias Físicas e Lógicas As Topologias de WAN</vt:lpstr>
      <vt:lpstr>Topologias Físicas e Lógicas Topologia de WAN (Wide Area Network) Ponto a Ponto</vt:lpstr>
      <vt:lpstr>Topologias Físicas e Lógicas Topologias LAN (Local Area Network)</vt:lpstr>
      <vt:lpstr>PowerPoint 演示文稿</vt:lpstr>
      <vt:lpstr>PowerPoint 演示文稿</vt:lpstr>
      <vt:lpstr>PowerPoint 演示文稿</vt:lpstr>
      <vt:lpstr>PowerPoint 演示文稿</vt:lpstr>
      <vt:lpstr>6.3 - Quadro de Enlace de Dados</vt:lpstr>
      <vt:lpstr>Quadro de Enlace de Dados  O quadro</vt:lpstr>
      <vt:lpstr>Quadro de Enlace de Dados  Campos do Quadro</vt:lpstr>
      <vt:lpstr>Quadro de Enlace de Dados  Endereço da Camada 2</vt:lpstr>
      <vt:lpstr>Quadro de Enlace de Dados Quadros de LAN e WAN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vaamonde</cp:lastModifiedBy>
  <cp:revision>256</cp:revision>
  <dcterms:created xsi:type="dcterms:W3CDTF">2026-04-05T04:02:31Z</dcterms:created>
  <dcterms:modified xsi:type="dcterms:W3CDTF">2026-04-05T04:02:31Z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  <property fmtid="{D5CDD505-2E9C-101B-9397-08002B2CF9AE}" pid="10" name="ICV">
    <vt:lpwstr/>
  </property>
  <property fmtid="{D5CDD505-2E9C-101B-9397-08002B2CF9AE}" pid="11" name="KSOProductBuildVer">
    <vt:lpwstr>1046-11.1.0.11723</vt:lpwstr>
  </property>
</Properties>
</file>