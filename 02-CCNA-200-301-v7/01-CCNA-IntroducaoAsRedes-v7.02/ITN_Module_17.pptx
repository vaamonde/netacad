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9.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0.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22.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23.xml" ContentType="application/vnd.openxmlformats-officedocument.presentationml.tags+xml"/>
  <Override PartName="/ppt/notesSlides/notesSlide65.xml" ContentType="application/vnd.openxmlformats-officedocument.presentationml.notesSlide+xml"/>
  <Override PartName="/ppt/tags/tag24.xml" ContentType="application/vnd.openxmlformats-officedocument.presentationml.tags+xml"/>
  <Override PartName="/ppt/notesSlides/notesSlide66.xml" ContentType="application/vnd.openxmlformats-officedocument.presentationml.notesSlide+xml"/>
  <Override PartName="/ppt/tags/tag25.xml" ContentType="application/vnd.openxmlformats-officedocument.presentationml.tags+xml"/>
  <Override PartName="/ppt/notesSlides/notesSlide67.xml" ContentType="application/vnd.openxmlformats-officedocument.presentationml.notesSlide+xml"/>
  <Override PartName="/ppt/tags/tag26.xml" ContentType="application/vnd.openxmlformats-officedocument.presentationml.tags+xml"/>
  <Override PartName="/ppt/notesSlides/notesSlide68.xml" ContentType="application/vnd.openxmlformats-officedocument.presentationml.notesSlide+xml"/>
  <Override PartName="/ppt/tags/tag27.xml" ContentType="application/vnd.openxmlformats-officedocument.presentationml.tags+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3"/>
  </p:notesMasterIdLst>
  <p:sldIdLst>
    <p:sldId id="513" r:id="rId2"/>
    <p:sldId id="1191" r:id="rId3"/>
    <p:sldId id="1195" r:id="rId4"/>
    <p:sldId id="1196" r:id="rId5"/>
    <p:sldId id="1053" r:id="rId6"/>
    <p:sldId id="1076" r:id="rId7"/>
    <p:sldId id="763" r:id="rId8"/>
    <p:sldId id="1144" r:id="rId9"/>
    <p:sldId id="1052" r:id="rId10"/>
    <p:sldId id="1190" r:id="rId11"/>
    <p:sldId id="1192" r:id="rId12"/>
    <p:sldId id="876" r:id="rId13"/>
    <p:sldId id="860" r:id="rId14"/>
    <p:sldId id="759" r:id="rId15"/>
    <p:sldId id="1108" r:id="rId16"/>
    <p:sldId id="1145" r:id="rId17"/>
    <p:sldId id="1146" r:id="rId18"/>
    <p:sldId id="1147" r:id="rId19"/>
    <p:sldId id="1148" r:id="rId20"/>
    <p:sldId id="1056" r:id="rId21"/>
    <p:sldId id="1149" r:id="rId22"/>
    <p:sldId id="1150" r:id="rId23"/>
    <p:sldId id="1151" r:id="rId24"/>
    <p:sldId id="1152" r:id="rId25"/>
    <p:sldId id="1103" r:id="rId26"/>
    <p:sldId id="1153" r:id="rId27"/>
    <p:sldId id="1154" r:id="rId28"/>
    <p:sldId id="1155" r:id="rId29"/>
    <p:sldId id="1104" r:id="rId30"/>
    <p:sldId id="1156" r:id="rId31"/>
    <p:sldId id="1157" r:id="rId32"/>
    <p:sldId id="1158" r:id="rId33"/>
    <p:sldId id="1159" r:id="rId34"/>
    <p:sldId id="1160" r:id="rId35"/>
    <p:sldId id="1161" r:id="rId36"/>
    <p:sldId id="1162" r:id="rId37"/>
    <p:sldId id="1163" r:id="rId38"/>
    <p:sldId id="1164" r:id="rId39"/>
    <p:sldId id="1194" r:id="rId40"/>
    <p:sldId id="1140" r:id="rId41"/>
    <p:sldId id="1165" r:id="rId42"/>
    <p:sldId id="1166" r:id="rId43"/>
    <p:sldId id="1167" r:id="rId44"/>
    <p:sldId id="1168" r:id="rId45"/>
    <p:sldId id="1169" r:id="rId46"/>
    <p:sldId id="1170" r:id="rId47"/>
    <p:sldId id="1171" r:id="rId48"/>
    <p:sldId id="1172" r:id="rId49"/>
    <p:sldId id="1173" r:id="rId50"/>
    <p:sldId id="1139" r:id="rId51"/>
    <p:sldId id="1174" r:id="rId52"/>
    <p:sldId id="1175" r:id="rId53"/>
    <p:sldId id="1176" r:id="rId54"/>
    <p:sldId id="1177" r:id="rId55"/>
    <p:sldId id="1138" r:id="rId56"/>
    <p:sldId id="1178" r:id="rId57"/>
    <p:sldId id="1179" r:id="rId58"/>
    <p:sldId id="1180" r:id="rId59"/>
    <p:sldId id="1181" r:id="rId60"/>
    <p:sldId id="1182" r:id="rId61"/>
    <p:sldId id="1184" r:id="rId62"/>
    <p:sldId id="1183" r:id="rId63"/>
    <p:sldId id="957" r:id="rId64"/>
    <p:sldId id="1185" r:id="rId65"/>
    <p:sldId id="1186" r:id="rId66"/>
    <p:sldId id="1187" r:id="rId67"/>
    <p:sldId id="1137" r:id="rId68"/>
    <p:sldId id="1188" r:id="rId69"/>
    <p:sldId id="1189" r:id="rId70"/>
    <p:sldId id="874" r:id="rId71"/>
    <p:sldId id="291" r:id="rId72"/>
  </p:sldIdLst>
  <p:sldSz cx="9144000" cy="5143500" type="screen16x9"/>
  <p:notesSz cx="6858000" cy="9144000"/>
  <p:custDataLst>
    <p:tags r:id="rId7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8"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 id="6" name="Anna Bolen-Testa" initials="AB" lastIdx="1" clrIdx="6">
    <p:extLst>
      <p:ext uri="{19B8F6BF-5375-455C-9EA6-DF929625EA0E}">
        <p15:presenceInfo xmlns:p15="http://schemas.microsoft.com/office/powerpoint/2012/main" userId="S-1-5-21-650795749-649990105-1978746762-71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0" autoAdjust="0"/>
    <p:restoredTop sz="75163" autoAdjust="0"/>
  </p:normalViewPr>
  <p:slideViewPr>
    <p:cSldViewPr snapToGrid="0" showGuides="1">
      <p:cViewPr varScale="1">
        <p:scale>
          <a:sx n="67" d="100"/>
          <a:sy n="67" d="100"/>
        </p:scale>
        <p:origin x="1144" y="5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72"/>
    </p:cViewPr>
  </p:sorterViewPr>
  <p:gridSpacing cx="76200" cy="76200"/>
</p:viewPr>
</file>

<file path=ppt/_rels/presentation.xml.rels><?xml version="1.0" encoding="utf-8"?>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2/3/2021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pPr algn="r"/>
              <a:t>2</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false">
                <a:ea typeface="ＭＳ Ｐゴシック" pitchFamily="34" charset="-128"/>
              </a:rPr>
              <a:pPr algn="r"/>
              <a:t>5</a:t>
            </a:fld>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false">
                <a:ea typeface="ＭＳ Ｐゴシック" pitchFamily="34" charset="-128"/>
              </a:rPr>
              <a:pPr algn="r"/>
              <a:t>6</a:t>
            </a:fld>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697717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false"/>
              <a:pPr algn="r"/>
              <a:t>7</a:t>
            </a:fld>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false"/>
              <a:pPr algn="r"/>
              <a:t>8</a:t>
            </a:fld>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056658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9</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10</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63072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11</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152235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b="false" lang="pt-BR"/>
              <a:t>Programa da Cisco Networking Academy</a:t>
            </a:r>
          </a:p>
          <a:p>
            <a:pPr rtl="0">
              <a:buFontTx/>
              <a:buNone/>
            </a:pPr>
            <a:r>
              <a:rPr b="false" baseline="0" lang="pt-BR"/>
              <a:t>Introdução às redes v</a:t>
            </a:r>
            <a:r>
              <a:rPr b="false" lang="pt-BR"/>
              <a:t>7.0 (ITN)</a:t>
            </a:r>
          </a:p>
          <a:p>
            <a:pPr rtl="0"/>
            <a:r>
              <a:rPr lang="pt-BR"/>
              <a:t>Módulo 17: Construa uma rede pequena</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12</a:t>
            </a:fld>
          </a:p>
        </p:txBody>
      </p:sp>
    </p:spTree>
    <p:extLst>
      <p:ext uri="{BB962C8B-B14F-4D97-AF65-F5344CB8AC3E}">
        <p14:creationId xmlns:p14="http://schemas.microsoft.com/office/powerpoint/2010/main" val="508118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solidFill>
                  <a:prstClr val="black"/>
                </a:solidFill>
              </a:rPr>
              <a:pPr algn="r"/>
              <a:t>13</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17.0.2</a:t>
            </a:r>
          </a:p>
        </p:txBody>
      </p:sp>
    </p:spTree>
    <p:extLst>
      <p:ext uri="{BB962C8B-B14F-4D97-AF65-F5344CB8AC3E}">
        <p14:creationId xmlns:p14="http://schemas.microsoft.com/office/powerpoint/2010/main" val="1734445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Construir uma Pequena Rede</a:t>
            </a:r>
          </a:p>
          <a:p>
            <a:pPr rtl="0"/>
            <a:r>
              <a:rPr lang="pt-BR"/>
              <a:t>17.1 – Dispositivos em uma Rede Pequena</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14</a:t>
            </a:fld>
          </a:p>
        </p:txBody>
      </p:sp>
    </p:spTree>
    <p:extLst>
      <p:ext uri="{BB962C8B-B14F-4D97-AF65-F5344CB8AC3E}">
        <p14:creationId xmlns:p14="http://schemas.microsoft.com/office/powerpoint/2010/main" val="625529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17.1.1 – Topologias de Redes Pequenas</a:t>
            </a:r>
          </a:p>
        </p:txBody>
      </p:sp>
      <p:sp>
        <p:nvSpPr>
          <p:cNvPr id="4" name="Slide Number Placeholder 3"/>
          <p:cNvSpPr>
            <a:spLocks noGrp="1"/>
          </p:cNvSpPr>
          <p:nvPr>
            <p:ph type="sldNum" sz="quarter" idx="5"/>
          </p:nvPr>
        </p:nvSpPr>
        <p:spPr/>
        <p:txBody>
          <a:bodyPr/>
          <a:lstStyle/>
          <a:p>
            <a:pPr rtl="0"/>
            <a:fld id="{5641018C-6CAF-B84E-B92C-ECB119457FBA}" type="slidenum">
              <a:rPr/>
              <a:t>15</a:t>
            </a:fld>
          </a:p>
        </p:txBody>
      </p:sp>
    </p:spTree>
    <p:extLst>
      <p:ext uri="{BB962C8B-B14F-4D97-AF65-F5344CB8AC3E}">
        <p14:creationId xmlns:p14="http://schemas.microsoft.com/office/powerpoint/2010/main" val="751550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11.1.1.2 – Seleção de Dispositivos para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16</a:t>
            </a:fld>
          </a:p>
        </p:txBody>
      </p:sp>
    </p:spTree>
    <p:extLst>
      <p:ext uri="{BB962C8B-B14F-4D97-AF65-F5344CB8AC3E}">
        <p14:creationId xmlns:p14="http://schemas.microsoft.com/office/powerpoint/2010/main" val="2385235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17.1.3 – Endereçamento IP para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17</a:t>
            </a:fld>
          </a:p>
        </p:txBody>
      </p:sp>
    </p:spTree>
    <p:extLst>
      <p:ext uri="{BB962C8B-B14F-4D97-AF65-F5344CB8AC3E}">
        <p14:creationId xmlns:p14="http://schemas.microsoft.com/office/powerpoint/2010/main" val="3012842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17.1.4 – Redundância em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18</a:t>
            </a:fld>
          </a:p>
        </p:txBody>
      </p:sp>
    </p:spTree>
    <p:extLst>
      <p:ext uri="{BB962C8B-B14F-4D97-AF65-F5344CB8AC3E}">
        <p14:creationId xmlns:p14="http://schemas.microsoft.com/office/powerpoint/2010/main" val="25652415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17.1.5 - Gerenciamento de Tráfego</a:t>
            </a:r>
          </a:p>
          <a:p>
            <a:pPr rtl="0"/>
            <a:r>
              <a:rPr lang="pt-BR"/>
              <a:t>17.1.6 — Verifique seu Entendimento — Dispositivos em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19</a:t>
            </a:fld>
          </a:p>
        </p:txBody>
      </p:sp>
    </p:spTree>
    <p:extLst>
      <p:ext uri="{BB962C8B-B14F-4D97-AF65-F5344CB8AC3E}">
        <p14:creationId xmlns:p14="http://schemas.microsoft.com/office/powerpoint/2010/main" val="32353844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Construir uma Pequena Rede</a:t>
            </a:r>
          </a:p>
          <a:p>
            <a:pPr rtl="0"/>
            <a:r>
              <a:rPr lang="pt-BR"/>
              <a:t>17.2 – Aplicações e Protocolos de Redes Pequenas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20</a:t>
            </a:fld>
          </a:p>
        </p:txBody>
      </p:sp>
    </p:spTree>
    <p:extLst>
      <p:ext uri="{BB962C8B-B14F-4D97-AF65-F5344CB8AC3E}">
        <p14:creationId xmlns:p14="http://schemas.microsoft.com/office/powerpoint/2010/main" val="3963291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17.2.1 – Aplicações Comuns</a:t>
            </a:r>
          </a:p>
        </p:txBody>
      </p:sp>
      <p:sp>
        <p:nvSpPr>
          <p:cNvPr id="4" name="Slide Number Placeholder 3"/>
          <p:cNvSpPr>
            <a:spLocks noGrp="1"/>
          </p:cNvSpPr>
          <p:nvPr>
            <p:ph type="sldNum" sz="quarter" idx="5"/>
          </p:nvPr>
        </p:nvSpPr>
        <p:spPr/>
        <p:txBody>
          <a:bodyPr/>
          <a:lstStyle/>
          <a:p>
            <a:pPr rtl="0"/>
            <a:fld id="{5641018C-6CAF-B84E-B92C-ECB119457FBA}" type="slidenum">
              <a:rPr/>
              <a:t>21</a:t>
            </a:fld>
          </a:p>
        </p:txBody>
      </p:sp>
    </p:spTree>
    <p:extLst>
      <p:ext uri="{BB962C8B-B14F-4D97-AF65-F5344CB8AC3E}">
        <p14:creationId xmlns:p14="http://schemas.microsoft.com/office/powerpoint/2010/main" val="1936976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17.2.2 - Protocolos Comuns</a:t>
            </a:r>
          </a:p>
        </p:txBody>
      </p:sp>
      <p:sp>
        <p:nvSpPr>
          <p:cNvPr id="4" name="Slide Number Placeholder 3"/>
          <p:cNvSpPr>
            <a:spLocks noGrp="1"/>
          </p:cNvSpPr>
          <p:nvPr>
            <p:ph type="sldNum" sz="quarter" idx="5"/>
          </p:nvPr>
        </p:nvSpPr>
        <p:spPr/>
        <p:txBody>
          <a:bodyPr/>
          <a:lstStyle/>
          <a:p>
            <a:pPr rtl="0"/>
            <a:fld id="{5641018C-6CAF-B84E-B92C-ECB119457FBA}" type="slidenum">
              <a:rPr/>
              <a:t>22</a:t>
            </a:fld>
          </a:p>
        </p:txBody>
      </p:sp>
    </p:spTree>
    <p:extLst>
      <p:ext uri="{BB962C8B-B14F-4D97-AF65-F5344CB8AC3E}">
        <p14:creationId xmlns:p14="http://schemas.microsoft.com/office/powerpoint/2010/main" val="29114109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17.2.2 — Protocolos Comuns (Cont.)</a:t>
            </a:r>
          </a:p>
        </p:txBody>
      </p:sp>
      <p:sp>
        <p:nvSpPr>
          <p:cNvPr id="4" name="Slide Number Placeholder 3"/>
          <p:cNvSpPr>
            <a:spLocks noGrp="1"/>
          </p:cNvSpPr>
          <p:nvPr>
            <p:ph type="sldNum" sz="quarter" idx="5"/>
          </p:nvPr>
        </p:nvSpPr>
        <p:spPr/>
        <p:txBody>
          <a:bodyPr/>
          <a:lstStyle/>
          <a:p>
            <a:pPr rtl="0"/>
            <a:fld id="{5641018C-6CAF-B84E-B92C-ECB119457FBA}" type="slidenum">
              <a:rPr/>
              <a:t>23</a:t>
            </a:fld>
          </a:p>
        </p:txBody>
      </p:sp>
    </p:spTree>
    <p:extLst>
      <p:ext uri="{BB962C8B-B14F-4D97-AF65-F5344CB8AC3E}">
        <p14:creationId xmlns:p14="http://schemas.microsoft.com/office/powerpoint/2010/main" val="37885075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17.2.3 – Aplicações de Voz e Vídeo</a:t>
            </a:r>
          </a:p>
          <a:p>
            <a:pPr rtl="0"/>
            <a:r>
              <a:rPr lang="pt-BR"/>
              <a:t>17.2.4 — Verifique o Seu Entendimento — Pequenas Aplicações e Protocolos de Rede</a:t>
            </a:r>
          </a:p>
        </p:txBody>
      </p:sp>
      <p:sp>
        <p:nvSpPr>
          <p:cNvPr id="4" name="Slide Number Placeholder 3"/>
          <p:cNvSpPr>
            <a:spLocks noGrp="1"/>
          </p:cNvSpPr>
          <p:nvPr>
            <p:ph type="sldNum" sz="quarter" idx="5"/>
          </p:nvPr>
        </p:nvSpPr>
        <p:spPr/>
        <p:txBody>
          <a:bodyPr/>
          <a:lstStyle/>
          <a:p>
            <a:pPr rtl="0"/>
            <a:fld id="{5641018C-6CAF-B84E-B92C-ECB119457FBA}" type="slidenum">
              <a:rPr/>
              <a:t>24</a:t>
            </a:fld>
          </a:p>
        </p:txBody>
      </p:sp>
    </p:spTree>
    <p:extLst>
      <p:ext uri="{BB962C8B-B14F-4D97-AF65-F5344CB8AC3E}">
        <p14:creationId xmlns:p14="http://schemas.microsoft.com/office/powerpoint/2010/main" val="3847646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17.3 – Escalar para Redes Maiores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25</a:t>
            </a:fld>
          </a:p>
        </p:txBody>
      </p:sp>
    </p:spTree>
    <p:extLst>
      <p:ext uri="{BB962C8B-B14F-4D97-AF65-F5344CB8AC3E}">
        <p14:creationId xmlns:p14="http://schemas.microsoft.com/office/powerpoint/2010/main" val="1200435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17.3 – Escalar para Redes Maiores</a:t>
            </a:r>
          </a:p>
          <a:p>
            <a:pPr rtl="0"/>
            <a:r>
              <a:rPr lang="pt-BR"/>
              <a:t>17.3.1 – Crescimento de Redes Pequenas</a:t>
            </a:r>
          </a:p>
        </p:txBody>
      </p:sp>
      <p:sp>
        <p:nvSpPr>
          <p:cNvPr id="4" name="Slide Number Placeholder 3"/>
          <p:cNvSpPr>
            <a:spLocks noGrp="1"/>
          </p:cNvSpPr>
          <p:nvPr>
            <p:ph type="sldNum" sz="quarter" idx="5"/>
          </p:nvPr>
        </p:nvSpPr>
        <p:spPr/>
        <p:txBody>
          <a:bodyPr/>
          <a:lstStyle/>
          <a:p>
            <a:pPr rtl="0"/>
            <a:fld id="{5641018C-6CAF-B84E-B92C-ECB119457FBA}" type="slidenum">
              <a:rPr/>
              <a:t>26</a:t>
            </a:fld>
          </a:p>
        </p:txBody>
      </p:sp>
    </p:spTree>
    <p:extLst>
      <p:ext uri="{BB962C8B-B14F-4D97-AF65-F5344CB8AC3E}">
        <p14:creationId xmlns:p14="http://schemas.microsoft.com/office/powerpoint/2010/main" val="2253705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17.3 – Escalar para Redes Maiores</a:t>
            </a:r>
          </a:p>
          <a:p>
            <a:pPr rtl="0"/>
            <a:r>
              <a:rPr lang="pt-BR"/>
              <a:t>17.3.2 – Análise de Protocolos</a:t>
            </a:r>
          </a:p>
        </p:txBody>
      </p:sp>
      <p:sp>
        <p:nvSpPr>
          <p:cNvPr id="4" name="Slide Number Placeholder 3"/>
          <p:cNvSpPr>
            <a:spLocks noGrp="1"/>
          </p:cNvSpPr>
          <p:nvPr>
            <p:ph type="sldNum" sz="quarter" idx="5"/>
          </p:nvPr>
        </p:nvSpPr>
        <p:spPr/>
        <p:txBody>
          <a:bodyPr/>
          <a:lstStyle/>
          <a:p>
            <a:pPr rtl="0"/>
            <a:fld id="{5641018C-6CAF-B84E-B92C-ECB119457FBA}" type="slidenum">
              <a:rPr/>
              <a:t>27</a:t>
            </a:fld>
          </a:p>
        </p:txBody>
      </p:sp>
    </p:spTree>
    <p:extLst>
      <p:ext uri="{BB962C8B-B14F-4D97-AF65-F5344CB8AC3E}">
        <p14:creationId xmlns:p14="http://schemas.microsoft.com/office/powerpoint/2010/main" val="1518496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17.3 – Escalar para Redes Maiores</a:t>
            </a:r>
          </a:p>
          <a:p>
            <a:pPr rtl="0"/>
            <a:r>
              <a:rPr lang="pt-BR"/>
              <a:t>17.3.3 – Utilização da Rede pelos Funcionários</a:t>
            </a:r>
          </a:p>
          <a:p>
            <a:pPr rtl="0"/>
            <a:r>
              <a:rPr lang="pt-BR"/>
              <a:t>17.3.4 — Verifique o Seu Entendimento — Dimensão para Redes Maiores</a:t>
            </a:r>
          </a:p>
        </p:txBody>
      </p:sp>
      <p:sp>
        <p:nvSpPr>
          <p:cNvPr id="4" name="Slide Number Placeholder 3"/>
          <p:cNvSpPr>
            <a:spLocks noGrp="1"/>
          </p:cNvSpPr>
          <p:nvPr>
            <p:ph type="sldNum" sz="quarter" idx="5"/>
          </p:nvPr>
        </p:nvSpPr>
        <p:spPr/>
        <p:txBody>
          <a:bodyPr/>
          <a:lstStyle/>
          <a:p>
            <a:pPr rtl="0"/>
            <a:fld id="{5641018C-6CAF-B84E-B92C-ECB119457FBA}" type="slidenum">
              <a:rPr/>
              <a:t>28</a:t>
            </a:fld>
          </a:p>
        </p:txBody>
      </p:sp>
    </p:spTree>
    <p:extLst>
      <p:ext uri="{BB962C8B-B14F-4D97-AF65-F5344CB8AC3E}">
        <p14:creationId xmlns:p14="http://schemas.microsoft.com/office/powerpoint/2010/main" val="620451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17.4 - Verificar a Conectividade.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29</a:t>
            </a:fld>
          </a:p>
        </p:txBody>
      </p:sp>
    </p:spTree>
    <p:extLst>
      <p:ext uri="{BB962C8B-B14F-4D97-AF65-F5344CB8AC3E}">
        <p14:creationId xmlns:p14="http://schemas.microsoft.com/office/powerpoint/2010/main" val="2668384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17.4.1 — Verificar a Conectividade com Ping</a:t>
            </a:r>
          </a:p>
        </p:txBody>
      </p:sp>
      <p:sp>
        <p:nvSpPr>
          <p:cNvPr id="4" name="Slide Number Placeholder 3"/>
          <p:cNvSpPr>
            <a:spLocks noGrp="1"/>
          </p:cNvSpPr>
          <p:nvPr>
            <p:ph type="sldNum" sz="quarter" idx="5"/>
          </p:nvPr>
        </p:nvSpPr>
        <p:spPr/>
        <p:txBody>
          <a:bodyPr/>
          <a:lstStyle/>
          <a:p>
            <a:pPr rtl="0"/>
            <a:fld id="{5641018C-6CAF-B84E-B92C-ECB119457FBA}" type="slidenum">
              <a:rPr/>
              <a:t>30</a:t>
            </a:fld>
          </a:p>
        </p:txBody>
      </p:sp>
    </p:spTree>
    <p:extLst>
      <p:ext uri="{BB962C8B-B14F-4D97-AF65-F5344CB8AC3E}">
        <p14:creationId xmlns:p14="http://schemas.microsoft.com/office/powerpoint/2010/main" val="20403565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17.4.1 — Verificar a Conectividade com Ping (Cont.)</a:t>
            </a:r>
          </a:p>
        </p:txBody>
      </p:sp>
      <p:sp>
        <p:nvSpPr>
          <p:cNvPr id="4" name="Slide Number Placeholder 3"/>
          <p:cNvSpPr>
            <a:spLocks noGrp="1"/>
          </p:cNvSpPr>
          <p:nvPr>
            <p:ph type="sldNum" sz="quarter" idx="5"/>
          </p:nvPr>
        </p:nvSpPr>
        <p:spPr/>
        <p:txBody>
          <a:bodyPr/>
          <a:lstStyle/>
          <a:p>
            <a:pPr rtl="0"/>
            <a:fld id="{5641018C-6CAF-B84E-B92C-ECB119457FBA}" type="slidenum">
              <a:rPr/>
              <a:t>31</a:t>
            </a:fld>
          </a:p>
        </p:txBody>
      </p:sp>
    </p:spTree>
    <p:extLst>
      <p:ext uri="{BB962C8B-B14F-4D97-AF65-F5344CB8AC3E}">
        <p14:creationId xmlns:p14="http://schemas.microsoft.com/office/powerpoint/2010/main" val="5218775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17.4.2 – Ping Estendido</a:t>
            </a:r>
          </a:p>
        </p:txBody>
      </p:sp>
      <p:sp>
        <p:nvSpPr>
          <p:cNvPr id="4" name="Slide Number Placeholder 3"/>
          <p:cNvSpPr>
            <a:spLocks noGrp="1"/>
          </p:cNvSpPr>
          <p:nvPr>
            <p:ph type="sldNum" sz="quarter" idx="5"/>
          </p:nvPr>
        </p:nvSpPr>
        <p:spPr/>
        <p:txBody>
          <a:bodyPr/>
          <a:lstStyle/>
          <a:p>
            <a:pPr rtl="0"/>
            <a:fld id="{5641018C-6CAF-B84E-B92C-ECB119457FBA}" type="slidenum">
              <a:rPr/>
              <a:t>32</a:t>
            </a:fld>
          </a:p>
        </p:txBody>
      </p:sp>
    </p:spTree>
    <p:extLst>
      <p:ext uri="{BB962C8B-B14F-4D97-AF65-F5344CB8AC3E}">
        <p14:creationId xmlns:p14="http://schemas.microsoft.com/office/powerpoint/2010/main" val="19888469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17.4.3 - Verifique a Conectividade com o Traceroute</a:t>
            </a:r>
          </a:p>
        </p:txBody>
      </p:sp>
      <p:sp>
        <p:nvSpPr>
          <p:cNvPr id="4" name="Slide Number Placeholder 3"/>
          <p:cNvSpPr>
            <a:spLocks noGrp="1"/>
          </p:cNvSpPr>
          <p:nvPr>
            <p:ph type="sldNum" sz="quarter" idx="5"/>
          </p:nvPr>
        </p:nvSpPr>
        <p:spPr/>
        <p:txBody>
          <a:bodyPr/>
          <a:lstStyle/>
          <a:p>
            <a:pPr rtl="0"/>
            <a:fld id="{5641018C-6CAF-B84E-B92C-ECB119457FBA}" type="slidenum">
              <a:rPr/>
              <a:t>33</a:t>
            </a:fld>
          </a:p>
        </p:txBody>
      </p:sp>
    </p:spTree>
    <p:extLst>
      <p:ext uri="{BB962C8B-B14F-4D97-AF65-F5344CB8AC3E}">
        <p14:creationId xmlns:p14="http://schemas.microsoft.com/office/powerpoint/2010/main" val="12259269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17.4.3 — Verificar a Conectividade com Traceroute (Cont.)</a:t>
            </a:r>
          </a:p>
        </p:txBody>
      </p:sp>
      <p:sp>
        <p:nvSpPr>
          <p:cNvPr id="4" name="Slide Number Placeholder 3"/>
          <p:cNvSpPr>
            <a:spLocks noGrp="1"/>
          </p:cNvSpPr>
          <p:nvPr>
            <p:ph type="sldNum" sz="quarter" idx="5"/>
          </p:nvPr>
        </p:nvSpPr>
        <p:spPr/>
        <p:txBody>
          <a:bodyPr/>
          <a:lstStyle/>
          <a:p>
            <a:pPr rtl="0"/>
            <a:fld id="{5641018C-6CAF-B84E-B92C-ECB119457FBA}" type="slidenum">
              <a:rPr/>
              <a:t>34</a:t>
            </a:fld>
          </a:p>
        </p:txBody>
      </p:sp>
    </p:spTree>
    <p:extLst>
      <p:ext uri="{BB962C8B-B14F-4D97-AF65-F5344CB8AC3E}">
        <p14:creationId xmlns:p14="http://schemas.microsoft.com/office/powerpoint/2010/main" val="21563435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17.4.3 — Verificar a Conectividade com Traceroute (Cont.)</a:t>
            </a:r>
          </a:p>
        </p:txBody>
      </p:sp>
      <p:sp>
        <p:nvSpPr>
          <p:cNvPr id="4" name="Slide Number Placeholder 3"/>
          <p:cNvSpPr>
            <a:spLocks noGrp="1"/>
          </p:cNvSpPr>
          <p:nvPr>
            <p:ph type="sldNum" sz="quarter" idx="5"/>
          </p:nvPr>
        </p:nvSpPr>
        <p:spPr/>
        <p:txBody>
          <a:bodyPr/>
          <a:lstStyle/>
          <a:p>
            <a:pPr rtl="0"/>
            <a:fld id="{5641018C-6CAF-B84E-B92C-ECB119457FBA}" type="slidenum">
              <a:rPr/>
              <a:t>35</a:t>
            </a:fld>
          </a:p>
        </p:txBody>
      </p:sp>
    </p:spTree>
    <p:extLst>
      <p:ext uri="{BB962C8B-B14F-4D97-AF65-F5344CB8AC3E}">
        <p14:creationId xmlns:p14="http://schemas.microsoft.com/office/powerpoint/2010/main" val="36084038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17.4.4 – Traceroute Estendido</a:t>
            </a:r>
          </a:p>
        </p:txBody>
      </p:sp>
      <p:sp>
        <p:nvSpPr>
          <p:cNvPr id="4" name="Slide Number Placeholder 3"/>
          <p:cNvSpPr>
            <a:spLocks noGrp="1"/>
          </p:cNvSpPr>
          <p:nvPr>
            <p:ph type="sldNum" sz="quarter" idx="5"/>
          </p:nvPr>
        </p:nvSpPr>
        <p:spPr/>
        <p:txBody>
          <a:bodyPr/>
          <a:lstStyle/>
          <a:p>
            <a:pPr rtl="0"/>
            <a:fld id="{5641018C-6CAF-B84E-B92C-ECB119457FBA}" type="slidenum">
              <a:rPr/>
              <a:t>36</a:t>
            </a:fld>
          </a:p>
        </p:txBody>
      </p:sp>
    </p:spTree>
    <p:extLst>
      <p:ext uri="{BB962C8B-B14F-4D97-AF65-F5344CB8AC3E}">
        <p14:creationId xmlns:p14="http://schemas.microsoft.com/office/powerpoint/2010/main" val="19016930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17.4.4 — Traceroute Estendido (Cont.)</a:t>
            </a:r>
          </a:p>
        </p:txBody>
      </p:sp>
      <p:sp>
        <p:nvSpPr>
          <p:cNvPr id="4" name="Slide Number Placeholder 3"/>
          <p:cNvSpPr>
            <a:spLocks noGrp="1"/>
          </p:cNvSpPr>
          <p:nvPr>
            <p:ph type="sldNum" sz="quarter" idx="5"/>
          </p:nvPr>
        </p:nvSpPr>
        <p:spPr/>
        <p:txBody>
          <a:bodyPr/>
          <a:lstStyle/>
          <a:p>
            <a:pPr rtl="0"/>
            <a:fld id="{5641018C-6CAF-B84E-B92C-ECB119457FBA}" type="slidenum">
              <a:rPr/>
              <a:t>37</a:t>
            </a:fld>
          </a:p>
        </p:txBody>
      </p:sp>
    </p:spTree>
    <p:extLst>
      <p:ext uri="{BB962C8B-B14F-4D97-AF65-F5344CB8AC3E}">
        <p14:creationId xmlns:p14="http://schemas.microsoft.com/office/powerpoint/2010/main" val="26164822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17.4.5 - Linha de Base de Rede</a:t>
            </a:r>
          </a:p>
        </p:txBody>
      </p:sp>
      <p:sp>
        <p:nvSpPr>
          <p:cNvPr id="4" name="Slide Number Placeholder 3"/>
          <p:cNvSpPr>
            <a:spLocks noGrp="1"/>
          </p:cNvSpPr>
          <p:nvPr>
            <p:ph type="sldNum" sz="quarter" idx="5"/>
          </p:nvPr>
        </p:nvSpPr>
        <p:spPr/>
        <p:txBody>
          <a:bodyPr/>
          <a:lstStyle/>
          <a:p>
            <a:pPr rtl="0"/>
            <a:fld id="{5641018C-6CAF-B84E-B92C-ECB119457FBA}" type="slidenum">
              <a:rPr/>
              <a:t>38</a:t>
            </a:fld>
          </a:p>
        </p:txBody>
      </p:sp>
    </p:spTree>
    <p:extLst>
      <p:ext uri="{BB962C8B-B14F-4D97-AF65-F5344CB8AC3E}">
        <p14:creationId xmlns:p14="http://schemas.microsoft.com/office/powerpoint/2010/main" val="8418669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17.4.6 - Laboratório - Teste de Latência da Rede com Ping e Traceroute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39</a:t>
            </a:fld>
          </a:p>
        </p:txBody>
      </p:sp>
    </p:spTree>
    <p:extLst>
      <p:ext uri="{BB962C8B-B14F-4D97-AF65-F5344CB8AC3E}">
        <p14:creationId xmlns:p14="http://schemas.microsoft.com/office/powerpoint/2010/main" val="37290844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17.5 - Host e Comandos 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40</a:t>
            </a:fld>
          </a:p>
        </p:txBody>
      </p:sp>
    </p:spTree>
    <p:extLst>
      <p:ext uri="{BB962C8B-B14F-4D97-AF65-F5344CB8AC3E}">
        <p14:creationId xmlns:p14="http://schemas.microsoft.com/office/powerpoint/2010/main" val="1652868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17.5.1 — Configuração IP em um Host Windows</a:t>
            </a:r>
          </a:p>
        </p:txBody>
      </p:sp>
      <p:sp>
        <p:nvSpPr>
          <p:cNvPr id="4" name="Slide Number Placeholder 3"/>
          <p:cNvSpPr>
            <a:spLocks noGrp="1"/>
          </p:cNvSpPr>
          <p:nvPr>
            <p:ph type="sldNum" sz="quarter" idx="5"/>
          </p:nvPr>
        </p:nvSpPr>
        <p:spPr/>
        <p:txBody>
          <a:bodyPr/>
          <a:lstStyle/>
          <a:p>
            <a:pPr rtl="0"/>
            <a:fld id="{5641018C-6CAF-B84E-B92C-ECB119457FBA}" type="slidenum">
              <a:rPr/>
              <a:t>41</a:t>
            </a:fld>
          </a:p>
        </p:txBody>
      </p:sp>
    </p:spTree>
    <p:extLst>
      <p:ext uri="{BB962C8B-B14F-4D97-AF65-F5344CB8AC3E}">
        <p14:creationId xmlns:p14="http://schemas.microsoft.com/office/powerpoint/2010/main" val="6916202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17.5.2 — Configuração IP em um Host Linux</a:t>
            </a:r>
          </a:p>
        </p:txBody>
      </p:sp>
      <p:sp>
        <p:nvSpPr>
          <p:cNvPr id="4" name="Slide Number Placeholder 3"/>
          <p:cNvSpPr>
            <a:spLocks noGrp="1"/>
          </p:cNvSpPr>
          <p:nvPr>
            <p:ph type="sldNum" sz="quarter" idx="5"/>
          </p:nvPr>
        </p:nvSpPr>
        <p:spPr/>
        <p:txBody>
          <a:bodyPr/>
          <a:lstStyle/>
          <a:p>
            <a:pPr rtl="0"/>
            <a:fld id="{5641018C-6CAF-B84E-B92C-ECB119457FBA}" type="slidenum">
              <a:rPr/>
              <a:t>42</a:t>
            </a:fld>
          </a:p>
        </p:txBody>
      </p:sp>
    </p:spTree>
    <p:extLst>
      <p:ext uri="{BB962C8B-B14F-4D97-AF65-F5344CB8AC3E}">
        <p14:creationId xmlns:p14="http://schemas.microsoft.com/office/powerpoint/2010/main" val="1407571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17.5.3 — Configuração IP em um Host macOS</a:t>
            </a:r>
          </a:p>
        </p:txBody>
      </p:sp>
      <p:sp>
        <p:nvSpPr>
          <p:cNvPr id="4" name="Slide Number Placeholder 3"/>
          <p:cNvSpPr>
            <a:spLocks noGrp="1"/>
          </p:cNvSpPr>
          <p:nvPr>
            <p:ph type="sldNum" sz="quarter" idx="5"/>
          </p:nvPr>
        </p:nvSpPr>
        <p:spPr/>
        <p:txBody>
          <a:bodyPr/>
          <a:lstStyle/>
          <a:p>
            <a:pPr rtl="0"/>
            <a:fld id="{5641018C-6CAF-B84E-B92C-ECB119457FBA}" type="slidenum">
              <a:rPr/>
              <a:t>43</a:t>
            </a:fld>
          </a:p>
        </p:txBody>
      </p:sp>
    </p:spTree>
    <p:extLst>
      <p:ext uri="{BB962C8B-B14F-4D97-AF65-F5344CB8AC3E}">
        <p14:creationId xmlns:p14="http://schemas.microsoft.com/office/powerpoint/2010/main" val="11619261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17.5.4 - O Comando arp</a:t>
            </a:r>
          </a:p>
        </p:txBody>
      </p:sp>
      <p:sp>
        <p:nvSpPr>
          <p:cNvPr id="4" name="Slide Number Placeholder 3"/>
          <p:cNvSpPr>
            <a:spLocks noGrp="1"/>
          </p:cNvSpPr>
          <p:nvPr>
            <p:ph type="sldNum" sz="quarter" idx="5"/>
          </p:nvPr>
        </p:nvSpPr>
        <p:spPr/>
        <p:txBody>
          <a:bodyPr/>
          <a:lstStyle/>
          <a:p>
            <a:pPr rtl="0"/>
            <a:fld id="{5641018C-6CAF-B84E-B92C-ECB119457FBA}" type="slidenum">
              <a:rPr/>
              <a:t>44</a:t>
            </a:fld>
          </a:p>
        </p:txBody>
      </p:sp>
    </p:spTree>
    <p:extLst>
      <p:ext uri="{BB962C8B-B14F-4D97-AF65-F5344CB8AC3E}">
        <p14:creationId xmlns:p14="http://schemas.microsoft.com/office/powerpoint/2010/main" val="24404310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17.5.5 - Comandos Comuns Revisitados: show</a:t>
            </a:r>
          </a:p>
        </p:txBody>
      </p:sp>
      <p:sp>
        <p:nvSpPr>
          <p:cNvPr id="4" name="Slide Number Placeholder 3"/>
          <p:cNvSpPr>
            <a:spLocks noGrp="1"/>
          </p:cNvSpPr>
          <p:nvPr>
            <p:ph type="sldNum" sz="quarter" idx="5"/>
          </p:nvPr>
        </p:nvSpPr>
        <p:spPr/>
        <p:txBody>
          <a:bodyPr/>
          <a:lstStyle/>
          <a:p>
            <a:pPr rtl="0"/>
            <a:fld id="{5641018C-6CAF-B84E-B92C-ECB119457FBA}" type="slidenum">
              <a:rPr/>
              <a:t>45</a:t>
            </a:fld>
          </a:p>
        </p:txBody>
      </p:sp>
    </p:spTree>
    <p:extLst>
      <p:ext uri="{BB962C8B-B14F-4D97-AF65-F5344CB8AC3E}">
        <p14:creationId xmlns:p14="http://schemas.microsoft.com/office/powerpoint/2010/main" val="42313168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17.5.6 – O Comando show cdp neighbors</a:t>
            </a:r>
          </a:p>
        </p:txBody>
      </p:sp>
      <p:sp>
        <p:nvSpPr>
          <p:cNvPr id="4" name="Slide Number Placeholder 3"/>
          <p:cNvSpPr>
            <a:spLocks noGrp="1"/>
          </p:cNvSpPr>
          <p:nvPr>
            <p:ph type="sldNum" sz="quarter" idx="5"/>
          </p:nvPr>
        </p:nvSpPr>
        <p:spPr/>
        <p:txBody>
          <a:bodyPr/>
          <a:lstStyle/>
          <a:p>
            <a:pPr rtl="0"/>
            <a:fld id="{5641018C-6CAF-B84E-B92C-ECB119457FBA}" type="slidenum">
              <a:rPr/>
              <a:t>46</a:t>
            </a:fld>
          </a:p>
        </p:txBody>
      </p:sp>
    </p:spTree>
    <p:extLst>
      <p:ext uri="{BB962C8B-B14F-4D97-AF65-F5344CB8AC3E}">
        <p14:creationId xmlns:p14="http://schemas.microsoft.com/office/powerpoint/2010/main" val="33235437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17.5.7 - O Comando show ip interface brief</a:t>
            </a:r>
          </a:p>
        </p:txBody>
      </p:sp>
      <p:sp>
        <p:nvSpPr>
          <p:cNvPr id="4" name="Slide Number Placeholder 3"/>
          <p:cNvSpPr>
            <a:spLocks noGrp="1"/>
          </p:cNvSpPr>
          <p:nvPr>
            <p:ph type="sldNum" sz="quarter" idx="5"/>
          </p:nvPr>
        </p:nvSpPr>
        <p:spPr/>
        <p:txBody>
          <a:bodyPr/>
          <a:lstStyle/>
          <a:p>
            <a:pPr rtl="0"/>
            <a:fld id="{5641018C-6CAF-B84E-B92C-ECB119457FBA}" type="slidenum">
              <a:rPr/>
              <a:t>47</a:t>
            </a:fld>
          </a:p>
        </p:txBody>
      </p:sp>
    </p:spTree>
    <p:extLst>
      <p:ext uri="{BB962C8B-B14F-4D97-AF65-F5344CB8AC3E}">
        <p14:creationId xmlns:p14="http://schemas.microsoft.com/office/powerpoint/2010/main" val="21148889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17.5.8 - Video - O Comando show version</a:t>
            </a:r>
          </a:p>
        </p:txBody>
      </p:sp>
      <p:sp>
        <p:nvSpPr>
          <p:cNvPr id="4" name="Slide Number Placeholder 3"/>
          <p:cNvSpPr>
            <a:spLocks noGrp="1"/>
          </p:cNvSpPr>
          <p:nvPr>
            <p:ph type="sldNum" sz="quarter" idx="5"/>
          </p:nvPr>
        </p:nvSpPr>
        <p:spPr/>
        <p:txBody>
          <a:bodyPr/>
          <a:lstStyle/>
          <a:p>
            <a:pPr rtl="0"/>
            <a:fld id="{5641018C-6CAF-B84E-B92C-ECB119457FBA}" type="slidenum">
              <a:rPr/>
              <a:t>48</a:t>
            </a:fld>
          </a:p>
        </p:txBody>
      </p:sp>
    </p:spTree>
    <p:extLst>
      <p:ext uri="{BB962C8B-B14F-4D97-AF65-F5344CB8AC3E}">
        <p14:creationId xmlns:p14="http://schemas.microsoft.com/office/powerpoint/2010/main" val="17010348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17.5.9 — Packet Tracer — Interpretar a Saída de Comando show</a:t>
            </a:r>
          </a:p>
        </p:txBody>
      </p:sp>
      <p:sp>
        <p:nvSpPr>
          <p:cNvPr id="4" name="Slide Number Placeholder 3"/>
          <p:cNvSpPr>
            <a:spLocks noGrp="1"/>
          </p:cNvSpPr>
          <p:nvPr>
            <p:ph type="sldNum" sz="quarter" idx="5"/>
          </p:nvPr>
        </p:nvSpPr>
        <p:spPr/>
        <p:txBody>
          <a:bodyPr/>
          <a:lstStyle/>
          <a:p>
            <a:pPr rtl="0"/>
            <a:fld id="{5641018C-6CAF-B84E-B92C-ECB119457FBA}" type="slidenum">
              <a:rPr/>
              <a:t>49</a:t>
            </a:fld>
          </a:p>
        </p:txBody>
      </p:sp>
    </p:spTree>
    <p:extLst>
      <p:ext uri="{BB962C8B-B14F-4D97-AF65-F5344CB8AC3E}">
        <p14:creationId xmlns:p14="http://schemas.microsoft.com/office/powerpoint/2010/main" val="30705618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50</a:t>
            </a:fld>
          </a:p>
        </p:txBody>
      </p:sp>
    </p:spTree>
    <p:extLst>
      <p:ext uri="{BB962C8B-B14F-4D97-AF65-F5344CB8AC3E}">
        <p14:creationId xmlns:p14="http://schemas.microsoft.com/office/powerpoint/2010/main" val="17636478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17.6.1 – Abordagens Básicas Para a Solução de Problemas</a:t>
            </a:r>
          </a:p>
        </p:txBody>
      </p:sp>
      <p:sp>
        <p:nvSpPr>
          <p:cNvPr id="4" name="Slide Number Placeholder 3"/>
          <p:cNvSpPr>
            <a:spLocks noGrp="1"/>
          </p:cNvSpPr>
          <p:nvPr>
            <p:ph type="sldNum" sz="quarter" idx="5"/>
          </p:nvPr>
        </p:nvSpPr>
        <p:spPr/>
        <p:txBody>
          <a:bodyPr/>
          <a:lstStyle/>
          <a:p>
            <a:pPr rtl="0"/>
            <a:fld id="{5641018C-6CAF-B84E-B92C-ECB119457FBA}" type="slidenum">
              <a:rPr/>
              <a:t>51</a:t>
            </a:fld>
          </a:p>
        </p:txBody>
      </p:sp>
    </p:spTree>
    <p:extLst>
      <p:ext uri="{BB962C8B-B14F-4D97-AF65-F5344CB8AC3E}">
        <p14:creationId xmlns:p14="http://schemas.microsoft.com/office/powerpoint/2010/main" val="8589145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17.6.2 – Resolver ou Escalonar?</a:t>
            </a:r>
          </a:p>
        </p:txBody>
      </p:sp>
      <p:sp>
        <p:nvSpPr>
          <p:cNvPr id="4" name="Slide Number Placeholder 3"/>
          <p:cNvSpPr>
            <a:spLocks noGrp="1"/>
          </p:cNvSpPr>
          <p:nvPr>
            <p:ph type="sldNum" sz="quarter" idx="5"/>
          </p:nvPr>
        </p:nvSpPr>
        <p:spPr/>
        <p:txBody>
          <a:bodyPr/>
          <a:lstStyle/>
          <a:p>
            <a:pPr rtl="0"/>
            <a:fld id="{5641018C-6CAF-B84E-B92C-ECB119457FBA}" type="slidenum">
              <a:rPr/>
              <a:t>52</a:t>
            </a:fld>
          </a:p>
        </p:txBody>
      </p:sp>
    </p:spTree>
    <p:extLst>
      <p:ext uri="{BB962C8B-B14F-4D97-AF65-F5344CB8AC3E}">
        <p14:creationId xmlns:p14="http://schemas.microsoft.com/office/powerpoint/2010/main" val="9504025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17.6.3 - O Comando debug</a:t>
            </a:r>
          </a:p>
        </p:txBody>
      </p:sp>
      <p:sp>
        <p:nvSpPr>
          <p:cNvPr id="4" name="Slide Number Placeholder 3"/>
          <p:cNvSpPr>
            <a:spLocks noGrp="1"/>
          </p:cNvSpPr>
          <p:nvPr>
            <p:ph type="sldNum" sz="quarter" idx="5"/>
          </p:nvPr>
        </p:nvSpPr>
        <p:spPr/>
        <p:txBody>
          <a:bodyPr/>
          <a:lstStyle/>
          <a:p>
            <a:pPr rtl="0"/>
            <a:fld id="{5641018C-6CAF-B84E-B92C-ECB119457FBA}" type="slidenum">
              <a:rPr/>
              <a:t>53</a:t>
            </a:fld>
          </a:p>
        </p:txBody>
      </p:sp>
    </p:spTree>
    <p:extLst>
      <p:ext uri="{BB962C8B-B14F-4D97-AF65-F5344CB8AC3E}">
        <p14:creationId xmlns:p14="http://schemas.microsoft.com/office/powerpoint/2010/main" val="16878604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17.6.4 - O Comando terminal monitor</a:t>
            </a:r>
          </a:p>
          <a:p>
            <a:pPr rtl="0"/>
            <a:r>
              <a:rPr lang="pt-BR"/>
              <a:t>17.6.5 — Verifique Seu Entendimento — Metodologias de Solução de Problemas</a:t>
            </a:r>
          </a:p>
        </p:txBody>
      </p:sp>
      <p:sp>
        <p:nvSpPr>
          <p:cNvPr id="4" name="Slide Number Placeholder 3"/>
          <p:cNvSpPr>
            <a:spLocks noGrp="1"/>
          </p:cNvSpPr>
          <p:nvPr>
            <p:ph type="sldNum" sz="quarter" idx="5"/>
          </p:nvPr>
        </p:nvSpPr>
        <p:spPr/>
        <p:txBody>
          <a:bodyPr/>
          <a:lstStyle/>
          <a:p>
            <a:pPr rtl="0"/>
            <a:fld id="{5641018C-6CAF-B84E-B92C-ECB119457FBA}" type="slidenum">
              <a:rPr/>
              <a:t>54</a:t>
            </a:fld>
          </a:p>
        </p:txBody>
      </p:sp>
    </p:spTree>
    <p:extLst>
      <p:ext uri="{BB962C8B-B14F-4D97-AF65-F5344CB8AC3E}">
        <p14:creationId xmlns:p14="http://schemas.microsoft.com/office/powerpoint/2010/main" val="5481719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55</a:t>
            </a:fld>
          </a:p>
        </p:txBody>
      </p:sp>
    </p:spTree>
    <p:extLst>
      <p:ext uri="{BB962C8B-B14F-4D97-AF65-F5344CB8AC3E}">
        <p14:creationId xmlns:p14="http://schemas.microsoft.com/office/powerpoint/2010/main" val="42881064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17.7.1 — Problemas de Operação Duplex e Incompatibilidade</a:t>
            </a:r>
          </a:p>
        </p:txBody>
      </p:sp>
      <p:sp>
        <p:nvSpPr>
          <p:cNvPr id="4" name="Slide Number Placeholder 3"/>
          <p:cNvSpPr>
            <a:spLocks noGrp="1"/>
          </p:cNvSpPr>
          <p:nvPr>
            <p:ph type="sldNum" sz="quarter" idx="5"/>
          </p:nvPr>
        </p:nvSpPr>
        <p:spPr/>
        <p:txBody>
          <a:bodyPr/>
          <a:lstStyle/>
          <a:p>
            <a:pPr rtl="0"/>
            <a:fld id="{5641018C-6CAF-B84E-B92C-ECB119457FBA}" type="slidenum">
              <a:rPr/>
              <a:t>56</a:t>
            </a:fld>
          </a:p>
        </p:txBody>
      </p:sp>
    </p:spTree>
    <p:extLst>
      <p:ext uri="{BB962C8B-B14F-4D97-AF65-F5344CB8AC3E}">
        <p14:creationId xmlns:p14="http://schemas.microsoft.com/office/powerpoint/2010/main" val="29719165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17.7.2 - Problemas de Endereçamento IP em Dispositivos IOS</a:t>
            </a:r>
          </a:p>
        </p:txBody>
      </p:sp>
      <p:sp>
        <p:nvSpPr>
          <p:cNvPr id="4" name="Slide Number Placeholder 3"/>
          <p:cNvSpPr>
            <a:spLocks noGrp="1"/>
          </p:cNvSpPr>
          <p:nvPr>
            <p:ph type="sldNum" sz="quarter" idx="5"/>
          </p:nvPr>
        </p:nvSpPr>
        <p:spPr/>
        <p:txBody>
          <a:bodyPr/>
          <a:lstStyle/>
          <a:p>
            <a:pPr rtl="0"/>
            <a:fld id="{5641018C-6CAF-B84E-B92C-ECB119457FBA}" type="slidenum">
              <a:rPr/>
              <a:t>57</a:t>
            </a:fld>
          </a:p>
        </p:txBody>
      </p:sp>
    </p:spTree>
    <p:extLst>
      <p:ext uri="{BB962C8B-B14F-4D97-AF65-F5344CB8AC3E}">
        <p14:creationId xmlns:p14="http://schemas.microsoft.com/office/powerpoint/2010/main" val="37240725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17.7.3 – Problemas de Endereçamento IP nos Dispositivos Finais</a:t>
            </a:r>
          </a:p>
        </p:txBody>
      </p:sp>
      <p:sp>
        <p:nvSpPr>
          <p:cNvPr id="4" name="Slide Number Placeholder 3"/>
          <p:cNvSpPr>
            <a:spLocks noGrp="1"/>
          </p:cNvSpPr>
          <p:nvPr>
            <p:ph type="sldNum" sz="quarter" idx="5"/>
          </p:nvPr>
        </p:nvSpPr>
        <p:spPr/>
        <p:txBody>
          <a:bodyPr/>
          <a:lstStyle/>
          <a:p>
            <a:pPr rtl="0"/>
            <a:fld id="{5641018C-6CAF-B84E-B92C-ECB119457FBA}" type="slidenum">
              <a:rPr/>
              <a:t>58</a:t>
            </a:fld>
          </a:p>
        </p:txBody>
      </p:sp>
    </p:spTree>
    <p:extLst>
      <p:ext uri="{BB962C8B-B14F-4D97-AF65-F5344CB8AC3E}">
        <p14:creationId xmlns:p14="http://schemas.microsoft.com/office/powerpoint/2010/main" val="358389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17.7.4 – Problemas de Gateway Padrão</a:t>
            </a:r>
          </a:p>
        </p:txBody>
      </p:sp>
      <p:sp>
        <p:nvSpPr>
          <p:cNvPr id="4" name="Slide Number Placeholder 3"/>
          <p:cNvSpPr>
            <a:spLocks noGrp="1"/>
          </p:cNvSpPr>
          <p:nvPr>
            <p:ph type="sldNum" sz="quarter" idx="5"/>
          </p:nvPr>
        </p:nvSpPr>
        <p:spPr/>
        <p:txBody>
          <a:bodyPr/>
          <a:lstStyle/>
          <a:p>
            <a:pPr rtl="0"/>
            <a:fld id="{5641018C-6CAF-B84E-B92C-ECB119457FBA}" type="slidenum">
              <a:rPr/>
              <a:t>59</a:t>
            </a:fld>
          </a:p>
        </p:txBody>
      </p:sp>
    </p:spTree>
    <p:extLst>
      <p:ext uri="{BB962C8B-B14F-4D97-AF65-F5344CB8AC3E}">
        <p14:creationId xmlns:p14="http://schemas.microsoft.com/office/powerpoint/2010/main" val="30432465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17.7.5 - Como Solucionar Problemas de DNS</a:t>
            </a:r>
          </a:p>
        </p:txBody>
      </p:sp>
      <p:sp>
        <p:nvSpPr>
          <p:cNvPr id="4" name="Slide Number Placeholder 3"/>
          <p:cNvSpPr>
            <a:spLocks noGrp="1"/>
          </p:cNvSpPr>
          <p:nvPr>
            <p:ph type="sldNum" sz="quarter" idx="5"/>
          </p:nvPr>
        </p:nvSpPr>
        <p:spPr/>
        <p:txBody>
          <a:bodyPr/>
          <a:lstStyle/>
          <a:p>
            <a:pPr rtl="0"/>
            <a:fld id="{5641018C-6CAF-B84E-B92C-ECB119457FBA}" type="slidenum">
              <a:rPr/>
              <a:t>60</a:t>
            </a:fld>
          </a:p>
        </p:txBody>
      </p:sp>
    </p:spTree>
    <p:extLst>
      <p:ext uri="{BB962C8B-B14F-4D97-AF65-F5344CB8AC3E}">
        <p14:creationId xmlns:p14="http://schemas.microsoft.com/office/powerpoint/2010/main" val="17274064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17.7.6 – Packet Tracer - Solucionar Problemas de Conectividade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61</a:t>
            </a:fld>
          </a:p>
        </p:txBody>
      </p:sp>
    </p:spTree>
    <p:extLst>
      <p:ext uri="{BB962C8B-B14F-4D97-AF65-F5344CB8AC3E}">
        <p14:creationId xmlns:p14="http://schemas.microsoft.com/office/powerpoint/2010/main" val="19201648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17.7.7 – PTPM e Lab – Solucione Problemas de Conectividade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62</a:t>
            </a:fld>
          </a:p>
        </p:txBody>
      </p:sp>
    </p:spTree>
    <p:extLst>
      <p:ext uri="{BB962C8B-B14F-4D97-AF65-F5344CB8AC3E}">
        <p14:creationId xmlns:p14="http://schemas.microsoft.com/office/powerpoint/2010/main" val="3068880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17.8 -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63</a:t>
            </a:fld>
          </a:p>
        </p:txBody>
      </p:sp>
    </p:spTree>
    <p:extLst>
      <p:ext uri="{BB962C8B-B14F-4D97-AF65-F5344CB8AC3E}">
        <p14:creationId xmlns:p14="http://schemas.microsoft.com/office/powerpoint/2010/main" val="22171436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17.8 - Módulo Prática e Quiz</a:t>
            </a:r>
          </a:p>
          <a:p>
            <a:pPr rtl="0"/>
            <a:r>
              <a:rPr lang="pt-BR"/>
              <a:t>17.8.1 – PTPM e Lab – Projeto e Desenvolvimento de uma Pequena Rede de Negócios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64</a:t>
            </a:fld>
          </a:p>
        </p:txBody>
      </p:sp>
    </p:spTree>
    <p:extLst>
      <p:ext uri="{BB962C8B-B14F-4D97-AF65-F5344CB8AC3E}">
        <p14:creationId xmlns:p14="http://schemas.microsoft.com/office/powerpoint/2010/main" val="38944276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17.8 - Módulo Prática e Quiz</a:t>
            </a:r>
          </a:p>
          <a:p>
            <a:pPr rtl="0"/>
            <a:r>
              <a:rPr lang="pt-BR"/>
              <a:t>17.8.2 - Packet Tracer – Desafio de Integração de Habilidades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65</a:t>
            </a:fld>
          </a:p>
        </p:txBody>
      </p:sp>
    </p:spTree>
    <p:extLst>
      <p:ext uri="{BB962C8B-B14F-4D97-AF65-F5344CB8AC3E}">
        <p14:creationId xmlns:p14="http://schemas.microsoft.com/office/powerpoint/2010/main" val="18553082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17.8 - Módulo Prática e Quiz</a:t>
            </a:r>
          </a:p>
          <a:p>
            <a:pPr rtl="0"/>
            <a:r>
              <a:rPr lang="pt-BR"/>
              <a:t>17.8.3 – Packet Tracer – Desafio de Solução de Problemas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66</a:t>
            </a:fld>
          </a:p>
        </p:txBody>
      </p:sp>
    </p:spTree>
    <p:extLst>
      <p:ext uri="{BB962C8B-B14F-4D97-AF65-F5344CB8AC3E}">
        <p14:creationId xmlns:p14="http://schemas.microsoft.com/office/powerpoint/2010/main" val="10279177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67</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17 – Como Criar uma Rede Pequena</a:t>
            </a:r>
          </a:p>
          <a:p>
            <a:pPr rtl="0"/>
            <a:r>
              <a:rPr lang="pt-BR"/>
              <a:t>17.8 - Módulo Prática e Quiz</a:t>
            </a:r>
          </a:p>
          <a:p>
            <a:pPr rtl="0"/>
            <a:r>
              <a:rPr lang="pt-BR"/>
              <a:t>17.8.4 - O Que Aprendi Neste Módulo (cont.)?</a:t>
            </a:r>
          </a:p>
        </p:txBody>
      </p:sp>
    </p:spTree>
    <p:extLst>
      <p:ext uri="{BB962C8B-B14F-4D97-AF65-F5344CB8AC3E}">
        <p14:creationId xmlns:p14="http://schemas.microsoft.com/office/powerpoint/2010/main" val="11392415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68</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17 – Como Criar uma Rede Pequena</a:t>
            </a:r>
          </a:p>
          <a:p>
            <a:pPr rtl="0"/>
            <a:r>
              <a:rPr lang="pt-BR"/>
              <a:t>17.8 - Módulo Prática e Quiz</a:t>
            </a:r>
          </a:p>
          <a:p>
            <a:pPr rtl="0"/>
            <a:r>
              <a:rPr lang="pt-BR"/>
              <a:t>17.8.4 - O Que eu Aprendi Neste Módulo?</a:t>
            </a:r>
          </a:p>
        </p:txBody>
      </p:sp>
    </p:spTree>
    <p:extLst>
      <p:ext uri="{BB962C8B-B14F-4D97-AF65-F5344CB8AC3E}">
        <p14:creationId xmlns:p14="http://schemas.microsoft.com/office/powerpoint/2010/main" val="40520721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69</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17 – Como Criar uma Rede Pequena</a:t>
            </a:r>
          </a:p>
          <a:p>
            <a:pPr rtl="0"/>
            <a:r>
              <a:rPr lang="pt-BR"/>
              <a:t>17.8 - Módulo Prática e Quiz</a:t>
            </a:r>
          </a:p>
          <a:p>
            <a:pPr rtl="0"/>
            <a:r>
              <a:rPr lang="pt-BR"/>
              <a:t>17.8.4 - O Que eu Aprendi Neste Módulo?</a:t>
            </a:r>
          </a:p>
          <a:p>
            <a:pPr rtl="0"/>
            <a:r>
              <a:rPr lang="pt-BR"/>
              <a:t>17.8.5 — Teste de Módulo — Construir uma Rede Pequena</a:t>
            </a:r>
          </a:p>
        </p:txBody>
      </p:sp>
    </p:spTree>
    <p:extLst>
      <p:ext uri="{BB962C8B-B14F-4D97-AF65-F5344CB8AC3E}">
        <p14:creationId xmlns:p14="http://schemas.microsoft.com/office/powerpoint/2010/main" val="42867117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70</a:t>
            </a:fld>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71</a:t>
            </a:fld>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pt-BR">
                <a:solidFill>
                  <a:schemeClr val="accent5">
                    <a:lumMod val="50000"/>
                  </a:schemeClr>
                </a:solidFill>
                <a:latin typeface="+mn-lt"/>
                <a:ea typeface="+mn-ea"/>
                <a:cs typeface="CiscoSans Thin"/>
              </a:rPr>
              <a:t>© 2016 Cisco e/ou suas afiliadas. Todos os direitos reservados.   Documento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p>
        </p:txBody>
      </p:sp>
      <p:sp>
        <p:nvSpPr>
          <p:cNvPr id="13" name="Rectangle 4"/>
          <p:cNvSpPr>
            <a:spLocks noChangeArrowheads="1"/>
          </p:cNvSpPr>
          <p:nvPr/>
        </p:nvSpPr>
        <p:spPr bwMode="ltGray">
          <a:xfrm>
            <a:off x="5705061" y="4741653"/>
            <a:ext cx="2820465" cy="154518"/>
          </a:xfrm>
          <a:prstGeom prst="rect">
            <a:avLst/>
          </a:prstGeom>
          <a:noFill/>
          <a:ln w="9525">
            <a:noFill/>
            <a:miter lim="800000"/>
            <a:headEnd/>
            <a:tailEnd/>
          </a:ln>
          <a:effectLst/>
        </p:spPr>
        <p:txBody>
          <a:bodyPr wrap="square" lIns="61586" tIns="30792" rIns="61586" bIns="30792" anchor="b">
            <a:spAutoFit/>
          </a:bodyPr>
          <a:lstStyle/>
          <a:p>
            <a:pPr defTabSz="610744" fontAlgn="auto" rtl="0">
              <a:spcBef>
                <a:spcPts val="0"/>
              </a:spcBef>
              <a:spcAft>
                <a:spcPts val="0"/>
              </a:spcAft>
              <a:defRPr/>
            </a:pPr>
            <a:r>
              <a:rPr sz="600" lang="pt-BR">
                <a:solidFill>
                  <a:schemeClr val="accent3">
                    <a:lumMod val="85000"/>
                  </a:schemeClr>
                </a:solidFill>
                <a:latin typeface="+mn-lt"/>
                <a:ea typeface="+mn-ea"/>
                <a:cs typeface="CiscoSans Thin"/>
              </a:rPr>
              <a:t>© 2019, 2021 Cisco e/ou suas afiliadas. Todos os direitos reservados.   Documento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3.xml.rels><?xml version="1.0" encoding="utf-8"?>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5.xml.rels><?xml version="1.0" encoding="utf-8"?>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1.xml.rels><?xml version="1.0" encoding="utf-8"?>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26.xml.rels><?xml version="1.0" encoding="utf-8"?>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30.xml.rels><?xml version="1.0" encoding="utf-8"?>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31.xml.rels><?xml version="1.0" encoding="utf-8"?>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6.xml.rels><?xml version="1.0" encoding="utf-8"?>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41.xml.rels><?xml version="1.0" encoding="utf-8"?>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48.xml.rels><?xml version="1.0" encoding="utf-8"?>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51.xml.rels><?xml version="1.0" encoding="utf-8"?>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55.xml.rels><?xml version="1.0" encoding="utf-8"?>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56.xml.rels><?xml version="1.0" encoding="utf-8"?>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0.xml.rels><?xml version="1.0" encoding="utf-8"?>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1.xml.rels><?xml version="1.0" encoding="utf-8"?>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3.xml.rels><?xml version="1.0" encoding="utf-8"?>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64.xml.rels><?xml version="1.0" encoding="utf-8"?>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6.xml.rels><?xml version="1.0" encoding="utf-8"?>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7.xml.rels><?xml version="1.0" encoding="utf-8"?>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68.xml.rels><?xml version="1.0" encoding="utf-8"?>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69.xml.rels><?xml version="1.0" encoding="utf-8"?>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70.xml.rels><?xml version="1.0" encoding="utf-8"?>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71.xml.rels><?xml version="1.0" encoding="utf-8"?>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17: Construa uma Rede Pequena</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 </a:t>
            </a:r>
          </a:p>
          <a:p>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Materiais do Instrutor - Guia de Planejamento do Módulo 17</a:t>
            </a:r>
          </a:p>
        </p:txBody>
      </p:sp>
      <p:sp>
        <p:nvSpPr>
          <p:cNvPr id="4099" name="Rectangle 34"/>
          <p:cNvSpPr>
            <a:spLocks noGrp="1" noChangeArrowheads="1"/>
          </p:cNvSpPr>
          <p:nvPr>
            <p:ph idx="1"/>
          </p:nvPr>
        </p:nvSpPr>
        <p:spPr>
          <a:xfrm>
            <a:off x="145357" y="808180"/>
            <a:ext cx="8461315" cy="3818904"/>
          </a:xfrm>
        </p:spPr>
        <p:txBody>
          <a:bodyPr/>
          <a:lstStyle/>
          <a:p>
            <a:pPr marL="0" indent="0" rtl="0">
              <a:buNone/>
            </a:pPr>
            <a:r>
              <a:rPr lang="pt-BR"/>
              <a:t>Esta apresentação de PowerPoint é dividida em duas partes:</a:t>
            </a:r>
          </a:p>
          <a:p>
            <a:pPr rtl="0">
              <a:buFont typeface="Arial" panose="020B0604020202020204" pitchFamily="34" charset="0"/>
              <a:buChar char="•"/>
            </a:pPr>
            <a:r>
              <a:rPr lang="pt-BR"/>
              <a:t>Guia de Planejamento do Instrutor</a:t>
            </a:r>
          </a:p>
          <a:p>
            <a:pPr lvl="1" rtl="0">
              <a:buFont typeface="Arial" panose="020B0604020202020204" pitchFamily="34" charset="0"/>
              <a:buChar char="•"/>
            </a:pPr>
            <a:r>
              <a:rPr lang="pt-BR"/>
              <a:t>Informações para ajudá-lo a se familiarizar com o módulo</a:t>
            </a:r>
          </a:p>
          <a:p>
            <a:pPr lvl="1" rtl="0">
              <a:buFont typeface="Arial" panose="020B0604020202020204" pitchFamily="34" charset="0"/>
              <a:buChar char="•"/>
            </a:pPr>
            <a:r>
              <a:rPr lang="pt-BR"/>
              <a:t>Material Didático</a:t>
            </a:r>
          </a:p>
          <a:p>
            <a:pPr rtl="0">
              <a:buFont typeface="Arial" panose="020B0604020202020204" pitchFamily="34" charset="0"/>
              <a:buChar char="•"/>
            </a:pPr>
            <a:r>
              <a:rPr lang="pt-BR"/>
              <a:t>Apresentação para aulas</a:t>
            </a:r>
          </a:p>
          <a:p>
            <a:pPr lvl="1" rtl="0">
              <a:buFont typeface="Arial" panose="020B0604020202020204" pitchFamily="34" charset="0"/>
              <a:buChar char="•"/>
            </a:pPr>
            <a:r>
              <a:rPr lang="pt-BR"/>
              <a:t>Slides opcionais que você pode usar em sala de aula</a:t>
            </a:r>
          </a:p>
          <a:p>
            <a:pPr lvl="1" rtl="0">
              <a:buFont typeface="Arial" panose="020B0604020202020204" pitchFamily="34" charset="0"/>
              <a:buChar char="•"/>
            </a:pPr>
            <a:r>
              <a:rPr lang="pt-BR"/>
              <a:t>Começa no slide 12</a:t>
            </a:r>
          </a:p>
          <a:p>
            <a:pPr marL="142875" lvl="1" indent="0" algn="ctr" rtl="0">
              <a:buNone/>
            </a:pPr>
            <a:r>
              <a:rPr sz="1600" b="true" lang="pt-BR"/>
              <a:t>Observação</a:t>
            </a:r>
            <a:r>
              <a:rPr sz="1600" lang="pt-BR"/>
              <a:t>: Remova o Guia de planejamento desta apresentação antes de compartilhar com outra pessoa.</a:t>
            </a:r>
          </a:p>
          <a:p>
            <a:pPr marL="0" indent="0" rtl="0">
              <a:buNone/>
            </a:pPr>
            <a:r>
              <a:rPr sz="1600" b="true" lang="pt-BR">
                <a:solidFill>
                  <a:schemeClr val="accent4"/>
                </a:solidFill>
              </a:rPr>
              <a:t>Para obter ajuda e recursos adicionais,  vá para a página inicial do instrutor e os recursos do curso para este curso. Você também pode visitar o site de desenvolvimento profissional na NetAcad.com, a página oficial do Facebook da Academia de Networking da Cisco ou instrutor apenas FB Group.</a:t>
            </a:r>
          </a:p>
        </p:txBody>
      </p:sp>
    </p:spTree>
    <p:custDataLst>
      <p:tags r:id="rId1"/>
    </p:custDataLst>
    <p:extLst>
      <p:ext uri="{BB962C8B-B14F-4D97-AF65-F5344CB8AC3E}">
        <p14:creationId xmlns:p14="http://schemas.microsoft.com/office/powerpoint/2010/main" val="44432940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buFont typeface="Arial" panose="020B0604020202020204" pitchFamily="34" charset="0"/>
              <a:buChar char="•"/>
            </a:pPr>
            <a:r>
              <a:rPr lang="pt-BR"/>
              <a:t>Para facilitar o aprendizado, as seguintes características podem estar incluídas neste módulo:</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fontAlgn="b" rtl="0"/>
                      <a:r>
                        <a:rPr sz="1400" b="false" i="false" u="none" strike="noStrike" lang="pt-BR">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Expor os alunos a novas competências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pt-BR">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pt-BR">
                          <a:solidFill>
                            <a:srgbClr val="000000"/>
                          </a:solidFill>
                          <a:effectLst/>
                          <a:latin typeface="+mn-lt"/>
                        </a:rPr>
                        <a:t>Verifique seu entendimento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pt-BR">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fontAlgn="b" rtl="0"/>
                      <a:r>
                        <a:rPr sz="1400" b="false" i="false" u="none" strike="noStrike" lang="pt-BR">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fontAlgn="b" rtl="0"/>
                      <a:r>
                        <a:rPr sz="1400" b="false" i="false" u="none" strike="noStrike" lang="pt-BR">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202038176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Neste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pt-BR"/>
              <a:t>Para facilitar a aprendizagem,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pic>
        <p:nvPicPr>
          <p:cNvPr id="7" name="Content Placeholder 6">
            <a:extLst>
              <a:ext uri="{FF2B5EF4-FFF2-40B4-BE49-F238E27FC236}">
                <a16:creationId xmlns:a16="http://schemas.microsoft.com/office/drawing/2014/main" id="{AB248614-0DEB-49A3-87FC-207512F4F9F9}"/>
              </a:ext>
            </a:extLst>
          </p:cNvPr>
          <p:cNvPicPr>
            <a:picLocks noGrp="1" noChangeAspect="1"/>
          </p:cNvPicPr>
          <p:nvPr>
            <p:ph idx="1"/>
          </p:nvPr>
        </p:nvPicPr>
        <p:blipFill>
          <a:blip r:embed="rId3"/>
          <a:stretch>
            <a:fillRect/>
          </a:stretch>
        </p:blipFill>
        <p:spPr>
          <a:xfrm>
            <a:off x="255658" y="1464673"/>
            <a:ext cx="8632684" cy="2505673"/>
          </a:xfrm>
          <a:prstGeom prst="rect">
            <a:avLst/>
          </a:prstGeom>
        </p:spPr>
      </p:pic>
    </p:spTree>
    <p:custDataLst>
      <p:tags r:id="rId1"/>
    </p:custDataLst>
    <p:extLst>
      <p:ext uri="{BB962C8B-B14F-4D97-AF65-F5344CB8AC3E}">
        <p14:creationId xmlns:p14="http://schemas.microsoft.com/office/powerpoint/2010/main" val="160573545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rtl="0"/>
            <a:r>
              <a:rPr lang="pt-BR"/>
              <a:t>Verifique seu entendimento</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sz="1600" lang="pt-BR"/>
              <a:t>As atividades "Verifique sua compreensão" são projetadas para permitir que os alunos determinem rapidamente se entendem o conteúdo e podem prosseguir ou se precisam revisar. </a:t>
            </a:r>
          </a:p>
          <a:p>
            <a:pPr rtl="0">
              <a:spcBef>
                <a:spcPct val="30000"/>
              </a:spcBef>
              <a:buFont typeface="Arial" panose="020B0604020202020204" pitchFamily="34" charset="0"/>
              <a:buChar char="•"/>
            </a:pPr>
            <a:r>
              <a:rPr sz="1600" lang="pt-BR"/>
              <a:t>Verifique se suas atividades de compreensão </a:t>
            </a:r>
            <a:r>
              <a:rPr sz="1600" b="true" i="true" lang="pt-BR"/>
              <a:t>não </a:t>
            </a:r>
            <a:r>
              <a:rPr sz="1600" lang="pt-BR"/>
              <a:t>afetam as notas do aluno.</a:t>
            </a:r>
          </a:p>
          <a:p>
            <a:pPr rtl="0">
              <a:spcBef>
                <a:spcPct val="30000"/>
              </a:spcBef>
              <a:buFont typeface="Arial" panose="020B0604020202020204" pitchFamily="34" charset="0"/>
              <a:buChar char="•"/>
            </a:pPr>
            <a:r>
              <a:rPr sz="1600" lang="pt-BR"/>
              <a:t>Não há slides separados para essas atividades no PPT. Elas estão listadas na área de anotações do slide que aparece antes dessas atividades.</a:t>
            </a:r>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rtl="0"/>
            <a:r>
              <a:rPr lang="pt-BR"/>
              <a:t>Packet Tracer - Atividades do Modo Físico</a:t>
            </a:r>
          </a:p>
        </p:txBody>
      </p:sp>
      <p:sp>
        <p:nvSpPr>
          <p:cNvPr id="4" name="Rectangle 34">
            <a:extLst>
              <a:ext uri="{FF2B5EF4-FFF2-40B4-BE49-F238E27FC236}">
                <a16:creationId xmlns:a16="http://schemas.microsoft.com/office/drawing/2014/main" id="{08FDDB5E-A0F2-A445-A3E2-506D151576AB}"/>
              </a:ext>
            </a:extLst>
          </p:cNvPr>
          <p:cNvSpPr txBox="1">
            <a:spLocks noChangeArrowheads="1"/>
          </p:cNvSpPr>
          <p:nvPr/>
        </p:nvSpPr>
        <p:spPr bwMode="auto">
          <a:xfrm>
            <a:off x="132715" y="982690"/>
            <a:ext cx="8878570" cy="364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spcBef>
                <a:spcPct val="30000"/>
              </a:spcBef>
              <a:buFont typeface="Arial" panose="020B0604020202020204" pitchFamily="34" charset="0"/>
              <a:buChar char="•"/>
            </a:pPr>
            <a:r>
              <a:rPr lang="pt-BR"/>
              <a:t>Estas atividades são concluídas usando o Packet Tracer no Modo Físico. </a:t>
            </a:r>
          </a:p>
          <a:p>
            <a:pPr rtl="0">
              <a:spcBef>
                <a:spcPct val="30000"/>
              </a:spcBef>
              <a:buFont typeface="Arial" panose="020B0604020202020204" pitchFamily="34" charset="0"/>
              <a:buChar char="•"/>
            </a:pPr>
            <a:r>
              <a:rPr lang="pt-BR"/>
              <a:t>Eles são projetados para emular os laboratórios correspondentes. </a:t>
            </a:r>
          </a:p>
          <a:p>
            <a:pPr rtl="0">
              <a:spcBef>
                <a:spcPct val="30000"/>
              </a:spcBef>
              <a:buFont typeface="Arial" panose="020B0604020202020204" pitchFamily="34" charset="0"/>
              <a:buChar char="•"/>
            </a:pPr>
            <a:r>
              <a:rPr lang="pt-BR"/>
              <a:t>Eles podem ser usados em vez do laboratório quando o acesso ao equipamento físico não é possível. </a:t>
            </a:r>
          </a:p>
          <a:p>
            <a:pPr rtl="0">
              <a:spcBef>
                <a:spcPct val="30000"/>
              </a:spcBef>
              <a:buFont typeface="Arial" panose="020B0604020202020204" pitchFamily="34" charset="0"/>
              <a:buChar char="•"/>
            </a:pPr>
            <a:r>
              <a:rPr lang="pt-BR"/>
              <a:t>As atividades do modo físico do Packet Tracer podem não ter tanta andaimes quanto as atividades do PT que imediatamente os precedem.</a:t>
            </a:r>
          </a:p>
          <a:p>
            <a:pPr marL="0" indent="0">
              <a:spcBef>
                <a:spcPct val="30000"/>
              </a:spcBef>
              <a:buFont typeface="Wingdings" panose="05000000000000000000" pitchFamily="2" charset="2"/>
              <a:buNone/>
            </a:pPr>
            <a:endParaRPr lang="en-US" dirty="0"/>
          </a:p>
          <a:p>
            <a:pPr>
              <a:spcBef>
                <a:spcPct val="30000"/>
              </a:spcBef>
            </a:pPr>
            <a:endParaRPr lang="en-US" dirty="0"/>
          </a:p>
        </p:txBody>
      </p:sp>
    </p:spTree>
    <p:custDataLst>
      <p:tags r:id="rId1"/>
    </p:custDataLst>
    <p:extLst>
      <p:ext uri="{BB962C8B-B14F-4D97-AF65-F5344CB8AC3E}">
        <p14:creationId xmlns:p14="http://schemas.microsoft.com/office/powerpoint/2010/main" val="227886678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rtl="0"/>
            <a:r>
              <a:rPr lang="pt-BR"/>
              <a:t>Módulo 17: Atividades</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pt-BR"/>
              <a:t>Quais atividades estão associadas a este módulo?</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001461050"/>
              </p:ext>
            </p:extLst>
          </p:nvPr>
        </p:nvGraphicFramePr>
        <p:xfrm>
          <a:off x="455999" y="1082042"/>
          <a:ext cx="8229418" cy="386235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sz="1200" lang="pt-BR"/>
                        <a:t>Nº da página</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pt-BR"/>
                        <a:t>Tipo de atividade</a:t>
                      </a:r>
                    </a:p>
                  </a:txBody>
                  <a:tcPr marL="68580" marR="68580" marT="34290" marB="34290" anchor="ctr"/>
                </a:tc>
                <a:tc>
                  <a:txBody>
                    <a:bodyPr/>
                    <a:lstStyle/>
                    <a:p>
                      <a:pPr rtl="0"/>
                      <a:r>
                        <a:rPr sz="1200" lang="pt-BR"/>
                        <a:t>Nome da atividade</a:t>
                      </a:r>
                    </a:p>
                  </a:txBody>
                  <a:tcPr marL="68580" marR="68580" marT="34290" marB="34290" anchor="ctr"/>
                </a:tc>
                <a:tc>
                  <a:txBody>
                    <a:bodyPr/>
                    <a:lstStyle/>
                    <a:p>
                      <a:pPr rtl="0"/>
                      <a:r>
                        <a:rPr sz="1200" lang="pt-BR"/>
                        <a:t>Opcional?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sz="1100" lang="pt-BR">
                          <a:solidFill>
                            <a:srgbClr val="000000"/>
                          </a:solidFill>
                        </a:rPr>
                        <a:t>17.1.6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pt-BR">
                          <a:solidFill>
                            <a:srgbClr val="000000"/>
                          </a:solidFill>
                        </a:rPr>
                        <a:t>Verifique seu entendimento</a:t>
                      </a:r>
                    </a:p>
                  </a:txBody>
                  <a:tcPr marL="68580" marR="68580" marT="34290" marB="34290" anchor="ctr"/>
                </a:tc>
                <a:tc>
                  <a:txBody>
                    <a:bodyPr/>
                    <a:lstStyle/>
                    <a:p>
                      <a:pPr rtl="0"/>
                      <a:r>
                        <a:rPr sz="1100" lang="pt-BR">
                          <a:solidFill>
                            <a:srgbClr val="000000"/>
                          </a:solidFill>
                        </a:rPr>
                        <a:t>Dispositivos em uma rede pequena</a:t>
                      </a:r>
                    </a:p>
                  </a:txBody>
                  <a:tcPr marL="68580" marR="68580" marT="34290" marB="34290" anchor="ctr"/>
                </a:tc>
                <a:tc>
                  <a:txBody>
                    <a:bodyPr/>
                    <a:lstStyle/>
                    <a:p>
                      <a:pPr rtl="0"/>
                      <a:r>
                        <a:rPr sz="1100" lang="pt-BR">
                          <a:solidFill>
                            <a:srgbClr val="000000"/>
                          </a:solidFill>
                        </a:rPr>
                        <a:t>Recomendado</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sz="1100" lang="pt-BR">
                          <a:solidFill>
                            <a:srgbClr val="000000"/>
                          </a:solidFill>
                        </a:rPr>
                        <a:t>17.2.4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pt-BR">
                          <a:solidFill>
                            <a:srgbClr val="000000"/>
                          </a:solidFill>
                        </a:rPr>
                        <a:t>Verifique seu entendimento</a:t>
                      </a:r>
                    </a:p>
                  </a:txBody>
                  <a:tcPr marL="68580" marR="68580" marT="34290" marB="34290" anchor="ctr"/>
                </a:tc>
                <a:tc>
                  <a:txBody>
                    <a:bodyPr/>
                    <a:lstStyle/>
                    <a:p>
                      <a:pPr rtl="0"/>
                      <a:r>
                        <a:rPr sz="1100" lang="pt-BR">
                          <a:solidFill>
                            <a:srgbClr val="000000"/>
                          </a:solidFill>
                        </a:rPr>
                        <a:t>Aplicações e protocolos de redes pequenas</a:t>
                      </a:r>
                    </a:p>
                  </a:txBody>
                  <a:tcPr marL="68580" marR="68580" marT="34290" marB="34290" anchor="ctr"/>
                </a:tc>
                <a:tc>
                  <a:txBody>
                    <a:bodyPr/>
                    <a:lstStyle/>
                    <a:p>
                      <a:pPr rtl="0"/>
                      <a:r>
                        <a:rPr sz="1100" lang="pt-BR">
                          <a:solidFill>
                            <a:srgbClr val="000000"/>
                          </a:solidFill>
                        </a:rPr>
                        <a:t>Recomendado</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sz="1100" lang="pt-BR">
                          <a:solidFill>
                            <a:srgbClr val="000000"/>
                          </a:solidFill>
                        </a:rPr>
                        <a:t>17.3.4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Verifique seu entendimento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Escalar para redes maiores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pt-BR">
                          <a:ln>
                            <a:noFill/>
                          </a:ln>
                          <a:solidFill>
                            <a:srgbClr val="000000"/>
                          </a:solidFill>
                          <a:effectLst/>
                          <a:uLnTx/>
                          <a:uFillTx/>
                        </a:rPr>
                        <a:t>Recomendado</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sz="1100" lang="pt-BR">
                          <a:solidFill>
                            <a:srgbClr val="000000"/>
                          </a:solidFill>
                        </a:rPr>
                        <a:t>17.4.6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Laboratório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Teste da latência da rede com ping e traceroute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pt-BR">
                          <a:ln>
                            <a:noFill/>
                          </a:ln>
                          <a:solidFill>
                            <a:srgbClr val="000000"/>
                          </a:solidFill>
                          <a:effectLst/>
                          <a:uLnTx/>
                          <a:uFillTx/>
                        </a:rPr>
                        <a:t>Recomendado</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sz="1100" lang="pt-BR">
                          <a:solidFill>
                            <a:srgbClr val="000000"/>
                          </a:solidFill>
                        </a:rPr>
                        <a:t>17.5.8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Vídeo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O comando show version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pt-BR">
                          <a:ln>
                            <a:noFill/>
                          </a:ln>
                          <a:solidFill>
                            <a:srgbClr val="000000"/>
                          </a:solidFill>
                          <a:effectLst/>
                          <a:uLnTx/>
                          <a:uFillTx/>
                        </a:rPr>
                        <a:t>Recomendada</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sz="1100" lang="pt-BR">
                          <a:solidFill>
                            <a:srgbClr val="000000"/>
                          </a:solidFill>
                        </a:rPr>
                        <a:t>17.5.9</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sz="1100" lang="pt-BR">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O interpretador exibe a Saída dos Comandos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pt-BR">
                          <a:ln>
                            <a:noFill/>
                          </a:ln>
                          <a:solidFill>
                            <a:srgbClr val="000000"/>
                          </a:solidFill>
                          <a:effectLst/>
                          <a:uLnTx/>
                          <a:uFillTx/>
                        </a:rPr>
                        <a:t>Recomendado</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sz="1100" lang="pt-BR">
                          <a:solidFill>
                            <a:srgbClr val="000000"/>
                          </a:solidFill>
                        </a:rPr>
                        <a:t>17.6.5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sz="1100" lang="pt-BR">
                          <a:solidFill>
                            <a:srgbClr val="000000"/>
                          </a:solidFill>
                        </a:rPr>
                        <a:t>Verifique seu entendimento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Metodologias de solução de problemas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pt-BR">
                          <a:ln>
                            <a:noFill/>
                          </a:ln>
                          <a:solidFill>
                            <a:srgbClr val="000000"/>
                          </a:solidFill>
                          <a:effectLst/>
                          <a:uLnTx/>
                          <a:uFillTx/>
                        </a:rPr>
                        <a:t>Recomendado</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sz="1100" lang="pt-BR">
                          <a:solidFill>
                            <a:srgbClr val="000000"/>
                          </a:solidFill>
                        </a:rPr>
                        <a:t>17.7.6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Solução de problemas de conectividade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b="false" i="false" u="none" strike="noStrike" kern="1200" cap="none" spc="0" normalizeH="false" baseline="0" lang="pt-BR">
                          <a:ln>
                            <a:noFill/>
                          </a:ln>
                          <a:solidFill>
                            <a:srgbClr val="000000"/>
                          </a:solidFill>
                          <a:effectLst/>
                          <a:uLnTx/>
                          <a:uFillTx/>
                          <a:latin typeface="Arial"/>
                          <a:ea typeface="+mn-ea"/>
                          <a:cs typeface="+mn-cs"/>
                        </a:rPr>
                        <a:t>Recomendado</a:t>
                      </a:r>
                    </a:p>
                  </a:txBody>
                  <a:tcPr marL="68580" marR="68580" marT="34290" marB="34290" anchor="ctr"/>
                </a:tc>
                <a:extLst>
                  <a:ext uri="{0D108BD9-81ED-4DB2-BD59-A6C34878D82A}">
                    <a16:rowId xmlns:a16="http://schemas.microsoft.com/office/drawing/2014/main" val="3050238057"/>
                  </a:ext>
                </a:extLst>
              </a:tr>
              <a:tr h="350784">
                <a:tc>
                  <a:txBody>
                    <a:bodyPr/>
                    <a:lstStyle/>
                    <a:p>
                      <a:pPr algn="ctr" rtl="0"/>
                      <a:r>
                        <a:rPr sz="1100" lang="pt-BR">
                          <a:solidFill>
                            <a:srgbClr val="000000"/>
                          </a:solidFill>
                        </a:rPr>
                        <a:t>17.7.7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Packet Tracer - Modo Físico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Packet Tracer - Solucione Problemas de Conectividade - Modo Físico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b="false" i="false" u="none" strike="noStrike" kern="1200" cap="none" spc="0" normalizeH="false" baseline="0" lang="pt-BR">
                          <a:ln>
                            <a:noFill/>
                          </a:ln>
                          <a:solidFill>
                            <a:srgbClr val="000000"/>
                          </a:solidFill>
                          <a:effectLst/>
                          <a:uLnTx/>
                          <a:uFillTx/>
                          <a:latin typeface="Arial"/>
                          <a:ea typeface="+mn-ea"/>
                          <a:cs typeface="+mn-cs"/>
                        </a:rPr>
                        <a:t>Recomendado</a:t>
                      </a:r>
                    </a:p>
                  </a:txBody>
                  <a:tcPr marL="68580" marR="68580" marT="34290" marB="34290" anchor="ctr"/>
                </a:tc>
                <a:extLst>
                  <a:ext uri="{0D108BD9-81ED-4DB2-BD59-A6C34878D82A}">
                    <a16:rowId xmlns:a16="http://schemas.microsoft.com/office/drawing/2014/main" val="1955969599"/>
                  </a:ext>
                </a:extLst>
              </a:tr>
              <a:tr h="350784">
                <a:tc>
                  <a:txBody>
                    <a:bodyPr/>
                    <a:lstStyle/>
                    <a:p>
                      <a:pPr algn="ctr" rtl="0"/>
                      <a:r>
                        <a:rPr sz="1100" lang="pt-BR">
                          <a:solidFill>
                            <a:srgbClr val="000000"/>
                          </a:solidFill>
                        </a:rPr>
                        <a:t>17.7.7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Laboratório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Solução de problemas de conectividade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pt-BR">
                          <a:ln>
                            <a:noFill/>
                          </a:ln>
                          <a:solidFill>
                            <a:srgbClr val="000000"/>
                          </a:solidFill>
                          <a:effectLst/>
                          <a:uLnTx/>
                          <a:uFillTx/>
                        </a:rPr>
                        <a:t>Recomendado</a:t>
                      </a:r>
                    </a:p>
                  </a:txBody>
                  <a:tcPr marL="68580" marR="68580" marT="34290" marB="34290" anchor="ctr"/>
                </a:tc>
                <a:extLst>
                  <a:ext uri="{0D108BD9-81ED-4DB2-BD59-A6C34878D82A}">
                    <a16:rowId xmlns:a16="http://schemas.microsoft.com/office/drawing/2014/main" val="1878503620"/>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rtl="0"/>
            <a:r>
              <a:rPr lang="pt-BR"/>
              <a:t>Módulo 17: Atividades (Cont.)</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pt-BR"/>
              <a:t>Quais atividades estão associadas a este módulo?</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316708263"/>
              </p:ext>
            </p:extLst>
          </p:nvPr>
        </p:nvGraphicFramePr>
        <p:xfrm>
          <a:off x="455999" y="1082042"/>
          <a:ext cx="8229418" cy="210843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sz="1200" lang="pt-BR"/>
                        <a:t>Nº da página</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pt-BR"/>
                        <a:t>Tipo de atividade</a:t>
                      </a:r>
                    </a:p>
                  </a:txBody>
                  <a:tcPr marL="68580" marR="68580" marT="34290" marB="34290" anchor="ctr"/>
                </a:tc>
                <a:tc>
                  <a:txBody>
                    <a:bodyPr/>
                    <a:lstStyle/>
                    <a:p>
                      <a:pPr rtl="0"/>
                      <a:r>
                        <a:rPr sz="1200" lang="pt-BR"/>
                        <a:t>Nome da atividade</a:t>
                      </a:r>
                    </a:p>
                  </a:txBody>
                  <a:tcPr marL="68580" marR="68580" marT="34290" marB="34290" anchor="ctr"/>
                </a:tc>
                <a:tc>
                  <a:txBody>
                    <a:bodyPr/>
                    <a:lstStyle/>
                    <a:p>
                      <a:pPr rtl="0"/>
                      <a:r>
                        <a:rPr sz="1200" lang="pt-BR"/>
                        <a:t>Opcional?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sz="1100" lang="pt-BR">
                          <a:solidFill>
                            <a:srgbClr val="000000"/>
                          </a:solidFill>
                        </a:rPr>
                        <a:t>17.8.1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pt-BR">
                          <a:solidFill>
                            <a:srgbClr val="000000"/>
                          </a:solidFill>
                        </a:rPr>
                        <a:t>Packet Tracer - Modo Físico</a:t>
                      </a:r>
                    </a:p>
                  </a:txBody>
                  <a:tcPr marL="68580" marR="68580" marT="34290" marB="34290" anchor="ctr"/>
                </a:tc>
                <a:tc>
                  <a:txBody>
                    <a:bodyPr/>
                    <a:lstStyle/>
                    <a:p>
                      <a:pPr rtl="0"/>
                      <a:r>
                        <a:rPr sz="1100" lang="pt-BR">
                          <a:solidFill>
                            <a:srgbClr val="000000"/>
                          </a:solidFill>
                        </a:rPr>
                        <a:t>Packet Tracer - Projete e Construa uma Rede de Pequenas Empresas - Modo Físico</a:t>
                      </a:r>
                    </a:p>
                  </a:txBody>
                  <a:tcPr marL="68580" marR="68580" marT="34290" marB="34290" anchor="ctr"/>
                </a:tc>
                <a:tc>
                  <a:txBody>
                    <a:bodyPr/>
                    <a:lstStyle/>
                    <a:p>
                      <a:pPr rtl="0"/>
                      <a:r>
                        <a:rPr sz="1100" lang="pt-BR">
                          <a:solidFill>
                            <a:srgbClr val="000000"/>
                          </a:solidFill>
                        </a:rPr>
                        <a:t>Recomendado</a:t>
                      </a:r>
                    </a:p>
                  </a:txBody>
                  <a:tcPr marL="68580" marR="68580" marT="34290" marB="34290" anchor="ctr"/>
                </a:tc>
                <a:extLst>
                  <a:ext uri="{0D108BD9-81ED-4DB2-BD59-A6C34878D82A}">
                    <a16:rowId xmlns:a16="http://schemas.microsoft.com/office/drawing/2014/main" val="1310314526"/>
                  </a:ext>
                </a:extLst>
              </a:tr>
              <a:tr h="350784">
                <a:tc>
                  <a:txBody>
                    <a:bodyPr/>
                    <a:lstStyle/>
                    <a:p>
                      <a:pPr algn="ctr" rtl="0"/>
                      <a:r>
                        <a:rPr sz="1100" lang="pt-BR">
                          <a:solidFill>
                            <a:srgbClr val="000000"/>
                          </a:solidFill>
                        </a:rPr>
                        <a:t>17.8.1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pt-BR">
                          <a:solidFill>
                            <a:srgbClr val="000000"/>
                          </a:solidFill>
                        </a:rPr>
                        <a:t>Laboratório</a:t>
                      </a:r>
                    </a:p>
                  </a:txBody>
                  <a:tcPr marL="68580" marR="68580" marT="34290" marB="34290" anchor="ctr"/>
                </a:tc>
                <a:tc>
                  <a:txBody>
                    <a:bodyPr/>
                    <a:lstStyle/>
                    <a:p>
                      <a:pPr rtl="0"/>
                      <a:r>
                        <a:rPr sz="1100" lang="pt-BR">
                          <a:solidFill>
                            <a:srgbClr val="000000"/>
                          </a:solidFill>
                        </a:rPr>
                        <a:t>Projetar e construir uma rede de pequena empresa</a:t>
                      </a:r>
                    </a:p>
                  </a:txBody>
                  <a:tcPr marL="68580" marR="68580" marT="34290" marB="34290" anchor="ctr"/>
                </a:tc>
                <a:tc>
                  <a:txBody>
                    <a:bodyPr/>
                    <a:lstStyle/>
                    <a:p>
                      <a:pPr rtl="0"/>
                      <a:r>
                        <a:rPr sz="1100" lang="pt-BR">
                          <a:solidFill>
                            <a:srgbClr val="000000"/>
                          </a:solidFill>
                        </a:rPr>
                        <a:t>Recomendado</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sz="1100" lang="pt-BR">
                          <a:solidFill>
                            <a:srgbClr val="000000"/>
                          </a:solidFill>
                        </a:rPr>
                        <a:t>17.8.2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pt-BR">
                          <a:solidFill>
                            <a:srgbClr val="000000"/>
                          </a:solidFill>
                        </a:rPr>
                        <a:t>Packet Tracer</a:t>
                      </a:r>
                    </a:p>
                  </a:txBody>
                  <a:tcPr marL="68580" marR="68580" marT="34290" marB="34290" anchor="ctr"/>
                </a:tc>
                <a:tc>
                  <a:txBody>
                    <a:bodyPr/>
                    <a:lstStyle/>
                    <a:p>
                      <a:pPr rtl="0"/>
                      <a:r>
                        <a:rPr sz="1100" lang="pt-BR">
                          <a:solidFill>
                            <a:srgbClr val="000000"/>
                          </a:solidFill>
                        </a:rPr>
                        <a:t>Desafio de integração de habilidades</a:t>
                      </a:r>
                    </a:p>
                  </a:txBody>
                  <a:tcPr marL="68580" marR="68580" marT="34290" marB="34290" anchor="ctr"/>
                </a:tc>
                <a:tc>
                  <a:txBody>
                    <a:bodyPr/>
                    <a:lstStyle/>
                    <a:p>
                      <a:pPr rtl="0"/>
                      <a:r>
                        <a:rPr sz="1100" lang="pt-BR">
                          <a:solidFill>
                            <a:srgbClr val="000000"/>
                          </a:solidFill>
                        </a:rPr>
                        <a:t>Recomendada</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sz="1100" lang="pt-BR">
                          <a:solidFill>
                            <a:srgbClr val="000000"/>
                          </a:solidFill>
                        </a:rPr>
                        <a:t>17.8.3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Desafio de solução de problemas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b="false" i="false" u="none" strike="noStrike" kern="1200" cap="none" spc="0" normalizeH="false" baseline="0" lang="pt-BR">
                          <a:ln>
                            <a:noFill/>
                          </a:ln>
                          <a:solidFill>
                            <a:srgbClr val="000000"/>
                          </a:solidFill>
                          <a:effectLst/>
                          <a:uLnTx/>
                          <a:uFillTx/>
                          <a:latin typeface="Arial"/>
                          <a:ea typeface="+mn-ea"/>
                          <a:cs typeface="+mn-cs"/>
                        </a:rPr>
                        <a:t>Recomendada</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sz="1100" lang="pt-BR">
                          <a:solidFill>
                            <a:srgbClr val="000000"/>
                          </a:solidFill>
                        </a:rPr>
                        <a:t>17.8.5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Teste do Módulo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solidFill>
                            <a:srgbClr val="000000"/>
                          </a:solidFill>
                        </a:rPr>
                        <a:t>Criação de uma rede pequena</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b="false" i="false" u="none" strike="noStrike" kern="1200" cap="none" spc="0" normalizeH="false" baseline="0" lang="pt-BR">
                          <a:ln>
                            <a:noFill/>
                          </a:ln>
                          <a:solidFill>
                            <a:srgbClr val="000000"/>
                          </a:solidFill>
                          <a:effectLst/>
                          <a:uLnTx/>
                          <a:uFillTx/>
                          <a:latin typeface="Arial"/>
                          <a:ea typeface="+mn-ea"/>
                          <a:cs typeface="+mn-cs"/>
                        </a:rPr>
                        <a:t>Recomendado</a:t>
                      </a:r>
                    </a:p>
                  </a:txBody>
                  <a:tcPr marL="68580" marR="68580" marT="34290" marB="34290" anchor="ctr"/>
                </a:tc>
                <a:extLst>
                  <a:ext uri="{0D108BD9-81ED-4DB2-BD59-A6C34878D82A}">
                    <a16:rowId xmlns:a16="http://schemas.microsoft.com/office/drawing/2014/main" val="2026631771"/>
                  </a:ext>
                </a:extLst>
              </a:tr>
            </a:tbl>
          </a:graphicData>
        </a:graphic>
      </p:graphicFrame>
    </p:spTree>
    <p:custDataLst>
      <p:tags r:id="rId1"/>
    </p:custDataLst>
    <p:extLst>
      <p:ext uri="{BB962C8B-B14F-4D97-AF65-F5344CB8AC3E}">
        <p14:creationId xmlns:p14="http://schemas.microsoft.com/office/powerpoint/2010/main" val="406208110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519426"/>
          </a:xfrm>
        </p:spPr>
        <p:txBody>
          <a:bodyPr/>
          <a:lstStyle/>
          <a:p>
            <a:pPr rtl="0"/>
            <a:r>
              <a:rPr lang="pt-BR"/>
              <a:t>Módulo 17: Melhores Práticas</a:t>
            </a:r>
          </a:p>
        </p:txBody>
      </p:sp>
      <p:sp>
        <p:nvSpPr>
          <p:cNvPr id="11266" name="Rectangle 34"/>
          <p:cNvSpPr>
            <a:spLocks noGrp="1" noChangeArrowheads="1"/>
          </p:cNvSpPr>
          <p:nvPr>
            <p:ph idx="1"/>
          </p:nvPr>
        </p:nvSpPr>
        <p:spPr>
          <a:xfrm>
            <a:off x="90487" y="600065"/>
            <a:ext cx="8963025" cy="4155319"/>
          </a:xfrm>
        </p:spPr>
        <p:txBody>
          <a:bodyPr/>
          <a:lstStyle/>
          <a:p>
            <a:pPr marL="0" indent="0" rtl="0">
              <a:lnSpc>
                <a:spcPct val="85000"/>
              </a:lnSpc>
              <a:spcBef>
                <a:spcPct val="30000"/>
              </a:spcBef>
              <a:buNone/>
            </a:pPr>
            <a:r>
              <a:rPr sz="1600" lang="pt-BR"/>
              <a:t>Antes de ensinar o Módulo 17, o instrutor deve:</a:t>
            </a:r>
          </a:p>
          <a:p>
            <a:pPr rtl="0">
              <a:lnSpc>
                <a:spcPct val="85000"/>
              </a:lnSpc>
              <a:spcBef>
                <a:spcPct val="30000"/>
              </a:spcBef>
              <a:buFont typeface="Arial" panose="020B0604020202020204" pitchFamily="34" charset="0"/>
              <a:buChar char="•"/>
            </a:pPr>
            <a:r>
              <a:rPr sz="1600" lang="pt-BR"/>
              <a:t>Revise as atividades e avaliações para este módulo.</a:t>
            </a:r>
          </a:p>
          <a:p>
            <a:pPr rtl="0">
              <a:lnSpc>
                <a:spcPct val="85000"/>
              </a:lnSpc>
              <a:spcBef>
                <a:spcPct val="30000"/>
              </a:spcBef>
              <a:buFont typeface="Arial" panose="020B0604020202020204" pitchFamily="34" charset="0"/>
              <a:buChar char="•"/>
            </a:pPr>
            <a:r>
              <a:rPr sz="1600" lang="pt-BR"/>
              <a:t>Tente incluir o máximo de perguntas possível para manter os alunos envolvidos durante a apresentação em sala de aula.</a:t>
            </a:r>
          </a:p>
          <a:p>
            <a:pPr rtl="0">
              <a:lnSpc>
                <a:spcPct val="85000"/>
              </a:lnSpc>
              <a:spcBef>
                <a:spcPct val="30000"/>
              </a:spcBef>
              <a:buFont typeface="Arial" panose="020B0604020202020204" pitchFamily="34" charset="0"/>
              <a:buChar char="•"/>
            </a:pPr>
            <a:r>
              <a:rPr sz="1600" lang="pt-BR"/>
              <a:t>Após este módulo, o exame Construindo e Protegendo uma Pequena Rede estará disponível, cobrindo os módulos 16-17.</a:t>
            </a:r>
          </a:p>
          <a:p>
            <a:pPr marL="0" indent="0" rtl="0">
              <a:lnSpc>
                <a:spcPct val="85000"/>
              </a:lnSpc>
              <a:spcBef>
                <a:spcPct val="30000"/>
              </a:spcBef>
              <a:buNone/>
            </a:pPr>
            <a:r>
              <a:rPr sz="1600" lang="pt-BR"/>
              <a:t>Tópico 17.1</a:t>
            </a:r>
          </a:p>
          <a:p>
            <a:pPr lvl="1" rtl="0">
              <a:lnSpc>
                <a:spcPct val="85000"/>
              </a:lnSpc>
              <a:spcBef>
                <a:spcPct val="30000"/>
              </a:spcBef>
            </a:pPr>
            <a:r>
              <a:rPr sz="1600" lang="pt-BR"/>
              <a:t>Pergunte aos alunos ou faça uma discussão em aula</a:t>
            </a:r>
          </a:p>
          <a:p>
            <a:pPr lvl="2" rtl="0">
              <a:lnSpc>
                <a:spcPct val="85000"/>
              </a:lnSpc>
              <a:spcBef>
                <a:spcPct val="30000"/>
              </a:spcBef>
            </a:pPr>
            <a:r>
              <a:rPr sz="1600" lang="pt-BR"/>
              <a:t>O método relativamente barato de fornecer redundância de uplink está disponível para pequenas empresas?</a:t>
            </a:r>
          </a:p>
          <a:p>
            <a:pPr lvl="2" rtl="0">
              <a:lnSpc>
                <a:spcPct val="85000"/>
              </a:lnSpc>
              <a:spcBef>
                <a:spcPct val="30000"/>
              </a:spcBef>
            </a:pPr>
            <a:r>
              <a:rPr sz="1600" lang="pt-BR"/>
              <a:t>Qual é a melhor maneira de equilibrar a acessibilidade dos dispositivos all-in-one contra a necessidade de redundância?</a:t>
            </a:r>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Módulo 17: Melhores Práticas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pt-BR"/>
              <a:t>Tópico 17.2</a:t>
            </a:r>
          </a:p>
          <a:p>
            <a:pPr lvl="1" rtl="0">
              <a:lnSpc>
                <a:spcPct val="85000"/>
              </a:lnSpc>
              <a:spcBef>
                <a:spcPct val="30000"/>
              </a:spcBef>
            </a:pPr>
            <a:r>
              <a:rPr sz="1500" lang="pt-BR"/>
              <a:t>Pergunte aos alunos ou faça uma discussão em aula</a:t>
            </a:r>
          </a:p>
          <a:p>
            <a:pPr lvl="2" rtl="0">
              <a:lnSpc>
                <a:spcPct val="85000"/>
              </a:lnSpc>
              <a:spcBef>
                <a:spcPct val="30000"/>
              </a:spcBef>
            </a:pPr>
            <a:r>
              <a:rPr sz="1500" lang="pt-BR"/>
              <a:t>Como você acha que a aceitação geral de serviços baseados em nuvem impactando o uso de aplicativos em pequenas empresas?</a:t>
            </a:r>
          </a:p>
          <a:p>
            <a:pPr lvl="2" rtl="0">
              <a:lnSpc>
                <a:spcPct val="85000"/>
              </a:lnSpc>
              <a:spcBef>
                <a:spcPct val="30000"/>
              </a:spcBef>
            </a:pPr>
            <a:r>
              <a:rPr sz="1500" lang="pt-BR"/>
              <a:t>O que é um aplicativo comercial habilitado para rede comum que não está listado no módulo?</a:t>
            </a:r>
          </a:p>
          <a:p>
            <a:pPr marL="0" indent="0" rtl="0">
              <a:lnSpc>
                <a:spcPct val="85000"/>
              </a:lnSpc>
              <a:spcBef>
                <a:spcPct val="30000"/>
              </a:spcBef>
              <a:buNone/>
            </a:pPr>
            <a:r>
              <a:rPr lang="pt-BR"/>
              <a:t>Tópico 17.3</a:t>
            </a:r>
          </a:p>
          <a:p>
            <a:pPr lvl="1" rtl="0">
              <a:lnSpc>
                <a:spcPct val="85000"/>
              </a:lnSpc>
              <a:spcBef>
                <a:spcPct val="30000"/>
              </a:spcBef>
            </a:pPr>
            <a:r>
              <a:rPr sz="1500" lang="pt-BR"/>
              <a:t>Pergunte aos alunos ou faça uma discussão em aula</a:t>
            </a:r>
          </a:p>
          <a:p>
            <a:pPr lvl="2" rtl="0">
              <a:lnSpc>
                <a:spcPct val="85000"/>
              </a:lnSpc>
              <a:spcBef>
                <a:spcPct val="30000"/>
              </a:spcBef>
            </a:pPr>
            <a:r>
              <a:rPr sz="1500" lang="pt-BR"/>
              <a:t>Por que você acha que as informações de utilização de rede são tão difíceis de manter a corrente?</a:t>
            </a:r>
          </a:p>
          <a:p>
            <a:pPr lvl="2" rtl="0">
              <a:lnSpc>
                <a:spcPct val="85000"/>
              </a:lnSpc>
              <a:spcBef>
                <a:spcPct val="30000"/>
              </a:spcBef>
            </a:pPr>
            <a:r>
              <a:rPr sz="1500" lang="pt-BR"/>
              <a:t>Você pode nomear uma ferramenta ou sistema baseado em rede que possa fornecer uma análise de uso de protocolo?</a:t>
            </a:r>
          </a:p>
          <a:p>
            <a:pPr marL="0" indent="0" eaLnBrk="1" hangingPunct="1" rtl="0">
              <a:lnSpc>
                <a:spcPct val="85000"/>
              </a:lnSpc>
              <a:spcBef>
                <a:spcPct val="30000"/>
              </a:spcBef>
              <a:buNone/>
            </a:pPr>
            <a:r>
              <a:rPr lang="pt-BR"/>
              <a:t>Tópico 17.4</a:t>
            </a:r>
          </a:p>
          <a:p>
            <a:pPr lvl="1" rtl="0">
              <a:lnSpc>
                <a:spcPct val="85000"/>
              </a:lnSpc>
              <a:spcBef>
                <a:spcPct val="30000"/>
              </a:spcBef>
            </a:pPr>
            <a:r>
              <a:rPr sz="1500" lang="pt-BR"/>
              <a:t>Pergunte aos alunos ou faça uma discussão em aula</a:t>
            </a:r>
          </a:p>
          <a:p>
            <a:pPr lvl="2" rtl="0">
              <a:lnSpc>
                <a:spcPct val="85000"/>
              </a:lnSpc>
              <a:spcBef>
                <a:spcPct val="30000"/>
              </a:spcBef>
            </a:pPr>
            <a:r>
              <a:rPr sz="1500" lang="pt-BR"/>
              <a:t>O que você acha que o valor da opção de endereço IP de origem no ping estendido é para solucionar problemas?</a:t>
            </a:r>
          </a:p>
          <a:p>
            <a:pPr lvl="2" rtl="0">
              <a:lnSpc>
                <a:spcPct val="85000"/>
              </a:lnSpc>
              <a:spcBef>
                <a:spcPct val="30000"/>
              </a:spcBef>
            </a:pPr>
            <a:r>
              <a:rPr sz="1500" lang="pt-BR"/>
              <a:t>Qual valor real você acha que uma linha de base de rede atualizada fornece?</a:t>
            </a:r>
          </a:p>
          <a:p>
            <a:pPr marL="0" indent="0">
              <a:lnSpc>
                <a:spcPct val="85000"/>
              </a:lnSpc>
              <a:spcBef>
                <a:spcPct val="30000"/>
              </a:spcBef>
              <a:buNone/>
            </a:pPr>
            <a:endParaRPr lang="en-US" sz="15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380134295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Módulo 17: Melhores Práticas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sz="1600" lang="pt-BR"/>
              <a:t>Tópico 17.5</a:t>
            </a:r>
          </a:p>
          <a:p>
            <a:pPr lvl="1" rtl="0">
              <a:lnSpc>
                <a:spcPct val="85000"/>
              </a:lnSpc>
              <a:spcBef>
                <a:spcPct val="30000"/>
              </a:spcBef>
            </a:pPr>
            <a:r>
              <a:rPr sz="1600" lang="pt-BR"/>
              <a:t>Pergunte aos alunos ou faça uma discussão em aula</a:t>
            </a:r>
          </a:p>
          <a:p>
            <a:pPr lvl="2" rtl="0">
              <a:lnSpc>
                <a:spcPct val="85000"/>
              </a:lnSpc>
              <a:spcBef>
                <a:spcPct val="30000"/>
              </a:spcBef>
            </a:pPr>
            <a:r>
              <a:rPr sz="1600" lang="pt-BR"/>
              <a:t>Por que o processo ARP é tão importante para as operações de rede IPv4?</a:t>
            </a:r>
          </a:p>
          <a:p>
            <a:pPr lvl="2" rtl="0">
              <a:lnSpc>
                <a:spcPct val="85000"/>
              </a:lnSpc>
              <a:spcBef>
                <a:spcPct val="30000"/>
              </a:spcBef>
            </a:pPr>
            <a:r>
              <a:rPr sz="1600" lang="pt-BR"/>
              <a:t>Qual risco é inerente ao uso do Protocolo de Descoberta do Cisco?</a:t>
            </a:r>
          </a:p>
          <a:p>
            <a:pPr marL="0" indent="0" rtl="0">
              <a:lnSpc>
                <a:spcPct val="85000"/>
              </a:lnSpc>
              <a:spcBef>
                <a:spcPct val="30000"/>
              </a:spcBef>
              <a:buNone/>
            </a:pPr>
            <a:r>
              <a:rPr sz="1600" lang="pt-BR"/>
              <a:t>Tópico 17.6</a:t>
            </a:r>
          </a:p>
          <a:p>
            <a:pPr lvl="1" rtl="0">
              <a:lnSpc>
                <a:spcPct val="85000"/>
              </a:lnSpc>
              <a:spcBef>
                <a:spcPct val="30000"/>
              </a:spcBef>
            </a:pPr>
            <a:r>
              <a:rPr sz="1600" lang="pt-BR"/>
              <a:t>Pergunte aos alunos ou faça uma discussão em aula</a:t>
            </a:r>
          </a:p>
          <a:p>
            <a:pPr lvl="2" rtl="0">
              <a:lnSpc>
                <a:spcPct val="85000"/>
              </a:lnSpc>
              <a:spcBef>
                <a:spcPct val="30000"/>
              </a:spcBef>
            </a:pPr>
            <a:r>
              <a:rPr sz="1600" lang="pt-BR"/>
              <a:t>Em que situações a escalada de um ingresso de problemas é a decisão certa de fazer?</a:t>
            </a:r>
          </a:p>
          <a:p>
            <a:pPr lvl="2" rtl="0">
              <a:lnSpc>
                <a:spcPct val="85000"/>
              </a:lnSpc>
              <a:spcBef>
                <a:spcPct val="30000"/>
              </a:spcBef>
            </a:pPr>
            <a:r>
              <a:rPr sz="1600" lang="pt-BR"/>
              <a:t>Quais situações você acha que usar um comando de depuração não é apropriado?</a:t>
            </a:r>
          </a:p>
          <a:p>
            <a:pPr marL="0" indent="0" rtl="0">
              <a:lnSpc>
                <a:spcPct val="85000"/>
              </a:lnSpc>
              <a:spcBef>
                <a:spcPct val="30000"/>
              </a:spcBef>
              <a:buNone/>
            </a:pPr>
            <a:r>
              <a:rPr sz="1600" lang="pt-BR"/>
              <a:t>Tópico 17.7</a:t>
            </a:r>
          </a:p>
          <a:p>
            <a:pPr lvl="1" rtl="0">
              <a:lnSpc>
                <a:spcPct val="85000"/>
              </a:lnSpc>
              <a:spcBef>
                <a:spcPct val="30000"/>
              </a:spcBef>
            </a:pPr>
            <a:r>
              <a:rPr sz="1600" lang="pt-BR"/>
              <a:t>Pergunte aos alunos ou faça uma discussão em aula</a:t>
            </a:r>
          </a:p>
          <a:p>
            <a:pPr lvl="2" rtl="0">
              <a:lnSpc>
                <a:spcPct val="85000"/>
              </a:lnSpc>
              <a:spcBef>
                <a:spcPct val="30000"/>
              </a:spcBef>
            </a:pPr>
            <a:r>
              <a:rPr sz="1600" lang="pt-BR"/>
              <a:t>Um endereço de APIPA é realmente utilizável?</a:t>
            </a:r>
          </a:p>
        </p:txBody>
      </p:sp>
    </p:spTree>
    <p:custDataLst>
      <p:tags r:id="rId1"/>
    </p:custDataLst>
    <p:extLst>
      <p:ext uri="{BB962C8B-B14F-4D97-AF65-F5344CB8AC3E}">
        <p14:creationId xmlns:p14="http://schemas.microsoft.com/office/powerpoint/2010/main" val="260133508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17: Construa uma rede pequena</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rtl="0"/>
            <a:r>
              <a:rPr lang="pt-BR"/>
              <a:t>Objetivos do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614217"/>
            <a:ext cx="8853286" cy="757551"/>
          </a:xfrm>
        </p:spPr>
        <p:txBody>
          <a:bodyPr/>
          <a:lstStyle/>
          <a:p>
            <a:pPr marL="0" lvl="0" indent="0" defTabSz="914400" eaLnBrk="0" hangingPunct="0" rtl="0">
              <a:spcBef>
                <a:spcPct val="0"/>
              </a:spcBef>
              <a:spcAft>
                <a:spcPct val="0"/>
              </a:spcAft>
              <a:buClrTx/>
              <a:buSzTx/>
              <a:buNone/>
            </a:pPr>
            <a:r>
              <a:rPr sz="1400" b="true" lang="pt-BR">
                <a:solidFill>
                  <a:schemeClr val="tx1"/>
                </a:solidFill>
                <a:ea typeface="Calibri" panose="020F0502020204030204" pitchFamily="34" charset="0"/>
                <a:cs typeface="Calibri" panose="020F0502020204030204" pitchFamily="34" charset="0"/>
              </a:rPr>
              <a:t>Título do módulo: </a:t>
            </a:r>
            <a:r>
              <a:rPr sz="1400" lang="pt-BR">
                <a:solidFill>
                  <a:schemeClr val="tx1"/>
                </a:solidFill>
                <a:ea typeface="Calibri" panose="020F0502020204030204" pitchFamily="34" charset="0"/>
                <a:cs typeface="Calibri" panose="020F0502020204030204" pitchFamily="34" charset="0"/>
              </a:rPr>
              <a:t>Criar uma rede pequena</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rtl="0">
              <a:spcBef>
                <a:spcPct val="0"/>
              </a:spcBef>
              <a:spcAft>
                <a:spcPct val="0"/>
              </a:spcAft>
              <a:buClrTx/>
              <a:buSzTx/>
              <a:buNone/>
            </a:pPr>
            <a:r>
              <a:rPr sz="1400" b="true" lang="pt-BR">
                <a:solidFill>
                  <a:schemeClr val="tx1"/>
                </a:solidFill>
                <a:ea typeface="Calibri" panose="020F0502020204030204" pitchFamily="34" charset="0"/>
                <a:cs typeface="Calibri" panose="020F0502020204030204" pitchFamily="34" charset="0"/>
              </a:rPr>
              <a:t>Objetivo do módulo</a:t>
            </a:r>
            <a:r>
              <a:rPr sz="1400" lang="pt-BR">
                <a:solidFill>
                  <a:schemeClr val="tx1"/>
                </a:solidFill>
                <a:ea typeface="Calibri" panose="020F0502020204030204" pitchFamily="34" charset="0"/>
                <a:cs typeface="Calibri" panose="020F0502020204030204" pitchFamily="34" charset="0"/>
              </a:rPr>
              <a:t>: </a:t>
            </a:r>
            <a:r>
              <a:rPr lang="pt-BR"/>
              <a:t>Implementar um design de rede para uma pequena rede para incluir um roteador, um switch e dispositivos finais.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855954571"/>
              </p:ext>
            </p:extLst>
          </p:nvPr>
        </p:nvGraphicFramePr>
        <p:xfrm>
          <a:off x="144065" y="1547438"/>
          <a:ext cx="8667426" cy="3147060"/>
        </p:xfrm>
        <a:graphic>
          <a:graphicData uri="http://schemas.openxmlformats.org/drawingml/2006/table">
            <a:tbl>
              <a:tblPr firstRow="1" bandRow="1">
                <a:tableStyleId>{5C22544A-7EE6-4342-B048-85BDC9FD1C3A}</a:tableStyleId>
              </a:tblPr>
              <a:tblGrid>
                <a:gridCol w="3830016">
                  <a:extLst>
                    <a:ext uri="{9D8B030D-6E8A-4147-A177-3AD203B41FA5}">
                      <a16:colId xmlns:a16="http://schemas.microsoft.com/office/drawing/2014/main" val="2579019526"/>
                    </a:ext>
                  </a:extLst>
                </a:gridCol>
                <a:gridCol w="4837410">
                  <a:extLst>
                    <a:ext uri="{9D8B030D-6E8A-4147-A177-3AD203B41FA5}">
                      <a16:colId xmlns:a16="http://schemas.microsoft.com/office/drawing/2014/main" val="1764220437"/>
                    </a:ext>
                  </a:extLst>
                </a:gridCol>
              </a:tblGrid>
              <a:tr h="370840">
                <a:tc>
                  <a:txBody>
                    <a:bodyPr/>
                    <a:lstStyle/>
                    <a:p>
                      <a:pPr algn="l" fontAlgn="ctr" rtl="0"/>
                      <a:r>
                        <a:rPr sz="1200" b="true" lang="pt-BR">
                          <a:effectLst/>
                        </a:rPr>
                        <a:t>Título do Tópico</a:t>
                      </a:r>
                    </a:p>
                  </a:txBody>
                  <a:tcPr marL="47625" marR="47625" marT="47625" marB="47625" anchor="ctr"/>
                </a:tc>
                <a:tc>
                  <a:txBody>
                    <a:bodyPr/>
                    <a:lstStyle/>
                    <a:p>
                      <a:pPr algn="l" fontAlgn="ctr" rtl="0"/>
                      <a:r>
                        <a:rPr sz="1200" b="true" lang="pt-BR">
                          <a:effectLst/>
                        </a:rPr>
                        <a:t>Objetivo do Tópico</a:t>
                      </a:r>
                    </a:p>
                  </a:txBody>
                  <a:tcPr marL="47625" marR="47625" marT="47625" marB="47625" anchor="ctr"/>
                </a:tc>
                <a:extLst>
                  <a:ext uri="{0D108BD9-81ED-4DB2-BD59-A6C34878D82A}">
                    <a16:rowId xmlns:a16="http://schemas.microsoft.com/office/drawing/2014/main" val="742401779"/>
                  </a:ext>
                </a:extLst>
              </a:tr>
              <a:tr h="370840">
                <a:tc>
                  <a:txBody>
                    <a:bodyPr/>
                    <a:lstStyle/>
                    <a:p>
                      <a:pPr fontAlgn="ctr" rtl="0"/>
                      <a:r>
                        <a:rPr sz="1200" b="true" lang="pt-BR">
                          <a:solidFill>
                            <a:schemeClr val="bg1"/>
                          </a:solidFill>
                          <a:effectLst/>
                        </a:rPr>
                        <a:t>Dispositivos em uma rede pequena</a:t>
                      </a:r>
                    </a:p>
                  </a:txBody>
                  <a:tcPr marL="47625" marR="47625" marT="47625" marB="47625" anchor="ctr">
                    <a:solidFill>
                      <a:schemeClr val="accent1"/>
                    </a:solidFill>
                  </a:tcPr>
                </a:tc>
                <a:tc>
                  <a:txBody>
                    <a:bodyPr/>
                    <a:lstStyle/>
                    <a:p>
                      <a:pPr fontAlgn="ctr" rtl="0"/>
                      <a:r>
                        <a:rPr sz="1200" b="false" lang="pt-BR">
                          <a:effectLst/>
                        </a:rPr>
                        <a:t>Identificar os dispositivos usados em uma rede pequena.</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rtl="0"/>
                      <a:r>
                        <a:rPr sz="1200" b="true" lang="pt-BR">
                          <a:solidFill>
                            <a:schemeClr val="bg1"/>
                          </a:solidFill>
                          <a:effectLst/>
                        </a:rPr>
                        <a:t>Aplicações e protocolos de redes pequenas</a:t>
                      </a:r>
                    </a:p>
                  </a:txBody>
                  <a:tcPr marL="47625" marR="47625" marT="47625" marB="47625" anchor="ctr">
                    <a:solidFill>
                      <a:schemeClr val="accent1"/>
                    </a:solidFill>
                  </a:tcPr>
                </a:tc>
                <a:tc>
                  <a:txBody>
                    <a:bodyPr/>
                    <a:lstStyle/>
                    <a:p>
                      <a:pPr fontAlgn="ctr" rtl="0"/>
                      <a:r>
                        <a:rPr sz="1200" b="false" lang="pt-BR">
                          <a:effectLst/>
                        </a:rPr>
                        <a:t>Identificar os protocolos e aplicações usadas em uma rede pequena.</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rtl="0"/>
                      <a:r>
                        <a:rPr sz="1200" b="true" lang="pt-BR">
                          <a:solidFill>
                            <a:schemeClr val="bg1"/>
                          </a:solidFill>
                          <a:effectLst/>
                        </a:rPr>
                        <a:t>Escalar para redes maiores</a:t>
                      </a:r>
                    </a:p>
                  </a:txBody>
                  <a:tcPr marL="47625" marR="47625" marT="47625" marB="47625" anchor="ctr">
                    <a:solidFill>
                      <a:schemeClr val="accent1"/>
                    </a:solidFill>
                  </a:tcPr>
                </a:tc>
                <a:tc>
                  <a:txBody>
                    <a:bodyPr/>
                    <a:lstStyle/>
                    <a:p>
                      <a:pPr fontAlgn="ctr" rtl="0"/>
                      <a:r>
                        <a:rPr sz="1200" b="false" lang="pt-BR">
                          <a:effectLst/>
                        </a:rPr>
                        <a:t>Explicar como uma rede pequena serve de base para redes maiores.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rtl="0"/>
                      <a:r>
                        <a:rPr sz="1200" b="true" lang="pt-BR">
                          <a:solidFill>
                            <a:schemeClr val="bg1"/>
                          </a:solidFill>
                          <a:effectLst/>
                        </a:rPr>
                        <a:t>Verificar a conectividade</a:t>
                      </a:r>
                    </a:p>
                  </a:txBody>
                  <a:tcPr marL="47625" marR="47625" marT="47625" marB="47625" anchor="ctr">
                    <a:solidFill>
                      <a:schemeClr val="accent1"/>
                    </a:solidFill>
                  </a:tcPr>
                </a:tc>
                <a:tc>
                  <a:txBody>
                    <a:bodyPr/>
                    <a:lstStyle/>
                    <a:p>
                      <a:pPr fontAlgn="ctr" rtl="0"/>
                      <a:r>
                        <a:rPr sz="1200" b="false" lang="pt-BR">
                          <a:effectLst/>
                        </a:rPr>
                        <a:t>Usar a saída dos comandos ping e tracert para verificar a conectividade e determinar o desempenho da rede relacionada.</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rtl="0"/>
                      <a:r>
                        <a:rPr sz="1200" b="true" lang="pt-BR">
                          <a:solidFill>
                            <a:schemeClr val="bg1"/>
                          </a:solidFill>
                          <a:effectLst/>
                        </a:rPr>
                        <a:t>Host e comandos IOS</a:t>
                      </a:r>
                    </a:p>
                  </a:txBody>
                  <a:tcPr marL="47625" marR="47625" marT="47625" marB="47625" anchor="ctr">
                    <a:solidFill>
                      <a:schemeClr val="accent1"/>
                    </a:solidFill>
                  </a:tcPr>
                </a:tc>
                <a:tc>
                  <a:txBody>
                    <a:bodyPr/>
                    <a:lstStyle/>
                    <a:p>
                      <a:pPr fontAlgn="ctr" rtl="0"/>
                      <a:r>
                        <a:rPr sz="1200" b="false" lang="pt-BR">
                          <a:effectLst/>
                        </a:rPr>
                        <a:t>Usar o host e os comandos IOS para adquirir informações sobre os dispositivos em uma rede.</a:t>
                      </a:r>
                    </a:p>
                  </a:txBody>
                  <a:tcPr marL="47625" marR="47625" marT="47625" marB="47625" anchor="ctr"/>
                </a:tc>
                <a:extLst>
                  <a:ext uri="{0D108BD9-81ED-4DB2-BD59-A6C34878D82A}">
                    <a16:rowId xmlns:a16="http://schemas.microsoft.com/office/drawing/2014/main" val="2728406127"/>
                  </a:ext>
                </a:extLst>
              </a:tr>
              <a:tr h="370840">
                <a:tc>
                  <a:txBody>
                    <a:bodyPr/>
                    <a:lstStyle/>
                    <a:p>
                      <a:pPr fontAlgn="ctr" rtl="0"/>
                      <a:r>
                        <a:rPr sz="1200" b="true" lang="pt-BR">
                          <a:solidFill>
                            <a:schemeClr val="bg1"/>
                          </a:solidFill>
                          <a:effectLst/>
                        </a:rPr>
                        <a:t>Metodologias de solução de problemas</a:t>
                      </a:r>
                    </a:p>
                  </a:txBody>
                  <a:tcPr marL="47625" marR="47625" marT="47625" marB="47625" anchor="ctr">
                    <a:solidFill>
                      <a:schemeClr val="accent1"/>
                    </a:solidFill>
                  </a:tcPr>
                </a:tc>
                <a:tc>
                  <a:txBody>
                    <a:bodyPr/>
                    <a:lstStyle/>
                    <a:p>
                      <a:pPr fontAlgn="ctr" rtl="0"/>
                      <a:r>
                        <a:rPr sz="1200" b="false" lang="pt-BR">
                          <a:effectLst/>
                        </a:rPr>
                        <a:t>Descrever as metodologias de solução de problemas de rede comuns.</a:t>
                      </a:r>
                    </a:p>
                  </a:txBody>
                  <a:tcPr marL="47625" marR="47625" marT="47625" marB="47625" anchor="ctr"/>
                </a:tc>
                <a:extLst>
                  <a:ext uri="{0D108BD9-81ED-4DB2-BD59-A6C34878D82A}">
                    <a16:rowId xmlns:a16="http://schemas.microsoft.com/office/drawing/2014/main" val="3149551507"/>
                  </a:ext>
                </a:extLst>
              </a:tr>
              <a:tr h="370840">
                <a:tc>
                  <a:txBody>
                    <a:bodyPr/>
                    <a:lstStyle/>
                    <a:p>
                      <a:pPr fontAlgn="ctr" rtl="0"/>
                      <a:r>
                        <a:rPr sz="1200" b="true" lang="pt-BR">
                          <a:solidFill>
                            <a:schemeClr val="bg1"/>
                          </a:solidFill>
                          <a:effectLst/>
                        </a:rPr>
                        <a:t>Cenários de solução de problemas</a:t>
                      </a:r>
                    </a:p>
                  </a:txBody>
                  <a:tcPr marL="47625" marR="47625" marT="47625" marB="47625" anchor="ctr">
                    <a:solidFill>
                      <a:schemeClr val="accent1"/>
                    </a:solidFill>
                  </a:tcPr>
                </a:tc>
                <a:tc>
                  <a:txBody>
                    <a:bodyPr/>
                    <a:lstStyle/>
                    <a:p>
                      <a:pPr fontAlgn="ctr" rtl="0"/>
                      <a:r>
                        <a:rPr sz="1200" b="false" lang="pt-BR">
                          <a:effectLst/>
                        </a:rPr>
                        <a:t>Solucionar problemas com dispositivos na rede.</a:t>
                      </a:r>
                    </a:p>
                  </a:txBody>
                  <a:tcPr marL="47625" marR="47625" marT="47625" marB="47625" anchor="ctr"/>
                </a:tc>
                <a:extLst>
                  <a:ext uri="{0D108BD9-81ED-4DB2-BD59-A6C34878D82A}">
                    <a16:rowId xmlns:a16="http://schemas.microsoft.com/office/drawing/2014/main" val="30070877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17.1 – Dispositivos em uma Rede Pequena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sz="2400" lang="pt-BR"/>
              <a:t>Dispositivos em uma Rede Pequena </a:t>
            </a:r>
            <a:r>
              <a:rPr sz="1600" lang="pt-BR"/>
              <a:t>Topologias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sz="1800" lang="pt-BR">
                <a:solidFill>
                  <a:srgbClr val="000000"/>
                </a:solidFill>
              </a:rPr>
              <a:t>A maioria das empresas são pequenas, a maioria das redes de negócios também são pequenas.</a:t>
            </a:r>
          </a:p>
          <a:p>
            <a:pPr marL="285750" indent="-285750" algn="l" rtl="0">
              <a:buFont typeface="Arial" panose="020B0604020202020204" pitchFamily="34" charset="0"/>
              <a:buChar char="•"/>
            </a:pPr>
            <a:r>
              <a:rPr sz="1800" lang="pt-BR">
                <a:solidFill>
                  <a:srgbClr val="000000"/>
                </a:solidFill>
              </a:rPr>
              <a:t>Um pequeno design de rede geralmente é simples.</a:t>
            </a:r>
          </a:p>
          <a:p>
            <a:pPr marL="285750" indent="-285750" algn="l" rtl="0">
              <a:buFont typeface="Arial" panose="020B0604020202020204" pitchFamily="34" charset="0"/>
              <a:buChar char="•"/>
            </a:pPr>
            <a:r>
              <a:rPr sz="1800" lang="pt-BR">
                <a:solidFill>
                  <a:srgbClr val="000000"/>
                </a:solidFill>
              </a:rPr>
              <a:t>Redes pequenas geralmente têm uma única conexão WAN fornecida por DSL, cabo ou conexão Ethernet.</a:t>
            </a:r>
          </a:p>
          <a:p>
            <a:pPr marL="285750" indent="-285750" algn="l" rtl="0">
              <a:buFont typeface="Arial" panose="020B0604020202020204" pitchFamily="34" charset="0"/>
              <a:buChar char="•"/>
            </a:pPr>
            <a:r>
              <a:rPr sz="1800" lang="pt-BR">
                <a:solidFill>
                  <a:srgbClr val="000000"/>
                </a:solidFill>
              </a:rPr>
              <a:t>As redes grandes exigem que um departamento de TI mantenha, proteja e solucione problemas de dispositivos de rede e proteja dados organizacionais. Pequenas redes são gerenciadas por um técnico de TI local ou por um profissional contratado.</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Dispositivos em uma Rede Pequena </a:t>
            </a:r>
            <a:br>
              <a:rPr lang="en-US" dirty="0"/>
            </a:br>
            <a:r>
              <a:rPr sz="2400" lang="pt-BR"/>
              <a:t>Seleção de Dispositivo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Como redes grandes, redes pequenas exigem planejamento e design para atender aos requisitos do usuário. O planejamento assegura que todos os requisitos, fatores de custo e opções de implantação recebam a devida consideração. Uma das primeiras considerações de design é o tipo de dispositivos intermediários a serem usados para oferecer suporte à rede.</a:t>
            </a:r>
          </a:p>
          <a:p>
            <a:pPr marL="0" indent="0" algn="l"/>
            <a:endParaRPr lang="en-US" sz="1600" dirty="0">
              <a:solidFill>
                <a:srgbClr val="000000"/>
              </a:solidFill>
            </a:endParaRPr>
          </a:p>
          <a:p>
            <a:pPr marL="0" indent="0" algn="l" rtl="0"/>
            <a:r>
              <a:rPr sz="1600" lang="pt-BR">
                <a:solidFill>
                  <a:srgbClr val="000000"/>
                </a:solidFill>
              </a:rPr>
              <a:t>Os fatores que devem ser considerados ao selecionar dispositivos de rede incluem:</a:t>
            </a:r>
          </a:p>
          <a:p>
            <a:pPr marL="358835" lvl="1" indent="-285750" rtl="0">
              <a:buFont typeface="Arial" panose="020B0604020202020204" pitchFamily="34" charset="0"/>
              <a:buChar char="•"/>
            </a:pPr>
            <a:r>
              <a:rPr sz="1600" lang="pt-BR">
                <a:solidFill>
                  <a:srgbClr val="000000"/>
                </a:solidFill>
              </a:rPr>
              <a:t>Custo</a:t>
            </a:r>
          </a:p>
          <a:p>
            <a:pPr marL="358835" lvl="1" indent="-285750" rtl="0">
              <a:buFont typeface="Arial" panose="020B0604020202020204" pitchFamily="34" charset="0"/>
              <a:buChar char="•"/>
            </a:pPr>
            <a:r>
              <a:rPr sz="1600" lang="pt-BR">
                <a:solidFill>
                  <a:srgbClr val="000000"/>
                </a:solidFill>
              </a:rPr>
              <a:t>Velocidade e Tipos de Portas/Interfaces</a:t>
            </a:r>
          </a:p>
          <a:p>
            <a:pPr marL="358835" lvl="1" indent="-285750" rtl="0">
              <a:buFont typeface="Arial" panose="020B0604020202020204" pitchFamily="34" charset="0"/>
              <a:buChar char="•"/>
            </a:pPr>
            <a:r>
              <a:rPr sz="1600" lang="pt-BR">
                <a:solidFill>
                  <a:srgbClr val="000000"/>
                </a:solidFill>
              </a:rPr>
              <a:t>Capacidade de expansão</a:t>
            </a:r>
          </a:p>
          <a:p>
            <a:pPr marL="358835" lvl="1" indent="-285750" rtl="0">
              <a:buFont typeface="Arial" panose="020B0604020202020204" pitchFamily="34" charset="0"/>
              <a:buChar char="•"/>
            </a:pPr>
            <a:r>
              <a:rPr sz="1600" lang="pt-BR">
                <a:solidFill>
                  <a:srgbClr val="000000"/>
                </a:solidFill>
              </a:rPr>
              <a:t>Serviços e Recursos do Sistema Operacional</a:t>
            </a:r>
          </a:p>
        </p:txBody>
      </p:sp>
    </p:spTree>
    <p:extLst>
      <p:ext uri="{BB962C8B-B14F-4D97-AF65-F5344CB8AC3E}">
        <p14:creationId xmlns:p14="http://schemas.microsoft.com/office/powerpoint/2010/main" val="12065854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Dispositivos em uma Rede Pequena </a:t>
            </a:r>
            <a:br>
              <a:rPr lang="en-US" dirty="0"/>
            </a:br>
            <a:r>
              <a:rPr sz="2400" lang="pt-BR"/>
              <a:t>Endereçamento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Ao implementar uma rede, crie um esquema de endereçamento IP e use-o. Todos os hosts e dispositivos em uma internetwork devem ter um endereço exclusivo. Os dispositivos que serão fatoriais no esquema de endereçamento IP incluem o seguinte:</a:t>
            </a:r>
          </a:p>
          <a:p>
            <a:pPr marL="358835" lvl="1" indent="-285750" rtl="0">
              <a:buFont typeface="Arial" panose="020B0604020202020204" pitchFamily="34" charset="0"/>
              <a:buChar char="•"/>
            </a:pPr>
            <a:r>
              <a:rPr sz="1600" lang="pt-BR">
                <a:solidFill>
                  <a:srgbClr val="000000"/>
                </a:solidFill>
              </a:rPr>
              <a:t>Dispositivos do usuário final - O número e o tipo de conexões (ou seja, com fio, sem fio, acesso remoto)</a:t>
            </a:r>
          </a:p>
          <a:p>
            <a:pPr marL="358835" lvl="1" indent="-285750" rtl="0">
              <a:buFont typeface="Arial" panose="020B0604020202020204" pitchFamily="34" charset="0"/>
              <a:buChar char="•"/>
            </a:pPr>
            <a:r>
              <a:rPr sz="1600" lang="pt-BR">
                <a:solidFill>
                  <a:srgbClr val="000000"/>
                </a:solidFill>
              </a:rPr>
              <a:t>Servidores e dispositivos periféricos (por exemplo, impressoras e câmeras de segurança)</a:t>
            </a:r>
          </a:p>
          <a:p>
            <a:pPr marL="358835" lvl="1" indent="-285750" rtl="0">
              <a:buFont typeface="Arial" panose="020B0604020202020204" pitchFamily="34" charset="0"/>
              <a:buChar char="•"/>
            </a:pPr>
            <a:r>
              <a:rPr sz="1600" lang="pt-BR">
                <a:solidFill>
                  <a:srgbClr val="000000"/>
                </a:solidFill>
              </a:rPr>
              <a:t>Dispositivos intermediários, incluindo comutadores e pontos de acesso</a:t>
            </a:r>
          </a:p>
          <a:p>
            <a:pPr marL="0" indent="0" algn="l"/>
            <a:endParaRPr lang="en-US" sz="1600" dirty="0">
              <a:solidFill>
                <a:srgbClr val="000000"/>
              </a:solidFill>
            </a:endParaRPr>
          </a:p>
          <a:p>
            <a:pPr marL="0" indent="0" algn="l" rtl="0"/>
            <a:r>
              <a:rPr sz="1600" lang="pt-BR">
                <a:solidFill>
                  <a:srgbClr val="000000"/>
                </a:solidFill>
              </a:rPr>
              <a:t>É recomendável planejar, documentar e manter um esquema de endereçamento IP baseado no tipo de dispositivo. O uso de um esquema de endereçamento IP planejado facilita a identificação de um tipo de dispositivo e a solução de problemas.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485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Dispositivos em uma Rede Pequena </a:t>
            </a:r>
            <a:br>
              <a:rPr lang="en-US" dirty="0"/>
            </a:br>
            <a:r>
              <a:rPr sz="2400" lang="pt-BR"/>
              <a:t>Redundância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66676" y="731837"/>
            <a:ext cx="3692526" cy="3689897"/>
          </a:xfrm>
        </p:spPr>
        <p:txBody>
          <a:bodyPr/>
          <a:lstStyle/>
          <a:p>
            <a:pPr marL="0" indent="0" algn="l" rtl="0"/>
            <a:r>
              <a:rPr sz="1600" lang="pt-BR">
                <a:solidFill>
                  <a:srgbClr val="000000"/>
                </a:solidFill>
              </a:rPr>
              <a:t>Para manter um alto grau de confiabilidade, </a:t>
            </a:r>
            <a:r>
              <a:rPr sz="1600" i="true" lang="pt-BR">
                <a:solidFill>
                  <a:srgbClr val="000000"/>
                </a:solidFill>
              </a:rPr>
              <a:t>redundância</a:t>
            </a:r>
            <a:r>
              <a:rPr sz="1600" lang="pt-BR">
                <a:solidFill>
                  <a:srgbClr val="000000"/>
                </a:solidFill>
              </a:rPr>
              <a:t> é necessária no design da rede. A redundância ajuda a eliminar os pontos únicos de falha.</a:t>
            </a:r>
          </a:p>
          <a:p>
            <a:pPr marL="0" indent="0" algn="l"/>
            <a:endParaRPr lang="en-US" sz="1600" dirty="0">
              <a:solidFill>
                <a:srgbClr val="000000"/>
              </a:solidFill>
            </a:endParaRPr>
          </a:p>
          <a:p>
            <a:pPr marL="0" indent="0" algn="l" rtl="0"/>
            <a:r>
              <a:rPr sz="1600" lang="pt-BR">
                <a:solidFill>
                  <a:srgbClr val="000000"/>
                </a:solidFill>
              </a:rPr>
              <a:t>A redundância pode ser realizada instalando equipamentos duplicados. Isso também pode ser realizado fornecendo links de rede duplicados para áreas críticas.</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088F7A36-C0A0-487B-8FA9-90BB3DB79A86}"/>
              </a:ext>
            </a:extLst>
          </p:cNvPr>
          <p:cNvPicPr>
            <a:picLocks noChangeAspect="1"/>
          </p:cNvPicPr>
          <p:nvPr/>
        </p:nvPicPr>
        <p:blipFill>
          <a:blip r:embed="rId3"/>
          <a:stretch>
            <a:fillRect/>
          </a:stretch>
        </p:blipFill>
        <p:spPr>
          <a:xfrm>
            <a:off x="4059281" y="800714"/>
            <a:ext cx="4459563" cy="3542072"/>
          </a:xfrm>
          <a:prstGeom prst="rect">
            <a:avLst/>
          </a:prstGeom>
        </p:spPr>
      </p:pic>
    </p:spTree>
    <p:extLst>
      <p:ext uri="{BB962C8B-B14F-4D97-AF65-F5344CB8AC3E}">
        <p14:creationId xmlns:p14="http://schemas.microsoft.com/office/powerpoint/2010/main" val="21767247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Dispositivos em uma Rede Pequena </a:t>
            </a:r>
            <a:br>
              <a:rPr lang="en-US" dirty="0"/>
            </a:br>
            <a:r>
              <a:rPr sz="2400" lang="pt-BR"/>
              <a:t>Gerenciamento de Tráfego</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161926" y="731837"/>
            <a:ext cx="4572000" cy="3859213"/>
          </a:xfrm>
        </p:spPr>
        <p:txBody>
          <a:bodyPr/>
          <a:lstStyle/>
          <a:p>
            <a:pPr marL="342900" indent="-342900" algn="l" rtl="0">
              <a:buFont typeface="Arial" panose="020B0604020202020204" pitchFamily="34" charset="0"/>
              <a:buChar char="•"/>
            </a:pPr>
            <a:r>
              <a:rPr sz="1600" lang="pt-BR">
                <a:solidFill>
                  <a:srgbClr val="000000"/>
                </a:solidFill>
              </a:rPr>
              <a:t>O objetivo de um bom design de rede é aumentar a produtividade dos funcionários e minimizar o tempo de inatividade da rede.</a:t>
            </a:r>
          </a:p>
          <a:p>
            <a:pPr marL="342900" indent="-342900" algn="l" rtl="0">
              <a:buFont typeface="Arial" panose="020B0604020202020204" pitchFamily="34" charset="0"/>
              <a:buChar char="•"/>
            </a:pPr>
            <a:r>
              <a:rPr sz="1600" lang="pt-BR">
                <a:solidFill>
                  <a:srgbClr val="000000"/>
                </a:solidFill>
              </a:rPr>
              <a:t>Os roteadores e comutadores em uma rede pequena devem ser configurados para rastrear o tráfego em tempo real, como voz e vídeo, de maneira possível em relação a outro tráfego de dados. Um bom design de rede implementará a qualidade de serviço (QoS).</a:t>
            </a:r>
          </a:p>
          <a:p>
            <a:pPr marL="342900" indent="-342900" algn="l" rtl="0">
              <a:buFont typeface="Arial" panose="020B0604020202020204" pitchFamily="34" charset="0"/>
              <a:buChar char="•"/>
            </a:pPr>
            <a:r>
              <a:rPr sz="1600" lang="pt-BR">
                <a:solidFill>
                  <a:srgbClr val="000000"/>
                </a:solidFill>
              </a:rPr>
              <a:t>O enfileiramento com prioridade tem quatro filas. A fila de prioridade alta é sempre esvaziada primeiro.</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5542ECA4-304D-4201-A4DE-7C630044A612}"/>
              </a:ext>
            </a:extLst>
          </p:cNvPr>
          <p:cNvPicPr>
            <a:picLocks noChangeAspect="1"/>
          </p:cNvPicPr>
          <p:nvPr/>
        </p:nvPicPr>
        <p:blipFill>
          <a:blip r:embed="rId3"/>
          <a:stretch>
            <a:fillRect/>
          </a:stretch>
        </p:blipFill>
        <p:spPr>
          <a:xfrm>
            <a:off x="4895852" y="1269054"/>
            <a:ext cx="4175932" cy="2605392"/>
          </a:xfrm>
          <a:prstGeom prst="rect">
            <a:avLst/>
          </a:prstGeom>
        </p:spPr>
      </p:pic>
    </p:spTree>
    <p:extLst>
      <p:ext uri="{BB962C8B-B14F-4D97-AF65-F5344CB8AC3E}">
        <p14:creationId xmlns:p14="http://schemas.microsoft.com/office/powerpoint/2010/main" val="39673792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17.2 – Aplicações e Protocolos de Redes Pequenas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Aplicações e Protocolos de Rede Pequena </a:t>
            </a:r>
            <a:br>
              <a:rPr lang="en-US" dirty="0"/>
            </a:br>
            <a:r>
              <a:rPr sz="2400" lang="pt-BR"/>
              <a:t>Aplicações Comuns</a:t>
            </a:r>
          </a:p>
        </p:txBody>
      </p:sp>
      <p:sp>
        <p:nvSpPr>
          <p:cNvPr id="6" name="Content Placeholder 5">
            <a:extLst>
              <a:ext uri="{FF2B5EF4-FFF2-40B4-BE49-F238E27FC236}">
                <a16:creationId xmlns:a16="http://schemas.microsoft.com/office/drawing/2014/main" id="{CBD63511-AED3-4B69-9FBC-FDA4115DD396}"/>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Depois de configurá-lo, sua rede ainda precisa de certos tipos de aplicativos e protocolos para funcionar. A rede é tão útil quanto as aplicações que estão nela. </a:t>
            </a:r>
          </a:p>
          <a:p>
            <a:pPr marL="0" indent="0" algn="l"/>
            <a:endParaRPr lang="en-US" sz="1600" dirty="0">
              <a:solidFill>
                <a:srgbClr val="000000"/>
              </a:solidFill>
            </a:endParaRPr>
          </a:p>
          <a:p>
            <a:pPr marL="0" indent="0" algn="l" rtl="0"/>
            <a:r>
              <a:rPr sz="1600" lang="pt-BR">
                <a:solidFill>
                  <a:srgbClr val="000000"/>
                </a:solidFill>
              </a:rPr>
              <a:t>Há duas formas de programa de software ou processos que fornecem acesso à rede: </a:t>
            </a:r>
          </a:p>
          <a:p>
            <a:pPr marL="358835" lvl="1" indent="-285750" rtl="0">
              <a:buFont typeface="Arial" panose="020B0604020202020204" pitchFamily="34" charset="0"/>
              <a:buChar char="•"/>
            </a:pPr>
            <a:r>
              <a:rPr sz="1600" b="true" lang="pt-BR">
                <a:solidFill>
                  <a:srgbClr val="000000"/>
                </a:solidFill>
              </a:rPr>
              <a:t>Aplicativos de Rede</a:t>
            </a:r>
            <a:r>
              <a:rPr sz="1600" lang="pt-BR">
                <a:solidFill>
                  <a:srgbClr val="000000"/>
                </a:solidFill>
              </a:rPr>
              <a:t>: aplicativos que implementam protocolos da camada de aplicativos e podem se comunicar diretamente com as camadas inferiores da pilha de protocolos.</a:t>
            </a:r>
          </a:p>
          <a:p>
            <a:pPr marL="358835" lvl="1" indent="-285750" rtl="0">
              <a:buFont typeface="Arial" panose="020B0604020202020204" pitchFamily="34" charset="0"/>
              <a:buChar char="•"/>
            </a:pPr>
            <a:r>
              <a:rPr sz="1600" b="true" lang="pt-BR">
                <a:solidFill>
                  <a:srgbClr val="000000"/>
                </a:solidFill>
              </a:rPr>
              <a:t>Serviços de Camada de Aplicativo</a:t>
            </a:r>
            <a:r>
              <a:rPr sz="1600" lang="pt-BR">
                <a:solidFill>
                  <a:srgbClr val="000000"/>
                </a:solidFill>
              </a:rPr>
              <a:t>: para aplicativos que não são compatíveis com a rede, os programas que fazem interface com a rede e preparam os dados para transferência. </a:t>
            </a:r>
            <a:r>
              <a:rPr sz="1600" b="true" lang="pt-BR">
                <a:solidFill>
                  <a:srgbClr val="000000"/>
                </a:solidFill>
              </a:rPr>
              <a:t>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6408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Protocolos e Aplicativos de Rede Pequenas </a:t>
            </a:r>
            <a:br>
              <a:rPr lang="en-US" dirty="0"/>
            </a:br>
            <a:r>
              <a:rPr sz="2400" lang="pt-BR"/>
              <a:t>Protocolos Comuns</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rtl="0"/>
            <a:r>
              <a:rPr sz="1500" lang="pt-BR">
                <a:solidFill>
                  <a:srgbClr val="000000"/>
                </a:solidFill>
              </a:rPr>
              <a:t>Protocolos de rede dão suporte às aplicações e serviços usados por funcionários em uma rede pequena.</a:t>
            </a:r>
          </a:p>
          <a:p>
            <a:pPr marL="342900" indent="-342900" algn="l" rtl="0">
              <a:buFont typeface="Arial" panose="020B0604020202020204" pitchFamily="34" charset="0"/>
              <a:buChar char="•"/>
            </a:pPr>
            <a:r>
              <a:rPr sz="1500" lang="pt-BR">
                <a:solidFill>
                  <a:srgbClr val="000000"/>
                </a:solidFill>
              </a:rPr>
              <a:t>Normalmente, os administradores de rede exigem acesso a dispositivos e servidores de rede. As duas soluções de acesso remoto mais comuns são Telnet e Secure Shell (SSH). </a:t>
            </a:r>
          </a:p>
          <a:p>
            <a:pPr marL="342900" indent="-342900" algn="l" rtl="0">
              <a:buFont typeface="Arial" panose="020B0604020202020204" pitchFamily="34" charset="0"/>
              <a:buChar char="•"/>
            </a:pPr>
            <a:r>
              <a:rPr sz="1500" lang="pt-BR">
                <a:solidFill>
                  <a:srgbClr val="000000"/>
                </a:solidFill>
              </a:rPr>
              <a:t>HTTP (Hypertext Transfer Protocol) e HTTP (Hypertext Transfer Protocol Secure) são usados entre clientes Web e servidores Web.</a:t>
            </a:r>
          </a:p>
          <a:p>
            <a:pPr marL="342900" indent="-342900" algn="l" rtl="0">
              <a:buFont typeface="Arial" panose="020B0604020202020204" pitchFamily="34" charset="0"/>
              <a:buChar char="•"/>
            </a:pPr>
            <a:r>
              <a:rPr sz="1500" lang="pt-BR">
                <a:solidFill>
                  <a:srgbClr val="000000"/>
                </a:solidFill>
              </a:rPr>
              <a:t>O SMTP (Simple Mail Transfer Protocol) é usado para enviar email, o POP3 (Internet Post Protocol) ou o IMAP (Internet Mail Access Protocol) são usados pelos clientes para recuperar o email.</a:t>
            </a:r>
          </a:p>
          <a:p>
            <a:pPr marL="342900" indent="-342900" algn="l" rtl="0">
              <a:buFont typeface="Arial" panose="020B0604020202020204" pitchFamily="34" charset="0"/>
              <a:buChar char="•"/>
            </a:pPr>
            <a:r>
              <a:rPr sz="1500" lang="pt-BR">
                <a:solidFill>
                  <a:srgbClr val="000000"/>
                </a:solidFill>
              </a:rPr>
              <a:t>File Transfer Protocol (FTP) e Security File Transfer Protocol (SFTP) são usados para baixar e carregar arquivos entre um cliente e um servidor FTP.</a:t>
            </a:r>
          </a:p>
          <a:p>
            <a:pPr marL="342900" indent="-342900" algn="l" rtl="0">
              <a:buFont typeface="Arial" panose="020B0604020202020204" pitchFamily="34" charset="0"/>
              <a:buChar char="•"/>
            </a:pPr>
            <a:r>
              <a:rPr sz="1500" lang="pt-BR">
                <a:solidFill>
                  <a:srgbClr val="000000"/>
                </a:solidFill>
              </a:rPr>
              <a:t>O DHCP (Dynamic Host Configuration Protocol) é usado pelos clientes para adquirir uma configuração IP de um servidor DHCP.</a:t>
            </a:r>
          </a:p>
          <a:p>
            <a:pPr marL="342900" indent="-342900" algn="l" rtl="0">
              <a:buFont typeface="Arial" panose="020B0604020202020204" pitchFamily="34" charset="0"/>
              <a:buChar char="•"/>
            </a:pPr>
            <a:r>
              <a:rPr sz="1500" lang="pt-BR">
                <a:solidFill>
                  <a:srgbClr val="000000"/>
                </a:solidFill>
              </a:rPr>
              <a:t>O Serviço de Nomes de Domínio (DNS) resolve nomes de domínio para endereços IP.</a:t>
            </a:r>
          </a:p>
          <a:p>
            <a:pPr marL="0" indent="0" algn="l" rtl="0"/>
            <a:r>
              <a:rPr sz="1500" b="true" lang="pt-BR">
                <a:solidFill>
                  <a:srgbClr val="000000"/>
                </a:solidFill>
              </a:rPr>
              <a:t>Observação</a:t>
            </a:r>
            <a:r>
              <a:rPr sz="1500" lang="pt-BR">
                <a:solidFill>
                  <a:srgbClr val="000000"/>
                </a:solidFill>
              </a:rPr>
              <a:t>: um servidor pode fornecer vários serviços de rede. Por exemplo, um servidor pode ser um servidor de e-mail, FTP e SSH. </a:t>
            </a:r>
          </a:p>
        </p:txBody>
      </p:sp>
    </p:spTree>
    <p:extLst>
      <p:ext uri="{BB962C8B-B14F-4D97-AF65-F5344CB8AC3E}">
        <p14:creationId xmlns:p14="http://schemas.microsoft.com/office/powerpoint/2010/main" val="16800697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Protocolos e Aplicativos de Rede Pequenos </a:t>
            </a:r>
            <a:br>
              <a:rPr lang="en-US" dirty="0"/>
            </a:br>
            <a:r>
              <a:rPr sz="2400" lang="pt-BR"/>
              <a:t>Protocolos Comuns (Cont.) </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Esses protocolos de rede compreendem o conjunto de ferramentas fundamentais de um profissional de rede, definindo:</a:t>
            </a:r>
          </a:p>
          <a:p>
            <a:pPr marL="342900" indent="-342900" algn="l" rtl="0">
              <a:buFont typeface="Arial" panose="020B0604020202020204" pitchFamily="34" charset="0"/>
              <a:buChar char="•"/>
            </a:pPr>
            <a:r>
              <a:rPr sz="1600" lang="pt-BR">
                <a:solidFill>
                  <a:srgbClr val="000000"/>
                </a:solidFill>
              </a:rPr>
              <a:t>Processos em cada extremidade de uma sessão de comunicação.</a:t>
            </a:r>
          </a:p>
          <a:p>
            <a:pPr marL="342900" indent="-342900" algn="l" rtl="0">
              <a:buFont typeface="Arial" panose="020B0604020202020204" pitchFamily="34" charset="0"/>
              <a:buChar char="•"/>
            </a:pPr>
            <a:r>
              <a:rPr sz="1600" lang="pt-BR">
                <a:solidFill>
                  <a:srgbClr val="000000"/>
                </a:solidFill>
              </a:rPr>
              <a:t>Tipos de mensagens</a:t>
            </a:r>
          </a:p>
          <a:p>
            <a:pPr marL="342900" indent="-342900" algn="l" rtl="0">
              <a:buFont typeface="Arial" panose="020B0604020202020204" pitchFamily="34" charset="0"/>
              <a:buChar char="•"/>
            </a:pPr>
            <a:r>
              <a:rPr sz="1600" lang="pt-BR">
                <a:solidFill>
                  <a:srgbClr val="000000"/>
                </a:solidFill>
              </a:rPr>
              <a:t>Sintaxe das mensagens</a:t>
            </a:r>
          </a:p>
          <a:p>
            <a:pPr marL="342900" indent="-342900" algn="l" rtl="0">
              <a:buFont typeface="Arial" panose="020B0604020202020204" pitchFamily="34" charset="0"/>
              <a:buChar char="•"/>
            </a:pPr>
            <a:r>
              <a:rPr sz="1600" lang="pt-BR">
                <a:solidFill>
                  <a:srgbClr val="000000"/>
                </a:solidFill>
              </a:rPr>
              <a:t>Significado dos campos informativos</a:t>
            </a:r>
          </a:p>
          <a:p>
            <a:pPr marL="342900" indent="-342900" algn="l" rtl="0">
              <a:buFont typeface="Arial" panose="020B0604020202020204" pitchFamily="34" charset="0"/>
              <a:buChar char="•"/>
            </a:pPr>
            <a:r>
              <a:rPr sz="1600" lang="pt-BR">
                <a:solidFill>
                  <a:srgbClr val="000000"/>
                </a:solidFill>
              </a:rPr>
              <a:t>Como as mensagens são enviadas e a resposta esperada</a:t>
            </a:r>
          </a:p>
          <a:p>
            <a:pPr marL="342900" indent="-342900" algn="l" rtl="0">
              <a:buFont typeface="Arial" panose="020B0604020202020204" pitchFamily="34" charset="0"/>
              <a:buChar char="•"/>
            </a:pPr>
            <a:r>
              <a:rPr sz="1600" lang="pt-BR">
                <a:solidFill>
                  <a:srgbClr val="000000"/>
                </a:solidFill>
              </a:rPr>
              <a:t>Interação com a camada inferior seguinte</a:t>
            </a:r>
          </a:p>
          <a:p>
            <a:pPr marL="342900" indent="-342900" algn="l">
              <a:buFont typeface="Arial" panose="020B0604020202020204" pitchFamily="34" charset="0"/>
              <a:buChar char="•"/>
            </a:pPr>
            <a:endParaRPr lang="en-US" sz="1600" dirty="0">
              <a:solidFill>
                <a:srgbClr val="000000"/>
              </a:solidFill>
            </a:endParaRPr>
          </a:p>
          <a:p>
            <a:pPr marL="0" indent="0" algn="l" rtl="0"/>
            <a:r>
              <a:rPr sz="1600" lang="pt-BR">
                <a:solidFill>
                  <a:srgbClr val="000000"/>
                </a:solidFill>
              </a:rPr>
              <a:t>Muitas empresas estabeleceram uma política de uso de versões seguras (por exemplo, SSH, SFTP e HTTPS) desses protocolos sempre que possível.</a:t>
            </a:r>
          </a:p>
        </p:txBody>
      </p:sp>
    </p:spTree>
    <p:extLst>
      <p:ext uri="{BB962C8B-B14F-4D97-AF65-F5344CB8AC3E}">
        <p14:creationId xmlns:p14="http://schemas.microsoft.com/office/powerpoint/2010/main" val="40845166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Aplicações e Protocolos de Rede de Pequena </a:t>
            </a:r>
            <a:br>
              <a:rPr lang="en-US" dirty="0"/>
            </a:br>
            <a:r>
              <a:rPr sz="2400" lang="pt-BR"/>
              <a:t>Aplicações de Voz e Vídeo</a:t>
            </a:r>
          </a:p>
        </p:txBody>
      </p:sp>
      <p:sp>
        <p:nvSpPr>
          <p:cNvPr id="5" name="Content Placeholder 4">
            <a:extLst>
              <a:ext uri="{FF2B5EF4-FFF2-40B4-BE49-F238E27FC236}">
                <a16:creationId xmlns:a16="http://schemas.microsoft.com/office/drawing/2014/main" id="{60805718-1D89-4A05-B2C1-06EAAE238C28}"/>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sz="1500" lang="pt-BR">
                <a:solidFill>
                  <a:srgbClr val="000000"/>
                </a:solidFill>
              </a:rPr>
              <a:t>Hoje, as empresas estão cada vez mais usando telefonia IP e mídia de streaming para se comunicar com clientes e parceiros de negócios, além de permitir que seus funcionários trabalhem remotamente.</a:t>
            </a:r>
          </a:p>
          <a:p>
            <a:pPr marL="342900" indent="-342900" algn="l" rtl="0">
              <a:buFont typeface="Arial" panose="020B0604020202020204" pitchFamily="34" charset="0"/>
              <a:buChar char="•"/>
            </a:pPr>
            <a:r>
              <a:rPr sz="1500" lang="pt-BR">
                <a:solidFill>
                  <a:srgbClr val="000000"/>
                </a:solidFill>
              </a:rPr>
              <a:t>O administrador de redes deve assegurar que o equipamento adequado foi instalado na rede e que os dispositivos de rede foram configurados para garantir entrega prioritária.</a:t>
            </a:r>
          </a:p>
          <a:p>
            <a:pPr marL="342900" indent="-342900" algn="l" rtl="0">
              <a:buFont typeface="Arial" panose="020B0604020202020204" pitchFamily="34" charset="0"/>
              <a:buChar char="•"/>
            </a:pPr>
            <a:r>
              <a:rPr sz="1500" lang="pt-BR">
                <a:solidFill>
                  <a:srgbClr val="000000"/>
                </a:solidFill>
              </a:rPr>
              <a:t>Os fatores que um pequeno administrador de rede deve considerar ao oferecer suporte a aplicativos em tempo real:</a:t>
            </a:r>
          </a:p>
          <a:p>
            <a:pPr marL="489010" lvl="2" indent="-342900" rtl="0">
              <a:buFont typeface="Arial" panose="020B0604020202020204" pitchFamily="34" charset="0"/>
              <a:buChar char="•"/>
            </a:pPr>
            <a:r>
              <a:rPr sz="1500" b="true" lang="pt-BR">
                <a:solidFill>
                  <a:srgbClr val="000000"/>
                </a:solidFill>
              </a:rPr>
              <a:t>Infraestrutura -</a:t>
            </a:r>
            <a:r>
              <a:rPr sz="1500" lang="pt-BR">
                <a:solidFill>
                  <a:srgbClr val="000000"/>
                </a:solidFill>
              </a:rPr>
              <a:t> Tem capacidade e capacidade para suportar aplicações em tempo real? </a:t>
            </a:r>
          </a:p>
          <a:p>
            <a:pPr marL="489010" lvl="2" indent="-342900" rtl="0">
              <a:buFont typeface="Arial" panose="020B0604020202020204" pitchFamily="34" charset="0"/>
              <a:buChar char="•"/>
            </a:pPr>
            <a:r>
              <a:rPr sz="1500" b="true" lang="pt-BR">
                <a:solidFill>
                  <a:srgbClr val="000000"/>
                </a:solidFill>
              </a:rPr>
              <a:t>VoIP - </a:t>
            </a:r>
            <a:r>
              <a:rPr sz="1500" lang="pt-BR">
                <a:solidFill>
                  <a:srgbClr val="000000"/>
                </a:solidFill>
              </a:rPr>
              <a:t>VoIP geralmente é menos caro do que a telefonia IP, mas ao custo de qualidade e recursos. </a:t>
            </a:r>
          </a:p>
          <a:p>
            <a:pPr marL="489010" lvl="2" indent="-342900" rtl="0">
              <a:buFont typeface="Arial" panose="020B0604020202020204" pitchFamily="34" charset="0"/>
              <a:buChar char="•"/>
            </a:pPr>
            <a:r>
              <a:rPr sz="1500" b="true" lang="pt-BR">
                <a:solidFill>
                  <a:srgbClr val="000000"/>
                </a:solidFill>
              </a:rPr>
              <a:t>Telefonia IP - </a:t>
            </a:r>
            <a:r>
              <a:rPr sz="1500" lang="pt-BR">
                <a:solidFill>
                  <a:srgbClr val="000000"/>
                </a:solidFill>
              </a:rPr>
              <a:t>Isso emprega servidores dedicados forma controle de chamada e sinalização. </a:t>
            </a:r>
          </a:p>
          <a:p>
            <a:pPr marL="489010" lvl="2" indent="-342900" rtl="0">
              <a:buFont typeface="Arial" panose="020B0604020202020204" pitchFamily="34" charset="0"/>
              <a:buChar char="•"/>
            </a:pPr>
            <a:r>
              <a:rPr sz="1500" b="true" lang="pt-BR">
                <a:solidFill>
                  <a:srgbClr val="000000"/>
                </a:solidFill>
              </a:rPr>
              <a:t>Aplicações em Tempo Real -</a:t>
            </a:r>
            <a:r>
              <a:rPr sz="1500" lang="pt-BR">
                <a:solidFill>
                  <a:srgbClr val="000000"/>
                </a:solidFill>
              </a:rPr>
              <a:t>A rede deve suportar mecanismos de Qualidade de Serviço (QoS) para minimizar problemas de latência. Protocolo de transporte em tempo real (RTP) e Protocolo de controle de transporte em tempo real (RTCP) e dois protocolos que oferecem suporte a aplicativos em tempo real.</a:t>
            </a:r>
          </a:p>
        </p:txBody>
      </p:sp>
    </p:spTree>
    <p:extLst>
      <p:ext uri="{BB962C8B-B14F-4D97-AF65-F5344CB8AC3E}">
        <p14:creationId xmlns:p14="http://schemas.microsoft.com/office/powerpoint/2010/main" val="1241498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17.3 – Escalar para Redes Maiores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Escalar para Redes Maiores </a:t>
            </a:r>
            <a:br>
              <a:rPr lang="en-US" dirty="0"/>
            </a:br>
            <a:r>
              <a:rPr sz="2400" lang="pt-BR"/>
              <a:t>Crescimento de Redes Pequenas</a:t>
            </a:r>
          </a:p>
        </p:txBody>
      </p:sp>
      <p:sp>
        <p:nvSpPr>
          <p:cNvPr id="4" name="Content Placeholder 3">
            <a:extLst>
              <a:ext uri="{FF2B5EF4-FFF2-40B4-BE49-F238E27FC236}">
                <a16:creationId xmlns:a16="http://schemas.microsoft.com/office/drawing/2014/main" id="{4D4DC2CE-CBF1-4EDA-BBE9-D4BCE31CD2E2}"/>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O crescimento é um processo natural para muitas empresas de pequeno porte, e suas redes devem acompanhá-lo. Idealmente, o administrador da rede tem tempo de entrega suficiente para tomar decisões inteligentes sobre o crescimento da rede alinhado com o crescimento da empresa.</a:t>
            </a:r>
          </a:p>
          <a:p>
            <a:pPr marL="0" indent="0" algn="l"/>
            <a:endParaRPr lang="en-US" sz="1600" dirty="0">
              <a:solidFill>
                <a:srgbClr val="000000"/>
              </a:solidFill>
            </a:endParaRPr>
          </a:p>
          <a:p>
            <a:pPr marL="0" indent="0" algn="l" rtl="0"/>
            <a:r>
              <a:rPr sz="1600" lang="pt-BR">
                <a:solidFill>
                  <a:srgbClr val="000000"/>
                </a:solidFill>
              </a:rPr>
              <a:t>Para escalonar uma rede, vários elementos são necessários:</a:t>
            </a:r>
          </a:p>
          <a:p>
            <a:pPr marL="415985" lvl="1" indent="-342900" rtl="0">
              <a:buFont typeface="Arial" panose="020B0604020202020204" pitchFamily="34" charset="0"/>
              <a:buChar char="•"/>
            </a:pPr>
            <a:r>
              <a:rPr sz="1600" b="true" lang="pt-BR">
                <a:solidFill>
                  <a:srgbClr val="000000"/>
                </a:solidFill>
              </a:rPr>
              <a:t>Documentação de Rede - </a:t>
            </a:r>
            <a:r>
              <a:rPr sz="1600" lang="pt-BR">
                <a:solidFill>
                  <a:srgbClr val="000000"/>
                </a:solidFill>
              </a:rPr>
              <a:t>Topologia Física e Lógica</a:t>
            </a:r>
          </a:p>
          <a:p>
            <a:pPr marL="415985" lvl="1" indent="-342900" rtl="0">
              <a:buFont typeface="Arial" panose="020B0604020202020204" pitchFamily="34" charset="0"/>
              <a:buChar char="•"/>
            </a:pPr>
            <a:r>
              <a:rPr sz="1600" b="true" lang="pt-BR">
                <a:solidFill>
                  <a:srgbClr val="000000"/>
                </a:solidFill>
              </a:rPr>
              <a:t>Inventário de Dispositivos – </a:t>
            </a:r>
            <a:r>
              <a:rPr sz="1600" lang="pt-BR">
                <a:solidFill>
                  <a:srgbClr val="000000"/>
                </a:solidFill>
              </a:rPr>
              <a:t>Lista de dispositivos que usam ou compõem a rede</a:t>
            </a:r>
          </a:p>
          <a:p>
            <a:pPr marL="415985" lvl="1" indent="-342900" rtl="0">
              <a:buFont typeface="Arial" panose="020B0604020202020204" pitchFamily="34" charset="0"/>
              <a:buChar char="•"/>
            </a:pPr>
            <a:r>
              <a:rPr sz="1600" b="true" lang="pt-BR">
                <a:solidFill>
                  <a:srgbClr val="000000"/>
                </a:solidFill>
              </a:rPr>
              <a:t>Orçamento - </a:t>
            </a:r>
            <a:r>
              <a:rPr sz="1600" lang="pt-BR">
                <a:solidFill>
                  <a:srgbClr val="000000"/>
                </a:solidFill>
              </a:rPr>
              <a:t>orçamento de TI detalhado, incluindo orçamento de compra de equipamentos para o ano fiscal</a:t>
            </a:r>
          </a:p>
          <a:p>
            <a:pPr marL="415985" lvl="1" indent="-342900" rtl="0">
              <a:buFont typeface="Arial" panose="020B0604020202020204" pitchFamily="34" charset="0"/>
              <a:buChar char="•"/>
            </a:pPr>
            <a:r>
              <a:rPr sz="1600" b="true" lang="pt-BR">
                <a:solidFill>
                  <a:srgbClr val="000000"/>
                </a:solidFill>
              </a:rPr>
              <a:t>Análise de Tráfego - </a:t>
            </a:r>
            <a:r>
              <a:rPr sz="1600" lang="pt-BR">
                <a:solidFill>
                  <a:srgbClr val="000000"/>
                </a:solidFill>
              </a:rPr>
              <a:t>Protocolos, aplicativos e serviços e seus respectivos requisitos de tráfego devem ser documentados</a:t>
            </a:r>
          </a:p>
          <a:p>
            <a:pPr marL="0" indent="0" algn="l" rtl="0"/>
            <a:r>
              <a:rPr sz="1600" lang="pt-BR">
                <a:solidFill>
                  <a:srgbClr val="000000"/>
                </a:solidFill>
              </a:rPr>
              <a:t>Esses elementos são usados para subsidiar a tomada de decisão que acompanha o crescimento de uma rede pequena.</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3681152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Escalar para Redes Maiores </a:t>
            </a:r>
            <a:br>
              <a:rPr lang="en-US" dirty="0"/>
            </a:br>
            <a:r>
              <a:rPr sz="2400" lang="pt-BR"/>
              <a:t>Análise de Protocolo</a:t>
            </a:r>
          </a:p>
        </p:txBody>
      </p:sp>
      <p:sp>
        <p:nvSpPr>
          <p:cNvPr id="5" name="Content Placeholder 4">
            <a:extLst>
              <a:ext uri="{FF2B5EF4-FFF2-40B4-BE49-F238E27FC236}">
                <a16:creationId xmlns:a16="http://schemas.microsoft.com/office/drawing/2014/main" id="{3DD0F7E2-6CB1-4DF6-97A5-A655F8C79DD2}"/>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É importante entender o tipo de tráfego que está atravessando a rede, bem como o fluxo de tráfego atual. Existem várias ferramentas de gerenciamento de rede que podem ser usadas para esse fim.</a:t>
            </a:r>
          </a:p>
          <a:p>
            <a:pPr marL="0" indent="0" algn="l"/>
            <a:endParaRPr lang="en-US" sz="1600" dirty="0">
              <a:solidFill>
                <a:srgbClr val="000000"/>
              </a:solidFill>
            </a:endParaRPr>
          </a:p>
          <a:p>
            <a:pPr marL="0" indent="0" algn="l" rtl="0"/>
            <a:r>
              <a:rPr sz="1600" lang="pt-BR">
                <a:solidFill>
                  <a:srgbClr val="000000"/>
                </a:solidFill>
              </a:rPr>
              <a:t>Para determinar os padrões de fluxo de tráfego, é importante fazer o seguinte:</a:t>
            </a:r>
          </a:p>
          <a:p>
            <a:pPr marL="358835" lvl="1" indent="-285750" rtl="0">
              <a:buFont typeface="Arial" panose="020B0604020202020204" pitchFamily="34" charset="0"/>
              <a:buChar char="•"/>
            </a:pPr>
            <a:r>
              <a:rPr sz="1600" lang="pt-BR">
                <a:solidFill>
                  <a:srgbClr val="000000"/>
                </a:solidFill>
              </a:rPr>
              <a:t>Capturar o tráfego durante as horas de pico de utilização para obter uma boa ideia dos diferentes tipos de tráfego.</a:t>
            </a:r>
          </a:p>
          <a:p>
            <a:pPr marL="358835" lvl="1" indent="-285750" rtl="0">
              <a:buFont typeface="Arial" panose="020B0604020202020204" pitchFamily="34" charset="0"/>
              <a:buChar char="•"/>
            </a:pPr>
            <a:r>
              <a:rPr sz="1600" lang="pt-BR">
                <a:solidFill>
                  <a:srgbClr val="000000"/>
                </a:solidFill>
              </a:rPr>
              <a:t>Realize a captura em diferentes segmentos e dispositivos de rede, pois algum tráfego será local para um segmento específico.</a:t>
            </a:r>
          </a:p>
          <a:p>
            <a:pPr marL="358835" lvl="1" indent="-285750" rtl="0">
              <a:buFont typeface="Arial" panose="020B0604020202020204" pitchFamily="34" charset="0"/>
              <a:buChar char="•"/>
            </a:pPr>
            <a:r>
              <a:rPr sz="1600" lang="pt-BR">
                <a:solidFill>
                  <a:srgbClr val="000000"/>
                </a:solidFill>
              </a:rPr>
              <a:t>As informações reunidas pelo analisador de protocolos são avaliadas com base na origem e destino do tráfego, bem como no tipo de tráfego que é enviado. </a:t>
            </a:r>
          </a:p>
          <a:p>
            <a:pPr marL="358835" lvl="1" indent="-285750" rtl="0">
              <a:buFont typeface="Arial" panose="020B0604020202020204" pitchFamily="34" charset="0"/>
              <a:buChar char="•"/>
            </a:pPr>
            <a:r>
              <a:rPr sz="1600" lang="pt-BR">
                <a:solidFill>
                  <a:srgbClr val="000000"/>
                </a:solidFill>
              </a:rPr>
              <a:t>Essa análise pode ser usada para tomar uma decisão sobre como gerenciar o tráfego com mais eficiência.</a:t>
            </a:r>
          </a:p>
        </p:txBody>
      </p:sp>
    </p:spTree>
    <p:extLst>
      <p:ext uri="{BB962C8B-B14F-4D97-AF65-F5344CB8AC3E}">
        <p14:creationId xmlns:p14="http://schemas.microsoft.com/office/powerpoint/2010/main" val="3979798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Escalar para Redes Maiores </a:t>
            </a:r>
            <a:br>
              <a:rPr lang="en-US" dirty="0"/>
            </a:br>
            <a:r>
              <a:rPr sz="2400" lang="pt-BR"/>
              <a:t>Utilização da Rede pelos Funcionários</a:t>
            </a:r>
          </a:p>
        </p:txBody>
      </p:sp>
      <p:sp>
        <p:nvSpPr>
          <p:cNvPr id="4" name="Content Placeholder 3">
            <a:extLst>
              <a:ext uri="{FF2B5EF4-FFF2-40B4-BE49-F238E27FC236}">
                <a16:creationId xmlns:a16="http://schemas.microsoft.com/office/drawing/2014/main" id="{A4F111CF-BA9E-4AFA-8A34-8CA18113097A}"/>
              </a:ext>
            </a:extLst>
          </p:cNvPr>
          <p:cNvSpPr>
            <a:spLocks noGrp="1"/>
          </p:cNvSpPr>
          <p:nvPr>
            <p:ph idx="1"/>
          </p:nvPr>
        </p:nvSpPr>
        <p:spPr>
          <a:xfrm>
            <a:off x="66675" y="609600"/>
            <a:ext cx="8972549" cy="4095749"/>
          </a:xfrm>
        </p:spPr>
        <p:txBody>
          <a:bodyPr/>
          <a:lstStyle/>
          <a:p>
            <a:pPr marL="0" indent="0" algn="l" rtl="0"/>
            <a:r>
              <a:rPr sz="1600" lang="pt-BR">
                <a:solidFill>
                  <a:srgbClr val="000000"/>
                </a:solidFill>
              </a:rPr>
              <a:t>Muitos sistemas operacionais fornecem ferramentas integradas para exibir essas informações de utilização de rede. Essas ferramentas podem ser usadas para capturar um “instantâneo” de informações, como as seguintes:</a:t>
            </a:r>
          </a:p>
          <a:p>
            <a:pPr marL="0" indent="0" algn="l"/>
            <a:endParaRPr lang="en-US" sz="1600" dirty="0">
              <a:solidFill>
                <a:srgbClr val="000000"/>
              </a:solidFill>
            </a:endParaRPr>
          </a:p>
          <a:p>
            <a:pPr marL="415985" lvl="1" indent="-342900" rtl="0">
              <a:buFont typeface="Arial" panose="020B0604020202020204" pitchFamily="34" charset="0"/>
              <a:buChar char="•"/>
            </a:pPr>
            <a:r>
              <a:rPr sz="1600" lang="pt-BR">
                <a:solidFill>
                  <a:srgbClr val="000000"/>
                </a:solidFill>
              </a:rPr>
              <a:t>Sistema Operacional e a versão desse sistema</a:t>
            </a:r>
          </a:p>
          <a:p>
            <a:pPr marL="415985" lvl="1" indent="-342900" rtl="0">
              <a:buFont typeface="Arial" panose="020B0604020202020204" pitchFamily="34" charset="0"/>
              <a:buChar char="•"/>
            </a:pPr>
            <a:r>
              <a:rPr sz="1600" lang="pt-BR">
                <a:solidFill>
                  <a:srgbClr val="000000"/>
                </a:solidFill>
              </a:rPr>
              <a:t>Utilização da CPU</a:t>
            </a:r>
          </a:p>
          <a:p>
            <a:pPr marL="415985" lvl="1" indent="-342900" rtl="0">
              <a:buFont typeface="Arial" panose="020B0604020202020204" pitchFamily="34" charset="0"/>
              <a:buChar char="•"/>
            </a:pPr>
            <a:r>
              <a:rPr sz="1600" lang="pt-BR">
                <a:solidFill>
                  <a:srgbClr val="000000"/>
                </a:solidFill>
              </a:rPr>
              <a:t>Utilização da memória RAM</a:t>
            </a:r>
          </a:p>
          <a:p>
            <a:pPr marL="415985" lvl="1" indent="-342900" rtl="0">
              <a:buFont typeface="Arial" panose="020B0604020202020204" pitchFamily="34" charset="0"/>
              <a:buChar char="•"/>
            </a:pPr>
            <a:r>
              <a:rPr sz="1600" lang="pt-BR">
                <a:solidFill>
                  <a:srgbClr val="000000"/>
                </a:solidFill>
              </a:rPr>
              <a:t>Utilização das unidades de disco</a:t>
            </a:r>
          </a:p>
          <a:p>
            <a:pPr marL="415985" lvl="1" indent="-342900" rtl="0">
              <a:buFont typeface="Arial" panose="020B0604020202020204" pitchFamily="34" charset="0"/>
              <a:buChar char="•"/>
            </a:pPr>
            <a:r>
              <a:rPr sz="1600" lang="pt-BR">
                <a:solidFill>
                  <a:srgbClr val="000000"/>
                </a:solidFill>
              </a:rPr>
              <a:t>Aplicações que não são de rede</a:t>
            </a:r>
          </a:p>
          <a:p>
            <a:pPr marL="415985" lvl="1" indent="-342900" rtl="0">
              <a:buFont typeface="Arial" panose="020B0604020202020204" pitchFamily="34" charset="0"/>
              <a:buChar char="•"/>
            </a:pPr>
            <a:r>
              <a:rPr sz="1600" lang="pt-BR">
                <a:solidFill>
                  <a:srgbClr val="000000"/>
                </a:solidFill>
              </a:rPr>
              <a:t>Aplicações de rede</a:t>
            </a:r>
          </a:p>
          <a:p>
            <a:pPr marL="415985" lvl="1" indent="-342900">
              <a:buFont typeface="Arial" panose="020B0604020202020204" pitchFamily="34" charset="0"/>
              <a:buChar char="•"/>
            </a:pPr>
            <a:endParaRPr lang="en-US" sz="1600" dirty="0">
              <a:solidFill>
                <a:srgbClr val="000000"/>
              </a:solidFill>
            </a:endParaRPr>
          </a:p>
          <a:p>
            <a:pPr marL="0" indent="0" algn="l" rtl="0"/>
            <a:r>
              <a:rPr sz="1600" lang="pt-BR">
                <a:solidFill>
                  <a:srgbClr val="000000"/>
                </a:solidFill>
              </a:rPr>
              <a:t>Documentar snapshots para funcionários em uma pequena rede por um período de tempo é muito útil para identificar requisitos de protocolo em evolução e fluxos de tráfego associados.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5675760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17.4 - Verificar a Conectividade.</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Verificar Conectividade</a:t>
            </a:r>
            <a:br>
              <a:rPr lang="en-US" dirty="0"/>
            </a:br>
            <a:r>
              <a:rPr sz="2400" lang="pt-BR"/>
              <a:t>Verificar Conectividade com Ping</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133350" y="687671"/>
            <a:ext cx="8621369" cy="1774104"/>
          </a:xfrm>
        </p:spPr>
        <p:txBody>
          <a:bodyPr/>
          <a:lstStyle/>
          <a:p>
            <a:pPr marL="0" indent="0" algn="l" rtl="0"/>
            <a:r>
              <a:rPr sz="1600" lang="pt-BR">
                <a:solidFill>
                  <a:srgbClr val="000000"/>
                </a:solidFill>
              </a:rPr>
              <a:t>Independentemente de sua rede ser pequena e nova, ou se você está dimensionando uma rede existente, você sempre vai querer ser capaz de verificar se seus componentes estão corretamente conectados uns aos outros e à internet. </a:t>
            </a:r>
          </a:p>
          <a:p>
            <a:pPr marL="342900" indent="-342900" algn="l" rtl="0">
              <a:buFont typeface="Arial" panose="020B0604020202020204" pitchFamily="34" charset="0"/>
              <a:buChar char="•"/>
            </a:pPr>
            <a:r>
              <a:rPr sz="1600" lang="pt-BR">
                <a:solidFill>
                  <a:srgbClr val="000000"/>
                </a:solidFill>
              </a:rPr>
              <a:t>O comando ping, disponível na maioria dos sistemas operacionais, é a maneira mais eficaz de testar rapidamente a conectividade da Camada 3 entre um endereço IP de origem e de destino.</a:t>
            </a:r>
          </a:p>
          <a:p>
            <a:pPr marL="342900" indent="-342900" algn="l" rtl="0">
              <a:buFont typeface="Arial" panose="020B0604020202020204" pitchFamily="34" charset="0"/>
              <a:buChar char="•"/>
            </a:pPr>
            <a:r>
              <a:rPr sz="1600" lang="pt-BR">
                <a:solidFill>
                  <a:srgbClr val="000000"/>
                </a:solidFill>
              </a:rPr>
              <a:t>O comando ping usa as mensagens ICMP echo (ICMP Type 8) e echo reply (ICMP Type 8). </a:t>
            </a:r>
          </a:p>
        </p:txBody>
      </p:sp>
      <p:pic>
        <p:nvPicPr>
          <p:cNvPr id="8" name="Picture 7">
            <a:extLst>
              <a:ext uri="{FF2B5EF4-FFF2-40B4-BE49-F238E27FC236}">
                <a16:creationId xmlns:a16="http://schemas.microsoft.com/office/drawing/2014/main" id="{617B48B4-4445-4E88-845E-13CC7F3D98F2}"/>
              </a:ext>
            </a:extLst>
          </p:cNvPr>
          <p:cNvPicPr>
            <a:picLocks noChangeAspect="1"/>
          </p:cNvPicPr>
          <p:nvPr/>
        </p:nvPicPr>
        <p:blipFill>
          <a:blip r:embed="rId3"/>
          <a:stretch>
            <a:fillRect/>
          </a:stretch>
        </p:blipFill>
        <p:spPr>
          <a:xfrm>
            <a:off x="216731" y="2847975"/>
            <a:ext cx="4459288" cy="1402879"/>
          </a:xfrm>
          <a:prstGeom prst="rect">
            <a:avLst/>
          </a:prstGeom>
        </p:spPr>
      </p:pic>
      <p:pic>
        <p:nvPicPr>
          <p:cNvPr id="9" name="Picture 8">
            <a:extLst>
              <a:ext uri="{FF2B5EF4-FFF2-40B4-BE49-F238E27FC236}">
                <a16:creationId xmlns:a16="http://schemas.microsoft.com/office/drawing/2014/main" id="{BEBE6953-619E-456B-861D-F9EACA61C9BE}"/>
              </a:ext>
            </a:extLst>
          </p:cNvPr>
          <p:cNvPicPr>
            <a:picLocks noChangeAspect="1"/>
          </p:cNvPicPr>
          <p:nvPr/>
        </p:nvPicPr>
        <p:blipFill>
          <a:blip r:embed="rId4"/>
          <a:stretch>
            <a:fillRect/>
          </a:stretch>
        </p:blipFill>
        <p:spPr>
          <a:xfrm>
            <a:off x="4745252" y="3549414"/>
            <a:ext cx="4352636" cy="1238058"/>
          </a:xfrm>
          <a:prstGeom prst="rect">
            <a:avLst/>
          </a:prstGeom>
        </p:spPr>
      </p:pic>
    </p:spTree>
    <p:extLst>
      <p:ext uri="{BB962C8B-B14F-4D97-AF65-F5344CB8AC3E}">
        <p14:creationId xmlns:p14="http://schemas.microsoft.com/office/powerpoint/2010/main" val="5676871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Verificar Conectividade</a:t>
            </a:r>
            <a:br>
              <a:rPr lang="en-US" dirty="0"/>
            </a:br>
            <a:r>
              <a:rPr sz="2400" lang="pt-BR"/>
              <a:t>Verificar Conectividade com Ping (Cont.) </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257175" y="625101"/>
            <a:ext cx="8497544" cy="1201738"/>
          </a:xfrm>
        </p:spPr>
        <p:txBody>
          <a:bodyPr/>
          <a:lstStyle/>
          <a:p>
            <a:pPr marL="0" indent="0" algn="l" rtl="0"/>
            <a:r>
              <a:rPr sz="1600" lang="pt-BR">
                <a:solidFill>
                  <a:srgbClr val="000000"/>
                </a:solidFill>
              </a:rPr>
              <a:t>Em um host Windows 10, o comando ping envia quatro mensagens de eco ICMP consecutivas e espera quatro respostas de eco ICMP consecutivas do destino. O ping IOS envia cinco mensagens de eco ICMP e exibe um indicador para cada resposta de eco ICMP recebida.</a:t>
            </a:r>
          </a:p>
          <a:p>
            <a:pPr marL="0" indent="0" algn="l"/>
            <a:endParaRPr lang="en-US" sz="1600" dirty="0">
              <a:solidFill>
                <a:srgbClr val="000000"/>
              </a:solidFill>
            </a:endParaRPr>
          </a:p>
          <a:p>
            <a:pPr marL="0" indent="0" algn="l" rtl="0"/>
            <a:r>
              <a:rPr sz="1600" lang="pt-BR">
                <a:solidFill>
                  <a:srgbClr val="000000"/>
                </a:solidFill>
              </a:rPr>
              <a:t>Os indicadores de ping do IOS são os seguintes:</a:t>
            </a: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p:txBody>
      </p:sp>
      <p:graphicFrame>
        <p:nvGraphicFramePr>
          <p:cNvPr id="6" name="Table 6">
            <a:extLst>
              <a:ext uri="{FF2B5EF4-FFF2-40B4-BE49-F238E27FC236}">
                <a16:creationId xmlns:a16="http://schemas.microsoft.com/office/drawing/2014/main" id="{03F69F7F-539D-4510-8B57-D1F149A77EAA}"/>
              </a:ext>
            </a:extLst>
          </p:cNvPr>
          <p:cNvGraphicFramePr>
            <a:graphicFrameLocks noGrp="1"/>
          </p:cNvGraphicFramePr>
          <p:nvPr>
            <p:extLst>
              <p:ext uri="{D42A27DB-BD31-4B8C-83A1-F6EECF244321}">
                <p14:modId xmlns:p14="http://schemas.microsoft.com/office/powerpoint/2010/main" val="3280242006"/>
              </p:ext>
            </p:extLst>
          </p:nvPr>
        </p:nvGraphicFramePr>
        <p:xfrm>
          <a:off x="474662" y="2017339"/>
          <a:ext cx="8280058" cy="2026920"/>
        </p:xfrm>
        <a:graphic>
          <a:graphicData uri="http://schemas.openxmlformats.org/drawingml/2006/table">
            <a:tbl>
              <a:tblPr firstRow="1" bandRow="1">
                <a:tableStyleId>{5C22544A-7EE6-4342-B048-85BDC9FD1C3A}</a:tableStyleId>
              </a:tblPr>
              <a:tblGrid>
                <a:gridCol w="940755">
                  <a:extLst>
                    <a:ext uri="{9D8B030D-6E8A-4147-A177-3AD203B41FA5}">
                      <a16:colId xmlns:a16="http://schemas.microsoft.com/office/drawing/2014/main" val="1295102679"/>
                    </a:ext>
                  </a:extLst>
                </a:gridCol>
                <a:gridCol w="7339303">
                  <a:extLst>
                    <a:ext uri="{9D8B030D-6E8A-4147-A177-3AD203B41FA5}">
                      <a16:colId xmlns:a16="http://schemas.microsoft.com/office/drawing/2014/main" val="252758851"/>
                    </a:ext>
                  </a:extLst>
                </a:gridCol>
              </a:tblGrid>
              <a:tr h="0">
                <a:tc>
                  <a:txBody>
                    <a:bodyPr/>
                    <a:lstStyle/>
                    <a:p>
                      <a:pPr algn="l" fontAlgn="ctr" rtl="0"/>
                      <a:r>
                        <a:rPr sz="1200" lang="pt-BR">
                          <a:effectLst/>
                        </a:rPr>
                        <a:t>Elemento</a:t>
                      </a:r>
                    </a:p>
                  </a:txBody>
                  <a:tcPr marL="47625" marR="47625" marT="47625" marB="47625" anchor="ctr"/>
                </a:tc>
                <a:tc>
                  <a:txBody>
                    <a:bodyPr/>
                    <a:lstStyle/>
                    <a:p>
                      <a:pPr algn="l" fontAlgn="ctr" rtl="0"/>
                      <a:r>
                        <a:rPr sz="1200" lang="pt-BR">
                          <a:effectLst/>
                        </a:rPr>
                        <a:t>Descrição</a:t>
                      </a:r>
                    </a:p>
                  </a:txBody>
                  <a:tcPr marL="47625" marR="47625" marT="47625" marB="47625" anchor="ctr"/>
                </a:tc>
                <a:extLst>
                  <a:ext uri="{0D108BD9-81ED-4DB2-BD59-A6C34878D82A}">
                    <a16:rowId xmlns:a16="http://schemas.microsoft.com/office/drawing/2014/main" val="3056744586"/>
                  </a:ext>
                </a:extLst>
              </a:tr>
              <a:tr h="370840">
                <a:tc>
                  <a:txBody>
                    <a:bodyPr/>
                    <a:lstStyle/>
                    <a:p>
                      <a:pPr fontAlgn="ctr" rtl="0"/>
                      <a:r>
                        <a:rPr sz="1200" b="true" lang="pt-BR">
                          <a:solidFill>
                            <a:srgbClr val="000000"/>
                          </a:solidFill>
                          <a:effectLst/>
                        </a:rPr>
                        <a:t>!</a:t>
                      </a:r>
                    </a:p>
                  </a:txBody>
                  <a:tcPr marL="47625" marR="47625" marT="47625" marB="47625" anchor="ctr"/>
                </a:tc>
                <a:tc>
                  <a:txBody>
                    <a:bodyPr/>
                    <a:lstStyle/>
                    <a:p>
                      <a:pPr fontAlgn="ctr" rtl="0">
                        <a:buFont typeface="Arial" panose="020B0604020202020204" pitchFamily="34" charset="0"/>
                        <a:buChar char="•"/>
                      </a:pPr>
                      <a:r>
                        <a:rPr sz="1200" b="false" lang="pt-BR">
                          <a:solidFill>
                            <a:srgbClr val="000000"/>
                          </a:solidFill>
                          <a:effectLst/>
                        </a:rPr>
                        <a:t>O ponto de exclamação indica o recebimento bem-sucedido de uma mensagem de resposta de eco.</a:t>
                      </a:r>
                    </a:p>
                    <a:p>
                      <a:pPr fontAlgn="ctr" rtl="0">
                        <a:buFont typeface="Arial" panose="020B0604020202020204" pitchFamily="34" charset="0"/>
                        <a:buChar char="•"/>
                      </a:pPr>
                      <a:r>
                        <a:rPr sz="1200" b="false" lang="pt-BR">
                          <a:solidFill>
                            <a:srgbClr val="000000"/>
                          </a:solidFill>
                          <a:effectLst/>
                        </a:rPr>
                        <a:t>Ele valida uma conexão de Camada 3 entre origem e destino.</a:t>
                      </a:r>
                    </a:p>
                  </a:txBody>
                  <a:tcPr marL="47625" marR="47625" marT="47625" marB="47625" anchor="ctr"/>
                </a:tc>
                <a:extLst>
                  <a:ext uri="{0D108BD9-81ED-4DB2-BD59-A6C34878D82A}">
                    <a16:rowId xmlns:a16="http://schemas.microsoft.com/office/drawing/2014/main" val="1949256186"/>
                  </a:ext>
                </a:extLst>
              </a:tr>
              <a:tr h="370840">
                <a:tc>
                  <a:txBody>
                    <a:bodyPr/>
                    <a:lstStyle/>
                    <a:p>
                      <a:pPr fontAlgn="ctr" rtl="0"/>
                      <a:r>
                        <a:rPr sz="1200" b="true" lang="pt-BR">
                          <a:solidFill>
                            <a:srgbClr val="000000"/>
                          </a:solidFill>
                          <a:effectLst/>
                        </a:rPr>
                        <a:t>.</a:t>
                      </a:r>
                    </a:p>
                  </a:txBody>
                  <a:tcPr marL="47625" marR="47625" marT="47625" marB="47625" anchor="ctr"/>
                </a:tc>
                <a:tc>
                  <a:txBody>
                    <a:bodyPr/>
                    <a:lstStyle/>
                    <a:p>
                      <a:pPr fontAlgn="ctr" rtl="0">
                        <a:buFont typeface="Arial" panose="020B0604020202020204" pitchFamily="34" charset="0"/>
                        <a:buChar char="•"/>
                      </a:pPr>
                      <a:r>
                        <a:rPr sz="1200" b="false" lang="pt-BR">
                          <a:solidFill>
                            <a:srgbClr val="000000"/>
                          </a:solidFill>
                          <a:effectLst/>
                        </a:rPr>
                        <a:t>Um período significa que o tempo expirou esperando por uma mensagem de resposta de eco.</a:t>
                      </a:r>
                    </a:p>
                    <a:p>
                      <a:pPr fontAlgn="ctr" rtl="0">
                        <a:buFont typeface="Arial" panose="020B0604020202020204" pitchFamily="34" charset="0"/>
                        <a:buChar char="•"/>
                      </a:pPr>
                      <a:r>
                        <a:rPr sz="1200" b="false" lang="pt-BR">
                          <a:solidFill>
                            <a:srgbClr val="000000"/>
                          </a:solidFill>
                          <a:effectLst/>
                        </a:rPr>
                        <a:t>Isso indica que ocorreu um problema de conectividade em algum lugar no caminho.</a:t>
                      </a:r>
                    </a:p>
                  </a:txBody>
                  <a:tcPr marL="47625" marR="47625" marT="47625" marB="47625" anchor="ctr"/>
                </a:tc>
                <a:extLst>
                  <a:ext uri="{0D108BD9-81ED-4DB2-BD59-A6C34878D82A}">
                    <a16:rowId xmlns:a16="http://schemas.microsoft.com/office/drawing/2014/main" val="51423680"/>
                  </a:ext>
                </a:extLst>
              </a:tr>
              <a:tr h="370840">
                <a:tc>
                  <a:txBody>
                    <a:bodyPr/>
                    <a:lstStyle/>
                    <a:p>
                      <a:pPr fontAlgn="ctr" rtl="0"/>
                      <a:r>
                        <a:rPr sz="1200" b="true" lang="pt-BR">
                          <a:solidFill>
                            <a:srgbClr val="000000"/>
                          </a:solidFill>
                          <a:effectLst/>
                        </a:rPr>
                        <a:t>U</a:t>
                      </a:r>
                    </a:p>
                  </a:txBody>
                  <a:tcPr marL="47625" marR="47625" marT="47625" marB="47625" anchor="ctr"/>
                </a:tc>
                <a:tc>
                  <a:txBody>
                    <a:bodyPr/>
                    <a:lstStyle/>
                    <a:p>
                      <a:pPr fontAlgn="ctr" rtl="0">
                        <a:buFont typeface="Arial" panose="020B0604020202020204" pitchFamily="34" charset="0"/>
                        <a:buChar char="•"/>
                      </a:pPr>
                      <a:r>
                        <a:rPr sz="1200" b="false" lang="pt-BR">
                          <a:solidFill>
                            <a:srgbClr val="000000"/>
                          </a:solidFill>
                          <a:effectLst/>
                        </a:rPr>
                        <a:t>O "</a:t>
                      </a:r>
                      <a:r>
                        <a:rPr sz="1200" b="true" lang="pt-BR">
                          <a:solidFill>
                            <a:srgbClr val="000000"/>
                          </a:solidFill>
                          <a:effectLst/>
                        </a:rPr>
                        <a:t>U</a:t>
                      </a:r>
                      <a:r>
                        <a:rPr sz="1200" b="false" lang="pt-BR">
                          <a:solidFill>
                            <a:srgbClr val="000000"/>
                          </a:solidFill>
                          <a:effectLst/>
                        </a:rPr>
                        <a:t>" indica que um roteador no caminho respondeu com uma mensagem ICMP de destino inalcançável.</a:t>
                      </a:r>
                    </a:p>
                    <a:p>
                      <a:pPr fontAlgn="ctr" rtl="0">
                        <a:buFont typeface="Arial" panose="020B0604020202020204" pitchFamily="34" charset="0"/>
                        <a:buChar char="•"/>
                      </a:pPr>
                      <a:r>
                        <a:rPr sz="1200" b="false" lang="pt-BR">
                          <a:solidFill>
                            <a:srgbClr val="000000"/>
                          </a:solidFill>
                          <a:effectLst/>
                        </a:rPr>
                        <a:t>Possíveis motivos incluem que o roteador não sabe a direção para a rede de destino ou não conseguiu localizar o host na rede de destino.</a:t>
                      </a:r>
                    </a:p>
                  </a:txBody>
                  <a:tcPr marL="47625" marR="47625" marT="47625" marB="47625" anchor="ctr"/>
                </a:tc>
                <a:extLst>
                  <a:ext uri="{0D108BD9-81ED-4DB2-BD59-A6C34878D82A}">
                    <a16:rowId xmlns:a16="http://schemas.microsoft.com/office/drawing/2014/main" val="3522231268"/>
                  </a:ext>
                </a:extLst>
              </a:tr>
            </a:tbl>
          </a:graphicData>
        </a:graphic>
      </p:graphicFrame>
      <p:sp>
        <p:nvSpPr>
          <p:cNvPr id="2" name="TextBox 1">
            <a:extLst>
              <a:ext uri="{FF2B5EF4-FFF2-40B4-BE49-F238E27FC236}">
                <a16:creationId xmlns:a16="http://schemas.microsoft.com/office/drawing/2014/main" id="{3341920A-2AC3-4077-BEB9-5EF9B3E51CE8}"/>
              </a:ext>
            </a:extLst>
          </p:cNvPr>
          <p:cNvSpPr txBox="1"/>
          <p:nvPr/>
        </p:nvSpPr>
        <p:spPr>
          <a:xfrm>
            <a:off x="433659" y="4234759"/>
            <a:ext cx="8321060" cy="461665"/>
          </a:xfrm>
          <a:prstGeom prst="rect">
            <a:avLst/>
          </a:prstGeom>
          <a:noFill/>
        </p:spPr>
        <p:txBody>
          <a:bodyPr wrap="none" rtlCol="0">
            <a:spAutoFit/>
          </a:bodyPr>
          <a:lstStyle/>
          <a:p>
            <a:pPr rtl="0"/>
            <a:r>
              <a:rPr sz="1200" b="true" lang="pt-BR">
                <a:solidFill>
                  <a:srgbClr val="000000"/>
                </a:solidFill>
              </a:rPr>
              <a:t>Nota:</a:t>
            </a:r>
            <a:r>
              <a:rPr sz="1200" lang="pt-BR">
                <a:solidFill>
                  <a:srgbClr val="000000"/>
                </a:solidFill>
              </a:rPr>
              <a:t> Outras possíveis respostas de ping incluem Q, M,? , ou &amp;. No entanto, o significado destes estão fora do escopo para este módulo. </a:t>
            </a:r>
          </a:p>
          <a:p>
            <a:endParaRPr lang="en-US" sz="1200" dirty="0"/>
          </a:p>
        </p:txBody>
      </p:sp>
    </p:spTree>
    <p:extLst>
      <p:ext uri="{BB962C8B-B14F-4D97-AF65-F5344CB8AC3E}">
        <p14:creationId xmlns:p14="http://schemas.microsoft.com/office/powerpoint/2010/main" val="7812807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Verificação de Conectividade</a:t>
            </a:r>
            <a:br>
              <a:rPr lang="en-US" dirty="0"/>
            </a:br>
            <a:r>
              <a:rPr sz="2400" lang="pt-BR"/>
              <a:t>Ping Estendido</a:t>
            </a:r>
          </a:p>
        </p:txBody>
      </p:sp>
      <p:sp>
        <p:nvSpPr>
          <p:cNvPr id="7" name="Content Placeholder 6">
            <a:extLst>
              <a:ext uri="{FF2B5EF4-FFF2-40B4-BE49-F238E27FC236}">
                <a16:creationId xmlns:a16="http://schemas.microsoft.com/office/drawing/2014/main" id="{392730A1-8E01-4B1C-80A8-4DC1FCCA5D82}"/>
              </a:ext>
            </a:extLst>
          </p:cNvPr>
          <p:cNvSpPr>
            <a:spLocks noGrp="1"/>
          </p:cNvSpPr>
          <p:nvPr>
            <p:ph idx="1"/>
          </p:nvPr>
        </p:nvSpPr>
        <p:spPr>
          <a:xfrm>
            <a:off x="266700" y="731837"/>
            <a:ext cx="3723409" cy="3627727"/>
          </a:xfrm>
        </p:spPr>
        <p:txBody>
          <a:bodyPr/>
          <a:lstStyle/>
          <a:p>
            <a:pPr marL="0" indent="0" algn="l" rtl="0"/>
            <a:r>
              <a:rPr sz="1500" lang="pt-BR">
                <a:solidFill>
                  <a:srgbClr val="000000"/>
                </a:solidFill>
              </a:rPr>
              <a:t>O Cisco IOS oferece um modo "estendido" do comando </a:t>
            </a:r>
            <a:r>
              <a:rPr sz="1500" b="true" lang="pt-BR">
                <a:solidFill>
                  <a:srgbClr val="000000"/>
                </a:solidFill>
              </a:rPr>
              <a:t>ping</a:t>
            </a:r>
            <a:r>
              <a:rPr sz="1500" lang="pt-BR">
                <a:solidFill>
                  <a:srgbClr val="000000"/>
                </a:solidFill>
              </a:rPr>
              <a:t>.</a:t>
            </a:r>
          </a:p>
          <a:p>
            <a:pPr marL="0" indent="0" algn="l"/>
            <a:endParaRPr lang="en-US" sz="1500" dirty="0">
              <a:solidFill>
                <a:srgbClr val="000000"/>
              </a:solidFill>
            </a:endParaRPr>
          </a:p>
          <a:p>
            <a:pPr marL="0" indent="0" algn="l" rtl="0"/>
            <a:r>
              <a:rPr sz="1500" lang="pt-BR">
                <a:solidFill>
                  <a:srgbClr val="000000"/>
                </a:solidFill>
              </a:rPr>
              <a:t>O ping estendido é inserido no modo EXEC privilegiado, digitando </a:t>
            </a:r>
            <a:r>
              <a:rPr sz="1500" b="true" lang="pt-BR">
                <a:solidFill>
                  <a:srgbClr val="000000"/>
                </a:solidFill>
              </a:rPr>
              <a:t>ping</a:t>
            </a:r>
            <a:r>
              <a:rPr sz="1500" lang="pt-BR">
                <a:solidFill>
                  <a:srgbClr val="000000"/>
                </a:solidFill>
              </a:rPr>
              <a:t> sem um endereço IP de destino. Em seguida, você receberá vários prompts para personalizar o </a:t>
            </a:r>
            <a:r>
              <a:rPr sz="1500" b="true" lang="pt-BR">
                <a:solidFill>
                  <a:srgbClr val="000000"/>
                </a:solidFill>
              </a:rPr>
              <a:t>ping</a:t>
            </a:r>
            <a:r>
              <a:rPr sz="1500" lang="pt-BR">
                <a:solidFill>
                  <a:srgbClr val="000000"/>
                </a:solidFill>
              </a:rPr>
              <a:t>estendido.</a:t>
            </a:r>
          </a:p>
          <a:p>
            <a:pPr marL="0" indent="0" algn="l"/>
            <a:endParaRPr lang="en-US" sz="1500" b="1" dirty="0">
              <a:solidFill>
                <a:srgbClr val="000000"/>
              </a:solidFill>
            </a:endParaRPr>
          </a:p>
          <a:p>
            <a:pPr marL="0" indent="0" algn="l" rtl="0"/>
            <a:r>
              <a:rPr sz="1500" b="true" lang="pt-BR">
                <a:solidFill>
                  <a:srgbClr val="000000"/>
                </a:solidFill>
              </a:rPr>
              <a:t>Nota: </a:t>
            </a:r>
            <a:r>
              <a:rPr sz="1500" lang="pt-BR">
                <a:solidFill>
                  <a:srgbClr val="000000"/>
                </a:solidFill>
              </a:rPr>
              <a:t>Pressionar </a:t>
            </a:r>
            <a:r>
              <a:rPr sz="1500" b="true" lang="pt-BR">
                <a:solidFill>
                  <a:srgbClr val="000000"/>
                </a:solidFill>
              </a:rPr>
              <a:t>Enter </a:t>
            </a:r>
            <a:r>
              <a:rPr sz="1500" lang="pt-BR">
                <a:solidFill>
                  <a:srgbClr val="000000"/>
                </a:solidFill>
              </a:rPr>
              <a:t>aceita os valores padrão indicados. O comando </a:t>
            </a:r>
            <a:r>
              <a:rPr sz="1500" b="true" lang="pt-BR">
                <a:solidFill>
                  <a:srgbClr val="000000"/>
                </a:solidFill>
              </a:rPr>
              <a:t>ping ipv6</a:t>
            </a:r>
            <a:r>
              <a:rPr sz="1500" lang="pt-BR">
                <a:solidFill>
                  <a:srgbClr val="000000"/>
                </a:solidFill>
              </a:rPr>
              <a:t> é usado para pings estendidos do IPv6.</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D6CF7F90-88E9-48D3-A067-4B1E2F997C7B}"/>
              </a:ext>
            </a:extLst>
          </p:cNvPr>
          <p:cNvPicPr>
            <a:picLocks noChangeAspect="1"/>
          </p:cNvPicPr>
          <p:nvPr/>
        </p:nvPicPr>
        <p:blipFill>
          <a:blip r:embed="rId3"/>
          <a:stretch>
            <a:fillRect/>
          </a:stretch>
        </p:blipFill>
        <p:spPr>
          <a:xfrm>
            <a:off x="3990109" y="616160"/>
            <a:ext cx="4768537" cy="3911180"/>
          </a:xfrm>
          <a:prstGeom prst="rect">
            <a:avLst/>
          </a:prstGeom>
        </p:spPr>
      </p:pic>
    </p:spTree>
    <p:extLst>
      <p:ext uri="{BB962C8B-B14F-4D97-AF65-F5344CB8AC3E}">
        <p14:creationId xmlns:p14="http://schemas.microsoft.com/office/powerpoint/2010/main" val="3114932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Verificar Conectividade</a:t>
            </a:r>
            <a:br>
              <a:rPr lang="en-US" dirty="0"/>
            </a:br>
            <a:r>
              <a:rPr sz="2400" lang="pt-BR"/>
              <a:t>Verificar Conectividade com Traceroute</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161926" y="731838"/>
            <a:ext cx="8592794" cy="1449388"/>
          </a:xfrm>
        </p:spPr>
        <p:txBody>
          <a:bodyPr/>
          <a:lstStyle/>
          <a:p>
            <a:pPr marL="0" indent="0" algn="l" rtl="0"/>
            <a:r>
              <a:rPr sz="1600" lang="pt-BR">
                <a:solidFill>
                  <a:srgbClr val="000000"/>
                </a:solidFill>
              </a:rPr>
              <a:t>O comando ping é útil para determinar rapidamente se há um problema de conectividade da Camada 3. No entanto, ele não identifica onde o problema está localizado ao longo do caminho.</a:t>
            </a:r>
          </a:p>
          <a:p>
            <a:pPr marL="285750" indent="-285750" algn="l" rtl="0">
              <a:buFont typeface="Arial" panose="020B0604020202020204" pitchFamily="34" charset="0"/>
              <a:buChar char="•"/>
            </a:pPr>
            <a:r>
              <a:rPr sz="1600" lang="pt-BR">
                <a:solidFill>
                  <a:srgbClr val="000000"/>
                </a:solidFill>
              </a:rPr>
              <a:t>Traceroute pode ajudar a localizar áreas problemáticas da Camada 3 em uma rede. O comando trace retorna uma lista dos saltos no roteamento de um pacote pela rede.</a:t>
            </a:r>
          </a:p>
          <a:p>
            <a:pPr marL="285750" indent="-285750" algn="l" rtl="0">
              <a:buFont typeface="Arial" panose="020B0604020202020204" pitchFamily="34" charset="0"/>
              <a:buChar char="•"/>
            </a:pPr>
            <a:r>
              <a:rPr sz="1600" lang="pt-BR">
                <a:solidFill>
                  <a:srgbClr val="000000"/>
                </a:solidFill>
              </a:rPr>
              <a:t>A sintaxe do comando trace varia entre os sistemas operacionais.</a:t>
            </a:r>
          </a:p>
        </p:txBody>
      </p:sp>
      <p:pic>
        <p:nvPicPr>
          <p:cNvPr id="5" name="Picture 4">
            <a:extLst>
              <a:ext uri="{FF2B5EF4-FFF2-40B4-BE49-F238E27FC236}">
                <a16:creationId xmlns:a16="http://schemas.microsoft.com/office/drawing/2014/main" id="{77065A9D-C3F8-4819-8891-F269C0BD3CEC}"/>
              </a:ext>
            </a:extLst>
          </p:cNvPr>
          <p:cNvPicPr>
            <a:picLocks noChangeAspect="1"/>
          </p:cNvPicPr>
          <p:nvPr/>
        </p:nvPicPr>
        <p:blipFill>
          <a:blip r:embed="rId3"/>
          <a:stretch>
            <a:fillRect/>
          </a:stretch>
        </p:blipFill>
        <p:spPr>
          <a:xfrm>
            <a:off x="1278731" y="2463747"/>
            <a:ext cx="6586537" cy="2295980"/>
          </a:xfrm>
          <a:prstGeom prst="rect">
            <a:avLst/>
          </a:prstGeom>
        </p:spPr>
      </p:pic>
    </p:spTree>
    <p:extLst>
      <p:ext uri="{BB962C8B-B14F-4D97-AF65-F5344CB8AC3E}">
        <p14:creationId xmlns:p14="http://schemas.microsoft.com/office/powerpoint/2010/main" val="6283622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Verificar Conectividade</a:t>
            </a:r>
            <a:br>
              <a:rPr lang="en-US" dirty="0"/>
            </a:br>
            <a:r>
              <a:rPr sz="2400" lang="pt-BR"/>
              <a:t>Verificar Conectividade com Traceroute (Cont.) </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474662" y="731838"/>
            <a:ext cx="8280057" cy="1741856"/>
          </a:xfrm>
        </p:spPr>
        <p:txBody>
          <a:bodyPr/>
          <a:lstStyle/>
          <a:p>
            <a:pPr marL="285750" indent="-285750" algn="l" rtl="0">
              <a:buFont typeface="Arial" panose="020B0604020202020204" pitchFamily="34" charset="0"/>
              <a:buChar char="•"/>
            </a:pPr>
            <a:r>
              <a:rPr sz="1600" lang="pt-BR">
                <a:solidFill>
                  <a:srgbClr val="000000"/>
                </a:solidFill>
              </a:rPr>
              <a:t>Segue-se uma saída de exemplo do comando </a:t>
            </a:r>
            <a:r>
              <a:rPr sz="1600" b="true" lang="pt-BR">
                <a:solidFill>
                  <a:srgbClr val="000000"/>
                </a:solidFill>
              </a:rPr>
              <a:t>tracert</a:t>
            </a:r>
            <a:r>
              <a:rPr sz="1600" lang="pt-BR">
                <a:solidFill>
                  <a:srgbClr val="000000"/>
                </a:solidFill>
              </a:rPr>
              <a:t> num anfitrião Windows 10.</a:t>
            </a:r>
          </a:p>
          <a:p>
            <a:pPr marL="0" indent="0" algn="l" rtl="0"/>
            <a:r>
              <a:rPr sz="1600" lang="pt-BR">
                <a:solidFill>
                  <a:srgbClr val="000000"/>
                </a:solidFill>
              </a:rPr>
              <a:t>		</a:t>
            </a:r>
            <a:r>
              <a:rPr sz="1600" b="true" lang="pt-BR">
                <a:solidFill>
                  <a:srgbClr val="000000"/>
                </a:solidFill>
              </a:rPr>
              <a:t>Observação:</a:t>
            </a:r>
            <a:r>
              <a:rPr sz="1600" lang="pt-BR">
                <a:solidFill>
                  <a:srgbClr val="000000"/>
                </a:solidFill>
              </a:rPr>
              <a:t> Use </a:t>
            </a:r>
            <a:r>
              <a:rPr sz="1600" b="true" lang="pt-BR">
                <a:solidFill>
                  <a:srgbClr val="000000"/>
                </a:solidFill>
              </a:rPr>
              <a:t>Ctrl-C</a:t>
            </a:r>
            <a:r>
              <a:rPr sz="1600" lang="pt-BR">
                <a:solidFill>
                  <a:srgbClr val="000000"/>
                </a:solidFill>
              </a:rPr>
              <a:t> para interromper um </a:t>
            </a:r>
            <a:r>
              <a:rPr sz="1600" b="true" lang="pt-BR">
                <a:solidFill>
                  <a:srgbClr val="000000"/>
                </a:solidFill>
              </a:rPr>
              <a:t>tracert</a:t>
            </a:r>
            <a:r>
              <a:rPr sz="1600" lang="pt-BR">
                <a:solidFill>
                  <a:srgbClr val="000000"/>
                </a:solidFill>
              </a:rPr>
              <a:t> no Windows.</a:t>
            </a:r>
          </a:p>
          <a:p>
            <a:pPr marL="342900" indent="-342900" algn="l" rtl="0">
              <a:buFont typeface="Arial" panose="020B0604020202020204" pitchFamily="34" charset="0"/>
              <a:buChar char="•"/>
            </a:pPr>
            <a:r>
              <a:rPr sz="1600" lang="pt-BR">
                <a:solidFill>
                  <a:srgbClr val="000000"/>
                </a:solidFill>
              </a:rPr>
              <a:t>A única resposta bem-sucedida foi do gateway no R1. Solicitações de rastreamento para o próximo salto expirado conforme indicado pelo asterisco (*), o que significa que o próximo roteador de salto não respondeu ou há uma falha no caminho de rede. Neste exemplo, parece haver um problema entre R1 e R2.</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F6C74959-2FFC-428D-886D-AC9555B77575}"/>
              </a:ext>
            </a:extLst>
          </p:cNvPr>
          <p:cNvPicPr>
            <a:picLocks noChangeAspect="1"/>
          </p:cNvPicPr>
          <p:nvPr/>
        </p:nvPicPr>
        <p:blipFill>
          <a:blip r:embed="rId3"/>
          <a:stretch>
            <a:fillRect/>
          </a:stretch>
        </p:blipFill>
        <p:spPr>
          <a:xfrm>
            <a:off x="2274311" y="2576785"/>
            <a:ext cx="4143375" cy="1924050"/>
          </a:xfrm>
          <a:prstGeom prst="rect">
            <a:avLst/>
          </a:prstGeom>
        </p:spPr>
      </p:pic>
    </p:spTree>
    <p:extLst>
      <p:ext uri="{BB962C8B-B14F-4D97-AF65-F5344CB8AC3E}">
        <p14:creationId xmlns:p14="http://schemas.microsoft.com/office/powerpoint/2010/main" val="36051925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Verificar Conectividade</a:t>
            </a:r>
            <a:br>
              <a:rPr lang="en-US" dirty="0"/>
            </a:br>
            <a:r>
              <a:rPr sz="2400" lang="pt-BR"/>
              <a:t>Verificar Conectividade com Ping (Cont.) </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389281" y="731837"/>
            <a:ext cx="8754719" cy="314180"/>
          </a:xfrm>
        </p:spPr>
        <p:txBody>
          <a:bodyPr/>
          <a:lstStyle/>
          <a:p>
            <a:pPr marL="0" indent="0" algn="l" rtl="0"/>
            <a:r>
              <a:rPr sz="1600" lang="pt-BR">
                <a:solidFill>
                  <a:srgbClr val="000000"/>
                </a:solidFill>
              </a:rPr>
              <a:t>Seguem-se as saídas de exemplo do comando traceroute de R1:</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A0732355-332B-449D-9357-E0F48C454790}"/>
              </a:ext>
            </a:extLst>
          </p:cNvPr>
          <p:cNvPicPr>
            <a:picLocks noChangeAspect="1"/>
          </p:cNvPicPr>
          <p:nvPr/>
        </p:nvPicPr>
        <p:blipFill>
          <a:blip r:embed="rId3"/>
          <a:stretch>
            <a:fillRect/>
          </a:stretch>
        </p:blipFill>
        <p:spPr>
          <a:xfrm>
            <a:off x="1000124" y="1046018"/>
            <a:ext cx="2999221" cy="1671697"/>
          </a:xfrm>
          <a:prstGeom prst="rect">
            <a:avLst/>
          </a:prstGeom>
        </p:spPr>
      </p:pic>
      <p:pic>
        <p:nvPicPr>
          <p:cNvPr id="6" name="Picture 5">
            <a:extLst>
              <a:ext uri="{FF2B5EF4-FFF2-40B4-BE49-F238E27FC236}">
                <a16:creationId xmlns:a16="http://schemas.microsoft.com/office/drawing/2014/main" id="{3C36BF30-75BB-4311-A628-2FB7B10FE9A2}"/>
              </a:ext>
            </a:extLst>
          </p:cNvPr>
          <p:cNvPicPr>
            <a:picLocks noChangeAspect="1"/>
          </p:cNvPicPr>
          <p:nvPr/>
        </p:nvPicPr>
        <p:blipFill>
          <a:blip r:embed="rId4"/>
          <a:stretch>
            <a:fillRect/>
          </a:stretch>
        </p:blipFill>
        <p:spPr>
          <a:xfrm>
            <a:off x="4386595" y="1046017"/>
            <a:ext cx="2745820" cy="1671697"/>
          </a:xfrm>
          <a:prstGeom prst="rect">
            <a:avLst/>
          </a:prstGeom>
        </p:spPr>
      </p:pic>
      <p:sp>
        <p:nvSpPr>
          <p:cNvPr id="7" name="TextBox 6">
            <a:extLst>
              <a:ext uri="{FF2B5EF4-FFF2-40B4-BE49-F238E27FC236}">
                <a16:creationId xmlns:a16="http://schemas.microsoft.com/office/drawing/2014/main" id="{6585B9E8-F83C-4942-AF9A-29DA3B2866B1}"/>
              </a:ext>
            </a:extLst>
          </p:cNvPr>
          <p:cNvSpPr txBox="1"/>
          <p:nvPr/>
        </p:nvSpPr>
        <p:spPr>
          <a:xfrm>
            <a:off x="600364" y="2800349"/>
            <a:ext cx="8017163" cy="2215991"/>
          </a:xfrm>
          <a:prstGeom prst="rect">
            <a:avLst/>
          </a:prstGeom>
          <a:noFill/>
        </p:spPr>
        <p:txBody>
          <a:bodyPr wrap="square" rtlCol="0">
            <a:spAutoFit/>
          </a:bodyPr>
          <a:lstStyle/>
          <a:p>
            <a:pPr marL="358835" lvl="1" indent="-285750" rtl="0">
              <a:buFont typeface="Arial" panose="020B0604020202020204" pitchFamily="34" charset="0"/>
              <a:buChar char="•"/>
            </a:pPr>
            <a:r>
              <a:rPr sz="1600" lang="pt-BR">
                <a:solidFill>
                  <a:srgbClr val="000000"/>
                </a:solidFill>
              </a:rPr>
              <a:t>À esquerda, o rastreamento validou que poderia atingir o PC B.</a:t>
            </a:r>
          </a:p>
          <a:p>
            <a:pPr marL="358835" lvl="1" indent="-285750" rtl="0">
              <a:buFont typeface="Arial" panose="020B0604020202020204" pitchFamily="34" charset="0"/>
              <a:buChar char="•"/>
            </a:pPr>
            <a:r>
              <a:rPr sz="1600" lang="pt-BR">
                <a:solidFill>
                  <a:srgbClr val="000000"/>
                </a:solidFill>
              </a:rPr>
              <a:t>À direita, o host 10.1.1.10 não estava disponível e a saída mostra asteriscos onde as respostas expiraram. Os tempos limite indicam um potencial problema de rede. </a:t>
            </a:r>
          </a:p>
          <a:p>
            <a:pPr marL="358835" lvl="1" indent="-285750" rtl="0">
              <a:buFont typeface="Arial" panose="020B0604020202020204" pitchFamily="34" charset="0"/>
              <a:buChar char="•"/>
            </a:pPr>
            <a:r>
              <a:rPr sz="1600" lang="pt-BR">
                <a:solidFill>
                  <a:srgbClr val="000000"/>
                </a:solidFill>
              </a:rPr>
              <a:t>Use </a:t>
            </a:r>
            <a:r>
              <a:rPr sz="1600" b="true" lang="pt-BR">
                <a:solidFill>
                  <a:srgbClr val="000000"/>
                </a:solidFill>
              </a:rPr>
              <a:t>Ctrl-Shift-6</a:t>
            </a:r>
            <a:r>
              <a:rPr sz="1600" lang="pt-BR">
                <a:solidFill>
                  <a:srgbClr val="000000"/>
                </a:solidFill>
              </a:rPr>
              <a:t> para interromper um </a:t>
            </a:r>
            <a:r>
              <a:rPr sz="1600" b="true" lang="pt-BR">
                <a:solidFill>
                  <a:srgbClr val="000000"/>
                </a:solidFill>
              </a:rPr>
              <a:t>traceroute</a:t>
            </a:r>
            <a:r>
              <a:rPr sz="1600" lang="pt-BR">
                <a:solidFill>
                  <a:srgbClr val="000000"/>
                </a:solidFill>
              </a:rPr>
              <a:t> no Cisco IOS.</a:t>
            </a:r>
          </a:p>
          <a:p>
            <a:endParaRPr lang="en-US" sz="1400" b="1" dirty="0">
              <a:solidFill>
                <a:srgbClr val="000000"/>
              </a:solidFill>
            </a:endParaRPr>
          </a:p>
          <a:p>
            <a:pPr rtl="0"/>
            <a:r>
              <a:rPr sz="1400" b="true" lang="pt-BR">
                <a:solidFill>
                  <a:srgbClr val="000000"/>
                </a:solidFill>
              </a:rPr>
              <a:t>Nota</a:t>
            </a:r>
            <a:r>
              <a:rPr sz="1400" lang="pt-BR">
                <a:solidFill>
                  <a:srgbClr val="000000"/>
                </a:solidFill>
              </a:rPr>
              <a:t>: A implementação do Windows do traceroute (tracert) envia solicitações de eco do ICMP. Cisco IOS e Linux usam UDP com um número de porta inválido. O destino final retornará uma mensagem de porta ICMP inacessível. </a:t>
            </a:r>
          </a:p>
          <a:p>
            <a:endParaRPr lang="en-US" dirty="0"/>
          </a:p>
        </p:txBody>
      </p:sp>
    </p:spTree>
    <p:extLst>
      <p:ext uri="{BB962C8B-B14F-4D97-AF65-F5344CB8AC3E}">
        <p14:creationId xmlns:p14="http://schemas.microsoft.com/office/powerpoint/2010/main" val="28310218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Verificar a Conectividade</a:t>
            </a:r>
            <a:br>
              <a:rPr lang="en-US" dirty="0"/>
            </a:br>
            <a:r>
              <a:rPr sz="2400" lang="pt-BR"/>
              <a:t>Traceroute Estendido</a:t>
            </a:r>
          </a:p>
        </p:txBody>
      </p:sp>
      <p:sp>
        <p:nvSpPr>
          <p:cNvPr id="7" name="Content Placeholder 6">
            <a:extLst>
              <a:ext uri="{FF2B5EF4-FFF2-40B4-BE49-F238E27FC236}">
                <a16:creationId xmlns:a16="http://schemas.microsoft.com/office/drawing/2014/main" id="{0DDBD792-C3EC-49E8-BFF9-83E19B8F1159}"/>
              </a:ext>
            </a:extLst>
          </p:cNvPr>
          <p:cNvSpPr>
            <a:spLocks noGrp="1"/>
          </p:cNvSpPr>
          <p:nvPr>
            <p:ph idx="1"/>
          </p:nvPr>
        </p:nvSpPr>
        <p:spPr>
          <a:xfrm>
            <a:off x="443345" y="731838"/>
            <a:ext cx="8345488" cy="1839912"/>
          </a:xfrm>
        </p:spPr>
        <p:txBody>
          <a:bodyPr/>
          <a:lstStyle/>
          <a:p>
            <a:pPr marL="0" indent="0" algn="l" rtl="0"/>
            <a:r>
              <a:rPr sz="1600" lang="pt-BR">
                <a:solidFill>
                  <a:srgbClr val="000000"/>
                </a:solidFill>
              </a:rPr>
              <a:t>Como o comando </a:t>
            </a:r>
            <a:r>
              <a:rPr sz="1600" b="true" lang="pt-BR">
                <a:solidFill>
                  <a:srgbClr val="000000"/>
                </a:solidFill>
              </a:rPr>
              <a:t>ping</a:t>
            </a:r>
            <a:r>
              <a:rPr sz="1600" lang="pt-BR">
                <a:solidFill>
                  <a:srgbClr val="000000"/>
                </a:solidFill>
              </a:rPr>
              <a:t> estendido, há também um comando </a:t>
            </a:r>
            <a:r>
              <a:rPr sz="1600" b="true" lang="pt-BR">
                <a:solidFill>
                  <a:srgbClr val="000000"/>
                </a:solidFill>
              </a:rPr>
              <a:t>traceroute</a:t>
            </a:r>
            <a:r>
              <a:rPr sz="1600" lang="pt-BR">
                <a:solidFill>
                  <a:srgbClr val="000000"/>
                </a:solidFill>
              </a:rPr>
              <a:t> estendido. Ele permite que o administrador ajuste parâmetros relacionados à operação de comando. </a:t>
            </a:r>
          </a:p>
          <a:p>
            <a:pPr marL="0" indent="0" algn="l"/>
            <a:endParaRPr lang="en-US" sz="1600" dirty="0">
              <a:solidFill>
                <a:srgbClr val="000000"/>
              </a:solidFill>
            </a:endParaRPr>
          </a:p>
          <a:p>
            <a:pPr marL="0" indent="0" algn="l" rtl="0"/>
            <a:r>
              <a:rPr sz="1600" lang="pt-BR">
                <a:solidFill>
                  <a:srgbClr val="000000"/>
                </a:solidFill>
              </a:rPr>
              <a:t>O comando </a:t>
            </a:r>
            <a:r>
              <a:rPr sz="1600" b="true" lang="pt-BR">
                <a:solidFill>
                  <a:srgbClr val="000000"/>
                </a:solidFill>
              </a:rPr>
              <a:t>tracert</a:t>
            </a:r>
            <a:r>
              <a:rPr sz="1600" lang="pt-BR">
                <a:solidFill>
                  <a:srgbClr val="000000"/>
                </a:solidFill>
              </a:rPr>
              <a:t> do Windows permite a entrada de vários parâmetros por meio de opções na linha de comando. No entanto, ele não é guiado como o comando estendido traceroute IOS. A saída a seguir exibe as opções disponíveis para o comando </a:t>
            </a:r>
            <a:r>
              <a:rPr sz="1600" b="true" lang="pt-BR">
                <a:solidFill>
                  <a:srgbClr val="000000"/>
                </a:solidFill>
              </a:rPr>
              <a:t>tracert</a:t>
            </a:r>
            <a:r>
              <a:rPr sz="1600" lang="pt-BR">
                <a:solidFill>
                  <a:srgbClr val="000000"/>
                </a:solidFill>
              </a:rPr>
              <a:t> do Windows:</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1C540DB7-F8D4-417D-80F4-EBDD8D5FF4E5}"/>
              </a:ext>
            </a:extLst>
          </p:cNvPr>
          <p:cNvPicPr>
            <a:picLocks noChangeAspect="1"/>
          </p:cNvPicPr>
          <p:nvPr/>
        </p:nvPicPr>
        <p:blipFill>
          <a:blip r:embed="rId3"/>
          <a:stretch>
            <a:fillRect/>
          </a:stretch>
        </p:blipFill>
        <p:spPr>
          <a:xfrm>
            <a:off x="2306565" y="2566278"/>
            <a:ext cx="4530869" cy="2371077"/>
          </a:xfrm>
          <a:prstGeom prst="rect">
            <a:avLst/>
          </a:prstGeom>
        </p:spPr>
      </p:pic>
    </p:spTree>
    <p:extLst>
      <p:ext uri="{BB962C8B-B14F-4D97-AF65-F5344CB8AC3E}">
        <p14:creationId xmlns:p14="http://schemas.microsoft.com/office/powerpoint/2010/main" val="18935248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Verificar a</a:t>
            </a:r>
            <a:r>
              <a:rPr sz="2400" lang="pt-BR"/>
              <a:t>Conectividade Traceroute Estendido (Cont.) </a:t>
            </a:r>
          </a:p>
        </p:txBody>
      </p:sp>
      <p:sp>
        <p:nvSpPr>
          <p:cNvPr id="4" name="Content Placeholder 3">
            <a:extLst>
              <a:ext uri="{FF2B5EF4-FFF2-40B4-BE49-F238E27FC236}">
                <a16:creationId xmlns:a16="http://schemas.microsoft.com/office/drawing/2014/main" id="{07861E12-DF1B-4298-BC04-F1489B20AB4B}"/>
              </a:ext>
            </a:extLst>
          </p:cNvPr>
          <p:cNvSpPr>
            <a:spLocks noGrp="1"/>
          </p:cNvSpPr>
          <p:nvPr>
            <p:ph idx="1"/>
          </p:nvPr>
        </p:nvSpPr>
        <p:spPr>
          <a:xfrm>
            <a:off x="474662" y="731837"/>
            <a:ext cx="5177993" cy="3689897"/>
          </a:xfrm>
        </p:spPr>
        <p:txBody>
          <a:bodyPr/>
          <a:lstStyle/>
          <a:p>
            <a:pPr marL="285750" indent="-285750" algn="l" rtl="0">
              <a:buFont typeface="Arial" panose="020B0604020202020204" pitchFamily="34" charset="0"/>
              <a:buChar char="•"/>
            </a:pPr>
            <a:r>
              <a:rPr sz="1600" lang="pt-BR">
                <a:solidFill>
                  <a:srgbClr val="000000"/>
                </a:solidFill>
              </a:rPr>
              <a:t>A opção </a:t>
            </a:r>
            <a:r>
              <a:rPr sz="1600" b="true" lang="pt-BR">
                <a:solidFill>
                  <a:srgbClr val="000000"/>
                </a:solidFill>
              </a:rPr>
              <a:t>traceroute</a:t>
            </a:r>
            <a:r>
              <a:rPr sz="1600" lang="pt-BR">
                <a:solidFill>
                  <a:srgbClr val="000000"/>
                </a:solidFill>
              </a:rPr>
              <a:t> estendido do Cisco IOS permite que o usuário crie um tipo especial de rastreamento ajustando parâmetros relacionados à operação do comando. </a:t>
            </a:r>
          </a:p>
          <a:p>
            <a:pPr marL="285750" indent="-285750" algn="l" rtl="0">
              <a:buFont typeface="Arial" panose="020B0604020202020204" pitchFamily="34" charset="0"/>
              <a:buChar char="•"/>
            </a:pPr>
            <a:r>
              <a:rPr sz="1600" lang="pt-BR">
                <a:solidFill>
                  <a:srgbClr val="000000"/>
                </a:solidFill>
              </a:rPr>
              <a:t>O traceroute estendido é inserido no modo EXEC privilegiado digitando </a:t>
            </a:r>
            <a:r>
              <a:rPr sz="1600" b="true" lang="pt-BR">
                <a:solidFill>
                  <a:srgbClr val="000000"/>
                </a:solidFill>
              </a:rPr>
              <a:t>traceroute</a:t>
            </a:r>
            <a:r>
              <a:rPr sz="1600" lang="pt-BR">
                <a:solidFill>
                  <a:srgbClr val="000000"/>
                </a:solidFill>
              </a:rPr>
              <a:t>sem um endereço IP de destino. O IOS orientará você pelas opções de comando apresentando diversos prompts relacionados à configuração de todos os parâmetros diferentes.</a:t>
            </a:r>
          </a:p>
          <a:p>
            <a:pPr marL="285750" indent="-285750" algn="l">
              <a:buFont typeface="Arial" panose="020B0604020202020204" pitchFamily="34" charset="0"/>
              <a:buChar char="•"/>
            </a:pPr>
            <a:endParaRPr lang="en-US" sz="1600" dirty="0">
              <a:solidFill>
                <a:srgbClr val="000000"/>
              </a:solidFill>
            </a:endParaRPr>
          </a:p>
          <a:p>
            <a:pPr marL="285750" indent="-285750" algn="l" rtl="0">
              <a:buFont typeface="Arial" panose="020B0604020202020204" pitchFamily="34" charset="0"/>
              <a:buChar char="•"/>
            </a:pPr>
            <a:r>
              <a:rPr sz="1600" b="true" lang="pt-BR">
                <a:solidFill>
                  <a:srgbClr val="000000"/>
                </a:solidFill>
              </a:rPr>
              <a:t>Observação</a:t>
            </a:r>
            <a:r>
              <a:rPr sz="1600" lang="pt-BR">
                <a:solidFill>
                  <a:srgbClr val="000000"/>
                </a:solidFill>
              </a:rPr>
              <a:t>:Ao pressionar </a:t>
            </a:r>
            <a:r>
              <a:rPr sz="1600" b="true" lang="pt-BR">
                <a:solidFill>
                  <a:srgbClr val="000000"/>
                </a:solidFill>
              </a:rPr>
              <a:t>Enter</a:t>
            </a:r>
            <a:r>
              <a:rPr sz="1600" lang="pt-BR">
                <a:solidFill>
                  <a:srgbClr val="000000"/>
                </a:solidFill>
              </a:rPr>
              <a:t>, você aceita os valores padrão indicados.</a:t>
            </a:r>
          </a:p>
        </p:txBody>
      </p:sp>
      <p:pic>
        <p:nvPicPr>
          <p:cNvPr id="5" name="Picture 4">
            <a:extLst>
              <a:ext uri="{FF2B5EF4-FFF2-40B4-BE49-F238E27FC236}">
                <a16:creationId xmlns:a16="http://schemas.microsoft.com/office/drawing/2014/main" id="{500D75D7-8A82-40C4-80CB-8860A41E3C65}"/>
              </a:ext>
            </a:extLst>
          </p:cNvPr>
          <p:cNvPicPr>
            <a:picLocks noChangeAspect="1"/>
          </p:cNvPicPr>
          <p:nvPr/>
        </p:nvPicPr>
        <p:blipFill>
          <a:blip r:embed="rId3"/>
          <a:stretch>
            <a:fillRect/>
          </a:stretch>
        </p:blipFill>
        <p:spPr>
          <a:xfrm>
            <a:off x="5797127" y="830023"/>
            <a:ext cx="3032259" cy="3493525"/>
          </a:xfrm>
          <a:prstGeom prst="rect">
            <a:avLst/>
          </a:prstGeom>
        </p:spPr>
      </p:pic>
    </p:spTree>
    <p:extLst>
      <p:ext uri="{BB962C8B-B14F-4D97-AF65-F5344CB8AC3E}">
        <p14:creationId xmlns:p14="http://schemas.microsoft.com/office/powerpoint/2010/main" val="3605601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Verificação de Conectividade</a:t>
            </a:r>
            <a:br>
              <a:rPr lang="en-US" dirty="0"/>
            </a:br>
            <a:r>
              <a:rPr sz="2400" lang="pt-BR"/>
              <a:t>Linha de Base de Rede</a:t>
            </a:r>
          </a:p>
        </p:txBody>
      </p:sp>
      <p:sp>
        <p:nvSpPr>
          <p:cNvPr id="6" name="Content Placeholder 5">
            <a:extLst>
              <a:ext uri="{FF2B5EF4-FFF2-40B4-BE49-F238E27FC236}">
                <a16:creationId xmlns:a16="http://schemas.microsoft.com/office/drawing/2014/main" id="{A78E6CE1-5A04-4670-B83B-B684916AEE63}"/>
              </a:ext>
            </a:extLst>
          </p:cNvPr>
          <p:cNvSpPr>
            <a:spLocks noGrp="1"/>
          </p:cNvSpPr>
          <p:nvPr>
            <p:ph idx="1"/>
          </p:nvPr>
        </p:nvSpPr>
        <p:spPr>
          <a:xfrm>
            <a:off x="257176" y="731837"/>
            <a:ext cx="8497544" cy="3689897"/>
          </a:xfrm>
        </p:spPr>
        <p:txBody>
          <a:bodyPr/>
          <a:lstStyle/>
          <a:p>
            <a:pPr marL="285750" indent="-285750" algn="l" rtl="0">
              <a:buFont typeface="Arial" panose="020B0604020202020204" pitchFamily="34" charset="0"/>
              <a:buChar char="•"/>
            </a:pPr>
            <a:r>
              <a:rPr sz="1600" lang="pt-BR">
                <a:solidFill>
                  <a:srgbClr val="000000"/>
                </a:solidFill>
              </a:rPr>
              <a:t>Uma das ferramentas mais eficazes para o monitoramento e a solução de problemas de desempenho de rede é estabelecer uma linha de base da rede. </a:t>
            </a:r>
          </a:p>
          <a:p>
            <a:pPr marL="285750" indent="-285750" algn="l" rtl="0">
              <a:buFont typeface="Arial" panose="020B0604020202020204" pitchFamily="34" charset="0"/>
              <a:buChar char="•"/>
            </a:pPr>
            <a:r>
              <a:rPr sz="1600" lang="pt-BR">
                <a:solidFill>
                  <a:srgbClr val="000000"/>
                </a:solidFill>
              </a:rPr>
              <a:t>Um método para iniciar uma linha de base é copiar e colar os resultados de um ping, trace, ou outro comando relevante executado em um arquivo texto. Esses arquivos de texto podem ser marcados com a data e salvos em um arquivo para posterior recuperação e comparação.</a:t>
            </a:r>
          </a:p>
          <a:p>
            <a:pPr marL="285750" indent="-285750" algn="l" rtl="0">
              <a:buFont typeface="Arial" panose="020B0604020202020204" pitchFamily="34" charset="0"/>
              <a:buChar char="•"/>
            </a:pPr>
            <a:r>
              <a:rPr sz="1600" lang="pt-BR">
                <a:solidFill>
                  <a:srgbClr val="000000"/>
                </a:solidFill>
              </a:rPr>
              <a:t>Entre os itens a serem considerados estão as mensagens de erro e os tempos de resposta de cada host.</a:t>
            </a:r>
          </a:p>
          <a:p>
            <a:pPr marL="285750" indent="-285750" algn="l" rtl="0">
              <a:buFont typeface="Arial" panose="020B0604020202020204" pitchFamily="34" charset="0"/>
              <a:buChar char="•"/>
            </a:pPr>
            <a:r>
              <a:rPr sz="1600" lang="pt-BR">
                <a:solidFill>
                  <a:srgbClr val="000000"/>
                </a:solidFill>
              </a:rPr>
              <a:t>Redes corporativas devem possuir linhas de base extensas, mais extensas do que podemos descrever neste curso. Ferramentas profissionais de software estão disponíveis para armazenamento e manutenção das informações de linha de base. </a:t>
            </a:r>
          </a:p>
        </p:txBody>
      </p:sp>
    </p:spTree>
    <p:extLst>
      <p:ext uri="{BB962C8B-B14F-4D97-AF65-F5344CB8AC3E}">
        <p14:creationId xmlns:p14="http://schemas.microsoft.com/office/powerpoint/2010/main" val="3425968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Verificando a Conectividade - </a:t>
            </a:r>
            <a:br>
              <a:rPr lang="en-US" sz="1600" dirty="0"/>
            </a:br>
            <a:r>
              <a:rPr sz="2400" lang="pt-BR"/>
              <a:t>Laboratório - Teste de Latência da Rede com Ping e Traceroute</a:t>
            </a:r>
          </a:p>
        </p:txBody>
      </p:sp>
      <p:sp>
        <p:nvSpPr>
          <p:cNvPr id="5" name="Content Placeholder 4">
            <a:extLst>
              <a:ext uri="{FF2B5EF4-FFF2-40B4-BE49-F238E27FC236}">
                <a16:creationId xmlns:a16="http://schemas.microsoft.com/office/drawing/2014/main" id="{E7522A69-FB62-4668-BCF4-DEEA4C4B1809}"/>
              </a:ext>
            </a:extLst>
          </p:cNvPr>
          <p:cNvSpPr>
            <a:spLocks noGrp="1"/>
          </p:cNvSpPr>
          <p:nvPr>
            <p:ph idx="1"/>
          </p:nvPr>
        </p:nvSpPr>
        <p:spPr>
          <a:xfrm>
            <a:off x="474662" y="731837"/>
            <a:ext cx="8280057" cy="3689897"/>
          </a:xfrm>
        </p:spPr>
        <p:txBody>
          <a:bodyPr/>
          <a:lstStyle/>
          <a:p>
            <a:pPr marL="0" indent="0" algn="l" rtl="0"/>
            <a:r>
              <a:rPr lang="pt-BR">
                <a:solidFill>
                  <a:srgbClr val="000000"/>
                </a:solidFill>
              </a:rPr>
              <a:t>Nesse laboratório, você completará os seguintes objetivos:</a:t>
            </a:r>
          </a:p>
          <a:p>
            <a:pPr marL="342900" indent="-342900" algn="l" rtl="0">
              <a:buFont typeface="Arial" panose="020B0604020202020204" pitchFamily="34" charset="0"/>
              <a:buChar char="•"/>
            </a:pPr>
            <a:r>
              <a:rPr lang="pt-BR">
                <a:solidFill>
                  <a:srgbClr val="000000"/>
                </a:solidFill>
              </a:rPr>
              <a:t>Parte 1: Usar Ping para Documentar a Latência da Rede</a:t>
            </a:r>
          </a:p>
          <a:p>
            <a:pPr marL="342900" indent="-342900" algn="l" rtl="0">
              <a:buFont typeface="Arial" panose="020B0604020202020204" pitchFamily="34" charset="0"/>
              <a:buChar char="•"/>
            </a:pPr>
            <a:r>
              <a:rPr lang="pt-BR">
                <a:solidFill>
                  <a:srgbClr val="000000"/>
                </a:solidFill>
              </a:rPr>
              <a:t>Parte 2: Usar Traceroute para Documentar a Latência de Rede</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1440878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17.5 - Host e Comandos IOS</a:t>
            </a:r>
          </a:p>
        </p:txBody>
      </p:sp>
    </p:spTree>
    <p:custDataLst>
      <p:tags r:id="rId1"/>
    </p:custDataLst>
    <p:extLst>
      <p:ext uri="{BB962C8B-B14F-4D97-AF65-F5344CB8AC3E}">
        <p14:creationId xmlns:p14="http://schemas.microsoft.com/office/powerpoint/2010/main" val="2616802161"/>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 </a:t>
            </a:r>
            <a:br>
              <a:rPr lang="en-US" dirty="0"/>
            </a:br>
            <a:r>
              <a:rPr sz="2400" lang="pt-BR"/>
              <a:t>Configuração de IP em um Host do Windows</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66700" y="731838"/>
            <a:ext cx="8553450" cy="2771484"/>
          </a:xfrm>
        </p:spPr>
        <p:txBody>
          <a:bodyPr/>
          <a:lstStyle/>
          <a:p>
            <a:pPr marL="0" indent="0" algn="l" rtl="0"/>
            <a:r>
              <a:rPr sz="1500" lang="pt-BR">
                <a:solidFill>
                  <a:srgbClr val="000000"/>
                </a:solidFill>
              </a:rPr>
              <a:t>No Windows 10, você pode acessar os detalhes do endereço IP do </a:t>
            </a:r>
            <a:r>
              <a:rPr sz="1500" b="true" lang="pt-BR">
                <a:solidFill>
                  <a:srgbClr val="000000"/>
                </a:solidFill>
              </a:rPr>
              <a:t>Centro de Rede e Compartilhamento</a:t>
            </a:r>
            <a:r>
              <a:rPr sz="1500" lang="pt-BR">
                <a:solidFill>
                  <a:srgbClr val="000000"/>
                </a:solidFill>
              </a:rPr>
              <a:t> para exibir rapidamente as quatro configurações importantes: endereço, máscara, roteador e DNS. Ou você pode emitir o comando </a:t>
            </a:r>
            <a:r>
              <a:rPr sz="1500" b="true" lang="pt-BR">
                <a:solidFill>
                  <a:srgbClr val="000000"/>
                </a:solidFill>
              </a:rPr>
              <a:t>ipconfig</a:t>
            </a:r>
            <a:r>
              <a:rPr sz="1500" lang="pt-BR">
                <a:solidFill>
                  <a:srgbClr val="000000"/>
                </a:solidFill>
              </a:rPr>
              <a:t> na linha de comando de um computador Windows.</a:t>
            </a:r>
          </a:p>
          <a:p>
            <a:pPr marL="342900" indent="-342900" algn="l" rtl="0">
              <a:buFont typeface="Arial" panose="020B0604020202020204" pitchFamily="34" charset="0"/>
              <a:buChar char="•"/>
            </a:pPr>
            <a:r>
              <a:rPr sz="1500" lang="pt-BR">
                <a:solidFill>
                  <a:srgbClr val="000000"/>
                </a:solidFill>
              </a:rPr>
              <a:t>Use o comando </a:t>
            </a:r>
            <a:r>
              <a:rPr sz="1500" b="true" lang="pt-BR">
                <a:solidFill>
                  <a:srgbClr val="000000"/>
                </a:solidFill>
              </a:rPr>
              <a:t>ipconfig /all</a:t>
            </a:r>
            <a:r>
              <a:rPr sz="1500" lang="pt-BR">
                <a:solidFill>
                  <a:srgbClr val="000000"/>
                </a:solidFill>
              </a:rPr>
              <a:t> para visualizar o endereço MAC, bem como vários detalhes sobre o endereçamento da camada 3 do dispositivo.</a:t>
            </a:r>
          </a:p>
          <a:p>
            <a:pPr marL="342900" indent="-342900" algn="l" rtl="0">
              <a:buFont typeface="Arial" panose="020B0604020202020204" pitchFamily="34" charset="0"/>
              <a:buChar char="•"/>
            </a:pPr>
            <a:r>
              <a:rPr sz="1500" lang="pt-BR">
                <a:solidFill>
                  <a:srgbClr val="000000"/>
                </a:solidFill>
              </a:rPr>
              <a:t>Se um host estiver configurado como um cliente DHCP, a configuração do endereço IP poderá ser renovada usando os comandos </a:t>
            </a:r>
            <a:r>
              <a:rPr sz="1500" b="true" lang="pt-BR">
                <a:solidFill>
                  <a:srgbClr val="000000"/>
                </a:solidFill>
              </a:rPr>
              <a:t>ipconfig /release</a:t>
            </a:r>
            <a:r>
              <a:rPr sz="1500" lang="pt-BR">
                <a:solidFill>
                  <a:srgbClr val="000000"/>
                </a:solidFill>
              </a:rPr>
              <a:t> e </a:t>
            </a:r>
            <a:r>
              <a:rPr sz="1500" b="true" lang="pt-BR">
                <a:solidFill>
                  <a:srgbClr val="000000"/>
                </a:solidFill>
              </a:rPr>
              <a:t>ipconfig /renew</a:t>
            </a:r>
            <a:r>
              <a:rPr sz="1500" lang="pt-BR">
                <a:solidFill>
                  <a:srgbClr val="000000"/>
                </a:solidFill>
              </a:rPr>
              <a:t> .</a:t>
            </a:r>
          </a:p>
          <a:p>
            <a:pPr marL="342900" indent="-342900" algn="l" rtl="0">
              <a:buFont typeface="Arial" panose="020B0604020202020204" pitchFamily="34" charset="0"/>
              <a:buChar char="•"/>
            </a:pPr>
            <a:r>
              <a:rPr sz="1500" lang="pt-BR">
                <a:solidFill>
                  <a:srgbClr val="000000"/>
                </a:solidFill>
              </a:rPr>
              <a:t>O serviço Cliente DNS nos computadores com Windows também otimiza o desempenho da decisão do nome DNS ao armazenar nomes previamente definidos na memória. O comando </a:t>
            </a:r>
            <a:r>
              <a:rPr sz="1500" b="true" lang="pt-BR">
                <a:solidFill>
                  <a:srgbClr val="000000"/>
                </a:solidFill>
              </a:rPr>
              <a:t>ipconfig /displaydns </a:t>
            </a:r>
            <a:r>
              <a:rPr sz="1500" lang="pt-BR">
                <a:solidFill>
                  <a:srgbClr val="000000"/>
                </a:solidFill>
              </a:rPr>
              <a:t>exibe todas as inserções do DNS em cache em um sistema de computador Windows.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0F893CF4-60E9-4E3D-99F3-F4100A64A537}"/>
              </a:ext>
            </a:extLst>
          </p:cNvPr>
          <p:cNvPicPr>
            <a:picLocks noChangeAspect="1"/>
          </p:cNvPicPr>
          <p:nvPr/>
        </p:nvPicPr>
        <p:blipFill>
          <a:blip r:embed="rId3"/>
          <a:stretch>
            <a:fillRect/>
          </a:stretch>
        </p:blipFill>
        <p:spPr>
          <a:xfrm>
            <a:off x="2532027" y="3503322"/>
            <a:ext cx="3281434" cy="1411433"/>
          </a:xfrm>
          <a:prstGeom prst="rect">
            <a:avLst/>
          </a:prstGeom>
        </p:spPr>
      </p:pic>
    </p:spTree>
    <p:extLst>
      <p:ext uri="{BB962C8B-B14F-4D97-AF65-F5344CB8AC3E}">
        <p14:creationId xmlns:p14="http://schemas.microsoft.com/office/powerpoint/2010/main" val="2132854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Configuração IP em um Host Linux</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00026" y="819151"/>
            <a:ext cx="4674322" cy="3602584"/>
          </a:xfrm>
        </p:spPr>
        <p:txBody>
          <a:bodyPr/>
          <a:lstStyle/>
          <a:p>
            <a:pPr marL="342900" indent="-342900" algn="l" rtl="0">
              <a:buFont typeface="Arial" panose="020B0604020202020204" pitchFamily="34" charset="0"/>
              <a:buChar char="•"/>
            </a:pPr>
            <a:r>
              <a:rPr sz="1600" lang="pt-BR">
                <a:solidFill>
                  <a:srgbClr val="000000"/>
                </a:solidFill>
              </a:rPr>
              <a:t>A verificação das configurações de IP usando a GUI em uma máquina Linux será diferente dependendo da distribuição Linux e da interface de desktop.</a:t>
            </a:r>
          </a:p>
          <a:p>
            <a:pPr marL="342900" indent="-342900" algn="l" rtl="0">
              <a:buFont typeface="Arial" panose="020B0604020202020204" pitchFamily="34" charset="0"/>
              <a:buChar char="•"/>
            </a:pPr>
            <a:r>
              <a:rPr sz="1600" lang="pt-BR">
                <a:solidFill>
                  <a:srgbClr val="000000"/>
                </a:solidFill>
              </a:rPr>
              <a:t>Na linha de comando, use o comando </a:t>
            </a:r>
            <a:r>
              <a:rPr sz="1600" b="true" lang="pt-BR">
                <a:solidFill>
                  <a:srgbClr val="000000"/>
                </a:solidFill>
              </a:rPr>
              <a:t>ifconfig</a:t>
            </a:r>
            <a:r>
              <a:rPr sz="1600" lang="pt-BR">
                <a:solidFill>
                  <a:srgbClr val="000000"/>
                </a:solidFill>
              </a:rPr>
              <a:t> para exibir o status das interfaces ativas no momento e sua configuração IP.</a:t>
            </a:r>
          </a:p>
          <a:p>
            <a:pPr marL="342900" indent="-342900" algn="l" rtl="0">
              <a:buFont typeface="Arial" panose="020B0604020202020204" pitchFamily="34" charset="0"/>
              <a:buChar char="•"/>
            </a:pPr>
            <a:r>
              <a:rPr sz="1600" lang="pt-BR">
                <a:solidFill>
                  <a:srgbClr val="000000"/>
                </a:solidFill>
              </a:rPr>
              <a:t>O comando </a:t>
            </a:r>
            <a:r>
              <a:rPr sz="1600" b="true" lang="pt-BR">
                <a:solidFill>
                  <a:srgbClr val="000000"/>
                </a:solidFill>
              </a:rPr>
              <a:t>IP address do</a:t>
            </a:r>
            <a:r>
              <a:rPr sz="1600" lang="pt-BR">
                <a:solidFill>
                  <a:srgbClr val="000000"/>
                </a:solidFill>
              </a:rPr>
              <a:t> Linux é usado para exibir endereços e suas propriedades. Ele também pode ser usado para adicionar ou excluir endereços IP.</a:t>
            </a:r>
          </a:p>
          <a:p>
            <a:pPr marL="0" indent="0" algn="l"/>
            <a:endParaRPr lang="en-US" sz="1600" b="1" dirty="0">
              <a:solidFill>
                <a:srgbClr val="000000"/>
              </a:solidFill>
            </a:endParaRPr>
          </a:p>
          <a:p>
            <a:pPr marL="0" indent="0" algn="l" rtl="0"/>
            <a:r>
              <a:rPr sz="1600" b="true" lang="pt-BR">
                <a:solidFill>
                  <a:srgbClr val="000000"/>
                </a:solidFill>
              </a:rPr>
              <a:t>Observação:</a:t>
            </a:r>
            <a:r>
              <a:rPr sz="1600" lang="pt-BR">
                <a:solidFill>
                  <a:srgbClr val="000000"/>
                </a:solidFill>
              </a:rPr>
              <a:t> A saída exibida pode variar dependendo da distribuição Linux. </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5D8F7B60-4A22-470D-88EE-376AE17104D4}"/>
              </a:ext>
            </a:extLst>
          </p:cNvPr>
          <p:cNvPicPr>
            <a:picLocks noChangeAspect="1"/>
          </p:cNvPicPr>
          <p:nvPr/>
        </p:nvPicPr>
        <p:blipFill>
          <a:blip r:embed="rId3"/>
          <a:stretch>
            <a:fillRect/>
          </a:stretch>
        </p:blipFill>
        <p:spPr>
          <a:xfrm>
            <a:off x="4874347" y="1131396"/>
            <a:ext cx="3794991" cy="2538903"/>
          </a:xfrm>
          <a:prstGeom prst="rect">
            <a:avLst/>
          </a:prstGeom>
        </p:spPr>
      </p:pic>
    </p:spTree>
    <p:extLst>
      <p:ext uri="{BB962C8B-B14F-4D97-AF65-F5344CB8AC3E}">
        <p14:creationId xmlns:p14="http://schemas.microsoft.com/office/powerpoint/2010/main" val="23268772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Configuração IP em um Host de MacOS</a:t>
            </a:r>
          </a:p>
        </p:txBody>
      </p:sp>
      <p:sp>
        <p:nvSpPr>
          <p:cNvPr id="6" name="Content Placeholder 5">
            <a:extLst>
              <a:ext uri="{FF2B5EF4-FFF2-40B4-BE49-F238E27FC236}">
                <a16:creationId xmlns:a16="http://schemas.microsoft.com/office/drawing/2014/main" id="{E018F0E6-A545-473E-A9D3-201EC6272E44}"/>
              </a:ext>
            </a:extLst>
          </p:cNvPr>
          <p:cNvSpPr>
            <a:spLocks noGrp="1"/>
          </p:cNvSpPr>
          <p:nvPr>
            <p:ph idx="1"/>
          </p:nvPr>
        </p:nvSpPr>
        <p:spPr>
          <a:xfrm>
            <a:off x="474662" y="864899"/>
            <a:ext cx="4305605" cy="3556835"/>
          </a:xfrm>
        </p:spPr>
        <p:txBody>
          <a:bodyPr/>
          <a:lstStyle/>
          <a:p>
            <a:pPr marL="285750" indent="-285750" algn="l" rtl="0">
              <a:buFont typeface="Arial" panose="020B0604020202020204" pitchFamily="34" charset="0"/>
              <a:buChar char="•"/>
            </a:pPr>
            <a:r>
              <a:rPr sz="1600" lang="pt-BR">
                <a:solidFill>
                  <a:srgbClr val="000000"/>
                </a:solidFill>
              </a:rPr>
              <a:t>Na GUI de um host Mac, abra </a:t>
            </a:r>
            <a:r>
              <a:rPr sz="1600" b="true" lang="pt-BR">
                <a:solidFill>
                  <a:srgbClr val="000000"/>
                </a:solidFill>
              </a:rPr>
              <a:t>Preferências de Rede &gt; Avançadas</a:t>
            </a:r>
            <a:r>
              <a:rPr sz="1600" lang="pt-BR">
                <a:solidFill>
                  <a:srgbClr val="000000"/>
                </a:solidFill>
              </a:rPr>
              <a:t> para obter as informações de endereçamento IP.</a:t>
            </a:r>
          </a:p>
          <a:p>
            <a:pPr marL="285750" indent="-285750" algn="l" rtl="0">
              <a:buFont typeface="Arial" panose="020B0604020202020204" pitchFamily="34" charset="0"/>
              <a:buChar char="•"/>
            </a:pPr>
            <a:r>
              <a:rPr sz="1600" lang="pt-BR">
                <a:solidFill>
                  <a:srgbClr val="000000"/>
                </a:solidFill>
              </a:rPr>
              <a:t>O comando </a:t>
            </a:r>
            <a:r>
              <a:rPr sz="1600" b="true" lang="pt-BR">
                <a:solidFill>
                  <a:srgbClr val="000000"/>
                </a:solidFill>
              </a:rPr>
              <a:t>ifconfig</a:t>
            </a:r>
            <a:r>
              <a:rPr sz="1600" lang="pt-BR">
                <a:solidFill>
                  <a:srgbClr val="000000"/>
                </a:solidFill>
              </a:rPr>
              <a:t> também pode ser usado para verificar a configuração IP da interface na linha de comando.</a:t>
            </a:r>
          </a:p>
          <a:p>
            <a:pPr marL="285750" indent="-285750" algn="l" rtl="0">
              <a:buFont typeface="Arial" panose="020B0604020202020204" pitchFamily="34" charset="0"/>
              <a:buChar char="•"/>
            </a:pPr>
            <a:r>
              <a:rPr sz="1600" lang="pt-BR">
                <a:solidFill>
                  <a:srgbClr val="000000"/>
                </a:solidFill>
              </a:rPr>
              <a:t>Outros comandos úteis do macOS para verificar as configurações de IP do host incluem </a:t>
            </a:r>
            <a:r>
              <a:rPr sz="1600" b="true" lang="pt-BR">
                <a:solidFill>
                  <a:srgbClr val="000000"/>
                </a:solidFill>
              </a:rPr>
              <a:t>networksetup -listallnetworkservices</a:t>
            </a:r>
            <a:r>
              <a:rPr sz="1600" lang="pt-BR">
                <a:solidFill>
                  <a:srgbClr val="000000"/>
                </a:solidFill>
              </a:rPr>
              <a:t> e </a:t>
            </a:r>
            <a:r>
              <a:rPr sz="1600" b="true" lang="pt-BR">
                <a:solidFill>
                  <a:srgbClr val="000000"/>
                </a:solidFill>
              </a:rPr>
              <a:t>networksetup -getinfo &lt; serviço de rede &gt; </a:t>
            </a:r>
            <a:r>
              <a:rPr sz="1600" lang="pt-BR">
                <a:solidFill>
                  <a:srgbClr val="000000"/>
                </a:solidFill>
              </a:rPr>
              <a:t>.</a:t>
            </a:r>
          </a:p>
        </p:txBody>
      </p:sp>
      <p:pic>
        <p:nvPicPr>
          <p:cNvPr id="7" name="Picture 6">
            <a:extLst>
              <a:ext uri="{FF2B5EF4-FFF2-40B4-BE49-F238E27FC236}">
                <a16:creationId xmlns:a16="http://schemas.microsoft.com/office/drawing/2014/main" id="{EE795C2D-8259-4647-9ACD-26D36EE5517C}"/>
              </a:ext>
            </a:extLst>
          </p:cNvPr>
          <p:cNvPicPr>
            <a:picLocks noChangeAspect="1"/>
          </p:cNvPicPr>
          <p:nvPr/>
        </p:nvPicPr>
        <p:blipFill>
          <a:blip r:embed="rId3"/>
          <a:stretch>
            <a:fillRect/>
          </a:stretch>
        </p:blipFill>
        <p:spPr>
          <a:xfrm>
            <a:off x="4780267" y="864899"/>
            <a:ext cx="4090199" cy="3115974"/>
          </a:xfrm>
          <a:prstGeom prst="rect">
            <a:avLst/>
          </a:prstGeom>
        </p:spPr>
      </p:pic>
    </p:spTree>
    <p:extLst>
      <p:ext uri="{BB962C8B-B14F-4D97-AF65-F5344CB8AC3E}">
        <p14:creationId xmlns:p14="http://schemas.microsoft.com/office/powerpoint/2010/main" val="3120388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O Comando arp.</a:t>
            </a:r>
          </a:p>
        </p:txBody>
      </p:sp>
      <p:sp>
        <p:nvSpPr>
          <p:cNvPr id="4" name="Content Placeholder 3">
            <a:extLst>
              <a:ext uri="{FF2B5EF4-FFF2-40B4-BE49-F238E27FC236}">
                <a16:creationId xmlns:a16="http://schemas.microsoft.com/office/drawing/2014/main" id="{CE59173F-7994-4B5D-8201-E7BBC1B93ED9}"/>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O comando </a:t>
            </a:r>
            <a:r>
              <a:rPr sz="1600" b="true" lang="pt-BR">
                <a:solidFill>
                  <a:srgbClr val="000000"/>
                </a:solidFill>
              </a:rPr>
              <a:t>arp</a:t>
            </a:r>
            <a:r>
              <a:rPr sz="1600" lang="pt-BR">
                <a:solidFill>
                  <a:srgbClr val="000000"/>
                </a:solidFill>
              </a:rPr>
              <a:t> é executado a partir do prompt de comando do Windows, Linux ou Mac. O comando lista todos os dispositivos atualmente no cache ARP do host.</a:t>
            </a:r>
          </a:p>
          <a:p>
            <a:pPr marL="342900" indent="-342900" algn="l" rtl="0">
              <a:buFont typeface="Arial" panose="020B0604020202020204" pitchFamily="34" charset="0"/>
              <a:buChar char="•"/>
            </a:pPr>
            <a:r>
              <a:rPr sz="1600" lang="pt-BR">
                <a:solidFill>
                  <a:srgbClr val="000000"/>
                </a:solidFill>
              </a:rPr>
              <a:t>O comando </a:t>
            </a:r>
            <a:r>
              <a:rPr sz="1600" b="true" lang="pt-BR">
                <a:solidFill>
                  <a:srgbClr val="000000"/>
                </a:solidFill>
              </a:rPr>
              <a:t>arp -a</a:t>
            </a:r>
            <a:r>
              <a:rPr sz="1600" lang="pt-BR">
                <a:solidFill>
                  <a:srgbClr val="000000"/>
                </a:solidFill>
              </a:rPr>
              <a:t> exibe o endereço IP conhecido e a vinculação de endereço MAC. O cache do ARP exibe apenas informações de dispositivos que foram acessados recentemente.</a:t>
            </a:r>
          </a:p>
          <a:p>
            <a:pPr marL="342900" indent="-342900" algn="l" rtl="0">
              <a:buFont typeface="Arial" panose="020B0604020202020204" pitchFamily="34" charset="0"/>
              <a:buChar char="•"/>
            </a:pPr>
            <a:r>
              <a:rPr sz="1600" lang="pt-BR">
                <a:solidFill>
                  <a:srgbClr val="000000"/>
                </a:solidFill>
              </a:rPr>
              <a:t>Para assegurar que a cache ARP esteja preenchida, faça </a:t>
            </a:r>
            <a:r>
              <a:rPr sz="1600" b="true" lang="pt-BR">
                <a:solidFill>
                  <a:srgbClr val="000000"/>
                </a:solidFill>
              </a:rPr>
              <a:t>ping</a:t>
            </a:r>
            <a:r>
              <a:rPr sz="1600" lang="pt-BR">
                <a:solidFill>
                  <a:srgbClr val="000000"/>
                </a:solidFill>
              </a:rPr>
              <a:t> em um dispositivo para que ele tenha uma entrada na tabela ARP.</a:t>
            </a:r>
          </a:p>
          <a:p>
            <a:pPr marL="342900" indent="-342900" algn="l" rtl="0">
              <a:buFont typeface="Arial" panose="020B0604020202020204" pitchFamily="34" charset="0"/>
              <a:buChar char="•"/>
            </a:pPr>
            <a:r>
              <a:rPr sz="1600" lang="pt-BR">
                <a:solidFill>
                  <a:srgbClr val="000000"/>
                </a:solidFill>
              </a:rPr>
              <a:t>O cache pode ser limpo usando o comando </a:t>
            </a:r>
            <a:r>
              <a:rPr sz="1600" b="true" lang="pt-BR">
                <a:solidFill>
                  <a:srgbClr val="000000"/>
                </a:solidFill>
              </a:rPr>
              <a:t>netsh interface ip delete arpcache</a:t>
            </a:r>
            <a:r>
              <a:rPr sz="1600" lang="pt-BR">
                <a:solidFill>
                  <a:srgbClr val="000000"/>
                </a:solidFill>
              </a:rPr>
              <a:t> e depois no caso em que o administrador da rede queira repovoar o cache com informações atualizadas.</a:t>
            </a:r>
          </a:p>
          <a:p>
            <a:pPr marL="73085" lvl="1" indent="0">
              <a:buNone/>
            </a:pPr>
            <a:endParaRPr lang="en-US" sz="1600" b="1" dirty="0">
              <a:solidFill>
                <a:srgbClr val="000000"/>
              </a:solidFill>
            </a:endParaRPr>
          </a:p>
          <a:p>
            <a:pPr marL="73085" lvl="1" indent="0" rtl="0">
              <a:buNone/>
            </a:pPr>
            <a:r>
              <a:rPr sz="1600" b="true" lang="pt-BR">
                <a:solidFill>
                  <a:srgbClr val="000000"/>
                </a:solidFill>
              </a:rPr>
              <a:t>Observação</a:t>
            </a:r>
            <a:r>
              <a:rPr sz="1600" lang="pt-BR">
                <a:solidFill>
                  <a:srgbClr val="000000"/>
                </a:solidFill>
              </a:rPr>
              <a:t>: Você pode precisar de acesso de administrador no host para poder usar o </a:t>
            </a:r>
            <a:r>
              <a:rPr sz="1600" lang="pt-BR">
                <a:solidFill>
                  <a:srgbClr val="000000"/>
                </a:solidFill>
              </a:rPr>
              <a:t> comando netsh interface ip delete arpcache.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94982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Comandos Comuns Revisitados: show </a:t>
            </a:r>
          </a:p>
        </p:txBody>
      </p:sp>
      <p:graphicFrame>
        <p:nvGraphicFramePr>
          <p:cNvPr id="5" name="Table 5">
            <a:extLst>
              <a:ext uri="{FF2B5EF4-FFF2-40B4-BE49-F238E27FC236}">
                <a16:creationId xmlns:a16="http://schemas.microsoft.com/office/drawing/2014/main" id="{E81AC101-DAAD-474F-AC42-6015A977BDCC}"/>
              </a:ext>
            </a:extLst>
          </p:cNvPr>
          <p:cNvGraphicFramePr>
            <a:graphicFrameLocks noGrp="1"/>
          </p:cNvGraphicFramePr>
          <p:nvPr>
            <p:ph idx="1"/>
            <p:extLst>
              <p:ext uri="{D42A27DB-BD31-4B8C-83A1-F6EECF244321}">
                <p14:modId xmlns:p14="http://schemas.microsoft.com/office/powerpoint/2010/main" val="2423166792"/>
              </p:ext>
            </p:extLst>
          </p:nvPr>
        </p:nvGraphicFramePr>
        <p:xfrm>
          <a:off x="474663" y="1347788"/>
          <a:ext cx="8280400" cy="2966720"/>
        </p:xfrm>
        <a:graphic>
          <a:graphicData uri="http://schemas.openxmlformats.org/drawingml/2006/table">
            <a:tbl>
              <a:tblPr firstRow="1" bandRow="1">
                <a:tableStyleId>{5C22544A-7EE6-4342-B048-85BDC9FD1C3A}</a:tableStyleId>
              </a:tblPr>
              <a:tblGrid>
                <a:gridCol w="2970501">
                  <a:extLst>
                    <a:ext uri="{9D8B030D-6E8A-4147-A177-3AD203B41FA5}">
                      <a16:colId xmlns:a16="http://schemas.microsoft.com/office/drawing/2014/main" val="223375126"/>
                    </a:ext>
                  </a:extLst>
                </a:gridCol>
                <a:gridCol w="5309899">
                  <a:extLst>
                    <a:ext uri="{9D8B030D-6E8A-4147-A177-3AD203B41FA5}">
                      <a16:colId xmlns:a16="http://schemas.microsoft.com/office/drawing/2014/main" val="3464202880"/>
                    </a:ext>
                  </a:extLst>
                </a:gridCol>
              </a:tblGrid>
              <a:tr h="370840">
                <a:tc>
                  <a:txBody>
                    <a:bodyPr/>
                    <a:lstStyle/>
                    <a:p>
                      <a:pPr rtl="0"/>
                      <a:r>
                        <a:rPr lang="pt-BR"/>
                        <a:t>Comando</a:t>
                      </a:r>
                    </a:p>
                  </a:txBody>
                  <a:tcPr/>
                </a:tc>
                <a:tc>
                  <a:txBody>
                    <a:bodyPr/>
                    <a:lstStyle/>
                    <a:p>
                      <a:pPr rtl="0"/>
                      <a:r>
                        <a:rPr lang="pt-BR"/>
                        <a:t>Descrição</a:t>
                      </a:r>
                    </a:p>
                  </a:txBody>
                  <a:tcPr/>
                </a:tc>
                <a:extLst>
                  <a:ext uri="{0D108BD9-81ED-4DB2-BD59-A6C34878D82A}">
                    <a16:rowId xmlns:a16="http://schemas.microsoft.com/office/drawing/2014/main" val="4117537356"/>
                  </a:ext>
                </a:extLst>
              </a:tr>
              <a:tr h="370840">
                <a:tc>
                  <a:txBody>
                    <a:bodyPr/>
                    <a:lstStyle/>
                    <a:p>
                      <a:pPr rtl="0"/>
                      <a:r>
                        <a:rPr lang="pt-BR"/>
                        <a:t>show running-config</a:t>
                      </a:r>
                    </a:p>
                  </a:txBody>
                  <a:tcPr/>
                </a:tc>
                <a:tc>
                  <a:txBody>
                    <a:bodyPr/>
                    <a:lstStyle/>
                    <a:p>
                      <a:pPr rtl="0"/>
                      <a:r>
                        <a:rPr lang="pt-BR"/>
                        <a:t>Verifica a configuração e as configurações atuais</a:t>
                      </a:r>
                    </a:p>
                  </a:txBody>
                  <a:tcPr/>
                </a:tc>
                <a:extLst>
                  <a:ext uri="{0D108BD9-81ED-4DB2-BD59-A6C34878D82A}">
                    <a16:rowId xmlns:a16="http://schemas.microsoft.com/office/drawing/2014/main" val="2176404569"/>
                  </a:ext>
                </a:extLst>
              </a:tr>
              <a:tr h="370840">
                <a:tc>
                  <a:txBody>
                    <a:bodyPr/>
                    <a:lstStyle/>
                    <a:p>
                      <a:pPr rtl="0"/>
                      <a:r>
                        <a:rPr lang="pt-BR"/>
                        <a:t>show interfaces</a:t>
                      </a:r>
                    </a:p>
                  </a:txBody>
                  <a:tcPr/>
                </a:tc>
                <a:tc>
                  <a:txBody>
                    <a:bodyPr/>
                    <a:lstStyle/>
                    <a:p>
                      <a:pPr rtl="0"/>
                      <a:r>
                        <a:rPr lang="pt-BR"/>
                        <a:t>Verifica o status da interface e exibe quaisquer mensagens de erro</a:t>
                      </a:r>
                    </a:p>
                  </a:txBody>
                  <a:tcPr/>
                </a:tc>
                <a:extLst>
                  <a:ext uri="{0D108BD9-81ED-4DB2-BD59-A6C34878D82A}">
                    <a16:rowId xmlns:a16="http://schemas.microsoft.com/office/drawing/2014/main" val="910297493"/>
                  </a:ext>
                </a:extLst>
              </a:tr>
              <a:tr h="370840">
                <a:tc>
                  <a:txBody>
                    <a:bodyPr/>
                    <a:lstStyle/>
                    <a:p>
                      <a:pPr rtl="0"/>
                      <a:r>
                        <a:rPr lang="pt-BR"/>
                        <a:t>show ip interface</a:t>
                      </a:r>
                    </a:p>
                  </a:txBody>
                  <a:tcPr/>
                </a:tc>
                <a:tc>
                  <a:txBody>
                    <a:bodyPr/>
                    <a:lstStyle/>
                    <a:p>
                      <a:pPr rtl="0"/>
                      <a:r>
                        <a:rPr lang="pt-BR"/>
                        <a:t>Verifica as informações da Camada 3 de uma interface</a:t>
                      </a:r>
                    </a:p>
                  </a:txBody>
                  <a:tcPr/>
                </a:tc>
                <a:extLst>
                  <a:ext uri="{0D108BD9-81ED-4DB2-BD59-A6C34878D82A}">
                    <a16:rowId xmlns:a16="http://schemas.microsoft.com/office/drawing/2014/main" val="1308024001"/>
                  </a:ext>
                </a:extLst>
              </a:tr>
              <a:tr h="370840">
                <a:tc>
                  <a:txBody>
                    <a:bodyPr/>
                    <a:lstStyle/>
                    <a:p>
                      <a:pPr rtl="0"/>
                      <a:r>
                        <a:rPr lang="pt-BR"/>
                        <a:t>show arp</a:t>
                      </a:r>
                    </a:p>
                  </a:txBody>
                  <a:tcPr/>
                </a:tc>
                <a:tc>
                  <a:txBody>
                    <a:bodyPr/>
                    <a:lstStyle/>
                    <a:p>
                      <a:pPr rtl="0"/>
                      <a:r>
                        <a:rPr lang="pt-BR"/>
                        <a:t>Verifica a lista de hosts conhecidos nas LANs Ethernet locais</a:t>
                      </a:r>
                    </a:p>
                  </a:txBody>
                  <a:tcPr/>
                </a:tc>
                <a:extLst>
                  <a:ext uri="{0D108BD9-81ED-4DB2-BD59-A6C34878D82A}">
                    <a16:rowId xmlns:a16="http://schemas.microsoft.com/office/drawing/2014/main" val="2805593407"/>
                  </a:ext>
                </a:extLst>
              </a:tr>
              <a:tr h="370840">
                <a:tc>
                  <a:txBody>
                    <a:bodyPr/>
                    <a:lstStyle/>
                    <a:p>
                      <a:pPr rtl="0"/>
                      <a:r>
                        <a:rPr lang="pt-BR"/>
                        <a:t>show ip route</a:t>
                      </a:r>
                    </a:p>
                  </a:txBody>
                  <a:tcPr/>
                </a:tc>
                <a:tc>
                  <a:txBody>
                    <a:bodyPr/>
                    <a:lstStyle/>
                    <a:p>
                      <a:pPr rtl="0"/>
                      <a:r>
                        <a:rPr lang="pt-BR"/>
                        <a:t>Verifica as informações de roteamento da Camada 3</a:t>
                      </a:r>
                    </a:p>
                  </a:txBody>
                  <a:tcPr/>
                </a:tc>
                <a:extLst>
                  <a:ext uri="{0D108BD9-81ED-4DB2-BD59-A6C34878D82A}">
                    <a16:rowId xmlns:a16="http://schemas.microsoft.com/office/drawing/2014/main" val="2189178930"/>
                  </a:ext>
                </a:extLst>
              </a:tr>
              <a:tr h="370840">
                <a:tc>
                  <a:txBody>
                    <a:bodyPr/>
                    <a:lstStyle/>
                    <a:p>
                      <a:pPr rtl="0"/>
                      <a:r>
                        <a:rPr lang="pt-BR"/>
                        <a:t>show protocols</a:t>
                      </a:r>
                    </a:p>
                  </a:txBody>
                  <a:tcPr/>
                </a:tc>
                <a:tc>
                  <a:txBody>
                    <a:bodyPr/>
                    <a:lstStyle/>
                    <a:p>
                      <a:pPr rtl="0"/>
                      <a:r>
                        <a:rPr lang="pt-BR"/>
                        <a:t>Verifica quais protocolos estão operacionais</a:t>
                      </a:r>
                    </a:p>
                  </a:txBody>
                  <a:tcPr/>
                </a:tc>
                <a:extLst>
                  <a:ext uri="{0D108BD9-81ED-4DB2-BD59-A6C34878D82A}">
                    <a16:rowId xmlns:a16="http://schemas.microsoft.com/office/drawing/2014/main" val="1028142805"/>
                  </a:ext>
                </a:extLst>
              </a:tr>
              <a:tr h="370840">
                <a:tc>
                  <a:txBody>
                    <a:bodyPr/>
                    <a:lstStyle/>
                    <a:p>
                      <a:pPr rtl="0"/>
                      <a:r>
                        <a:rPr lang="pt-BR"/>
                        <a:t>show version</a:t>
                      </a:r>
                    </a:p>
                  </a:txBody>
                  <a:tcPr/>
                </a:tc>
                <a:tc>
                  <a:txBody>
                    <a:bodyPr/>
                    <a:lstStyle/>
                    <a:p>
                      <a:pPr rtl="0"/>
                      <a:r>
                        <a:rPr lang="pt-BR"/>
                        <a:t>Verifica a memória, as interfaces e as licenças do dispositivo</a:t>
                      </a:r>
                    </a:p>
                  </a:txBody>
                  <a:tcPr/>
                </a:tc>
                <a:extLst>
                  <a:ext uri="{0D108BD9-81ED-4DB2-BD59-A6C34878D82A}">
                    <a16:rowId xmlns:a16="http://schemas.microsoft.com/office/drawing/2014/main" val="3332621555"/>
                  </a:ext>
                </a:extLst>
              </a:tr>
            </a:tbl>
          </a:graphicData>
        </a:graphic>
      </p:graphicFrame>
    </p:spTree>
    <p:extLst>
      <p:ext uri="{BB962C8B-B14F-4D97-AF65-F5344CB8AC3E}">
        <p14:creationId xmlns:p14="http://schemas.microsoft.com/office/powerpoint/2010/main" val="34141508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O Comando show cdp neighbors</a:t>
            </a:r>
          </a:p>
        </p:txBody>
      </p:sp>
      <p:sp>
        <p:nvSpPr>
          <p:cNvPr id="4" name="Content Placeholder 3">
            <a:extLst>
              <a:ext uri="{FF2B5EF4-FFF2-40B4-BE49-F238E27FC236}">
                <a16:creationId xmlns:a16="http://schemas.microsoft.com/office/drawing/2014/main" id="{682697CA-53E5-4917-B256-83476300494D}"/>
              </a:ext>
            </a:extLst>
          </p:cNvPr>
          <p:cNvSpPr>
            <a:spLocks noGrp="1"/>
          </p:cNvSpPr>
          <p:nvPr>
            <p:ph idx="1"/>
          </p:nvPr>
        </p:nvSpPr>
        <p:spPr>
          <a:xfrm>
            <a:off x="152400" y="731837"/>
            <a:ext cx="8602319" cy="2782888"/>
          </a:xfrm>
        </p:spPr>
        <p:txBody>
          <a:bodyPr/>
          <a:lstStyle/>
          <a:p>
            <a:pPr marL="0" indent="0" algn="l" rtl="0"/>
            <a:r>
              <a:rPr sz="1600" lang="pt-BR">
                <a:solidFill>
                  <a:srgbClr val="000000"/>
                </a:solidFill>
              </a:rPr>
              <a:t>O CDP fornece as seguintes informações sobre cada dispositivo CDP vizinho:</a:t>
            </a:r>
          </a:p>
          <a:p>
            <a:pPr marL="415985" lvl="1" indent="-342900" rtl="0">
              <a:buFont typeface="Arial" panose="020B0604020202020204" pitchFamily="34" charset="0"/>
              <a:buChar char="•"/>
            </a:pPr>
            <a:r>
              <a:rPr sz="1600" b="true" lang="pt-BR">
                <a:solidFill>
                  <a:srgbClr val="000000"/>
                </a:solidFill>
              </a:rPr>
              <a:t>Identificadores </a:t>
            </a:r>
            <a:r>
              <a:rPr sz="1600" lang="pt-BR">
                <a:solidFill>
                  <a:srgbClr val="000000"/>
                </a:solidFill>
              </a:rPr>
              <a:t>de dispositivo- O nome do host configurado de um switch, roteador ou outro dispositivo</a:t>
            </a:r>
          </a:p>
          <a:p>
            <a:pPr marL="415985" lvl="1" indent="-342900" rtl="0">
              <a:buFont typeface="Arial" panose="020B0604020202020204" pitchFamily="34" charset="0"/>
              <a:buChar char="•"/>
            </a:pPr>
            <a:r>
              <a:rPr sz="1600" lang="pt-BR">
                <a:solidFill>
                  <a:srgbClr val="000000"/>
                </a:solidFill>
              </a:rPr>
              <a:t>Lista de endereços</a:t>
            </a:r>
            <a:r>
              <a:rPr sz="1600" b="true" lang="pt-BR">
                <a:solidFill>
                  <a:srgbClr val="000000"/>
                </a:solidFill>
              </a:rPr>
              <a:t> - pelo menos um endereço de camada de rede para cada protocolo compatível</a:t>
            </a:r>
          </a:p>
          <a:p>
            <a:pPr marL="415985" lvl="1" indent="-342900" rtl="0">
              <a:buFont typeface="Arial" panose="020B0604020202020204" pitchFamily="34" charset="0"/>
              <a:buChar char="•"/>
            </a:pPr>
            <a:r>
              <a:rPr sz="1600" lang="pt-BR">
                <a:solidFill>
                  <a:srgbClr val="000000"/>
                </a:solidFill>
              </a:rPr>
              <a:t>Identificador de porta</a:t>
            </a:r>
            <a:r>
              <a:rPr sz="1600" b="true" lang="pt-BR">
                <a:solidFill>
                  <a:srgbClr val="000000"/>
                </a:solidFill>
              </a:rPr>
              <a:t> - o nome de uma porta local e remota na forma de uma string de caracteres ASCII, como FastEthernet 0/0</a:t>
            </a:r>
          </a:p>
          <a:p>
            <a:pPr marL="415985" lvl="1" indent="-342900" rtl="0">
              <a:buFont typeface="Arial" panose="020B0604020202020204" pitchFamily="34" charset="0"/>
              <a:buChar char="•"/>
            </a:pPr>
            <a:r>
              <a:rPr sz="1600" b="true" lang="pt-BR">
                <a:solidFill>
                  <a:srgbClr val="000000"/>
                </a:solidFill>
              </a:rPr>
              <a:t>Lista de capacidades</a:t>
            </a:r>
            <a:r>
              <a:rPr sz="1600" lang="pt-BR">
                <a:solidFill>
                  <a:srgbClr val="000000"/>
                </a:solidFill>
              </a:rPr>
              <a:t> - Se um dispositivo específico é um switch de Camada 2 ou um switch de Camada 3</a:t>
            </a:r>
          </a:p>
          <a:p>
            <a:pPr marL="415985" lvl="1" indent="-342900" rtl="0">
              <a:buFont typeface="Arial" panose="020B0604020202020204" pitchFamily="34" charset="0"/>
              <a:buChar char="•"/>
            </a:pPr>
            <a:r>
              <a:rPr sz="1600" lang="pt-BR">
                <a:solidFill>
                  <a:srgbClr val="000000"/>
                </a:solidFill>
              </a:rPr>
              <a:t>Plataforma</a:t>
            </a:r>
            <a:r>
              <a:rPr sz="1600" b="true" lang="pt-BR">
                <a:solidFill>
                  <a:srgbClr val="000000"/>
                </a:solidFill>
              </a:rPr>
              <a:t> - A plataforma de hardware do dispositivo</a:t>
            </a:r>
          </a:p>
          <a:p>
            <a:pPr marL="73085" lvl="1" indent="0" rtl="0">
              <a:buNone/>
            </a:pPr>
            <a:r>
              <a:rPr sz="1600" lang="pt-BR">
                <a:solidFill>
                  <a:srgbClr val="000000"/>
                </a:solidFill>
              </a:rPr>
              <a:t>O comando </a:t>
            </a:r>
            <a:r>
              <a:rPr sz="1600" b="true" lang="pt-BR">
                <a:solidFill>
                  <a:srgbClr val="000000"/>
                </a:solidFill>
              </a:rPr>
              <a:t>show cdp neighbors detail</a:t>
            </a:r>
            <a:r>
              <a:rPr sz="1600" lang="pt-BR">
                <a:solidFill>
                  <a:srgbClr val="000000"/>
                </a:solidFill>
              </a:rPr>
              <a:t> revela o endereço IP de um dispositivo vizinho.</a:t>
            </a:r>
          </a:p>
        </p:txBody>
      </p:sp>
      <p:pic>
        <p:nvPicPr>
          <p:cNvPr id="5" name="Picture 4">
            <a:extLst>
              <a:ext uri="{FF2B5EF4-FFF2-40B4-BE49-F238E27FC236}">
                <a16:creationId xmlns:a16="http://schemas.microsoft.com/office/drawing/2014/main" id="{A3AB24B0-9083-40E2-B530-7804CE5CE215}"/>
              </a:ext>
            </a:extLst>
          </p:cNvPr>
          <p:cNvPicPr>
            <a:picLocks noChangeAspect="1"/>
          </p:cNvPicPr>
          <p:nvPr/>
        </p:nvPicPr>
        <p:blipFill>
          <a:blip r:embed="rId3"/>
          <a:stretch>
            <a:fillRect/>
          </a:stretch>
        </p:blipFill>
        <p:spPr>
          <a:xfrm>
            <a:off x="1816394" y="3328959"/>
            <a:ext cx="4712700" cy="1471353"/>
          </a:xfrm>
          <a:prstGeom prst="rect">
            <a:avLst/>
          </a:prstGeom>
        </p:spPr>
      </p:pic>
    </p:spTree>
    <p:extLst>
      <p:ext uri="{BB962C8B-B14F-4D97-AF65-F5344CB8AC3E}">
        <p14:creationId xmlns:p14="http://schemas.microsoft.com/office/powerpoint/2010/main" val="37491670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O Comando show ip interface brief</a:t>
            </a:r>
          </a:p>
        </p:txBody>
      </p:sp>
      <p:sp>
        <p:nvSpPr>
          <p:cNvPr id="6" name="Content Placeholder 5">
            <a:extLst>
              <a:ext uri="{FF2B5EF4-FFF2-40B4-BE49-F238E27FC236}">
                <a16:creationId xmlns:a16="http://schemas.microsoft.com/office/drawing/2014/main" id="{07860DBB-DE49-4AE4-8013-02A3A77F3FF2}"/>
              </a:ext>
            </a:extLst>
          </p:cNvPr>
          <p:cNvSpPr>
            <a:spLocks noGrp="1"/>
          </p:cNvSpPr>
          <p:nvPr>
            <p:ph idx="1"/>
          </p:nvPr>
        </p:nvSpPr>
        <p:spPr>
          <a:xfrm>
            <a:off x="474662" y="731838"/>
            <a:ext cx="8280057" cy="1030962"/>
          </a:xfrm>
        </p:spPr>
        <p:txBody>
          <a:bodyPr/>
          <a:lstStyle/>
          <a:p>
            <a:pPr marL="0" indent="0" algn="l" rtl="0"/>
            <a:r>
              <a:rPr sz="1600" lang="pt-BR">
                <a:solidFill>
                  <a:srgbClr val="000000"/>
                </a:solidFill>
              </a:rPr>
              <a:t>Um dos comandos mais usados é o comando </a:t>
            </a:r>
            <a:r>
              <a:rPr sz="1600" b="true" lang="pt-BR">
                <a:solidFill>
                  <a:srgbClr val="000000"/>
                </a:solidFill>
              </a:rPr>
              <a:t>show ip interface brief</a:t>
            </a:r>
            <a:r>
              <a:rPr sz="1600" lang="pt-BR">
                <a:solidFill>
                  <a:srgbClr val="000000"/>
                </a:solidFill>
              </a:rPr>
              <a:t>. Ele exibe um resultado mais abreviado do que o comando </a:t>
            </a:r>
            <a:r>
              <a:rPr sz="1600" b="true" lang="pt-BR">
                <a:solidFill>
                  <a:srgbClr val="000000"/>
                </a:solidFill>
              </a:rPr>
              <a:t>show ip interface</a:t>
            </a:r>
            <a:r>
              <a:rPr sz="1600" lang="pt-BR">
                <a:solidFill>
                  <a:srgbClr val="000000"/>
                </a:solidFill>
              </a:rPr>
              <a:t>. Ele exibe um resumo das principais informações para todas as interfaces de rede em um roteador.</a:t>
            </a:r>
          </a:p>
        </p:txBody>
      </p:sp>
      <p:pic>
        <p:nvPicPr>
          <p:cNvPr id="7" name="Picture 6">
            <a:extLst>
              <a:ext uri="{FF2B5EF4-FFF2-40B4-BE49-F238E27FC236}">
                <a16:creationId xmlns:a16="http://schemas.microsoft.com/office/drawing/2014/main" id="{F0647FC5-ABF0-438E-A9BB-833147EAD8E9}"/>
              </a:ext>
            </a:extLst>
          </p:cNvPr>
          <p:cNvPicPr>
            <a:picLocks noChangeAspect="1"/>
          </p:cNvPicPr>
          <p:nvPr/>
        </p:nvPicPr>
        <p:blipFill>
          <a:blip r:embed="rId3"/>
          <a:stretch>
            <a:fillRect/>
          </a:stretch>
        </p:blipFill>
        <p:spPr>
          <a:xfrm>
            <a:off x="474662" y="1762799"/>
            <a:ext cx="5019387" cy="1495296"/>
          </a:xfrm>
          <a:prstGeom prst="rect">
            <a:avLst/>
          </a:prstGeom>
        </p:spPr>
      </p:pic>
      <p:pic>
        <p:nvPicPr>
          <p:cNvPr id="8" name="Picture 7">
            <a:extLst>
              <a:ext uri="{FF2B5EF4-FFF2-40B4-BE49-F238E27FC236}">
                <a16:creationId xmlns:a16="http://schemas.microsoft.com/office/drawing/2014/main" id="{CAD498DC-FF3F-4E29-A019-771BE1DEF03D}"/>
              </a:ext>
            </a:extLst>
          </p:cNvPr>
          <p:cNvPicPr>
            <a:picLocks noChangeAspect="1"/>
          </p:cNvPicPr>
          <p:nvPr/>
        </p:nvPicPr>
        <p:blipFill>
          <a:blip r:embed="rId4"/>
          <a:stretch>
            <a:fillRect/>
          </a:stretch>
        </p:blipFill>
        <p:spPr>
          <a:xfrm>
            <a:off x="3367520" y="3258095"/>
            <a:ext cx="5202382" cy="1260943"/>
          </a:xfrm>
          <a:prstGeom prst="rect">
            <a:avLst/>
          </a:prstGeom>
        </p:spPr>
      </p:pic>
    </p:spTree>
    <p:extLst>
      <p:ext uri="{BB962C8B-B14F-4D97-AF65-F5344CB8AC3E}">
        <p14:creationId xmlns:p14="http://schemas.microsoft.com/office/powerpoint/2010/main" val="26480049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Vídeo – O Comando show version </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rtl="0"/>
            <a:r>
              <a:rPr sz="1600" lang="pt-BR">
                <a:solidFill>
                  <a:srgbClr val="000000"/>
                </a:solidFill>
              </a:rPr>
              <a:t>Este vídeo demonstrará o uso do comando show version para visualizar informações sobre o roteador.</a:t>
            </a:r>
          </a:p>
        </p:txBody>
      </p:sp>
    </p:spTree>
    <p:extLst>
      <p:ext uri="{BB962C8B-B14F-4D97-AF65-F5344CB8AC3E}">
        <p14:creationId xmlns:p14="http://schemas.microsoft.com/office/powerpoint/2010/main" val="858778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Comandos de Host e IOS</a:t>
            </a:r>
            <a:br>
              <a:rPr lang="en-US" dirty="0"/>
            </a:br>
            <a:r>
              <a:rPr sz="2400" lang="pt-BR"/>
              <a:t>Packet Tracer – Interpretar a Saída do Comando show </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rtl="0"/>
            <a:r>
              <a:rPr sz="1600" lang="pt-BR">
                <a:solidFill>
                  <a:srgbClr val="000000"/>
                </a:solidFill>
              </a:rPr>
              <a:t>Esta atividade foi planejada como complemento sobre o uso dos comandos </a:t>
            </a:r>
            <a:r>
              <a:rPr sz="1600" b="true" lang="pt-BR">
                <a:solidFill>
                  <a:srgbClr val="000000"/>
                </a:solidFill>
              </a:rPr>
              <a:t>show</a:t>
            </a:r>
            <a:r>
              <a:rPr sz="1600" lang="pt-BR">
                <a:solidFill>
                  <a:srgbClr val="000000"/>
                </a:solidFill>
              </a:rPr>
              <a:t> do roteador. Você não precisa configurar, mas sim analisar a saída de vários comandos show.</a:t>
            </a:r>
          </a:p>
        </p:txBody>
      </p:sp>
    </p:spTree>
    <p:extLst>
      <p:ext uri="{BB962C8B-B14F-4D97-AF65-F5344CB8AC3E}">
        <p14:creationId xmlns:p14="http://schemas.microsoft.com/office/powerpoint/2010/main" val="4895488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17.6 – Metodologias de Solução de Problemas</a:t>
            </a:r>
          </a:p>
        </p:txBody>
      </p:sp>
    </p:spTree>
    <p:custDataLst>
      <p:tags r:id="rId1"/>
    </p:custDataLst>
    <p:extLst>
      <p:ext uri="{BB962C8B-B14F-4D97-AF65-F5344CB8AC3E}">
        <p14:creationId xmlns:p14="http://schemas.microsoft.com/office/powerpoint/2010/main" val="2608388123"/>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Metodologias de Solução de Problemas</a:t>
            </a:r>
            <a:br>
              <a:rPr lang="en-US" dirty="0"/>
            </a:br>
            <a:r>
              <a:rPr sz="2400" lang="pt-BR"/>
              <a:t>Abordagens Básicas de Solução de Problemas</a:t>
            </a:r>
          </a:p>
        </p:txBody>
      </p:sp>
      <p:graphicFrame>
        <p:nvGraphicFramePr>
          <p:cNvPr id="6" name="Table 6">
            <a:extLst>
              <a:ext uri="{FF2B5EF4-FFF2-40B4-BE49-F238E27FC236}">
                <a16:creationId xmlns:a16="http://schemas.microsoft.com/office/drawing/2014/main" id="{FCB8A362-58F7-4A60-8CA1-C114AA46E938}"/>
              </a:ext>
            </a:extLst>
          </p:cNvPr>
          <p:cNvGraphicFramePr>
            <a:graphicFrameLocks noGrp="1"/>
          </p:cNvGraphicFramePr>
          <p:nvPr>
            <p:extLst>
              <p:ext uri="{D42A27DB-BD31-4B8C-83A1-F6EECF244321}">
                <p14:modId xmlns:p14="http://schemas.microsoft.com/office/powerpoint/2010/main" val="3134048965"/>
              </p:ext>
            </p:extLst>
          </p:nvPr>
        </p:nvGraphicFramePr>
        <p:xfrm>
          <a:off x="332510" y="637310"/>
          <a:ext cx="8506690" cy="4099728"/>
        </p:xfrm>
        <a:graphic>
          <a:graphicData uri="http://schemas.openxmlformats.org/drawingml/2006/table">
            <a:tbl>
              <a:tblPr firstRow="1" bandRow="1">
                <a:tableStyleId>{5C22544A-7EE6-4342-B048-85BDC9FD1C3A}</a:tableStyleId>
              </a:tblPr>
              <a:tblGrid>
                <a:gridCol w="3038763">
                  <a:extLst>
                    <a:ext uri="{9D8B030D-6E8A-4147-A177-3AD203B41FA5}">
                      <a16:colId xmlns:a16="http://schemas.microsoft.com/office/drawing/2014/main" val="2245074904"/>
                    </a:ext>
                  </a:extLst>
                </a:gridCol>
                <a:gridCol w="5467927">
                  <a:extLst>
                    <a:ext uri="{9D8B030D-6E8A-4147-A177-3AD203B41FA5}">
                      <a16:colId xmlns:a16="http://schemas.microsoft.com/office/drawing/2014/main" val="1707349653"/>
                    </a:ext>
                  </a:extLst>
                </a:gridCol>
              </a:tblGrid>
              <a:tr h="338947">
                <a:tc>
                  <a:txBody>
                    <a:bodyPr/>
                    <a:lstStyle/>
                    <a:p>
                      <a:pPr algn="l" fontAlgn="ctr" rtl="0"/>
                      <a:r>
                        <a:rPr sz="1200" lang="pt-BR">
                          <a:effectLst/>
                        </a:rPr>
                        <a:t>Etapa</a:t>
                      </a:r>
                    </a:p>
                  </a:txBody>
                  <a:tcPr marL="47625" marR="47625" marT="47625" marB="47625" anchor="ctr"/>
                </a:tc>
                <a:tc>
                  <a:txBody>
                    <a:bodyPr/>
                    <a:lstStyle/>
                    <a:p>
                      <a:pPr algn="l" fontAlgn="ctr" rtl="0"/>
                      <a:r>
                        <a:rPr sz="1200" b="true" lang="pt-BR">
                          <a:effectLst/>
                        </a:rPr>
                        <a:t>Descrição</a:t>
                      </a:r>
                    </a:p>
                  </a:txBody>
                  <a:tcPr marL="47625" marR="47625" marT="47625" marB="47625" anchor="ctr"/>
                </a:tc>
                <a:extLst>
                  <a:ext uri="{0D108BD9-81ED-4DB2-BD59-A6C34878D82A}">
                    <a16:rowId xmlns:a16="http://schemas.microsoft.com/office/drawing/2014/main" val="972381799"/>
                  </a:ext>
                </a:extLst>
              </a:tr>
              <a:tr h="588515">
                <a:tc>
                  <a:txBody>
                    <a:bodyPr/>
                    <a:lstStyle/>
                    <a:p>
                      <a:pPr fontAlgn="ctr" rtl="0"/>
                      <a:r>
                        <a:rPr sz="1200" b="true" lang="pt-BR">
                          <a:effectLst/>
                        </a:rPr>
                        <a:t>Etapa 1. Identificar o Problema</a:t>
                      </a:r>
                    </a:p>
                  </a:txBody>
                  <a:tcPr marL="47625" marR="47625" marT="47625" marB="47625" anchor="ctr"/>
                </a:tc>
                <a:tc>
                  <a:txBody>
                    <a:bodyPr/>
                    <a:lstStyle/>
                    <a:p>
                      <a:pPr fontAlgn="ctr" rtl="0">
                        <a:buFont typeface="Arial" panose="020B0604020202020204" pitchFamily="34" charset="0"/>
                        <a:buChar char="•"/>
                      </a:pPr>
                      <a:r>
                        <a:rPr sz="1200" b="false" lang="pt-BR">
                          <a:effectLst/>
                        </a:rPr>
                        <a:t>A primeira etapa no processo de solução de problemas.</a:t>
                      </a:r>
                    </a:p>
                    <a:p>
                      <a:pPr fontAlgn="ctr" rtl="0">
                        <a:buFont typeface="Arial" panose="020B0604020202020204" pitchFamily="34" charset="0"/>
                        <a:buChar char="•"/>
                      </a:pPr>
                      <a:r>
                        <a:rPr sz="1200" b="false" lang="pt-BR">
                          <a:effectLst/>
                        </a:rPr>
                        <a:t>Embora ferramentas possam ser usadas nesta etapa, uma conversa com o usuário geralmente é muito útil.</a:t>
                      </a:r>
                    </a:p>
                  </a:txBody>
                  <a:tcPr marL="47625" marR="47625" marT="47625" marB="47625" anchor="ctr"/>
                </a:tc>
                <a:extLst>
                  <a:ext uri="{0D108BD9-81ED-4DB2-BD59-A6C34878D82A}">
                    <a16:rowId xmlns:a16="http://schemas.microsoft.com/office/drawing/2014/main" val="1578081030"/>
                  </a:ext>
                </a:extLst>
              </a:tr>
              <a:tr h="421363">
                <a:tc>
                  <a:txBody>
                    <a:bodyPr/>
                    <a:lstStyle/>
                    <a:p>
                      <a:pPr fontAlgn="ctr" rtl="0"/>
                      <a:r>
                        <a:rPr sz="1200" b="true" lang="pt-BR">
                          <a:effectLst/>
                        </a:rPr>
                        <a:t>Etapa 2. Estabelecer uma teoria de causas prováveis</a:t>
                      </a:r>
                    </a:p>
                  </a:txBody>
                  <a:tcPr marL="47625" marR="47625" marT="47625" marB="47625" anchor="ctr"/>
                </a:tc>
                <a:tc>
                  <a:txBody>
                    <a:bodyPr/>
                    <a:lstStyle/>
                    <a:p>
                      <a:pPr fontAlgn="ctr" rtl="0">
                        <a:buFont typeface="Arial" panose="020B0604020202020204" pitchFamily="34" charset="0"/>
                        <a:buChar char="•"/>
                      </a:pPr>
                      <a:r>
                        <a:rPr sz="1200" b="false" lang="pt-BR">
                          <a:effectLst/>
                        </a:rPr>
                        <a:t>Depois que o problema é identificado, tente estabelecer uma teoria de causas prováveis.</a:t>
                      </a:r>
                    </a:p>
                    <a:p>
                      <a:pPr fontAlgn="ctr" rtl="0">
                        <a:buFont typeface="Arial" panose="020B0604020202020204" pitchFamily="34" charset="0"/>
                        <a:buChar char="•"/>
                      </a:pPr>
                      <a:r>
                        <a:rPr sz="1200" b="false" lang="pt-BR">
                          <a:effectLst/>
                        </a:rPr>
                        <a:t>Esta etapa renderá algumas causas prováveis do problema.</a:t>
                      </a:r>
                    </a:p>
                  </a:txBody>
                  <a:tcPr marL="47625" marR="47625" marT="47625" marB="47625" anchor="ctr"/>
                </a:tc>
                <a:extLst>
                  <a:ext uri="{0D108BD9-81ED-4DB2-BD59-A6C34878D82A}">
                    <a16:rowId xmlns:a16="http://schemas.microsoft.com/office/drawing/2014/main" val="3071355853"/>
                  </a:ext>
                </a:extLst>
              </a:tr>
              <a:tr h="1089971">
                <a:tc>
                  <a:txBody>
                    <a:bodyPr/>
                    <a:lstStyle/>
                    <a:p>
                      <a:pPr fontAlgn="ctr" rtl="0"/>
                      <a:r>
                        <a:rPr sz="1200" b="true" lang="pt-BR">
                          <a:effectLst/>
                        </a:rPr>
                        <a:t>Etapa 3. Testar a Teoria para Determinar a Causa</a:t>
                      </a:r>
                    </a:p>
                  </a:txBody>
                  <a:tcPr marL="47625" marR="47625" marT="47625" marB="47625" anchor="ctr"/>
                </a:tc>
                <a:tc>
                  <a:txBody>
                    <a:bodyPr/>
                    <a:lstStyle/>
                    <a:p>
                      <a:pPr fontAlgn="ctr" rtl="0">
                        <a:buFont typeface="Arial" panose="020B0604020202020204" pitchFamily="34" charset="0"/>
                        <a:buChar char="•"/>
                      </a:pPr>
                      <a:r>
                        <a:rPr sz="1200" b="false" lang="pt-BR">
                          <a:effectLst/>
                        </a:rPr>
                        <a:t>De acordo com as causas prováveis, teste suas teorias para determinar qual delas é a causa do problema.</a:t>
                      </a:r>
                    </a:p>
                    <a:p>
                      <a:pPr fontAlgn="ctr" rtl="0">
                        <a:buFont typeface="Arial" panose="020B0604020202020204" pitchFamily="34" charset="0"/>
                        <a:buChar char="•"/>
                      </a:pPr>
                      <a:r>
                        <a:rPr sz="1200" b="false" lang="pt-BR">
                          <a:effectLst/>
                        </a:rPr>
                        <a:t>Um técnico pode aplicar uma solução rápida para testar e verificar se resolve o problema.</a:t>
                      </a:r>
                    </a:p>
                    <a:p>
                      <a:pPr fontAlgn="ctr" rtl="0">
                        <a:buFont typeface="Arial" panose="020B0604020202020204" pitchFamily="34" charset="0"/>
                        <a:buChar char="•"/>
                      </a:pPr>
                      <a:r>
                        <a:rPr sz="1200" b="false" lang="pt-BR">
                          <a:effectLst/>
                        </a:rPr>
                        <a:t>Se uma solução rápida não corrigir o problema, talvez seja necessário pesquisar mais sobre o problema para estabelecer a causa exata.</a:t>
                      </a:r>
                    </a:p>
                  </a:txBody>
                  <a:tcPr marL="47625" marR="47625" marT="47625" marB="47625" anchor="ctr"/>
                </a:tc>
                <a:extLst>
                  <a:ext uri="{0D108BD9-81ED-4DB2-BD59-A6C34878D82A}">
                    <a16:rowId xmlns:a16="http://schemas.microsoft.com/office/drawing/2014/main" val="2284438502"/>
                  </a:ext>
                </a:extLst>
              </a:tr>
              <a:tr h="421363">
                <a:tc>
                  <a:txBody>
                    <a:bodyPr/>
                    <a:lstStyle/>
                    <a:p>
                      <a:pPr fontAlgn="ctr" rtl="0"/>
                      <a:r>
                        <a:rPr sz="1200" b="true" lang="pt-BR">
                          <a:effectLst/>
                        </a:rPr>
                        <a:t>Etapa 4. Estabelecer um plano de ação e implementar a solução</a:t>
                      </a:r>
                    </a:p>
                  </a:txBody>
                  <a:tcPr marL="47625" marR="47625" marT="47625" marB="47625" anchor="ctr"/>
                </a:tc>
                <a:tc>
                  <a:txBody>
                    <a:bodyPr/>
                    <a:lstStyle/>
                    <a:p>
                      <a:pPr fontAlgn="ctr" rtl="0"/>
                      <a:r>
                        <a:rPr sz="1200" b="false" lang="pt-BR">
                          <a:effectLst/>
                        </a:rPr>
                        <a:t>Depois de determinar a causa exata do problema, estabeleça um plano de ação para resolvê-lo e implementar a solução.</a:t>
                      </a:r>
                    </a:p>
                  </a:txBody>
                  <a:tcPr marL="47625" marR="47625" marT="47625" marB="47625" anchor="ctr"/>
                </a:tc>
                <a:extLst>
                  <a:ext uri="{0D108BD9-81ED-4DB2-BD59-A6C34878D82A}">
                    <a16:rowId xmlns:a16="http://schemas.microsoft.com/office/drawing/2014/main" val="2107132597"/>
                  </a:ext>
                </a:extLst>
              </a:tr>
              <a:tr h="421363">
                <a:tc>
                  <a:txBody>
                    <a:bodyPr/>
                    <a:lstStyle/>
                    <a:p>
                      <a:pPr fontAlgn="ctr" rtl="0"/>
                      <a:r>
                        <a:rPr sz="1200" b="true" lang="pt-BR">
                          <a:effectLst/>
                        </a:rPr>
                        <a:t>Etapa 5. Verifique a solução e implemente medidas preventivas</a:t>
                      </a:r>
                    </a:p>
                  </a:txBody>
                  <a:tcPr marL="47625" marR="47625" marT="47625" marB="47625" anchor="ctr"/>
                </a:tc>
                <a:tc>
                  <a:txBody>
                    <a:bodyPr/>
                    <a:lstStyle/>
                    <a:p>
                      <a:pPr fontAlgn="ctr" rtl="0">
                        <a:buFont typeface="Arial" panose="020B0604020202020204" pitchFamily="34" charset="0"/>
                        <a:buChar char="•"/>
                      </a:pPr>
                      <a:r>
                        <a:rPr sz="1200" b="false" lang="pt-BR">
                          <a:effectLst/>
                        </a:rPr>
                        <a:t>Depois de corrigir o problema, verifique a funcionalidade completa.</a:t>
                      </a:r>
                    </a:p>
                    <a:p>
                      <a:pPr fontAlgn="ctr" rtl="0">
                        <a:buFont typeface="Arial" panose="020B0604020202020204" pitchFamily="34" charset="0"/>
                        <a:buChar char="•"/>
                      </a:pPr>
                      <a:r>
                        <a:rPr sz="1200" b="false" lang="pt-BR">
                          <a:effectLst/>
                        </a:rPr>
                        <a:t>Se aplicável, implemente medidas preventivas.</a:t>
                      </a:r>
                    </a:p>
                  </a:txBody>
                  <a:tcPr marL="47625" marR="47625" marT="47625" marB="47625" anchor="ctr"/>
                </a:tc>
                <a:extLst>
                  <a:ext uri="{0D108BD9-81ED-4DB2-BD59-A6C34878D82A}">
                    <a16:rowId xmlns:a16="http://schemas.microsoft.com/office/drawing/2014/main" val="3499597970"/>
                  </a:ext>
                </a:extLst>
              </a:tr>
              <a:tr h="588515">
                <a:tc>
                  <a:txBody>
                    <a:bodyPr/>
                    <a:lstStyle/>
                    <a:p>
                      <a:pPr fontAlgn="ctr" rtl="0"/>
                      <a:r>
                        <a:rPr sz="1200" b="true" lang="pt-BR">
                          <a:effectLst/>
                        </a:rPr>
                        <a:t>Etapa 6. Documentar Descobertas, Ações e Resultados</a:t>
                      </a:r>
                    </a:p>
                  </a:txBody>
                  <a:tcPr marL="47625" marR="47625" marT="47625" marB="47625" anchor="ctr"/>
                </a:tc>
                <a:tc>
                  <a:txBody>
                    <a:bodyPr/>
                    <a:lstStyle/>
                    <a:p>
                      <a:pPr fontAlgn="ctr" rtl="0">
                        <a:buFont typeface="Arial" panose="020B0604020202020204" pitchFamily="34" charset="0"/>
                        <a:buChar char="•"/>
                      </a:pPr>
                      <a:r>
                        <a:rPr sz="1200" b="false" lang="pt-BR">
                          <a:effectLst/>
                        </a:rPr>
                        <a:t>Na etapa final do processo de solução de problemas, documente as descobertas, as ações e os resultados.</a:t>
                      </a:r>
                    </a:p>
                    <a:p>
                      <a:pPr fontAlgn="ctr" rtl="0">
                        <a:buFont typeface="Arial" panose="020B0604020202020204" pitchFamily="34" charset="0"/>
                        <a:buChar char="•"/>
                      </a:pPr>
                      <a:r>
                        <a:rPr sz="1200" b="false" lang="pt-BR">
                          <a:effectLst/>
                        </a:rPr>
                        <a:t>Essa documentação será muito importante para referência futura.</a:t>
                      </a:r>
                    </a:p>
                  </a:txBody>
                  <a:tcPr marL="47625" marR="47625" marT="47625" marB="47625" anchor="ctr"/>
                </a:tc>
                <a:extLst>
                  <a:ext uri="{0D108BD9-81ED-4DB2-BD59-A6C34878D82A}">
                    <a16:rowId xmlns:a16="http://schemas.microsoft.com/office/drawing/2014/main" val="2247812322"/>
                  </a:ext>
                </a:extLst>
              </a:tr>
            </a:tbl>
          </a:graphicData>
        </a:graphic>
      </p:graphicFrame>
    </p:spTree>
    <p:extLst>
      <p:ext uri="{BB962C8B-B14F-4D97-AF65-F5344CB8AC3E}">
        <p14:creationId xmlns:p14="http://schemas.microsoft.com/office/powerpoint/2010/main" val="18652560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Metodologias de Solução de Problemas</a:t>
            </a:r>
            <a:br>
              <a:rPr lang="en-US" dirty="0"/>
            </a:br>
            <a:r>
              <a:rPr sz="2400" lang="pt-BR"/>
              <a:t>Resolver ou Escalonar?</a:t>
            </a:r>
          </a:p>
        </p:txBody>
      </p:sp>
      <p:sp>
        <p:nvSpPr>
          <p:cNvPr id="5" name="Content Placeholder 4">
            <a:extLst>
              <a:ext uri="{FF2B5EF4-FFF2-40B4-BE49-F238E27FC236}">
                <a16:creationId xmlns:a16="http://schemas.microsoft.com/office/drawing/2014/main" id="{30C19F0F-DCFC-46F1-B6A1-E7B4560DF0CF}"/>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sz="1600" lang="pt-BR">
                <a:solidFill>
                  <a:srgbClr val="000000"/>
                </a:solidFill>
              </a:rPr>
              <a:t>Em algumas situações, talvez não seja possível resolver o problema imediatamente. Um problema deve ser escalado quando requer uma decisão do gerente, algum conhecimento específico ou nível de acesso à rede indisponível para o técnico de solução de problemas.</a:t>
            </a:r>
          </a:p>
          <a:p>
            <a:pPr marL="342900" indent="-342900" algn="l" rtl="0">
              <a:buFont typeface="Arial" panose="020B0604020202020204" pitchFamily="34" charset="0"/>
              <a:buChar char="•"/>
            </a:pPr>
            <a:r>
              <a:rPr sz="1600" lang="pt-BR">
                <a:solidFill>
                  <a:srgbClr val="000000"/>
                </a:solidFill>
              </a:rPr>
              <a:t>Uma política da empresa deve indicar claramente quando e como um técnico deve escalar um problema.</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26971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Metodologias de Solução de Problemas</a:t>
            </a:r>
            <a:br>
              <a:rPr lang="en-US" dirty="0"/>
            </a:br>
            <a:r>
              <a:rPr sz="2400" lang="pt-BR"/>
              <a:t>O Comando debug</a:t>
            </a:r>
          </a:p>
        </p:txBody>
      </p:sp>
      <p:sp>
        <p:nvSpPr>
          <p:cNvPr id="4" name="Content Placeholder 3">
            <a:extLst>
              <a:ext uri="{FF2B5EF4-FFF2-40B4-BE49-F238E27FC236}">
                <a16:creationId xmlns:a16="http://schemas.microsoft.com/office/drawing/2014/main" id="{055810E9-59A6-4F1D-9857-313BB3E519C4}"/>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sz="1400" lang="pt-BR">
                <a:solidFill>
                  <a:srgbClr val="000000"/>
                </a:solidFill>
              </a:rPr>
              <a:t>O comando IOS </a:t>
            </a:r>
            <a:r>
              <a:rPr sz="1400" b="true" lang="pt-BR">
                <a:solidFill>
                  <a:srgbClr val="000000"/>
                </a:solidFill>
              </a:rPr>
              <a:t>debug</a:t>
            </a:r>
            <a:r>
              <a:rPr sz="1400" lang="pt-BR">
                <a:solidFill>
                  <a:srgbClr val="000000"/>
                </a:solidFill>
              </a:rPr>
              <a:t> permite ao administrador exibir mensagens de processo, protocolo, mecanismo e evento do SO em tempo real para análise. </a:t>
            </a:r>
          </a:p>
          <a:p>
            <a:pPr marL="342900" indent="-342900" algn="l" rtl="0">
              <a:buFont typeface="Arial" panose="020B0604020202020204" pitchFamily="34" charset="0"/>
              <a:buChar char="•"/>
            </a:pPr>
            <a:r>
              <a:rPr sz="1400" lang="pt-BR">
                <a:solidFill>
                  <a:srgbClr val="000000"/>
                </a:solidFill>
              </a:rPr>
              <a:t>Todos os comandos de </a:t>
            </a:r>
            <a:r>
              <a:rPr sz="1400" b="true" lang="pt-BR">
                <a:solidFill>
                  <a:srgbClr val="000000"/>
                </a:solidFill>
              </a:rPr>
              <a:t>debug</a:t>
            </a:r>
            <a:r>
              <a:rPr sz="1400" lang="pt-BR">
                <a:solidFill>
                  <a:srgbClr val="000000"/>
                </a:solidFill>
              </a:rPr>
              <a:t> são inseridos no modo EXEC privilegiado. O Cisco IOS permite restringir a saída de </a:t>
            </a:r>
            <a:r>
              <a:rPr sz="1400" b="true" lang="pt-BR">
                <a:solidFill>
                  <a:srgbClr val="000000"/>
                </a:solidFill>
              </a:rPr>
              <a:t>debug</a:t>
            </a:r>
            <a:r>
              <a:rPr sz="1400" lang="pt-BR">
                <a:solidFill>
                  <a:srgbClr val="000000"/>
                </a:solidFill>
              </a:rPr>
              <a:t> para incluir somente o recurso ou sub-recurso relevante. Use comandos de </a:t>
            </a:r>
            <a:r>
              <a:rPr sz="1400" b="true" lang="pt-BR">
                <a:solidFill>
                  <a:srgbClr val="000000"/>
                </a:solidFill>
              </a:rPr>
              <a:t>debug</a:t>
            </a:r>
            <a:r>
              <a:rPr sz="1400" lang="pt-BR">
                <a:solidFill>
                  <a:srgbClr val="000000"/>
                </a:solidFill>
              </a:rPr>
              <a:t> apenas para solucionar problemas específicos.</a:t>
            </a:r>
          </a:p>
          <a:p>
            <a:pPr marL="415985" lvl="1" indent="-342900" rtl="0">
              <a:buFont typeface="Arial" panose="020B0604020202020204" pitchFamily="34" charset="0"/>
              <a:buChar char="•"/>
            </a:pPr>
            <a:r>
              <a:rPr lang="pt-BR">
                <a:solidFill>
                  <a:srgbClr val="000000"/>
                </a:solidFill>
              </a:rPr>
              <a:t>Para listar uma breve descrição das opções do comando de debug, use o comando </a:t>
            </a:r>
            <a:r>
              <a:rPr b="true" lang="pt-BR">
                <a:solidFill>
                  <a:srgbClr val="000000"/>
                </a:solidFill>
              </a:rPr>
              <a:t>debug?</a:t>
            </a:r>
            <a:r>
              <a:rPr lang="pt-BR">
                <a:solidFill>
                  <a:srgbClr val="000000"/>
                </a:solidFill>
              </a:rPr>
              <a:t> no modo EXEC privilegiado na linha de comando.</a:t>
            </a:r>
          </a:p>
          <a:p>
            <a:pPr marL="415985" lvl="1" indent="-342900" rtl="0">
              <a:buFont typeface="Arial" panose="020B0604020202020204" pitchFamily="34" charset="0"/>
              <a:buChar char="•"/>
            </a:pPr>
            <a:r>
              <a:rPr lang="pt-BR">
                <a:solidFill>
                  <a:srgbClr val="000000"/>
                </a:solidFill>
              </a:rPr>
              <a:t>Para desativar um determinado recurso de depuração, adicione a palavra-chave </a:t>
            </a:r>
            <a:r>
              <a:rPr b="true" lang="pt-BR">
                <a:solidFill>
                  <a:srgbClr val="000000"/>
                </a:solidFill>
              </a:rPr>
              <a:t>na</a:t>
            </a:r>
            <a:r>
              <a:rPr lang="pt-BR">
                <a:solidFill>
                  <a:srgbClr val="000000"/>
                </a:solidFill>
              </a:rPr>
              <a:t> frente do comando de </a:t>
            </a:r>
            <a:r>
              <a:rPr b="true" lang="pt-BR">
                <a:solidFill>
                  <a:srgbClr val="000000"/>
                </a:solidFill>
              </a:rPr>
              <a:t>debug</a:t>
            </a:r>
            <a:r>
              <a:rPr lang="pt-BR">
                <a:solidFill>
                  <a:srgbClr val="000000"/>
                </a:solidFill>
              </a:rPr>
              <a:t>:</a:t>
            </a:r>
          </a:p>
          <a:p>
            <a:pPr marL="415985" lvl="1" indent="-342900" rtl="0">
              <a:buFont typeface="Arial" panose="020B0604020202020204" pitchFamily="34" charset="0"/>
              <a:buChar char="•"/>
            </a:pPr>
            <a:r>
              <a:rPr lang="pt-BR">
                <a:solidFill>
                  <a:srgbClr val="000000"/>
                </a:solidFill>
              </a:rPr>
              <a:t>Outra opção é inserir o formulário </a:t>
            </a:r>
            <a:r>
              <a:rPr b="true" lang="pt-BR">
                <a:solidFill>
                  <a:srgbClr val="000000"/>
                </a:solidFill>
              </a:rPr>
              <a:t>undebug</a:t>
            </a:r>
            <a:r>
              <a:rPr lang="pt-BR">
                <a:solidFill>
                  <a:srgbClr val="000000"/>
                </a:solidFill>
              </a:rPr>
              <a:t> do comando no modo EXEC privilegiado:</a:t>
            </a:r>
          </a:p>
          <a:p>
            <a:pPr marL="415985" lvl="1" indent="-342900" rtl="0">
              <a:buFont typeface="Arial" panose="020B0604020202020204" pitchFamily="34" charset="0"/>
              <a:buChar char="•"/>
            </a:pPr>
            <a:r>
              <a:rPr lang="pt-BR">
                <a:solidFill>
                  <a:srgbClr val="000000"/>
                </a:solidFill>
              </a:rPr>
              <a:t>Para desativar de uma vez todos os comandos de debug, use o comando </a:t>
            </a:r>
            <a:r>
              <a:rPr b="true" lang="pt-BR">
                <a:solidFill>
                  <a:srgbClr val="000000"/>
                </a:solidFill>
              </a:rPr>
              <a:t>undebug all</a:t>
            </a:r>
            <a:r>
              <a:rPr lang="pt-BR">
                <a:solidFill>
                  <a:srgbClr val="000000"/>
                </a:solidFill>
              </a:rPr>
              <a:t>:</a:t>
            </a:r>
          </a:p>
          <a:p>
            <a:pPr marL="342900" indent="-342900" algn="l" rtl="0">
              <a:buFont typeface="Arial" panose="020B0604020202020204" pitchFamily="34" charset="0"/>
              <a:buChar char="•"/>
            </a:pPr>
            <a:r>
              <a:rPr sz="1400" lang="pt-BR">
                <a:solidFill>
                  <a:srgbClr val="000000"/>
                </a:solidFill>
              </a:rPr>
              <a:t>Seja cauteloso ao usar alguns comandos de </a:t>
            </a:r>
            <a:r>
              <a:rPr sz="1400" b="true" lang="pt-BR">
                <a:solidFill>
                  <a:srgbClr val="000000"/>
                </a:solidFill>
              </a:rPr>
              <a:t>debug</a:t>
            </a:r>
            <a:r>
              <a:rPr sz="1400" lang="pt-BR">
                <a:solidFill>
                  <a:srgbClr val="000000"/>
                </a:solidFill>
              </a:rPr>
              <a:t>, pois eles podem gerar uma quantidade substancial de saída e usar uma grande parte dos recursos do sistema. O roteador pode ficar tão ocupado exibindo mensagens </a:t>
            </a:r>
            <a:r>
              <a:rPr sz="1400" b="true" lang="pt-BR">
                <a:solidFill>
                  <a:srgbClr val="000000"/>
                </a:solidFill>
              </a:rPr>
              <a:t>debug</a:t>
            </a:r>
            <a:r>
              <a:rPr sz="1400" lang="pt-BR">
                <a:solidFill>
                  <a:srgbClr val="000000"/>
                </a:solidFill>
              </a:rPr>
              <a:t> que não teria capacidade de processamento suficiente para executar suas funções de rede ou até ouvir comandos para desativar a depuração. </a:t>
            </a:r>
          </a:p>
        </p:txBody>
      </p:sp>
    </p:spTree>
    <p:extLst>
      <p:ext uri="{BB962C8B-B14F-4D97-AF65-F5344CB8AC3E}">
        <p14:creationId xmlns:p14="http://schemas.microsoft.com/office/powerpoint/2010/main" val="38729953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Metodologias de Solução de Problemas</a:t>
            </a:r>
            <a:br>
              <a:rPr lang="en-US" dirty="0"/>
            </a:br>
            <a:r>
              <a:rPr sz="2400" lang="pt-BR"/>
              <a:t>O Comando terminal monitor</a:t>
            </a:r>
          </a:p>
        </p:txBody>
      </p:sp>
      <p:sp>
        <p:nvSpPr>
          <p:cNvPr id="5" name="Content Placeholder 4">
            <a:extLst>
              <a:ext uri="{FF2B5EF4-FFF2-40B4-BE49-F238E27FC236}">
                <a16:creationId xmlns:a16="http://schemas.microsoft.com/office/drawing/2014/main" id="{67D403C5-B81D-431B-B2D2-68B008D495BC}"/>
              </a:ext>
            </a:extLst>
          </p:cNvPr>
          <p:cNvSpPr>
            <a:spLocks noGrp="1"/>
          </p:cNvSpPr>
          <p:nvPr>
            <p:ph idx="1"/>
          </p:nvPr>
        </p:nvSpPr>
        <p:spPr>
          <a:xfrm>
            <a:off x="474662" y="731837"/>
            <a:ext cx="3857193" cy="3689897"/>
          </a:xfrm>
        </p:spPr>
        <p:txBody>
          <a:bodyPr/>
          <a:lstStyle/>
          <a:p>
            <a:pPr marL="342900" indent="-342900" algn="l" rtl="0">
              <a:buFont typeface="Arial" panose="020B0604020202020204" pitchFamily="34" charset="0"/>
              <a:buChar char="•"/>
            </a:pPr>
          </a:p>
          <a:p>
            <a:pPr marL="342900" indent="-342900" algn="l" rtl="0">
              <a:buFont typeface="Arial" panose="020B0604020202020204" pitchFamily="34" charset="0"/>
              <a:buChar char="•"/>
            </a:pPr>
            <a:r>
              <a:rPr sz="1600" lang="pt-BR">
                <a:solidFill>
                  <a:srgbClr val="000000"/>
                </a:solidFill>
              </a:rPr>
              <a:t>Para direcionar a exibição das mensagens de registro do sistema em um terminal (console virtual), use o comando </a:t>
            </a:r>
            <a:r>
              <a:rPr sz="1600" b="true" lang="pt-BR">
                <a:solidFill>
                  <a:srgbClr val="000000"/>
                </a:solidFill>
              </a:rPr>
              <a:t>terminal monitor</a:t>
            </a:r>
            <a:r>
              <a:rPr sz="1600" lang="pt-BR">
                <a:solidFill>
                  <a:srgbClr val="000000"/>
                </a:solidFill>
              </a:rPr>
              <a:t> no modo EXEC privilegiado. Para interromper o registro de mensagens em um terminal, use o comando EXEC privilegiado do </a:t>
            </a:r>
            <a:r>
              <a:rPr sz="1600" b="true" lang="pt-BR">
                <a:solidFill>
                  <a:srgbClr val="000000"/>
                </a:solidFill>
              </a:rPr>
              <a:t>terminal no monitor</a:t>
            </a:r>
            <a:r>
              <a:rPr sz="1600" lang="pt-BR">
                <a:solidFill>
                  <a:srgbClr val="000000"/>
                </a:solidFill>
              </a:rPr>
              <a:t>.</a:t>
            </a:r>
          </a:p>
        </p:txBody>
      </p:sp>
      <p:pic>
        <p:nvPicPr>
          <p:cNvPr id="7" name="Picture 6">
            <a:extLst>
              <a:ext uri="{FF2B5EF4-FFF2-40B4-BE49-F238E27FC236}">
                <a16:creationId xmlns:a16="http://schemas.microsoft.com/office/drawing/2014/main" id="{B3CB0FC6-F496-4FA2-BA44-D4FC2FBF18F2}"/>
              </a:ext>
            </a:extLst>
          </p:cNvPr>
          <p:cNvPicPr>
            <a:picLocks noChangeAspect="1"/>
          </p:cNvPicPr>
          <p:nvPr/>
        </p:nvPicPr>
        <p:blipFill>
          <a:blip r:embed="rId3"/>
          <a:stretch>
            <a:fillRect/>
          </a:stretch>
        </p:blipFill>
        <p:spPr>
          <a:xfrm>
            <a:off x="4465061" y="715869"/>
            <a:ext cx="4204277" cy="1693666"/>
          </a:xfrm>
          <a:prstGeom prst="rect">
            <a:avLst/>
          </a:prstGeom>
        </p:spPr>
      </p:pic>
      <p:pic>
        <p:nvPicPr>
          <p:cNvPr id="6" name="Picture 5">
            <a:extLst>
              <a:ext uri="{FF2B5EF4-FFF2-40B4-BE49-F238E27FC236}">
                <a16:creationId xmlns:a16="http://schemas.microsoft.com/office/drawing/2014/main" id="{F40D03CD-3EBA-4C21-AC9F-01C7FA500418}"/>
              </a:ext>
            </a:extLst>
          </p:cNvPr>
          <p:cNvPicPr>
            <a:picLocks noChangeAspect="1"/>
          </p:cNvPicPr>
          <p:nvPr/>
        </p:nvPicPr>
        <p:blipFill>
          <a:blip r:embed="rId4"/>
          <a:stretch>
            <a:fillRect/>
          </a:stretch>
        </p:blipFill>
        <p:spPr>
          <a:xfrm>
            <a:off x="4465061" y="2428902"/>
            <a:ext cx="4204277" cy="2196785"/>
          </a:xfrm>
          <a:prstGeom prst="rect">
            <a:avLst/>
          </a:prstGeom>
        </p:spPr>
      </p:pic>
    </p:spTree>
    <p:extLst>
      <p:ext uri="{BB962C8B-B14F-4D97-AF65-F5344CB8AC3E}">
        <p14:creationId xmlns:p14="http://schemas.microsoft.com/office/powerpoint/2010/main" val="5788138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17.7 – Cenários de Solução de Problemas</a:t>
            </a:r>
          </a:p>
        </p:txBody>
      </p:sp>
    </p:spTree>
    <p:custDataLst>
      <p:tags r:id="rId1"/>
    </p:custDataLst>
    <p:extLst>
      <p:ext uri="{BB962C8B-B14F-4D97-AF65-F5344CB8AC3E}">
        <p14:creationId xmlns:p14="http://schemas.microsoft.com/office/powerpoint/2010/main" val="3969494417"/>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Cenários de Solução de Problemas</a:t>
            </a:r>
            <a:br>
              <a:rPr lang="en-US" sz="1600" dirty="0"/>
            </a:br>
            <a:r>
              <a:rPr sz="2400" lang="pt-BR"/>
              <a:t>Operação Duplex e Problemas de Incompatibilidade</a:t>
            </a:r>
          </a:p>
        </p:txBody>
      </p:sp>
      <p:sp>
        <p:nvSpPr>
          <p:cNvPr id="4" name="Content Placeholder 3">
            <a:extLst>
              <a:ext uri="{FF2B5EF4-FFF2-40B4-BE49-F238E27FC236}">
                <a16:creationId xmlns:a16="http://schemas.microsoft.com/office/drawing/2014/main" id="{75F3AEFC-34C7-446B-AB27-8AE657AE5B78}"/>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sz="1600" lang="pt-BR">
                <a:solidFill>
                  <a:srgbClr val="000000"/>
                </a:solidFill>
              </a:rPr>
              <a:t>As interfaces Ethernet de interconexão devem operar no mesmo modo duplex para obter melhor desempenho de comunicação e evitar ineficiência e latência no link.</a:t>
            </a:r>
          </a:p>
          <a:p>
            <a:pPr marL="285750" indent="-285750" algn="l" rtl="0">
              <a:buFont typeface="Arial" panose="020B0604020202020204" pitchFamily="34" charset="0"/>
              <a:buChar char="•"/>
            </a:pPr>
            <a:r>
              <a:rPr sz="1600" lang="pt-BR">
                <a:solidFill>
                  <a:srgbClr val="000000"/>
                </a:solidFill>
              </a:rPr>
              <a:t>O recurso de negociação automática Ethernet facilita a configuração, minimiza problemas e maximiza o desempenho do link entre dois links Ethernet interconectados. Primeiramente, os dispositivos conectados anunciam seus recursos de compatibilidade e, depois, escolhem o modo de desempenho mais alto, compatível com as duas extremidades.</a:t>
            </a:r>
          </a:p>
          <a:p>
            <a:pPr marL="285750" indent="-285750" algn="l" rtl="0">
              <a:buFont typeface="Arial" panose="020B0604020202020204" pitchFamily="34" charset="0"/>
              <a:buChar char="•"/>
            </a:pPr>
            <a:r>
              <a:rPr sz="1600" lang="pt-BR">
                <a:solidFill>
                  <a:srgbClr val="000000"/>
                </a:solidFill>
              </a:rPr>
              <a:t>Se um dos dois dispositivos conectados estiverem operando no modo full-duplex e o outro no modo half-duplex, ocorrerá uma incompatibilidade de duplex. Já que a comunicação de dados ocorre por meio de um link físico, no caso de uma incompatibilidade de duplex o desempenho do link físico seria muito ruim.</a:t>
            </a:r>
          </a:p>
          <a:p>
            <a:pPr marL="285750" indent="-285750" algn="l" rtl="0">
              <a:buFont typeface="Arial" panose="020B0604020202020204" pitchFamily="34" charset="0"/>
              <a:buChar char="•"/>
            </a:pPr>
            <a:r>
              <a:rPr sz="1600" lang="pt-BR">
                <a:solidFill>
                  <a:srgbClr val="000000"/>
                </a:solidFill>
              </a:rPr>
              <a:t>As incompatibilidades duplex são normalmente causadas por uma interface mal configurada ou, em casos raros, por uma negociação automática com falha. As incompatibilidades de duplex podem ser difíceis de resolver, visto que a comunicação entre os dispositivos continua ocorrendo.</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97220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Cenários de Solução de Problemas</a:t>
            </a:r>
            <a:br>
              <a:rPr lang="en-US" sz="1600" dirty="0"/>
            </a:br>
            <a:r>
              <a:rPr sz="2400" lang="pt-BR"/>
              <a:t>Problemas de Endereçamento IP em Dispositivos IOS</a:t>
            </a:r>
          </a:p>
        </p:txBody>
      </p:sp>
      <p:sp>
        <p:nvSpPr>
          <p:cNvPr id="5" name="Content Placeholder 4">
            <a:extLst>
              <a:ext uri="{FF2B5EF4-FFF2-40B4-BE49-F238E27FC236}">
                <a16:creationId xmlns:a16="http://schemas.microsoft.com/office/drawing/2014/main" id="{4089B99F-CCB5-409E-A46F-AD649A1893BE}"/>
              </a:ext>
            </a:extLst>
          </p:cNvPr>
          <p:cNvSpPr>
            <a:spLocks noGrp="1"/>
          </p:cNvSpPr>
          <p:nvPr>
            <p:ph idx="1"/>
          </p:nvPr>
        </p:nvSpPr>
        <p:spPr>
          <a:xfrm>
            <a:off x="474662" y="731838"/>
            <a:ext cx="8280057" cy="1907598"/>
          </a:xfrm>
        </p:spPr>
        <p:txBody>
          <a:bodyPr/>
          <a:lstStyle/>
          <a:p>
            <a:pPr marL="342900" indent="-342900" algn="l" rtl="0">
              <a:buFont typeface="Arial" panose="020B0604020202020204" pitchFamily="34" charset="0"/>
              <a:buChar char="•"/>
            </a:pPr>
            <a:r>
              <a:rPr sz="1400" lang="pt-BR">
                <a:solidFill>
                  <a:srgbClr val="000000"/>
                </a:solidFill>
              </a:rPr>
              <a:t>Duas causas comuns de atribuição de IPv4 incorreta são os erros de atribuição manual ou problemas relacionados a DHCP.</a:t>
            </a:r>
          </a:p>
          <a:p>
            <a:pPr marL="342900" indent="-342900" algn="l" rtl="0">
              <a:buFont typeface="Arial" panose="020B0604020202020204" pitchFamily="34" charset="0"/>
              <a:buChar char="•"/>
            </a:pPr>
            <a:r>
              <a:rPr sz="1400" lang="pt-BR">
                <a:solidFill>
                  <a:srgbClr val="000000"/>
                </a:solidFill>
              </a:rPr>
              <a:t>Os administradores de rede normalmente precisam atribuir de forma manual os endereços IP aos dispositivos, como servidores e roteadores. Se for cometido um erro durante a atribuição, provavelmente ocorrerão problemas de comunicação com o dispositivo.</a:t>
            </a:r>
          </a:p>
          <a:p>
            <a:pPr marL="342900" indent="-342900" algn="l" rtl="0">
              <a:buFont typeface="Arial" panose="020B0604020202020204" pitchFamily="34" charset="0"/>
              <a:buChar char="•"/>
            </a:pPr>
            <a:r>
              <a:rPr sz="1400" lang="pt-BR">
                <a:solidFill>
                  <a:srgbClr val="000000"/>
                </a:solidFill>
              </a:rPr>
              <a:t>Em um dispositivo IOS, use os comandos </a:t>
            </a:r>
            <a:r>
              <a:rPr sz="1400" b="true" lang="pt-BR">
                <a:solidFill>
                  <a:srgbClr val="000000"/>
                </a:solidFill>
              </a:rPr>
              <a:t>show ip interface</a:t>
            </a:r>
            <a:r>
              <a:rPr sz="1400" lang="pt-BR">
                <a:solidFill>
                  <a:srgbClr val="000000"/>
                </a:solidFill>
              </a:rPr>
              <a:t> ou </a:t>
            </a:r>
            <a:r>
              <a:rPr sz="1400" b="true" lang="pt-BR">
                <a:solidFill>
                  <a:srgbClr val="000000"/>
                </a:solidFill>
              </a:rPr>
              <a:t>show ip interface brief</a:t>
            </a:r>
            <a:r>
              <a:rPr sz="1400" lang="pt-BR">
                <a:solidFill>
                  <a:srgbClr val="000000"/>
                </a:solidFill>
              </a:rPr>
              <a:t> para verificar quais endereços IPv4 foram atribuídos às interfaces de rede. Por exemplo, emitir o comando </a:t>
            </a:r>
            <a:r>
              <a:rPr sz="1400" b="true" lang="pt-BR">
                <a:solidFill>
                  <a:srgbClr val="000000"/>
                </a:solidFill>
              </a:rPr>
              <a:t>show ip interface</a:t>
            </a:r>
            <a:r>
              <a:rPr sz="1400" b="true" lang="pt-BR">
                <a:solidFill>
                  <a:srgbClr val="000000"/>
                </a:solidFill>
              </a:rPr>
              <a:t>brief</a:t>
            </a:r>
            <a:r>
              <a:rPr sz="1400" lang="pt-BR">
                <a:solidFill>
                  <a:srgbClr val="000000"/>
                </a:solidFill>
              </a:rPr>
              <a:t> conforme mostrado validaria o status da interface em R1.</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1698732-E985-4F83-A567-32F90E36D49D}"/>
              </a:ext>
            </a:extLst>
          </p:cNvPr>
          <p:cNvPicPr>
            <a:picLocks noChangeAspect="1"/>
          </p:cNvPicPr>
          <p:nvPr/>
        </p:nvPicPr>
        <p:blipFill>
          <a:blip r:embed="rId3"/>
          <a:stretch>
            <a:fillRect/>
          </a:stretch>
        </p:blipFill>
        <p:spPr>
          <a:xfrm>
            <a:off x="1485727" y="2639435"/>
            <a:ext cx="6257925" cy="1933575"/>
          </a:xfrm>
          <a:prstGeom prst="rect">
            <a:avLst/>
          </a:prstGeom>
        </p:spPr>
      </p:pic>
    </p:spTree>
    <p:extLst>
      <p:ext uri="{BB962C8B-B14F-4D97-AF65-F5344CB8AC3E}">
        <p14:creationId xmlns:p14="http://schemas.microsoft.com/office/powerpoint/2010/main" val="1176014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Cenários de Solução de Problemas</a:t>
            </a:r>
            <a:br>
              <a:rPr lang="en-US" sz="1600" dirty="0"/>
            </a:br>
            <a:r>
              <a:rPr sz="2400" lang="pt-BR"/>
              <a:t>Problemas de Endereçamento IP em Dispositivos Finais</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sz="1500" lang="pt-BR">
                <a:solidFill>
                  <a:srgbClr val="000000"/>
                </a:solidFill>
              </a:rPr>
              <a:t>Em máquinas com Windows, quando o dispositivo não consegue entrar em contato com um servidor DHCP, o Windows atribui automaticamente um endereço que pertence ao intervalo 169.254.0.0/16. Esse recurso é chamado de endereçamento IP privado automático (APIPA). </a:t>
            </a:r>
          </a:p>
          <a:p>
            <a:pPr marL="342900" indent="-342900" algn="l" rtl="0">
              <a:buFont typeface="Arial" panose="020B0604020202020204" pitchFamily="34" charset="0"/>
              <a:buChar char="•"/>
            </a:pPr>
            <a:r>
              <a:rPr sz="1500" lang="pt-BR">
                <a:solidFill>
                  <a:srgbClr val="000000"/>
                </a:solidFill>
              </a:rPr>
              <a:t>Freqüentemente, um computador com um endereço APIPA não poderá se comunicar com outros dispositivos na rede, porque esses dispositivos provavelmente não pertencerão à rede 169.254.0.0/16. </a:t>
            </a:r>
          </a:p>
          <a:p>
            <a:pPr marL="415985" lvl="1" indent="-342900" rtl="0">
              <a:buFont typeface="Arial" panose="020B0604020202020204" pitchFamily="34" charset="0"/>
              <a:buChar char="•"/>
            </a:pPr>
            <a:r>
              <a:rPr b="true" lang="pt-BR">
                <a:solidFill>
                  <a:srgbClr val="000000"/>
                </a:solidFill>
              </a:rPr>
              <a:t>Nota</a:t>
            </a:r>
            <a:r>
              <a:rPr lang="pt-BR">
                <a:solidFill>
                  <a:srgbClr val="000000"/>
                </a:solidFill>
              </a:rPr>
              <a:t>: Outros sistemas operacionais, como Linux e OS X, não usam APIPA. </a:t>
            </a:r>
          </a:p>
          <a:p>
            <a:pPr marL="342900" indent="-342900" algn="l" rtl="0">
              <a:buFont typeface="Arial" panose="020B0604020202020204" pitchFamily="34" charset="0"/>
              <a:buChar char="•"/>
            </a:pPr>
            <a:r>
              <a:rPr sz="1500" lang="pt-BR">
                <a:solidFill>
                  <a:srgbClr val="000000"/>
                </a:solidFill>
              </a:rPr>
              <a:t>Se o dispositivo não puder se comunicar com o servidor DHCP, o servidor não conseguirá atribuir um endereço IPv4 para a rede específica e o dispositivo não será capaz de se comunicar.</a:t>
            </a:r>
          </a:p>
          <a:p>
            <a:pPr marL="342900" indent="-342900" algn="l" rtl="0">
              <a:buFont typeface="Arial" panose="020B0604020202020204" pitchFamily="34" charset="0"/>
              <a:buChar char="•"/>
            </a:pPr>
            <a:r>
              <a:rPr sz="1500" lang="pt-BR">
                <a:solidFill>
                  <a:srgbClr val="000000"/>
                </a:solidFill>
              </a:rPr>
              <a:t>Para verificar os endereços IP atribuídos a um computador com Windows, use o comando </a:t>
            </a:r>
            <a:r>
              <a:rPr sz="1500" b="true" lang="pt-BR">
                <a:solidFill>
                  <a:srgbClr val="000000"/>
                </a:solidFill>
              </a:rPr>
              <a:t>ipconfig</a:t>
            </a:r>
            <a:r>
              <a:rPr sz="1500" lang="pt-BR">
                <a:solidFill>
                  <a:srgbClr val="000000"/>
                </a:solidFill>
              </a:rPr>
              <a: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045017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Cenários de Solução de Problemas</a:t>
            </a:r>
            <a:br>
              <a:rPr lang="en-US" sz="1600" dirty="0"/>
            </a:br>
            <a:r>
              <a:rPr sz="2400" lang="pt-BR"/>
              <a:t>Problemas de Gateway Padrão</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sz="1500" lang="pt-BR">
                <a:solidFill>
                  <a:srgbClr val="000000"/>
                </a:solidFill>
              </a:rPr>
              <a:t>O gateway padrão para um dispositivo final é o dispositivo de rede mais próximo, pertencente à mesma rede que o dispositivo final, que pode encaminhar tráfego para outras redes. Se um dispositivo tiver um endereço de gateway padrão errado ou inexistente, ele não conseguirá se comunicar com os dispositivos em redes remotas. </a:t>
            </a:r>
          </a:p>
          <a:p>
            <a:pPr marL="342900" indent="-342900" algn="l" rtl="0">
              <a:buFont typeface="Arial" panose="020B0604020202020204" pitchFamily="34" charset="0"/>
              <a:buChar char="•"/>
            </a:pPr>
            <a:r>
              <a:rPr sz="1500" lang="pt-BR">
                <a:solidFill>
                  <a:srgbClr val="000000"/>
                </a:solidFill>
              </a:rPr>
              <a:t>Semelhantes aos problemas de endereçamento IPv4, os problemas de gateway padrão podem estar relacionados à configuração errada (no caso de atribuição manual) ou a problemas de DHCP (se a atribuição manual estiver em uso).</a:t>
            </a:r>
          </a:p>
          <a:p>
            <a:pPr marL="342900" indent="-342900" algn="l" rtl="0">
              <a:buFont typeface="Arial" panose="020B0604020202020204" pitchFamily="34" charset="0"/>
              <a:buChar char="•"/>
            </a:pPr>
            <a:r>
              <a:rPr sz="1500" lang="pt-BR">
                <a:solidFill>
                  <a:srgbClr val="000000"/>
                </a:solidFill>
              </a:rPr>
              <a:t>Para verificar o gateway padrão em computadores baseados no Windows, use o comando </a:t>
            </a:r>
            <a:r>
              <a:rPr sz="1500" b="true" lang="pt-BR">
                <a:solidFill>
                  <a:srgbClr val="000000"/>
                </a:solidFill>
              </a:rPr>
              <a:t>ipconfig</a:t>
            </a:r>
            <a:r>
              <a:rPr sz="1500" lang="pt-BR">
                <a:solidFill>
                  <a:srgbClr val="000000"/>
                </a:solidFill>
              </a:rPr>
              <a:t>.</a:t>
            </a:r>
          </a:p>
          <a:p>
            <a:pPr marL="342900" indent="-342900" algn="l" rtl="0">
              <a:buFont typeface="Arial" panose="020B0604020202020204" pitchFamily="34" charset="0"/>
              <a:buChar char="•"/>
            </a:pPr>
            <a:r>
              <a:rPr sz="1500" lang="pt-BR">
                <a:solidFill>
                  <a:srgbClr val="000000"/>
                </a:solidFill>
              </a:rPr>
              <a:t>Em um roteador, use o comando </a:t>
            </a:r>
            <a:r>
              <a:rPr sz="1500" b="true" lang="pt-BR">
                <a:solidFill>
                  <a:srgbClr val="000000"/>
                </a:solidFill>
              </a:rPr>
              <a:t>show ip route </a:t>
            </a:r>
            <a:r>
              <a:rPr sz="1500" lang="pt-BR">
                <a:solidFill>
                  <a:srgbClr val="000000"/>
                </a:solidFill>
              </a:rPr>
              <a:t>para listar a tabela de roteamento e verificar se o gateway padrão, conhecido como uma rota padrão, foi definido. Essa rota é usada quando o endereço de destino do pacote não corresponde a nenhuma outra rota na tabela de roteamento.</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8044620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Cenários de Solução de Problemas</a:t>
            </a:r>
            <a:br>
              <a:rPr lang="en-US" sz="1600" dirty="0"/>
            </a:br>
            <a:r>
              <a:rPr sz="2400" lang="pt-BR"/>
              <a:t>Resolução de Problemas de DNS.</a:t>
            </a:r>
          </a:p>
        </p:txBody>
      </p:sp>
      <p:sp>
        <p:nvSpPr>
          <p:cNvPr id="5" name="Content Placeholder 4">
            <a:extLst>
              <a:ext uri="{FF2B5EF4-FFF2-40B4-BE49-F238E27FC236}">
                <a16:creationId xmlns:a16="http://schemas.microsoft.com/office/drawing/2014/main" id="{A0557B6B-70FF-4372-BD6F-76E2BCF4EBCC}"/>
              </a:ext>
            </a:extLst>
          </p:cNvPr>
          <p:cNvSpPr>
            <a:spLocks noGrp="1"/>
          </p:cNvSpPr>
          <p:nvPr>
            <p:ph idx="1"/>
          </p:nvPr>
        </p:nvSpPr>
        <p:spPr>
          <a:xfrm>
            <a:off x="474662" y="731836"/>
            <a:ext cx="8280057" cy="3689897"/>
          </a:xfrm>
        </p:spPr>
        <p:txBody>
          <a:bodyPr/>
          <a:lstStyle/>
          <a:p>
            <a:pPr marL="342900" indent="-342900" algn="l" rtl="0">
              <a:buFont typeface="Arial" panose="020B0604020202020204" pitchFamily="34" charset="0"/>
              <a:buChar char="•"/>
            </a:pPr>
            <a:r>
              <a:rPr sz="1400" lang="pt-BR">
                <a:solidFill>
                  <a:srgbClr val="000000"/>
                </a:solidFill>
              </a:rPr>
              <a:t>É comum que os usuários relacionem por engano a operação de um link da Internet com a disponibilidade do DNS. </a:t>
            </a:r>
          </a:p>
          <a:p>
            <a:pPr marL="342900" indent="-342900" algn="l" rtl="0">
              <a:buFont typeface="Arial" panose="020B0604020202020204" pitchFamily="34" charset="0"/>
              <a:buChar char="•"/>
            </a:pPr>
            <a:r>
              <a:rPr sz="1400" lang="pt-BR">
                <a:solidFill>
                  <a:srgbClr val="000000"/>
                </a:solidFill>
              </a:rPr>
              <a:t>Os endereços do servidor DNS podem ser atribuídos manualmente ou automaticamente via DHCP.</a:t>
            </a:r>
          </a:p>
          <a:p>
            <a:pPr marL="342900" indent="-342900" algn="l" rtl="0">
              <a:buFont typeface="Arial" panose="020B0604020202020204" pitchFamily="34" charset="0"/>
              <a:buChar char="•"/>
            </a:pPr>
            <a:r>
              <a:rPr sz="1400" lang="pt-BR">
                <a:solidFill>
                  <a:srgbClr val="000000"/>
                </a:solidFill>
              </a:rPr>
              <a:t>Embora seja comum para as empresas gerenciarem seus próprios servidores DNS, qualquer servidor DNS alcançável pode ser usado para resolver nomes. </a:t>
            </a:r>
          </a:p>
          <a:p>
            <a:pPr marL="342900" indent="-342900" algn="l" rtl="0">
              <a:buFont typeface="Arial" panose="020B0604020202020204" pitchFamily="34" charset="0"/>
              <a:buChar char="•"/>
            </a:pPr>
            <a:r>
              <a:rPr sz="1400" lang="pt-BR">
                <a:solidFill>
                  <a:srgbClr val="000000"/>
                </a:solidFill>
              </a:rPr>
              <a:t>A Cisco oferece OpenDNS que fornece serviço DNS seguro filtrando phishing e alguns sites de malware. Os endereços OpenDNS são 208.67.222.222 e 208.67.220.220. Recursos avançados, como filtragem de conteúdo da Web e segurança, estão disponíveis para famílias e empresas.</a:t>
            </a:r>
          </a:p>
          <a:p>
            <a:pPr marL="342900" indent="-342900" algn="l" rtl="0">
              <a:buFont typeface="Arial" panose="020B0604020202020204" pitchFamily="34" charset="0"/>
              <a:buChar char="•"/>
            </a:pPr>
            <a:r>
              <a:rPr sz="1400" lang="pt-BR">
                <a:solidFill>
                  <a:srgbClr val="000000"/>
                </a:solidFill>
              </a:rPr>
              <a:t>Use o </a:t>
            </a:r>
            <a:r>
              <a:rPr sz="1400" b="true" lang="pt-BR">
                <a:solidFill>
                  <a:srgbClr val="000000"/>
                </a:solidFill>
              </a:rPr>
              <a:t>ipconfig /all</a:t>
            </a:r>
            <a:r>
              <a:rPr sz="1400" lang="pt-BR">
                <a:solidFill>
                  <a:srgbClr val="000000"/>
                </a:solidFill>
              </a:rPr>
              <a:t> como mostrado para verificar qual servidor DNS está sendo usado pelo computador Windows.</a:t>
            </a:r>
          </a:p>
          <a:p>
            <a:pPr marL="342900" indent="-342900" algn="l" rtl="0">
              <a:buFont typeface="Arial" panose="020B0604020202020204" pitchFamily="34" charset="0"/>
              <a:buChar char="•"/>
            </a:pPr>
            <a:r>
              <a:rPr sz="1400" lang="pt-BR">
                <a:solidFill>
                  <a:srgbClr val="000000"/>
                </a:solidFill>
              </a:rPr>
              <a:t>O comando </a:t>
            </a:r>
            <a:r>
              <a:rPr sz="1400" b="true" lang="pt-BR">
                <a:solidFill>
                  <a:srgbClr val="000000"/>
                </a:solidFill>
              </a:rPr>
              <a:t>nslookup</a:t>
            </a:r>
            <a:r>
              <a:rPr sz="1400" lang="pt-BR">
                <a:solidFill>
                  <a:srgbClr val="000000"/>
                </a:solidFill>
              </a:rPr>
              <a:t> é outra ferramenta útil para solucionar problemas de DNS em PCs. Com o </a:t>
            </a:r>
            <a:r>
              <a:rPr sz="1400" b="true" lang="pt-BR">
                <a:solidFill>
                  <a:srgbClr val="000000"/>
                </a:solidFill>
              </a:rPr>
              <a:t>nslookup</a:t>
            </a:r>
            <a:r>
              <a:rPr sz="1400" lang="pt-BR">
                <a:solidFill>
                  <a:srgbClr val="000000"/>
                </a:solidFill>
              </a:rPr>
              <a:t>, um usuário pode fazer manualmente consultas de DNS e analisar a resposta de DNS. </a:t>
            </a:r>
          </a:p>
        </p:txBody>
      </p:sp>
    </p:spTree>
    <p:extLst>
      <p:ext uri="{BB962C8B-B14F-4D97-AF65-F5344CB8AC3E}">
        <p14:creationId xmlns:p14="http://schemas.microsoft.com/office/powerpoint/2010/main" val="18102381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Cenários de Solução de Problemas</a:t>
            </a:r>
            <a:br>
              <a:rPr lang="en-US" sz="1600" dirty="0"/>
            </a:br>
            <a:r>
              <a:rPr sz="2400" lang="pt-BR"/>
              <a:t>Packet Tracer – Solucione Problemas de Conectividade</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sz="1800" lang="pt-BR">
                <a:solidFill>
                  <a:srgbClr val="000000"/>
                </a:solidFill>
              </a:rPr>
              <a:t>O objetivo desta atividade do Packet Tracer é solucionar problemas de conectividade, se possível. Caso contrário, os problemas deverão ser documentados de forma clara para que possam ser encaminhados.</a:t>
            </a:r>
          </a:p>
        </p:txBody>
      </p:sp>
    </p:spTree>
    <p:extLst>
      <p:ext uri="{BB962C8B-B14F-4D97-AF65-F5344CB8AC3E}">
        <p14:creationId xmlns:p14="http://schemas.microsoft.com/office/powerpoint/2010/main" val="17820364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301675"/>
          </a:xfrm>
        </p:spPr>
        <p:txBody>
          <a:bodyPr/>
          <a:lstStyle/>
          <a:p>
            <a:pPr rtl="0"/>
            <a:r>
              <a:rPr sz="1600" lang="pt-BR"/>
              <a:t>Cenários de Solução de Problemas</a:t>
            </a:r>
            <a:br>
              <a:rPr lang="en-US" sz="1600" dirty="0"/>
            </a:br>
            <a:r>
              <a:rPr sz="2400" lang="pt-BR"/>
              <a:t>Packet Tracer – Solucione Problemas de Conectividade– Modo Físico</a:t>
            </a:r>
            <a:br>
              <a:rPr lang="en-US" sz="2400" dirty="0"/>
            </a:br>
            <a:r>
              <a:rPr sz="2400" lang="pt-BR"/>
              <a:t>Laboratório - Solucione Problemas de Conectividade </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31971" y="1596924"/>
            <a:ext cx="8280057" cy="3689897"/>
          </a:xfrm>
        </p:spPr>
        <p:txBody>
          <a:bodyPr/>
          <a:lstStyle/>
          <a:p>
            <a:pPr marL="0" indent="0" algn="l" rtl="0"/>
            <a:r>
              <a:rPr sz="1800" lang="pt-BR">
                <a:solidFill>
                  <a:srgbClr val="000000"/>
                </a:solidFill>
              </a:rPr>
              <a:t>Nesta atividade do modo físico do Packet Tracer e no laboratório, você completará os seguintes objetivos:</a:t>
            </a:r>
          </a:p>
          <a:p>
            <a:pPr marL="342900" indent="-342900" algn="l" rtl="0">
              <a:buFont typeface="Arial" panose="020B0604020202020204" pitchFamily="34" charset="0"/>
              <a:buChar char="•"/>
            </a:pPr>
            <a:r>
              <a:rPr sz="1800" lang="pt-BR">
                <a:solidFill>
                  <a:srgbClr val="000000"/>
                </a:solidFill>
              </a:rPr>
              <a:t>Identificar o problema</a:t>
            </a:r>
          </a:p>
          <a:p>
            <a:pPr marL="342900" indent="-342900" algn="l" rtl="0">
              <a:buFont typeface="Arial" panose="020B0604020202020204" pitchFamily="34" charset="0"/>
              <a:buChar char="•"/>
            </a:pPr>
            <a:r>
              <a:rPr sz="1800" lang="pt-BR">
                <a:solidFill>
                  <a:srgbClr val="000000"/>
                </a:solidFill>
              </a:rPr>
              <a:t>Implementar alterações de rede</a:t>
            </a:r>
          </a:p>
          <a:p>
            <a:pPr marL="342900" indent="-342900" algn="l" rtl="0">
              <a:buFont typeface="Arial" panose="020B0604020202020204" pitchFamily="34" charset="0"/>
              <a:buChar char="•"/>
            </a:pPr>
            <a:r>
              <a:rPr sz="1800" lang="pt-BR">
                <a:solidFill>
                  <a:srgbClr val="000000"/>
                </a:solidFill>
              </a:rPr>
              <a:t>Verificar a funcionalidade completa</a:t>
            </a:r>
          </a:p>
          <a:p>
            <a:pPr marL="342900" indent="-342900" algn="l" rtl="0">
              <a:buFont typeface="Arial" panose="020B0604020202020204" pitchFamily="34" charset="0"/>
              <a:buChar char="•"/>
            </a:pPr>
            <a:r>
              <a:rPr sz="1800" lang="pt-BR">
                <a:solidFill>
                  <a:srgbClr val="000000"/>
                </a:solidFill>
              </a:rPr>
              <a:t>Documentar descobertas e alterações de configuração</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35419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17.8 -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29870"/>
          </a:xfrm>
        </p:spPr>
        <p:txBody>
          <a:bodyPr/>
          <a:lstStyle/>
          <a:p>
            <a:pPr rtl="0"/>
            <a:r>
              <a:rPr sz="1600" lang="pt-BR"/>
              <a:t>Cenários de Solução de Problemas</a:t>
            </a:r>
            <a:br>
              <a:rPr lang="en-US" sz="1600" dirty="0"/>
            </a:br>
            <a:r>
              <a:rPr sz="2400" lang="pt-BR"/>
              <a:t>Packet Tracer – Projeto e Desenvolvimento de uma Pequena Rede de Negócios – Modo Físico</a:t>
            </a:r>
            <a:br>
              <a:rPr lang="en-US" sz="2400" dirty="0"/>
            </a:br>
            <a:r>
              <a:rPr sz="2400" lang="pt-BR"/>
              <a:t>Laboratório – Projeto e Desenvolvimento de uma Pequena Rede de Negócios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31971" y="1291236"/>
            <a:ext cx="8280057" cy="2592276"/>
          </a:xfrm>
        </p:spPr>
        <p:txBody>
          <a:bodyPr/>
          <a:lstStyle/>
          <a:p>
            <a:pPr marL="0" indent="0" algn="l" rtl="0"/>
            <a:r>
              <a:rPr sz="1600" lang="pt-BR">
                <a:solidFill>
                  <a:srgbClr val="000000"/>
                </a:solidFill>
              </a:rPr>
              <a:t>Nesta atividade do modo físico do Packet Tracer e no laboratório, você completará os seguintes objetivos:</a:t>
            </a:r>
          </a:p>
          <a:p>
            <a:pPr marL="0" indent="0" algn="l"/>
            <a:endParaRPr lang="en-US" sz="1600" dirty="0">
              <a:solidFill>
                <a:srgbClr val="000000"/>
              </a:solidFill>
            </a:endParaRPr>
          </a:p>
          <a:p>
            <a:pPr marL="285750" indent="-285750" algn="l" rtl="0">
              <a:buFont typeface="Arial" panose="020B0604020202020204" pitchFamily="34" charset="0"/>
              <a:buChar char="•"/>
            </a:pPr>
            <a:r>
              <a:rPr sz="1600" lang="pt-BR">
                <a:solidFill>
                  <a:srgbClr val="000000"/>
                </a:solidFill>
              </a:rPr>
              <a:t>Projeto e Desenvolvimento de uma Rede</a:t>
            </a:r>
          </a:p>
          <a:p>
            <a:pPr marL="285750" indent="-285750" algn="l" rtl="0">
              <a:buFont typeface="Arial" panose="020B0604020202020204" pitchFamily="34" charset="0"/>
              <a:buChar char="•"/>
            </a:pPr>
            <a:r>
              <a:rPr sz="1600" lang="pt-BR">
                <a:solidFill>
                  <a:srgbClr val="000000"/>
                </a:solidFill>
              </a:rPr>
              <a:t>Explicar como é criada uma pequena rede de segmentos diretamente conectados, configurados e verificados</a:t>
            </a:r>
          </a:p>
        </p:txBody>
      </p:sp>
    </p:spTree>
    <p:extLst>
      <p:ext uri="{BB962C8B-B14F-4D97-AF65-F5344CB8AC3E}">
        <p14:creationId xmlns:p14="http://schemas.microsoft.com/office/powerpoint/2010/main" val="40698285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Solucionando problemas de cenários </a:t>
            </a:r>
            <a:br>
              <a:rPr lang="en-US" sz="1600" dirty="0"/>
            </a:br>
            <a:r>
              <a:rPr sz="2400" lang="pt-BR"/>
              <a:t>Packet Tracer - Desafio de integração de habilidades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Nesta atividade de Tracer de Pacotes, você usará todas as habilidades adquiridas ao longo deste curso.</a:t>
            </a:r>
          </a:p>
          <a:p>
            <a:pPr marL="0" indent="0" algn="l"/>
            <a:endParaRPr lang="en-US" sz="1600" dirty="0">
              <a:solidFill>
                <a:srgbClr val="000000"/>
              </a:solidFill>
            </a:endParaRPr>
          </a:p>
          <a:p>
            <a:pPr marL="0" indent="0" algn="l" rtl="0"/>
            <a:r>
              <a:rPr sz="1600" lang="pt-BR">
                <a:solidFill>
                  <a:srgbClr val="000000"/>
                </a:solidFill>
              </a:rPr>
              <a:t>Cenário:</a:t>
            </a:r>
          </a:p>
          <a:p>
            <a:pPr marL="0" indent="0" algn="l"/>
            <a:endParaRPr lang="en-US" sz="1600" dirty="0">
              <a:solidFill>
                <a:srgbClr val="000000"/>
              </a:solidFill>
            </a:endParaRPr>
          </a:p>
          <a:p>
            <a:pPr marL="0" indent="0" algn="l" rtl="0"/>
            <a:r>
              <a:rPr sz="1600" lang="pt-BR">
                <a:solidFill>
                  <a:srgbClr val="000000"/>
                </a:solidFill>
              </a:rPr>
              <a:t>Os roteadores Central, do cluster do ISP e o servidor Web estão completamente configurados. Você deve criar um novo esquema de endereçamento IPv4 que acomode 4 sub-redes usando a rede 192.168.0.0/24. O maior departamento de TI precisa de 25 hosts. O maior departamento de vendas (Sales) precisa de 50 hosts. A sub-rede para o restante da equipe (staff) precisa de 100 hosts. Uma sub-rede para convidados (guest) será futuramente adicionada para acomodar 25 hosts. Você também deve concluir as configurações básicas de segurança e as configurações de interface no R1. Em seguida, você definirá a interface SVI e as configurações básicas de segurança nos comutadores S1, S2 e S3.</a:t>
            </a:r>
          </a:p>
        </p:txBody>
      </p:sp>
    </p:spTree>
    <p:extLst>
      <p:ext uri="{BB962C8B-B14F-4D97-AF65-F5344CB8AC3E}">
        <p14:creationId xmlns:p14="http://schemas.microsoft.com/office/powerpoint/2010/main" val="2446794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Cenários de Solução de Problemas</a:t>
            </a:r>
            <a:br>
              <a:rPr lang="en-US" sz="1600" dirty="0"/>
            </a:br>
            <a:r>
              <a:rPr sz="2400" lang="pt-BR"/>
              <a:t>Packet Tracer – Desafio de Solução de Problemas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sz="1600" lang="pt-BR">
                <a:solidFill>
                  <a:srgbClr val="000000"/>
                </a:solidFill>
              </a:rPr>
              <a:t>Nesta atividade de rastreador de pacotes, você solucionará e resolverá vários problemas em uma LAN existente.</a:t>
            </a:r>
          </a:p>
        </p:txBody>
      </p:sp>
    </p:spTree>
    <p:extLst>
      <p:ext uri="{BB962C8B-B14F-4D97-AF65-F5344CB8AC3E}">
        <p14:creationId xmlns:p14="http://schemas.microsoft.com/office/powerpoint/2010/main" val="4362591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pt-BR">
                <a:latin typeface="Arial" charset="0"/>
              </a:rPr>
              <a:t>Módulo Prático e Quiz</a:t>
            </a:r>
            <a:br>
              <a:rPr lang="en-US" dirty="0">
                <a:latin typeface="Arial" charset="0"/>
              </a:rPr>
            </a:br>
            <a:r>
              <a:rPr lang="pt-BR">
                <a:latin typeface="Arial" charset="0"/>
              </a:rPr>
              <a:t>O Que eu Aprendi Neste Módulo?</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5357" y="687724"/>
            <a:ext cx="8853286" cy="4155319"/>
          </a:xfrm>
        </p:spPr>
        <p:txBody>
          <a:bodyPr/>
          <a:lstStyle/>
          <a:p>
            <a:pPr rtl="0">
              <a:spcBef>
                <a:spcPts val="0"/>
              </a:spcBef>
              <a:spcAft>
                <a:spcPts val="0"/>
              </a:spcAft>
              <a:buFont typeface="Arial" panose="020B0604020202020204" pitchFamily="34" charset="0"/>
              <a:buChar char="•"/>
            </a:pPr>
            <a:r>
              <a:rPr sz="1600" lang="pt-BR"/>
              <a:t>Os fatores a serem considerados ao selecionar dispositivos de rede para uma rede pequena são custo, velocidade e tipos de portas/interfaces, capacidade de expansão e recursos e serviços do SO. </a:t>
            </a:r>
          </a:p>
          <a:p>
            <a:pPr rtl="0">
              <a:spcBef>
                <a:spcPts val="0"/>
              </a:spcBef>
              <a:spcAft>
                <a:spcPts val="0"/>
              </a:spcAft>
              <a:buFont typeface="Arial" panose="020B0604020202020204" pitchFamily="34" charset="0"/>
              <a:buChar char="•"/>
            </a:pPr>
            <a:r>
              <a:rPr sz="1600" lang="pt-BR"/>
              <a:t>Ao implementar uma rede, crie um esquema de endereçamento IP e use-o em dispositivos finais, servidores e periféricos e dispositivos intermediários. </a:t>
            </a:r>
          </a:p>
          <a:p>
            <a:pPr rtl="0">
              <a:spcBef>
                <a:spcPts val="0"/>
              </a:spcBef>
              <a:spcAft>
                <a:spcPts val="0"/>
              </a:spcAft>
              <a:buFont typeface="Arial" panose="020B0604020202020204" pitchFamily="34" charset="0"/>
              <a:buChar char="•"/>
            </a:pPr>
            <a:r>
              <a:rPr sz="1600" lang="pt-BR"/>
              <a:t>A redundância pode ser conseguida instalando equipamentos duplicados, mas também pode ser fornecida fornecendo links de rede duplicados para áreas críticas. </a:t>
            </a:r>
          </a:p>
          <a:p>
            <a:pPr rtl="0">
              <a:spcBef>
                <a:spcPts val="0"/>
              </a:spcBef>
              <a:spcAft>
                <a:spcPts val="0"/>
              </a:spcAft>
              <a:buFont typeface="Arial" panose="020B0604020202020204" pitchFamily="34" charset="0"/>
              <a:buChar char="•"/>
            </a:pPr>
            <a:r>
              <a:rPr sz="1600" lang="pt-BR"/>
              <a:t>Os roteadores e comutadores em uma rede pequena devem ser configurados para rastrear o tráfego em tempo real, como voz e vídeo, de maneira possível em relação a outro tráfego de dados. </a:t>
            </a:r>
          </a:p>
          <a:p>
            <a:pPr rtl="0">
              <a:spcBef>
                <a:spcPts val="0"/>
              </a:spcBef>
              <a:spcAft>
                <a:spcPts val="0"/>
              </a:spcAft>
              <a:buFont typeface="Arial" panose="020B0604020202020204" pitchFamily="34" charset="0"/>
              <a:buChar char="•"/>
            </a:pPr>
            <a:r>
              <a:rPr sz="1600" lang="pt-BR"/>
              <a:t>Há duas formas de programas de software ou processos que fornecem acesso à rede: aplicações de rede e serviços da camada de aplicação.</a:t>
            </a:r>
          </a:p>
          <a:p>
            <a:pPr rtl="0">
              <a:spcBef>
                <a:spcPts val="0"/>
              </a:spcBef>
              <a:spcAft>
                <a:spcPts val="0"/>
              </a:spcAft>
              <a:buFont typeface="Arial" panose="020B0604020202020204" pitchFamily="34" charset="0"/>
              <a:buChar char="•"/>
            </a:pPr>
            <a:r>
              <a:rPr sz="1600" lang="pt-BR"/>
              <a:t>Para dimensionar uma rede, vários elementos são necessários: documentação de rede, inventário de dispositivos, orçamento e análise de tráfego. </a:t>
            </a:r>
          </a:p>
          <a:p>
            <a:pPr rtl="0">
              <a:spcBef>
                <a:spcPts val="0"/>
              </a:spcBef>
              <a:spcAft>
                <a:spcPts val="0"/>
              </a:spcAft>
              <a:buFont typeface="Arial" panose="020B0604020202020204" pitchFamily="34" charset="0"/>
              <a:buChar char="•"/>
            </a:pPr>
            <a:r>
              <a:rPr sz="1600" lang="pt-BR"/>
              <a:t>O comando ping é a maneira mais eficaz de testar rapidamente a conectividade da Camada 3 entre um endereço IP de origem e de destino. </a:t>
            </a:r>
          </a:p>
          <a:p>
            <a:pPr rtl="0">
              <a:spcBef>
                <a:spcPts val="0"/>
              </a:spcBef>
              <a:spcAft>
                <a:spcPts val="0"/>
              </a:spcAft>
              <a:buFont typeface="Arial" panose="020B0604020202020204" pitchFamily="34" charset="0"/>
              <a:buChar char="•"/>
            </a:pPr>
            <a:r>
              <a:rPr sz="1600" lang="pt-BR"/>
              <a:t>O Cisco IOS oferece um modo “estendido” do comando ping que permite ao usuário criar tipos especiais de pings ajustando parâmetros relacionados à operação do comando.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pt-BR">
                <a:latin typeface="Arial" charset="0"/>
              </a:rPr>
              <a:t>Módulo Prático e Quiz</a:t>
            </a:r>
            <a:br>
              <a:rPr lang="en-US" dirty="0">
                <a:latin typeface="Arial" charset="0"/>
              </a:rPr>
            </a:br>
            <a:r>
              <a:rPr lang="pt-BR">
                <a:latin typeface="Arial" charset="0"/>
              </a:rPr>
              <a:t>O Que eu Aprendi Neste Módulo (Cont.)?</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sz="1600" lang="pt-BR"/>
              <a:t>O comando trace retorna uma lista dos saltos no roteamento de um pacote pela rede. </a:t>
            </a:r>
          </a:p>
          <a:p>
            <a:pPr rtl="0">
              <a:spcBef>
                <a:spcPts val="0"/>
              </a:spcBef>
              <a:spcAft>
                <a:spcPts val="0"/>
              </a:spcAft>
              <a:buFont typeface="Arial" panose="020B0604020202020204" pitchFamily="34" charset="0"/>
              <a:buChar char="•"/>
            </a:pPr>
            <a:r>
              <a:rPr sz="1600" lang="pt-BR"/>
              <a:t>Há também um comando traceroute estendido. Ele permite que o administrador ajuste parâmetros relacionados à operação de comando. </a:t>
            </a:r>
          </a:p>
          <a:p>
            <a:pPr rtl="0">
              <a:spcBef>
                <a:spcPts val="0"/>
              </a:spcBef>
              <a:spcAft>
                <a:spcPts val="0"/>
              </a:spcAft>
              <a:buFont typeface="Arial" panose="020B0604020202020204" pitchFamily="34" charset="0"/>
              <a:buChar char="•"/>
            </a:pPr>
            <a:r>
              <a:rPr sz="1600" lang="pt-BR"/>
              <a:t>Os administradores de rede exibem as informações de endereçamento IP (endereço, máscara, roteador e DNS) em um host Windows emitindo o comando ipconfig. Outros comandos necessários são </a:t>
            </a:r>
            <a:r>
              <a:rPr sz="1600" b="true" lang="pt-BR"/>
              <a:t>ipconfig /all</a:t>
            </a:r>
            <a:r>
              <a:rPr sz="1600" lang="pt-BR"/>
              <a:t>, </a:t>
            </a:r>
            <a:r>
              <a:rPr sz="1600" b="true" lang="pt-BR"/>
              <a:t>ipconfig /release</a:t>
            </a:r>
            <a:r>
              <a:rPr sz="1600" lang="pt-BR"/>
              <a:t>e </a:t>
            </a:r>
            <a:r>
              <a:rPr sz="1600" b="true" lang="pt-BR"/>
              <a:t>ipconfig /renew</a:t>
            </a:r>
            <a:r>
              <a:rPr sz="1600" lang="pt-BR"/>
              <a:t>e </a:t>
            </a:r>
            <a:r>
              <a:rPr sz="1600" b="true" lang="pt-BR"/>
              <a:t>ipconfig /displaydns</a:t>
            </a:r>
            <a:r>
              <a:rPr sz="1600" lang="pt-BR"/>
              <a:t>. </a:t>
            </a:r>
          </a:p>
          <a:p>
            <a:pPr rtl="0">
              <a:spcBef>
                <a:spcPts val="0"/>
              </a:spcBef>
              <a:spcAft>
                <a:spcPts val="0"/>
              </a:spcAft>
              <a:buFont typeface="Arial" panose="020B0604020202020204" pitchFamily="34" charset="0"/>
              <a:buChar char="•"/>
            </a:pPr>
            <a:r>
              <a:rPr sz="1600" lang="pt-BR"/>
              <a:t>A verificação das configurações de IP usando a GUI em uma máquina Linux será diferente dependendo da distribuição Linux (distro) e da interface de desktop. Os comandos necessários são ifconfig e ip address. </a:t>
            </a:r>
          </a:p>
          <a:p>
            <a:pPr rtl="0">
              <a:spcBef>
                <a:spcPts val="0"/>
              </a:spcBef>
              <a:spcAft>
                <a:spcPts val="0"/>
              </a:spcAft>
              <a:buFont typeface="Arial" panose="020B0604020202020204" pitchFamily="34" charset="0"/>
              <a:buChar char="•"/>
            </a:pPr>
            <a:r>
              <a:rPr sz="1600" lang="pt-BR"/>
              <a:t>Na GUI de um host Mac, abra Preferências de Rede &gt; Avançadas para obter as informações de endereçamento IP. Outros comandos de endereçamento IP para Mac são ifconfig e networksetup -listallnetworkservices e networksetup -getinfo &lt;network service&gt;. </a:t>
            </a:r>
          </a:p>
          <a:p>
            <a:pPr rtl="0">
              <a:spcBef>
                <a:spcPts val="0"/>
              </a:spcBef>
              <a:spcAft>
                <a:spcPts val="0"/>
              </a:spcAft>
              <a:buFont typeface="Arial" panose="020B0604020202020204" pitchFamily="34" charset="0"/>
              <a:buChar char="•"/>
            </a:pPr>
            <a:r>
              <a:rPr sz="1600" lang="pt-BR"/>
              <a:t>O comando </a:t>
            </a:r>
            <a:r>
              <a:rPr sz="1600" b="true" lang="pt-BR"/>
              <a:t>arp</a:t>
            </a:r>
            <a:r>
              <a:rPr sz="1600" lang="pt-BR"/>
              <a:t> é executado a partir do prompt de comando do Windows, Linux ou Mac. O comando lista todos os dispositivos atualmente no cache ARP do host, que inclui o endereço IPv4, endereço físico e o tipo de endereçamento (estático / dinâmico) para cada dispositivo. </a:t>
            </a:r>
          </a:p>
          <a:p>
            <a:pPr rtl="0">
              <a:spcBef>
                <a:spcPts val="0"/>
              </a:spcBef>
              <a:spcAft>
                <a:spcPts val="0"/>
              </a:spcAft>
              <a:buFont typeface="Arial" panose="020B0604020202020204" pitchFamily="34" charset="0"/>
              <a:buChar char="•"/>
            </a:pPr>
            <a:r>
              <a:rPr sz="1600" lang="pt-BR"/>
              <a:t>O comando </a:t>
            </a:r>
            <a:r>
              <a:rPr sz="1600" b="true" lang="pt-BR"/>
              <a:t>arp -a</a:t>
            </a:r>
            <a:r>
              <a:rPr sz="1600" lang="pt-BR"/>
              <a:t> exibe o endereço IP conhecido e a vinculação de endereço MAC.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51846859"/>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pt-BR">
                <a:latin typeface="Arial" charset="0"/>
              </a:rPr>
              <a:t>Módulo Prático e Quiz</a:t>
            </a:r>
            <a:br>
              <a:rPr lang="en-US" dirty="0">
                <a:latin typeface="Arial" charset="0"/>
              </a:rPr>
            </a:br>
            <a:r>
              <a:rPr lang="pt-BR">
                <a:latin typeface="Arial" charset="0"/>
              </a:rPr>
              <a:t>O Que eu Aprendi Neste Módulo? (Cont.)?</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4065" y="687724"/>
            <a:ext cx="9066610" cy="4155319"/>
          </a:xfrm>
        </p:spPr>
        <p:txBody>
          <a:bodyPr/>
          <a:lstStyle/>
          <a:p>
            <a:pPr rtl="0">
              <a:spcBef>
                <a:spcPts val="0"/>
              </a:spcBef>
              <a:spcAft>
                <a:spcPts val="0"/>
              </a:spcAft>
              <a:buFont typeface="Arial" panose="020B0604020202020204" pitchFamily="34" charset="0"/>
              <a:buChar char="•"/>
            </a:pPr>
            <a:r>
              <a:rPr sz="1450" lang="pt-BR"/>
              <a:t>Os comandos show comuns são </a:t>
            </a:r>
            <a:r>
              <a:rPr sz="1450" b="true" lang="pt-BR"/>
              <a:t>show running-config</a:t>
            </a:r>
            <a:r>
              <a:rPr sz="1450" lang="pt-BR"/>
              <a:t>, </a:t>
            </a:r>
            <a:r>
              <a:rPr sz="1450" b="true" lang="pt-BR"/>
              <a:t>show interfaces</a:t>
            </a:r>
            <a:r>
              <a:rPr sz="1450" lang="pt-BR"/>
              <a:t>, </a:t>
            </a:r>
            <a:r>
              <a:rPr sz="1450" b="true" lang="pt-BR"/>
              <a:t>show ip address</a:t>
            </a:r>
            <a:r>
              <a:rPr sz="1450" lang="pt-BR"/>
              <a:t>, </a:t>
            </a:r>
            <a:r>
              <a:rPr sz="1450" b="true" lang="pt-BR"/>
              <a:t>show arp</a:t>
            </a:r>
            <a:r>
              <a:rPr sz="1450" lang="pt-BR"/>
              <a:t>, </a:t>
            </a:r>
            <a:r>
              <a:rPr sz="1450" b="true" lang="pt-BR"/>
              <a:t>show ip route</a:t>
            </a:r>
            <a:r>
              <a:rPr sz="1450" lang="pt-BR"/>
              <a:t>, </a:t>
            </a:r>
            <a:r>
              <a:rPr sz="1450" b="true" lang="pt-BR"/>
              <a:t>show protocols</a:t>
            </a:r>
            <a:r>
              <a:rPr sz="1450" lang="pt-BR"/>
              <a:t>e </a:t>
            </a:r>
            <a:r>
              <a:rPr sz="1450" b="true" lang="pt-BR"/>
              <a:t>show version</a:t>
            </a:r>
            <a:r>
              <a:rPr sz="1450" lang="pt-BR"/>
              <a:t>. O comando </a:t>
            </a:r>
            <a:r>
              <a:rPr sz="1450" b="true" lang="pt-BR"/>
              <a:t>show cdp neighbor</a:t>
            </a:r>
            <a:r>
              <a:rPr sz="1450" lang="pt-BR"/>
              <a:t> fornece as seguintes informações sobre cada dispositivo vizinho do CDP: identificadores, lista de endereços, identificador de porta, lista de recursos e plataforma. </a:t>
            </a:r>
          </a:p>
          <a:p>
            <a:pPr rtl="0">
              <a:spcBef>
                <a:spcPts val="0"/>
              </a:spcBef>
              <a:spcAft>
                <a:spcPts val="0"/>
              </a:spcAft>
              <a:buFont typeface="Arial" panose="020B0604020202020204" pitchFamily="34" charset="0"/>
              <a:buChar char="•"/>
            </a:pPr>
            <a:r>
              <a:rPr sz="1450" lang="pt-BR"/>
              <a:t>O comando </a:t>
            </a:r>
            <a:r>
              <a:rPr sz="1450" b="true" lang="pt-BR"/>
              <a:t>show cdp neighbors detail </a:t>
            </a:r>
            <a:r>
              <a:rPr sz="1450" lang="pt-BR"/>
              <a:t>ajudará a determinar se um dos vizinhos CDP apresenta um erro de configuração IP. </a:t>
            </a:r>
          </a:p>
          <a:p>
            <a:pPr rtl="0">
              <a:spcBef>
                <a:spcPts val="0"/>
              </a:spcBef>
              <a:spcAft>
                <a:spcPts val="0"/>
              </a:spcAft>
              <a:buFont typeface="Arial" panose="020B0604020202020204" pitchFamily="34" charset="0"/>
              <a:buChar char="•"/>
            </a:pPr>
            <a:r>
              <a:rPr sz="1450" lang="pt-BR"/>
              <a:t>A saída de </a:t>
            </a:r>
            <a:r>
              <a:rPr sz="1450" b="true" lang="pt-BR"/>
              <a:t>show ip interface brief</a:t>
            </a:r>
            <a:r>
              <a:rPr sz="1450" lang="pt-BR"/>
              <a:t> exibe todas as interfaces no roteador, o endereço IP atribuído a cada interface, se houver, e o status operacional da interface.</a:t>
            </a:r>
          </a:p>
          <a:p>
            <a:pPr rtl="0">
              <a:spcBef>
                <a:spcPts val="0"/>
              </a:spcBef>
              <a:spcAft>
                <a:spcPts val="0"/>
              </a:spcAft>
              <a:buFont typeface="Arial" panose="020B0604020202020204" pitchFamily="34" charset="0"/>
              <a:buChar char="•"/>
            </a:pPr>
            <a:r>
              <a:rPr sz="1450" lang="pt-BR"/>
              <a:t>As seis etapas básicas para a solução de problemas da Etapa 1. Identificar o problema 2. Estabeleça uma teoria das causas prováveis. Etapa 3. Teste da teoria para determinar a causa. Etapa 4. Estabeleça um plano de ação e implemente a solução. Etapa 5. Verificar a solução e implementar medidas preventivas. Etapa 6. Documentar as descobertas, as ações e os resultados.</a:t>
            </a:r>
          </a:p>
          <a:p>
            <a:pPr rtl="0">
              <a:spcBef>
                <a:spcPts val="0"/>
              </a:spcBef>
              <a:spcAft>
                <a:spcPts val="0"/>
              </a:spcAft>
              <a:buFont typeface="Arial" panose="020B0604020202020204" pitchFamily="34" charset="0"/>
              <a:buChar char="•"/>
            </a:pPr>
            <a:r>
              <a:rPr sz="1450" lang="pt-BR"/>
              <a:t>Um problema deve ser escalado quando requerer a decisão de um gerente, algum conhecimento específico ou nível de acesso à rede indisponível para o técnico de solução de problemas. </a:t>
            </a:r>
          </a:p>
          <a:p>
            <a:pPr rtl="0">
              <a:spcBef>
                <a:spcPts val="0"/>
              </a:spcBef>
              <a:spcAft>
                <a:spcPts val="0"/>
              </a:spcAft>
              <a:buFont typeface="Arial" panose="020B0604020202020204" pitchFamily="34" charset="0"/>
              <a:buChar char="•"/>
            </a:pPr>
            <a:r>
              <a:rPr sz="1450" lang="pt-BR"/>
              <a:t>Os processos, protocolos, mecanismos e eventos do IOS geram mensagens para comunicar seus status. O comando de debug do IOS permite que o administrador exiba essas mensagens em tempo real para análise. </a:t>
            </a:r>
          </a:p>
          <a:p>
            <a:pPr rtl="0">
              <a:spcBef>
                <a:spcPts val="0"/>
              </a:spcBef>
              <a:spcAft>
                <a:spcPts val="0"/>
              </a:spcAft>
              <a:buFont typeface="Arial" panose="020B0604020202020204" pitchFamily="34" charset="0"/>
              <a:buChar char="•"/>
            </a:pPr>
            <a:r>
              <a:rPr sz="1450" lang="pt-BR"/>
              <a:t>Para direcionar a exibição das mensagens de registro do sistema em um terminal (console virtual), use o comando terminal monitor no modo EXEC privilegiado.</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656539"/>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rtl="0"/>
            <a:r>
              <a:rPr sz="1400" lang="pt-BR">
                <a:latin typeface="Arial" charset="0"/>
              </a:rPr>
              <a:t>Módulo 17: Desenvolvendo uma Pequena Rede</a:t>
            </a:r>
            <a:br>
              <a:rPr lang="en-US" dirty="0">
                <a:latin typeface="Arial" charset="0"/>
              </a:rPr>
            </a:br>
            <a:r>
              <a:rPr lang="pt-BR">
                <a:latin typeface="Arial" charset="0"/>
              </a:rPr>
              <a:t>Novos Termos e Comandos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427935" cy="4155319"/>
          </a:xfrm>
        </p:spPr>
        <p:txBody>
          <a:bodyPr/>
          <a:lstStyle/>
          <a:p>
            <a:pPr rtl="0">
              <a:buFont typeface="Arial" panose="020B0604020202020204" pitchFamily="34" charset="0"/>
              <a:buChar char="•"/>
            </a:pPr>
            <a:r>
              <a:rPr sz="1400" lang="pt-BR"/>
              <a:t>Aplicações de rede</a:t>
            </a:r>
          </a:p>
          <a:p>
            <a:pPr rtl="0">
              <a:buFont typeface="Arial" panose="020B0604020202020204" pitchFamily="34" charset="0"/>
              <a:buChar char="•"/>
            </a:pPr>
            <a:r>
              <a:rPr sz="1400" lang="pt-BR"/>
              <a:t>serviços da camada de aplicação</a:t>
            </a:r>
          </a:p>
          <a:p>
            <a:pPr rtl="0">
              <a:buFont typeface="Arial" panose="020B0604020202020204" pitchFamily="34" charset="0"/>
              <a:buChar char="•"/>
            </a:pPr>
            <a:r>
              <a:rPr sz="1400" lang="pt-BR"/>
              <a:t>Ping Estendido</a:t>
            </a:r>
          </a:p>
          <a:p>
            <a:pPr rtl="0">
              <a:buFont typeface="Arial" panose="020B0604020202020204" pitchFamily="34" charset="0"/>
              <a:buChar char="•"/>
            </a:pPr>
            <a:r>
              <a:rPr sz="1400" lang="pt-BR"/>
              <a:t>Traceroute estendido</a:t>
            </a:r>
          </a:p>
          <a:p>
            <a:pPr rtl="0">
              <a:buFont typeface="Arial" panose="020B0604020202020204" pitchFamily="34" charset="0"/>
              <a:buChar char="•"/>
            </a:pPr>
            <a:r>
              <a:rPr sz="1400" lang="pt-BR"/>
              <a:t>linha de base de rede</a:t>
            </a:r>
          </a:p>
          <a:p>
            <a:pPr rtl="0">
              <a:buFont typeface="Arial" panose="020B0604020202020204" pitchFamily="34" charset="0"/>
              <a:buChar char="•"/>
            </a:pPr>
            <a:r>
              <a:rPr sz="1400" b="true" lang="pt-BR"/>
              <a:t>ifconfig</a:t>
            </a:r>
          </a:p>
          <a:p>
            <a:pPr rtl="0">
              <a:buFont typeface="Arial" panose="020B0604020202020204" pitchFamily="34" charset="0"/>
              <a:buChar char="•"/>
            </a:pPr>
            <a:r>
              <a:rPr sz="1400" b="true" lang="pt-BR"/>
              <a:t>netsh interface ip delete arpcache</a:t>
            </a:r>
          </a:p>
          <a:p>
            <a:pPr rtl="0">
              <a:buFont typeface="Arial" panose="020B0604020202020204" pitchFamily="34" charset="0"/>
              <a:buChar char="•"/>
            </a:pPr>
            <a:r>
              <a:rPr sz="1400" lang="pt-BR"/>
              <a:t>método científico</a:t>
            </a:r>
          </a:p>
          <a:p>
            <a:pPr rtl="0">
              <a:buFont typeface="Arial" panose="020B0604020202020204" pitchFamily="34" charset="0"/>
              <a:buChar char="•"/>
            </a:pPr>
            <a:r>
              <a:rPr sz="1400" b="true" lang="pt-BR"/>
              <a:t>depurar</a:t>
            </a:r>
          </a:p>
          <a:p>
            <a:pPr rtl="0">
              <a:buFont typeface="Arial" panose="020B0604020202020204" pitchFamily="34" charset="0"/>
              <a:buChar char="•"/>
            </a:pPr>
            <a:r>
              <a:rPr sz="1400" b="true" lang="pt-BR"/>
              <a:t>terminal monitor</a:t>
            </a:r>
          </a:p>
          <a:p>
            <a:endParaRPr lang="en-US" sz="1400" dirty="0"/>
          </a:p>
          <a:p>
            <a:endParaRPr lang="en-US" sz="14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8932</TotalTime>
  <Words>7683</Words>
  <Application>Microsoft Office PowerPoint</Application>
  <PresentationFormat>On-screen Show (16:9)</PresentationFormat>
  <Paragraphs>744</Paragraphs>
  <Slides>71</Slides>
  <Notes>69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CiscoSans ExtraLight</vt:lpstr>
      <vt:lpstr>Arial</vt:lpstr>
      <vt:lpstr>Calibri</vt:lpstr>
      <vt:lpstr>Wingdings</vt:lpstr>
      <vt:lpstr>Default Theme</vt:lpstr>
      <vt:lpstr>Module 17: Build a Small Network</vt:lpstr>
      <vt:lpstr>Instructor Materials – Module 17 Planning Guide</vt:lpstr>
      <vt:lpstr>What to Expect in this Module</vt:lpstr>
      <vt:lpstr>What to Expect in this Module (Cont.)</vt:lpstr>
      <vt:lpstr>Check Your Understanding</vt:lpstr>
      <vt:lpstr>Packet Tracer Physical Mode Activities</vt:lpstr>
      <vt:lpstr>Module 17: Activities</vt:lpstr>
      <vt:lpstr>Module 17: Activities (Cont.)</vt:lpstr>
      <vt:lpstr>Module 17: Best Practices</vt:lpstr>
      <vt:lpstr>Module 17: Best Practices (Cont.)</vt:lpstr>
      <vt:lpstr>Module 17: Best Practices (Cont.)</vt:lpstr>
      <vt:lpstr>Module 17: Build a Small Network</vt:lpstr>
      <vt:lpstr>Module Objectives</vt:lpstr>
      <vt:lpstr>17.1 Devices in a Small Network</vt:lpstr>
      <vt:lpstr>Devices in a Small Network Small Network Topologies</vt:lpstr>
      <vt:lpstr>Devices in a Small Network Device Selection for a Small Network</vt:lpstr>
      <vt:lpstr>Devices in a Small Network IP Addressing for a Small Network</vt:lpstr>
      <vt:lpstr>Devices in a Small Network Redundancy in a Small Network</vt:lpstr>
      <vt:lpstr>Devices in a Small Network Traffic Management</vt:lpstr>
      <vt:lpstr>17.2 Small Network Applications and Protocols</vt:lpstr>
      <vt:lpstr>Small Network Applications and Protocols Common Applications</vt:lpstr>
      <vt:lpstr>Small Network Applications and Protocols Common Protocols</vt:lpstr>
      <vt:lpstr>Small Network Applications and Protocols Common Protocols (Cont.)</vt:lpstr>
      <vt:lpstr>Small Network Applications and Protocols Voice and Video Applications</vt:lpstr>
      <vt:lpstr>17.3 Scale to Larger Networks</vt:lpstr>
      <vt:lpstr>Scale to Larger Networks Small Network Growth</vt:lpstr>
      <vt:lpstr>Scale to Larger Networks Protocol Analysis</vt:lpstr>
      <vt:lpstr>Scale to Larger Networks Employee Network Utilization</vt:lpstr>
      <vt:lpstr>17.4 Verify Connectivity</vt:lpstr>
      <vt:lpstr>Verify Connectivity Verify Connectivity with Ping</vt:lpstr>
      <vt:lpstr>Verify Connectivity Verify Connectivity with Ping (Cont.)</vt:lpstr>
      <vt:lpstr>Verify Connectivity Extended Ping</vt:lpstr>
      <vt:lpstr>Verify Connectivity Verify Connectivity with Traceroute</vt:lpstr>
      <vt:lpstr>Verify Connectivity Verify Connectivity with Traceroute (Cont.)</vt:lpstr>
      <vt:lpstr>Verify Connectivity Verify Connectivity with Traceroute (Cont.)</vt:lpstr>
      <vt:lpstr>Verify Connectivity Extended Traceroute</vt:lpstr>
      <vt:lpstr>Verify Connectivity Extended Traceroute (Cont.)</vt:lpstr>
      <vt:lpstr>Verify Connectivity Network Baseline</vt:lpstr>
      <vt:lpstr>Verify Connectivity Lab – Test Network Latency with Ping and Traceroute</vt:lpstr>
      <vt:lpstr>17.5 Host and IOS Commands</vt:lpstr>
      <vt:lpstr>Host and IOS Commands IP Configuration on a Windows Host</vt:lpstr>
      <vt:lpstr>Host and IOS Commands IP Configuration on a Linux Host</vt:lpstr>
      <vt:lpstr>Host and IOS Commands IP Configuration on a macOS Host</vt:lpstr>
      <vt:lpstr>Host and IOS Commands The arp Command</vt:lpstr>
      <vt:lpstr>Host and IOS Commands Common show Commands Revisited</vt:lpstr>
      <vt:lpstr>Host and IOS Commands The show cdp neighbors Command</vt:lpstr>
      <vt:lpstr>Host and IOS Commands The show ip interface brief Command</vt:lpstr>
      <vt:lpstr>Host and IOS Commands Video – The show version Command</vt:lpstr>
      <vt:lpstr>Host and IOS Commands Packet Tracer – Interpret show Command Output</vt:lpstr>
      <vt:lpstr>17.6 Troubleshooting Methodologies</vt:lpstr>
      <vt:lpstr>Troubleshooting Methodologies Basic Troubleshooting Approaches</vt:lpstr>
      <vt:lpstr>Troubleshooting Methodologies Resolve or Escalate?</vt:lpstr>
      <vt:lpstr>Troubleshooting Methodologies The debug Command</vt:lpstr>
      <vt:lpstr>Troubleshooting Methodologies The terminal monitor Command</vt:lpstr>
      <vt:lpstr>17.7 Troubleshooting Scenarios</vt:lpstr>
      <vt:lpstr>Troubleshooting Scenarios Duplex Operation and Mismatch Issues</vt:lpstr>
      <vt:lpstr>Troubleshooting Scenarios IP Addressing Issues on IOS Devices</vt:lpstr>
      <vt:lpstr>Troubleshooting Scenarios IP Addressing Issues on End Devices</vt:lpstr>
      <vt:lpstr>Troubleshooting Scenarios Default Gateway Issues</vt:lpstr>
      <vt:lpstr>Troubleshooting Scenarios Troubleshooting DNS Issues</vt:lpstr>
      <vt:lpstr>Troubleshooting Scenarios Packet Tracer – Troubleshoot Connectivity Issues</vt:lpstr>
      <vt:lpstr>Troubleshooting Scenarios Packet Tracer – Troubleshoot Connectivity Issues – Physical Mode Lab - Troubleshoot Connectivity Issues </vt:lpstr>
      <vt:lpstr>17.8 Module Practice and Quiz</vt:lpstr>
      <vt:lpstr>Troubleshooting Scenarios Packet Tracer – Design and Build a Small Business Network – Physical Mode Lab – Design and Build a Small Business Network</vt:lpstr>
      <vt:lpstr>Troubleshooting Scenarios Packet Tracer – Skills Integration Challenge</vt:lpstr>
      <vt:lpstr>Troubleshooting Scenarios Packet Tracer – Troubleshooting Challenge</vt:lpstr>
      <vt:lpstr>Module Practice and Quiz What Did I Learn In This Module?</vt:lpstr>
      <vt:lpstr>Module Practice and Quiz What Did I Learn In This Module (Cont.)?</vt:lpstr>
      <vt:lpstr>Module Practice and Quiz What Did I Learn In This Module (Cont.)?</vt:lpstr>
      <vt:lpstr>Module 17: Build a Small Network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Jeff Luman -X (jluman - UNICON INC at Cisco)</cp:lastModifiedBy>
  <cp:revision>316</cp:revision>
  <dcterms:created xsi:type="dcterms:W3CDTF">2019-10-18T06:21:22Z</dcterms:created>
  <dcterms:modified xsi:type="dcterms:W3CDTF">2021-02-03T18:28:21Z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