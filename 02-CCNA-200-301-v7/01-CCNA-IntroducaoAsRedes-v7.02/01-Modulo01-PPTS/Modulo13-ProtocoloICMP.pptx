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notesSlides/notesSlide17.xml" ContentType="application/vnd.openxmlformats-officedocument.presentationml.notesSlide+xml"/>
  <Override PartName="/ppt/tags/tag21.xml" ContentType="application/vnd.openxmlformats-officedocument.presentationml.tags+xml"/>
  <Override PartName="/ppt/notesSlides/notesSlide18.xml" ContentType="application/vnd.openxmlformats-officedocument.presentationml.notesSlide+xml"/>
  <Override PartName="/ppt/tags/tag22.xml" ContentType="application/vnd.openxmlformats-officedocument.presentationml.tags+xml"/>
  <Override PartName="/ppt/notesSlides/notesSlide19.xml" ContentType="application/vnd.openxmlformats-officedocument.presentationml.notesSlide+xml"/>
  <Override PartName="/ppt/tags/tag23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notesSlides/notesSlide26.xml" ContentType="application/vnd.openxmlformats-officedocument.presentationml.notesSlide+xml"/>
  <Override PartName="/ppt/tags/tag30.xml" ContentType="application/vnd.openxmlformats-officedocument.presentationml.tags+xml"/>
  <Override PartName="/ppt/notesSlides/notesSlide27.xml" ContentType="application/vnd.openxmlformats-officedocument.presentationml.notesSlide+xml"/>
  <Override PartName="/ppt/tags/tag31.xml" ContentType="application/vnd.openxmlformats-officedocument.presentationml.tags+xml"/>
  <Override PartName="/ppt/notesSlides/notesSlide28.xml" ContentType="application/vnd.openxmlformats-officedocument.presentationml.notesSlide+xml"/>
  <Override PartName="/ppt/tags/tag32.xml" ContentType="application/vnd.openxmlformats-officedocument.presentationml.tags+xml"/>
  <Override PartName="/ppt/notesSlides/notesSlide29.xml" ContentType="application/vnd.openxmlformats-officedocument.presentationml.notesSlide+xml"/>
  <Override PartName="/ppt/tags/tag33.xml" ContentType="application/vnd.openxmlformats-officedocument.presentationml.tags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31.xml" ContentType="application/vnd.openxmlformats-officedocument.presentationml.notesSlide+xml"/>
  <Override PartName="/ppt/tags/tag35.xml" ContentType="application/vnd.openxmlformats-officedocument.presentationml.tags+xml"/>
  <Override PartName="/ppt/notesSlides/notesSlide32.xml" ContentType="application/vnd.openxmlformats-officedocument.presentationml.notesSlide+xml"/>
  <Override PartName="/ppt/tags/tag36.xml" ContentType="application/vnd.openxmlformats-officedocument.presentationml.tags+xml"/>
  <Override PartName="/ppt/notesSlides/notesSlide33.xml" ContentType="application/vnd.openxmlformats-officedocument.presentationml.notesSlide+xml"/>
  <Override PartName="/ppt/tags/tag37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8"/>
  </p:notesMasterIdLst>
  <p:sldIdLst>
    <p:sldId id="513" r:id="rId2"/>
    <p:sldId id="730" r:id="rId3"/>
    <p:sldId id="1070" r:id="rId4"/>
    <p:sldId id="1071" r:id="rId5"/>
    <p:sldId id="1053" r:id="rId6"/>
    <p:sldId id="1076" r:id="rId7"/>
    <p:sldId id="763" r:id="rId8"/>
    <p:sldId id="1055" r:id="rId9"/>
    <p:sldId id="1056" r:id="rId10"/>
    <p:sldId id="876" r:id="rId11"/>
    <p:sldId id="1058" r:id="rId12"/>
    <p:sldId id="759" r:id="rId13"/>
    <p:sldId id="788" r:id="rId14"/>
    <p:sldId id="790" r:id="rId15"/>
    <p:sldId id="927" r:id="rId16"/>
    <p:sldId id="928" r:id="rId17"/>
    <p:sldId id="929" r:id="rId18"/>
    <p:sldId id="1069" r:id="rId19"/>
    <p:sldId id="1072" r:id="rId20"/>
    <p:sldId id="1073" r:id="rId21"/>
    <p:sldId id="1074" r:id="rId22"/>
    <p:sldId id="886" r:id="rId23"/>
    <p:sldId id="792" r:id="rId24"/>
    <p:sldId id="881" r:id="rId25"/>
    <p:sldId id="930" r:id="rId26"/>
    <p:sldId id="795" r:id="rId27"/>
    <p:sldId id="959" r:id="rId28"/>
    <p:sldId id="1075" r:id="rId29"/>
    <p:sldId id="1067" r:id="rId30"/>
    <p:sldId id="1068" r:id="rId31"/>
    <p:sldId id="957" r:id="rId32"/>
    <p:sldId id="1066" r:id="rId33"/>
    <p:sldId id="1065" r:id="rId34"/>
    <p:sldId id="958" r:id="rId35"/>
    <p:sldId id="874" r:id="rId36"/>
    <p:sldId id="291" r:id="rId37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15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47" autoAdjust="0"/>
    <p:restoredTop sz="86356" autoAdjust="0"/>
  </p:normalViewPr>
  <p:slideViewPr>
    <p:cSldViewPr snapToGrid="0" showGuides="1">
      <p:cViewPr varScale="1">
        <p:scale>
          <a:sx n="78" d="100"/>
          <a:sy n="78" d="100"/>
        </p:scale>
        <p:origin x="524" y="48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pPr rtl="0"/>
            <a:r>
              <a:rPr lang="pt-BR"/>
              <a:t>Módulo 13: ICMP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/>
              <a:pPr algn="r"/>
              <a:t>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5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6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717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7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8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104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9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8653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pPr rtl="0"/>
            <a:r>
              <a:rPr lang="pt-BR"/>
              <a:t>Módulo 13: ICMP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11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O que vou aprender neste módulo?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891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13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13.1.1 - Mensagens ICMPv4 e ICMPv6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14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13.1.2 – Acessibilidade do host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15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13.1.3 – Destino ou Serviço Inacessível</a:t>
            </a:r>
          </a:p>
        </p:txBody>
      </p:sp>
    </p:spTree>
    <p:extLst>
      <p:ext uri="{BB962C8B-B14F-4D97-AF65-F5344CB8AC3E}">
        <p14:creationId xmlns:p14="http://schemas.microsoft.com/office/powerpoint/2010/main" val="3797073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16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13.1.4 – Tempo excedido</a:t>
            </a:r>
          </a:p>
        </p:txBody>
      </p:sp>
    </p:spTree>
    <p:extLst>
      <p:ext uri="{BB962C8B-B14F-4D97-AF65-F5344CB8AC3E}">
        <p14:creationId xmlns:p14="http://schemas.microsoft.com/office/powerpoint/2010/main" val="4050493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17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13.1.5 - Mensagens ICMPv6</a:t>
            </a:r>
          </a:p>
        </p:txBody>
      </p:sp>
    </p:spTree>
    <p:extLst>
      <p:ext uri="{BB962C8B-B14F-4D97-AF65-F5344CB8AC3E}">
        <p14:creationId xmlns:p14="http://schemas.microsoft.com/office/powerpoint/2010/main" val="2708579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13.1.5 - Mensagens ICMPv6 (Cont.)</a:t>
            </a:r>
          </a:p>
        </p:txBody>
      </p:sp>
    </p:spTree>
    <p:extLst>
      <p:ext uri="{BB962C8B-B14F-4D97-AF65-F5344CB8AC3E}">
        <p14:creationId xmlns:p14="http://schemas.microsoft.com/office/powerpoint/2010/main" val="2113553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19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13.1.5 - Mensagens ICMPv6 (Cont.)</a:t>
            </a:r>
          </a:p>
        </p:txBody>
      </p:sp>
    </p:spTree>
    <p:extLst>
      <p:ext uri="{BB962C8B-B14F-4D97-AF65-F5344CB8AC3E}">
        <p14:creationId xmlns:p14="http://schemas.microsoft.com/office/powerpoint/2010/main" val="54849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20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13.1.5 - Mensagens ICMPv6 (Cont.)</a:t>
            </a:r>
          </a:p>
        </p:txBody>
      </p:sp>
    </p:spTree>
    <p:extLst>
      <p:ext uri="{BB962C8B-B14F-4D97-AF65-F5344CB8AC3E}">
        <p14:creationId xmlns:p14="http://schemas.microsoft.com/office/powerpoint/2010/main" val="21222220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21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13.1 – Mensagens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13.1.5 - Mensagens ICMPv6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13.1.6 - Verifique sua compreensão - Mensagens ICMP</a:t>
            </a:r>
          </a:p>
        </p:txBody>
      </p:sp>
    </p:spTree>
    <p:extLst>
      <p:ext uri="{BB962C8B-B14F-4D97-AF65-F5344CB8AC3E}">
        <p14:creationId xmlns:p14="http://schemas.microsoft.com/office/powerpoint/2010/main" val="3138221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23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13.2.1 - Ping - Teste de conectividade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04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24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13.2.2 - Executar ping no loopback</a:t>
            </a:r>
          </a:p>
        </p:txBody>
      </p:sp>
    </p:spTree>
    <p:extLst>
      <p:ext uri="{BB962C8B-B14F-4D97-AF65-F5344CB8AC3E}">
        <p14:creationId xmlns:p14="http://schemas.microsoft.com/office/powerpoint/2010/main" val="4222691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25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13.2.3 - Execute o ping no gateway padrão</a:t>
            </a:r>
          </a:p>
        </p:txBody>
      </p:sp>
    </p:spTree>
    <p:extLst>
      <p:ext uri="{BB962C8B-B14F-4D97-AF65-F5344CB8AC3E}">
        <p14:creationId xmlns:p14="http://schemas.microsoft.com/office/powerpoint/2010/main" val="3275480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13.2.4 - Executar ping em um host remoto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876528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13.2.5 - Traceroute - Teste o caminho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79323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13.2.5 - Traceroute - Testar o Caminho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4197527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29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13.2.6 - Packet Tracer - Verifique o endereçamento IPv4 e Ipv6</a:t>
            </a:r>
          </a:p>
        </p:txBody>
      </p:sp>
    </p:spTree>
    <p:extLst>
      <p:ext uri="{BB962C8B-B14F-4D97-AF65-F5344CB8AC3E}">
        <p14:creationId xmlns:p14="http://schemas.microsoft.com/office/powerpoint/2010/main" val="3086806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30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13.2 - Testes de ping e traceroute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b="false" kern="1200" lang="pt-BR">
                <a:solidFill>
                  <a:schemeClr val="tx1"/>
                </a:solidFill>
                <a:latin typeface="Arial" charset="0"/>
                <a:ea typeface="ＭＳ Ｐゴシック" charset="0"/>
              </a:rPr>
              <a:t>13.2.6 - Tracer de Pacotes - Usar Ping e Traceroute para testar a conectividade de rede</a:t>
            </a:r>
          </a:p>
        </p:txBody>
      </p:sp>
    </p:spTree>
    <p:extLst>
      <p:ext uri="{BB962C8B-B14F-4D97-AF65-F5344CB8AC3E}">
        <p14:creationId xmlns:p14="http://schemas.microsoft.com/office/powerpoint/2010/main" val="1012918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13.3 - Módulo Prática e Quiz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32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13.3.1 - Tracer de Pacotes - Usando ICMP para Testar e Corrigir Conectividade de Rede</a:t>
            </a:r>
          </a:p>
        </p:txBody>
      </p:sp>
    </p:spTree>
    <p:extLst>
      <p:ext uri="{BB962C8B-B14F-4D97-AF65-F5344CB8AC3E}">
        <p14:creationId xmlns:p14="http://schemas.microsoft.com/office/powerpoint/2010/main" val="1706792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33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13.3.2 – PTPM e Laboratório – Use Ping e Traceroute para Testar Conectividade de Rede</a:t>
            </a:r>
          </a:p>
        </p:txBody>
      </p:sp>
    </p:spTree>
    <p:extLst>
      <p:ext uri="{BB962C8B-B14F-4D97-AF65-F5344CB8AC3E}">
        <p14:creationId xmlns:p14="http://schemas.microsoft.com/office/powerpoint/2010/main" val="16816433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34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13.3.3 - O que eu aprendi neste módulo?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13.3.4 - Teste do módulo - ICMP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/>
              <a:t>35</a:t>
            </a:fld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13 - ICMP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Novos termos e comandos</a:t>
            </a:r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32662" y="4741653"/>
            <a:ext cx="2892864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2.xml.rels><?xml version="1.0" encoding="utf-8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3.xml.rels><?xml version="1.0" encoding="utf-8"?>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4.xml.rels><?xml version="1.0" encoding="utf-8"?>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4" Type="http://schemas.openxmlformats.org/officeDocument/2006/relationships/image" Target="../media/image4.tiff"/></Relationships>
</file>

<file path=ppt/slides/_rels/slide15.xml.rels><?xml version="1.0" encoding="utf-8"?>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6.xml.rels><?xml version="1.0" encoding="utf-8"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4" Type="http://schemas.openxmlformats.org/officeDocument/2006/relationships/image" Target="../media/image5.tiff"/></Relationships>
</file>

<file path=ppt/slides/_rels/slide17.xml.rels><?xml version="1.0" encoding="utf-8"?>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18.xml.rels><?xml version="1.0" encoding="utf-8"?>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6.tiff"/></Relationships>
</file>

<file path=ppt/slides/_rels/slide19.xml.rels><?xml version="1.0" encoding="utf-8"?>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7.tiff"/></Relationships>
</file>

<file path=ppt/slides/_rels/slide20.xml.rels><?xml version="1.0" encoding="utf-8"?>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4" Type="http://schemas.openxmlformats.org/officeDocument/2006/relationships/image" Target="../media/image8.tiff"/></Relationships>
</file>

<file path=ppt/slides/_rels/slide21.xml.rels><?xml version="1.0" encoding="utf-8"?>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4" Type="http://schemas.openxmlformats.org/officeDocument/2006/relationships/image" Target="../media/image9.tiff"/></Relationships>
</file>

<file path=ppt/slides/_rels/slide22.xml.rels><?xml version="1.0" encoding="utf-8"?>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23.xml.rels><?xml version="1.0" encoding="utf-8"?>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24.xml.rels><?xml version="1.0" encoding="utf-8"?>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4" Type="http://schemas.openxmlformats.org/officeDocument/2006/relationships/image" Target="../media/image12.tiff"/></Relationships>
</file>

<file path=ppt/slides/_rels/slide25.xml.rels><?xml version="1.0" encoding="utf-8"?>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4" Type="http://schemas.openxmlformats.org/officeDocument/2006/relationships/image" Target="../media/image13.tiff"/></Relationships>
</file>

<file path=ppt/slides/_rels/slide26.xml.rels><?xml version="1.0" encoding="utf-8"?>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4" Type="http://schemas.openxmlformats.org/officeDocument/2006/relationships/image" Target="../media/image14.tiff"/></Relationships>
</file>

<file path=ppt/slides/_rels/slide27.xml.rels><?xml version="1.0" encoding="utf-8"?>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4" Type="http://schemas.openxmlformats.org/officeDocument/2006/relationships/image" Target="../media/image15.tiff"/></Relationships>
</file>

<file path=ppt/slides/_rels/slide28.xml.rels><?xml version="1.0" encoding="utf-8"?>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4" Type="http://schemas.openxmlformats.org/officeDocument/2006/relationships/image" Target="../media/image16.tiff"/></Relationships>
</file>

<file path=ppt/slides/_rels/slide29.xml.rels><?xml version="1.0" encoding="utf-8"?>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30.xml.rels><?xml version="1.0" encoding="utf-8"?>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31.xml.rels><?xml version="1.0" encoding="utf-8"?>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32.xml.rels><?xml version="1.0" encoding="utf-8"?>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/Relationships>
</file>

<file path=ppt/slides/_rels/slide33.xml.rels><?xml version="1.0" encoding="utf-8"?>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/Relationships>
</file>

<file path=ppt/slides/_rels/slide34.xml.rels><?xml version="1.0" encoding="utf-8"?>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/Relationships>
</file>

<file path=ppt/slides/_rels/slide35.xml.rels><?xml version="1.0" encoding="utf-8"?>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/Relationships>
</file>

<file path=ppt/slides/_rels/slide36.xml.rels><?xml version="1.0" encoding="utf-8"?>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13: ICMP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pPr rtl="0"/>
            <a:r>
              <a:rPr lang="pt-BR"/>
              <a:t>Materiais do instrutor - Guia de planejamento do módulo 13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142AA6-DB6D-47A4-A3ED-81E849BC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buNone/>
            </a:pPr>
            <a:r>
              <a:rPr lang="pt-BR"/>
              <a:t>Esta apresentação de PowerPoint é dividida em duas partes: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Guia de planejamento do Instrutor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Informações para ajudá-lo a se familiarizar com o módulo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Material didático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Apresentação para aulas</a:t>
            </a:r>
          </a:p>
          <a:p>
            <a:pPr lvl="1" rtl="0"/>
            <a:r>
              <a:rPr lang="pt-BR"/>
              <a:t>Slides opcionais que você pode usar em sala de aula</a:t>
            </a:r>
          </a:p>
          <a:p>
            <a:pPr lvl="1" rtl="0"/>
            <a:r>
              <a:rPr lang="pt-BR"/>
              <a:t>Começa no slide 10</a:t>
            </a:r>
          </a:p>
          <a:p>
            <a:pPr marL="142875" lvl="1" indent="0" algn="ctr" rtl="0">
              <a:buNone/>
            </a:pPr>
            <a:r>
              <a:rPr sz="1600" b="true" lang="pt-BR"/>
              <a:t>Observação</a:t>
            </a:r>
            <a:r>
              <a:rPr sz="1600" lang="pt-BR"/>
              <a:t>: Remova o Guia de planejamento desta apresentação antes de compartilhar com outra pessoa.</a:t>
            </a:r>
          </a:p>
          <a:p>
            <a:pPr marL="0" indent="0" rtl="0">
              <a:buNone/>
            </a:pPr>
            <a:r>
              <a:rPr sz="1600" b="true" lang="pt-BR">
                <a:solidFill>
                  <a:schemeClr val="accent4"/>
                </a:solidFill>
              </a:rPr>
              <a:t>Para obter ajuda e recursos adicionais,  vá para a página inicial do instrutor e os recursos do curso para este curso. Você também pode visitar o site de desenvolvimento profissional na NetAcad.com, a página oficial do Facebook da Academia de Networking da Cisco ou instrutor apenas FB Group.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rtl="0"/>
            <a:r>
              <a:rPr lang="pt-BR"/>
              <a:t>Para facilitar a aprendizagem, os seguintes recursos dentro da GUI podem ser incluídos neste módulo: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pPr rtl="0"/>
            <a:r>
              <a:rPr lang="pt-BR"/>
              <a:t>O que esperar neste módulo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Expor os alunos a novas competências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Vídeos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Exponha os alunos a novas habilidades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Verifique seu entendimento 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Questionário online por tópico para ajudar os alunos a avaliar a compreensão do conteúdo.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Interativas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Uma variedade de formatos para ajudar os alunos a avaliar a compreensão do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Verificador de Sintaxe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Pequenas simulações que expõem os alunos à linha de comando da Cisco para praticar habilidades de configuração.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Atividades de simulação e modelagem projetadas para explorar, adquirir, reforçar e expandir habilidades.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"/>
            <a:ext cx="9144000" cy="757238"/>
          </a:xfrm>
        </p:spPr>
        <p:txBody>
          <a:bodyPr/>
          <a:lstStyle/>
          <a:p>
            <a:pPr rtl="0"/>
            <a:r>
              <a:rPr lang="pt-BR"/>
              <a:t>O que esperar neste módulo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Para facilitar a aprendizagem, os seguintes recursos podem ser incluídos neste módulo: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28D3DD-3782-4697-ABE5-71589E30D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658" y="1176665"/>
            <a:ext cx="8632684" cy="25056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6058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Verifique seu entendimento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"Verifique sua compreensão" são projetadas para permitir que os alunos determinem rapidamente se entendem o conteúdo e podem prosseguir ou se precisam revisar.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Verifique se suas atividades de compreensão </a:t>
            </a:r>
            <a:r>
              <a:rPr b="true" i="true" lang="pt-BR"/>
              <a:t>não </a:t>
            </a:r>
            <a:r>
              <a:rPr lang="pt-BR"/>
              <a:t>afetam as notas do aluno.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Não há slides separados para essas atividades no PPT. Elas estão listadas na área de anotações do slide que aparece antes dessas atividades.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Packet Tracer - Atividades do Modo Físico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Estas atividades são concluídas usando o Packet Tracer no Modo Físico.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são projetados para emular os laboratórios correspondentes.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podem ser usados em vez do laboratório quando o acesso ao equipamento físico não é possível.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do modo físico do Packet Tracer podem não ter tanta andaimes quanto as atividades do PT que imediatamente os precedem.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88667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13: Atividades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695135" cy="34841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144597"/>
              </p:ext>
            </p:extLst>
          </p:nvPr>
        </p:nvGraphicFramePr>
        <p:xfrm>
          <a:off x="457291" y="1368681"/>
          <a:ext cx="8229418" cy="280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13.1.6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Mensagem ICMP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13.2.6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Verifique o Endereçamento IPv4 e IPv6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13.2.7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Use ping e traceroute para testar conectividade de 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13.3.1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Use o ICMP para testar e corrigir conectividade de 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13.3.2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 - Use Ping e Traceroute para Testar Conectividade de Rede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40896033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13.3.2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Use ping e traceroute para testar conectividade de 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13.3.4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Teste do Módulo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ICMP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13: Práticas recomendadas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3690863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Antes de ensinar o Módulo 13, o instrutor deve: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Revise as atividades e avaliações para este módulo.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Tente incluir o máximo de perguntas possível para manter os alunos envolvidos durante a apresentação em sala de aula.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Após este módulo, o exame de endereçamento IP está disponível, cobrindo módulos 11-13.</a:t>
            </a:r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sz="1600" dirty="0"/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Seção 13.1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Pergunte aos alunos ou tenha uma discussão de aula: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Explicar as semelhanças e diferenças entre ICMPv4 e ICMPv6.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que você acha que faria com que um destino fosse inacessível?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Por que um administrador de rede negaria mensagens ICMP de uma fonte externa?</a:t>
            </a:r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670768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13: Melhores Práticas (cont.) 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3818775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Seção 13.2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tenha uma discussão de aula: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Quais são as diferenças entre ping e traceroute?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Por que você pingaria o endereço de loopback de um dispositivo?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Em que situações você usaria o comando ping/traceroute?</a:t>
            </a:r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38879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260316"/>
            <a:ext cx="6672708" cy="1136308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13: ICMP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669321"/>
          </a:xfrm>
        </p:spPr>
        <p:txBody>
          <a:bodyPr/>
          <a:lstStyle/>
          <a:p>
            <a:pPr eaLnBrk="1" hangingPunct="1" rtl="0"/>
            <a:r>
              <a:rPr lang="pt-BR"/>
              <a:t>Objetivos do módulo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0" y="798944"/>
            <a:ext cx="9006840" cy="669320"/>
          </a:xfrm>
        </p:spPr>
        <p:txBody>
          <a:bodyPr/>
          <a:lstStyle/>
          <a:p>
            <a:pPr marL="188912" lvl="1" indent="0" rtl="0">
              <a:buNone/>
            </a:pPr>
            <a:r>
              <a:rPr sz="1600" b="true" lang="pt-BR"/>
              <a:t>Título do módulo</a:t>
            </a:r>
            <a:r>
              <a:rPr sz="1600" lang="pt-BR"/>
              <a:t>: ICMP</a:t>
            </a:r>
          </a:p>
          <a:p>
            <a:pPr marL="188912" lvl="1" indent="0" rtl="0">
              <a:buNone/>
            </a:pPr>
            <a:r>
              <a:rPr sz="1600" b="true" lang="pt-BR"/>
              <a:t>Objetivo do módulo: </a:t>
            </a:r>
            <a:r>
              <a:rPr sz="1600" lang="pt-BR"/>
              <a:t>Usar várias ferramentas para testar a conectividade de rede.</a:t>
            </a:r>
          </a:p>
          <a:p>
            <a:pPr marL="327818" lvl="2" indent="0">
              <a:buNone/>
            </a:pPr>
            <a:endParaRPr lang="en-US" sz="11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C07AB0-6822-FB4C-9445-25B1C20C9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485866"/>
              </p:ext>
            </p:extLst>
          </p:nvPr>
        </p:nvGraphicFramePr>
        <p:xfrm>
          <a:off x="663479" y="1754987"/>
          <a:ext cx="7679882" cy="12823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39941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839941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28725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69315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Mensagens ICMP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Explicar como o protocolo ICMP é usado para testar a conectividade da rede.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584319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Teste de ping e traceroute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Usar utilitários ping e traceroute para testar a conectividade da rede.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21691747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3400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13.1 Mensagens ICMP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Mensagens ICMPv4 e ICMPv6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888396"/>
            <a:ext cx="8712259" cy="3621959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 ICMP (Internet Control Message Protocol) fornece feedback sobre problemas relacionados ao processamento de pacotes IP sob determinadas condições.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ICMPv4 é o protocolo de mensagens para o IPv4. ICMPv6 é o protocolo de mensagens para IPv6 e inclui funcionalidades adicionais.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As mensagens ICMP comuns ao ICMPv4 e ICMPv6 incluem: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Acessibilidade do host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Destino ou serviço inalcançável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Tempo excedido</a:t>
            </a:r>
          </a:p>
          <a:p>
            <a:pPr marL="0" indent="0">
              <a:buNone/>
            </a:pPr>
            <a:endParaRPr lang="en-US" sz="1600" dirty="0"/>
          </a:p>
          <a:p>
            <a:pPr marL="0" indent="0" rtl="0">
              <a:buNone/>
            </a:pPr>
            <a:r>
              <a:rPr sz="1600" lang="pt-BR"/>
              <a:t>Nota: As mensagens ICMPv4 não são necessárias e geralmente não são permitidas em uma rede por motivos de segurança.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Acessibilidade do host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357" y="798944"/>
            <a:ext cx="3939626" cy="3735939"/>
          </a:xfrm>
        </p:spPr>
        <p:txBody>
          <a:bodyPr/>
          <a:lstStyle/>
          <a:p>
            <a:pPr marL="0" indent="0" rtl="0">
              <a:buNone/>
            </a:pPr>
            <a:r>
              <a:rPr sz="1600" lang="pt-BR"/>
              <a:t>ICMP Echo Message pode ser usado para testar a capacidade de acesso de um host em uma rede IP. </a:t>
            </a:r>
          </a:p>
          <a:p>
            <a:pPr marL="0" indent="0" rtl="0">
              <a:buNone/>
            </a:pPr>
            <a:r>
              <a:rPr sz="1600" lang="pt-BR"/>
              <a:t>No exemplo: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sz="1600" lang="pt-BR"/>
              <a:t>O host local envia uma solicitação de eco ICMP (ICMP Echo Request) para um host. 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sz="1600" lang="pt-BR"/>
              <a:t>Se o host estiver disponível, o host de destino enviará uma resposta de eco (Echo Reply).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678897-C92D-774A-A01F-030F0E281DB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1419595"/>
            <a:ext cx="3939626" cy="23043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846644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Destino ou Serviço Inacessível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357" y="925513"/>
            <a:ext cx="8813708" cy="985480"/>
          </a:xfrm>
        </p:spPr>
        <p:txBody>
          <a:bodyPr/>
          <a:lstStyle/>
          <a:p>
            <a:pPr rtl="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lang="pt-BR"/>
              <a:t>Uma mensagem de destino ICMP inacessível pode ser usada para notificar a origem de que um destino ou serviço está inacessível. </a:t>
            </a:r>
          </a:p>
          <a:p>
            <a:pPr rtl="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lang="pt-BR"/>
              <a:t>A mensagem ICMP incluirá um código indicando por que o pacote não pôde ser entregue.</a:t>
            </a:r>
          </a:p>
          <a:p>
            <a:pPr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98E910B-FDD9-474A-9233-995BD7304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554" y="1939458"/>
            <a:ext cx="3734792" cy="227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sz="1600" b="true" lang="pt-BR"/>
              <a:t>Alguns códigos de Destino Inacessível para ICMPv4 são os seguintes: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0 = rede inalcançável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1 = host inalcançável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2 = protocolo inalcançável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3 = porta inalcançável</a:t>
            </a:r>
          </a:p>
          <a:p>
            <a:pPr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623918D-06F7-E94D-A789-9059464B1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542" y="1911937"/>
            <a:ext cx="4876331" cy="237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sz="1600" b="true" lang="pt-BR"/>
              <a:t>Alguns códigos de destino inalcançáveis para ICMPv6 são os seguintes: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0 - Nenhuma rota para o destino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1 - A comunicação com o destino é administrativamente proibida (por exemplo, firewall)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2 - Além do escopo do endereço de origem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3 - Endereço inacessível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400" lang="pt-BR"/>
              <a:t>4 - porta inalcançável</a:t>
            </a:r>
          </a:p>
          <a:p>
            <a:pPr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A4D57-5541-C14B-AAE5-49D28F7EBB1D}"/>
              </a:ext>
            </a:extLst>
          </p:cNvPr>
          <p:cNvSpPr txBox="1"/>
          <p:nvPr/>
        </p:nvSpPr>
        <p:spPr>
          <a:xfrm>
            <a:off x="889462" y="4415528"/>
            <a:ext cx="8069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b="true" lang="pt-BR"/>
              <a:t>Nota</a:t>
            </a:r>
            <a:r>
              <a:rPr sz="1400" lang="pt-BR"/>
              <a:t>: O ICMPv6 possui códigos semelhantes, mas ligeiramente diferentes, para mensagens de Destino Inacessível.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780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 </a:t>
            </a:r>
            <a:br>
              <a:rPr lang="en-US" altLang="en-US" sz="1600" dirty="0"/>
            </a:br>
            <a:r>
              <a:rPr lang="pt-BR"/>
              <a:t>Tempo excedido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6" y="823049"/>
            <a:ext cx="8782744" cy="1385895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Quando o campo Tempo de vida (TTL) em um pacote é reduzido para 0, uma mensagem de tempo excedido ICMPv4 será enviada para o host de origem.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 ICMPv6 também envia uma mensagem Tempo Excedido. Em vez do campo TTL do IPv4, o ICMPv6 usa o campo Limite de salto do IPv6 para determinar se o pacote expirou.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C67C86-5F9A-0548-880C-0DE826966352}"/>
              </a:ext>
            </a:extLst>
          </p:cNvPr>
          <p:cNvSpPr txBox="1"/>
          <p:nvPr/>
        </p:nvSpPr>
        <p:spPr>
          <a:xfrm>
            <a:off x="748145" y="4156365"/>
            <a:ext cx="83958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500" b="true" lang="pt-BR"/>
              <a:t>Nota</a:t>
            </a:r>
            <a:r>
              <a:rPr sz="1500" lang="pt-BR"/>
              <a:t>: As mensagens de tempo excedido são usadas pela </a:t>
            </a:r>
            <a:r>
              <a:rPr sz="1500" lang="pt-BR"/>
              <a:t> ferramenta traceroute.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DB6FF1-3B75-884A-98F7-AAA4EC106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541" y="2330681"/>
            <a:ext cx="4544918" cy="13858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242075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Mensagens ICMPv6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8710408" cy="757551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 ICMPv6 tem novos recursos e funcionalidades aprimoradas não encontradas no ICMPv4, incluindo quatro novos protocolos como parte do Neighbor Discovery Protocol (ND ou NDP).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976EBF-CEA6-F248-A55E-CBB97E032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57" y="1751418"/>
            <a:ext cx="4045643" cy="181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/>
              <a:t>As mensagens entre um roteador IPv6 e um dispositivo IPv6, incluindo alocação de endereços dinâmicos, são as seguintes: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sz="1600" lang="pt-BR"/>
              <a:t>Mensagem de Solicitação de Roteador (RS)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sz="1600" lang="pt-BR"/>
              <a:t>Mensagem de Anúncio de Roteador (RA)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8E5DCA0-41BC-AC43-99C0-191FE281C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2" y="1757246"/>
            <a:ext cx="4248843" cy="1842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BR"/>
              <a:t>As mensagens entre dispositivos IPv6, incluindo detecção de endereço duplicado e resolução de endereço são as seguintes: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sz="1600" lang="pt-BR"/>
              <a:t>Mensagem de solicitação de vizinhos (NS)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sz="1600" lang="pt-BR"/>
              <a:t>Mensagem de anúncio de vizinhos (NA)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6FA9-ACBC-0A4F-A48F-82FD98FFD73C}"/>
              </a:ext>
            </a:extLst>
          </p:cNvPr>
          <p:cNvSpPr txBox="1"/>
          <p:nvPr/>
        </p:nvSpPr>
        <p:spPr>
          <a:xfrm>
            <a:off x="532015" y="3807746"/>
            <a:ext cx="8190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b="true" lang="pt-BR"/>
              <a:t>Nota</a:t>
            </a:r>
            <a:r>
              <a:rPr sz="1400" lang="pt-BR"/>
              <a:t>: O ICMPv6 ND também inclui a mensagem de redirecionamento, que possui uma função semelhante à mensagem de redirecionamento usada no ICMPv4.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71620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Mensagens ICMPv6 (Cont.)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4157661" cy="366005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As mensagens de RA são enviadas por roteadores habilitados para IPv6 a cada 200 segundos para fornecer informações de endereçamento para hosts habilitados para IPv6.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 mensagem RA pode incluir informações de endereçamento para o host, como prefixo, comprimento do prefixo, endereço DNS e nome de domínio. 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Um host que usa a Configuração Automática de Endereço sem Estado (SLAAC) definirá seu gateway padrão para o endereço local do link do roteador que enviou o RA.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5CC86-95BA-E54C-A71A-BFD4BA290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3018" y="1510074"/>
            <a:ext cx="4514531" cy="228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462513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Mensagens ICMPv6 (Cont.)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4157661" cy="379975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Um roteador habilitado para IPv6 também enviará uma mensagem RA em resposta a uma mensagem RS.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Na figura, PC1 envia uma mensagem RS para determinar como receber suas informações de endereço IPv6 dinamicamente. </a:t>
            </a:r>
          </a:p>
          <a:p>
            <a:pPr lvl="2" rtl="0"/>
            <a:r>
              <a:rPr lang="pt-BR"/>
              <a:t>R1 responde ao RS com uma mensagem RA.</a:t>
            </a:r>
          </a:p>
          <a:p>
            <a:pPr lvl="2" rtl="0"/>
            <a:r>
              <a:rPr lang="pt-BR"/>
              <a:t>PC1 envia uma mensagem RS: “Oi, acabei de inicializá-lo. Existe um roteador IPv6 na rede? Preciso saber como obter minhas informações de endereço IPv6 dinamicamente.”</a:t>
            </a:r>
          </a:p>
          <a:p>
            <a:pPr lvl="2" rtl="0"/>
            <a:r>
              <a:rPr lang="pt-BR"/>
              <a:t>R1 responde com uma mensagem RA. “Oi todos os dispositivos habilitados para IPv6. Eu sou R1 e você pode usar SLAAC para criar um endereço unicast global IPv6. O prefixo é 2001:db8:acad:1::/64. A propósito, use meu endereço local de link fe80::1 como seu gateway padrão.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C9102-1918-5743-B869-C62CD1469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1352586"/>
            <a:ext cx="4157661" cy="24383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398364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Mensagens ICMPv6 (Cont.)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4157661" cy="366005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Um dispositivo atribuído a um endereço unicast IPv6 global ou unicast local de link pode executar a detecção de endereço duplicado (DAD) para garantir que o endereço IPv6 seja exclusivo.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Para verificar a exclusividade de um endereço, o dispositivo enviará uma mensagem NS com seu próprio endereço IPv6 como o endereço IPv6 de destino.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Se outro dispositivo na rede tiver esse endereço, ele responderá com uma mensagem de NA notificando ao dispositivo remetente que o endereço está em uso.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CDF41-F219-924C-95C4-B899980D12C5}"/>
              </a:ext>
            </a:extLst>
          </p:cNvPr>
          <p:cNvSpPr txBox="1"/>
          <p:nvPr/>
        </p:nvSpPr>
        <p:spPr>
          <a:xfrm>
            <a:off x="4604396" y="3461804"/>
            <a:ext cx="4157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b="true" lang="pt-BR">
                <a:solidFill>
                  <a:srgbClr val="000000"/>
                </a:solidFill>
              </a:rPr>
              <a:t>Nota</a:t>
            </a:r>
            <a:r>
              <a:rPr sz="1600" lang="pt-BR">
                <a:solidFill>
                  <a:srgbClr val="000000"/>
                </a:solidFill>
              </a:rPr>
              <a:t>: O DAD não é necessário, mas o RFC 4861 recomenda que o DAD seja executado em endereços unicast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839F5-37AA-4C48-B2FB-8047C0AB6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945822"/>
            <a:ext cx="4157660" cy="17072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660589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Mensagens ICMP</a:t>
            </a:r>
            <a:br>
              <a:rPr lang="en-US" altLang="en-US" dirty="0"/>
            </a:br>
            <a:r>
              <a:rPr lang="pt-BR"/>
              <a:t>Mensagens ICMPv6 (Cont.)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4157661" cy="366005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Para determinar o endereço MAC destino, o dispositivo enviará uma mensagem de NS para o endereço do nó solicitado.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A mensagem incluirá o endereço IPv6 (destino) conhecido. O dispositivo que tem o endereço IPv6 alvo responderá com uma mensagem de NA contendo seu endereço MAC Ethernet.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Na figura, R1 envia uma mensagem NS para 2001:db8:acad:1::10 pedindo seu endereço MAC.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9D8D0-E3FE-FD45-A338-76F4B07519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1428750"/>
            <a:ext cx="4444211" cy="228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152506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8231464" cy="929640"/>
          </a:xfrm>
        </p:spPr>
        <p:txBody>
          <a:bodyPr/>
          <a:lstStyle/>
          <a:p>
            <a:pPr rtl="0"/>
            <a:r>
              <a:rPr sz="40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13.2 Testes de ping e traceroute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Ping e Testes de Traceroute</a:t>
            </a:r>
            <a:br>
              <a:rPr lang="en-US" altLang="en-US" dirty="0"/>
            </a:br>
            <a:r>
              <a:rPr lang="pt-BR"/>
              <a:t>Ping - Teste de Conectividade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70482" y="798943"/>
            <a:ext cx="4680488" cy="381955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O comando </a:t>
            </a:r>
            <a:r>
              <a:rPr b="true" lang="pt-BR"/>
              <a:t>ping</a:t>
            </a:r>
            <a:r>
              <a:rPr lang="pt-BR"/>
              <a:t> é um utilitário de teste IPv4 e IPv6 que usa mensagens de solicitação de eco ICMP e resposta de eco para testar a conectividade entre hosts e fornece um resumo que inclui a taxa de sucesso e o tempo médio de ida e volta para o destino.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Se a resposta não é recebida dentro do tempo de espera, o ping mostra uma mensagem informando que a resposta não foi recebida.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É comum o primeiro ping para o tempo limite se a resolução de endereço (ARP ou ND) precisar ser executada antes de enviar a Solicitação de eco ICMP.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B07169-1985-DD4C-87D9-D70B46F10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0970" y="1263987"/>
            <a:ext cx="4090970" cy="786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182E35-608A-E447-8D75-DFC4D08277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0971" y="2571749"/>
            <a:ext cx="4090969" cy="7163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727055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Testes de ping e Traceroute</a:t>
            </a:r>
            <a:br>
              <a:rPr lang="en-US" altLang="en-US" dirty="0"/>
            </a:br>
            <a:r>
              <a:rPr lang="pt-BR"/>
              <a:t>ping do Loopback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EA599-9EF6-BE44-900E-A2949CF66B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3471" y="866275"/>
            <a:ext cx="4091553" cy="3410950"/>
          </a:xfrm>
        </p:spPr>
        <p:txBody>
          <a:bodyPr/>
          <a:lstStyle/>
          <a:p>
            <a:pPr marL="0" indent="0" rtl="0">
              <a:spcAft>
                <a:spcPts val="100"/>
              </a:spcAft>
              <a:buNone/>
            </a:pPr>
            <a:r>
              <a:rPr sz="1600" lang="pt-BR"/>
              <a:t>O ping pode ser usado para testar a configuração interna do IPv4 ou IPv6 no host local. Para fazer isso, execute </a:t>
            </a:r>
            <a:r>
              <a:rPr sz="1600" b="true" lang="pt-BR"/>
              <a:t>ping</a:t>
            </a:r>
            <a:r>
              <a:rPr sz="1600" lang="pt-BR"/>
              <a:t> no endereço de loopback local 127.0.0.1 para IPv4 (::1 para IPv6).</a:t>
            </a:r>
          </a:p>
          <a:p>
            <a:pPr rtl="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lang="pt-BR"/>
              <a:t>Uma resposta vinda de 127.0.0.1 para IPv4 (ou ::1 para IPv6) indica que o IP está instalado corretamente no host.</a:t>
            </a:r>
          </a:p>
          <a:p>
            <a:pPr rtl="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lang="pt-BR"/>
              <a:t>Uma mensagem de erro indica que o TCP/IP não está operacional no host.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8C49F4-B91A-1244-9292-6EABA4BBF8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835296"/>
            <a:ext cx="4392402" cy="34729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442252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Testes de ping e Traceroute</a:t>
            </a:r>
            <a:br>
              <a:rPr lang="en-US" altLang="en-US" sz="1600" dirty="0"/>
            </a:br>
            <a:r>
              <a:rPr lang="pt-BR"/>
              <a:t>ping no gateway padrão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D26DA6-0FF9-5641-9731-B0A4BDCFDD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833733"/>
            <a:ext cx="4392118" cy="3904522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 comando </a:t>
            </a:r>
            <a:r>
              <a:rPr b="true" lang="pt-BR"/>
              <a:t>ping</a:t>
            </a:r>
            <a:r>
              <a:rPr lang="pt-BR"/>
              <a:t> pode ser usado para testar a capacidade de um host de se comunicar na rede local. </a:t>
            </a:r>
          </a:p>
          <a:p>
            <a:pPr marL="0" indent="0" rtl="0">
              <a:buNone/>
            </a:pPr>
            <a:r>
              <a:rPr lang="pt-BR"/>
              <a:t>O endereço de gateway padrão é usado com mais freqüência porque o roteador normalmente está sempre operacional.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500" lang="pt-BR"/>
              <a:t>Um </a:t>
            </a:r>
            <a:r>
              <a:rPr sz="1500" b="true" lang="pt-BR"/>
              <a:t>ping</a:t>
            </a:r>
            <a:r>
              <a:rPr sz="1500" lang="pt-BR"/>
              <a:t> bem-sucedido no gateway padrão indica que o host e a interface do roteador que servem como gateway padrão estão operacionais na rede local.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500" lang="pt-BR"/>
              <a:t>Se o endereço do gateway padrão não responder, o </a:t>
            </a:r>
            <a:r>
              <a:rPr sz="1500" b="true" lang="pt-BR"/>
              <a:t>ping</a:t>
            </a:r>
            <a:r>
              <a:rPr sz="1500" lang="pt-BR"/>
              <a:t> pode ser enviado para o endereço IP de outro host na rede local que se sabe estar operacional.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8580A2-5FDB-A248-9DB3-A91C74ADE9E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1690" y="933022"/>
            <a:ext cx="3424286" cy="32774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4275094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Testes de ping e Traceroute</a:t>
            </a:r>
            <a:br>
              <a:rPr lang="en-US" altLang="en-US" sz="1600" dirty="0"/>
            </a:br>
            <a:r>
              <a:rPr lang="pt-BR"/>
              <a:t>ping em um host remoto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50C7D-A789-1947-A197-D4C18A6B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37" y="896222"/>
            <a:ext cx="4196594" cy="1970268"/>
          </a:xfrm>
        </p:spPr>
        <p:txBody>
          <a:bodyPr/>
          <a:lstStyle/>
          <a:p>
            <a:pPr marL="0" indent="0" rtl="0">
              <a:buNone/>
            </a:pPr>
            <a:r>
              <a:rPr sz="1600" lang="pt-BR"/>
              <a:t>O ping também pode ser usado para testar a capacidade de um host local de se comunicar por uma rede interconectada.</a:t>
            </a:r>
          </a:p>
          <a:p>
            <a:pPr marL="0" indent="0" rtl="0">
              <a:buNone/>
            </a:pPr>
            <a:r>
              <a:rPr sz="1600" lang="pt-BR"/>
              <a:t>Um host local pode executar ping em um host em uma rede remota. Um </a:t>
            </a:r>
            <a:r>
              <a:rPr sz="1600" b="true" lang="pt-BR"/>
              <a:t>ping</a:t>
            </a:r>
            <a:r>
              <a:rPr sz="1600" lang="pt-BR"/>
              <a:t> bem-sucedido na rede de internet confirma a comunicação na rede local.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4F4E2-35B0-E842-9F7B-C37FDFAA35C7}"/>
              </a:ext>
            </a:extLst>
          </p:cNvPr>
          <p:cNvSpPr txBox="1"/>
          <p:nvPr/>
        </p:nvSpPr>
        <p:spPr>
          <a:xfrm>
            <a:off x="134338" y="3211692"/>
            <a:ext cx="45861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b="true" lang="pt-BR">
                <a:solidFill>
                  <a:srgbClr val="000000"/>
                </a:solidFill>
              </a:rPr>
              <a:t>Nota</a:t>
            </a:r>
            <a:r>
              <a:rPr sz="1600" lang="pt-BR">
                <a:solidFill>
                  <a:srgbClr val="000000"/>
                </a:solidFill>
              </a:rPr>
              <a:t>: Muitos administradores de rede limitam ou proíbem a entrada de mensagens ICMP, portanto, a falta de resposta de um </a:t>
            </a:r>
            <a:r>
              <a:rPr sz="1600" b="true" lang="pt-BR">
                <a:solidFill>
                  <a:srgbClr val="000000"/>
                </a:solidFill>
              </a:rPr>
              <a:t>ping</a:t>
            </a:r>
            <a:r>
              <a:rPr sz="1600" lang="pt-BR">
                <a:solidFill>
                  <a:srgbClr val="000000"/>
                </a:solidFill>
              </a:rPr>
              <a:t> pode ser devido a restrições de segurança.</a:t>
            </a:r>
          </a:p>
          <a:p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B829A-A91A-AB49-9FE4-013BCA9D4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37" y="1310400"/>
            <a:ext cx="4096002" cy="28416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0830122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Testes de Ping e Traceroute</a:t>
            </a:r>
            <a:br>
              <a:rPr lang="en-US" altLang="en-US" sz="1600" dirty="0"/>
            </a:br>
            <a:r>
              <a:rPr lang="pt-BR"/>
              <a:t>Traceroute - Teste o Caminho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50C7D-A789-1947-A197-D4C18A6B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37" y="896221"/>
            <a:ext cx="4244686" cy="35113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 traceroute (</a:t>
            </a:r>
            <a:r>
              <a:rPr sz="1600" b="true" lang="pt-BR"/>
              <a:t>tracert</a:t>
            </a:r>
            <a:r>
              <a:rPr sz="1600" lang="pt-BR"/>
              <a:t>) é um utilitário usado para testar o caminho entre dois hosts e fornecer uma lista de saltos que foram alcançados com sucesso nesse caminho.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 traceroute fornece tempo de ida e volta para cada salto ao longo do caminho e indica se um salto falha em responder. Um asterisco (*) é usado para indicar um pacote perdido ou não respondido.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Essas informações podem ser usadas para localizar um roteador problemático no caminho ou podem indicar que o roteador está configurado para não responder. </a:t>
            </a:r>
          </a:p>
          <a:p>
            <a:endParaRPr lang="en-US" altLang="ja-JP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A48F9-FF91-354D-96A8-3191B5C595F6}"/>
              </a:ext>
            </a:extLst>
          </p:cNvPr>
          <p:cNvSpPr txBox="1"/>
          <p:nvPr/>
        </p:nvSpPr>
        <p:spPr>
          <a:xfrm>
            <a:off x="4379024" y="3067396"/>
            <a:ext cx="46099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b="true" lang="pt-BR">
                <a:solidFill>
                  <a:srgbClr val="000000"/>
                </a:solidFill>
              </a:rPr>
              <a:t>Nota</a:t>
            </a:r>
            <a:r>
              <a:rPr sz="1600" lang="pt-BR">
                <a:solidFill>
                  <a:srgbClr val="000000"/>
                </a:solidFill>
              </a:rPr>
              <a:t>: O Traceroute utiliza uma função do campo TTL no IPv4 e do campo Limite de saltos no IPv6 nos cabeçalhos da camada 3, junto com a mensagem ICMP Time Exceded.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21494A-A0E3-9244-9362-A528463A1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4979" y="1525369"/>
            <a:ext cx="4102100" cy="12573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9333839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Testes de Ping e Traceroute</a:t>
            </a:r>
            <a:br>
              <a:rPr lang="en-US" altLang="en-US" sz="1600" dirty="0"/>
            </a:br>
            <a:r>
              <a:rPr lang="pt-BR"/>
              <a:t>Traceroute - Testar o Caminho (Cont.)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50C7D-A789-1947-A197-D4C18A6B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36" y="896222"/>
            <a:ext cx="4437663" cy="3716876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A primeira mensagem enviada do traceroute terá um valor de campo TTL igual a 1. Isso faz com que o TTL atinja o tempo limite no primeiro roteador. Em seguida, este roteador responde com uma mensagem de tempo excedido ICMPv4.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 Traceroute aumenta progressivamente o campo TTL (2, 3, 4...) para cada sequência de mensagens. Isso fornece ao rastreamento o endereço de cada salto à medida que os pacotes expiram mais adiante no caminho.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 campo TTL continua a ser aumentado até alcançar o destino ou até atingir um valor máximo pré-determinado.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49670-AFAC-444B-B6F1-217466A83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4979" y="1213720"/>
            <a:ext cx="4127500" cy="2476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450520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Ping e Traceroute Testes</a:t>
            </a:r>
            <a:br>
              <a:rPr lang="en-US" altLang="en-US" sz="1600" dirty="0"/>
            </a:br>
            <a:r>
              <a:rPr lang="pt-BR"/>
              <a:t>Packet Tracer - Verifique o endereçamento IPv4 e IPv6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893005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Neste Packet Tracer, você fará o seguinte: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Completar a Documentação da Tabela de Endereçamento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Testar a Conectividade Usando Ping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Descobrir o Caminho Rastreando a Rota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059450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3838"/>
            <a:ext cx="9144000" cy="893852"/>
          </a:xfrm>
        </p:spPr>
        <p:txBody>
          <a:bodyPr/>
          <a:lstStyle/>
          <a:p>
            <a:pPr rtl="0"/>
            <a:r>
              <a:rPr sz="1600" lang="pt-BR"/>
              <a:t>Ping e Traceroute Testes</a:t>
            </a:r>
            <a:br>
              <a:rPr lang="en-US" altLang="en-US" sz="1600" dirty="0"/>
            </a:br>
            <a:r>
              <a:rPr lang="pt-BR"/>
              <a:t>Packet Tracer - Use Ping e Traceroute para testar a conectividade de rede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130156"/>
            <a:ext cx="8649325" cy="3426853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Neste Packet Tracer, você fará o seguinte: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Testar e Restaurar a conectividade IPv4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Testar e Restaurar a Conectividade IPv6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9322436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13.3 -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19882"/>
          </a:xfrm>
        </p:spPr>
        <p:txBody>
          <a:bodyPr/>
          <a:lstStyle/>
          <a:p>
            <a:pPr rtl="0"/>
            <a:r>
              <a:rPr sz="1600" lang="pt-BR"/>
              <a:t>Prática de módulo e</a:t>
            </a:r>
            <a:r>
              <a:rPr lang="pt-BR"/>
              <a:t>rastreador depacotes de quiz - use ICMP para testar e corrigir conectividade de rede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119882"/>
            <a:ext cx="8649325" cy="3437127"/>
          </a:xfrm>
        </p:spPr>
        <p:txBody>
          <a:bodyPr/>
          <a:lstStyle/>
          <a:p>
            <a:pPr marL="0" indent="0" rtl="0">
              <a:buNone/>
            </a:pPr>
            <a:r>
              <a:rPr sz="1800" lang="pt-BR"/>
              <a:t>Neste Packet Tracer, você fará o seguinte: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Use ICMP para localizar problemas de conectividade.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800" lang="pt-BR"/>
              <a:t>Configure dispositivos de rede para corrigir problemas de conectividade.</a:t>
            </a:r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5970949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91916"/>
          </a:xfrm>
        </p:spPr>
        <p:txBody>
          <a:bodyPr/>
          <a:lstStyle/>
          <a:p>
            <a:pPr rtl="0"/>
            <a:r>
              <a:rPr sz="1600" lang="pt-BR"/>
              <a:t>Módulo Prático e Quiz</a:t>
            </a:r>
            <a:br>
              <a:rPr lang="en-US" altLang="en-US" dirty="0"/>
            </a:br>
            <a:r>
              <a:rPr lang="pt-BR"/>
              <a:t>Packet Tracer - Use Ping e Traceroute para Testar Conectividade de Rede -</a:t>
            </a:r>
            <a:br>
              <a:rPr lang="en-US" altLang="en-US" dirty="0"/>
            </a:br>
            <a:r>
              <a:rPr lang="pt-BR"/>
              <a:t>Laboratório de Modo Físico — Use Ping e Traceroute para testar a conectividade de rede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7337" y="1491916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sz="1400" lang="pt-BR"/>
              <a:t>Nesta atividade de modo físico do pacote de pacotes, você completará os seguintes objetivos: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Usar o Comando Ping para Testes Básicos de Rede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Usar os Comandos Tracert e Traceroute para Testes Básicos de Rede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Solucionar Problemas da Topologia</a:t>
            </a:r>
          </a:p>
          <a:p>
            <a:pPr marL="0" indent="0" rtl="0">
              <a:buNone/>
            </a:pPr>
            <a:r>
              <a:rPr sz="1400" lang="pt-BR"/>
              <a:t>Neste laboratório, você completa os seguintes objetivos: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Criar e Configurar a Rede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Usar o Comando Ping para Testes Básicos de Rede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Usar os Comandos Tracert e Traceroute para Testes Básicos de Rede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Solucionar Problemas da Topologia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380527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798944"/>
            <a:ext cx="8641196" cy="3539376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objetivo das mensagens ICMP é fornecer feedback sobre problemas relacionados ao processamento de pacotes IP sob certas condições.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As mensagens ICMP comuns ao ICMPv4 e ICMPv6 são: Capacidade de acesso ao host, Destino ou Serviço Inacessível e Tempo excedido. 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As mensagens entre um roteador IPv6 e um dispositivo IPv6 incluindo alocação de endereço dinâmico incluem RS e RA. As mensagens entre dispositivos IPv6 incluem o redirecionamento (semelhante ao IPv4), NS e NA.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Ping (used by IPv4 and IPv6) uses ICMP echo request and echo reply messages to test connectivity between hosts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ping pode ser usado para testar a configuração interna do IPv4 ou IPv6 no host local. 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traceroute (tracert) gera uma lista de saltos que foram alcançados com sucesso ao longo do caminho.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 rtl="0"/>
            <a:r>
              <a:rPr sz="1600" lang="pt-BR">
                <a:latin typeface="Arial" charset="0"/>
              </a:rPr>
              <a:t>Módulo 13 : ICMP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CCACF-BEF7-4889-8E50-CB443D959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ICMP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ICMPv4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ICMPv6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ping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traceroute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tracert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Protocolo de Descoberta de Rede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Solicitação do roteador (RS)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Anúncio do roteador (RA)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Mensagem de solicitação de vizinho (NS)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Anúncio Vizinho (NA)</a:t>
            </a:r>
          </a:p>
          <a:p>
            <a:pPr marL="173038" indent="-173038" rtl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TTL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10016</TotalTime>
  <Words>3042</Words>
  <Application>Microsoft Office PowerPoint</Application>
  <PresentationFormat>On-screen Show (16:9)</PresentationFormat>
  <Paragraphs>367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CiscoSans ExtraLight</vt:lpstr>
      <vt:lpstr>Arial</vt:lpstr>
      <vt:lpstr>Calibri</vt:lpstr>
      <vt:lpstr>Wingdings</vt:lpstr>
      <vt:lpstr>Default Theme</vt:lpstr>
      <vt:lpstr>Module 13: ICMP</vt:lpstr>
      <vt:lpstr>Instructor Materials – Module 13 Planning Guide</vt:lpstr>
      <vt:lpstr>What to Expect in this Module</vt:lpstr>
      <vt:lpstr>What to Expect in this Module (Cont.)</vt:lpstr>
      <vt:lpstr>Check Your Understanding</vt:lpstr>
      <vt:lpstr>Packet Tracer Physical Mode Activities</vt:lpstr>
      <vt:lpstr>Module 13: Activities</vt:lpstr>
      <vt:lpstr>Module 13: Best Practices</vt:lpstr>
      <vt:lpstr>Module 13: Best Practices (Cont.) </vt:lpstr>
      <vt:lpstr>Module 13: ICMP </vt:lpstr>
      <vt:lpstr>Module Objectives</vt:lpstr>
      <vt:lpstr>13.1 ICMP Messages</vt:lpstr>
      <vt:lpstr>ICMP Messages ICMPv4 and ICMPv6 Messages</vt:lpstr>
      <vt:lpstr>ICMP Messages Host Reachability</vt:lpstr>
      <vt:lpstr>ICMP Messages Destination or Service Unreachable</vt:lpstr>
      <vt:lpstr>ICMP Messages  Time Exceeded</vt:lpstr>
      <vt:lpstr>ICMP Messages ICMPv6 Messages</vt:lpstr>
      <vt:lpstr>ICMP Messages ICMPv6 Messages (Cont.)</vt:lpstr>
      <vt:lpstr>ICMP Messages ICMPv6 Messages (Cont.)</vt:lpstr>
      <vt:lpstr>ICMP Messages ICMPv6 Messages (Cont.)</vt:lpstr>
      <vt:lpstr>ICMP Messages ICMPv6 Messages (Cont.)</vt:lpstr>
      <vt:lpstr>13.2 Ping and Traceroute Tests</vt:lpstr>
      <vt:lpstr>Ping and Traceroute Tests Ping – Test Connectivity</vt:lpstr>
      <vt:lpstr>Ping and Traceroute Tests Ping the Loopback</vt:lpstr>
      <vt:lpstr>Ping and Traceroute Tests Ping the Default Gateway</vt:lpstr>
      <vt:lpstr>Ping and Traceroute Tests Ping a Remote Host</vt:lpstr>
      <vt:lpstr>Ping and Traceroute Tests Traceroute – Test the Path</vt:lpstr>
      <vt:lpstr>Ping and Traceroute Tests Traceroute – Test the Path (Cont.)</vt:lpstr>
      <vt:lpstr>Ping and Traceroute Tests Packet Tracer – Verify IPv4 and IPv6 Addressing</vt:lpstr>
      <vt:lpstr>Ping and Traceroute Tests Packet Tracer – Use Ping and Traceroute to Test Network Connectivity</vt:lpstr>
      <vt:lpstr>13.3 Module Practice and Quiz</vt:lpstr>
      <vt:lpstr>Module Practice and Quiz Packet Tracer – Use ICMP to Test and Correct Network Connectivity</vt:lpstr>
      <vt:lpstr>Module Practice and Quiz Packet Tracer - Use Ping and Traceroute to Test Network Connectivity - Physical Mode Lab – Use Ping and Traceroute to Test Network Connectivity</vt:lpstr>
      <vt:lpstr>Module Practice and Quiz What did I learn in this module?</vt:lpstr>
      <vt:lpstr>Module 13 : ICMP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Jeff Luman -X (jluman - UNICON INC at Cisco)</cp:lastModifiedBy>
  <cp:revision>286</cp:revision>
  <dcterms:created xsi:type="dcterms:W3CDTF">2019-10-18T06:21:22Z</dcterms:created>
  <dcterms:modified xsi:type="dcterms:W3CDTF">2021-02-03T18:28:34Z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