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5.xml" ContentType="application/vnd.openxmlformats-officedocument.presentationml.tags+xml"/>
  <Override PartName="/ppt/notesSlides/notesSlide28.xml" ContentType="application/vnd.openxmlformats-officedocument.presentationml.notesSlide+xml"/>
  <Override PartName="/ppt/tags/tag16.xml" ContentType="application/vnd.openxmlformats-officedocument.presentationml.tags+xml"/>
  <Override PartName="/ppt/notesSlides/notesSlide29.xml" ContentType="application/vnd.openxmlformats-officedocument.presentationml.notesSlide+xml"/>
  <Override PartName="/ppt/tags/tag17.xml" ContentType="application/vnd.openxmlformats-officedocument.presentationml.tags+xml"/>
  <Override PartName="/ppt/notesSlides/notesSlide30.xml" ContentType="application/vnd.openxmlformats-officedocument.presentationml.notesSlide+xml"/>
  <Override PartName="/ppt/tags/tag18.xml" ContentType="application/vnd.openxmlformats-officedocument.presentationml.tags+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5"/>
  </p:notesMasterIdLst>
  <p:sldIdLst>
    <p:sldId id="513" r:id="rId2"/>
    <p:sldId id="730" r:id="rId3"/>
    <p:sldId id="1070" r:id="rId4"/>
    <p:sldId id="1071" r:id="rId5"/>
    <p:sldId id="1053" r:id="rId6"/>
    <p:sldId id="763" r:id="rId7"/>
    <p:sldId id="1052" r:id="rId8"/>
    <p:sldId id="1069" r:id="rId9"/>
    <p:sldId id="876" r:id="rId10"/>
    <p:sldId id="860" r:id="rId11"/>
    <p:sldId id="759" r:id="rId12"/>
    <p:sldId id="1054" r:id="rId13"/>
    <p:sldId id="1090" r:id="rId14"/>
    <p:sldId id="1101" r:id="rId15"/>
    <p:sldId id="1056" r:id="rId16"/>
    <p:sldId id="1057" r:id="rId17"/>
    <p:sldId id="1091" r:id="rId18"/>
    <p:sldId id="1092" r:id="rId19"/>
    <p:sldId id="1093" r:id="rId20"/>
    <p:sldId id="1094" r:id="rId21"/>
    <p:sldId id="1095" r:id="rId22"/>
    <p:sldId id="1096" r:id="rId23"/>
    <p:sldId id="1097" r:id="rId24"/>
    <p:sldId id="1102" r:id="rId25"/>
    <p:sldId id="1063" r:id="rId26"/>
    <p:sldId id="1098" r:id="rId27"/>
    <p:sldId id="1099" r:id="rId28"/>
    <p:sldId id="1100" r:id="rId29"/>
    <p:sldId id="1103" r:id="rId30"/>
    <p:sldId id="957" r:id="rId31"/>
    <p:sldId id="958" r:id="rId32"/>
    <p:sldId id="874" r:id="rId33"/>
    <p:sldId id="291" r:id="rId34"/>
  </p:sldIdLst>
  <p:sldSz cx="9144000" cy="5143500" type="screen16x9"/>
  <p:notesSz cx="6858000" cy="9144000"/>
  <p:custDataLst>
    <p:tags r:id="rId3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784964-2849-BDCC-EC6E-19D6ECE064BA}" v="5" dt="2020-06-28T23:42:30.6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8" autoAdjust="0"/>
    <p:restoredTop sz="77285" autoAdjust="0"/>
  </p:normalViewPr>
  <p:slideViewPr>
    <p:cSldViewPr snapToGrid="0" showGuides="1">
      <p:cViewPr varScale="1">
        <p:scale>
          <a:sx n="68" d="100"/>
          <a:sy n="68" d="100"/>
        </p:scale>
        <p:origin x="1372" y="6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lberto Neves Sudre Filho" userId="S::gilberto.neves@faesa.br::d3375f58-c24b-48d7-baef-871d87266953" providerId="AD" clId="Web-{D6784964-2849-BDCC-EC6E-19D6ECE064BA}"/>
    <pc:docChg chg="modSld">
      <pc:chgData name="Gilberto Neves Sudre Filho" userId="S::gilberto.neves@faesa.br::d3375f58-c24b-48d7-baef-871d87266953" providerId="AD" clId="Web-{D6784964-2849-BDCC-EC6E-19D6ECE064BA}" dt="2020-06-28T23:42:30.645" v="4" actId="14100"/>
      <pc:docMkLst>
        <pc:docMk/>
      </pc:docMkLst>
      <pc:sldChg chg="modSp">
        <pc:chgData name="Gilberto Neves Sudre Filho" userId="S::gilberto.neves@faesa.br::d3375f58-c24b-48d7-baef-871d87266953" providerId="AD" clId="Web-{D6784964-2849-BDCC-EC6E-19D6ECE064BA}" dt="2020-06-28T23:42:22.597" v="2" actId="1076"/>
        <pc:sldMkLst>
          <pc:docMk/>
          <pc:sldMk cId="333203623" sldId="1095"/>
        </pc:sldMkLst>
        <pc:picChg chg="mod">
          <ac:chgData name="Gilberto Neves Sudre Filho" userId="S::gilberto.neves@faesa.br::d3375f58-c24b-48d7-baef-871d87266953" providerId="AD" clId="Web-{D6784964-2849-BDCC-EC6E-19D6ECE064BA}" dt="2020-06-28T23:42:22.597" v="2" actId="1076"/>
          <ac:picMkLst>
            <pc:docMk/>
            <pc:sldMk cId="333203623" sldId="1095"/>
            <ac:picMk id="2" creationId="{88E1F9DB-BF06-458F-943E-47F1D805506A}"/>
          </ac:picMkLst>
        </pc:picChg>
      </pc:sldChg>
      <pc:sldChg chg="modSp">
        <pc:chgData name="Gilberto Neves Sudre Filho" userId="S::gilberto.neves@faesa.br::d3375f58-c24b-48d7-baef-871d87266953" providerId="AD" clId="Web-{D6784964-2849-BDCC-EC6E-19D6ECE064BA}" dt="2020-06-28T23:42:30.645" v="4" actId="14100"/>
        <pc:sldMkLst>
          <pc:docMk/>
          <pc:sldMk cId="2945305247" sldId="1097"/>
        </pc:sldMkLst>
        <pc:picChg chg="mod">
          <ac:chgData name="Gilberto Neves Sudre Filho" userId="S::gilberto.neves@faesa.br::d3375f58-c24b-48d7-baef-871d87266953" providerId="AD" clId="Web-{D6784964-2849-BDCC-EC6E-19D6ECE064BA}" dt="2020-06-28T23:42:30.645" v="4" actId="14100"/>
          <ac:picMkLst>
            <pc:docMk/>
            <pc:sldMk cId="2945305247" sldId="1097"/>
            <ac:picMk id="2" creationId="{54F65C2E-4429-4EE0-B587-6BE1F19A05B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b="0"/>
              <a:t>Programa da Cisco Networking Academy</a:t>
            </a:r>
          </a:p>
          <a:p>
            <a:pPr rtl="0">
              <a:buFontTx/>
              <a:buNone/>
            </a:pPr>
            <a:r>
              <a:rPr lang="pt-BR" b="0"/>
              <a:t>Introdução às redes v7.0 (ITN)</a:t>
            </a:r>
          </a:p>
          <a:p>
            <a:pPr rtl="0">
              <a:buFontTx/>
              <a:buNone/>
            </a:pPr>
            <a:r>
              <a:rPr lang="pt-BR" sz="1200" b="0"/>
              <a:t>Módulo 9: Resolução de Endereços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8</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b="0"/>
              <a:t>Programa da Cisco Networking Academy</a:t>
            </a:r>
          </a:p>
          <a:p>
            <a:pPr rtl="0">
              <a:buFontTx/>
              <a:buNone/>
            </a:pPr>
            <a:r>
              <a:rPr lang="pt-BR" b="0"/>
              <a:t>Introdução às redes v7.0 (ITN)</a:t>
            </a:r>
          </a:p>
          <a:p>
            <a:pPr rtl="0">
              <a:buFontTx/>
              <a:buNone/>
            </a:pPr>
            <a:r>
              <a:rPr lang="pt-BR" sz="1200" b="0"/>
              <a:t>Módulo 9: Resolução de Endereços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10</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9 - Resolução de Endereços</a:t>
            </a:r>
          </a:p>
          <a:p>
            <a:pPr rtl="0">
              <a:buFontTx/>
              <a:buNone/>
            </a:pPr>
            <a:r>
              <a:rPr lang="pt-BR" sz="1200" b="0"/>
              <a:t>9.0.2</a:t>
            </a:r>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9 - Resolução de Endereços</a:t>
            </a:r>
          </a:p>
          <a:p>
            <a:pPr rtl="0">
              <a:buFontTx/>
              <a:buNone/>
            </a:pPr>
            <a:r>
              <a:rPr lang="pt-BR" sz="1200" b="0"/>
              <a:t>9.1 MAC e IP</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9.1 — MAC e IP</a:t>
            </a:r>
          </a:p>
          <a:p>
            <a:pPr rtl="0"/>
            <a:r>
              <a:rPr lang="pt-BR"/>
              <a:t>9.1.1 - Destino na Mesma Rede</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9.1 MAC e IP</a:t>
            </a:r>
          </a:p>
          <a:p>
            <a:pPr rtl="0"/>
            <a:r>
              <a:rPr lang="pt-BR"/>
              <a:t>9.1.2 – Destino na rede remota</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2859007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a:t>9 - Resolução de Endereços</a:t>
            </a:r>
          </a:p>
          <a:p>
            <a:pPr marL="0" marR="0" lvl="0" indent="0" algn="l" defTabSz="457200" rtl="0" eaLnBrk="1" fontAlgn="auto" latinLnBrk="0" hangingPunct="1">
              <a:lnSpc>
                <a:spcPct val="100000"/>
              </a:lnSpc>
              <a:spcBef>
                <a:spcPts val="0"/>
              </a:spcBef>
              <a:spcAft>
                <a:spcPts val="0"/>
              </a:spcAft>
              <a:buClrTx/>
              <a:buSzTx/>
              <a:buFontTx/>
              <a:buNone/>
              <a:tabLst/>
              <a:defRPr/>
            </a:pPr>
            <a:r>
              <a:rPr lang="pt-BR"/>
              <a:t>9.1 - MAC e IP</a:t>
            </a:r>
          </a:p>
          <a:p>
            <a:pPr rtl="0"/>
            <a:r>
              <a:rPr lang="pt-BR"/>
              <a:t>9.1.3 – Packet Tracer – Identificar endereços MAC e IP</a:t>
            </a:r>
          </a:p>
          <a:p>
            <a:pPr rtl="0"/>
            <a:r>
              <a:rPr lang="pt-BR"/>
              <a:t>9.1.4 — Verifique o seu entendimento — MAC e IP</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3305238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9 - Resolução de Endereços</a:t>
            </a:r>
          </a:p>
          <a:p>
            <a:pPr rtl="0">
              <a:buFontTx/>
              <a:buNone/>
            </a:pPr>
            <a:r>
              <a:rPr lang="pt-BR" sz="1200" b="0"/>
              <a:t>9.2 ARP</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9.2 — ARP</a:t>
            </a:r>
          </a:p>
          <a:p>
            <a:pPr rtl="0"/>
            <a:r>
              <a:rPr lang="pt-BR"/>
              <a:t>9.2.1 — Visão geral do ARP</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2552125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9.2 — ARP</a:t>
            </a:r>
          </a:p>
          <a:p>
            <a:pPr rtl="0"/>
            <a:r>
              <a:rPr lang="pt-BR"/>
              <a:t>9.2.2 – Funções do ARP</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953125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9.2 — ARP</a:t>
            </a:r>
          </a:p>
          <a:p>
            <a:pPr rtl="0"/>
            <a:r>
              <a:rPr lang="pt-BR"/>
              <a:t>9.2.3 — Vídeo - Solicitação ARP</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90897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9.2 — ARP</a:t>
            </a:r>
          </a:p>
          <a:p>
            <a:pPr rtl="0"/>
            <a:r>
              <a:rPr lang="pt-BR"/>
              <a:t>9.2.4 - Vídeo - Operação do ARP - Resposta do ARP</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38954780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9.2 — ARP</a:t>
            </a:r>
          </a:p>
          <a:p>
            <a:pPr rtl="0"/>
            <a:r>
              <a:rPr lang="pt-BR"/>
              <a:t>9.2.5 - Vídeo - Função ARP nas comunicações remotas</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39154168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9.2 — ARP</a:t>
            </a:r>
          </a:p>
          <a:p>
            <a:pPr rtl="0"/>
            <a:r>
              <a:rPr lang="pt-BR"/>
              <a:t>9.2.6 – Remoção de entradas de uma tabela ARP</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36846645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9.2 — ARP</a:t>
            </a:r>
          </a:p>
          <a:p>
            <a:pPr rtl="0"/>
            <a:r>
              <a:rPr lang="pt-BR"/>
              <a:t>9.2.7 Tabelas ARP em dispositivos de rede </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1418977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9.2 — ARP</a:t>
            </a:r>
          </a:p>
          <a:p>
            <a:pPr rtl="0"/>
            <a:r>
              <a:rPr lang="pt-BR"/>
              <a:t>9.2.8 — Problemas de ARP — Broadcast ARP e falsificação de ARP</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8999022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9.2 — ARP</a:t>
            </a:r>
          </a:p>
          <a:p>
            <a:pPr rtl="0"/>
            <a:r>
              <a:rPr lang="pt-BR"/>
              <a:t>9.2.9 - Packet Tracer – Examine a Tabela ARP</a:t>
            </a:r>
          </a:p>
          <a:p>
            <a:pPr rtl="0"/>
            <a:r>
              <a:rPr lang="pt-BR"/>
              <a:t>9.2.10 - Verifique sua compreensão - ARP</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3589679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9 - Resolução de Endereços</a:t>
            </a:r>
          </a:p>
          <a:p>
            <a:pPr rtl="0">
              <a:buFontTx/>
              <a:buNone/>
            </a:pPr>
            <a:r>
              <a:rPr lang="pt-BR" sz="1200" b="0"/>
              <a:t>9.3 Cabeamento de cobre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9777554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9.3 - Descoberta de vizinhos de IPv6</a:t>
            </a:r>
          </a:p>
          <a:p>
            <a:pPr rtl="0"/>
            <a:r>
              <a:rPr lang="pt-BR"/>
              <a:t>9.3.1 - Vídeo - descoberta de vizinhos IPv6</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30390394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9.3 - Descoberta de vizinhos de IPv6</a:t>
            </a:r>
          </a:p>
          <a:p>
            <a:pPr rtl="0"/>
            <a:r>
              <a:rPr lang="pt-BR"/>
              <a:t>9.3.2 — Mensagens de descoberta de vizinhos IPv6</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9040659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9.3 - Descoberta de vizinhos de IPv6</a:t>
            </a:r>
          </a:p>
          <a:p>
            <a:pPr rtl="0"/>
            <a:r>
              <a:rPr lang="pt-BR"/>
              <a:t>9.3.3 — Descoberta de Vizinhos IPv6 — Resolução de Endereços</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986295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9 - Resolução de Endereços</a:t>
            </a:r>
          </a:p>
          <a:p>
            <a:pPr rtl="0"/>
            <a:r>
              <a:rPr lang="pt-BR"/>
              <a:t>9.3 - Descoberta de vizinhos de IPv6</a:t>
            </a:r>
          </a:p>
          <a:p>
            <a:pPr rtl="0"/>
            <a:r>
              <a:rPr lang="pt-BR"/>
              <a:t>9.3.4 — Packet Tracer — Descoberta de Vizinhos IPv6</a:t>
            </a:r>
          </a:p>
          <a:p>
            <a:pPr rtl="0"/>
            <a:r>
              <a:rPr lang="pt-BR"/>
              <a:t>9.3.5 — Verifique seu entendimento — Descoberta de vizinhos</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34516599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9 - Resolução de Endereços</a:t>
            </a:r>
          </a:p>
          <a:p>
            <a:pPr rtl="0">
              <a:buFontTx/>
              <a:buNone/>
            </a:pPr>
            <a:r>
              <a:rPr lang="pt-BR" sz="1200" b="0"/>
              <a:t>9.4 - Módulo Prática e Quiz</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31</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a:t>9 - Resolução de Endereços</a:t>
            </a:r>
          </a:p>
          <a:p>
            <a:pPr rtl="0"/>
            <a:r>
              <a:rPr lang="pt-BR"/>
              <a:t>9.4 - Módulo Prática e Quiz</a:t>
            </a:r>
          </a:p>
          <a:p>
            <a:pPr rtl="0"/>
            <a:r>
              <a:rPr lang="pt-BR"/>
              <a:t>9.4.1 - O que eu aprendi neste módulo?</a:t>
            </a:r>
          </a:p>
          <a:p>
            <a:pPr rtl="0"/>
            <a:r>
              <a:rPr lang="pt-BR"/>
              <a:t>9.4.2 — Teste de Módulo — Resolução de Endereços</a:t>
            </a:r>
          </a:p>
        </p:txBody>
      </p:sp>
    </p:spTree>
    <p:extLst>
      <p:ext uri="{BB962C8B-B14F-4D97-AF65-F5344CB8AC3E}">
        <p14:creationId xmlns:p14="http://schemas.microsoft.com/office/powerpoint/2010/main" val="14768241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32</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Confidencial da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3">
                    <a:lumMod val="85000"/>
                  </a:schemeClr>
                </a:solidFill>
                <a:latin typeface="+mn-lt"/>
                <a:ea typeface="+mn-ea"/>
                <a:cs typeface="CiscoSans Thin"/>
              </a:rPr>
              <a:t>© 2016 Cisco e/ou suas afiliadas. Todos os direitos reservados.   Confidencial da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pt-BR">
                <a:solidFill>
                  <a:schemeClr val="accent5">
                    <a:lumMod val="40000"/>
                    <a:lumOff val="60000"/>
                  </a:schemeClr>
                </a:solidFill>
              </a:rPr>
              <a:t>Módulo 9- Resolução de Endereços</a:t>
            </a:r>
          </a:p>
        </p:txBody>
      </p:sp>
      <p:sp>
        <p:nvSpPr>
          <p:cNvPr id="5" name="Text Placeholder 4"/>
          <p:cNvSpPr>
            <a:spLocks noGrp="1"/>
          </p:cNvSpPr>
          <p:nvPr>
            <p:ph type="body" sz="quarter" idx="13"/>
          </p:nvPr>
        </p:nvSpPr>
        <p:spPr>
          <a:xfrm>
            <a:off x="469497" y="3127609"/>
            <a:ext cx="5925246" cy="299001"/>
          </a:xfrm>
        </p:spPr>
        <p:txBody>
          <a:bodyPr/>
          <a:lstStyle/>
          <a:p>
            <a:pPr rtl="0"/>
            <a:r>
              <a:rPr lang="pt-BR">
                <a:solidFill>
                  <a:schemeClr val="bg2">
                    <a:lumMod val="40000"/>
                    <a:lumOff val="60000"/>
                  </a:schemeClr>
                </a:solidFill>
              </a:rPr>
              <a:t>Material do instrutor</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pt-BR"/>
              <a:t>Instructor Materials – Module 9 Planning Guide</a:t>
            </a:r>
          </a:p>
        </p:txBody>
      </p:sp>
      <p:sp>
        <p:nvSpPr>
          <p:cNvPr id="4099" name="Rectangle 34"/>
          <p:cNvSpPr>
            <a:spLocks noGrp="1" noChangeArrowheads="1"/>
          </p:cNvSpPr>
          <p:nvPr>
            <p:ph idx="1"/>
          </p:nvPr>
        </p:nvSpPr>
        <p:spPr>
          <a:xfrm>
            <a:off x="145357" y="716437"/>
            <a:ext cx="8715839" cy="3883843"/>
          </a:xfrm>
        </p:spPr>
        <p:txBody>
          <a:bodyPr/>
          <a:lstStyle/>
          <a:p>
            <a:pPr marL="0" indent="0" rtl="0">
              <a:buNone/>
            </a:pPr>
            <a:r>
              <a:rPr lang="pt-BR" sz="1600"/>
              <a:t>This PowerPoint deck is divided in two parts:</a:t>
            </a:r>
          </a:p>
          <a:p>
            <a:pPr rtl="0">
              <a:buFont typeface="Arial" panose="020B0604020202020204" pitchFamily="34" charset="0"/>
              <a:buChar char="•"/>
            </a:pPr>
            <a:r>
              <a:rPr lang="pt-BR" sz="1600"/>
              <a:t>Instructor Planning Guide</a:t>
            </a:r>
          </a:p>
          <a:p>
            <a:pPr lvl="1" rtl="0">
              <a:buFont typeface="Arial" panose="020B0604020202020204" pitchFamily="34" charset="0"/>
              <a:buChar char="•"/>
            </a:pPr>
            <a:r>
              <a:rPr lang="pt-BR" sz="1600"/>
              <a:t>Information to help you become familiar with the module</a:t>
            </a:r>
          </a:p>
          <a:p>
            <a:pPr lvl="1" rtl="0">
              <a:buFont typeface="Arial" panose="020B0604020202020204" pitchFamily="34" charset="0"/>
              <a:buChar char="•"/>
            </a:pPr>
            <a:r>
              <a:rPr lang="pt-BR" sz="1600"/>
              <a:t>Teaching aids</a:t>
            </a:r>
          </a:p>
          <a:p>
            <a:pPr rtl="0">
              <a:buFont typeface="Arial" panose="020B0604020202020204" pitchFamily="34" charset="0"/>
              <a:buChar char="•"/>
            </a:pPr>
            <a:r>
              <a:rPr lang="pt-BR" sz="1600"/>
              <a:t>Instructor Class Presentation</a:t>
            </a:r>
          </a:p>
          <a:p>
            <a:pPr lvl="1" rtl="0"/>
            <a:r>
              <a:rPr lang="pt-BR" sz="1600"/>
              <a:t>Optional slides that you can use in the classroom</a:t>
            </a:r>
          </a:p>
          <a:p>
            <a:pPr lvl="1" rtl="0"/>
            <a:r>
              <a:rPr lang="pt-BR" sz="1600"/>
              <a:t>Begins on slide # 9</a:t>
            </a:r>
          </a:p>
          <a:p>
            <a:pPr marL="142875" lvl="1" indent="0" algn="ctr" rtl="0">
              <a:buNone/>
            </a:pPr>
            <a:r>
              <a:rPr lang="pt-BR" sz="1600" b="1"/>
              <a:t>Note</a:t>
            </a:r>
            <a:r>
              <a:rPr lang="pt-BR" sz="1600"/>
              <a:t>: Remove the Planning Guide from this presentation before sharing with anyone.</a:t>
            </a:r>
          </a:p>
          <a:p>
            <a:pPr marL="0" indent="0" rtl="0">
              <a:buNone/>
            </a:pPr>
            <a:r>
              <a:rPr lang="pt-B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a:p>
            <a:pPr marL="0" indent="0">
              <a:buNone/>
            </a:pPr>
            <a:endParaRPr lang="en-CA" dirty="0"/>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pt-BR"/>
              <a:t>Para facilitar o aprendizado, os seguintes recursos da GUI podem ser incluídos neste módulo:</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pt-BR"/>
              <a:t>O que esperar neste módulo</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21985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pt-BR"/>
                        <a:t>Recurso</a:t>
                      </a:r>
                    </a:p>
                  </a:txBody>
                  <a:tcPr/>
                </a:tc>
                <a:tc>
                  <a:txBody>
                    <a:bodyPr/>
                    <a:lstStyle/>
                    <a:p>
                      <a:pPr rtl="0"/>
                      <a:r>
                        <a:rPr lang="pt-BR"/>
                        <a:t>Descrição</a:t>
                      </a:r>
                    </a:p>
                  </a:txBody>
                  <a:tcPr/>
                </a:tc>
                <a:extLst>
                  <a:ext uri="{0D108BD9-81ED-4DB2-BD59-A6C34878D82A}">
                    <a16:rowId xmlns:a16="http://schemas.microsoft.com/office/drawing/2014/main" val="367710602"/>
                  </a:ext>
                </a:extLst>
              </a:tr>
              <a:tr h="331556">
                <a:tc>
                  <a:txBody>
                    <a:bodyPr/>
                    <a:lstStyle/>
                    <a:p>
                      <a:pPr algn="l" rtl="0" fontAlgn="b"/>
                      <a:r>
                        <a:rPr lang="pt-BR" sz="1400" b="0" i="0" u="none" strike="noStrike">
                          <a:solidFill>
                            <a:srgbClr val="000000"/>
                          </a:solidFill>
                          <a:effectLst/>
                          <a:latin typeface="+mn-lt"/>
                        </a:rPr>
                        <a:t>Animações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Vídeos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Verifique sua compreensão (CYU)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Questionário on-line por tópico para ajudar os alunos a avaliar a compreensão do conteúdo.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Atividades Interativas</a:t>
                      </a:r>
                    </a:p>
                  </a:txBody>
                  <a:tcPr marL="9525" marR="9525" marT="9525" marB="0" anchor="b"/>
                </a:tc>
                <a:tc>
                  <a:txBody>
                    <a:bodyPr/>
                    <a:lstStyle/>
                    <a:p>
                      <a:pPr rtl="0"/>
                      <a:r>
                        <a:rPr lang="pt-BR"/>
                        <a:t>Uma variedade de formatos para ajudar os alunos a avaliar a compreensão do conteúdo.</a:t>
                      </a:r>
                    </a:p>
                  </a:txBody>
                  <a:tcPr/>
                </a:tc>
                <a:extLst>
                  <a:ext uri="{0D108BD9-81ED-4DB2-BD59-A6C34878D82A}">
                    <a16:rowId xmlns:a16="http://schemas.microsoft.com/office/drawing/2014/main" val="3454703549"/>
                  </a:ext>
                </a:extLst>
              </a:tr>
              <a:tr h="215293">
                <a:tc>
                  <a:txBody>
                    <a:bodyPr/>
                    <a:lstStyle/>
                    <a:p>
                      <a:pPr algn="l" rtl="0" fontAlgn="b"/>
                      <a:r>
                        <a:rPr lang="pt-BR" sz="1400" b="0" i="0" u="none" strike="noStrike">
                          <a:solidFill>
                            <a:srgbClr val="000000"/>
                          </a:solidFill>
                          <a:effectLst/>
                          <a:latin typeface="+mn-lt"/>
                        </a:rPr>
                        <a:t>Verificador de sintaxe</a:t>
                      </a:r>
                    </a:p>
                  </a:txBody>
                  <a:tcPr marL="9525" marR="9525" marT="9525" marB="0" anchor="b"/>
                </a:tc>
                <a:tc>
                  <a:txBody>
                    <a:bodyPr/>
                    <a:lstStyle/>
                    <a:p>
                      <a:pPr rtl="0"/>
                      <a:r>
                        <a:rPr lang="pt-BR"/>
                        <a:t>Pequenas simulações que expõem os alunos à linha de comando da Cisco para praticar habilidades de configuração.</a:t>
                      </a:r>
                    </a:p>
                  </a:txBody>
                  <a:tcPr/>
                </a:tc>
                <a:extLst>
                  <a:ext uri="{0D108BD9-81ED-4DB2-BD59-A6C34878D82A}">
                    <a16:rowId xmlns:a16="http://schemas.microsoft.com/office/drawing/2014/main" val="2195331658"/>
                  </a:ext>
                </a:extLst>
              </a:tr>
              <a:tr h="265091">
                <a:tc>
                  <a:txBody>
                    <a:bodyPr/>
                    <a:lstStyle/>
                    <a:p>
                      <a:pPr algn="l" rtl="0" fontAlgn="b"/>
                      <a:r>
                        <a:rPr lang="pt-BR" sz="1400" b="0" i="0" u="none" strike="noStrike">
                          <a:solidFill>
                            <a:srgbClr val="000000"/>
                          </a:solidFill>
                          <a:effectLst/>
                          <a:latin typeface="+mn-lt"/>
                        </a:rPr>
                        <a:t>Atividade do PT</a:t>
                      </a:r>
                    </a:p>
                  </a:txBody>
                  <a:tcPr marL="9525" marR="9525" marT="9525" marB="0" anchor="b"/>
                </a:tc>
                <a:tc>
                  <a:txBody>
                    <a:bodyPr/>
                    <a:lstStyle/>
                    <a:p>
                      <a:pPr rtl="0"/>
                      <a:r>
                        <a:rPr lang="pt-BR"/>
                        <a:t>Atividades de simulação e modelagem projetadas para explorar, adquirir, reforçar e expandir habilidades.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216408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pt-BR" sz="1400" b="1" i="0" u="none" strike="noStrike">
                          <a:solidFill>
                            <a:schemeClr val="bg1"/>
                          </a:solidFill>
                          <a:effectLst/>
                          <a:latin typeface="+mn-lt"/>
                        </a:rPr>
                        <a:t>Recurso</a:t>
                      </a:r>
                    </a:p>
                  </a:txBody>
                  <a:tcPr marL="9525" marR="9525" marT="9525" marB="0" anchor="b"/>
                </a:tc>
                <a:tc>
                  <a:txBody>
                    <a:bodyPr/>
                    <a:lstStyle/>
                    <a:p>
                      <a:pPr rtl="0"/>
                      <a:r>
                        <a:rPr lang="pt-BR"/>
                        <a:t>Descrição</a:t>
                      </a:r>
                    </a:p>
                  </a:txBody>
                  <a:tcPr/>
                </a:tc>
                <a:extLst>
                  <a:ext uri="{0D108BD9-81ED-4DB2-BD59-A6C34878D82A}">
                    <a16:rowId xmlns:a16="http://schemas.microsoft.com/office/drawing/2014/main" val="3768427975"/>
                  </a:ext>
                </a:extLst>
              </a:tr>
              <a:tr h="265091">
                <a:tc>
                  <a:txBody>
                    <a:bodyPr/>
                    <a:lstStyle/>
                    <a:p>
                      <a:pPr algn="l" rtl="0" fontAlgn="b"/>
                      <a:r>
                        <a:rPr lang="pt-BR" sz="1400" b="0" i="0" u="none" strike="noStrike">
                          <a:solidFill>
                            <a:srgbClr val="000000"/>
                          </a:solidFill>
                          <a:effectLst/>
                          <a:latin typeface="+mn-lt"/>
                        </a:rPr>
                        <a:t>Laboratórios práticos</a:t>
                      </a:r>
                    </a:p>
                  </a:txBody>
                  <a:tcPr marL="9525" marR="9525" marT="9525" marB="0" anchor="b"/>
                </a:tc>
                <a:tc>
                  <a:txBody>
                    <a:bodyPr/>
                    <a:lstStyle/>
                    <a:p>
                      <a:pPr rtl="0"/>
                      <a:r>
                        <a:rPr lang="pt-BR"/>
                        <a:t>Laboratórios projetados para trabalhar com equipamentos físicos.</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Atividades em sala de aula</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Estes são encontrados na página Recursos do instrutor. As atividades em classe são projetadas para facilitar o aprendizado, a discussão em classe e a colaboração.</a:t>
                      </a:r>
                    </a:p>
                  </a:txBody>
                  <a:tcPr/>
                </a:tc>
                <a:extLst>
                  <a:ext uri="{0D108BD9-81ED-4DB2-BD59-A6C34878D82A}">
                    <a16:rowId xmlns:a16="http://schemas.microsoft.com/office/drawing/2014/main" val="1125566603"/>
                  </a:ext>
                </a:extLst>
              </a:tr>
              <a:tr h="265091">
                <a:tc>
                  <a:txBody>
                    <a:bodyPr/>
                    <a:lstStyle/>
                    <a:p>
                      <a:pPr algn="l" rtl="0" fontAlgn="b"/>
                      <a:r>
                        <a:rPr lang="pt-BR" sz="1400" b="0" i="0" u="none" strike="noStrike">
                          <a:solidFill>
                            <a:srgbClr val="000000"/>
                          </a:solidFill>
                          <a:effectLst/>
                          <a:latin typeface="+mn-lt"/>
                        </a:rPr>
                        <a:t>Testes de módulo</a:t>
                      </a:r>
                    </a:p>
                  </a:txBody>
                  <a:tcPr marL="9525" marR="9525" marT="9525" marB="0" anchor="b"/>
                </a:tc>
                <a:tc>
                  <a:txBody>
                    <a:bodyPr/>
                    <a:lstStyle/>
                    <a:p>
                      <a:pPr rtl="0"/>
                      <a:r>
                        <a:rPr lang="pt-BR"/>
                        <a:t>Autoavaliações que integram conceitos e habilidades aprendidas ao longo da série de tópicos apresentados no módulo.</a:t>
                      </a:r>
                    </a:p>
                  </a:txBody>
                  <a:tcPr/>
                </a:tc>
                <a:extLst>
                  <a:ext uri="{0D108BD9-81ED-4DB2-BD59-A6C34878D82A}">
                    <a16:rowId xmlns:a16="http://schemas.microsoft.com/office/drawing/2014/main" val="831502776"/>
                  </a:ext>
                </a:extLst>
              </a:tr>
              <a:tr h="265091">
                <a:tc>
                  <a:txBody>
                    <a:bodyPr/>
                    <a:lstStyle/>
                    <a:p>
                      <a:pPr algn="l" rtl="0" fontAlgn="b"/>
                      <a:r>
                        <a:rPr lang="pt-BR" sz="1400" b="0" i="0" u="none" strike="noStrike">
                          <a:solidFill>
                            <a:srgbClr val="000000"/>
                          </a:solidFill>
                          <a:effectLst/>
                          <a:latin typeface="+mn-lt"/>
                        </a:rPr>
                        <a:t>Resumo do módulo</a:t>
                      </a:r>
                    </a:p>
                  </a:txBody>
                  <a:tcPr marL="9525" marR="9525" marT="9525" marB="0" anchor="b"/>
                </a:tc>
                <a:tc>
                  <a:txBody>
                    <a:bodyPr/>
                    <a:lstStyle/>
                    <a:p>
                      <a:pPr rtl="0"/>
                      <a:r>
                        <a:rPr lang="pt-BR"/>
                        <a:t>Recapitule brevemente o conteúdo do módulo.</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pt-BR"/>
              <a:t>O que esperar deste módulo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pt-BR"/>
              <a:t>Para facilitar o aprendizado, os seguintes recursos podem ser incluídos neste módulo:</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pt-BR"/>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pt-BR" sz="1600"/>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pt-BR" sz="1600"/>
              <a:t>Check Your Understanding activities </a:t>
            </a:r>
            <a:r>
              <a:rPr lang="pt-BR" sz="1600" b="1" i="1"/>
              <a:t>do not </a:t>
            </a:r>
            <a:r>
              <a:rPr lang="pt-BR" sz="1600"/>
              <a:t>affect student grades.</a:t>
            </a:r>
          </a:p>
          <a:p>
            <a:pPr rtl="0">
              <a:spcBef>
                <a:spcPct val="30000"/>
              </a:spcBef>
              <a:buFont typeface="Arial" panose="020B0604020202020204" pitchFamily="34" charset="0"/>
              <a:buChar char="•"/>
            </a:pPr>
            <a:r>
              <a:rPr lang="pt-BR" sz="160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3"/>
            <a:ext cx="9144000" cy="495935"/>
          </a:xfrm>
        </p:spPr>
        <p:txBody>
          <a:bodyPr/>
          <a:lstStyle/>
          <a:p>
            <a:pPr rtl="0" eaLnBrk="1" hangingPunct="1"/>
            <a:r>
              <a:rPr lang="pt-BR"/>
              <a:t>Module 9: Activities</a:t>
            </a:r>
          </a:p>
        </p:txBody>
      </p:sp>
      <p:sp>
        <p:nvSpPr>
          <p:cNvPr id="6147" name="Rectangle 34"/>
          <p:cNvSpPr>
            <a:spLocks noGrp="1" noChangeArrowheads="1"/>
          </p:cNvSpPr>
          <p:nvPr>
            <p:ph idx="1"/>
          </p:nvPr>
        </p:nvSpPr>
        <p:spPr>
          <a:xfrm>
            <a:off x="144065" y="431965"/>
            <a:ext cx="8695135" cy="348414"/>
          </a:xfrm>
        </p:spPr>
        <p:txBody>
          <a:bodyPr/>
          <a:lstStyle/>
          <a:p>
            <a:pPr marL="0" indent="0" rtl="0">
              <a:spcBef>
                <a:spcPct val="30000"/>
              </a:spcBef>
              <a:buNone/>
            </a:pPr>
            <a:r>
              <a:rPr lang="pt-B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1944364719"/>
              </p:ext>
            </p:extLst>
          </p:nvPr>
        </p:nvGraphicFramePr>
        <p:xfrm>
          <a:off x="457291" y="902261"/>
          <a:ext cx="8229418" cy="3809274"/>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pt-B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200"/>
                        <a:t>Activity Type</a:t>
                      </a:r>
                    </a:p>
                  </a:txBody>
                  <a:tcPr marL="68580" marR="68580" marT="34290" marB="34290" anchor="ctr"/>
                </a:tc>
                <a:tc>
                  <a:txBody>
                    <a:bodyPr/>
                    <a:lstStyle/>
                    <a:p>
                      <a:pPr rtl="0"/>
                      <a:r>
                        <a:rPr lang="pt-BR" sz="1200"/>
                        <a:t>Activity Name</a:t>
                      </a:r>
                    </a:p>
                  </a:txBody>
                  <a:tcPr marL="68580" marR="68580" marT="34290" marB="34290" anchor="ctr"/>
                </a:tc>
                <a:tc>
                  <a:txBody>
                    <a:bodyPr/>
                    <a:lstStyle/>
                    <a:p>
                      <a:pPr rtl="0"/>
                      <a:r>
                        <a:rPr lang="pt-BR" sz="120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pt-BR" sz="1100"/>
                        <a:t>9.1.3</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Packet Tracer</a:t>
                      </a:r>
                    </a:p>
                  </a:txBody>
                  <a:tcPr marL="68580" marR="68580" marT="34290" marB="34290" anchor="ctr"/>
                </a:tc>
                <a:tc>
                  <a:txBody>
                    <a:bodyPr/>
                    <a:lstStyle/>
                    <a:p>
                      <a:pPr rtl="0"/>
                      <a:r>
                        <a:rPr lang="pt-BR" sz="1100"/>
                        <a:t>Identify MAC and IP Addresses</a:t>
                      </a:r>
                    </a:p>
                  </a:txBody>
                  <a:tcPr marL="68580" marR="68580" marT="34290" marB="34290" anchor="ctr"/>
                </a:tc>
                <a:tc>
                  <a:txBody>
                    <a:bodyPr/>
                    <a:lstStyle/>
                    <a:p>
                      <a:pPr rtl="0"/>
                      <a:r>
                        <a:rPr lang="pt-BR" sz="1100"/>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pt-BR" sz="1100"/>
                        <a:t>9.1.4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rtl="0"/>
                      <a:r>
                        <a:rPr lang="pt-BR" sz="1100"/>
                        <a:t>MAC and IP</a:t>
                      </a:r>
                    </a:p>
                  </a:txBody>
                  <a:tcPr marL="68580" marR="68580" marT="34290" marB="34290" anchor="ctr"/>
                </a:tc>
                <a:tc>
                  <a:txBody>
                    <a:bodyPr/>
                    <a:lstStyle/>
                    <a:p>
                      <a:pPr rtl="0"/>
                      <a:r>
                        <a:rPr lang="pt-BR" sz="1100"/>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pt-BR" sz="1100"/>
                        <a:t>9.2.3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ARP Operation – ARP Request</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a:ln>
                            <a:noFill/>
                          </a:ln>
                          <a:solidFill>
                            <a:srgbClr val="58585B"/>
                          </a:solidFill>
                          <a:effectLst/>
                          <a:uLnTx/>
                          <a:uFillTx/>
                          <a:latin typeface="Arial"/>
                          <a:ea typeface="+mn-ea"/>
                          <a:cs typeface="+mn-cs"/>
                        </a:rPr>
                        <a:t>Recommended</a:t>
                      </a:r>
                    </a:p>
                  </a:txBody>
                  <a:tcPr marL="68580" marR="68580" marT="34290" marB="34290" anchor="ctr"/>
                </a:tc>
                <a:extLst>
                  <a:ext uri="{0D108BD9-81ED-4DB2-BD59-A6C34878D82A}">
                    <a16:rowId xmlns:a16="http://schemas.microsoft.com/office/drawing/2014/main" val="4163592917"/>
                  </a:ext>
                </a:extLst>
              </a:tr>
              <a:tr h="350784">
                <a:tc>
                  <a:txBody>
                    <a:bodyPr/>
                    <a:lstStyle/>
                    <a:p>
                      <a:pPr algn="ctr" rtl="0"/>
                      <a:r>
                        <a:rPr lang="pt-BR" sz="1100"/>
                        <a:t>9.2.4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ARP Operation – ARP Reply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a:ln>
                            <a:noFill/>
                          </a:ln>
                          <a:solidFill>
                            <a:srgbClr val="58585B"/>
                          </a:solidFill>
                          <a:effectLst/>
                          <a:uLnTx/>
                          <a:uFillTx/>
                          <a:latin typeface="+mn-lt"/>
                          <a:ea typeface="+mn-ea"/>
                          <a:cs typeface="+mn-cs"/>
                        </a:rPr>
                        <a:t>Recommended</a:t>
                      </a:r>
                    </a:p>
                  </a:txBody>
                  <a:tcPr marL="68580" marR="68580" marT="34290" marB="34290" anchor="ctr"/>
                </a:tc>
                <a:extLst>
                  <a:ext uri="{0D108BD9-81ED-4DB2-BD59-A6C34878D82A}">
                    <a16:rowId xmlns:a16="http://schemas.microsoft.com/office/drawing/2014/main" val="3248063314"/>
                  </a:ext>
                </a:extLst>
              </a:tr>
              <a:tr h="350784">
                <a:tc>
                  <a:txBody>
                    <a:bodyPr/>
                    <a:lstStyle/>
                    <a:p>
                      <a:pPr algn="ctr" rtl="0"/>
                      <a:r>
                        <a:rPr lang="pt-BR" sz="1100"/>
                        <a:t>9.2.5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ARP Role in Remote Communications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a:ln>
                            <a:noFill/>
                          </a:ln>
                          <a:solidFill>
                            <a:srgbClr val="58585B"/>
                          </a:solidFill>
                          <a:effectLst/>
                          <a:uLnTx/>
                          <a:uFillTx/>
                          <a:latin typeface="+mn-lt"/>
                          <a:ea typeface="+mn-ea"/>
                          <a:cs typeface="+mn-cs"/>
                        </a:rPr>
                        <a:t>Recommended</a:t>
                      </a:r>
                    </a:p>
                  </a:txBody>
                  <a:tcPr marL="68580" marR="68580" marT="34290" marB="34290" anchor="ctr"/>
                </a:tc>
                <a:extLst>
                  <a:ext uri="{0D108BD9-81ED-4DB2-BD59-A6C34878D82A}">
                    <a16:rowId xmlns:a16="http://schemas.microsoft.com/office/drawing/2014/main" val="1982792498"/>
                  </a:ext>
                </a:extLst>
              </a:tr>
              <a:tr h="350784">
                <a:tc>
                  <a:txBody>
                    <a:bodyPr/>
                    <a:lstStyle/>
                    <a:p>
                      <a:pPr algn="ctr" rtl="0"/>
                      <a:r>
                        <a:rPr lang="pt-BR" sz="1100"/>
                        <a:t>9.2.9</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Examine the ARP Table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lang="pt-BR" sz="1100"/>
                        <a:t>9.2.10</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ARP</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pt-BR" sz="1100"/>
                        <a:t>9.3.1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IPv6 Neighbor Discovery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a:ln>
                            <a:noFill/>
                          </a:ln>
                          <a:solidFill>
                            <a:srgbClr val="58585B"/>
                          </a:solidFill>
                          <a:effectLst/>
                          <a:uLnTx/>
                          <a:uFillTx/>
                          <a:latin typeface="+mn-lt"/>
                          <a:ea typeface="+mn-ea"/>
                          <a:cs typeface="+mn-cs"/>
                        </a:rPr>
                        <a:t>Recommended</a:t>
                      </a:r>
                    </a:p>
                  </a:txBody>
                  <a:tcPr marL="68580" marR="68580" marT="34290" marB="34290" anchor="ctr"/>
                </a:tc>
                <a:extLst>
                  <a:ext uri="{0D108BD9-81ED-4DB2-BD59-A6C34878D82A}">
                    <a16:rowId xmlns:a16="http://schemas.microsoft.com/office/drawing/2014/main" val="1520424507"/>
                  </a:ext>
                </a:extLst>
              </a:tr>
              <a:tr h="350784">
                <a:tc>
                  <a:txBody>
                    <a:bodyPr/>
                    <a:lstStyle/>
                    <a:p>
                      <a:pPr algn="ctr" rtl="0"/>
                      <a:r>
                        <a:rPr lang="pt-BR" sz="1100"/>
                        <a:t>9.3.4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IPv6 Neighbor Discovery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pt-BR" sz="1100"/>
                        <a:t>9.3.5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IPv6 Neighbor Discovery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001172460"/>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9: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pt-BR"/>
              <a:t>Prior to teaching Module 9, the instructor should:</a:t>
            </a:r>
          </a:p>
          <a:p>
            <a:pPr rtl="0">
              <a:lnSpc>
                <a:spcPct val="85000"/>
              </a:lnSpc>
              <a:spcBef>
                <a:spcPct val="30000"/>
              </a:spcBef>
              <a:buFont typeface="Arial" panose="020B0604020202020204" pitchFamily="34" charset="0"/>
              <a:buChar char="•"/>
            </a:pPr>
            <a:r>
              <a:rPr lang="pt-BR"/>
              <a:t>Review the activities and assessments for this module.</a:t>
            </a:r>
          </a:p>
          <a:p>
            <a:pPr rtl="0">
              <a:lnSpc>
                <a:spcPct val="85000"/>
              </a:lnSpc>
              <a:spcBef>
                <a:spcPct val="30000"/>
              </a:spcBef>
              <a:buFont typeface="Arial" panose="020B0604020202020204" pitchFamily="34" charset="0"/>
              <a:buChar char="•"/>
            </a:pPr>
            <a:r>
              <a:rPr lang="pt-BR"/>
              <a:t>Try to include as many questions as possible to keep students engaged during classroom presentation.</a:t>
            </a:r>
          </a:p>
          <a:p>
            <a:pPr marL="0" indent="0" rtl="0" eaLnBrk="1" hangingPunct="1">
              <a:lnSpc>
                <a:spcPct val="85000"/>
              </a:lnSpc>
              <a:spcBef>
                <a:spcPct val="30000"/>
              </a:spcBef>
              <a:buNone/>
            </a:pPr>
            <a:r>
              <a:rPr lang="pt-BR"/>
              <a:t>Topic 9.1</a:t>
            </a:r>
          </a:p>
          <a:p>
            <a:pPr lvl="1" rtl="0">
              <a:lnSpc>
                <a:spcPct val="85000"/>
              </a:lnSpc>
              <a:spcBef>
                <a:spcPct val="30000"/>
              </a:spcBef>
            </a:pPr>
            <a:r>
              <a:rPr lang="pt-BR" sz="1500"/>
              <a:t>Ask the students or have a class discussion</a:t>
            </a:r>
          </a:p>
          <a:p>
            <a:pPr lvl="2" rtl="0">
              <a:lnSpc>
                <a:spcPct val="85000"/>
              </a:lnSpc>
              <a:spcBef>
                <a:spcPct val="30000"/>
              </a:spcBef>
            </a:pPr>
            <a:r>
              <a:rPr lang="pt-BR" sz="1500"/>
              <a:t>Have students discuss the IP and MAC addresses from source to destination when there are multiple router hops.</a:t>
            </a:r>
          </a:p>
          <a:p>
            <a:pPr lvl="2" rtl="0">
              <a:lnSpc>
                <a:spcPct val="85000"/>
              </a:lnSpc>
              <a:spcBef>
                <a:spcPct val="30000"/>
              </a:spcBef>
            </a:pPr>
            <a:r>
              <a:rPr lang="pt-BR" sz="1500"/>
              <a:t>Describe the Layer 2 addresses used when a destination is on the same local network and when the destination is on a remote network.</a:t>
            </a:r>
          </a:p>
          <a:p>
            <a:pPr marL="0" indent="0" rtl="0">
              <a:lnSpc>
                <a:spcPct val="85000"/>
              </a:lnSpc>
              <a:spcBef>
                <a:spcPct val="30000"/>
              </a:spcBef>
              <a:buNone/>
            </a:pPr>
            <a:r>
              <a:rPr lang="pt-BR"/>
              <a:t>Topic 9.2</a:t>
            </a:r>
          </a:p>
          <a:p>
            <a:pPr lvl="1" rtl="0">
              <a:lnSpc>
                <a:spcPct val="85000"/>
              </a:lnSpc>
              <a:spcBef>
                <a:spcPct val="30000"/>
              </a:spcBef>
            </a:pPr>
            <a:r>
              <a:rPr lang="pt-BR" sz="1500"/>
              <a:t>Ask the students or have a class discussion</a:t>
            </a:r>
          </a:p>
          <a:p>
            <a:pPr lvl="2" rtl="0">
              <a:lnSpc>
                <a:spcPct val="85000"/>
              </a:lnSpc>
              <a:spcBef>
                <a:spcPct val="30000"/>
              </a:spcBef>
            </a:pPr>
            <a:r>
              <a:rPr lang="pt-BR" sz="1500"/>
              <a:t>What impact do ARP requests have on the network and other local devices?</a:t>
            </a:r>
          </a:p>
          <a:p>
            <a:pPr lvl="2" rtl="0">
              <a:lnSpc>
                <a:spcPct val="85000"/>
              </a:lnSpc>
              <a:spcBef>
                <a:spcPct val="30000"/>
              </a:spcBef>
            </a:pPr>
            <a:r>
              <a:rPr lang="pt-BR" sz="1500"/>
              <a:t>What are some security risks associated with ARP?</a:t>
            </a:r>
          </a:p>
          <a:p>
            <a:pPr lvl="2">
              <a:lnSpc>
                <a:spcPct val="85000"/>
              </a:lnSpc>
              <a:spcBef>
                <a:spcPct val="30000"/>
              </a:spcBef>
            </a:pPr>
            <a:endParaRPr lang="en-US" dirty="0"/>
          </a:p>
          <a:p>
            <a:pPr eaLnBrk="1" hangingPunct="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9: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rtl="0" eaLnBrk="1" hangingPunct="1">
              <a:lnSpc>
                <a:spcPct val="85000"/>
              </a:lnSpc>
              <a:spcBef>
                <a:spcPct val="30000"/>
              </a:spcBef>
              <a:buNone/>
            </a:pPr>
            <a:r>
              <a:rPr lang="pt-BR" sz="1600"/>
              <a:t> Topic 9.3</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Why do you suppose ICMPv6 Neighbor Solicitations are sent as a multicast and not broadcast?</a:t>
            </a:r>
          </a:p>
          <a:p>
            <a:pPr lvl="2" rtl="0">
              <a:lnSpc>
                <a:spcPct val="85000"/>
              </a:lnSpc>
              <a:spcBef>
                <a:spcPct val="30000"/>
              </a:spcBef>
            </a:pPr>
            <a:r>
              <a:rPr lang="pt-BR" sz="1600"/>
              <a:t>Discuss the similarities and differences between the ARP and the ICMPv6 ND processes.</a:t>
            </a:r>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pt-BR">
                <a:solidFill>
                  <a:schemeClr val="accent5">
                    <a:lumMod val="40000"/>
                    <a:lumOff val="60000"/>
                  </a:schemeClr>
                </a:solidFill>
              </a:rPr>
              <a:t>Módulo 9: Resolução de Endereços</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pt-BR"/>
              <a:t>Objetivos do módulo</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364511" y="821755"/>
            <a:ext cx="801257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sz="1600" b="1"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Título do módulo: </a:t>
            </a:r>
            <a:r>
              <a:rPr kumimoji="0" lang="pt-BR" sz="1600" b="0"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Resolução de endereço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sz="1600" b="1"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Objetivo do Módulo</a:t>
            </a:r>
            <a:r>
              <a:rPr kumimoji="0" lang="pt-BR" sz="1600" b="0"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 Explicar como ARP e ND possibilitam a comunicação em uma rede local</a:t>
            </a:r>
            <a:r>
              <a:rPr kumimoji="0" lang="pt-BR" sz="12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86881861"/>
              </p:ext>
            </p:extLst>
          </p:nvPr>
        </p:nvGraphicFramePr>
        <p:xfrm>
          <a:off x="349704" y="1952562"/>
          <a:ext cx="8444592" cy="1525487"/>
        </p:xfrm>
        <a:graphic>
          <a:graphicData uri="http://schemas.openxmlformats.org/drawingml/2006/table">
            <a:tbl>
              <a:tblPr firstRow="1" firstCol="1" bandRow="1">
                <a:tableStyleId>{5C22544A-7EE6-4342-B048-85BDC9FD1C3A}</a:tableStyleId>
              </a:tblPr>
              <a:tblGrid>
                <a:gridCol w="2863924">
                  <a:extLst>
                    <a:ext uri="{9D8B030D-6E8A-4147-A177-3AD203B41FA5}">
                      <a16:colId xmlns:a16="http://schemas.microsoft.com/office/drawing/2014/main" val="1523797708"/>
                    </a:ext>
                  </a:extLst>
                </a:gridCol>
                <a:gridCol w="5580668">
                  <a:extLst>
                    <a:ext uri="{9D8B030D-6E8A-4147-A177-3AD203B41FA5}">
                      <a16:colId xmlns:a16="http://schemas.microsoft.com/office/drawing/2014/main" val="2750207184"/>
                    </a:ext>
                  </a:extLst>
                </a:gridCol>
              </a:tblGrid>
              <a:tr h="232324">
                <a:tc>
                  <a:txBody>
                    <a:bodyPr/>
                    <a:lstStyle/>
                    <a:p>
                      <a:pPr marL="0" marR="0" rtl="0">
                        <a:lnSpc>
                          <a:spcPct val="107000"/>
                        </a:lnSpc>
                        <a:spcBef>
                          <a:spcPts val="0"/>
                        </a:spcBef>
                        <a:spcAft>
                          <a:spcPts val="0"/>
                        </a:spcAft>
                      </a:pPr>
                      <a:r>
                        <a:rPr lang="pt-BR" sz="1200">
                          <a:effectLst/>
                        </a:rPr>
                        <a:t>Título do Tópico</a:t>
                      </a:r>
                    </a:p>
                  </a:txBody>
                  <a:tcPr marL="68580" marR="68580" marT="0" marB="0"/>
                </a:tc>
                <a:tc>
                  <a:txBody>
                    <a:bodyPr/>
                    <a:lstStyle/>
                    <a:p>
                      <a:pPr marL="0" marR="0" rtl="0">
                        <a:lnSpc>
                          <a:spcPct val="107000"/>
                        </a:lnSpc>
                        <a:spcBef>
                          <a:spcPts val="0"/>
                        </a:spcBef>
                        <a:spcAft>
                          <a:spcPts val="0"/>
                        </a:spcAft>
                      </a:pPr>
                      <a:r>
                        <a:rPr lang="pt-BR" sz="1200">
                          <a:effectLst/>
                        </a:rPr>
                        <a:t>Objetivo do Tópico</a:t>
                      </a:r>
                    </a:p>
                  </a:txBody>
                  <a:tcPr marL="68580" marR="68580" marT="0" marB="0"/>
                </a:tc>
                <a:extLst>
                  <a:ext uri="{0D108BD9-81ED-4DB2-BD59-A6C34878D82A}">
                    <a16:rowId xmlns:a16="http://schemas.microsoft.com/office/drawing/2014/main" val="1874061904"/>
                  </a:ext>
                </a:extLst>
              </a:tr>
              <a:tr h="476951">
                <a:tc>
                  <a:txBody>
                    <a:bodyPr/>
                    <a:lstStyle/>
                    <a:p>
                      <a:pPr marL="0" marR="0" rtl="0">
                        <a:lnSpc>
                          <a:spcPct val="107000"/>
                        </a:lnSpc>
                        <a:spcBef>
                          <a:spcPts val="0"/>
                        </a:spcBef>
                        <a:spcAft>
                          <a:spcPts val="0"/>
                        </a:spcAft>
                      </a:pPr>
                      <a:r>
                        <a:rPr lang="pt-BR" sz="1200">
                          <a:effectLst/>
                        </a:rPr>
                        <a:t>MAC e IP</a:t>
                      </a:r>
                    </a:p>
                  </a:txBody>
                  <a:tcPr marL="68580" marR="68580" marT="0" marB="0"/>
                </a:tc>
                <a:tc>
                  <a:txBody>
                    <a:bodyPr/>
                    <a:lstStyle/>
                    <a:p>
                      <a:pPr marL="0" marR="0" rtl="0">
                        <a:lnSpc>
                          <a:spcPct val="107000"/>
                        </a:lnSpc>
                        <a:spcBef>
                          <a:spcPts val="0"/>
                        </a:spcBef>
                        <a:spcAft>
                          <a:spcPts val="0"/>
                        </a:spcAft>
                      </a:pPr>
                      <a:r>
                        <a:rPr lang="pt-BR" sz="1200">
                          <a:solidFill>
                            <a:srgbClr val="000000"/>
                          </a:solidFill>
                          <a:effectLst/>
                        </a:rPr>
                        <a:t>Comparar as funções do endereço MAC e do endereço IP.</a:t>
                      </a:r>
                    </a:p>
                  </a:txBody>
                  <a:tcPr marL="68580" marR="68580" marT="0" marB="0"/>
                </a:tc>
                <a:extLst>
                  <a:ext uri="{0D108BD9-81ED-4DB2-BD59-A6C34878D82A}">
                    <a16:rowId xmlns:a16="http://schemas.microsoft.com/office/drawing/2014/main" val="1646858405"/>
                  </a:ext>
                </a:extLst>
              </a:tr>
              <a:tr h="339261">
                <a:tc>
                  <a:txBody>
                    <a:bodyPr/>
                    <a:lstStyle/>
                    <a:p>
                      <a:pPr marL="0" marR="0" rtl="0">
                        <a:lnSpc>
                          <a:spcPct val="107000"/>
                        </a:lnSpc>
                        <a:spcBef>
                          <a:spcPts val="0"/>
                        </a:spcBef>
                        <a:spcAft>
                          <a:spcPts val="0"/>
                        </a:spcAft>
                      </a:pPr>
                      <a:r>
                        <a:rPr lang="pt-BR" sz="1200">
                          <a:effectLst/>
                        </a:rPr>
                        <a:t>⁪ARP</a:t>
                      </a:r>
                    </a:p>
                  </a:txBody>
                  <a:tcPr marL="68580" marR="68580" marT="0" marB="0"/>
                </a:tc>
                <a:tc>
                  <a:txBody>
                    <a:bodyPr/>
                    <a:lstStyle/>
                    <a:p>
                      <a:pPr marL="0" marR="0" rtl="0">
                        <a:lnSpc>
                          <a:spcPct val="107000"/>
                        </a:lnSpc>
                        <a:spcBef>
                          <a:spcPts val="0"/>
                        </a:spcBef>
                        <a:spcAft>
                          <a:spcPts val="0"/>
                        </a:spcAft>
                      </a:pPr>
                      <a:r>
                        <a:rPr lang="pt-BR" sz="1200">
                          <a:solidFill>
                            <a:srgbClr val="000000"/>
                          </a:solidFill>
                          <a:effectLst/>
                        </a:rPr>
                        <a:t>Descrever a finalidade do ARP.</a:t>
                      </a:r>
                    </a:p>
                  </a:txBody>
                  <a:tcPr marL="68580" marR="68580" marT="0" marB="0"/>
                </a:tc>
                <a:extLst>
                  <a:ext uri="{0D108BD9-81ED-4DB2-BD59-A6C34878D82A}">
                    <a16:rowId xmlns:a16="http://schemas.microsoft.com/office/drawing/2014/main" val="1435904258"/>
                  </a:ext>
                </a:extLst>
              </a:tr>
              <a:tr h="476951">
                <a:tc>
                  <a:txBody>
                    <a:bodyPr/>
                    <a:lstStyle/>
                    <a:p>
                      <a:pPr marL="0" marR="0" rtl="0">
                        <a:lnSpc>
                          <a:spcPct val="107000"/>
                        </a:lnSpc>
                        <a:spcBef>
                          <a:spcPts val="0"/>
                        </a:spcBef>
                        <a:spcAft>
                          <a:spcPts val="0"/>
                        </a:spcAft>
                      </a:pPr>
                      <a:r>
                        <a:rPr lang="pt-BR" sz="1200">
                          <a:effectLst/>
                        </a:rPr>
                        <a:t>Descoberta de vizinho</a:t>
                      </a:r>
                    </a:p>
                  </a:txBody>
                  <a:tcPr marL="68580" marR="68580" marT="0" marB="0"/>
                </a:tc>
                <a:tc>
                  <a:txBody>
                    <a:bodyPr/>
                    <a:lstStyle/>
                    <a:p>
                      <a:pPr marL="0" marR="0" rtl="0">
                        <a:lnSpc>
                          <a:spcPct val="107000"/>
                        </a:lnSpc>
                        <a:spcBef>
                          <a:spcPts val="0"/>
                        </a:spcBef>
                        <a:spcAft>
                          <a:spcPts val="0"/>
                        </a:spcAft>
                      </a:pPr>
                      <a:r>
                        <a:rPr lang="pt-BR" sz="1200">
                          <a:solidFill>
                            <a:srgbClr val="000000"/>
                          </a:solidFill>
                          <a:effectLst/>
                        </a:rPr>
                        <a:t>Descrever a operação de descoberta de vizinho IPv6.</a:t>
                      </a:r>
                    </a:p>
                  </a:txBody>
                  <a:tcPr marL="68580" marR="68580" marT="0" marB="0"/>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pt-BR">
                <a:solidFill>
                  <a:schemeClr val="accent5">
                    <a:lumMod val="40000"/>
                    <a:lumOff val="60000"/>
                  </a:schemeClr>
                </a:solidFill>
              </a:rPr>
              <a:t>9.1 MAC e IP</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MAC e IP </a:t>
            </a:r>
            <a:br>
              <a:rPr lang="en-US" dirty="0"/>
            </a:br>
            <a:r>
              <a:rPr lang="pt-BR" sz="2400"/>
              <a:t>Destino na mesma rede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109" y="731838"/>
            <a:ext cx="8532920" cy="2341300"/>
          </a:xfrm>
        </p:spPr>
        <p:txBody>
          <a:bodyPr/>
          <a:lstStyle/>
          <a:p>
            <a:pPr marL="0" indent="0" algn="l" rtl="0"/>
            <a:r>
              <a:rPr lang="pt-BR" sz="1600">
                <a:solidFill>
                  <a:srgbClr val="000000"/>
                </a:solidFill>
              </a:rPr>
              <a:t>Dois </a:t>
            </a:r>
            <a:r>
              <a:rPr lang="pt-BR" sz="1600"/>
              <a:t> </a:t>
            </a:r>
            <a:r>
              <a:rPr lang="pt-BR" sz="1600">
                <a:solidFill>
                  <a:srgbClr val="000000"/>
                </a:solidFill>
              </a:rPr>
              <a:t>endereços principais são atribuídos a um dispositivo em uma LAN Ethernet:</a:t>
            </a:r>
          </a:p>
          <a:p>
            <a:pPr marL="415985" lvl="1" indent="-342900" rtl="0">
              <a:buFont typeface="Arial" panose="020B0604020202020204" pitchFamily="34" charset="0"/>
              <a:buChar char="•"/>
            </a:pPr>
            <a:r>
              <a:rPr lang="pt-BR" sz="1600" b="1">
                <a:solidFill>
                  <a:srgbClr val="000000"/>
                </a:solidFill>
              </a:rPr>
              <a:t>Endereço físico da camada 2 (o endereço MAC)</a:t>
            </a:r>
            <a:r>
              <a:rPr lang="pt-BR" sz="1600">
                <a:solidFill>
                  <a:srgbClr val="000000"/>
                </a:solidFill>
              </a:rPr>
              <a:t> - Usado para comunicações de NIC para NIC na mesma rede Ethernet.</a:t>
            </a:r>
          </a:p>
          <a:p>
            <a:pPr marL="415985" lvl="1" indent="-342900" rtl="0">
              <a:buFont typeface="Arial" panose="020B0604020202020204" pitchFamily="34" charset="0"/>
              <a:buChar char="•"/>
            </a:pPr>
            <a:r>
              <a:rPr lang="pt-BR" sz="1600" b="1">
                <a:solidFill>
                  <a:srgbClr val="000000"/>
                </a:solidFill>
              </a:rPr>
              <a:t>Endereço lógico (o endereço IP) </a:t>
            </a:r>
            <a:r>
              <a:rPr lang="pt-BR" sz="1600">
                <a:solidFill>
                  <a:srgbClr val="000000"/>
                </a:solidFill>
              </a:rPr>
              <a:t> - Usado para enviar o pacote do dispositivo de origem para o dispositivo de destino.</a:t>
            </a:r>
            <a:r>
              <a:rPr lang="pt-BR" sz="1600" b="1">
                <a:solidFill>
                  <a:srgbClr val="000000"/>
                </a:solidFill>
              </a:rPr>
              <a:t> </a:t>
            </a:r>
          </a:p>
          <a:p>
            <a:pPr marL="73085" lvl="1" indent="0" rtl="0">
              <a:buNone/>
            </a:pPr>
            <a:r>
              <a:rPr lang="pt-BR" sz="1600">
                <a:solidFill>
                  <a:srgbClr val="000000"/>
                </a:solidFill>
              </a:rPr>
              <a:t>Endereços de camada 2 são usados para entregar quadros de uma NIC para outra NIC na mesma rede. Se o endereço IP de destino estiver na mesma rede, o endereço MAC de destino será o do dispositivo de destino.</a:t>
            </a:r>
          </a:p>
        </p:txBody>
      </p:sp>
      <p:pic>
        <p:nvPicPr>
          <p:cNvPr id="2" name="Picture 1">
            <a:extLst>
              <a:ext uri="{FF2B5EF4-FFF2-40B4-BE49-F238E27FC236}">
                <a16:creationId xmlns:a16="http://schemas.microsoft.com/office/drawing/2014/main" id="{DB3295B7-4667-438E-A1A4-0A077F091E61}"/>
              </a:ext>
            </a:extLst>
          </p:cNvPr>
          <p:cNvPicPr>
            <a:picLocks noChangeAspect="1"/>
          </p:cNvPicPr>
          <p:nvPr/>
        </p:nvPicPr>
        <p:blipFill>
          <a:blip r:embed="rId3"/>
          <a:stretch>
            <a:fillRect/>
          </a:stretch>
        </p:blipFill>
        <p:spPr>
          <a:xfrm>
            <a:off x="2395728" y="3157730"/>
            <a:ext cx="4352544" cy="1724593"/>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MAC e IP </a:t>
            </a:r>
            <a:br>
              <a:rPr lang="en-US" dirty="0"/>
            </a:br>
            <a:r>
              <a:rPr lang="pt-BR" sz="2400"/>
              <a:t>Destino na rede remota</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110" y="731837"/>
            <a:ext cx="8448078" cy="1589524"/>
          </a:xfrm>
        </p:spPr>
        <p:txBody>
          <a:bodyPr/>
          <a:lstStyle/>
          <a:p>
            <a:pPr marL="0" indent="0" algn="l" rtl="0"/>
            <a:r>
              <a:rPr lang="pt-BR" sz="1600">
                <a:solidFill>
                  <a:srgbClr val="000000"/>
                </a:solidFill>
              </a:rPr>
              <a:t>Quando o endereço IP de destino estiver em uma rede remota, o endereço MAC de destino será o endereço do gateway padrão do host.</a:t>
            </a:r>
          </a:p>
          <a:p>
            <a:pPr marL="415985" lvl="1" indent="-342900" rtl="0">
              <a:buFont typeface="Arial" panose="020B0604020202020204" pitchFamily="34" charset="0"/>
              <a:buChar char="•"/>
            </a:pPr>
            <a:r>
              <a:rPr lang="pt-BR" sz="1600">
                <a:solidFill>
                  <a:srgbClr val="000000"/>
                </a:solidFill>
              </a:rPr>
              <a:t>ARP é usado pelo IPv4 para associar o endereço IPv4 de um dispositivo ao endereço MAC da NIC do dispositivo.</a:t>
            </a:r>
          </a:p>
          <a:p>
            <a:pPr marL="415985" lvl="1" indent="-342900" rtl="0">
              <a:buFont typeface="Arial" panose="020B0604020202020204" pitchFamily="34" charset="0"/>
              <a:buChar char="•"/>
            </a:pPr>
            <a:r>
              <a:rPr lang="pt-BR" sz="1600">
                <a:solidFill>
                  <a:srgbClr val="000000"/>
                </a:solidFill>
              </a:rPr>
              <a:t>O ICMPv6 é usado pelo IPv6 para associar o endereço IPv6 de um dispositivo ao endereço MAC da NIC do dispositivo.</a:t>
            </a:r>
          </a:p>
        </p:txBody>
      </p:sp>
      <p:pic>
        <p:nvPicPr>
          <p:cNvPr id="5" name="Picture 4">
            <a:extLst>
              <a:ext uri="{FF2B5EF4-FFF2-40B4-BE49-F238E27FC236}">
                <a16:creationId xmlns:a16="http://schemas.microsoft.com/office/drawing/2014/main" id="{650449E9-3366-4B53-A2F7-3D40251C3E6B}"/>
              </a:ext>
            </a:extLst>
          </p:cNvPr>
          <p:cNvPicPr>
            <a:picLocks noChangeAspect="1"/>
          </p:cNvPicPr>
          <p:nvPr/>
        </p:nvPicPr>
        <p:blipFill>
          <a:blip r:embed="rId3"/>
          <a:stretch>
            <a:fillRect/>
          </a:stretch>
        </p:blipFill>
        <p:spPr>
          <a:xfrm>
            <a:off x="1100548" y="2321361"/>
            <a:ext cx="6481000" cy="2471230"/>
          </a:xfrm>
          <a:prstGeom prst="rect">
            <a:avLst/>
          </a:prstGeom>
        </p:spPr>
      </p:pic>
    </p:spTree>
    <p:extLst>
      <p:ext uri="{BB962C8B-B14F-4D97-AF65-F5344CB8AC3E}">
        <p14:creationId xmlns:p14="http://schemas.microsoft.com/office/powerpoint/2010/main" val="803000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30F6F2-5F50-4815-836B-1D55C67AECB9}"/>
              </a:ext>
            </a:extLst>
          </p:cNvPr>
          <p:cNvSpPr>
            <a:spLocks noGrp="1"/>
          </p:cNvSpPr>
          <p:nvPr>
            <p:ph type="title"/>
          </p:nvPr>
        </p:nvSpPr>
        <p:spPr>
          <a:xfrm>
            <a:off x="17192" y="67935"/>
            <a:ext cx="9068585" cy="731837"/>
          </a:xfrm>
        </p:spPr>
        <p:txBody>
          <a:bodyPr/>
          <a:lstStyle/>
          <a:p>
            <a:pPr rtl="0"/>
            <a:r>
              <a:rPr lang="pt-BR" sz="1600"/>
              <a:t>MAC e IP </a:t>
            </a:r>
            <a:br>
              <a:rPr lang="en-US" dirty="0"/>
            </a:br>
            <a:r>
              <a:rPr lang="pt-BR" sz="2400"/>
              <a:t>Packet Tracer – Identificar endereços MAC e IP</a:t>
            </a:r>
          </a:p>
        </p:txBody>
      </p:sp>
      <p:sp>
        <p:nvSpPr>
          <p:cNvPr id="2" name="Content Placeholder 1">
            <a:extLst>
              <a:ext uri="{FF2B5EF4-FFF2-40B4-BE49-F238E27FC236}">
                <a16:creationId xmlns:a16="http://schemas.microsoft.com/office/drawing/2014/main" id="{C505AFC9-8905-4194-A13B-BB325537F00A}"/>
              </a:ext>
            </a:extLst>
          </p:cNvPr>
          <p:cNvSpPr>
            <a:spLocks noGrp="1"/>
          </p:cNvSpPr>
          <p:nvPr>
            <p:ph idx="1"/>
          </p:nvPr>
        </p:nvSpPr>
        <p:spPr>
          <a:xfrm>
            <a:off x="431971" y="1121544"/>
            <a:ext cx="8280057" cy="3073946"/>
          </a:xfrm>
        </p:spPr>
        <p:txBody>
          <a:bodyPr/>
          <a:lstStyle/>
          <a:p>
            <a:pPr algn="l" rtl="0"/>
            <a:r>
              <a:rPr lang="pt-BR">
                <a:solidFill>
                  <a:srgbClr val="000000"/>
                </a:solidFill>
              </a:rPr>
              <a:t>Neste Packet Tracer, você atingirá os seguintes objetivos:</a:t>
            </a:r>
          </a:p>
          <a:p>
            <a:pPr marL="342900" indent="-342900" algn="l" rtl="0">
              <a:buFont typeface="Arial" panose="020B0604020202020204" pitchFamily="34" charset="0"/>
              <a:buChar char="•"/>
            </a:pPr>
            <a:r>
              <a:rPr lang="pt-BR">
                <a:solidFill>
                  <a:srgbClr val="000000"/>
                </a:solidFill>
              </a:rPr>
              <a:t>Coletar informações de PDU para comunicação de rede local</a:t>
            </a:r>
          </a:p>
          <a:p>
            <a:pPr marL="342900" indent="-342900" algn="l" rtl="0">
              <a:buFont typeface="Arial" panose="020B0604020202020204" pitchFamily="34" charset="0"/>
              <a:buChar char="•"/>
            </a:pPr>
            <a:r>
              <a:rPr lang="pt-BR">
                <a:solidFill>
                  <a:srgbClr val="000000"/>
                </a:solidFill>
              </a:rPr>
              <a:t>Coletar informações de PDU para comunicação remota de rede</a:t>
            </a:r>
          </a:p>
        </p:txBody>
      </p:sp>
    </p:spTree>
    <p:extLst>
      <p:ext uri="{BB962C8B-B14F-4D97-AF65-F5344CB8AC3E}">
        <p14:creationId xmlns:p14="http://schemas.microsoft.com/office/powerpoint/2010/main" val="4225994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9.2 ARP</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ARP</a:t>
            </a:r>
            <a:br>
              <a:rPr lang="en-US" dirty="0"/>
            </a:br>
            <a:r>
              <a:rPr lang="pt-BR" sz="2400"/>
              <a:t>ARP Visão geral</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1"/>
            <a:ext cx="4187253" cy="3039781"/>
          </a:xfrm>
        </p:spPr>
        <p:txBody>
          <a:bodyPr/>
          <a:lstStyle/>
          <a:p>
            <a:pPr marL="0" indent="0" algn="l" rtl="0"/>
            <a:r>
              <a:rPr lang="pt-BR" sz="1800">
                <a:solidFill>
                  <a:srgbClr val="000000"/>
                </a:solidFill>
              </a:rPr>
              <a:t>Um dispositivo usa ARP para determinar o endereço MAC de destino de um dispositivo local quando conhece seu endereço IPv4.</a:t>
            </a:r>
          </a:p>
          <a:p>
            <a:pPr marL="0" indent="0" algn="l"/>
            <a:endParaRPr lang="en-US" sz="1800" dirty="0">
              <a:solidFill>
                <a:srgbClr val="000000"/>
              </a:solidFill>
            </a:endParaRPr>
          </a:p>
          <a:p>
            <a:pPr marL="0" indent="0" algn="l" rtl="0"/>
            <a:r>
              <a:rPr lang="pt-BR" sz="1800">
                <a:solidFill>
                  <a:srgbClr val="000000"/>
                </a:solidFill>
              </a:rPr>
              <a:t>O ARP fornece duas funções básicas:</a:t>
            </a:r>
          </a:p>
          <a:p>
            <a:pPr marL="415985" lvl="1" indent="-342900" rtl="0">
              <a:buFont typeface="Arial" panose="020B0604020202020204" pitchFamily="34" charset="0"/>
              <a:buChar char="•"/>
            </a:pPr>
            <a:r>
              <a:rPr lang="pt-BR" sz="1800">
                <a:solidFill>
                  <a:srgbClr val="000000"/>
                </a:solidFill>
              </a:rPr>
              <a:t>Resolução de endereços IPv4 em endereços MAC</a:t>
            </a:r>
          </a:p>
          <a:p>
            <a:pPr marL="415985" lvl="1" indent="-342900" rtl="0">
              <a:buFont typeface="Arial" panose="020B0604020202020204" pitchFamily="34" charset="0"/>
              <a:buChar char="•"/>
            </a:pPr>
            <a:r>
              <a:rPr lang="pt-BR" sz="1800">
                <a:solidFill>
                  <a:srgbClr val="000000"/>
                </a:solidFill>
              </a:rPr>
              <a:t>Mantendo uma tabela ARP de mapeamentos de endereços IPv4 para MAC</a:t>
            </a:r>
          </a:p>
        </p:txBody>
      </p:sp>
      <p:pic>
        <p:nvPicPr>
          <p:cNvPr id="6" name="Picture 5">
            <a:extLst>
              <a:ext uri="{FF2B5EF4-FFF2-40B4-BE49-F238E27FC236}">
                <a16:creationId xmlns:a16="http://schemas.microsoft.com/office/drawing/2014/main" id="{5741986A-C605-432D-B527-C5259DB44374}"/>
              </a:ext>
            </a:extLst>
          </p:cNvPr>
          <p:cNvPicPr>
            <a:picLocks noChangeAspect="1"/>
          </p:cNvPicPr>
          <p:nvPr/>
        </p:nvPicPr>
        <p:blipFill>
          <a:blip r:embed="rId3"/>
          <a:stretch>
            <a:fillRect/>
          </a:stretch>
        </p:blipFill>
        <p:spPr>
          <a:xfrm>
            <a:off x="4661915" y="844061"/>
            <a:ext cx="4079662" cy="2794684"/>
          </a:xfrm>
          <a:prstGeom prst="rect">
            <a:avLst/>
          </a:prstGeom>
        </p:spPr>
      </p:pic>
    </p:spTree>
    <p:extLst>
      <p:ext uri="{BB962C8B-B14F-4D97-AF65-F5344CB8AC3E}">
        <p14:creationId xmlns:p14="http://schemas.microsoft.com/office/powerpoint/2010/main" val="2569503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ARP </a:t>
            </a:r>
            <a:br>
              <a:rPr lang="en-US" dirty="0"/>
            </a:br>
            <a:r>
              <a:rPr lang="pt-BR" sz="2400"/>
              <a:t>Funções do ARP</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3577672"/>
          </a:xfrm>
        </p:spPr>
        <p:txBody>
          <a:bodyPr/>
          <a:lstStyle/>
          <a:p>
            <a:pPr marL="0" indent="0" algn="l" rtl="0"/>
            <a:r>
              <a:rPr lang="pt-BR" sz="1600">
                <a:solidFill>
                  <a:srgbClr val="000000"/>
                </a:solidFill>
              </a:rPr>
              <a:t>Um dispositivo pesquisará em sua tabela ARP um endereço IPv4 destino correspondente a um endereço MAC.</a:t>
            </a:r>
          </a:p>
          <a:p>
            <a:pPr marL="415985" lvl="1" indent="-342900" rtl="0">
              <a:buFont typeface="Arial" panose="020B0604020202020204" pitchFamily="34" charset="0"/>
              <a:buChar char="•"/>
            </a:pPr>
            <a:r>
              <a:rPr lang="pt-BR" sz="1600">
                <a:solidFill>
                  <a:srgbClr val="000000"/>
                </a:solidFill>
              </a:rPr>
              <a:t>Se o endereço IPv4 de destino do pacote estiver na mesma rede, o dispositivo procurará na tabela ARP o endereço IPv4 de destino.</a:t>
            </a:r>
          </a:p>
          <a:p>
            <a:pPr marL="415985" lvl="1" indent="-342900" rtl="0">
              <a:buFont typeface="Arial" panose="020B0604020202020204" pitchFamily="34" charset="0"/>
              <a:buChar char="•"/>
            </a:pPr>
            <a:r>
              <a:rPr lang="pt-BR" sz="1600">
                <a:solidFill>
                  <a:srgbClr val="000000"/>
                </a:solidFill>
              </a:rPr>
              <a:t>Se o endereço IPv4 de destino estiver em uma rede diferente, o dispositivo procurará na tabela ARP o endereço IPv4 do gateway padrão.</a:t>
            </a:r>
          </a:p>
          <a:p>
            <a:pPr marL="415985" lvl="1" indent="-342900" rtl="0">
              <a:buFont typeface="Arial" panose="020B0604020202020204" pitchFamily="34" charset="0"/>
              <a:buChar char="•"/>
            </a:pPr>
            <a:r>
              <a:rPr lang="pt-BR" sz="1600">
                <a:solidFill>
                  <a:srgbClr val="000000"/>
                </a:solidFill>
              </a:rPr>
              <a:t>Se o dispositivo localizar o endereço IPv4, o endereço MAC correspondente será usado como o endereço MAC destino no quadro. </a:t>
            </a:r>
          </a:p>
          <a:p>
            <a:pPr marL="415985" lvl="1" indent="-342900" rtl="0">
              <a:buFont typeface="Arial" panose="020B0604020202020204" pitchFamily="34" charset="0"/>
              <a:buChar char="•"/>
            </a:pPr>
            <a:r>
              <a:rPr lang="pt-BR" sz="1600">
                <a:solidFill>
                  <a:srgbClr val="000000"/>
                </a:solidFill>
              </a:rPr>
              <a:t>Se nenhuma entrada for encontrada na tabela ARP, o dispositivo enviará uma requisição ARP.</a:t>
            </a:r>
          </a:p>
        </p:txBody>
      </p:sp>
    </p:spTree>
    <p:extLst>
      <p:ext uri="{BB962C8B-B14F-4D97-AF65-F5344CB8AC3E}">
        <p14:creationId xmlns:p14="http://schemas.microsoft.com/office/powerpoint/2010/main" val="74089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Vídeo </a:t>
            </a:r>
            <a:br>
              <a:rPr lang="en-US" dirty="0"/>
            </a:br>
            <a:r>
              <a:rPr lang="pt-BR" sz="2400"/>
              <a:t>ARP - Solicitação ARP</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3577672"/>
          </a:xfrm>
        </p:spPr>
        <p:txBody>
          <a:bodyPr/>
          <a:lstStyle/>
          <a:p>
            <a:pPr marL="0" indent="0" algn="l" rtl="0"/>
            <a:r>
              <a:rPr lang="pt-BR" sz="1800">
                <a:solidFill>
                  <a:srgbClr val="000000"/>
                </a:solidFill>
              </a:rPr>
              <a:t>Este vídeo cobrirá uma solicitação ARP para um endereço MAC.</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3742201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Vídeo -</a:t>
            </a:r>
            <a:br>
              <a:rPr lang="en-US" dirty="0"/>
            </a:br>
            <a:r>
              <a:rPr lang="pt-BR" sz="2400"/>
              <a:t> Operação do ARP - Resposta do ARP</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3577672"/>
          </a:xfrm>
        </p:spPr>
        <p:txBody>
          <a:bodyPr/>
          <a:lstStyle/>
          <a:p>
            <a:pPr marL="0" indent="0" algn="l" rtl="0"/>
            <a:r>
              <a:rPr lang="pt-BR" sz="1800">
                <a:solidFill>
                  <a:srgbClr val="000000"/>
                </a:solidFill>
              </a:rPr>
              <a:t>Este vídeo abordará uma resposta ARP em resposta a uma solicitação ARP.</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3113212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Vídeo </a:t>
            </a:r>
            <a:br>
              <a:rPr lang="en-US" dirty="0"/>
            </a:br>
            <a:r>
              <a:rPr lang="pt-BR" sz="2400"/>
              <a:t>ARP- Função ARP nas comunicações remotas</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3577672"/>
          </a:xfrm>
        </p:spPr>
        <p:txBody>
          <a:bodyPr/>
          <a:lstStyle/>
          <a:p>
            <a:pPr marL="0" indent="0" algn="l" rtl="0"/>
            <a:r>
              <a:rPr lang="pt-BR" sz="1800">
                <a:solidFill>
                  <a:srgbClr val="000000"/>
                </a:solidFill>
              </a:rPr>
              <a:t>Este vídeo abordará como uma solicitação ARP fornecerá ao host o endereço MAC do gateway padrão.</a:t>
            </a:r>
          </a:p>
          <a:p>
            <a:pPr marL="0" indent="0" algn="l"/>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3731039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ARP </a:t>
            </a:r>
            <a:br>
              <a:rPr lang="en-US" dirty="0"/>
            </a:br>
            <a:r>
              <a:rPr lang="pt-BR" sz="2400"/>
              <a:t>Remoção de entradas de uma tabela ARP</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1134506"/>
          </a:xfrm>
        </p:spPr>
        <p:txBody>
          <a:bodyPr/>
          <a:lstStyle/>
          <a:p>
            <a:pPr marL="342900" indent="-342900" algn="l" rtl="0">
              <a:buFont typeface="Arial" panose="020B0604020202020204" pitchFamily="34" charset="0"/>
              <a:buChar char="•"/>
            </a:pPr>
            <a:r>
              <a:rPr lang="pt-BR" sz="1600">
                <a:solidFill>
                  <a:srgbClr val="000000"/>
                </a:solidFill>
              </a:rPr>
              <a:t>As entradas na tabela ARP não são permanentes e são removidas quando um temporizador de cache ARP expira após um período de tempo especificado.</a:t>
            </a:r>
          </a:p>
          <a:p>
            <a:pPr marL="342900" indent="-342900" algn="l" rtl="0">
              <a:buFont typeface="Arial" panose="020B0604020202020204" pitchFamily="34" charset="0"/>
              <a:buChar char="•"/>
            </a:pPr>
            <a:r>
              <a:rPr lang="pt-BR" sz="1600">
                <a:solidFill>
                  <a:srgbClr val="000000"/>
                </a:solidFill>
              </a:rPr>
              <a:t>A duração do timer do cache ARP varia de acordo com o sistema operacional.</a:t>
            </a:r>
          </a:p>
          <a:p>
            <a:pPr marL="342900" indent="-342900" algn="l" rtl="0">
              <a:buFont typeface="Arial" panose="020B0604020202020204" pitchFamily="34" charset="0"/>
              <a:buChar char="•"/>
            </a:pPr>
            <a:r>
              <a:rPr lang="pt-BR" sz="1600">
                <a:solidFill>
                  <a:srgbClr val="000000"/>
                </a:solidFill>
              </a:rPr>
              <a:t>As entradas da tabela ARP também podem ser removidas manualmente pelo administrador. </a:t>
            </a: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buFont typeface="Arial" panose="020B0604020202020204" pitchFamily="34" charset="0"/>
              <a:buChar char="•"/>
            </a:pPr>
            <a:endParaRPr lang="en-US" dirty="0">
              <a:solidFill>
                <a:srgbClr val="000000"/>
              </a:solidFill>
            </a:endParaRPr>
          </a:p>
        </p:txBody>
      </p:sp>
      <p:pic>
        <p:nvPicPr>
          <p:cNvPr id="2" name="Picture 1">
            <a:extLst>
              <a:ext uri="{FF2B5EF4-FFF2-40B4-BE49-F238E27FC236}">
                <a16:creationId xmlns:a16="http://schemas.microsoft.com/office/drawing/2014/main" id="{88E1F9DB-BF06-458F-943E-47F1D805506A}"/>
              </a:ext>
            </a:extLst>
          </p:cNvPr>
          <p:cNvPicPr>
            <a:picLocks noChangeAspect="1"/>
          </p:cNvPicPr>
          <p:nvPr/>
        </p:nvPicPr>
        <p:blipFill>
          <a:blip r:embed="rId3"/>
          <a:stretch>
            <a:fillRect/>
          </a:stretch>
        </p:blipFill>
        <p:spPr>
          <a:xfrm>
            <a:off x="1392584" y="2235010"/>
            <a:ext cx="4998720" cy="2678231"/>
          </a:xfrm>
          <a:prstGeom prst="rect">
            <a:avLst/>
          </a:prstGeom>
        </p:spPr>
      </p:pic>
    </p:spTree>
    <p:extLst>
      <p:ext uri="{BB962C8B-B14F-4D97-AF65-F5344CB8AC3E}">
        <p14:creationId xmlns:p14="http://schemas.microsoft.com/office/powerpoint/2010/main" val="333203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ARP</a:t>
            </a:r>
            <a:br>
              <a:rPr lang="en-US" dirty="0"/>
            </a:br>
            <a:r>
              <a:rPr lang="pt-BR" sz="2400"/>
              <a:t>Tabelas ARP em dispositivos de rede</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731837"/>
          </a:xfrm>
        </p:spPr>
        <p:txBody>
          <a:bodyPr/>
          <a:lstStyle/>
          <a:p>
            <a:pPr marL="342900" indent="-342900" algn="l" rtl="0">
              <a:buFont typeface="Arial" panose="020B0604020202020204" pitchFamily="34" charset="0"/>
              <a:buChar char="•"/>
            </a:pPr>
            <a:r>
              <a:rPr lang="pt-BR" sz="1600">
                <a:solidFill>
                  <a:srgbClr val="000000"/>
                </a:solidFill>
              </a:rPr>
              <a:t>O comando </a:t>
            </a:r>
            <a:r>
              <a:rPr lang="pt-BR" sz="1600" b="1">
                <a:solidFill>
                  <a:srgbClr val="000000"/>
                </a:solidFill>
                <a:latin typeface="Courier New" panose="02070309020205020404" pitchFamily="49" charset="0"/>
                <a:cs typeface="Courier New" panose="02070309020205020404" pitchFamily="49" charset="0"/>
              </a:rPr>
              <a:t>show ip arp</a:t>
            </a:r>
            <a:r>
              <a:rPr lang="pt-BR" sz="1600">
                <a:solidFill>
                  <a:srgbClr val="000000"/>
                </a:solidFill>
              </a:rPr>
              <a:t> exibe a tabela ARP em um roteador Cisco.</a:t>
            </a:r>
          </a:p>
          <a:p>
            <a:pPr marL="342900" indent="-342900" algn="l" rtl="0">
              <a:buFont typeface="Arial" panose="020B0604020202020204" pitchFamily="34" charset="0"/>
              <a:buChar char="•"/>
            </a:pPr>
            <a:r>
              <a:rPr lang="pt-BR" sz="1600">
                <a:solidFill>
                  <a:srgbClr val="000000"/>
                </a:solidFill>
              </a:rPr>
              <a:t>O comando </a:t>
            </a:r>
            <a:r>
              <a:rPr lang="pt-BR" sz="1600" b="1">
                <a:solidFill>
                  <a:srgbClr val="000000"/>
                </a:solidFill>
                <a:latin typeface="Courier New" panose="02070309020205020404" pitchFamily="49" charset="0"/>
                <a:cs typeface="Courier New" panose="02070309020205020404" pitchFamily="49" charset="0"/>
              </a:rPr>
              <a:t>arp —a</a:t>
            </a:r>
            <a:r>
              <a:rPr lang="pt-BR" sz="1600">
                <a:solidFill>
                  <a:srgbClr val="000000"/>
                </a:solidFill>
              </a:rPr>
              <a:t> exibe a tabela ARP em um PC com Windows 10.</a:t>
            </a: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dirty="0">
              <a:solidFill>
                <a:srgbClr val="000000"/>
              </a:solidFill>
            </a:endParaRPr>
          </a:p>
        </p:txBody>
      </p:sp>
      <p:sp>
        <p:nvSpPr>
          <p:cNvPr id="5" name="TextBox 4">
            <a:extLst>
              <a:ext uri="{FF2B5EF4-FFF2-40B4-BE49-F238E27FC236}">
                <a16:creationId xmlns:a16="http://schemas.microsoft.com/office/drawing/2014/main" id="{16A4B50D-6EE1-40FE-8374-1A9F3109A798}"/>
              </a:ext>
            </a:extLst>
          </p:cNvPr>
          <p:cNvSpPr txBox="1"/>
          <p:nvPr/>
        </p:nvSpPr>
        <p:spPr>
          <a:xfrm>
            <a:off x="629914" y="1756301"/>
            <a:ext cx="7715574" cy="830997"/>
          </a:xfrm>
          <a:prstGeom prst="rect">
            <a:avLst/>
          </a:prstGeom>
          <a:solidFill>
            <a:srgbClr val="000000"/>
          </a:solidFill>
        </p:spPr>
        <p:txBody>
          <a:bodyPr wrap="none" rtlCol="0">
            <a:spAutoFit/>
          </a:bodyPr>
          <a:lstStyle/>
          <a:p>
            <a:pPr rtl="0"/>
            <a:r>
              <a:rPr lang="pt-BR" sz="1200">
                <a:solidFill>
                  <a:schemeClr val="bg1"/>
                </a:solidFill>
                <a:highlight>
                  <a:srgbClr val="000000"/>
                </a:highlight>
                <a:latin typeface="Courier New" panose="02070309020205020404" pitchFamily="49" charset="0"/>
                <a:cs typeface="Courier New" panose="02070309020205020404" pitchFamily="49" charset="0"/>
              </a:rPr>
              <a:t>R1# </a:t>
            </a:r>
            <a:r>
              <a:rPr lang="pt-BR" sz="1200" b="1">
                <a:solidFill>
                  <a:schemeClr val="bg1"/>
                </a:solidFill>
                <a:highlight>
                  <a:srgbClr val="000000"/>
                </a:highlight>
                <a:latin typeface="Courier New" panose="02070309020205020404" pitchFamily="49" charset="0"/>
                <a:cs typeface="Courier New" panose="02070309020205020404" pitchFamily="49" charset="0"/>
              </a:rPr>
              <a:t>show ip arp </a:t>
            </a:r>
          </a:p>
          <a:p>
            <a:pPr rtl="0"/>
            <a:r>
              <a:rPr lang="pt-BR" sz="1200">
                <a:solidFill>
                  <a:schemeClr val="bg1"/>
                </a:solidFill>
                <a:highlight>
                  <a:srgbClr val="000000"/>
                </a:highlight>
                <a:latin typeface="Courier New" panose="02070309020205020404" pitchFamily="49" charset="0"/>
                <a:cs typeface="Courier New" panose="02070309020205020404" pitchFamily="49" charset="0"/>
              </a:rPr>
              <a:t>Protocol Address Age (min) Hardware Addr Type Interface</a:t>
            </a:r>
          </a:p>
          <a:p>
            <a:pPr rtl="0"/>
            <a:r>
              <a:rPr lang="pt-BR" sz="1200">
                <a:solidFill>
                  <a:schemeClr val="bg1"/>
                </a:solidFill>
                <a:highlight>
                  <a:srgbClr val="000000"/>
                </a:highlight>
                <a:latin typeface="Courier New" panose="02070309020205020404" pitchFamily="49" charset="0"/>
                <a:cs typeface="Courier New" panose="02070309020205020404" pitchFamily="49" charset="0"/>
              </a:rPr>
              <a:t>Internet 192.168.10.1 - a0e0.af0d.e140 ARPA GigabitEthernet0/0/0</a:t>
            </a:r>
          </a:p>
          <a:p>
            <a:endParaRPr lang="en-US" sz="1200" dirty="0">
              <a:solidFill>
                <a:schemeClr val="bg1"/>
              </a:solidFill>
              <a:highlight>
                <a:srgbClr val="000000"/>
              </a:highlight>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042B87D4-C52D-48F9-8660-B3A9C2BB16B8}"/>
              </a:ext>
            </a:extLst>
          </p:cNvPr>
          <p:cNvSpPr txBox="1"/>
          <p:nvPr/>
        </p:nvSpPr>
        <p:spPr>
          <a:xfrm>
            <a:off x="629914" y="3011424"/>
            <a:ext cx="7715574" cy="1200329"/>
          </a:xfrm>
          <a:prstGeom prst="rect">
            <a:avLst/>
          </a:prstGeom>
          <a:solidFill>
            <a:srgbClr val="000000"/>
          </a:solidFill>
        </p:spPr>
        <p:txBody>
          <a:bodyPr wrap="square" rtlCol="0">
            <a:spAutoFit/>
          </a:bodyPr>
          <a:lstStyle/>
          <a:p>
            <a:pPr rtl="0"/>
            <a:r>
              <a:rPr lang="pt-BR" sz="1200">
                <a:solidFill>
                  <a:schemeClr val="bg1"/>
                </a:solidFill>
                <a:latin typeface="Courier New" panose="02070309020205020404" pitchFamily="49" charset="0"/>
                <a:cs typeface="Courier New" panose="02070309020205020404" pitchFamily="49" charset="0"/>
              </a:rPr>
              <a:t>C:\Users\PC&gt; </a:t>
            </a:r>
            <a:r>
              <a:rPr lang="pt-BR" sz="1200" b="1">
                <a:solidFill>
                  <a:schemeClr val="bg1"/>
                </a:solidFill>
                <a:latin typeface="Courier New" panose="02070309020205020404" pitchFamily="49" charset="0"/>
                <a:cs typeface="Courier New" panose="02070309020205020404" pitchFamily="49" charset="0"/>
              </a:rPr>
              <a:t>arp -a</a:t>
            </a:r>
          </a:p>
          <a:p>
            <a:pPr rtl="0"/>
            <a:r>
              <a:rPr lang="pt-BR" sz="1200">
                <a:solidFill>
                  <a:schemeClr val="bg1"/>
                </a:solidFill>
                <a:latin typeface="Courier New" panose="02070309020205020404" pitchFamily="49" charset="0"/>
                <a:cs typeface="Courier New" panose="02070309020205020404" pitchFamily="49" charset="0"/>
              </a:rPr>
              <a:t> </a:t>
            </a:r>
          </a:p>
          <a:p>
            <a:pPr rtl="0"/>
            <a:r>
              <a:rPr lang="pt-BR" sz="1200">
                <a:solidFill>
                  <a:schemeClr val="bg1"/>
                </a:solidFill>
                <a:latin typeface="Courier New" panose="02070309020205020404" pitchFamily="49" charset="0"/>
                <a:cs typeface="Courier New" panose="02070309020205020404" pitchFamily="49" charset="0"/>
              </a:rPr>
              <a:t>Interface: 192.168.1.124 — 0x10</a:t>
            </a:r>
          </a:p>
          <a:p>
            <a:pPr rtl="0"/>
            <a:r>
              <a:rPr lang="pt-BR" sz="1200">
                <a:solidFill>
                  <a:schemeClr val="bg1"/>
                </a:solidFill>
                <a:latin typeface="Courier New" panose="02070309020205020404" pitchFamily="49" charset="0"/>
                <a:cs typeface="Courier New" panose="02070309020205020404" pitchFamily="49" charset="0"/>
              </a:rPr>
              <a:t>  Endereço de Internet Endereço Físico Tipo</a:t>
            </a:r>
          </a:p>
          <a:p>
            <a:pPr rtl="0"/>
            <a:r>
              <a:rPr lang="pt-BR" sz="1200">
                <a:solidFill>
                  <a:schemeClr val="bg1"/>
                </a:solidFill>
                <a:latin typeface="Courier New" panose="02070309020205020404" pitchFamily="49" charset="0"/>
                <a:cs typeface="Courier New" panose="02070309020205020404" pitchFamily="49" charset="0"/>
              </a:rPr>
              <a:t>  192.168.1.1 c8-d7-19-cc-a0-86 dynamic</a:t>
            </a:r>
          </a:p>
          <a:p>
            <a:pPr rtl="0"/>
            <a:r>
              <a:rPr lang="pt-BR" sz="1200">
                <a:solidFill>
                  <a:schemeClr val="bg1"/>
                </a:solidFill>
                <a:latin typeface="Courier New" panose="02070309020205020404" pitchFamily="49" charset="0"/>
                <a:cs typeface="Courier New" panose="02070309020205020404" pitchFamily="49" charset="0"/>
              </a:rPr>
              <a:t>  192.168.1.101 08-3e-0c-f5-f7-77 dynamic</a:t>
            </a:r>
          </a:p>
        </p:txBody>
      </p:sp>
    </p:spTree>
    <p:extLst>
      <p:ext uri="{BB962C8B-B14F-4D97-AF65-F5344CB8AC3E}">
        <p14:creationId xmlns:p14="http://schemas.microsoft.com/office/powerpoint/2010/main" val="2651325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2400"/>
              <a:t>Problemas ARPARP — ARP Broadcasting e ARP Spoofing</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1210981"/>
          </a:xfrm>
        </p:spPr>
        <p:txBody>
          <a:bodyPr/>
          <a:lstStyle/>
          <a:p>
            <a:pPr marL="342900" indent="-342900" algn="l" rtl="0">
              <a:buFont typeface="Arial" panose="020B0604020202020204" pitchFamily="34" charset="0"/>
              <a:buChar char="•"/>
            </a:pPr>
            <a:r>
              <a:rPr lang="pt-BR" sz="1600">
                <a:solidFill>
                  <a:srgbClr val="000000"/>
                </a:solidFill>
              </a:rPr>
              <a:t>As solicitações de ARP são recebidas e processadas por todos os dispositivos na rede local.</a:t>
            </a:r>
          </a:p>
          <a:p>
            <a:pPr marL="342900" indent="-342900" algn="l" rtl="0">
              <a:buFont typeface="Arial" panose="020B0604020202020204" pitchFamily="34" charset="0"/>
              <a:buChar char="•"/>
            </a:pPr>
            <a:r>
              <a:rPr lang="pt-BR" sz="1600">
                <a:solidFill>
                  <a:srgbClr val="000000"/>
                </a:solidFill>
              </a:rPr>
              <a:t>Transmissões de ARP excessivas podem causar alguma redução no desempenho.</a:t>
            </a:r>
          </a:p>
          <a:p>
            <a:pPr marL="342900" indent="-342900" algn="l" rtl="0">
              <a:buFont typeface="Arial" panose="020B0604020202020204" pitchFamily="34" charset="0"/>
              <a:buChar char="•"/>
            </a:pPr>
            <a:r>
              <a:rPr lang="pt-BR" sz="1600">
                <a:solidFill>
                  <a:srgbClr val="000000"/>
                </a:solidFill>
              </a:rPr>
              <a:t>As respostas ARP podem ser falsificadas por um ator ameaçador para realizar um ataque de envenenamento por ARP.</a:t>
            </a:r>
          </a:p>
          <a:p>
            <a:pPr marL="342900" indent="-342900" algn="l" rtl="0">
              <a:buFont typeface="Arial" panose="020B0604020202020204" pitchFamily="34" charset="0"/>
              <a:buChar char="•"/>
            </a:pPr>
            <a:r>
              <a:rPr lang="pt-BR" sz="1600">
                <a:solidFill>
                  <a:srgbClr val="000000"/>
                </a:solidFill>
              </a:rPr>
              <a:t>Os switches de nível corporativo incluem técnicas de mitigação para proteção contra ataques ARP.</a:t>
            </a: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dirty="0">
              <a:solidFill>
                <a:srgbClr val="000000"/>
              </a:solidFill>
            </a:endParaRPr>
          </a:p>
        </p:txBody>
      </p:sp>
      <p:pic>
        <p:nvPicPr>
          <p:cNvPr id="2" name="Picture 1">
            <a:extLst>
              <a:ext uri="{FF2B5EF4-FFF2-40B4-BE49-F238E27FC236}">
                <a16:creationId xmlns:a16="http://schemas.microsoft.com/office/drawing/2014/main" id="{54F65C2E-4429-4EE0-B587-6BE1F19A05B0}"/>
              </a:ext>
            </a:extLst>
          </p:cNvPr>
          <p:cNvPicPr>
            <a:picLocks noChangeAspect="1"/>
          </p:cNvPicPr>
          <p:nvPr/>
        </p:nvPicPr>
        <p:blipFill>
          <a:blip r:embed="rId3"/>
          <a:stretch>
            <a:fillRect/>
          </a:stretch>
        </p:blipFill>
        <p:spPr>
          <a:xfrm>
            <a:off x="1958340" y="2798202"/>
            <a:ext cx="4436951" cy="2343044"/>
          </a:xfrm>
          <a:prstGeom prst="rect">
            <a:avLst/>
          </a:prstGeom>
        </p:spPr>
      </p:pic>
    </p:spTree>
    <p:extLst>
      <p:ext uri="{BB962C8B-B14F-4D97-AF65-F5344CB8AC3E}">
        <p14:creationId xmlns:p14="http://schemas.microsoft.com/office/powerpoint/2010/main" val="2945305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E381FF45-3B65-47D1-8A90-CFC6E13DF39B}"/>
              </a:ext>
            </a:extLst>
          </p:cNvPr>
          <p:cNvSpPr>
            <a:spLocks noGrp="1"/>
          </p:cNvSpPr>
          <p:nvPr>
            <p:ph type="title"/>
          </p:nvPr>
        </p:nvSpPr>
        <p:spPr>
          <a:xfrm>
            <a:off x="197963" y="284752"/>
            <a:ext cx="9068585" cy="731837"/>
          </a:xfrm>
        </p:spPr>
        <p:txBody>
          <a:bodyPr/>
          <a:lstStyle/>
          <a:p>
            <a:pPr rtl="0"/>
            <a:r>
              <a:rPr lang="pt-BR" sz="1600"/>
              <a:t>ARP </a:t>
            </a:r>
            <a:br>
              <a:rPr lang="en-US" dirty="0"/>
            </a:br>
            <a:r>
              <a:rPr lang="pt-BR" sz="2400"/>
              <a:t>Packet Tracer – Examine a tabela ARP</a:t>
            </a:r>
          </a:p>
        </p:txBody>
      </p:sp>
      <p:sp>
        <p:nvSpPr>
          <p:cNvPr id="4" name="Content Placeholder 1">
            <a:extLst>
              <a:ext uri="{FF2B5EF4-FFF2-40B4-BE49-F238E27FC236}">
                <a16:creationId xmlns:a16="http://schemas.microsoft.com/office/drawing/2014/main" id="{C1873196-5222-45C6-8B28-9A608C2122BE}"/>
              </a:ext>
            </a:extLst>
          </p:cNvPr>
          <p:cNvSpPr>
            <a:spLocks noGrp="1"/>
          </p:cNvSpPr>
          <p:nvPr>
            <p:ph idx="1"/>
          </p:nvPr>
        </p:nvSpPr>
        <p:spPr>
          <a:xfrm>
            <a:off x="431971" y="1149825"/>
            <a:ext cx="8280057" cy="3073946"/>
          </a:xfrm>
        </p:spPr>
        <p:txBody>
          <a:bodyPr/>
          <a:lstStyle/>
          <a:p>
            <a:pPr algn="l" rtl="0"/>
            <a:r>
              <a:rPr lang="pt-BR">
                <a:solidFill>
                  <a:srgbClr val="000000"/>
                </a:solidFill>
              </a:rPr>
              <a:t>Neste Packet Tracer, você atingirá os seguintes objetivos:</a:t>
            </a:r>
          </a:p>
          <a:p>
            <a:pPr marL="342900" indent="-342900" algn="l" rtl="0">
              <a:buFont typeface="Arial" panose="020B0604020202020204" pitchFamily="34" charset="0"/>
              <a:buChar char="•"/>
            </a:pPr>
            <a:r>
              <a:rPr lang="pt-BR">
                <a:solidFill>
                  <a:srgbClr val="000000"/>
                </a:solidFill>
              </a:rPr>
              <a:t>Examinar uma Requisição ARP</a:t>
            </a:r>
          </a:p>
          <a:p>
            <a:pPr marL="342900" indent="-342900" algn="l" rtl="0">
              <a:buFont typeface="Arial" panose="020B0604020202020204" pitchFamily="34" charset="0"/>
              <a:buChar char="•"/>
            </a:pPr>
            <a:r>
              <a:rPr lang="pt-BR">
                <a:solidFill>
                  <a:srgbClr val="000000"/>
                </a:solidFill>
              </a:rPr>
              <a:t>Examinar a Tabela de Endereços MAC de um Switch</a:t>
            </a:r>
          </a:p>
          <a:p>
            <a:pPr marL="342900" indent="-342900" algn="l" rtl="0">
              <a:buFont typeface="Arial" panose="020B0604020202020204" pitchFamily="34" charset="0"/>
              <a:buChar char="•"/>
            </a:pPr>
            <a:r>
              <a:rPr lang="pt-BR">
                <a:solidFill>
                  <a:srgbClr val="000000"/>
                </a:solidFill>
              </a:rPr>
              <a:t>Examinar o Processo ARP em Comunicações Remotas</a:t>
            </a:r>
          </a:p>
        </p:txBody>
      </p:sp>
    </p:spTree>
    <p:extLst>
      <p:ext uri="{BB962C8B-B14F-4D97-AF65-F5344CB8AC3E}">
        <p14:creationId xmlns:p14="http://schemas.microsoft.com/office/powerpoint/2010/main" val="375456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9.3 Cabeamento de cobre</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pt-BR" sz="2400"/>
              <a:t>Vídeo de descoberta de vizinhos IPv6 — Descoberta de vizinhos IPv6</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207390" y="848412"/>
            <a:ext cx="8547329" cy="3573322"/>
          </a:xfrm>
        </p:spPr>
        <p:txBody>
          <a:bodyPr/>
          <a:lstStyle/>
          <a:p>
            <a:pPr marL="0" indent="0" algn="l" rtl="0"/>
            <a:r>
              <a:rPr lang="pt-BR" sz="1800">
                <a:solidFill>
                  <a:srgbClr val="000000"/>
                </a:solidFill>
              </a:rPr>
              <a:t>Este vídeo explicará o processo de como o IPv6 executa a resolução de endereço usando a solicitação de vizinhos ICMPv6 e mensagens de anúncios de vizinhos.</a:t>
            </a:r>
          </a:p>
          <a:p>
            <a:pPr marL="342900" indent="-342900">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205622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Descoberta de vizinhos IPv6</a:t>
            </a:r>
            <a:br>
              <a:rPr lang="en-US" dirty="0"/>
            </a:br>
            <a:r>
              <a:rPr lang="pt-BR" sz="2400"/>
              <a:t> Mensagens de descoberta de vizinhos IPv6</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3577672"/>
          </a:xfrm>
        </p:spPr>
        <p:txBody>
          <a:bodyPr/>
          <a:lstStyle/>
          <a:p>
            <a:pPr marL="0" indent="0" algn="l" rtl="0"/>
            <a:r>
              <a:rPr lang="pt-BR" sz="1800">
                <a:solidFill>
                  <a:srgbClr val="000000"/>
                </a:solidFill>
              </a:rPr>
              <a:t>O protocolo IPv6 Neighbor Discovery (ND) fornece:</a:t>
            </a:r>
          </a:p>
          <a:p>
            <a:pPr marL="415985" lvl="1" indent="-342900" rtl="0">
              <a:buFont typeface="Arial" panose="020B0604020202020204" pitchFamily="34" charset="0"/>
              <a:buChar char="•"/>
            </a:pPr>
            <a:r>
              <a:rPr lang="pt-BR" sz="1800">
                <a:solidFill>
                  <a:srgbClr val="000000"/>
                </a:solidFill>
              </a:rPr>
              <a:t>Resolução de endereços</a:t>
            </a:r>
          </a:p>
          <a:p>
            <a:pPr marL="415985" lvl="1" indent="-342900" rtl="0">
              <a:buFont typeface="Arial" panose="020B0604020202020204" pitchFamily="34" charset="0"/>
              <a:buChar char="•"/>
            </a:pPr>
            <a:r>
              <a:rPr lang="pt-BR" sz="1800">
                <a:solidFill>
                  <a:srgbClr val="000000"/>
                </a:solidFill>
              </a:rPr>
              <a:t>Descoberta de rotas</a:t>
            </a:r>
          </a:p>
          <a:p>
            <a:pPr marL="415985" lvl="1" indent="-342900" rtl="0">
              <a:buFont typeface="Arial" panose="020B0604020202020204" pitchFamily="34" charset="0"/>
              <a:buChar char="•"/>
            </a:pPr>
            <a:r>
              <a:rPr lang="pt-BR" sz="1800">
                <a:solidFill>
                  <a:srgbClr val="000000"/>
                </a:solidFill>
              </a:rPr>
              <a:t>Serviços de redirecionamento</a:t>
            </a:r>
          </a:p>
          <a:p>
            <a:pPr marL="342900" indent="-342900" algn="l" rtl="0">
              <a:buFont typeface="Arial" panose="020B0604020202020204" pitchFamily="34" charset="0"/>
              <a:buChar char="•"/>
            </a:pPr>
            <a:r>
              <a:rPr lang="pt-BR" sz="1800">
                <a:solidFill>
                  <a:srgbClr val="000000"/>
                </a:solidFill>
              </a:rPr>
              <a:t>As mensagens ICMPv6 Neighbor Solicitation (NS) e Neighbor Advertisement (NA) são usadas para mensagens dispositivo-para-dispositivo, como resolução de endereço.</a:t>
            </a:r>
          </a:p>
          <a:p>
            <a:pPr marL="342900" indent="-342900" algn="l" rtl="0">
              <a:buFont typeface="Arial" panose="020B0604020202020204" pitchFamily="34" charset="0"/>
              <a:buChar char="•"/>
            </a:pPr>
            <a:r>
              <a:rPr lang="pt-BR" sz="1800">
                <a:solidFill>
                  <a:srgbClr val="000000"/>
                </a:solidFill>
              </a:rPr>
              <a:t>As mensagens de solicitação de roteador ICMTPv6 (RS) e de anúncio de roteador (RA) são usadas para mensagens entre dispositivos e roteadores para detecção de roteador.</a:t>
            </a:r>
          </a:p>
          <a:p>
            <a:pPr marL="342900" indent="-342900" algn="l" rtl="0">
              <a:buFont typeface="Arial" panose="020B0604020202020204" pitchFamily="34" charset="0"/>
              <a:buChar char="•"/>
            </a:pPr>
            <a:r>
              <a:rPr lang="pt-BR" sz="1800">
                <a:solidFill>
                  <a:srgbClr val="000000"/>
                </a:solidFill>
              </a:rPr>
              <a:t>As mensagens de redirecionamento ICMPv6 são usadas por roteadores para melhor seleção de próximo salto.</a:t>
            </a:r>
          </a:p>
        </p:txBody>
      </p:sp>
    </p:spTree>
    <p:extLst>
      <p:ext uri="{BB962C8B-B14F-4D97-AF65-F5344CB8AC3E}">
        <p14:creationId xmlns:p14="http://schemas.microsoft.com/office/powerpoint/2010/main" val="3721906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Descoberta de vizinhos</a:t>
            </a:r>
            <a:br>
              <a:rPr lang="en-US" dirty="0"/>
            </a:br>
            <a:r>
              <a:rPr lang="pt-BR" sz="2400"/>
              <a:t>IPv6 IPv6 — Resolução de endereços</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5250730" y="774975"/>
            <a:ext cx="3773496" cy="2728697"/>
          </a:xfrm>
        </p:spPr>
        <p:txBody>
          <a:bodyPr/>
          <a:lstStyle/>
          <a:p>
            <a:pPr marL="342900" indent="-342900" algn="l" rtl="0">
              <a:buFont typeface="Arial" panose="020B0604020202020204" pitchFamily="34" charset="0"/>
              <a:buChar char="•"/>
            </a:pPr>
            <a:r>
              <a:rPr lang="pt-BR" sz="1800">
                <a:solidFill>
                  <a:srgbClr val="000000"/>
                </a:solidFill>
              </a:rPr>
              <a:t>Dispositivos IPv6 usam ND para resolver o endereço MAC de um endereço IPv6 conhecido.</a:t>
            </a:r>
          </a:p>
          <a:p>
            <a:pPr marL="342900" indent="-342900" algn="l" rtl="0">
              <a:buFont typeface="Arial" panose="020B0604020202020204" pitchFamily="34" charset="0"/>
              <a:buChar char="•"/>
            </a:pPr>
            <a:r>
              <a:rPr lang="pt-BR" sz="1800">
                <a:solidFill>
                  <a:srgbClr val="000000"/>
                </a:solidFill>
              </a:rPr>
              <a:t>As mensagens de solicitação de vizinhos ICMPv6 são enviadas usando endereços de multicast Ethernet e IPv6 especiais. </a:t>
            </a:r>
          </a:p>
        </p:txBody>
      </p:sp>
      <p:pic>
        <p:nvPicPr>
          <p:cNvPr id="2" name="Picture 1">
            <a:extLst>
              <a:ext uri="{FF2B5EF4-FFF2-40B4-BE49-F238E27FC236}">
                <a16:creationId xmlns:a16="http://schemas.microsoft.com/office/drawing/2014/main" id="{BDC4A0AF-0003-44FE-BC39-5B53008F411D}"/>
              </a:ext>
            </a:extLst>
          </p:cNvPr>
          <p:cNvPicPr>
            <a:picLocks noChangeAspect="1"/>
          </p:cNvPicPr>
          <p:nvPr/>
        </p:nvPicPr>
        <p:blipFill>
          <a:blip r:embed="rId3"/>
          <a:stretch>
            <a:fillRect/>
          </a:stretch>
        </p:blipFill>
        <p:spPr>
          <a:xfrm>
            <a:off x="399247" y="899040"/>
            <a:ext cx="4776067" cy="3351250"/>
          </a:xfrm>
          <a:prstGeom prst="rect">
            <a:avLst/>
          </a:prstGeom>
        </p:spPr>
      </p:pic>
    </p:spTree>
    <p:extLst>
      <p:ext uri="{BB962C8B-B14F-4D97-AF65-F5344CB8AC3E}">
        <p14:creationId xmlns:p14="http://schemas.microsoft.com/office/powerpoint/2010/main" val="151893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1">
            <a:extLst>
              <a:ext uri="{FF2B5EF4-FFF2-40B4-BE49-F238E27FC236}">
                <a16:creationId xmlns:a16="http://schemas.microsoft.com/office/drawing/2014/main" id="{0FB63644-4EEA-4181-89E6-657F8BF024D1}"/>
              </a:ext>
            </a:extLst>
          </p:cNvPr>
          <p:cNvSpPr>
            <a:spLocks noGrp="1"/>
          </p:cNvSpPr>
          <p:nvPr>
            <p:ph idx="1"/>
          </p:nvPr>
        </p:nvSpPr>
        <p:spPr>
          <a:xfrm>
            <a:off x="394263" y="923582"/>
            <a:ext cx="8280057" cy="3073946"/>
          </a:xfrm>
        </p:spPr>
        <p:txBody>
          <a:bodyPr/>
          <a:lstStyle/>
          <a:p>
            <a:pPr algn="l" rtl="0"/>
            <a:r>
              <a:rPr lang="pt-BR">
                <a:solidFill>
                  <a:srgbClr val="000000"/>
                </a:solidFill>
              </a:rPr>
              <a:t>Neste Packet Tracer, você atingirá os seguintes objetivos:</a:t>
            </a:r>
          </a:p>
          <a:p>
            <a:pPr marL="342900" indent="-342900" algn="l" rtl="0">
              <a:buFont typeface="Arial" panose="020B0604020202020204" pitchFamily="34" charset="0"/>
              <a:buChar char="•"/>
            </a:pPr>
            <a:r>
              <a:rPr lang="pt-BR">
                <a:solidFill>
                  <a:srgbClr val="000000"/>
                </a:solidFill>
              </a:rPr>
              <a:t>Parte 1: Rede local de descoberta de vizinhos IPv6</a:t>
            </a:r>
          </a:p>
          <a:p>
            <a:pPr marL="342900" indent="-342900" algn="l" rtl="0">
              <a:buFont typeface="Arial" panose="020B0604020202020204" pitchFamily="34" charset="0"/>
              <a:buChar char="•"/>
            </a:pPr>
            <a:r>
              <a:rPr lang="pt-BR">
                <a:solidFill>
                  <a:srgbClr val="000000"/>
                </a:solidFill>
              </a:rPr>
              <a:t>Parte 2: Rede remota de descoberta de vizinhos IPv6</a:t>
            </a:r>
          </a:p>
        </p:txBody>
      </p:sp>
      <p:sp>
        <p:nvSpPr>
          <p:cNvPr id="9" name="Title 3">
            <a:extLst>
              <a:ext uri="{FF2B5EF4-FFF2-40B4-BE49-F238E27FC236}">
                <a16:creationId xmlns:a16="http://schemas.microsoft.com/office/drawing/2014/main" id="{B7E5C6E2-3BAE-4B94-9B14-1208CF2DA1A6}"/>
              </a:ext>
            </a:extLst>
          </p:cNvPr>
          <p:cNvSpPr>
            <a:spLocks noGrp="1"/>
          </p:cNvSpPr>
          <p:nvPr>
            <p:ph type="title"/>
          </p:nvPr>
        </p:nvSpPr>
        <p:spPr>
          <a:xfrm>
            <a:off x="0" y="67936"/>
            <a:ext cx="9068585" cy="731837"/>
          </a:xfrm>
        </p:spPr>
        <p:txBody>
          <a:bodyPr/>
          <a:lstStyle/>
          <a:p>
            <a:pPr rtl="0"/>
            <a:r>
              <a:rPr lang="pt-BR" sz="1600"/>
              <a:t>Descobreta de Vizinhos IPv6 Packet Tracer</a:t>
            </a:r>
            <a:br>
              <a:rPr lang="en-US" dirty="0"/>
            </a:br>
            <a:r>
              <a:rPr lang="pt-BR" sz="2400"/>
              <a:t> - Descoberta de Vizinhos IPv6 </a:t>
            </a:r>
          </a:p>
        </p:txBody>
      </p:sp>
    </p:spTree>
    <p:extLst>
      <p:ext uri="{BB962C8B-B14F-4D97-AF65-F5344CB8AC3E}">
        <p14:creationId xmlns:p14="http://schemas.microsoft.com/office/powerpoint/2010/main" val="660587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pt-BR">
                <a:solidFill>
                  <a:schemeClr val="accent5">
                    <a:lumMod val="40000"/>
                    <a:lumOff val="60000"/>
                  </a:schemeClr>
                </a:solidFill>
              </a:rPr>
              <a:t>9.4 - Módulo Prática e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Módulo Prática e Quiz</a:t>
            </a:r>
            <a:br>
              <a:rPr lang="en-US" dirty="0">
                <a:latin typeface="Arial" charset="0"/>
              </a:rPr>
            </a:br>
            <a:r>
              <a:rPr lang="pt-BR">
                <a:latin typeface="Arial" charset="0"/>
              </a:rPr>
              <a:t>O que aprendi neste módulo?</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15887" indent="-285750" rtl="0">
              <a:spcBef>
                <a:spcPts val="0"/>
              </a:spcBef>
              <a:spcAft>
                <a:spcPts val="0"/>
              </a:spcAft>
              <a:buFont typeface="Arial" panose="020B0604020202020204" pitchFamily="34" charset="0"/>
              <a:buChar char="•"/>
            </a:pPr>
            <a:r>
              <a:rPr lang="pt-BR"/>
              <a:t>Os endereços físicos da camada 2 (isto é, os endereços Ethernet Ethernet) são usados para entregar o quadro de enlace de dados com o pacote IP encapsulado de uma NIC para outra NIC na mesma rede. </a:t>
            </a:r>
          </a:p>
          <a:p>
            <a:pPr marL="115887" indent="-285750" rtl="0">
              <a:spcBef>
                <a:spcPts val="0"/>
              </a:spcBef>
              <a:spcAft>
                <a:spcPts val="0"/>
              </a:spcAft>
              <a:buFont typeface="Arial" panose="020B0604020202020204" pitchFamily="34" charset="0"/>
              <a:buChar char="•"/>
            </a:pPr>
            <a:r>
              <a:rPr lang="pt-BR"/>
              <a:t>Se o endereço IP de destino estiver na mesma rede, o endereço MAC de destino será o do dispositivo de destino. </a:t>
            </a:r>
          </a:p>
          <a:p>
            <a:pPr marL="115887" indent="-285750" rtl="0">
              <a:spcBef>
                <a:spcPts val="0"/>
              </a:spcBef>
              <a:spcAft>
                <a:spcPts val="0"/>
              </a:spcAft>
              <a:buFont typeface="Arial" panose="020B0604020202020204" pitchFamily="34" charset="0"/>
              <a:buChar char="•"/>
            </a:pPr>
            <a:r>
              <a:rPr lang="pt-BR"/>
              <a:t>Quando o endereço IP de destino (IPv4 ou IPv6) estiver em uma rede remota, o endereço MAC de destino será o endereço do gateway padrão do host (ou seja, a interface do roteador).</a:t>
            </a:r>
          </a:p>
          <a:p>
            <a:pPr marL="115887" indent="-285750" rtl="0">
              <a:spcBef>
                <a:spcPts val="0"/>
              </a:spcBef>
              <a:spcAft>
                <a:spcPts val="0"/>
              </a:spcAft>
              <a:buFont typeface="Arial" panose="020B0604020202020204" pitchFamily="34" charset="0"/>
              <a:buChar char="•"/>
            </a:pPr>
            <a:r>
              <a:rPr lang="pt-BR"/>
              <a:t>Um dispositivo IPv4 usa ARP para determinar o endereço MAC de destino de um dispositivo local quando conhece seu endereço IPv4.</a:t>
            </a:r>
          </a:p>
          <a:p>
            <a:pPr marL="115887" indent="-285750" rtl="0">
              <a:spcBef>
                <a:spcPts val="0"/>
              </a:spcBef>
              <a:spcAft>
                <a:spcPts val="0"/>
              </a:spcAft>
              <a:buFont typeface="Arial" panose="020B0604020202020204" pitchFamily="34" charset="0"/>
              <a:buChar char="•"/>
            </a:pPr>
            <a:r>
              <a:rPr lang="pt-BR"/>
              <a:t>O ARP fornece duas funções básicas: resolver endereços IPv4 para endereços MAC e manter uma tabela de mapeamentos de endereços IPv4 para MAC.</a:t>
            </a:r>
          </a:p>
          <a:p>
            <a:pPr marL="115887" indent="-285750" rtl="0">
              <a:spcBef>
                <a:spcPts val="0"/>
              </a:spcBef>
              <a:spcAft>
                <a:spcPts val="0"/>
              </a:spcAft>
              <a:buFont typeface="Arial" panose="020B0604020202020204" pitchFamily="34" charset="0"/>
              <a:buChar char="•"/>
            </a:pPr>
            <a:r>
              <a:rPr lang="pt-BR"/>
              <a:t>Depois que a resposta do ARP é recebida, o dispositivo adiciona o endereço IPv4 e o endereço MAC correspondente à sua tabela ARP.</a:t>
            </a:r>
          </a:p>
          <a:p>
            <a:pPr marL="115887" indent="-285750" rtl="0">
              <a:spcBef>
                <a:spcPts val="0"/>
              </a:spcBef>
              <a:spcAft>
                <a:spcPts val="0"/>
              </a:spcAft>
              <a:buFont typeface="Arial" panose="020B0604020202020204" pitchFamily="34" charset="0"/>
              <a:buChar char="•"/>
            </a:pPr>
            <a:r>
              <a:rPr lang="pt-BR"/>
              <a:t>Em cada dispositivo, um temporizador da cache ARP remove entradas ARP que não tenham sido usadas durante um determinado período.</a:t>
            </a:r>
          </a:p>
          <a:p>
            <a:pPr marL="115887" indent="-285750" rtl="0">
              <a:spcBef>
                <a:spcPts val="0"/>
              </a:spcBef>
              <a:spcAft>
                <a:spcPts val="0"/>
              </a:spcAft>
              <a:buFont typeface="Arial" panose="020B0604020202020204" pitchFamily="34" charset="0"/>
              <a:buChar char="•"/>
            </a:pPr>
            <a:r>
              <a:rPr lang="pt-BR"/>
              <a:t>O IPv6 não usa ARP, ele usa o protocolo ND para resolver endereços MAC. </a:t>
            </a:r>
          </a:p>
          <a:p>
            <a:pPr marL="115887" indent="-285750" rtl="0">
              <a:spcBef>
                <a:spcPts val="0"/>
              </a:spcBef>
              <a:spcAft>
                <a:spcPts val="0"/>
              </a:spcAft>
              <a:buFont typeface="Arial" panose="020B0604020202020204" pitchFamily="34" charset="0"/>
              <a:buChar char="•"/>
            </a:pPr>
            <a:r>
              <a:rPr lang="pt-BR"/>
              <a:t>Um dispositivo IPv6 usa ICMPv6 Neighbor Discovery para determinar o endereço MAC de destino de um dispositivo local quando ele conhece seu endereço IPv6.</a:t>
            </a:r>
          </a:p>
          <a:p>
            <a:pPr marL="0">
              <a:spcBef>
                <a:spcPts val="0"/>
              </a:spcBef>
              <a:spcAft>
                <a:spcPts val="0"/>
              </a:spcAft>
            </a:pPr>
            <a:endParaRPr lang="en-US"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pt-BR" sz="1400">
                <a:latin typeface="Arial" charset="0"/>
              </a:rPr>
              <a:t>Module 9: Address Resolution</a:t>
            </a:r>
            <a:br>
              <a:rPr lang="en-US" dirty="0">
                <a:latin typeface="Arial" charset="0"/>
              </a:rPr>
            </a:br>
            <a:r>
              <a:rPr lang="pt-BR">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796206135"/>
              </p:ext>
            </p:extLst>
          </p:nvPr>
        </p:nvGraphicFramePr>
        <p:xfrm>
          <a:off x="144463" y="798513"/>
          <a:ext cx="8853486" cy="347472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rtl="0">
                        <a:buFont typeface="Arial" panose="020B0604020202020204" pitchFamily="34" charset="0"/>
                        <a:buChar char="•"/>
                      </a:pPr>
                      <a:r>
                        <a:rPr lang="pt-BR" sz="1600" b="0">
                          <a:solidFill>
                            <a:srgbClr val="000000"/>
                          </a:solidFill>
                        </a:rPr>
                        <a:t>Address Resolution Protocol (ARP)</a:t>
                      </a:r>
                    </a:p>
                    <a:p>
                      <a:pPr marL="285750" indent="-285750" rtl="0">
                        <a:buFont typeface="Arial" panose="020B0604020202020204" pitchFamily="34" charset="0"/>
                        <a:buChar char="•"/>
                      </a:pPr>
                      <a:r>
                        <a:rPr lang="pt-BR" sz="1600" b="0">
                          <a:solidFill>
                            <a:srgbClr val="000000"/>
                          </a:solidFill>
                        </a:rPr>
                        <a:t>ARP table</a:t>
                      </a:r>
                    </a:p>
                    <a:p>
                      <a:pPr marL="285750" indent="-285750" rtl="0">
                        <a:buFont typeface="Arial" panose="020B0604020202020204" pitchFamily="34" charset="0"/>
                        <a:buChar char="•"/>
                      </a:pPr>
                      <a:r>
                        <a:rPr lang="pt-BR" sz="1600" b="0">
                          <a:solidFill>
                            <a:srgbClr val="000000"/>
                          </a:solidFill>
                        </a:rPr>
                        <a:t>show ip arp</a:t>
                      </a:r>
                    </a:p>
                    <a:p>
                      <a:pPr marL="285750" indent="-285750" rtl="0">
                        <a:buFont typeface="Arial" panose="020B0604020202020204" pitchFamily="34" charset="0"/>
                        <a:buChar char="•"/>
                      </a:pPr>
                      <a:r>
                        <a:rPr lang="pt-BR" sz="1600" b="0">
                          <a:solidFill>
                            <a:srgbClr val="000000"/>
                          </a:solidFill>
                        </a:rPr>
                        <a:t>arpr -a</a:t>
                      </a:r>
                    </a:p>
                    <a:p>
                      <a:pPr marL="285750" indent="-285750" rtl="0">
                        <a:buFont typeface="Arial" panose="020B0604020202020204" pitchFamily="34" charset="0"/>
                        <a:buChar char="•"/>
                      </a:pPr>
                      <a:r>
                        <a:rPr lang="pt-BR" sz="1600" b="0">
                          <a:solidFill>
                            <a:srgbClr val="000000"/>
                          </a:solidFill>
                        </a:rPr>
                        <a:t>ICMPv6 Neighbor Discovery protocol (ND)</a:t>
                      </a:r>
                    </a:p>
                    <a:p>
                      <a:pPr marL="285750" indent="-285750" rtl="0">
                        <a:buFont typeface="Arial" panose="020B0604020202020204" pitchFamily="34" charset="0"/>
                        <a:buChar char="•"/>
                      </a:pPr>
                      <a:r>
                        <a:rPr lang="pt-BR" sz="1600" b="0">
                          <a:solidFill>
                            <a:srgbClr val="000000"/>
                          </a:solidFill>
                        </a:rPr>
                        <a:t>ICMPv6 Neighbor Solicitation (NS) message</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600" b="0">
                          <a:solidFill>
                            <a:srgbClr val="000000"/>
                          </a:solidFill>
                        </a:rPr>
                        <a:t>ICMPv6 Neighbor Advertisement (NA) message</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600" b="0">
                          <a:solidFill>
                            <a:srgbClr val="000000"/>
                          </a:solidFill>
                        </a:rPr>
                        <a:t>ICMPv6 Router Solicitation (RS) message</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600" b="0">
                          <a:solidFill>
                            <a:srgbClr val="000000"/>
                          </a:solidFill>
                        </a:rPr>
                        <a:t>ICMPv6 Router Advertisement (RA) message</a:t>
                      </a:r>
                    </a:p>
                    <a:p>
                      <a:pPr marL="285750" indent="-285750" rtl="0">
                        <a:buFont typeface="Arial" panose="020B0604020202020204" pitchFamily="34" charset="0"/>
                        <a:buChar char="•"/>
                      </a:pPr>
                      <a:r>
                        <a:rPr lang="pt-BR" sz="1600" b="0">
                          <a:solidFill>
                            <a:srgbClr val="000000"/>
                          </a:solidFill>
                        </a:rPr>
                        <a:t>ICMPv6 Redirect Message</a:t>
                      </a: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9278</TotalTime>
  <Words>1922</Words>
  <Application>Microsoft Office PowerPoint</Application>
  <PresentationFormat>On-screen Show (16:9)</PresentationFormat>
  <Paragraphs>350</Paragraphs>
  <Slides>33</Slides>
  <Notes>31</Notes>
  <HiddenSlides>6</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Default Theme</vt:lpstr>
      <vt:lpstr>Módulo 9- Resolução de Endereços</vt:lpstr>
      <vt:lpstr>Instructor Materials – Module 9 Planning Guide</vt:lpstr>
      <vt:lpstr>O que esperar neste módulo</vt:lpstr>
      <vt:lpstr>O que esperar deste módulo (cont.)</vt:lpstr>
      <vt:lpstr>Check Your Understanding</vt:lpstr>
      <vt:lpstr>Module 9: Activities</vt:lpstr>
      <vt:lpstr>Module 9: Best Practices</vt:lpstr>
      <vt:lpstr>Module 9: Best Practices (Cont.)</vt:lpstr>
      <vt:lpstr>Módulo 9: Resolução de Endereços</vt:lpstr>
      <vt:lpstr>Objetivos do módulo</vt:lpstr>
      <vt:lpstr>9.1 MAC e IP</vt:lpstr>
      <vt:lpstr>MAC e IP  Destino na mesma rede</vt:lpstr>
      <vt:lpstr>MAC e IP  Destino na rede remota</vt:lpstr>
      <vt:lpstr>MAC e IP  Packet Tracer – Identificar endereços MAC e IP</vt:lpstr>
      <vt:lpstr>9.2 ARP</vt:lpstr>
      <vt:lpstr>ARP ARP Visão geral</vt:lpstr>
      <vt:lpstr>ARP  Funções do ARP</vt:lpstr>
      <vt:lpstr>Vídeo  ARP - Solicitação ARP</vt:lpstr>
      <vt:lpstr>Vídeo -  Operação do ARP - Resposta do ARP</vt:lpstr>
      <vt:lpstr>Vídeo  ARP- Função ARP nas comunicações remotas</vt:lpstr>
      <vt:lpstr>ARP  Remoção de entradas de uma tabela ARP</vt:lpstr>
      <vt:lpstr>ARP Tabelas ARP em dispositivos de rede</vt:lpstr>
      <vt:lpstr>Problemas ARPARP — ARP Broadcasting e ARP Spoofing</vt:lpstr>
      <vt:lpstr>ARP  Packet Tracer – Examine a tabela ARP</vt:lpstr>
      <vt:lpstr>9.3 Cabeamento de cobre</vt:lpstr>
      <vt:lpstr> Vídeo de descoberta de vizinhos IPv6 — Descoberta de vizinhos IPv6</vt:lpstr>
      <vt:lpstr>Descoberta de vizinhos IPv6  Mensagens de descoberta de vizinhos IPv6</vt:lpstr>
      <vt:lpstr>Descoberta de vizinhos IPv6 IPv6 — Resolução de endereços</vt:lpstr>
      <vt:lpstr>Descobreta de Vizinhos IPv6 Packet Tracer  - Descoberta de Vizinhos IPv6 </vt:lpstr>
      <vt:lpstr>9.4 - Módulo Prática e Quiz</vt:lpstr>
      <vt:lpstr>Módulo Prática e Quiz O que aprendi neste módulo?</vt:lpstr>
      <vt:lpstr>Module 9: Address Resolution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Sue Livingston -X (suliving - UNICON INC at Cisco)</cp:lastModifiedBy>
  <cp:revision>249</cp:revision>
  <dcterms:created xsi:type="dcterms:W3CDTF">2019-10-18T06:21:22Z</dcterms:created>
  <dcterms:modified xsi:type="dcterms:W3CDTF">2020-06-28T23:42:31Z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