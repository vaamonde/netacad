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759" r:id="rId5"/>
    <p:sldId id="1054" r:id="rId6"/>
    <p:sldId id="1055" r:id="rId7"/>
    <p:sldId id="1056" r:id="rId8"/>
    <p:sldId id="1057" r:id="rId9"/>
    <p:sldId id="1058" r:id="rId10"/>
    <p:sldId id="1059" r:id="rId11"/>
    <p:sldId id="1060" r:id="rId12"/>
    <p:sldId id="1061" r:id="rId13"/>
    <p:sldId id="1062" r:id="rId14"/>
    <p:sldId id="1063" r:id="rId15"/>
    <p:sldId id="1064" r:id="rId16"/>
    <p:sldId id="1065" r:id="rId17"/>
    <p:sldId id="1066" r:id="rId18"/>
    <p:sldId id="1067" r:id="rId19"/>
    <p:sldId id="1068" r:id="rId20"/>
    <p:sldId id="1071" r:id="rId21"/>
    <p:sldId id="1072" r:id="rId22"/>
    <p:sldId id="1073" r:id="rId23"/>
    <p:sldId id="1074" r:id="rId24"/>
    <p:sldId id="1077" r:id="rId25"/>
    <p:sldId id="1078" r:id="rId26"/>
    <p:sldId id="1079" r:id="rId27"/>
    <p:sldId id="1080" r:id="rId28"/>
    <p:sldId id="1081" r:id="rId29"/>
    <p:sldId id="1082" r:id="rId30"/>
    <p:sldId id="1083" r:id="rId31"/>
    <p:sldId id="1084" r:id="rId32"/>
    <p:sldId id="1085" r:id="rId33"/>
    <p:sldId id="1086" r:id="rId34"/>
    <p:sldId id="1087" r:id="rId35"/>
    <p:sldId id="1088" r:id="rId36"/>
    <p:sldId id="291" r:id="rId37"/>
  </p:sldIdLst>
  <p:sldSz cx="9144000" cy="5143500" type="screen16x9"/>
  <p:notesSz cx="6858000" cy="9144000"/>
  <p:custDataLst>
    <p:tags r:id="rId42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E8FB"/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7285" autoAdjust="0"/>
  </p:normalViewPr>
  <p:slideViewPr>
    <p:cSldViewPr snapToGrid="0" showGuides="1">
      <p:cViewPr varScale="1">
        <p:scale>
          <a:sx n="70" d="100"/>
          <a:sy n="70" d="100"/>
        </p:scale>
        <p:origin x="1332" y="4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9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buFontTx/>
              <a:buNone/>
            </a:pPr>
            <a:r>
              <a:rPr lang="pt-BR" b="0"/>
              <a:t>Programa da Cisco Networking Academy</a:t>
            </a:r>
            <a:endParaRPr lang="pt-BR" b="0"/>
          </a:p>
          <a:p>
            <a:pPr rtl="0">
              <a:buFontTx/>
              <a:buNone/>
            </a:pPr>
            <a:r>
              <a:rPr lang="pt-BR" b="0" baseline="0"/>
              <a:t>Introdução às redes v</a:t>
            </a:r>
            <a:r>
              <a:rPr lang="pt-BR" b="0"/>
              <a:t>7.0 (ITN)</a:t>
            </a:r>
            <a:endParaRPr lang="pt-BR" b="0"/>
          </a:p>
          <a:p>
            <a:pPr rtl="0">
              <a:buFontTx/>
              <a:buNone/>
            </a:pPr>
            <a:r>
              <a:rPr lang="pt-BR" b="0"/>
              <a:t>Módulo 4: Camada Física</a:t>
            </a:r>
            <a:endParaRPr lang="pt-BR" b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4.1 – Propósito da camada física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4.1 – Propósito da camada física</a:t>
            </a:r>
            <a:endParaRPr lang="pt-BR"/>
          </a:p>
          <a:p>
            <a:pPr rtl="0"/>
            <a:r>
              <a:rPr lang="pt-BR"/>
              <a:t>4.1.1 - A conexão física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4.1 – Propósito da camada física</a:t>
            </a:r>
            <a:endParaRPr lang="pt-BR"/>
          </a:p>
          <a:p>
            <a:pPr rtl="0"/>
            <a:r>
              <a:rPr lang="pt-BR"/>
              <a:t>4.1.2 - A camada Física</a:t>
            </a:r>
            <a:endParaRPr lang="pt-BR"/>
          </a:p>
          <a:p>
            <a:pPr rtl="0"/>
            <a:r>
              <a:rPr lang="pt-BR"/>
              <a:t>4.1.3 — Verificar a sua Compreensão — Finalidade da Camada Física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4.2 Características da camada física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4.2 – Características da camada física</a:t>
            </a:r>
            <a:endParaRPr lang="pt-BR"/>
          </a:p>
          <a:p>
            <a:pPr rtl="0"/>
            <a:r>
              <a:rPr lang="pt-BR"/>
              <a:t>4.2.1 – Padrões da camada física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4.2 – Características da camada física</a:t>
            </a:r>
            <a:endParaRPr lang="pt-BR"/>
          </a:p>
          <a:p>
            <a:pPr rtl="0"/>
            <a:r>
              <a:rPr lang="pt-BR"/>
              <a:t>4.2.2 - Componentes físicos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4.2 – Características da camada física</a:t>
            </a:r>
            <a:endParaRPr lang="pt-BR"/>
          </a:p>
          <a:p>
            <a:pPr rtl="0"/>
            <a:r>
              <a:rPr lang="pt-BR"/>
              <a:t>4.2.3 — Codificação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4.2 – Características da camada física</a:t>
            </a:r>
            <a:endParaRPr lang="pt-BR"/>
          </a:p>
          <a:p>
            <a:pPr rtl="0"/>
            <a:r>
              <a:rPr lang="pt-BR"/>
              <a:t>4.2.4 - Sinalização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4.2 – Características da camada física</a:t>
            </a:r>
            <a:endParaRPr lang="pt-BR"/>
          </a:p>
          <a:p>
            <a:pPr rtl="0"/>
            <a:r>
              <a:rPr lang="pt-BR"/>
              <a:t>4.2.5 - Largura de banda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4.2 – Características da camada física</a:t>
            </a:r>
            <a:endParaRPr lang="pt-BR"/>
          </a:p>
          <a:p>
            <a:pPr rtl="0"/>
            <a:r>
              <a:rPr lang="pt-BR"/>
              <a:t>4.2.6 — Terminologia de largura de banda</a:t>
            </a:r>
            <a:endParaRPr lang="pt-BR"/>
          </a:p>
          <a:p>
            <a:pPr rtl="0"/>
            <a:r>
              <a:rPr lang="pt-BR"/>
              <a:t>4.2.7 Verifique seu entendimento — Características da camada física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4.3 Cabeamento de cobre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4.3 Cabeamento de cobre</a:t>
            </a:r>
            <a:endParaRPr lang="pt-BR"/>
          </a:p>
          <a:p>
            <a:pPr rtl="0"/>
            <a:r>
              <a:rPr lang="pt-BR"/>
              <a:t>4.3.1 Características do Cabeamento de Cobre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4.3 Cabeamento de cobre</a:t>
            </a:r>
            <a:endParaRPr lang="pt-BR"/>
          </a:p>
          <a:p>
            <a:pPr rtl="0"/>
            <a:r>
              <a:rPr lang="pt-BR"/>
              <a:t>4.3.2 — Tipos de Cabeamento de Cobre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4.3 Cabeamento de cobre</a:t>
            </a:r>
            <a:endParaRPr lang="pt-BR"/>
          </a:p>
          <a:p>
            <a:pPr rtl="0"/>
            <a:r>
              <a:rPr lang="pt-BR"/>
              <a:t>4.3.3 - Par trançado não blindado (UTP)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4.3 Cabeamento de cobre</a:t>
            </a:r>
            <a:endParaRPr lang="pt-BR"/>
          </a:p>
          <a:p>
            <a:pPr rtl="0"/>
            <a:r>
              <a:rPr lang="pt-BR"/>
              <a:t>4.3.4 — Par Trançado Blindado (STP)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4.3 Cabeamento de cobre</a:t>
            </a:r>
            <a:endParaRPr lang="pt-BR"/>
          </a:p>
          <a:p>
            <a:pPr rtl="0"/>
            <a:r>
              <a:rPr lang="pt-BR"/>
              <a:t>4.3. - Cabo coaxial</a:t>
            </a:r>
            <a:endParaRPr lang="pt-BR"/>
          </a:p>
          <a:p>
            <a:pPr rtl="0"/>
            <a:r>
              <a:rPr lang="pt-BR"/>
              <a:t>4.3.6 Verifique o seu entendimento — Cabeamento de cobre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4.4 - Cabeamento UTP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4.4 - Cabeamento UTP</a:t>
            </a:r>
            <a:endParaRPr lang="pt-BR"/>
          </a:p>
          <a:p>
            <a:pPr rtl="0"/>
            <a:r>
              <a:rPr lang="pt-BR"/>
              <a:t>4.4.1 – Propriedades do cabeamento UTP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4.4 - Cabeamento UTP</a:t>
            </a:r>
            <a:endParaRPr lang="pt-BR"/>
          </a:p>
          <a:p>
            <a:pPr rtl="0"/>
            <a:r>
              <a:rPr lang="pt-BR"/>
              <a:t>4.4.2 - Padrões e conectores de cabeamento UTP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4.4 - Cabeamento UTP</a:t>
            </a:r>
            <a:endParaRPr lang="pt-BR"/>
          </a:p>
          <a:p>
            <a:pPr rtl="0"/>
            <a:r>
              <a:rPr lang="pt-BR"/>
              <a:t>4.4.2 — Padrões e conectores de cabeamento UTP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4.4 - Cabeamento UTP</a:t>
            </a:r>
            <a:endParaRPr lang="pt-BR"/>
          </a:p>
          <a:p>
            <a:pPr rtl="0"/>
            <a:r>
              <a:rPr lang="pt-BR"/>
              <a:t>4.4.3 — Cabos UTP retos e cruzados</a:t>
            </a:r>
            <a:endParaRPr lang="pt-BR"/>
          </a:p>
          <a:p>
            <a:pPr rtl="0"/>
            <a:r>
              <a:rPr lang="pt-BR"/>
              <a:t>4.4.4 - Atividade - Pinagem de cabos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4.5 - Cabeamento de fibra óptica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4.5 – Cabeamento de fibra ótica</a:t>
            </a:r>
            <a:endParaRPr lang="pt-BR"/>
          </a:p>
          <a:p>
            <a:pPr rtl="0"/>
            <a:r>
              <a:rPr lang="pt-BR"/>
              <a:t>4.5.1 - Propriedades do Cabeamento de Fibra Óptica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4.5 – Cabeamento de fibra ótica</a:t>
            </a:r>
            <a:endParaRPr lang="pt-BR"/>
          </a:p>
          <a:p>
            <a:pPr rtl="0"/>
            <a:r>
              <a:rPr lang="pt-BR"/>
              <a:t>4.5.2 - Tipos de Fibra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4.5 – Cabeamento de fibra ótica</a:t>
            </a:r>
            <a:endParaRPr lang="pt-BR"/>
          </a:p>
          <a:p>
            <a:pPr rtl="0"/>
            <a:r>
              <a:rPr lang="pt-BR"/>
              <a:t>4.5.3 - Uso de cabeamento de fibra óptica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4.5 – Cabeamento de fibra ótica</a:t>
            </a:r>
            <a:endParaRPr lang="pt-BR"/>
          </a:p>
          <a:p>
            <a:pPr rtl="0"/>
            <a:r>
              <a:rPr lang="pt-BR"/>
              <a:t>4.5.4 – Conectores de fibra óptica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4.5 – Cabeamento de fibra ótica</a:t>
            </a:r>
            <a:endParaRPr lang="pt-BR"/>
          </a:p>
          <a:p>
            <a:pPr rtl="0"/>
            <a:r>
              <a:rPr lang="pt-BR"/>
              <a:t>4.5.5 - Cabos de remendo da fibra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4.5 – Cabeamento de fibra ótica</a:t>
            </a:r>
            <a:endParaRPr lang="pt-BR"/>
          </a:p>
          <a:p>
            <a:pPr rtl="0"/>
            <a:r>
              <a:rPr lang="pt-BR"/>
              <a:t>4.2.3.6 – Fibra versus cobre</a:t>
            </a:r>
            <a:endParaRPr lang="pt-BR"/>
          </a:p>
          <a:p>
            <a:pPr rtl="0"/>
            <a:r>
              <a:rPr lang="pt-BR"/>
              <a:t>4.5.7 — Verifique seu entendimento — Cabeamento de fibra óptica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4.6 - Mídia Sem Fio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4.6 - Mídia Sem Fio</a:t>
            </a:r>
            <a:endParaRPr lang="pt-BR"/>
          </a:p>
          <a:p>
            <a:pPr rtl="0"/>
            <a:r>
              <a:rPr lang="pt-BR"/>
              <a:t>4.6.1 – Propriedades do meio físico sem fio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4.6 - Mídia Sem Fio</a:t>
            </a:r>
            <a:endParaRPr lang="pt-BR"/>
          </a:p>
          <a:p>
            <a:pPr rtl="0"/>
            <a:r>
              <a:rPr lang="pt-BR"/>
              <a:t>4.6.2 – Tipos de meio físico sem fio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4 - Camada física</a:t>
            </a:r>
            <a:endParaRPr lang="pt-BR"/>
          </a:p>
          <a:p>
            <a:pPr rtl="0"/>
            <a:r>
              <a:rPr lang="pt-BR"/>
              <a:t>4.6 - Mídia Sem Fio</a:t>
            </a:r>
            <a:endParaRPr lang="pt-BR"/>
          </a:p>
          <a:p>
            <a:pPr rtl="0"/>
            <a:r>
              <a:rPr lang="pt-BR"/>
              <a:t>4.6.4 - LAN sem fio</a:t>
            </a:r>
            <a:endParaRPr lang="pt-BR"/>
          </a:p>
          <a:p>
            <a:pPr rtl="0"/>
            <a:r>
              <a:rPr lang="pt-BR"/>
              <a:t>4.6.4 — Verifique o seu entendimento — Mídia sem fio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36199" y="4741653"/>
            <a:ext cx="2889327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265" y="1475740"/>
            <a:ext cx="6557645" cy="1410335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4: Camada Física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  <a:sym typeface="+mn-ea"/>
              </a:rPr>
              <a:t>Versão: 1.0 - 01/03/2026</a:t>
            </a:r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283460"/>
            <a:ext cx="7598042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4.1 – Propósito da Camada Física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Objetivo de camada física </a:t>
            </a:r>
            <a:br>
              <a:rPr lang="en-US" dirty="0"/>
            </a:br>
            <a:r>
              <a:rPr lang="pt-BR" sz="2400"/>
              <a:t>A conexão física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8280057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Antes que qualquer comunicação de rede possa ocorrer, é necessário estabelecer uma conexão física com uma rede local.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Essa conexão pode ser com ou sem fio, dependendo da configuração da rede.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Isso geralmente se aplica se você está considerando um escritório corporativo ou uma casa.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As placas de interface de rede (NICs) conectam um dispositivo à rede.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Alguns dispositivos podem ter apenas uma NIC, enquanto outros podem ter várias NICs (com fio e/ou sem fio, por exemplo).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Nem todas as conexões físicas oferecem o mesmo nível de desempenho.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Objetivo de camada física </a:t>
            </a:r>
            <a:br>
              <a:rPr lang="en-US" dirty="0"/>
            </a:br>
            <a:r>
              <a:rPr lang="pt-BR" sz="2400"/>
              <a:t>A camada física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8"/>
            <a:ext cx="3401475" cy="3528045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Transporta bits através da mídia de rede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Ela aceita um quadro completo da camada de enlace de dados e o codifica como uma série de sinais que são transmitidos para o meio físico local.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Este é o último passo no processo de encapsulamento.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próximo dispositivo no caminho para o destino recebe os bits e reencapsula o quadro e decide o que fazer com ele.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3446" y="1008092"/>
            <a:ext cx="4699000" cy="276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825" y="237871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4.2 - Características da Camada Física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Características da camada física</a:t>
            </a:r>
            <a:br>
              <a:rPr lang="en-US" dirty="0"/>
            </a:br>
            <a:r>
              <a:rPr lang="pt-BR" sz="2400"/>
              <a:t>Protocolos de camada física </a:t>
            </a:r>
            <a:endParaRPr lang="pt-BR" sz="240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1969" y="836638"/>
            <a:ext cx="6576646" cy="3716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Características da camada física</a:t>
            </a:r>
            <a:br>
              <a:rPr lang="en-US" dirty="0"/>
            </a:br>
            <a:r>
              <a:rPr lang="pt-BR" sz="2400"/>
              <a:t>Protocolos de camada física 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Os padrões da camada física abordam três áreas funcionais: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Componentes Físicos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Codificação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Sinalização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Os componentes físicos são dispositivos de hardware eletrônicos, meios físicos e outros conectores que transmitem e transportam os sinais para representar os bits.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Os componentes de hardware, como NICs, interfaces e conectores, materiais de cabo e projetos de cabo são especificados nos padrões associados à camada física.</a:t>
            </a:r>
            <a:endParaRPr lang="pt-BR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Características da camada física</a:t>
            </a:r>
            <a:br>
              <a:rPr lang="en-US" dirty="0"/>
            </a:br>
            <a:r>
              <a:rPr lang="pt-BR" sz="2400"/>
              <a:t>Codificação</a:t>
            </a:r>
            <a:endParaRPr lang="pt-BR" sz="2400"/>
          </a:p>
        </p:txBody>
      </p:sp>
      <p:sp>
        <p:nvSpPr>
          <p:cNvPr id="8" name="TextBox 7"/>
          <p:cNvSpPr txBox="1"/>
          <p:nvPr/>
        </p:nvSpPr>
        <p:spPr>
          <a:xfrm>
            <a:off x="386862" y="1066800"/>
            <a:ext cx="365601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latin typeface="+mn-lt"/>
              </a:rPr>
              <a:t>Codificação converte o fluxo de bits em um formato reconhecível pelo próximo dispositivo no caminho de rede.</a:t>
            </a:r>
            <a:endParaRPr lang="pt-BR" sz="1600">
              <a:solidFill>
                <a:srgbClr val="000000"/>
              </a:solidFill>
              <a:latin typeface="+mn-l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latin typeface="+mn-lt"/>
              </a:rPr>
              <a:t>Esta 'codificação' fornece padrões previsíveis que podem ser reconhecidos pelo próximo dispositivo.</a:t>
            </a:r>
            <a:endParaRPr lang="pt-BR" sz="1600">
              <a:solidFill>
                <a:srgbClr val="000000"/>
              </a:solidFill>
              <a:latin typeface="+mn-l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latin typeface="+mn-lt"/>
              </a:rPr>
              <a:t>Exemplos de métodos de codificação incluem Manchester (mostrado na figura), 4B/5B e 8B/10B.</a:t>
            </a:r>
            <a:endParaRPr lang="pt-BR" sz="160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42875" y="970634"/>
            <a:ext cx="4660900" cy="34417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4572000" cy="731837"/>
          </a:xfrm>
        </p:spPr>
        <p:txBody>
          <a:bodyPr/>
          <a:lstStyle/>
          <a:p>
            <a:pPr rtl="0"/>
            <a:r>
              <a:rPr lang="pt-BR" sz="1600"/>
              <a:t>Características da camada física</a:t>
            </a:r>
            <a:br>
              <a:rPr lang="en-US" dirty="0"/>
            </a:br>
            <a:r>
              <a:rPr lang="pt-BR" sz="2400"/>
              <a:t>Sinalização</a:t>
            </a:r>
            <a:endParaRPr lang="pt-BR" sz="2400"/>
          </a:p>
        </p:txBody>
      </p:sp>
      <p:sp>
        <p:nvSpPr>
          <p:cNvPr id="8" name="TextBox 7"/>
          <p:cNvSpPr txBox="1"/>
          <p:nvPr/>
        </p:nvSpPr>
        <p:spPr>
          <a:xfrm>
            <a:off x="386862" y="1066800"/>
            <a:ext cx="4056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latin typeface="+mn-lt"/>
              </a:rPr>
              <a:t>O método de sinalização é como os valores de bit, “1” e “0” são representados no meio físico.</a:t>
            </a:r>
            <a:endParaRPr lang="pt-BR" sz="1600">
              <a:solidFill>
                <a:srgbClr val="000000"/>
              </a:solidFill>
              <a:latin typeface="+mn-lt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  <a:latin typeface="+mn-lt"/>
              </a:rPr>
              <a:t>O método de sinalização varia de acordo com o tipo de meio que está sendo usado.</a:t>
            </a:r>
            <a:endParaRPr lang="pt-BR" sz="160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8748" y="2847476"/>
            <a:ext cx="3072240" cy="1083409"/>
          </a:xfrm>
        </p:spPr>
      </p:pic>
      <p:sp>
        <p:nvSpPr>
          <p:cNvPr id="13" name="TextBox 12"/>
          <p:cNvSpPr txBox="1"/>
          <p:nvPr/>
        </p:nvSpPr>
        <p:spPr>
          <a:xfrm>
            <a:off x="856964" y="3930885"/>
            <a:ext cx="27158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200"/>
              <a:t>Sinais elétricos sobre cabo de cobre</a:t>
            </a:r>
            <a:endParaRPr lang="pt-BR" sz="12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700" y="131163"/>
            <a:ext cx="3575378" cy="97510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58354" y="1186674"/>
            <a:ext cx="26420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200"/>
              <a:t>Pulsos de luz sobre cabo de fibra óptica</a:t>
            </a:r>
            <a:endParaRPr lang="pt-BR" sz="120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344" y="1743204"/>
            <a:ext cx="3612070" cy="27191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78105" y="4380398"/>
            <a:ext cx="2470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200"/>
              <a:t>Sinais de Microondas através de Wireless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Características da camada física </a:t>
            </a:r>
            <a:r>
              <a:rPr lang="pt-BR" sz="1600"/>
              <a:t>Largura de banda</a:t>
            </a:r>
            <a:endParaRPr lang="pt-BR" sz="1600"/>
          </a:p>
        </p:txBody>
      </p:sp>
      <p:sp>
        <p:nvSpPr>
          <p:cNvPr id="5" name="TextBox 4"/>
          <p:cNvSpPr txBox="1"/>
          <p:nvPr/>
        </p:nvSpPr>
        <p:spPr>
          <a:xfrm>
            <a:off x="474662" y="890954"/>
            <a:ext cx="8094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Largura de banda é a capacidade na qual um meio pode transportar dados.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largura de banda digital mede a quantidade de dados que pode fluir de um lugar para outro em um determinado período de tempo; quantos bits podem ser transmitidos em um segundo.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Propiedades da mídia física, tecnologias atuais e as leis da física têm função importante na determinação da largura de banda disponível.</a:t>
            </a:r>
            <a:endParaRPr lang="pt-BR" sz="1600">
              <a:solidFill>
                <a:srgbClr val="000000"/>
              </a:solidFill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474662" y="2373510"/>
          <a:ext cx="82803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6138"/>
                <a:gridCol w="1312985"/>
                <a:gridCol w="4851276"/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Unidades de Largura de Banda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Sigla</a:t>
                      </a:r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/>
                        <a:t>Equivalência</a:t>
                      </a:r>
                      <a:endParaRPr lang="pt-BR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Bits por segundo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bps = unidade fundamental de largura de banda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Quilobits por segundo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Kbps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kb/s = 1.000 bps = 10</a:t>
                      </a:r>
                      <a:r>
                        <a:rPr lang="pt-BR" baseline="30000">
                          <a:solidFill>
                            <a:srgbClr val="000000"/>
                          </a:solidFill>
                        </a:rPr>
                        <a:t>3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Megabits por segundo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Mbps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Mbps = 1,000,000 bps = 10</a:t>
                      </a:r>
                      <a:r>
                        <a:rPr lang="pt-BR" baseline="30000">
                          <a:solidFill>
                            <a:srgbClr val="000000"/>
                          </a:solidFill>
                        </a:rPr>
                        <a:t>6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Gigabits por segundo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Gbps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Gbps – 1,000,000,000 bps = 10</a:t>
                      </a:r>
                      <a:r>
                        <a:rPr lang="pt-BR" baseline="30000">
                          <a:solidFill>
                            <a:srgbClr val="000000"/>
                          </a:solidFill>
                        </a:rPr>
                        <a:t>9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Terabits por segundo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Tbps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>
                          <a:solidFill>
                            <a:srgbClr val="000000"/>
                          </a:solidFill>
                        </a:rPr>
                        <a:t>1 Tbps = 1,000,000,000,000 bps = 10</a:t>
                      </a:r>
                      <a:r>
                        <a:rPr lang="pt-BR" baseline="30000">
                          <a:solidFill>
                            <a:srgbClr val="000000"/>
                          </a:solidFill>
                        </a:rPr>
                        <a:t>12</a:t>
                      </a:r>
                      <a:r>
                        <a:rPr lang="pt-BR">
                          <a:solidFill>
                            <a:srgbClr val="000000"/>
                          </a:solidFill>
                        </a:rPr>
                        <a:t> bps</a:t>
                      </a:r>
                      <a:endParaRPr lang="pt-BR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Características da camada física </a:t>
            </a:r>
            <a:br>
              <a:rPr lang="en-US" dirty="0"/>
            </a:br>
            <a:r>
              <a:rPr lang="pt-BR" sz="2400"/>
              <a:t>Terminologia de largura de banda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820615"/>
            <a:ext cx="8280057" cy="3601119"/>
          </a:xfrm>
        </p:spPr>
        <p:txBody>
          <a:bodyPr/>
          <a:lstStyle/>
          <a:p>
            <a:pPr marL="0" indent="0" algn="l" rtl="0"/>
            <a:r>
              <a:rPr lang="pt-BR">
                <a:solidFill>
                  <a:srgbClr val="000000"/>
                </a:solidFill>
              </a:rPr>
              <a:t>Latência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Quantidade de tempo, incluindo atrasos, para os dados viajarem de um ponto a outro</a:t>
            </a:r>
            <a:endParaRPr lang="pt-BR">
              <a:solidFill>
                <a:srgbClr val="000000"/>
              </a:solidFill>
            </a:endParaRP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Produtividade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medida da transferência de bits através do meio físico durante um determinado período</a:t>
            </a:r>
            <a:endParaRPr lang="pt-BR">
              <a:solidFill>
                <a:srgbClr val="000000"/>
              </a:solidFill>
            </a:endParaRPr>
          </a:p>
          <a:p>
            <a:pPr marL="0" indent="0" algn="l" rtl="0"/>
            <a:r>
              <a:rPr lang="pt-BR">
                <a:solidFill>
                  <a:srgbClr val="000000"/>
                </a:solidFill>
              </a:rPr>
              <a:t>Goodput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medida de dados úteis transferidos em um determinado período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Goodput = Throughput - sobrecarga de tráfego</a:t>
            </a:r>
            <a:endParaRPr lang="pt-BR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02311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4.3 - Cabeamento de Cobre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cobre </a:t>
            </a:r>
            <a:br>
              <a:rPr lang="en-US" dirty="0"/>
            </a:br>
            <a:r>
              <a:rPr lang="pt-BR" sz="2400"/>
              <a:t>Características dos meios físicos em cobre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O cabeamento de cobre é o tipo mais comum de cabeamento usado nas redes hoje em dia. É barato, fácil de instalar e tem baixa resistência ao fluxo de corrente elétrica.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Limitações: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Atenuação — quanto mais tempo os sinais elétricos têm que viajar, mais fracos ficam. 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O sinal elétrico é suscetível a interferência de duas fontes, que podem distorcer e corromper os sinais de dados (Interferência Electromagnética (EMI) e Interferência de RFI (RFI) e Crosstalk).</a:t>
            </a:r>
            <a:endParaRPr lang="pt-BR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Mitigação: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 adesão estrita aos limites de comprimento do cabo atenuará a atenuação.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Alguns tipos de cabos de cobre atenuam EMI e RFI usando blindagem metálica e aterramento.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Alguns tipos de cabo de cobre atenuam o cruzamento, torcendo os fios do par de circuitos opostos juntos.</a:t>
            </a:r>
            <a:endParaRPr lang="pt-BR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cobre </a:t>
            </a:r>
            <a:br>
              <a:rPr lang="en-US" dirty="0"/>
            </a:br>
            <a:r>
              <a:rPr lang="pt-BR" sz="2400"/>
              <a:t>Tipos de cabeamento de cobre</a:t>
            </a:r>
            <a:endParaRPr lang="pt-BR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078" y="647504"/>
            <a:ext cx="5404014" cy="39638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Cobre </a:t>
            </a:r>
            <a:br>
              <a:rPr lang="en-US" dirty="0"/>
            </a:br>
            <a:r>
              <a:rPr lang="pt-BR" sz="2400"/>
              <a:t>Par trançado não blindado (UTP)</a:t>
            </a:r>
            <a:endParaRPr lang="pt-BR" sz="2400"/>
          </a:p>
        </p:txBody>
      </p:sp>
      <p:sp>
        <p:nvSpPr>
          <p:cNvPr id="8" name="TextBox 7"/>
          <p:cNvSpPr txBox="1"/>
          <p:nvPr/>
        </p:nvSpPr>
        <p:spPr>
          <a:xfrm>
            <a:off x="4887179" y="731837"/>
            <a:ext cx="39402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cabeamento UTP é o meio físico de rede mais comum.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 terminação de conectores RJ-45.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Interconecta hosts com dispositivos de rede intermediários.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rtl="0"/>
            <a:r>
              <a:rPr lang="pt-BR" sz="1600">
                <a:solidFill>
                  <a:srgbClr val="000000"/>
                </a:solidFill>
              </a:rPr>
              <a:t>Principais características do UTP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600">
                <a:solidFill>
                  <a:srgbClr val="000000"/>
                </a:solidFill>
              </a:rPr>
              <a:t>A capa externa protege os fios de cobre contra danos físicos.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600">
                <a:solidFill>
                  <a:srgbClr val="000000"/>
                </a:solidFill>
              </a:rPr>
              <a:t>Os pares trançados protegem o sinal contra interferências.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600">
                <a:solidFill>
                  <a:srgbClr val="000000"/>
                </a:solidFill>
              </a:rPr>
              <a:t>O isolamento plástico com código de cores isola eletricamente os fios um do outro e identifica cada par.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1583715"/>
            <a:ext cx="4648200" cy="22733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cobre </a:t>
            </a:r>
            <a:br>
              <a:rPr lang="en-US" dirty="0"/>
            </a:br>
            <a:r>
              <a:rPr lang="pt-BR" sz="2400"/>
              <a:t>Cabo de par trançado blindado (STP)</a:t>
            </a:r>
            <a:endParaRPr lang="pt-BR" sz="2400"/>
          </a:p>
        </p:txBody>
      </p:sp>
      <p:sp>
        <p:nvSpPr>
          <p:cNvPr id="8" name="TextBox 7"/>
          <p:cNvSpPr txBox="1"/>
          <p:nvPr/>
        </p:nvSpPr>
        <p:spPr>
          <a:xfrm>
            <a:off x="5004411" y="309592"/>
            <a:ext cx="39402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Melhor proteção contra ruídos que o UTP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Mais caro do que UTP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Mais difícil de instalar do que UTP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 terminação de conectores RJ-45.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Interconecta hosts com dispositivos de rede intermediários.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rtl="0"/>
            <a:r>
              <a:rPr lang="pt-BR" sz="1600">
                <a:solidFill>
                  <a:srgbClr val="000000"/>
                </a:solidFill>
              </a:rPr>
              <a:t>Principais Características do STP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600">
                <a:solidFill>
                  <a:srgbClr val="000000"/>
                </a:solidFill>
              </a:rPr>
              <a:t>A capa externa protege os fios de cobre contra danos físicos.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600">
                <a:solidFill>
                  <a:srgbClr val="000000"/>
                </a:solidFill>
              </a:rPr>
              <a:t>O escudo trançado ou folha fornece proteção EMI/RFI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600">
                <a:solidFill>
                  <a:srgbClr val="000000"/>
                </a:solidFill>
              </a:rPr>
              <a:t>O escudo de folha para cada par de fios fornece proteção EMI/RFI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600">
                <a:solidFill>
                  <a:srgbClr val="000000"/>
                </a:solidFill>
              </a:rPr>
              <a:t>O isolamento plástico com código de cores isola eletricamente os fios um do outro e identifica cada par.</a:t>
            </a:r>
            <a:endParaRPr lang="pt-BR" sz="1600">
              <a:solidFill>
                <a:srgbClr val="000000"/>
              </a:solidFill>
            </a:endParaRPr>
          </a:p>
          <a:p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9533" y="1661869"/>
            <a:ext cx="4394200" cy="2070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cobre </a:t>
            </a:r>
            <a:br>
              <a:rPr lang="en-US" dirty="0"/>
            </a:br>
            <a:r>
              <a:rPr lang="pt-BR" sz="2400"/>
              <a:t>Cabo coaxial</a:t>
            </a:r>
            <a:endParaRPr lang="pt-BR" sz="2400"/>
          </a:p>
        </p:txBody>
      </p:sp>
      <p:sp>
        <p:nvSpPr>
          <p:cNvPr id="7" name="TextBox 6"/>
          <p:cNvSpPr txBox="1"/>
          <p:nvPr/>
        </p:nvSpPr>
        <p:spPr>
          <a:xfrm>
            <a:off x="241359" y="731837"/>
            <a:ext cx="46417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Consiste do seguinte: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Revestimento de cabo externo para evitar danos físicos menores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Uma trança de cobre tecida, ou folha metálica, atua como o segundo fio no circuito e como uma blindagem para o condutor interno.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Uma camada de isolamento plástico flexível</a:t>
            </a:r>
            <a:endParaRPr lang="pt-BR" sz="1400">
              <a:solidFill>
                <a:srgbClr val="000000"/>
              </a:solidFill>
            </a:endParaRPr>
          </a:p>
          <a:p>
            <a:pPr marL="342900" indent="-342900" rtl="0">
              <a:buFont typeface="+mj-lt"/>
              <a:buAutoNum type="arabicPeriod"/>
            </a:pPr>
            <a:r>
              <a:rPr lang="pt-BR" sz="1400">
                <a:solidFill>
                  <a:srgbClr val="000000"/>
                </a:solidFill>
              </a:rPr>
              <a:t>Um condutor de cobre é usado para transmitir os sinais eletrônicos.</a:t>
            </a:r>
            <a:endParaRPr lang="pt-BR" sz="140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pPr rtl="0"/>
            <a:r>
              <a:rPr lang="pt-BR" sz="1400">
                <a:solidFill>
                  <a:srgbClr val="000000"/>
                </a:solidFill>
              </a:rPr>
              <a:t>Há tipos diferentes de conectores utilizados com o cabo coax.</a:t>
            </a:r>
            <a:endParaRPr lang="pt-BR" sz="140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  <a:p>
            <a:pPr rtl="0"/>
            <a:r>
              <a:rPr lang="pt-BR" sz="1400">
                <a:solidFill>
                  <a:srgbClr val="000000"/>
                </a:solidFill>
              </a:rPr>
              <a:t>Comumente usado nas seguintes situações: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Instalações sem fio</a:t>
            </a:r>
            <a:r>
              <a:rPr lang="pt-BR" sz="1400" b="1">
                <a:solidFill>
                  <a:srgbClr val="000000"/>
                </a:solidFill>
              </a:rPr>
              <a:t>-</a:t>
            </a:r>
            <a:r>
              <a:rPr lang="pt-BR" sz="1400">
                <a:solidFill>
                  <a:srgbClr val="000000"/>
                </a:solidFill>
              </a:rPr>
              <a:t> cabos coaxiais ligam antenas a dispositivos sem fio.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Instalações de internet a cabo </a:t>
            </a:r>
            <a:r>
              <a:rPr lang="pt-BR" sz="1400" b="1">
                <a:solidFill>
                  <a:srgbClr val="000000"/>
                </a:solidFill>
              </a:rPr>
              <a:t>-</a:t>
            </a:r>
            <a:r>
              <a:rPr lang="pt-BR" sz="1400">
                <a:solidFill>
                  <a:srgbClr val="000000"/>
                </a:solidFill>
              </a:rPr>
              <a:t> instalações do cliente fiação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96600" y="875488"/>
            <a:ext cx="3831613" cy="1176372"/>
          </a:xfr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565" y="2327486"/>
            <a:ext cx="4028648" cy="18580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0040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4.4 - Cabeamento UTP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UTP </a:t>
            </a:r>
            <a:br>
              <a:rPr lang="en-US" dirty="0"/>
            </a:br>
            <a:r>
              <a:rPr lang="pt-BR" sz="2400"/>
              <a:t>Propriedades de cabeamento UTP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1971" y="902311"/>
            <a:ext cx="5203285" cy="3505566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O UTP possui quatro pares de fios de cobre com código de cores torcidos juntos e envoltos em uma bainha de plástico flexível. Nenhuma blindagem é usada. UTP depende das seguintes propriedades para limitar o cruzamento:</a:t>
            </a:r>
            <a:endParaRPr lang="pt-BR" sz="18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Cancelamento - Cada fio em um par de fios usa polaridade oposta. Um fio é negativo, o outro é positivo. Eles são torcidos juntos e os campos magnéticos efetivamente cancelam uns aos outros e fora EMI/RFI.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Variação de torções por pé em cada fio - Cada fio é torcido uma quantidade diferente, o que ajuda a evitar cruzamentos entre os fios no cabo.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5256" y="1518154"/>
            <a:ext cx="3387588" cy="18539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5977851" cy="731837"/>
          </a:xfrm>
        </p:spPr>
        <p:txBody>
          <a:bodyPr/>
          <a:lstStyle/>
          <a:p>
            <a:pPr rtl="0"/>
            <a:r>
              <a:rPr lang="pt-BR" sz="1600"/>
              <a:t>Cabeamento UTP </a:t>
            </a:r>
            <a:br>
              <a:rPr lang="en-US" dirty="0"/>
            </a:br>
            <a:r>
              <a:rPr lang="pt-BR" sz="2400"/>
              <a:t>Padrões e conectores de cabeamento UTP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07391" y="731838"/>
            <a:ext cx="5770460" cy="3676040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As normas para UTP são estabelecidas pelo TIA/EIA. TIA/EIA-568 padroniza elementos como: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Tipos de cabo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Comprimentos de cabo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Conectores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Terminação de cabo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Métodos de ensaio</a:t>
            </a:r>
            <a:endParaRPr lang="pt-BR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600">
                <a:solidFill>
                  <a:srgbClr val="000000"/>
                </a:solidFill>
              </a:rPr>
              <a:t>Os padrões elétricos para cabeamento de cobre são estabelecidos pelo IEEE, que classifica o cabo de acordo com seu desempenho. Por exemplo:</a:t>
            </a:r>
            <a:endParaRPr lang="pt-BR" sz="1600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Categoria 3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Categorias 5 e 5e</a:t>
            </a:r>
            <a:endParaRPr lang="pt-BR">
              <a:solidFill>
                <a:srgbClr val="000000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0000"/>
                </a:solidFill>
              </a:rPr>
              <a:t>Categoria 6</a:t>
            </a:r>
            <a:endParaRPr lang="pt-BR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7851" y="365918"/>
            <a:ext cx="2797934" cy="4306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UTP </a:t>
            </a:r>
            <a:br>
              <a:rPr lang="en-US" dirty="0"/>
            </a:br>
            <a:r>
              <a:rPr lang="pt-BR" sz="2400"/>
              <a:t>Padrões e conectores de cabeamento UTP</a:t>
            </a:r>
            <a:endParaRPr lang="pt-BR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322" y="731837"/>
            <a:ext cx="1152743" cy="174137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26" y="939092"/>
            <a:ext cx="1503672" cy="125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83300" y="2282255"/>
            <a:ext cx="1537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/>
              <a:t>Conector RJ-45</a:t>
            </a:r>
            <a:endParaRPr lang="pt-BR" sz="14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41" y="2983229"/>
            <a:ext cx="951656" cy="12577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693" y="2983229"/>
            <a:ext cx="1413464" cy="125774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38831" y="4326392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/>
              <a:t>Soquete RJ-45</a:t>
            </a:r>
            <a:endParaRPr lang="pt-BR" sz="14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233" y="882948"/>
            <a:ext cx="2571445" cy="1370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91233" y="2250202"/>
            <a:ext cx="2470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/>
              <a:t>Cabo UTP mal terminado</a:t>
            </a:r>
            <a:endParaRPr lang="pt-BR" sz="140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009" y="2659010"/>
            <a:ext cx="2477950" cy="134783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91232" y="4006849"/>
            <a:ext cx="26692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/>
              <a:t>Cabo UTP devidamente encerrado</a:t>
            </a:r>
            <a:endParaRPr lang="pt-BR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8506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UTP de</a:t>
            </a:r>
            <a:r>
              <a:rPr lang="pt-BR" sz="2400"/>
              <a:t>cabos UTPdireto e cruzado </a:t>
            </a:r>
            <a:endParaRPr lang="pt-BR" sz="24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3590" y="877403"/>
            <a:ext cx="3742125" cy="181324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9088" y="2751151"/>
          <a:ext cx="7576401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986"/>
                <a:gridCol w="2413591"/>
                <a:gridCol w="2837824"/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200"/>
                        <a:t>Tipo do Cabo</a:t>
                      </a:r>
                      <a:endParaRPr lang="pt-B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/>
                        <a:t>Padrão</a:t>
                      </a:r>
                      <a:endParaRPr lang="pt-BR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/>
                        <a:t>Aplicação</a:t>
                      </a:r>
                      <a:endParaRPr lang="pt-BR" sz="12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Ethernet Direto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Ambas as extremidades T568A ou T568B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Host para dispositivo de rede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Ethernet Cruzado*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Uma extremidade é T568A, outra é T568B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Host para host, switch para switch, roteador para roteador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  <a:tr h="122239">
                <a:tc gridSpan="3"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* Considerado legado devido à maioria das NICs usando o Auto-MDIX para detectar o tipo de cabo e a conexão completa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Rollover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Propriedade da Cisco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200">
                          <a:solidFill>
                            <a:srgbClr val="000000"/>
                          </a:solidFill>
                        </a:rPr>
                        <a:t>Porta serial do host para Roteador ou Porta do Console do Switch, usando um adaptador</a:t>
                      </a:r>
                      <a:endParaRPr lang="pt-BR" sz="12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32791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4.5 - Cabeamento de Fibra Óptica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Fibra óprica </a:t>
            </a:r>
            <a:br>
              <a:rPr lang="en-US" dirty="0"/>
            </a:br>
            <a:r>
              <a:rPr lang="pt-BR" sz="2400"/>
              <a:t>Propriedades do Cabeamento de Fibra Óptica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1971" y="902311"/>
            <a:ext cx="7755099" cy="350556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Não tão comum como UTP por causa da despesa envolvida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Ideal para alguns cenários de rede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Transmite dados por distâncias maiores com largura de banda maior do que qualquer outra mídia de rede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Menos suscetíveis à atenuação e completamente imunes ao EMI/RFI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Feito de fios flexíveis e extremamente finos de vidro muito puro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Usa um laser ou LED para codificar bits como pulsos de luz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cabo de fibra óptica atua como um guia de ondas para transmitir luz entre as duas extremidades com perda mínima de sinal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-9427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fibra óptica </a:t>
            </a:r>
            <a:br>
              <a:rPr lang="en-US" dirty="0"/>
            </a:br>
            <a:r>
              <a:rPr lang="pt-BR" sz="2400"/>
              <a:t>Tipos de meio físico de fibra</a:t>
            </a:r>
            <a:endParaRPr lang="pt-BR" sz="2400"/>
          </a:p>
        </p:txBody>
      </p:sp>
      <p:sp>
        <p:nvSpPr>
          <p:cNvPr id="10" name="TextBox 9"/>
          <p:cNvSpPr txBox="1"/>
          <p:nvPr/>
        </p:nvSpPr>
        <p:spPr>
          <a:xfrm>
            <a:off x="1223992" y="776263"/>
            <a:ext cx="18582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600"/>
              <a:t>Fibra de modo único</a:t>
            </a:r>
            <a:endParaRPr lang="pt-BR" sz="1600"/>
          </a:p>
        </p:txBody>
      </p:sp>
      <p:sp>
        <p:nvSpPr>
          <p:cNvPr id="12" name="TextBox 11"/>
          <p:cNvSpPr txBox="1"/>
          <p:nvPr/>
        </p:nvSpPr>
        <p:spPr>
          <a:xfrm>
            <a:off x="856904" y="3044268"/>
            <a:ext cx="259237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Núcleo muito pequeno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Usa lasers caros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Aplicações de longa distância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037" y="1159244"/>
            <a:ext cx="3498112" cy="18269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76150" y="776263"/>
            <a:ext cx="16546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600"/>
              <a:t>Fibra Multimodo</a:t>
            </a:r>
            <a:endParaRPr lang="pt-BR" sz="1600"/>
          </a:p>
        </p:txBody>
      </p:sp>
      <p:sp>
        <p:nvSpPr>
          <p:cNvPr id="13" name="TextBox 12"/>
          <p:cNvSpPr txBox="1"/>
          <p:nvPr/>
        </p:nvSpPr>
        <p:spPr>
          <a:xfrm>
            <a:off x="5496243" y="2941486"/>
            <a:ext cx="30668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Núcleo maior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Usa LEDs menos dispendiosos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Os LEDs transmitem em ângulos diferentes</a:t>
            </a:r>
            <a:endParaRPr lang="pt-BR" sz="1400">
              <a:solidFill>
                <a:srgbClr val="000000"/>
              </a:solidFill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Até 10 Gbps a mais de 550 metros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404" y="1159244"/>
            <a:ext cx="3498112" cy="18226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5618" y="4025477"/>
            <a:ext cx="81927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O termo dispersão se refere ao espalhamento do pulso de luz com o tempo. Maior dispersão significa aumento da perda de força do sinal. MMF tem maior dispersão do que SMF, com uma distância máxima do cabo para MMF é de 550 metros.</a:t>
            </a:r>
            <a:endParaRPr lang="pt-BR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fibra óptica</a:t>
            </a:r>
            <a:br>
              <a:rPr lang="en-US" dirty="0"/>
            </a:br>
            <a:r>
              <a:rPr lang="pt-BR" sz="2400"/>
              <a:t>Uso de cabeamento de fibra óptica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933119"/>
            <a:ext cx="8280057" cy="3073946"/>
          </a:xfrm>
        </p:spPr>
        <p:txBody>
          <a:bodyPr/>
          <a:lstStyle/>
          <a:p>
            <a:pPr algn="l" rtl="0"/>
            <a:r>
              <a:rPr lang="pt-BR" sz="1600">
                <a:solidFill>
                  <a:srgbClr val="000000"/>
                </a:solidFill>
              </a:rPr>
              <a:t>Agora, o cabeamento de fibra óptica é usado em quatro setores:</a:t>
            </a:r>
            <a:endParaRPr lang="pt-BR" sz="160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 rtl="0">
              <a:buFont typeface="+mj-lt"/>
              <a:buAutoNum type="arabicPeriod"/>
            </a:pPr>
            <a:r>
              <a:rPr lang="pt-BR" sz="1600" b="1">
                <a:solidFill>
                  <a:srgbClr val="000000"/>
                </a:solidFill>
              </a:rPr>
              <a:t>Redes corporativas -</a:t>
            </a:r>
            <a:r>
              <a:rPr lang="pt-BR" sz="1600">
                <a:solidFill>
                  <a:srgbClr val="000000"/>
                </a:solidFill>
              </a:rPr>
              <a:t> usadas para aplicativos de cabeamento de backbone e dispositivos de infraestrutura de interconexão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+mj-lt"/>
              <a:buAutoNum type="arabicPeriod"/>
            </a:pPr>
            <a:r>
              <a:rPr lang="pt-BR" sz="1600" b="1">
                <a:solidFill>
                  <a:srgbClr val="000000"/>
                </a:solidFill>
              </a:rPr>
              <a:t>Fiber-to-the-Home (FTTH)</a:t>
            </a:r>
            <a:r>
              <a:rPr lang="pt-BR" sz="1600">
                <a:solidFill>
                  <a:srgbClr val="000000"/>
                </a:solidFill>
              </a:rPr>
              <a:t>: usado para fornecer serviços de banda larga sempre ativos para casas e pequenas empresas.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+mj-lt"/>
              <a:buAutoNum type="arabicPeriod"/>
            </a:pPr>
            <a:r>
              <a:rPr lang="pt-BR" sz="1600" b="1">
                <a:solidFill>
                  <a:srgbClr val="000000"/>
                </a:solidFill>
              </a:rPr>
              <a:t>Redes de longo curso -</a:t>
            </a:r>
            <a:r>
              <a:rPr lang="pt-BR" sz="1600">
                <a:solidFill>
                  <a:srgbClr val="000000"/>
                </a:solidFill>
              </a:rPr>
              <a:t> Utilizadas por provedores de serviços para conectar países e cidades</a:t>
            </a:r>
            <a:endParaRPr lang="pt-BR" sz="1600">
              <a:solidFill>
                <a:srgbClr val="000000"/>
              </a:solidFill>
            </a:endParaRPr>
          </a:p>
          <a:p>
            <a:pPr marL="342900" indent="-342900" algn="l" rtl="0">
              <a:buFont typeface="+mj-lt"/>
              <a:buAutoNum type="arabicPeriod"/>
            </a:pPr>
            <a:r>
              <a:rPr lang="pt-BR" sz="1600" b="1">
                <a:solidFill>
                  <a:srgbClr val="000000"/>
                </a:solidFill>
              </a:rPr>
              <a:t>Redes de cabos submarinos -</a:t>
            </a:r>
            <a:r>
              <a:rPr lang="pt-BR" sz="1600">
                <a:solidFill>
                  <a:srgbClr val="000000"/>
                </a:solidFill>
              </a:rPr>
              <a:t> Utilizadas para fornecer soluções confiáveis de alta velocidade e alta capacidade, capazes de sobreviver em ambientes submarinos adversos até distâncias transoceânicas.</a:t>
            </a:r>
            <a:r>
              <a:rPr lang="pt-BR" sz="1600" b="1">
                <a:solidFill>
                  <a:srgbClr val="000000"/>
                </a:solidFill>
              </a:rPr>
              <a:t> </a:t>
            </a:r>
            <a:endParaRPr lang="pt-BR" sz="1600" b="1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 rtl="0"/>
            <a:r>
              <a:rPr lang="pt-BR" sz="1600">
                <a:solidFill>
                  <a:srgbClr val="000000"/>
                </a:solidFill>
              </a:rPr>
              <a:t>Nosso foco neste curso é o uso de fibra dentro da empresa.</a:t>
            </a:r>
            <a:endParaRPr lang="pt-BR" sz="1600">
              <a:solidFill>
                <a:srgbClr val="000000"/>
              </a:solidFill>
            </a:endParaRPr>
          </a:p>
          <a:p>
            <a:pPr algn="l"/>
            <a:endParaRPr 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fibra óptica </a:t>
            </a:r>
            <a:br>
              <a:rPr lang="en-US" dirty="0"/>
            </a:br>
            <a:r>
              <a:rPr lang="pt-BR" sz="2400"/>
              <a:t>Conectores de fibra óptica</a:t>
            </a:r>
            <a:endParaRPr lang="pt-BR" sz="240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959161"/>
            <a:ext cx="2499094" cy="11582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6086" y="2134142"/>
            <a:ext cx="24654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Conectores de Ponta Reta (Straight-Tip - ST)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766454"/>
            <a:ext cx="1923902" cy="15593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546" y="4401210"/>
            <a:ext cx="3299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Conectores SC (Conectores de Assinante)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119" y="920750"/>
            <a:ext cx="3303761" cy="111981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61423" y="2040564"/>
            <a:ext cx="3647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Conectores Lucent (LC) Simplex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677" y="2766454"/>
            <a:ext cx="3303876" cy="16347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74774" y="4367121"/>
            <a:ext cx="2861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Conectores LC duplex, multimodo</a:t>
            </a:r>
            <a:endParaRPr lang="pt-BR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Cabo de remendo de</a:t>
            </a:r>
            <a:br>
              <a:rPr lang="en-US" dirty="0"/>
            </a:br>
            <a:r>
              <a:rPr lang="pt-BR" sz="1600"/>
              <a:t>fibra</a:t>
            </a:r>
            <a:r>
              <a:rPr lang="pt-BR" sz="2400"/>
              <a:t>óptica de cabeamento</a:t>
            </a:r>
            <a:endParaRPr lang="pt-BR" sz="2400"/>
          </a:p>
        </p:txBody>
      </p:sp>
      <p:sp>
        <p:nvSpPr>
          <p:cNvPr id="18" name="TextBox 17"/>
          <p:cNvSpPr txBox="1"/>
          <p:nvPr/>
        </p:nvSpPr>
        <p:spPr>
          <a:xfrm>
            <a:off x="294919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Cabo multimodo SC-SC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822" y="993211"/>
            <a:ext cx="2261511" cy="22703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14243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Cabo de remendo LC-LC SM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507" y="1135923"/>
            <a:ext cx="2182453" cy="17425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984" y="1034720"/>
            <a:ext cx="2096505" cy="20496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33567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Cabo multimodo SC-SC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100" y="1143007"/>
            <a:ext cx="2124689" cy="19413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88954" y="3351215"/>
            <a:ext cx="2022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>
                <a:solidFill>
                  <a:srgbClr val="000000"/>
                </a:solidFill>
              </a:rPr>
              <a:t>Cabo de remendo ST-SC SM</a:t>
            </a:r>
            <a:endParaRPr lang="pt-BR" sz="1400">
              <a:solidFill>
                <a:srgbClr val="0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94919" y="4029194"/>
            <a:ext cx="859478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pt-BR" sz="1600">
                <a:solidFill>
                  <a:srgbClr val="000000"/>
                </a:solidFill>
                <a:latin typeface="+mn-lt"/>
              </a:rPr>
              <a:t>A cor amarela indica cabos de fibra monomodo e o laranja é para cabos de fibra multimod</a:t>
            </a:r>
            <a:r>
              <a:rPr lang="pt-BR" sz="1400">
                <a:solidFill>
                  <a:srgbClr val="000000"/>
                </a:solidFill>
                <a:latin typeface="+mn-lt"/>
              </a:rPr>
              <a:t>o.</a:t>
            </a:r>
            <a:endParaRPr lang="pt-BR" sz="140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Cabeamento de fibra ótica </a:t>
            </a:r>
            <a:br>
              <a:rPr lang="en-US" dirty="0"/>
            </a:br>
            <a:r>
              <a:rPr lang="pt-BR" sz="2400"/>
              <a:t>Fibra versus cobre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31971" y="802894"/>
            <a:ext cx="8280057" cy="731837"/>
          </a:xfrm>
        </p:spPr>
        <p:txBody>
          <a:bodyPr/>
          <a:lstStyle/>
          <a:p>
            <a:pPr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A fibra óptica é usada principalmente como cabeamento de backbone para alto tráfego, ponto a ponto</a:t>
            </a:r>
            <a:endParaRPr lang="pt-BR" sz="1600">
              <a:solidFill>
                <a:srgbClr val="000000"/>
              </a:solidFill>
            </a:endParaRPr>
          </a:p>
          <a:p>
            <a:pPr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ligações entre instalações de distribuição de dados e para a interligação de edifícios</a:t>
            </a:r>
            <a:endParaRPr lang="pt-BR" sz="1600">
              <a:solidFill>
                <a:srgbClr val="000000"/>
              </a:solidFill>
            </a:endParaRPr>
          </a:p>
          <a:p>
            <a:pPr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em campus multi-construção.</a:t>
            </a:r>
            <a:endParaRPr lang="pt-BR" sz="160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4662" y="1665079"/>
          <a:ext cx="8280057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808"/>
                <a:gridCol w="2706129"/>
                <a:gridCol w="3008120"/>
              </a:tblGrid>
              <a:tr h="37084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b="1">
                          <a:effectLst/>
                        </a:rPr>
                        <a:t>Problemas de Implementação</a:t>
                      </a:r>
                      <a:endParaRPr lang="pt-BR" b="1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b="1">
                          <a:effectLst/>
                        </a:rPr>
                        <a:t>Cabeamento UTP</a:t>
                      </a:r>
                      <a:endParaRPr lang="pt-BR" b="1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b="1">
                          <a:effectLst/>
                        </a:rPr>
                        <a:t>Cabeamento de fibra óptica</a:t>
                      </a:r>
                      <a:endParaRPr lang="pt-BR" b="1"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Largura de banda suportada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10 Mb/s - 10 Gb/s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10 Mb/s - 100 Gb/s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Distância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Relativamente curto (1 a 100 metros)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Relativamente longo (1 - 100.000 metros)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Imunidade a interferência eletromagnética e de frequências de rádio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Baixa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Alto (totalmente imune)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Imunidade a perigos elétricos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Baixa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Alto (totalmente imune)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Custos da mídia e dos conectores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Menor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Mais alta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Habilidades necessárias para a instalação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Menor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Mais alta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  <a:tr h="370840"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Precauções de segurança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Menor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rtl="0" fontAlgn="ctr"/>
                      <a:r>
                        <a:rPr lang="pt-BR" b="0">
                          <a:solidFill>
                            <a:srgbClr val="000000"/>
                          </a:solidFill>
                          <a:effectLst/>
                        </a:rPr>
                        <a:t>Mais alta</a:t>
                      </a:r>
                      <a:endParaRPr lang="pt-BR" b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7625" marR="47625" marT="47625" marB="47625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212471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4.6 - Mídia Sem-Fio (Wi-Fi)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Meio físico sem fio </a:t>
            </a:r>
            <a:br>
              <a:rPr lang="en-US" dirty="0"/>
            </a:br>
            <a:r>
              <a:rPr lang="pt-BR" sz="2400"/>
              <a:t>Propriedades do meio físico sem fio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662" y="731837"/>
            <a:ext cx="8280057" cy="3934431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Ele carrega sinais eletromagnéticos que representam dígitos binários usando frequências de rádio ou microondas. Isso fornece a melhor opção de mobilidade. Os números de conexão sem fio continuam aumentando.</a:t>
            </a:r>
            <a:endParaRPr lang="pt-BR" sz="1800">
              <a:solidFill>
                <a:srgbClr val="000000"/>
              </a:solidFill>
            </a:endParaRP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Algumas das limitações do wireless:</a:t>
            </a:r>
            <a:endParaRPr lang="pt-BR" sz="1800">
              <a:solidFill>
                <a:srgbClr val="000000"/>
              </a:solidFill>
            </a:endParaRPr>
          </a:p>
          <a:p>
            <a:pPr marL="358775" lvl="1" indent="-28575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Área de cobertura</a:t>
            </a:r>
            <a:r>
              <a:rPr lang="pt-BR" sz="1600">
                <a:solidFill>
                  <a:srgbClr val="000000"/>
                </a:solidFill>
              </a:rPr>
              <a:t> - A cobertura efetiva pode ser significativamente afetada pelas características físicas do local de implantação. </a:t>
            </a:r>
            <a:endParaRPr lang="pt-BR" sz="1600">
              <a:solidFill>
                <a:srgbClr val="000000"/>
              </a:solidFill>
            </a:endParaRPr>
          </a:p>
          <a:p>
            <a:pPr marL="358775" lvl="1" indent="-28575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Interferência</a:t>
            </a:r>
            <a:r>
              <a:rPr lang="pt-BR" sz="1600">
                <a:solidFill>
                  <a:srgbClr val="000000"/>
                </a:solidFill>
              </a:rPr>
              <a:t> - O wireless é suscetível a interferência e pode ser interrompido por muitos dispositivos comuns. </a:t>
            </a:r>
            <a:endParaRPr lang="pt-BR" sz="1600">
              <a:solidFill>
                <a:srgbClr val="000000"/>
              </a:solidFill>
            </a:endParaRPr>
          </a:p>
          <a:p>
            <a:pPr marL="358775" lvl="1" indent="-28575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Segurança</a:t>
            </a:r>
            <a:r>
              <a:rPr lang="pt-BR" sz="1600">
                <a:solidFill>
                  <a:srgbClr val="000000"/>
                </a:solidFill>
              </a:rPr>
              <a:t> - A cobertura de comunicação sem fio não requer acesso a uma parte física da mídia.</a:t>
            </a:r>
            <a:endParaRPr lang="pt-BR" sz="1600">
              <a:solidFill>
                <a:srgbClr val="000000"/>
              </a:solidFill>
            </a:endParaRPr>
          </a:p>
          <a:p>
            <a:pPr marL="358775" lvl="1" indent="-285750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rgbClr val="000000"/>
                </a:solidFill>
              </a:rPr>
              <a:t>As WLANs médias compartilhadas</a:t>
            </a:r>
            <a:r>
              <a:rPr lang="pt-BR" sz="1600">
                <a:solidFill>
                  <a:srgbClr val="000000"/>
                </a:solidFill>
              </a:rPr>
              <a:t> operam em half-duplex, o que significa que apenas um dispositivo pode enviar ou receber por vez. Muitos usuários acessando a WLAN simultaneamente resultam em largura de banda reduzida para cada usuário.</a:t>
            </a:r>
            <a:endParaRPr lang="pt-BR" sz="16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Meio físico sem fio </a:t>
            </a:r>
            <a:br>
              <a:rPr lang="en-US" dirty="0"/>
            </a:br>
            <a:r>
              <a:rPr lang="pt-BR" sz="2400"/>
              <a:t>Tipos de meio físico sem fio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74662" y="656423"/>
            <a:ext cx="8424241" cy="4094687"/>
          </a:xfrm>
        </p:spPr>
        <p:txBody>
          <a:bodyPr/>
          <a:lstStyle/>
          <a:p>
            <a:pPr marL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Os padrões do IEEE e do setor de telecomunicações para comunicação de dados sem fio</a:t>
            </a:r>
            <a:endParaRPr lang="pt-BR" sz="1600">
              <a:solidFill>
                <a:srgbClr val="000000"/>
              </a:solidFill>
            </a:endParaRPr>
          </a:p>
          <a:p>
            <a:pPr marL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cobrem tanto o link de dados quanto as camadas físicas. Em cada um desses padrões, camada física</a:t>
            </a:r>
            <a:endParaRPr lang="pt-BR" sz="1600">
              <a:solidFill>
                <a:srgbClr val="000000"/>
              </a:solidFill>
            </a:endParaRPr>
          </a:p>
          <a:p>
            <a:pPr marL="0" algn="l" rtl="0">
              <a:spcBef>
                <a:spcPts val="0"/>
              </a:spcBef>
            </a:pPr>
            <a:r>
              <a:rPr lang="pt-BR" sz="1600">
                <a:solidFill>
                  <a:srgbClr val="000000"/>
                </a:solidFill>
              </a:rPr>
              <a:t>especificações ditam: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Métodos de codificação de dados para sinais de rádio</a:t>
            </a:r>
            <a:endParaRPr lang="pt-BR" sz="15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Frequência e potência de transmissão</a:t>
            </a:r>
            <a:endParaRPr lang="pt-BR" sz="15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Requisitos de recepção e decodificação de sinal</a:t>
            </a:r>
            <a:endParaRPr lang="pt-BR" sz="15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>
                <a:solidFill>
                  <a:srgbClr val="000000"/>
                </a:solidFill>
              </a:rPr>
              <a:t>Projeto e construção de antenas</a:t>
            </a:r>
            <a:endParaRPr lang="pt-BR" sz="1500">
              <a:solidFill>
                <a:srgbClr val="000000"/>
              </a:solidFill>
            </a:endParaRPr>
          </a:p>
          <a:p>
            <a:pPr algn="l"/>
            <a:endParaRPr lang="en-US" sz="1600" dirty="0">
              <a:solidFill>
                <a:srgbClr val="000000"/>
              </a:solidFill>
            </a:endParaRPr>
          </a:p>
          <a:p>
            <a:pPr algn="l" rtl="0"/>
            <a:r>
              <a:rPr lang="pt-BR" sz="1600">
                <a:solidFill>
                  <a:srgbClr val="000000"/>
                </a:solidFill>
              </a:rPr>
              <a:t>Padrões Sem Fio: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0000"/>
                </a:solidFill>
              </a:rPr>
              <a:t>Wi-Fi (IEEE 802.11) </a:t>
            </a:r>
            <a:r>
              <a:rPr lang="pt-BR" sz="1500">
                <a:solidFill>
                  <a:srgbClr val="000000"/>
                </a:solidFill>
              </a:rPr>
              <a:t>- Tecnologia LAN sem fio (WLAN)</a:t>
            </a:r>
            <a:endParaRPr lang="pt-BR" sz="15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0000"/>
                </a:solidFill>
              </a:rPr>
              <a:t>Bluetooth (IEEE 802.15) </a:t>
            </a:r>
            <a:r>
              <a:rPr lang="pt-BR" sz="1500">
                <a:solidFill>
                  <a:srgbClr val="000000"/>
                </a:solidFill>
              </a:rPr>
              <a:t>- Padrão de rede de área pessoal sem fio (WPAN)</a:t>
            </a:r>
            <a:endParaRPr lang="pt-BR" sz="15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0000"/>
                </a:solidFill>
              </a:rPr>
              <a:t>WiMAX (IEEE 802.16) </a:t>
            </a:r>
            <a:r>
              <a:rPr lang="pt-BR" sz="1500">
                <a:solidFill>
                  <a:srgbClr val="000000"/>
                </a:solidFill>
              </a:rPr>
              <a:t>- Usa uma topologia ponto-a-multiponto para fornecer acesso sem fio de banda larga</a:t>
            </a:r>
            <a:endParaRPr lang="pt-BR" sz="1500">
              <a:solidFill>
                <a:srgbClr val="000000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500" b="1">
                <a:solidFill>
                  <a:srgbClr val="000000"/>
                </a:solidFill>
              </a:rPr>
              <a:t>Zigbee (IEEE 802.15.4) </a:t>
            </a:r>
            <a:r>
              <a:rPr lang="pt-BR" sz="1500">
                <a:solidFill>
                  <a:srgbClr val="000000"/>
                </a:solidFill>
              </a:rPr>
              <a:t>- Comunicações com baixa taxa de dados e baixo consumo de energia, principalmente para aplicações de Internet das Coisas (IoT)</a:t>
            </a:r>
            <a:endParaRPr lang="pt-BR" sz="15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Meio físico sem fio </a:t>
            </a:r>
            <a:br>
              <a:rPr lang="en-US" dirty="0"/>
            </a:br>
            <a:r>
              <a:rPr lang="pt-BR" sz="2400"/>
              <a:t>LAN sem fio</a:t>
            </a:r>
            <a:endParaRPr lang="pt-BR" sz="24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74662" y="877330"/>
            <a:ext cx="8280057" cy="3544404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Em geral, uma LAN sem fio (WLAN) requer os seguintes dispositivos: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0000"/>
                </a:solidFill>
              </a:rPr>
              <a:t>Access Point (Ponto de Acesso) Sem Fio (AP)</a:t>
            </a:r>
            <a:r>
              <a:rPr lang="pt-BR" sz="1800">
                <a:solidFill>
                  <a:srgbClr val="000000"/>
                </a:solidFill>
              </a:rPr>
              <a:t>: concentra os sinais sem fio dos usuários e se conecta, geralmente por meio de um cabo de cobre, a uma infraestrutura de rede de cobre existente, como a Ethernet.</a:t>
            </a:r>
            <a:endParaRPr lang="pt-BR" sz="1800">
              <a:solidFill>
                <a:srgbClr val="000000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0000"/>
                </a:solidFill>
              </a:rPr>
              <a:t>Adaptadores de NIC sem fio</a:t>
            </a:r>
            <a:r>
              <a:rPr lang="pt-BR" sz="1800">
                <a:solidFill>
                  <a:srgbClr val="000000"/>
                </a:solidFill>
              </a:rPr>
              <a:t> - fornecem recursos de comunicação sem fio para hosts de rede.</a:t>
            </a:r>
            <a:endParaRPr lang="pt-BR" sz="1800">
              <a:solidFill>
                <a:srgbClr val="000000"/>
              </a:solidFill>
            </a:endParaRP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Existem vários padrões de WLAN. Ao adquirir equipamentos WLAN, garanta compatibilidade e interoperabilidade.</a:t>
            </a:r>
            <a:endParaRPr lang="pt-BR" sz="1800">
              <a:solidFill>
                <a:srgbClr val="000000"/>
              </a:solidFill>
            </a:endParaRP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 rtl="0"/>
            <a:r>
              <a:rPr lang="pt-BR" sz="1800">
                <a:solidFill>
                  <a:srgbClr val="000000"/>
                </a:solidFill>
              </a:rPr>
              <a:t>Os administradores de rede devem desenvolver e aplicar políticas e processos de segurança rigorosos para proteger as WLANs contra acesso e danos não autorizados.</a:t>
            </a:r>
            <a:endParaRPr lang="pt-BR"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13164</Words>
  <Application>WPS Presentation</Application>
  <PresentationFormat>On-screen Show (16:9)</PresentationFormat>
  <Paragraphs>383</Paragraphs>
  <Slides>34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5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Webdings</vt:lpstr>
      <vt:lpstr>Times New Roman</vt:lpstr>
      <vt:lpstr>Default Theme</vt:lpstr>
      <vt:lpstr>Módulo 4: Camada Física</vt:lpstr>
      <vt:lpstr>4.1 – Propósito da camada física</vt:lpstr>
      <vt:lpstr>Objetivo de camada física  A conexão física</vt:lpstr>
      <vt:lpstr>Objetivo de camada física  A camada física</vt:lpstr>
      <vt:lpstr>4.2 Características da camada física</vt:lpstr>
      <vt:lpstr>Características da camada física Protocolos de camada física </vt:lpstr>
      <vt:lpstr>Características da camada física Protocolos de camada física </vt:lpstr>
      <vt:lpstr>Características da camada física Codificação</vt:lpstr>
      <vt:lpstr>Características da camada física Sinalização</vt:lpstr>
      <vt:lpstr> Características da camada física Largura de banda</vt:lpstr>
      <vt:lpstr>Características da camada física  Terminologia de largura de banda</vt:lpstr>
      <vt:lpstr>4.3 Cabeamento de cobre</vt:lpstr>
      <vt:lpstr>Cabeamento de cobre  Características dos meios físicos em cobre</vt:lpstr>
      <vt:lpstr>Cabeamento de cobre  Tipos de cabeamento de cobre</vt:lpstr>
      <vt:lpstr>Cabeamento de Cobre  Par trançado não blindado (UTP)</vt:lpstr>
      <vt:lpstr>Cabeamento de cobre  Cabo de par trançado blindado (STP)</vt:lpstr>
      <vt:lpstr>Cabeamento de cobre  Cabo coaxial</vt:lpstr>
      <vt:lpstr>4.4 - Cabeamento UTP</vt:lpstr>
      <vt:lpstr>Cabeamento UTP  Propriedades de cabeamento UTP</vt:lpstr>
      <vt:lpstr>Cabeamento UTP  Padrões e conectores de cabeamento UTP</vt:lpstr>
      <vt:lpstr>Cabeamento UTP  Padrões e conectores de cabeamento UTP</vt:lpstr>
      <vt:lpstr>Cabeamento UTP decabos UTPdireto e cruzado </vt:lpstr>
      <vt:lpstr>4.5 Cabeamento de fibra óptica</vt:lpstr>
      <vt:lpstr>Cabeamento Fibra óprica  Propriedades do Cabeamento de Fibra Óptica</vt:lpstr>
      <vt:lpstr>Cabeamento de fibra óptica  Tipos de meio físico de fibra</vt:lpstr>
      <vt:lpstr>Cabeamento de fibra óptica Uso de cabeamento de fibra óptica</vt:lpstr>
      <vt:lpstr>Cabeamento de fibra óptica  Conectores de fibra óptica</vt:lpstr>
      <vt:lpstr>Cabo de remendo de fibraóptica de cabeamento</vt:lpstr>
      <vt:lpstr>Cabeamento de fibra ótica  Fibra versus cobre</vt:lpstr>
      <vt:lpstr>4.6 - Mídia Sem Fio</vt:lpstr>
      <vt:lpstr>Meio físico sem fio  Propriedades do meio físico sem fio</vt:lpstr>
      <vt:lpstr>Meio físico sem fio  Tipos de meio físico sem fio</vt:lpstr>
      <vt:lpstr>Meio físico sem fio  LAN sem fio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220</cp:revision>
  <dcterms:created xsi:type="dcterms:W3CDTF">2026-03-03T00:20:16Z</dcterms:created>
  <dcterms:modified xsi:type="dcterms:W3CDTF">2026-03-03T00:20:16Z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