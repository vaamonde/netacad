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876" r:id="rId3"/>
    <p:sldId id="759" r:id="rId5"/>
    <p:sldId id="1054" r:id="rId6"/>
    <p:sldId id="1090" r:id="rId7"/>
    <p:sldId id="1091" r:id="rId8"/>
    <p:sldId id="1092" r:id="rId9"/>
    <p:sldId id="1056" r:id="rId10"/>
    <p:sldId id="1057" r:id="rId11"/>
    <p:sldId id="1093" r:id="rId12"/>
    <p:sldId id="1094" r:id="rId13"/>
    <p:sldId id="1095" r:id="rId14"/>
    <p:sldId id="1096" r:id="rId15"/>
    <p:sldId id="1097" r:id="rId16"/>
    <p:sldId id="1098" r:id="rId17"/>
    <p:sldId id="1099" r:id="rId18"/>
    <p:sldId id="1063" r:id="rId19"/>
    <p:sldId id="1064" r:id="rId20"/>
    <p:sldId id="1100" r:id="rId21"/>
    <p:sldId id="1101" r:id="rId22"/>
    <p:sldId id="1102" r:id="rId23"/>
    <p:sldId id="291" r:id="rId24"/>
  </p:sldIdLst>
  <p:sldSz cx="9144000" cy="5143500" type="screen16x9"/>
  <p:notesSz cx="6858000" cy="9144000"/>
  <p:custDataLst>
    <p:tags r:id="rId29"/>
  </p:custDataLst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Barbara Reif" initials="BR" lastIdx="3" clrIdx="0"/>
  <p:cmAuthor id="1" name="Jane Gibbons -X (jagibbon - DEL ORO CONSULTING INC at Cisco)" initials="JG-(-DOCIaC" lastIdx="28" clrIdx="1"/>
  <p:cmAuthor id="2" name="Bob Vachon" initials="BV" lastIdx="24" clrIdx="2"/>
  <p:cmAuthor id="3" name="Sue Livingston -X (suliving - UNICON INC at Cisco)" initials="SL-(-UIaC" lastIdx="29" clrIdx="3"/>
  <p:cmAuthor id="4" name="jagibbon" initials="jmg" lastIdx="8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00CC"/>
    <a:srgbClr val="000099"/>
    <a:srgbClr val="CC99FF"/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32" autoAdjust="0"/>
    <p:restoredTop sz="77288" autoAdjust="0"/>
  </p:normalViewPr>
  <p:slideViewPr>
    <p:cSldViewPr snapToGrid="0" showGuides="1">
      <p:cViewPr varScale="1">
        <p:scale>
          <a:sx n="68" d="100"/>
          <a:sy n="68" d="100"/>
        </p:scale>
        <p:origin x="1244" y="60"/>
      </p:cViewPr>
      <p:guideLst>
        <p:guide orient="horz" pos="1620"/>
        <p:guide pos="336"/>
      </p:guideLst>
    </p:cSldViewPr>
  </p:slideViewPr>
  <p:outlineViewPr>
    <p:cViewPr>
      <p:scale>
        <a:sx n="33" d="100"/>
        <a:sy n="33" d="100"/>
      </p:scale>
      <p:origin x="0" y="-22670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11" d="100"/>
        <a:sy n="111" d="100"/>
      </p:scale>
      <p:origin x="0" y="-512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9" Type="http://schemas.openxmlformats.org/officeDocument/2006/relationships/tags" Target="tags/tag6.xml"/><Relationship Id="rId28" Type="http://schemas.openxmlformats.org/officeDocument/2006/relationships/commentAuthors" Target="commentAuthors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6337D9-3022-3D41-8D8A-BDF2F3B0DD8E}" type="datetimeFigureOut">
              <a:rPr lang="en-US" smtClean="0"/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41018C-6CAF-B84E-B92C-ECB119457FBA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Programa da Cisco Networking Academy</a:t>
            </a:r>
            <a:endParaRPr lang="pt-BR"/>
          </a:p>
          <a:p>
            <a:pPr rtl="0"/>
            <a:r>
              <a:rPr lang="pt-BR"/>
              <a:t>Introdução às redes v7.0 (ITN)</a:t>
            </a:r>
            <a:endParaRPr lang="pt-BR"/>
          </a:p>
          <a:p>
            <a:pPr rtl="0"/>
            <a:r>
              <a:rPr lang="pt-BR"/>
              <a:t>Módulo 6: Camada de Link de Dados</a:t>
            </a:r>
            <a:endParaRPr lang="pt-BR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6.1 - Finalidade da camada de enlace de dados</a:t>
            </a:r>
            <a:endParaRPr lang="pt-BR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6.1 – Propósito da camada de enlace de dados</a:t>
            </a:r>
            <a:endParaRPr lang="pt-BR"/>
          </a:p>
          <a:p>
            <a:pPr rtl="0"/>
            <a:r>
              <a:rPr lang="pt-BR"/>
              <a:t>6.1.1 - A camada de enlace de dados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6.1 – Propósito da camada de enlace de dados</a:t>
            </a:r>
            <a:endParaRPr lang="pt-BR"/>
          </a:p>
          <a:p>
            <a:pPr rtl="0"/>
            <a:r>
              <a:rPr lang="pt-BR"/>
              <a:t>6.1.2 — Sublcamadas de link de dados LAN/MAN IEEE 802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6.1 – Propósito da camada de enlace de dados</a:t>
            </a:r>
            <a:endParaRPr lang="pt-BR"/>
          </a:p>
          <a:p>
            <a:pPr rtl="0"/>
            <a:r>
              <a:rPr lang="pt-BR"/>
              <a:t>6.1.3 – Fornecimento de acesso ao meio físico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6.1 – Propósito da camada de enlace de dados</a:t>
            </a:r>
            <a:endParaRPr lang="pt-BR"/>
          </a:p>
          <a:p>
            <a:pPr rtl="0"/>
            <a:r>
              <a:rPr lang="pt-BR"/>
              <a:t>6.1.4 – Padrões de camada de enlace de dados</a:t>
            </a:r>
            <a:endParaRPr lang="pt-BR"/>
          </a:p>
          <a:p>
            <a:pPr rtl="0"/>
            <a:r>
              <a:rPr lang="pt-BR"/>
              <a:t>6.1.5 — Verifique seu entendimento — Finalidade da camada de link de dados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6.2 - Topologias</a:t>
            </a:r>
            <a:endParaRPr lang="pt-BR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6.2.1 – Topologias físicas e lógicas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6.2.2 - Topologias da WAN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6.2.3 - Topologia de WAN ponto a ponto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6.2.4 – Topologias LAN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6.2.5 — Comunicação em meio e full duplex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6.2.6 - Métodos de controle de acesso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6.2.7 - Acesso baseado em contenção - CSMA / CD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6.2 — Topologias</a:t>
            </a:r>
            <a:endParaRPr lang="pt-BR"/>
          </a:p>
          <a:p>
            <a:pPr rtl="0"/>
            <a:r>
              <a:rPr lang="pt-BR"/>
              <a:t>6.2.8 - Acesso baseado em contenção - CSMA / CA</a:t>
            </a:r>
            <a:endParaRPr lang="pt-BR"/>
          </a:p>
          <a:p>
            <a:pPr rtl="0"/>
            <a:r>
              <a:rPr lang="pt-BR"/>
              <a:t>6.2.9 — Verifique seu entendimento - Topologias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6.3 - Quadro de link de dados</a:t>
            </a:r>
            <a:endParaRPr lang="pt-BR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6.3 – Quadro de enlace de dados</a:t>
            </a:r>
            <a:endParaRPr lang="pt-BR"/>
          </a:p>
          <a:p>
            <a:pPr rtl="0"/>
            <a:r>
              <a:rPr lang="pt-BR"/>
              <a:t>6.3.1 — O quadro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6.3 – Quadro de enlace de dados</a:t>
            </a:r>
            <a:endParaRPr lang="pt-BR"/>
          </a:p>
          <a:p>
            <a:pPr rtl="0"/>
            <a:r>
              <a:rPr lang="pt-BR"/>
              <a:t>6.3.2 - Campos do quadro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6.3 – Quadro de enlace de dados</a:t>
            </a:r>
            <a:endParaRPr lang="pt-BR"/>
          </a:p>
          <a:p>
            <a:pPr rtl="0"/>
            <a:r>
              <a:rPr lang="pt-BR"/>
              <a:t>6.3.3 - Endereço da camada 2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6 - Camada de Link de Dados</a:t>
            </a:r>
            <a:endParaRPr lang="pt-BR"/>
          </a:p>
          <a:p>
            <a:pPr rtl="0"/>
            <a:r>
              <a:rPr lang="pt-BR"/>
              <a:t>6.3 – Quadro de enlace de dados</a:t>
            </a:r>
            <a:endParaRPr lang="pt-BR"/>
          </a:p>
          <a:p>
            <a:pPr rtl="0"/>
            <a:r>
              <a:rPr lang="pt-BR"/>
              <a:t>6.3.4 – Quadros de LAN e WAN</a:t>
            </a:r>
            <a:endParaRPr lang="pt-BR"/>
          </a:p>
          <a:p>
            <a:pPr rtl="0"/>
            <a:r>
              <a:rPr lang="pt-BR"/>
              <a:t>6.3.5 — Verifique seu entendimento — Quadro de link de dados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5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bg2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rgbClr val="38C6F4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chemeClr val="accent5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5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1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1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1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rgbClr val="004C69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  <p:sp>
        <p:nvSpPr>
          <p:cNvPr id="2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accent1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chemeClr val="accent1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6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5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chemeClr val="accent5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  <p:sp>
        <p:nvSpPr>
          <p:cNvPr id="2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bg2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rgbClr val="38C6F4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Seg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rgbClr val="00394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416425" y="915409"/>
            <a:ext cx="7598042" cy="256994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4600" b="0" i="0" spc="0" baseline="0">
                <a:solidFill>
                  <a:schemeClr val="accent5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Rectangle 7"/>
          <p:cNvSpPr>
            <a:spLocks noChangeArrowheads="1"/>
          </p:cNvSpPr>
          <p:nvPr userDrawn="1"/>
        </p:nvSpPr>
        <p:spPr bwMode="ltGray">
          <a:xfrm>
            <a:off x="8515707" y="4742907"/>
            <a:ext cx="218414" cy="154518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none" lIns="61586" tIns="30792" rIns="61586" bIns="30792" anchor="b">
            <a:spAutoFit/>
          </a:bodyPr>
          <a:lstStyle/>
          <a:p>
            <a:pPr algn="r"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fld id="{6A1E46DC-7EF6-4EA2-B285-14272867D133}" type="slidenum">
              <a:rPr sz="600">
                <a:solidFill>
                  <a:schemeClr val="accent5">
                    <a:lumMod val="50000"/>
                  </a:schemeClr>
                </a:solidFill>
                <a:latin typeface="+mn-lt"/>
                <a:ea typeface="+mn-ea"/>
                <a:cs typeface="CiscoSans Thin"/>
              </a:rPr>
            </a:fld>
            <a:endParaRPr sz="600">
              <a:solidFill>
                <a:schemeClr val="accent5">
                  <a:lumMod val="50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sp>
        <p:nvSpPr>
          <p:cNvPr id="9" name="Rectangle 4"/>
          <p:cNvSpPr>
            <a:spLocks noChangeArrowheads="1"/>
          </p:cNvSpPr>
          <p:nvPr userDrawn="1"/>
        </p:nvSpPr>
        <p:spPr bwMode="ltGray">
          <a:xfrm>
            <a:off x="5867508" y="4741653"/>
            <a:ext cx="2658018" cy="15451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61586" tIns="30792" rIns="61586" bIns="30792" anchor="b">
            <a:spAutoFit/>
          </a:bodyPr>
          <a:lstStyle/>
          <a:p>
            <a:pPr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pt-BR" sz="600">
                <a:solidFill>
                  <a:schemeClr val="accent5">
                    <a:lumMod val="50000"/>
                  </a:schemeClr>
                </a:solidFill>
                <a:latin typeface="+mn-lt"/>
                <a:ea typeface="+mn-ea"/>
                <a:cs typeface="CiscoSans Thin"/>
              </a:rPr>
              <a:t>© 2016 Cisco e/ou suas afiliadas. Todos os direitos reservados.   Confidencial da Cisco</a:t>
            </a:r>
            <a:endParaRPr lang="pt-BR" sz="600">
              <a:solidFill>
                <a:schemeClr val="accent5">
                  <a:lumMod val="50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grpSp>
        <p:nvGrpSpPr>
          <p:cNvPr id="11" name="Group 4"/>
          <p:cNvGrpSpPr>
            <a:grpSpLocks noChangeAspect="1"/>
          </p:cNvGrpSpPr>
          <p:nvPr userDrawn="1"/>
        </p:nvGrpSpPr>
        <p:grpSpPr bwMode="auto">
          <a:xfrm>
            <a:off x="508039" y="4715197"/>
            <a:ext cx="340257" cy="180974"/>
            <a:chOff x="310" y="249"/>
            <a:chExt cx="502" cy="267"/>
          </a:xfrm>
          <a:solidFill>
            <a:srgbClr val="086D8E"/>
          </a:solidFill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9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0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ulti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4662" y="1347788"/>
            <a:ext cx="8280057" cy="3073946"/>
          </a:xfrm>
          <a:prstGeom prst="rect">
            <a:avLst/>
          </a:prstGeom>
        </p:spPr>
        <p:txBody>
          <a:bodyPr lIns="91420" tIns="45710" rIns="91420" bIns="45710">
            <a:noAutofit/>
          </a:bodyPr>
          <a:lstStyle>
            <a:lvl1pPr marL="285750" marR="0" indent="-28575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/>
              <a:buNone/>
              <a:defRPr sz="2000" b="0" i="0" baseline="0">
                <a:solidFill>
                  <a:schemeClr val="bg1"/>
                </a:solidFill>
                <a:latin typeface="+mn-lt"/>
                <a:cs typeface="CiscoSans ExtraLight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Title Placeholder 5"/>
          <p:cNvSpPr>
            <a:spLocks noGrp="1"/>
          </p:cNvSpPr>
          <p:nvPr>
            <p:ph type="title"/>
          </p:nvPr>
        </p:nvSpPr>
        <p:spPr bwMode="auto">
          <a:xfrm>
            <a:off x="437766" y="341313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rgbClr val="004C69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Oval 11"/>
          <p:cNvSpPr/>
          <p:nvPr/>
        </p:nvSpPr>
        <p:spPr>
          <a:xfrm>
            <a:off x="575610" y="2552550"/>
            <a:ext cx="698624" cy="698624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solidFill>
                <a:srgbClr val="FFFFFF"/>
              </a:solidFill>
              <a:cs typeface="Arial" panose="020B0604020202020204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5610" y="1426607"/>
            <a:ext cx="698624" cy="698624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bg1"/>
              </a:solidFill>
              <a:cs typeface="Arial" panose="020B06040202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575610" y="3653093"/>
            <a:ext cx="698624" cy="698624"/>
          </a:xfrm>
          <a:prstGeom prst="ellipse">
            <a:avLst/>
          </a:prstGeom>
          <a:solidFill>
            <a:schemeClr val="accent5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solidFill>
                <a:srgbClr val="049FD9"/>
              </a:solidFill>
              <a:cs typeface="Arial" panose="020B0604020202020204"/>
            </a:endParaRPr>
          </a:p>
        </p:txBody>
      </p:sp>
      <p:sp>
        <p:nvSpPr>
          <p:cNvPr id="24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365250" y="1432522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5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365250" y="2557793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6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365250" y="3653093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8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0" y="2552550"/>
            <a:ext cx="698624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1" y="3651140"/>
            <a:ext cx="698624" cy="693381"/>
          </a:xfrm>
          <a:prstGeom prst="rect">
            <a:avLst/>
          </a:prstGeom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13" name="Text Placeholder 17"/>
          <p:cNvSpPr>
            <a:spLocks noGrp="1"/>
          </p:cNvSpPr>
          <p:nvPr>
            <p:ph type="body" sz="quarter" idx="19" hasCustomPrompt="1"/>
          </p:nvPr>
        </p:nvSpPr>
        <p:spPr>
          <a:xfrm>
            <a:off x="575610" y="1427248"/>
            <a:ext cx="698624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Oval 11"/>
          <p:cNvSpPr/>
          <p:nvPr/>
        </p:nvSpPr>
        <p:spPr>
          <a:xfrm>
            <a:off x="575611" y="1979318"/>
            <a:ext cx="464815" cy="464815"/>
          </a:xfrm>
          <a:prstGeom prst="ellipse">
            <a:avLst/>
          </a:prstGeom>
          <a:solidFill>
            <a:srgbClr val="38C6F4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5610" y="1328927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575611" y="2627446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24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172384" y="1334842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5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172385" y="1984561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6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172385" y="2627446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16" hasCustomPrompt="1"/>
          </p:nvPr>
        </p:nvSpPr>
        <p:spPr>
          <a:xfrm>
            <a:off x="575611" y="1327521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  <p:sp>
        <p:nvSpPr>
          <p:cNvPr id="28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1" y="197931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2" y="262549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13" name="Oval 12"/>
          <p:cNvSpPr/>
          <p:nvPr/>
        </p:nvSpPr>
        <p:spPr>
          <a:xfrm>
            <a:off x="575612" y="3274581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19"/>
          </p:nvPr>
        </p:nvSpPr>
        <p:spPr>
          <a:xfrm>
            <a:off x="1172386" y="3274581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20" hasCustomPrompt="1"/>
          </p:nvPr>
        </p:nvSpPr>
        <p:spPr>
          <a:xfrm>
            <a:off x="575613" y="327262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4</a:t>
            </a:r>
            <a:endParaRPr lang="en-US" dirty="0"/>
          </a:p>
        </p:txBody>
      </p:sp>
      <p:sp>
        <p:nvSpPr>
          <p:cNvPr id="17" name="Oval 16"/>
          <p:cNvSpPr/>
          <p:nvPr/>
        </p:nvSpPr>
        <p:spPr>
          <a:xfrm>
            <a:off x="575613" y="3921716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72387" y="3921716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Text Placeholder 17"/>
          <p:cNvSpPr>
            <a:spLocks noGrp="1"/>
          </p:cNvSpPr>
          <p:nvPr>
            <p:ph type="body" sz="quarter" idx="22" hasCustomPrompt="1"/>
          </p:nvPr>
        </p:nvSpPr>
        <p:spPr>
          <a:xfrm>
            <a:off x="575614" y="3919763"/>
            <a:ext cx="464815" cy="461327"/>
          </a:xfrm>
          <a:prstGeom prst="rect">
            <a:avLst/>
          </a:prstGeom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5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4C69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2" name="Oval 41"/>
          <p:cNvSpPr/>
          <p:nvPr/>
        </p:nvSpPr>
        <p:spPr>
          <a:xfrm>
            <a:off x="575611" y="1979318"/>
            <a:ext cx="464815" cy="464815"/>
          </a:xfrm>
          <a:prstGeom prst="ellipse">
            <a:avLst/>
          </a:prstGeom>
          <a:solidFill>
            <a:srgbClr val="38C6F4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575610" y="1328927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rgbClr val="FFFFFF"/>
              </a:solidFill>
              <a:cs typeface="Arial" panose="020B0604020202020204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575611" y="2627446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45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172384" y="133484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6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172385" y="1984561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7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172385" y="2627446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8" name="Text Placeholder 17"/>
          <p:cNvSpPr>
            <a:spLocks noGrp="1"/>
          </p:cNvSpPr>
          <p:nvPr>
            <p:ph type="body" sz="quarter" idx="16" hasCustomPrompt="1"/>
          </p:nvPr>
        </p:nvSpPr>
        <p:spPr>
          <a:xfrm>
            <a:off x="575611" y="1327521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  <p:sp>
        <p:nvSpPr>
          <p:cNvPr id="49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1" y="197931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50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2" y="262549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51" name="Oval 50"/>
          <p:cNvSpPr/>
          <p:nvPr/>
        </p:nvSpPr>
        <p:spPr>
          <a:xfrm>
            <a:off x="575612" y="3274581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2" name="Text Placeholder 17"/>
          <p:cNvSpPr>
            <a:spLocks noGrp="1"/>
          </p:cNvSpPr>
          <p:nvPr>
            <p:ph type="body" sz="quarter" idx="19"/>
          </p:nvPr>
        </p:nvSpPr>
        <p:spPr>
          <a:xfrm>
            <a:off x="1172386" y="3274581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3" name="Text Placeholder 17"/>
          <p:cNvSpPr>
            <a:spLocks noGrp="1"/>
          </p:cNvSpPr>
          <p:nvPr>
            <p:ph type="body" sz="quarter" idx="20" hasCustomPrompt="1"/>
          </p:nvPr>
        </p:nvSpPr>
        <p:spPr>
          <a:xfrm>
            <a:off x="575613" y="327262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4</a:t>
            </a:r>
            <a:endParaRPr lang="en-US" dirty="0"/>
          </a:p>
        </p:txBody>
      </p:sp>
      <p:sp>
        <p:nvSpPr>
          <p:cNvPr id="54" name="Oval 53"/>
          <p:cNvSpPr/>
          <p:nvPr/>
        </p:nvSpPr>
        <p:spPr>
          <a:xfrm>
            <a:off x="575613" y="3921716"/>
            <a:ext cx="464815" cy="46481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5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72387" y="3921716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6" name="Text Placeholder 17"/>
          <p:cNvSpPr>
            <a:spLocks noGrp="1"/>
          </p:cNvSpPr>
          <p:nvPr>
            <p:ph type="body" sz="quarter" idx="22" hasCustomPrompt="1"/>
          </p:nvPr>
        </p:nvSpPr>
        <p:spPr>
          <a:xfrm>
            <a:off x="575614" y="391976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5</a:t>
            </a:r>
            <a:endParaRPr lang="en-US" dirty="0"/>
          </a:p>
        </p:txBody>
      </p:sp>
      <p:sp>
        <p:nvSpPr>
          <p:cNvPr id="57" name="Oval 56"/>
          <p:cNvSpPr/>
          <p:nvPr/>
        </p:nvSpPr>
        <p:spPr>
          <a:xfrm>
            <a:off x="4414576" y="1983084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4414575" y="1332693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4414576" y="2631212"/>
            <a:ext cx="464815" cy="464815"/>
          </a:xfrm>
          <a:prstGeom prst="ellipse">
            <a:avLst/>
          </a:prstGeom>
          <a:solidFill>
            <a:schemeClr val="accent5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60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5011349" y="1338608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1" name="Text Placeholder 17"/>
          <p:cNvSpPr>
            <a:spLocks noGrp="1"/>
          </p:cNvSpPr>
          <p:nvPr>
            <p:ph type="body" sz="quarter" idx="24"/>
          </p:nvPr>
        </p:nvSpPr>
        <p:spPr>
          <a:xfrm>
            <a:off x="5011350" y="1988327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2" name="Text Placeholder 17"/>
          <p:cNvSpPr>
            <a:spLocks noGrp="1"/>
          </p:cNvSpPr>
          <p:nvPr>
            <p:ph type="body" sz="quarter" idx="25"/>
          </p:nvPr>
        </p:nvSpPr>
        <p:spPr>
          <a:xfrm>
            <a:off x="5011350" y="263121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3" name="Text Placeholder 17"/>
          <p:cNvSpPr>
            <a:spLocks noGrp="1"/>
          </p:cNvSpPr>
          <p:nvPr>
            <p:ph type="body" sz="quarter" idx="26" hasCustomPrompt="1"/>
          </p:nvPr>
        </p:nvSpPr>
        <p:spPr>
          <a:xfrm>
            <a:off x="4414576" y="1331287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6</a:t>
            </a:r>
            <a:endParaRPr lang="en-US" dirty="0"/>
          </a:p>
        </p:txBody>
      </p:sp>
      <p:sp>
        <p:nvSpPr>
          <p:cNvPr id="64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4414576" y="1983084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7</a:t>
            </a:r>
            <a:endParaRPr lang="en-US" dirty="0"/>
          </a:p>
        </p:txBody>
      </p:sp>
      <p:sp>
        <p:nvSpPr>
          <p:cNvPr id="65" name="Text Placeholder 17"/>
          <p:cNvSpPr>
            <a:spLocks noGrp="1"/>
          </p:cNvSpPr>
          <p:nvPr>
            <p:ph type="body" sz="quarter" idx="28" hasCustomPrompt="1"/>
          </p:nvPr>
        </p:nvSpPr>
        <p:spPr>
          <a:xfrm>
            <a:off x="4414577" y="2629259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8</a:t>
            </a:r>
            <a:endParaRPr lang="en-US" dirty="0"/>
          </a:p>
        </p:txBody>
      </p:sp>
      <p:sp>
        <p:nvSpPr>
          <p:cNvPr id="66" name="Oval 65"/>
          <p:cNvSpPr/>
          <p:nvPr/>
        </p:nvSpPr>
        <p:spPr>
          <a:xfrm>
            <a:off x="4414577" y="3278347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67" name="Text Placeholder 17"/>
          <p:cNvSpPr>
            <a:spLocks noGrp="1"/>
          </p:cNvSpPr>
          <p:nvPr>
            <p:ph type="body" sz="quarter" idx="29"/>
          </p:nvPr>
        </p:nvSpPr>
        <p:spPr>
          <a:xfrm>
            <a:off x="5011351" y="3278347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8" name="Text Placeholder 17"/>
          <p:cNvSpPr>
            <a:spLocks noGrp="1"/>
          </p:cNvSpPr>
          <p:nvPr>
            <p:ph type="body" sz="quarter" idx="30" hasCustomPrompt="1"/>
          </p:nvPr>
        </p:nvSpPr>
        <p:spPr>
          <a:xfrm>
            <a:off x="4414578" y="3276394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9</a:t>
            </a:r>
            <a:endParaRPr lang="en-US" dirty="0"/>
          </a:p>
        </p:txBody>
      </p:sp>
      <p:sp>
        <p:nvSpPr>
          <p:cNvPr id="69" name="Oval 68"/>
          <p:cNvSpPr/>
          <p:nvPr/>
        </p:nvSpPr>
        <p:spPr>
          <a:xfrm>
            <a:off x="4414578" y="3925482"/>
            <a:ext cx="464815" cy="46481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70" name="Text Placeholder 17"/>
          <p:cNvSpPr>
            <a:spLocks noGrp="1"/>
          </p:cNvSpPr>
          <p:nvPr>
            <p:ph type="body" sz="quarter" idx="31"/>
          </p:nvPr>
        </p:nvSpPr>
        <p:spPr>
          <a:xfrm>
            <a:off x="5011352" y="392548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71" name="Text Placeholder 17"/>
          <p:cNvSpPr>
            <a:spLocks noGrp="1"/>
          </p:cNvSpPr>
          <p:nvPr>
            <p:ph type="body" sz="quarter" idx="32" hasCustomPrompt="1"/>
          </p:nvPr>
        </p:nvSpPr>
        <p:spPr>
          <a:xfrm>
            <a:off x="4414579" y="3923529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10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1_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"/>
            <a:ext cx="9143999" cy="5165874"/>
          </a:xfrm>
          <a:prstGeom prst="rect">
            <a:avLst/>
          </a:prstGeom>
        </p:spPr>
      </p:pic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5"/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394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5"/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1">
              <a:lumMod val="75000"/>
            </a:schemeClr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6"/>
          <p:cNvSpPr>
            <a:spLocks noGrp="1"/>
          </p:cNvSpPr>
          <p:nvPr>
            <p:ph type="sldNum" sz="quarter" idx="4"/>
          </p:nvPr>
        </p:nvSpPr>
        <p:spPr>
          <a:xfrm>
            <a:off x="8473441" y="4954263"/>
            <a:ext cx="676910" cy="1892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25">
                <a:solidFill>
                  <a:schemeClr val="tx2"/>
                </a:solidFill>
              </a:defRPr>
            </a:lvl1pPr>
          </a:lstStyle>
          <a:p>
            <a:pPr defTabSz="386080">
              <a:defRPr/>
            </a:pPr>
            <a:fld id="{2F5CCB13-0A32-4557-88E9-079F0C330695}" type="slidenum">
              <a:rPr lang="en-US" kern="0" smtClean="0">
                <a:solidFill>
                  <a:srgbClr val="595959"/>
                </a:solidFill>
              </a:rPr>
            </a:fld>
            <a:endParaRPr lang="en-US" kern="0" dirty="0">
              <a:solidFill>
                <a:srgbClr val="595959"/>
              </a:solidFill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144065" y="798944"/>
            <a:ext cx="8853286" cy="4155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182880" bIns="45720" numCol="1" anchor="t" anchorCtr="0" compatLnSpc="1"/>
          <a:lstStyle>
            <a:lvl1pPr marL="170180" indent="-17018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4pPr>
          </a:lstStyle>
          <a:p>
            <a:pPr lvl="0"/>
            <a:r>
              <a:rPr lang="en-US">
                <a:sym typeface="Arial" panose="020B0604020202020204" pitchFamily="34" charset="0"/>
              </a:rPr>
              <a:t>Click to edit Master text styles</a:t>
            </a:r>
            <a:endParaRPr lang="en-US">
              <a:sym typeface="Arial" panose="020B0604020202020204" pitchFamily="34" charset="0"/>
            </a:endParaRPr>
          </a:p>
          <a:p>
            <a:pPr lvl="1"/>
            <a:r>
              <a:rPr lang="en-US">
                <a:sym typeface="Arial" panose="020B0604020202020204" pitchFamily="34" charset="0"/>
              </a:rPr>
              <a:t>Second level</a:t>
            </a:r>
            <a:endParaRPr lang="en-US">
              <a:sym typeface="Arial" panose="020B0604020202020204" pitchFamily="34" charset="0"/>
            </a:endParaRPr>
          </a:p>
          <a:p>
            <a:pPr lvl="2"/>
            <a:r>
              <a:rPr lang="en-US">
                <a:sym typeface="Arial" panose="020B0604020202020204" pitchFamily="34" charset="0"/>
              </a:rPr>
              <a:t>Third level</a:t>
            </a:r>
            <a:endParaRPr lang="en-US">
              <a:sym typeface="Arial" panose="020B0604020202020204" pitchFamily="34" charset="0"/>
            </a:endParaRPr>
          </a:p>
          <a:p>
            <a:pPr lvl="3"/>
            <a:r>
              <a:rPr lang="en-US">
                <a:sym typeface="Arial" panose="020B0604020202020204" pitchFamily="34" charset="0"/>
              </a:rPr>
              <a:t>Fourth level</a:t>
            </a:r>
            <a:endParaRPr lang="en-US">
              <a:sym typeface="Arial" panose="020B0604020202020204" pitchFamily="34" charset="0"/>
            </a:endParaRPr>
          </a:p>
        </p:txBody>
      </p: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41393"/>
            <a:ext cx="9144000" cy="7575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>
            <a:lvl1pPr>
              <a:lnSpc>
                <a:spcPct val="100000"/>
              </a:lnSpc>
              <a:defRPr sz="2400"/>
            </a:lvl1pPr>
          </a:lstStyle>
          <a:p>
            <a:pPr lvl="0"/>
            <a:r>
              <a:rPr lang="en-US">
                <a:sym typeface="Arial" panose="020B0604020202020204" pitchFamily="34" charset="0"/>
              </a:rPr>
              <a:t>Click to edit Master title style</a:t>
            </a:r>
            <a:endParaRPr lang="en-US" dirty="0">
              <a:sym typeface="Arial" panose="020B0604020202020204" pitchFamily="34" charset="0"/>
            </a:endParaRPr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5"/>
          <p:cNvSpPr>
            <a:spLocks noGrp="1"/>
          </p:cNvSpPr>
          <p:nvPr>
            <p:ph type="title"/>
          </p:nvPr>
        </p:nvSpPr>
        <p:spPr bwMode="auto">
          <a:xfrm>
            <a:off x="438150" y="341313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/>
          <a:p>
            <a:pPr lvl="0"/>
            <a:r>
              <a:rPr lang="en-GB" altLang="en-US" dirty="0"/>
              <a:t>Title Goes Here</a:t>
            </a:r>
            <a:endParaRPr lang="en-GB" altLang="en-US" dirty="0"/>
          </a:p>
        </p:txBody>
      </p:sp>
      <p:sp>
        <p:nvSpPr>
          <p:cNvPr id="12" name="Rectangle 7"/>
          <p:cNvSpPr>
            <a:spLocks noChangeArrowheads="1"/>
          </p:cNvSpPr>
          <p:nvPr/>
        </p:nvSpPr>
        <p:spPr bwMode="ltGray">
          <a:xfrm>
            <a:off x="8515707" y="4742907"/>
            <a:ext cx="218414" cy="154518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none" lIns="61586" tIns="30792" rIns="61586" bIns="30792" anchor="b">
            <a:spAutoFit/>
          </a:bodyPr>
          <a:lstStyle/>
          <a:p>
            <a:pPr algn="r"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fld id="{6A1E46DC-7EF6-4EA2-B285-14272867D133}" type="slidenum">
              <a:rPr sz="600">
                <a:solidFill>
                  <a:schemeClr val="accent3">
                    <a:lumMod val="85000"/>
                  </a:schemeClr>
                </a:solidFill>
                <a:latin typeface="+mn-lt"/>
                <a:ea typeface="+mn-ea"/>
                <a:cs typeface="CiscoSans Thin"/>
              </a:rPr>
            </a:fld>
            <a:endParaRPr sz="600">
              <a:solidFill>
                <a:schemeClr val="accent3">
                  <a:lumMod val="85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sp>
        <p:nvSpPr>
          <p:cNvPr id="13" name="Rectangle 4"/>
          <p:cNvSpPr>
            <a:spLocks noChangeArrowheads="1"/>
          </p:cNvSpPr>
          <p:nvPr/>
        </p:nvSpPr>
        <p:spPr bwMode="ltGray">
          <a:xfrm>
            <a:off x="5867508" y="4741653"/>
            <a:ext cx="2658018" cy="15451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61586" tIns="30792" rIns="61586" bIns="30792" anchor="b">
            <a:spAutoFit/>
          </a:bodyPr>
          <a:lstStyle/>
          <a:p>
            <a:pPr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pt-BR" sz="600">
                <a:solidFill>
                  <a:schemeClr val="accent3">
                    <a:lumMod val="85000"/>
                  </a:schemeClr>
                </a:solidFill>
                <a:latin typeface="+mn-lt"/>
                <a:ea typeface="+mn-ea"/>
                <a:cs typeface="CiscoSans Thin"/>
              </a:rPr>
              <a:t>© 2016 Cisco e/ou suas afiliadas. Todos os direitos reservados.   Confidencial da Cisco</a:t>
            </a:r>
            <a:endParaRPr lang="pt-BR" sz="600">
              <a:solidFill>
                <a:schemeClr val="accent3">
                  <a:lumMod val="85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508039" y="4715197"/>
            <a:ext cx="340257" cy="180974"/>
            <a:chOff x="310" y="249"/>
            <a:chExt cx="502" cy="267"/>
          </a:xfrm>
          <a:solidFill>
            <a:schemeClr val="accent5"/>
          </a:solidFill>
        </p:grpSpPr>
        <p:sp>
          <p:nvSpPr>
            <p:cNvPr id="7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9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0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ransition spd="slow">
    <p:wipe/>
  </p:transition>
  <p:txStyles>
    <p:titleStyle>
      <a:lvl1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lang="en-US" sz="3200" kern="1200" dirty="0">
          <a:solidFill>
            <a:schemeClr val="accent4"/>
          </a:solidFill>
          <a:latin typeface="+mj-lt"/>
          <a:ea typeface="MS PGothic" charset="0"/>
          <a:cs typeface="CiscoSans"/>
        </a:defRPr>
      </a:lvl1pPr>
      <a:lvl2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2pPr>
      <a:lvl3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3pPr>
      <a:lvl4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4pPr>
      <a:lvl5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5pPr>
      <a:lvl6pPr marL="4572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6pPr>
      <a:lvl7pPr marL="9144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7pPr>
      <a:lvl8pPr marL="13716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8pPr>
      <a:lvl9pPr marL="18288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9pPr>
    </p:titleStyle>
    <p:bodyStyle>
      <a:lvl1pPr marL="170180" indent="-170180" algn="l" defTabSz="684530" rtl="0" eaLnBrk="1" fontAlgn="base" hangingPunct="1">
        <a:lnSpc>
          <a:spcPct val="95000"/>
        </a:lnSpc>
        <a:spcBef>
          <a:spcPts val="1075"/>
        </a:spcBef>
        <a:spcAft>
          <a:spcPct val="0"/>
        </a:spcAft>
        <a:buClr>
          <a:schemeClr val="tx2"/>
        </a:buClr>
        <a:buSzPct val="90000"/>
        <a:buFont typeface="Arial" panose="020B0604020202020204" pitchFamily="34" charset="0"/>
        <a:buChar char="•"/>
        <a:defRPr lang="en-US" sz="1500" kern="1200" dirty="0">
          <a:solidFill>
            <a:schemeClr val="tx1"/>
          </a:solidFill>
          <a:latin typeface="+mn-lt"/>
          <a:ea typeface="MS PGothic" charset="0"/>
          <a:cs typeface="CiscoSans"/>
        </a:defRPr>
      </a:lvl1pPr>
      <a:lvl2pPr marL="358775" indent="-215900" algn="l" defTabSz="684530" rtl="0" eaLnBrk="1" fontAlgn="base" hangingPunct="1">
        <a:lnSpc>
          <a:spcPct val="95000"/>
        </a:lnSpc>
        <a:spcBef>
          <a:spcPts val="6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lang="en-US" sz="1400" kern="1200" dirty="0">
          <a:solidFill>
            <a:schemeClr val="tx1"/>
          </a:solidFill>
          <a:latin typeface="+mn-lt"/>
          <a:ea typeface="MS PGothic" charset="0"/>
          <a:cs typeface="CiscoSans"/>
        </a:defRPr>
      </a:lvl2pPr>
      <a:lvl3pPr marL="431800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MS PGothic" charset="0"/>
          <a:cs typeface="CiscoSans"/>
        </a:defRPr>
      </a:lvl3pPr>
      <a:lvl4pPr marL="503555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100" kern="1200" dirty="0">
          <a:solidFill>
            <a:schemeClr val="tx1"/>
          </a:solidFill>
          <a:latin typeface="+mn-lt"/>
          <a:ea typeface="MS PGothic" charset="0"/>
          <a:cs typeface="CiscoSans"/>
        </a:defRPr>
      </a:lvl4pPr>
      <a:lvl5pPr marL="574675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100" kern="1200" dirty="0">
          <a:solidFill>
            <a:schemeClr val="tx1"/>
          </a:solidFill>
          <a:latin typeface="+mn-lt"/>
          <a:ea typeface="MS PGothic" charset="0"/>
          <a:cs typeface="CiscoSans"/>
        </a:defRPr>
      </a:lvl5pPr>
      <a:lvl6pPr marL="863600" indent="-171450" algn="l" defTabSz="685800" rtl="0" eaLnBrk="1" latinLnBrk="0" hangingPunct="1">
        <a:spcBef>
          <a:spcPts val="600"/>
        </a:spcBef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935990" indent="-171450" algn="l" defTabSz="685800" rtl="0" eaLnBrk="1" latinLnBrk="0" hangingPunct="1">
        <a:spcBef>
          <a:spcPts val="600"/>
        </a:spcBef>
        <a:buFont typeface="Arial" panose="020B0604020202020204" pitchFamily="34" charset="0"/>
        <a:buChar char="•"/>
        <a:defRPr sz="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400300" indent="0" algn="l" defTabSz="685800" rtl="0" eaLnBrk="1" latinLnBrk="0" hangingPunct="1">
        <a:spcBef>
          <a:spcPct val="20000"/>
        </a:spcBef>
        <a:buFont typeface="Arial" panose="020B0604020202020204" pitchFamily="34" charset="0"/>
        <a:buNone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>
          <a:xfrm>
            <a:off x="469497" y="1808480"/>
            <a:ext cx="6672708" cy="1080143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Módulo 6: Camada de Link de Dados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Subtitle 6"/>
          <p:cNvSpPr txBox="1"/>
          <p:nvPr/>
        </p:nvSpPr>
        <p:spPr>
          <a:xfrm>
            <a:off x="469497" y="3646043"/>
            <a:ext cx="2368954" cy="902174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 defTabSz="684530" rtl="0" eaLnBrk="1" fontAlgn="base" hangingPunct="1">
              <a:lnSpc>
                <a:spcPct val="95000"/>
              </a:lnSpc>
              <a:spcBef>
                <a:spcPts val="1075"/>
              </a:spcBef>
              <a:spcAft>
                <a:spcPct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defRPr lang="en-US" sz="1200" b="0" i="0" kern="1200">
                <a:solidFill>
                  <a:schemeClr val="accent5"/>
                </a:solidFill>
                <a:latin typeface="+mn-lt"/>
                <a:ea typeface="MS PGothic" charset="0"/>
                <a:cs typeface="CiscoSans"/>
              </a:defRPr>
            </a:lvl1pPr>
            <a:lvl2pPr marL="342900" indent="0" algn="ctr" defTabSz="684530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defRPr lang="en-US" sz="14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charset="0"/>
                <a:cs typeface="CiscoSans"/>
              </a:defRPr>
            </a:lvl2pPr>
            <a:lvl3pPr marL="685800" indent="0" algn="ctr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None/>
              <a:def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charset="0"/>
                <a:cs typeface="CiscoSans"/>
              </a:defRPr>
            </a:lvl3pPr>
            <a:lvl4pPr marL="1028700" indent="0" algn="ctr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None/>
              <a:defRPr lang="en-US" sz="11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charset="0"/>
                <a:cs typeface="CiscoSans"/>
              </a:defRPr>
            </a:lvl4pPr>
            <a:lvl5pPr marL="1371600" indent="0" algn="ctr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None/>
              <a:defRPr lang="en-US" sz="11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charset="0"/>
                <a:cs typeface="CiscoSans"/>
              </a:defRPr>
            </a:lvl5pPr>
            <a:lvl6pPr marL="1714500" indent="0" algn="ctr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None/>
              <a:defRPr sz="9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None/>
              <a:defRPr sz="8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2565" indent="0" algn="ctr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Introdução às redes v7.0 (ITN)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  <a:sym typeface="+mn-ea"/>
              </a:rPr>
              <a:t>Versão: 1.0 - 01/03/2026</a:t>
            </a:r>
            <a:endParaRPr lang="en-US" dirty="0"/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1657088"/>
            <a:ext cx="7598042" cy="1473462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6.1 - Finalidade da Camada de Enlace de Dados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731520"/>
          </a:xfrm>
        </p:spPr>
        <p:txBody>
          <a:bodyPr/>
          <a:lstStyle/>
          <a:p>
            <a:pPr rtl="0"/>
            <a:r>
              <a:rPr lang="pt-BR" sz="1600"/>
              <a:t>Objetivo da camada de vínculo de dados </a:t>
            </a:r>
            <a:br>
              <a:rPr lang="en-US" dirty="0"/>
            </a:br>
            <a:r>
              <a:rPr lang="pt-BR" sz="2400"/>
              <a:t>A camada de Vínculo de Dados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46355" y="731520"/>
            <a:ext cx="3734435" cy="3850005"/>
          </a:xfrm>
        </p:spPr>
        <p:txBody>
          <a:bodyPr/>
          <a:lstStyle/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1700">
                <a:solidFill>
                  <a:srgbClr val="000000"/>
                </a:solidFill>
              </a:rPr>
              <a:t>A camada </a:t>
            </a:r>
            <a:r>
              <a:rPr lang="pt-BR" sz="1700" b="1">
                <a:solidFill>
                  <a:srgbClr val="FF0000"/>
                </a:solidFill>
              </a:rPr>
              <a:t>Data Link</a:t>
            </a:r>
            <a:r>
              <a:rPr lang="pt-BR" sz="1700">
                <a:solidFill>
                  <a:srgbClr val="000000"/>
                </a:solidFill>
              </a:rPr>
              <a:t> é responsável pelas comunicações entre </a:t>
            </a:r>
            <a:r>
              <a:rPr lang="pt-BR" sz="1700" b="1">
                <a:solidFill>
                  <a:srgbClr val="0070C0"/>
                </a:solidFill>
              </a:rPr>
              <a:t>Placas de Interface de Rede (NIC)</a:t>
            </a:r>
            <a:r>
              <a:rPr lang="pt-BR" sz="1700">
                <a:solidFill>
                  <a:srgbClr val="000000"/>
                </a:solidFill>
              </a:rPr>
              <a:t> do </a:t>
            </a:r>
            <a:r>
              <a:rPr lang="pt-BR" sz="1700" b="1">
                <a:solidFill>
                  <a:srgbClr val="000000"/>
                </a:solidFill>
              </a:rPr>
              <a:t>dispositivo final (Endpoint)</a:t>
            </a:r>
            <a:r>
              <a:rPr lang="pt-BR" sz="1700">
                <a:solidFill>
                  <a:srgbClr val="000000"/>
                </a:solidFill>
              </a:rPr>
              <a:t>.</a:t>
            </a:r>
            <a:endParaRPr lang="pt-BR" sz="170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1700">
                <a:solidFill>
                  <a:srgbClr val="000000"/>
                </a:solidFill>
              </a:rPr>
              <a:t>Ele permite que os </a:t>
            </a:r>
            <a:r>
              <a:rPr lang="pt-BR" sz="1700" b="1">
                <a:solidFill>
                  <a:srgbClr val="FF0000"/>
                </a:solidFill>
              </a:rPr>
              <a:t>protocolos de camada superior</a:t>
            </a:r>
            <a:r>
              <a:rPr lang="pt-BR" sz="1700">
                <a:solidFill>
                  <a:srgbClr val="000000"/>
                </a:solidFill>
              </a:rPr>
              <a:t> acessem a mídia da camada física e </a:t>
            </a:r>
            <a:r>
              <a:rPr lang="pt-BR" sz="1700" b="1">
                <a:solidFill>
                  <a:srgbClr val="000000"/>
                </a:solidFill>
              </a:rPr>
              <a:t>Encapsula Pacotes da Camada 3 (IPv4 e IPv6)</a:t>
            </a:r>
            <a:r>
              <a:rPr lang="pt-BR" sz="1700">
                <a:solidFill>
                  <a:srgbClr val="000000"/>
                </a:solidFill>
              </a:rPr>
              <a:t> em </a:t>
            </a:r>
            <a:r>
              <a:rPr lang="pt-BR" sz="1700" b="1">
                <a:solidFill>
                  <a:srgbClr val="0070C0"/>
                </a:solidFill>
              </a:rPr>
              <a:t>Frames (Quadros) da Camada 2.</a:t>
            </a:r>
            <a:endParaRPr lang="pt-BR" sz="1700" b="1">
              <a:solidFill>
                <a:srgbClr val="0070C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1700">
                <a:solidFill>
                  <a:srgbClr val="000000"/>
                </a:solidFill>
              </a:rPr>
              <a:t>Ele também executa a </a:t>
            </a:r>
            <a:r>
              <a:rPr lang="pt-BR" sz="1700" b="1">
                <a:solidFill>
                  <a:srgbClr val="000000"/>
                </a:solidFill>
              </a:rPr>
              <a:t>detecção de erros</a:t>
            </a:r>
            <a:r>
              <a:rPr lang="pt-BR" sz="1700">
                <a:solidFill>
                  <a:srgbClr val="000000"/>
                </a:solidFill>
              </a:rPr>
              <a:t> e rejeita quadros corrompidos.</a:t>
            </a:r>
            <a:endParaRPr lang="pt-BR" sz="1700">
              <a:solidFill>
                <a:srgbClr val="000000"/>
              </a:solidFill>
            </a:endParaRPr>
          </a:p>
          <a:p>
            <a:pPr marL="0" indent="0" algn="just"/>
            <a:endParaRPr lang="en-US" sz="1700" dirty="0">
              <a:solidFill>
                <a:srgbClr val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1700" dirty="0">
              <a:solidFill>
                <a:srgbClr val="000000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9746" y="1046747"/>
            <a:ext cx="3823810" cy="2016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Objetivo da camada de enlace de dados</a:t>
            </a:r>
            <a:br>
              <a:rPr lang="en-US" dirty="0"/>
            </a:br>
            <a:r>
              <a:rPr lang="pt-BR" sz="2400"/>
              <a:t>IEEE 802 LAN/MAN Data Link Sublayers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57324" y="855419"/>
            <a:ext cx="4305820" cy="3683530"/>
          </a:xfrm>
        </p:spPr>
        <p:txBody>
          <a:bodyPr/>
          <a:lstStyle/>
          <a:p>
            <a:pPr marL="0" indent="0" algn="l" rtl="0"/>
            <a:r>
              <a:rPr lang="pt-BR" sz="1600">
                <a:solidFill>
                  <a:srgbClr val="000000"/>
                </a:solidFill>
              </a:rPr>
              <a:t>Os padrões IEEE 802 LAN/MAN são específicos para o tipo de rede (Ethernet, WLAN, WPAN, etc).</a:t>
            </a:r>
            <a:endParaRPr lang="pt-BR" sz="160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0" indent="0" algn="l" rtl="0"/>
            <a:r>
              <a:rPr lang="pt-BR" sz="1600">
                <a:solidFill>
                  <a:srgbClr val="000000"/>
                </a:solidFill>
              </a:rPr>
              <a:t>A Camada de Link de Dados consiste em duas subcamadas. </a:t>
            </a:r>
            <a:r>
              <a:rPr lang="pt-BR" sz="1600" b="1">
                <a:solidFill>
                  <a:srgbClr val="000000"/>
                </a:solidFill>
              </a:rPr>
              <a:t>Controle de Link Lógico (LLC)</a:t>
            </a:r>
            <a:r>
              <a:rPr lang="pt-BR" sz="1600">
                <a:solidFill>
                  <a:srgbClr val="000000"/>
                </a:solidFill>
              </a:rPr>
              <a:t> e </a:t>
            </a:r>
            <a:r>
              <a:rPr lang="pt-BR" sz="1600" b="1">
                <a:solidFill>
                  <a:srgbClr val="000000"/>
                </a:solidFill>
              </a:rPr>
              <a:t>Controle de Acesso a Mídia (MAC). </a:t>
            </a:r>
            <a:endParaRPr lang="pt-BR" sz="1600" b="1">
              <a:solidFill>
                <a:srgbClr val="000000"/>
              </a:solidFill>
            </a:endParaRPr>
          </a:p>
          <a:p>
            <a:pPr marL="488950" lvl="2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 subcamada LLC se comunica entre o software de rede nas camadas superiores e o hardware do dispositivo nas camadas inferiores.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 subcamada MAC é responsável pelo encapsulamento de dados e controle de acesso à mídia.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03783" y="855419"/>
            <a:ext cx="4640217" cy="36835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Objetivo da camada de enlace de dadosr</a:t>
            </a:r>
            <a:br>
              <a:rPr lang="en-US" dirty="0"/>
            </a:br>
            <a:r>
              <a:rPr lang="pt-BR" sz="2400"/>
              <a:t>Fornecendo acesso à mídia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431972" y="855419"/>
            <a:ext cx="7913516" cy="3073946"/>
          </a:xfrm>
        </p:spPr>
        <p:txBody>
          <a:bodyPr/>
          <a:lstStyle/>
          <a:p>
            <a:pPr marL="0" indent="0" algn="l" rtl="0"/>
            <a:r>
              <a:rPr lang="pt-BR">
                <a:solidFill>
                  <a:srgbClr val="000000"/>
                </a:solidFill>
              </a:rPr>
              <a:t>Pacotes trocados entre nós podem enfrentar várias camadas de link de dados e transições de mídia.</a:t>
            </a:r>
            <a:endParaRPr lang="pt-BR">
              <a:solidFill>
                <a:srgbClr val="000000"/>
              </a:solidFill>
            </a:endParaRPr>
          </a:p>
          <a:p>
            <a:pPr marL="0" indent="0" algn="l"/>
            <a:endParaRPr lang="en-US" dirty="0">
              <a:solidFill>
                <a:srgbClr val="000000"/>
              </a:solidFill>
            </a:endParaRPr>
          </a:p>
          <a:p>
            <a:pPr marL="0" indent="0" algn="l" rtl="0"/>
            <a:r>
              <a:rPr lang="pt-BR">
                <a:solidFill>
                  <a:srgbClr val="000000"/>
                </a:solidFill>
              </a:rPr>
              <a:t>Em cada salto ao longo do caminho, um roteador executa quatro funções básicas da Camada 2:</a:t>
            </a:r>
            <a:endParaRPr lang="pt-BR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Aceita um quadro da mídia de rede.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Desencapsula o quadro para expor o pacote encapsulado.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/>
            <a:r>
              <a:rPr lang="pt-BR" sz="1600">
                <a:solidFill>
                  <a:srgbClr val="000000"/>
                </a:solidFill>
              </a:rPr>
              <a:t>Encapsula novamente o pacote em um novo quadro.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/>
            <a:r>
              <a:rPr lang="pt-BR" sz="1600">
                <a:solidFill>
                  <a:srgbClr val="000000"/>
                </a:solidFill>
              </a:rPr>
              <a:t>Encaminha o novo quadro no meio do próximo segmento de rede.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8"/>
          </a:xfrm>
        </p:spPr>
        <p:txBody>
          <a:bodyPr/>
          <a:lstStyle/>
          <a:p>
            <a:pPr rtl="0"/>
            <a:r>
              <a:rPr lang="pt-BR" sz="1600"/>
              <a:t>Objetivo da camada de enlace de dados</a:t>
            </a:r>
            <a:br>
              <a:rPr lang="en-US" dirty="0"/>
            </a:br>
            <a:r>
              <a:rPr lang="pt-BR" sz="2400"/>
              <a:t>Padrões da camada de enlace de dados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431972" y="855419"/>
            <a:ext cx="3746328" cy="3073946"/>
          </a:xfrm>
        </p:spPr>
        <p:txBody>
          <a:bodyPr/>
          <a:lstStyle/>
          <a:p>
            <a:pPr marL="0" indent="0" algn="l" rtl="0"/>
            <a:r>
              <a:rPr lang="pt-BR">
                <a:solidFill>
                  <a:srgbClr val="000000"/>
                </a:solidFill>
              </a:rPr>
              <a:t>Os protocolos de camada de link de dados são definidos por organizações de engenharia:</a:t>
            </a:r>
            <a:endParaRPr lang="pt-BR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Instituto de Engenheiros Elétricos e Eletrônicos (IEEE).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União Internacional de Telecomunicações (UIT).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Organizações Internacionais de Normalização (ISO).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Instituto Nacional Americano de Padrões (ANSI).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855419"/>
            <a:ext cx="4055062" cy="2768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1788160"/>
            <a:ext cx="7848344" cy="929640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6.2 Topologias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Topologias </a:t>
            </a:r>
            <a:br>
              <a:rPr lang="en-US" dirty="0"/>
            </a:br>
            <a:r>
              <a:rPr lang="pt-BR" sz="2400"/>
              <a:t>Topologias físicas e lógicas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431800" y="1035050"/>
            <a:ext cx="8280400" cy="3073400"/>
          </a:xfrm>
        </p:spPr>
        <p:txBody>
          <a:bodyPr/>
          <a:lstStyle/>
          <a:p>
            <a:pPr marL="0" indent="0" algn="l" rtl="0"/>
            <a:r>
              <a:rPr lang="pt-BR" sz="1800">
                <a:solidFill>
                  <a:srgbClr val="000000"/>
                </a:solidFill>
              </a:rPr>
              <a:t>A topologia de uma rede é o arranjo e o relacionamento dos dispositivos de rede e as interconexões entre eles.</a:t>
            </a:r>
            <a:endParaRPr lang="pt-BR" sz="1800">
              <a:solidFill>
                <a:srgbClr val="000000"/>
              </a:solidFill>
            </a:endParaRPr>
          </a:p>
          <a:p>
            <a:pPr marL="0" indent="0" algn="l"/>
            <a:endParaRPr lang="en-US" sz="1800" dirty="0">
              <a:solidFill>
                <a:srgbClr val="000000"/>
              </a:solidFill>
            </a:endParaRPr>
          </a:p>
          <a:p>
            <a:pPr marL="0" indent="0" algn="l" rtl="0"/>
            <a:r>
              <a:rPr lang="pt-BR" sz="1800">
                <a:solidFill>
                  <a:srgbClr val="000000"/>
                </a:solidFill>
              </a:rPr>
              <a:t>Existem dois tipos de topologias usadas ao descrever redes:</a:t>
            </a:r>
            <a:endParaRPr lang="pt-BR" sz="18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800" b="1">
                <a:solidFill>
                  <a:srgbClr val="000000"/>
                </a:solidFill>
              </a:rPr>
              <a:t>Topologia física </a:t>
            </a:r>
            <a:r>
              <a:rPr lang="pt-BR" sz="1800">
                <a:solidFill>
                  <a:srgbClr val="000000"/>
                </a:solidFill>
              </a:rPr>
              <a:t>— mostra as conexões físicas e como os dispositivos estão interligados. </a:t>
            </a:r>
            <a:endParaRPr lang="pt-BR" sz="18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800" b="1">
                <a:solidFill>
                  <a:srgbClr val="000000"/>
                </a:solidFill>
              </a:rPr>
              <a:t>Topologia lógica </a:t>
            </a:r>
            <a:r>
              <a:rPr lang="pt-BR" sz="1800">
                <a:solidFill>
                  <a:srgbClr val="000000"/>
                </a:solidFill>
              </a:rPr>
              <a:t>— identifica as conexões virtuais entre dispositivos usando interfaces de dispositivo e esquemas de endereçamento IP. </a:t>
            </a:r>
            <a:endParaRPr lang="pt-BR" sz="180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Topologias</a:t>
            </a:r>
            <a:br>
              <a:rPr lang="en-US" dirty="0"/>
            </a:br>
            <a:r>
              <a:rPr lang="pt-BR" sz="2400"/>
              <a:t>WAN Topologias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431800" y="943508"/>
            <a:ext cx="8280400" cy="2804664"/>
          </a:xfrm>
        </p:spPr>
        <p:txBody>
          <a:bodyPr/>
          <a:lstStyle/>
          <a:p>
            <a:pPr marL="0" indent="0" algn="l" rtl="0"/>
            <a:r>
              <a:rPr lang="pt-BR" sz="1800">
                <a:solidFill>
                  <a:srgbClr val="000000"/>
                </a:solidFill>
              </a:rPr>
              <a:t>Existem três topologias físicas comuns da WAN: </a:t>
            </a:r>
            <a:endParaRPr lang="pt-BR" sz="18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800" b="1">
                <a:solidFill>
                  <a:srgbClr val="000000"/>
                </a:solidFill>
              </a:rPr>
              <a:t>Ponto a ponto</a:t>
            </a:r>
            <a:r>
              <a:rPr lang="pt-BR" sz="1800">
                <a:solidFill>
                  <a:srgbClr val="000000"/>
                </a:solidFill>
              </a:rPr>
              <a:t> — a topologia WAN mais simples e comum. Consiste em uma ligação permanente entre dois pontos finais. </a:t>
            </a:r>
            <a:endParaRPr lang="pt-BR" sz="18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800" b="1">
                <a:solidFill>
                  <a:srgbClr val="000000"/>
                </a:solidFill>
              </a:rPr>
              <a:t>Hub e spoke </a:t>
            </a:r>
            <a:r>
              <a:rPr lang="pt-BR" sz="1800">
                <a:solidFill>
                  <a:srgbClr val="000000"/>
                </a:solidFill>
              </a:rPr>
              <a:t>- semelhante a uma topologia em estrela, na qual um site central interconecta sites de filial por meio de links ponto a ponto.</a:t>
            </a:r>
            <a:endParaRPr lang="pt-BR" sz="18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800" b="1">
                <a:solidFill>
                  <a:srgbClr val="000000"/>
                </a:solidFill>
              </a:rPr>
              <a:t>Malha</a:t>
            </a:r>
            <a:r>
              <a:rPr lang="pt-BR" sz="1800">
                <a:solidFill>
                  <a:srgbClr val="000000"/>
                </a:solidFill>
              </a:rPr>
              <a:t> - fornece alta disponibilidade, mas requer que todos os sistemas finais estejam conectados a todos os outros sistemas finais.</a:t>
            </a:r>
            <a:endParaRPr lang="pt-BR" sz="180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Topologias </a:t>
            </a:r>
            <a:br>
              <a:rPr lang="en-US" dirty="0"/>
            </a:br>
            <a:r>
              <a:rPr lang="pt-BR" sz="2400"/>
              <a:t>Topologia de WAN ponto a ponto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431800" y="1035050"/>
            <a:ext cx="8280400" cy="1536700"/>
          </a:xfrm>
        </p:spPr>
        <p:txBody>
          <a:bodyPr/>
          <a:lstStyle/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00000"/>
                </a:solidFill>
              </a:rPr>
              <a:t>As topologias ponto a ponto físicas conectam diretamente dois nós.</a:t>
            </a:r>
            <a:endParaRPr lang="pt-BR">
              <a:solidFill>
                <a:srgbClr val="000000"/>
              </a:solidFill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00000"/>
                </a:solidFill>
              </a:rPr>
              <a:t>Os nós não podem compartilhar a mídia com outros hosts.</a:t>
            </a:r>
            <a:endParaRPr lang="pt-BR">
              <a:solidFill>
                <a:srgbClr val="000000"/>
              </a:solidFill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00000"/>
                </a:solidFill>
              </a:rPr>
              <a:t>Como todos os quadros na mídia só podem viajar de ou para os dois nós, os protocolos WAN Ponto a Ponto podem ser muito simples.</a:t>
            </a:r>
            <a:endParaRPr lang="pt-BR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410" y="2874963"/>
            <a:ext cx="6666667" cy="15904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Topologias</a:t>
            </a:r>
            <a:br>
              <a:rPr lang="en-US" dirty="0"/>
            </a:br>
            <a:r>
              <a:rPr lang="pt-BR" sz="2400"/>
              <a:t>LAN Topologias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138440" y="826265"/>
            <a:ext cx="4047061" cy="3613533"/>
          </a:xfrm>
        </p:spPr>
        <p:txBody>
          <a:bodyPr/>
          <a:lstStyle/>
          <a:p>
            <a:pPr marL="0" indent="0" algn="l" rtl="0"/>
            <a:r>
              <a:rPr lang="pt-BR" sz="1600">
                <a:solidFill>
                  <a:srgbClr val="000000"/>
                </a:solidFill>
              </a:rPr>
              <a:t>Os dispositivos finais em LANs são normalmente interconectados usando uma topologia estrela ou estelar estendida. Topologias estrelas e estrelas estendidas são fáceis de instalar, muito escaláveis e fáceis de solucionar problemas.</a:t>
            </a:r>
            <a:endParaRPr lang="pt-BR" sz="160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0" indent="0" algn="l" rtl="0"/>
            <a:r>
              <a:rPr lang="pt-BR" sz="1600">
                <a:solidFill>
                  <a:srgbClr val="000000"/>
                </a:solidFill>
              </a:rPr>
              <a:t>As tecnologias Early Ethernet e Token Ring Legacy fornecem duas topologias adicionais: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 b="1">
                <a:solidFill>
                  <a:srgbClr val="000000"/>
                </a:solidFill>
              </a:rPr>
              <a:t>Barramento</a:t>
            </a:r>
            <a:r>
              <a:rPr lang="pt-BR" sz="1600">
                <a:solidFill>
                  <a:srgbClr val="000000"/>
                </a:solidFill>
              </a:rPr>
              <a:t> - Todos os sistemas finais encadeados e terminados em cada extremidade.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 b="1">
                <a:solidFill>
                  <a:srgbClr val="000000"/>
                </a:solidFill>
              </a:rPr>
              <a:t>Anel </a:t>
            </a:r>
            <a:r>
              <a:rPr lang="pt-BR" sz="1600">
                <a:solidFill>
                  <a:srgbClr val="000000"/>
                </a:solidFill>
              </a:rPr>
              <a:t>— Cada sistema final é conectado aos seus respectivos vizinhos para formar um anel. 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85501" y="681400"/>
            <a:ext cx="4820059" cy="3781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/>
          <p:cNvSpPr txBox="1"/>
          <p:nvPr/>
        </p:nvSpPr>
        <p:spPr bwMode="auto">
          <a:xfrm>
            <a:off x="0" y="0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>
            <a:lvl1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lang="en-US" sz="3200" kern="1200">
                <a:solidFill>
                  <a:srgbClr val="004C69"/>
                </a:solidFill>
                <a:latin typeface="+mj-lt"/>
                <a:ea typeface="MS PGothic" charset="0"/>
                <a:cs typeface="CiscoSans"/>
              </a:defRPr>
            </a:lvl1pPr>
            <a:lvl2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2pPr>
            <a:lvl3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3pPr>
            <a:lvl4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4pPr>
            <a:lvl5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5pPr>
            <a:lvl6pPr marL="4572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6pPr>
            <a:lvl7pPr marL="9144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7pPr>
            <a:lvl8pPr marL="13716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8pPr>
            <a:lvl9pPr marL="18288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r>
              <a:rPr lang="pt-BR" sz="1600"/>
              <a:t>Topologias</a:t>
            </a:r>
            <a:br>
              <a:rPr lang="en-US" dirty="0"/>
            </a:br>
            <a:r>
              <a:rPr lang="pt-BR" sz="2400"/>
              <a:t>Half e Full Duplex Comunicação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431800" y="1035050"/>
            <a:ext cx="8280400" cy="3073400"/>
          </a:xfrm>
        </p:spPr>
        <p:txBody>
          <a:bodyPr/>
          <a:lstStyle/>
          <a:p>
            <a:pPr marL="0" indent="0" algn="l" rtl="0"/>
            <a:r>
              <a:rPr lang="pt-BR" sz="1600" b="1">
                <a:solidFill>
                  <a:srgbClr val="000000"/>
                </a:solidFill>
              </a:rPr>
              <a:t>Comunicação half-duplex</a:t>
            </a:r>
            <a:endParaRPr lang="pt-BR" sz="1600" b="1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Só permite que um dispositivo envie ou receba de cada vez em uma mídia compartilhada.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Usado em WLANs e topologias de barramento herdadas com hubs Ethernet.</a:t>
            </a:r>
            <a:endParaRPr lang="pt-BR" sz="1600">
              <a:solidFill>
                <a:srgbClr val="000000"/>
              </a:solidFill>
            </a:endParaRPr>
          </a:p>
          <a:p>
            <a:pPr marL="0" indent="0" algn="l"/>
            <a:endParaRPr lang="en-US" sz="1600" b="1" dirty="0">
              <a:solidFill>
                <a:srgbClr val="000000"/>
              </a:solidFill>
            </a:endParaRPr>
          </a:p>
          <a:p>
            <a:pPr marL="0" indent="0" algn="l" rtl="0"/>
            <a:r>
              <a:rPr lang="pt-BR" sz="1600" b="1">
                <a:solidFill>
                  <a:srgbClr val="000000"/>
                </a:solidFill>
              </a:rPr>
              <a:t>Comunicação full-duplex</a:t>
            </a:r>
            <a:endParaRPr lang="pt-BR" sz="1600" b="1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Permite que ambos os dispositivos transmitam e recebam simultaneamente em uma mídia compartilhada.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Os comutadores Ethernet operam no modo full-duplex.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/>
          <p:cNvSpPr txBox="1"/>
          <p:nvPr/>
        </p:nvSpPr>
        <p:spPr bwMode="auto">
          <a:xfrm>
            <a:off x="0" y="0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>
            <a:lvl1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lang="en-US" sz="3200" kern="1200">
                <a:solidFill>
                  <a:srgbClr val="004C69"/>
                </a:solidFill>
                <a:latin typeface="+mj-lt"/>
                <a:ea typeface="MS PGothic" charset="0"/>
                <a:cs typeface="CiscoSans"/>
              </a:defRPr>
            </a:lvl1pPr>
            <a:lvl2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2pPr>
            <a:lvl3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3pPr>
            <a:lvl4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4pPr>
            <a:lvl5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5pPr>
            <a:lvl6pPr marL="4572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6pPr>
            <a:lvl7pPr marL="9144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7pPr>
            <a:lvl8pPr marL="13716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8pPr>
            <a:lvl9pPr marL="18288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r>
              <a:rPr lang="pt-BR" sz="1600"/>
              <a:t>Topologias</a:t>
            </a:r>
            <a:br>
              <a:rPr lang="en-US" dirty="0"/>
            </a:br>
            <a:r>
              <a:rPr lang="pt-BR" sz="2400"/>
              <a:t>Métodos de controle de acesso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431800" y="1035050"/>
            <a:ext cx="8280400" cy="3073400"/>
          </a:xfrm>
        </p:spPr>
        <p:txBody>
          <a:bodyPr/>
          <a:lstStyle/>
          <a:p>
            <a:pPr marL="0" indent="0" algn="l" rtl="0"/>
            <a:r>
              <a:rPr lang="pt-BR" sz="1600" b="1">
                <a:solidFill>
                  <a:srgbClr val="000000"/>
                </a:solidFill>
              </a:rPr>
              <a:t>Acesso baseado em contenção</a:t>
            </a:r>
            <a:endParaRPr lang="pt-BR" sz="1600" b="1">
              <a:solidFill>
                <a:srgbClr val="000000"/>
              </a:solidFill>
            </a:endParaRPr>
          </a:p>
          <a:p>
            <a:pPr marL="73025" lvl="1" indent="0" rtl="0">
              <a:buNone/>
            </a:pPr>
            <a:r>
              <a:rPr lang="pt-BR" sz="1600">
                <a:solidFill>
                  <a:srgbClr val="000000"/>
                </a:solidFill>
              </a:rPr>
              <a:t>Todos os nós operando em half-duplex, competindo pelo uso do meio. Os exemplos são: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 operadora detecta o acesso múltiplo com detecção de colisão (CSMA / CD) conforme usado na Ethernet de topologia de barramento herdada.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 operadora detecta o acesso múltiplo com prevenção de colisão (CSMA / CA), conforme usado nas LANs sem fio.</a:t>
            </a:r>
            <a:endParaRPr lang="pt-BR" sz="1600">
              <a:solidFill>
                <a:srgbClr val="000000"/>
              </a:solidFill>
            </a:endParaRPr>
          </a:p>
          <a:p>
            <a:pPr marL="146050" lvl="2" indent="0"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 rtl="0"/>
            <a:r>
              <a:rPr lang="pt-BR" sz="1600" b="1">
                <a:solidFill>
                  <a:srgbClr val="000000"/>
                </a:solidFill>
              </a:rPr>
              <a:t>Acesso controlado</a:t>
            </a:r>
            <a:endParaRPr lang="pt-BR" sz="1600" b="1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Acesso determinístico onde cada nó tem seu próprio tempo no meio.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Usado em redes herdadas, como Token Ring e ARCNET.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/>
          <p:cNvSpPr txBox="1"/>
          <p:nvPr/>
        </p:nvSpPr>
        <p:spPr bwMode="auto">
          <a:xfrm>
            <a:off x="0" y="0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>
            <a:lvl1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lang="en-US" sz="3200" kern="1200">
                <a:solidFill>
                  <a:srgbClr val="004C69"/>
                </a:solidFill>
                <a:latin typeface="+mj-lt"/>
                <a:ea typeface="MS PGothic" charset="0"/>
                <a:cs typeface="CiscoSans"/>
              </a:defRPr>
            </a:lvl1pPr>
            <a:lvl2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2pPr>
            <a:lvl3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3pPr>
            <a:lvl4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4pPr>
            <a:lvl5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5pPr>
            <a:lvl6pPr marL="4572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6pPr>
            <a:lvl7pPr marL="9144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7pPr>
            <a:lvl8pPr marL="13716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8pPr>
            <a:lvl9pPr marL="18288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r>
              <a:rPr lang="pt-BR" sz="1600"/>
              <a:t>Topologias</a:t>
            </a:r>
            <a:br>
              <a:rPr lang="en-US" dirty="0"/>
            </a:br>
            <a:r>
              <a:rPr lang="pt-BR" sz="2400"/>
              <a:t> - Acesso baseado em conteúdo - CSMA/CD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431800" y="1035049"/>
            <a:ext cx="8280400" cy="3393731"/>
          </a:xfrm>
        </p:spPr>
        <p:txBody>
          <a:bodyPr/>
          <a:lstStyle/>
          <a:p>
            <a:pPr marL="0" indent="0" algn="l" rtl="0"/>
            <a:r>
              <a:rPr lang="pt-BR" sz="1600" b="1">
                <a:solidFill>
                  <a:srgbClr val="000000"/>
                </a:solidFill>
              </a:rPr>
              <a:t>CSMA/CD</a:t>
            </a:r>
            <a:endParaRPr lang="pt-BR" sz="1600" b="1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Usado por LANs Ethernet herdadas.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Funciona no modo half-duplex onde apenas um dispositivo envia ou recebe de cada vez.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Usa um processo de detecção de colisão para controlar quando um dispositivo pode enviar e o que acontece se vários dispositivos enviarem ao mesmo tempo.</a:t>
            </a:r>
            <a:endParaRPr lang="pt-BR" sz="1600">
              <a:solidFill>
                <a:srgbClr val="000000"/>
              </a:solidFill>
            </a:endParaRPr>
          </a:p>
          <a:p>
            <a:pPr marL="73025" lvl="1" indent="0"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73025" lvl="1" indent="0" rtl="0">
              <a:buNone/>
            </a:pPr>
            <a:r>
              <a:rPr lang="pt-BR" sz="1600" b="1">
                <a:solidFill>
                  <a:srgbClr val="000000"/>
                </a:solidFill>
              </a:rPr>
              <a:t>Processo de detecção de colisão CSMA/CD</a:t>
            </a:r>
            <a:r>
              <a:rPr lang="pt-BR" sz="1600">
                <a:solidFill>
                  <a:srgbClr val="000000"/>
                </a:solidFill>
              </a:rPr>
              <a:t>: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Dispositivos que transmitem simultaneamente resultarão em uma colisão de sinal na mídia compartilhada.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Dispositivos detectam a colisão.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Os dispositivos aguardam um período aleatório de tempo e retransmitem dados.</a:t>
            </a:r>
            <a:endParaRPr lang="pt-BR" sz="1600">
              <a:solidFill>
                <a:srgbClr val="000000"/>
              </a:solidFill>
            </a:endParaRPr>
          </a:p>
          <a:p>
            <a:pPr marL="146050" lvl="2" indent="0">
              <a:buNone/>
            </a:pPr>
            <a:endParaRPr lang="en-US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/>
          <p:cNvSpPr txBox="1"/>
          <p:nvPr/>
        </p:nvSpPr>
        <p:spPr bwMode="auto">
          <a:xfrm>
            <a:off x="0" y="0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>
            <a:lvl1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lang="en-US" sz="3200" kern="1200">
                <a:solidFill>
                  <a:srgbClr val="004C69"/>
                </a:solidFill>
                <a:latin typeface="+mj-lt"/>
                <a:ea typeface="MS PGothic" charset="0"/>
                <a:cs typeface="CiscoSans"/>
              </a:defRPr>
            </a:lvl1pPr>
            <a:lvl2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2pPr>
            <a:lvl3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3pPr>
            <a:lvl4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4pPr>
            <a:lvl5pPr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  <a:cs typeface="CiscoSans" pitchFamily="34" charset="0"/>
              </a:defRPr>
            </a:lvl5pPr>
            <a:lvl6pPr marL="4572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6pPr>
            <a:lvl7pPr marL="9144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7pPr>
            <a:lvl8pPr marL="13716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8pPr>
            <a:lvl9pPr marL="1828800" algn="l" defTabSz="684530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3200">
                <a:solidFill>
                  <a:srgbClr val="676767"/>
                </a:solidFill>
                <a:latin typeface="Arial" panose="020B0604020202020204" pitchFamily="34" charset="0"/>
                <a:ea typeface="MS PGothic" charset="0"/>
              </a:defRPr>
            </a:lvl9pPr>
          </a:lstStyle>
          <a:p>
            <a:pPr rtl="0"/>
            <a:r>
              <a:rPr lang="pt-BR" sz="1600"/>
              <a:t>Topologias</a:t>
            </a:r>
            <a:br>
              <a:rPr lang="en-US" dirty="0"/>
            </a:br>
            <a:r>
              <a:rPr lang="pt-BR" sz="2400"/>
              <a:t>Acesso baseado em conteúdo - CSMA/CA</a:t>
            </a:r>
            <a:endParaRPr lang="pt-BR" sz="2400"/>
          </a:p>
        </p:txBody>
      </p:sp>
      <p:sp>
        <p:nvSpPr>
          <p:cNvPr id="6" name="Content Placeholder 3"/>
          <p:cNvSpPr>
            <a:spLocks noGrp="1"/>
          </p:cNvSpPr>
          <p:nvPr>
            <p:ph idx="1"/>
          </p:nvPr>
        </p:nvSpPr>
        <p:spPr>
          <a:xfrm>
            <a:off x="431800" y="1035050"/>
            <a:ext cx="8280400" cy="3073400"/>
          </a:xfrm>
        </p:spPr>
        <p:txBody>
          <a:bodyPr/>
          <a:lstStyle/>
          <a:p>
            <a:pPr marL="0" indent="0" algn="l" rtl="0"/>
            <a:r>
              <a:rPr lang="pt-BR" sz="1600" b="1">
                <a:solidFill>
                  <a:srgbClr val="000000"/>
                </a:solidFill>
              </a:rPr>
              <a:t>CSMA/CA</a:t>
            </a:r>
            <a:endParaRPr lang="pt-BR" sz="1600" b="1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Usado por WLANs IEEE 802.11.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Funciona no modo half-duplex onde apenas um dispositivo envia ou recebe de cada vez.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Usa um processo de prevenção de colisão para controlar quando um dispositivo pode enviar e o que acontece se vários dispositivos enviarem ao mesmo tempo.</a:t>
            </a:r>
            <a:endParaRPr lang="pt-BR" sz="1600">
              <a:solidFill>
                <a:srgbClr val="000000"/>
              </a:solidFill>
            </a:endParaRPr>
          </a:p>
          <a:p>
            <a:pPr marL="73025" lvl="1" indent="0"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lvl="1" indent="0" defTabSz="457200" rtl="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None/>
            </a:pPr>
            <a:r>
              <a:rPr lang="pt-BR" sz="1600" b="1">
                <a:solidFill>
                  <a:srgbClr val="000000"/>
                </a:solidFill>
              </a:rPr>
              <a:t>Processo de prevenção de colisão CSMA/CA</a:t>
            </a:r>
            <a:r>
              <a:rPr lang="pt-BR" sz="1600">
                <a:solidFill>
                  <a:srgbClr val="000000"/>
                </a:solidFill>
              </a:rPr>
              <a:t>: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Ao transmitir, os dispositivos também incluem a duração de tempo necessária para a transmissão.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Outros dispositivos na mídia compartilhada recebem as informações de duração do tempo e sabem por quanto tempo a mídia ficará indisponível.</a:t>
            </a:r>
            <a:endParaRPr lang="pt-BR" sz="160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488950" lvl="2" indent="-342900">
              <a:buFont typeface="Arial" panose="020B0604020202020204" pitchFamily="34" charset="0"/>
              <a:buChar char="•"/>
            </a:pPr>
            <a:endParaRPr lang="en-US" sz="2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0" indent="0" algn="l"/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1788160"/>
            <a:ext cx="7848344" cy="929640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6.3 Quadro de link de dados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Quadro de enlace de dados </a:t>
            </a:r>
            <a:br>
              <a:rPr lang="en-US" dirty="0"/>
            </a:br>
            <a:r>
              <a:rPr lang="pt-BR" sz="2400"/>
              <a:t>O quadro</a:t>
            </a:r>
            <a:endParaRPr lang="pt-BR" sz="240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31971" y="902311"/>
            <a:ext cx="8280057" cy="3505566"/>
          </a:xfrm>
        </p:spPr>
        <p:txBody>
          <a:bodyPr/>
          <a:lstStyle/>
          <a:p>
            <a:pPr marL="0" indent="0" algn="l" rtl="0"/>
            <a:r>
              <a:rPr lang="pt-BR" sz="1600">
                <a:solidFill>
                  <a:srgbClr val="000000"/>
                </a:solidFill>
              </a:rPr>
              <a:t>Os dados são encapsulados pela camada de link de dados com um cabeçalho e um trailer para formar um quadro.</a:t>
            </a:r>
            <a:endParaRPr lang="pt-BR" sz="1600">
              <a:solidFill>
                <a:srgbClr val="000000"/>
              </a:solidFill>
            </a:endParaRPr>
          </a:p>
          <a:p>
            <a:pPr marL="0" indent="0" algn="l" rtl="0"/>
            <a:r>
              <a:rPr lang="pt-BR" sz="1600">
                <a:solidFill>
                  <a:srgbClr val="000000"/>
                </a:solidFill>
              </a:rPr>
              <a:t>Um quadro de link de dados tem três partes: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Cabeçalho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Dados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Trailer</a:t>
            </a:r>
            <a:endParaRPr lang="pt-BR" sz="1600">
              <a:solidFill>
                <a:srgbClr val="000000"/>
              </a:solidFill>
            </a:endParaRPr>
          </a:p>
          <a:p>
            <a:pPr marL="0" lvl="1" indent="0" defTabSz="457200" rtl="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None/>
            </a:pPr>
            <a:r>
              <a:rPr lang="pt-BR" sz="1600">
                <a:solidFill>
                  <a:srgbClr val="000000"/>
                </a:solidFill>
              </a:rPr>
              <a:t>Os campos do cabeçalho e do trailer variam de acordo com o protocolo da camada de link de dados.</a:t>
            </a:r>
            <a:endParaRPr lang="pt-BR" sz="1600">
              <a:solidFill>
                <a:srgbClr val="000000"/>
              </a:solidFill>
            </a:endParaRPr>
          </a:p>
          <a:p>
            <a:pPr marL="0" lvl="1" indent="0" defTabSz="45720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None/>
            </a:pPr>
            <a:endParaRPr lang="en-US" sz="1600" dirty="0">
              <a:solidFill>
                <a:srgbClr val="000000"/>
              </a:solidFill>
            </a:endParaRPr>
          </a:p>
          <a:p>
            <a:pPr marL="0" lvl="1" indent="0" defTabSz="457200" rtl="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None/>
            </a:pPr>
            <a:r>
              <a:rPr lang="pt-BR" sz="1600">
                <a:solidFill>
                  <a:srgbClr val="000000"/>
                </a:solidFill>
              </a:rPr>
              <a:t>A quantidade de informações de controle transportadas no quadro varia de acordo com as informações de controle de acesso e a topologia lógica.</a:t>
            </a:r>
            <a:endParaRPr lang="pt-BR" sz="160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Quadro de enlace de dados </a:t>
            </a:r>
            <a:br>
              <a:rPr lang="en-US" dirty="0"/>
            </a:br>
            <a:r>
              <a:rPr lang="pt-BR" sz="2400"/>
              <a:t>Campos do quadro</a:t>
            </a:r>
            <a:endParaRPr lang="pt-BR" sz="2400"/>
          </a:p>
        </p:txBody>
      </p:sp>
      <p:graphicFrame>
        <p:nvGraphicFramePr>
          <p:cNvPr id="6" name="Content Placeholder 6"/>
          <p:cNvGraphicFramePr/>
          <p:nvPr/>
        </p:nvGraphicFramePr>
        <p:xfrm>
          <a:off x="474662" y="2749860"/>
          <a:ext cx="8237366" cy="18284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1847"/>
                <a:gridCol w="5735519"/>
              </a:tblGrid>
              <a:tr h="0">
                <a:tc>
                  <a:txBody>
                    <a:bodyPr/>
                    <a:lstStyle/>
                    <a:p>
                      <a:pPr rtl="0"/>
                      <a:r>
                        <a:rPr lang="pt-BR" sz="1100"/>
                        <a:t>Campo</a:t>
                      </a:r>
                      <a:endParaRPr lang="pt-BR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100"/>
                        <a:t>Descrição</a:t>
                      </a:r>
                      <a:endParaRPr lang="pt-BR" sz="1100"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Frame Start e Stop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Identifica o início e o fim do quadro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170900"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Endereçamento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Indica nós de origem e destino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201380"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Tipo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Identifica o protocolo encapsulado da Camada 3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174195"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Controle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Identifica serviços de controle de fluxo 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274011"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Dados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Contém a carga útil do quadro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185728"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Detecção de erros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100">
                          <a:solidFill>
                            <a:srgbClr val="000000"/>
                          </a:solidFill>
                        </a:rPr>
                        <a:t>Usado para determinar erros de transmissão</a:t>
                      </a:r>
                      <a:endParaRPr lang="pt-BR" sz="110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1925" y="565149"/>
            <a:ext cx="5524833" cy="20121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Quadro de enlace de dados </a:t>
            </a:r>
            <a:br>
              <a:rPr lang="en-US" dirty="0"/>
            </a:br>
            <a:r>
              <a:rPr lang="pt-BR" sz="2400"/>
              <a:t>Endereço da Camada 2</a:t>
            </a:r>
            <a:endParaRPr lang="pt-BR" sz="240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31971" y="902311"/>
            <a:ext cx="8280057" cy="1247000"/>
          </a:xfrm>
        </p:spPr>
        <p:txBody>
          <a:bodyPr/>
          <a:lstStyle/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Também referido como um endereço físico.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Contido no cabeçalho do quadro.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Usado apenas para entrega local de um quadro no link.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Atualizado por cada dispositivo que encaminha o quadro.</a:t>
            </a:r>
            <a:endParaRPr lang="pt-BR" sz="160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2644" y="2149311"/>
            <a:ext cx="4778709" cy="22964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Quadro de Link de Dados </a:t>
            </a:r>
            <a:br>
              <a:rPr lang="en-US" dirty="0"/>
            </a:br>
            <a:r>
              <a:rPr lang="pt-BR" sz="2400"/>
              <a:t>LAN e WAN Frames</a:t>
            </a:r>
            <a:endParaRPr lang="pt-BR" sz="240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31971" y="902311"/>
            <a:ext cx="8280057" cy="3505566"/>
          </a:xfrm>
        </p:spPr>
        <p:txBody>
          <a:bodyPr/>
          <a:lstStyle/>
          <a:p>
            <a:pPr marL="0" indent="0" algn="l" rtl="0"/>
            <a:r>
              <a:rPr lang="pt-BR">
                <a:solidFill>
                  <a:srgbClr val="000000"/>
                </a:solidFill>
              </a:rPr>
              <a:t>A topologia lógica e a mídia física determinam o protocolo de link de dados usado:</a:t>
            </a:r>
            <a:endParaRPr lang="pt-BR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Ethernet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802.11 sem fio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Ponto a ponto (PPP)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Controle de Enlace de Dados de Alto Nível (HDLC)</a:t>
            </a:r>
            <a:endParaRPr lang="pt-BR" sz="1600">
              <a:solidFill>
                <a:srgbClr val="000000"/>
              </a:solidFill>
            </a:endParaRPr>
          </a:p>
          <a:p>
            <a:pPr marL="415925" lvl="1" indent="-342900" rtl="0">
              <a:buFont typeface="Arial" panose="020B0604020202020204" pitchFamily="34" charset="0"/>
              <a:buChar char="•"/>
            </a:pPr>
            <a:r>
              <a:rPr lang="pt-BR" sz="1600">
                <a:solidFill>
                  <a:srgbClr val="000000"/>
                </a:solidFill>
              </a:rPr>
              <a:t>Frame-Relay</a:t>
            </a:r>
            <a:endParaRPr lang="pt-BR" sz="1600">
              <a:solidFill>
                <a:srgbClr val="000000"/>
              </a:solidFill>
            </a:endParaRPr>
          </a:p>
          <a:p>
            <a:pPr marL="0" indent="0" algn="l"/>
            <a:endParaRPr lang="en-US" dirty="0">
              <a:solidFill>
                <a:srgbClr val="000000"/>
              </a:solidFill>
            </a:endParaRPr>
          </a:p>
          <a:p>
            <a:pPr marL="0" indent="0" algn="l" rtl="0"/>
            <a:r>
              <a:rPr lang="pt-BR">
                <a:solidFill>
                  <a:srgbClr val="000000"/>
                </a:solidFill>
              </a:rPr>
              <a:t>Cada protocolo executa o controle de acesso à mídia para topologias lógicas especificadas.</a:t>
            </a:r>
            <a:endParaRPr lang="pt-BR">
              <a:solidFill>
                <a:srgbClr val="000000"/>
              </a:solidFill>
            </a:endParaRPr>
          </a:p>
          <a:p>
            <a:pPr marL="0" indent="0" algn="l"/>
            <a:endParaRPr lang="en-US" dirty="0">
              <a:solidFill>
                <a:srgbClr val="000000"/>
              </a:solidFill>
            </a:endParaRPr>
          </a:p>
          <a:p>
            <a:pPr marL="0" indent="0" algn="l"/>
            <a:endParaRPr lang="en-US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transition spd="slow">
    <p:wipe/>
  </p:transition>
</p:sld>
</file>

<file path=ppt/tags/tag1.xml><?xml version="1.0" encoding="utf-8"?>
<p:tagLst xmlns:p="http://schemas.openxmlformats.org/presentationml/2006/main">
  <p:tag name="ARTICULATE_SLIDE_THUMBNAIL_REFRESH" val="1"/>
</p:tagLst>
</file>

<file path=ppt/tags/tag2.xml><?xml version="1.0" encoding="utf-8"?>
<p:tagLst xmlns:p="http://schemas.openxmlformats.org/presentationml/2006/main">
  <p:tag name="ARTICULATE_SLIDE_THUMBNAIL_REFRESH" val="1"/>
</p:tagLst>
</file>

<file path=ppt/tags/tag3.xml><?xml version="1.0" encoding="utf-8"?>
<p:tagLst xmlns:p="http://schemas.openxmlformats.org/presentationml/2006/main">
  <p:tag name="ARTICULATE_SLIDE_THUMBNAIL_REFRESH" val="1"/>
</p:tagLst>
</file>

<file path=ppt/tags/tag4.xml><?xml version="1.0" encoding="utf-8"?>
<p:tagLst xmlns:p="http://schemas.openxmlformats.org/presentationml/2006/main">
  <p:tag name="ARTICULATE_SLIDE_THUMBNAIL_REFRESH" val="1"/>
</p:tagLst>
</file>

<file path=ppt/tags/tag5.xml><?xml version="1.0" encoding="utf-8"?>
<p:tagLst xmlns:p="http://schemas.openxmlformats.org/presentationml/2006/main">
  <p:tag name="ARTICULATE_SLIDE_THUMBNAIL_REFRESH" val="1"/>
</p:tagLst>
</file>

<file path=ppt/tags/tag6.xml><?xml version="1.0" encoding="utf-8"?>
<p:tagLst xmlns:p="http://schemas.openxmlformats.org/presentationml/2006/main">
  <p:tag name="ARTICULATE_SLIDE_COUNT" val="65"/>
  <p:tag name="ARTICULATE_PROJECT_OPEN" val="0"/>
</p:tagLst>
</file>

<file path=ppt/theme/theme1.xml><?xml version="1.0" encoding="utf-8"?>
<a:theme xmlns:a="http://schemas.openxmlformats.org/drawingml/2006/main" name="Default Theme">
  <a:themeElements>
    <a:clrScheme name="Custom 6">
      <a:dk1>
        <a:srgbClr val="58585B"/>
      </a:dk1>
      <a:lt1>
        <a:srgbClr val="FFFFFF"/>
      </a:lt1>
      <a:dk2>
        <a:srgbClr val="58585B"/>
      </a:dk2>
      <a:lt2>
        <a:srgbClr val="81C569"/>
      </a:lt2>
      <a:accent1>
        <a:srgbClr val="004C69"/>
      </a:accent1>
      <a:accent2>
        <a:srgbClr val="9E0B0F"/>
      </a:accent2>
      <a:accent3>
        <a:srgbClr val="FFFFFF"/>
      </a:accent3>
      <a:accent4>
        <a:srgbClr val="367187"/>
      </a:accent4>
      <a:accent5>
        <a:srgbClr val="38C6F4"/>
      </a:accent5>
      <a:accent6>
        <a:srgbClr val="FBAB18"/>
      </a:accent6>
      <a:hlink>
        <a:srgbClr val="38C6F4"/>
      </a:hlink>
      <a:folHlink>
        <a:srgbClr val="81C569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6A4D7"/>
        </a:solidFill>
        <a:ln>
          <a:noFill/>
        </a:ln>
      </a:spPr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0</TotalTime>
  <Words>7008</Words>
  <Application>WPS Presentation</Application>
  <PresentationFormat>On-screen Show (16:9)</PresentationFormat>
  <Paragraphs>238</Paragraphs>
  <Slides>21</Slides>
  <Notes>31</Notes>
  <HiddenSlides>6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40" baseType="lpstr">
      <vt:lpstr>Arial</vt:lpstr>
      <vt:lpstr>SimSun</vt:lpstr>
      <vt:lpstr>Wingdings</vt:lpstr>
      <vt:lpstr>MS PGothic</vt:lpstr>
      <vt:lpstr>Droid Sans Fallback</vt:lpstr>
      <vt:lpstr>CiscoSans Thin</vt:lpstr>
      <vt:lpstr>Gubbi</vt:lpstr>
      <vt:lpstr>MS PGothic</vt:lpstr>
      <vt:lpstr>CiscoSans</vt:lpstr>
      <vt:lpstr>CiscoSans</vt:lpstr>
      <vt:lpstr>CiscoSans ExtraLight</vt:lpstr>
      <vt:lpstr>Arial</vt:lpstr>
      <vt:lpstr>CiscoSans ExtraLight</vt:lpstr>
      <vt:lpstr>OpenSymbol</vt:lpstr>
      <vt:lpstr>Microsoft YaHei</vt:lpstr>
      <vt:lpstr>Arial Unicode MS</vt:lpstr>
      <vt:lpstr>Calibri</vt:lpstr>
      <vt:lpstr>Trebuchet MS</vt:lpstr>
      <vt:lpstr>Default Theme</vt:lpstr>
      <vt:lpstr>Módulo 6: Camada de Link de Dados</vt:lpstr>
      <vt:lpstr>6.1 Finalidade da Camada de Enlace de Dados</vt:lpstr>
      <vt:lpstr>Objetivo da camada de vínculo de dados  A camada de vínculo de dados</vt:lpstr>
      <vt:lpstr>Objetivo da camada de enlace de dados IEEE 802 LAN/MAN Data Link Sublayers</vt:lpstr>
      <vt:lpstr>Objetivo da camada de enlace de dadosr Fornecendo acesso à mídia</vt:lpstr>
      <vt:lpstr>Objetivo da camada de enlace de dados Padrões da camada de enlace de dados</vt:lpstr>
      <vt:lpstr>6.2 Topologias</vt:lpstr>
      <vt:lpstr>Topologias  Topologias físicas e lógicas</vt:lpstr>
      <vt:lpstr>Topologias WAN Topologias</vt:lpstr>
      <vt:lpstr>Topologias  Topologia de WAN ponto a ponto</vt:lpstr>
      <vt:lpstr>Topologias LAN Topologias</vt:lpstr>
      <vt:lpstr>PowerPoint 演示文稿</vt:lpstr>
      <vt:lpstr>PowerPoint 演示文稿</vt:lpstr>
      <vt:lpstr>PowerPoint 演示文稿</vt:lpstr>
      <vt:lpstr>PowerPoint 演示文稿</vt:lpstr>
      <vt:lpstr>6.3 Quadro de link de dados</vt:lpstr>
      <vt:lpstr>Quadro de enlace de dados  O quadro</vt:lpstr>
      <vt:lpstr>Quadro de enlace de dados  Campos do quadro</vt:lpstr>
      <vt:lpstr>Quadro de enlace de dados  Endereço da Camada 2</vt:lpstr>
      <vt:lpstr>Quadro de Link de Dados  LAN e WAN Frames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2: Basic Switch and End Device Configuration</dc:title>
  <dc:creator>Stephanie Harvey</dc:creator>
  <cp:lastModifiedBy>vaamonde</cp:lastModifiedBy>
  <cp:revision>249</cp:revision>
  <dcterms:created xsi:type="dcterms:W3CDTF">2026-03-18T20:15:05Z</dcterms:created>
  <dcterms:modified xsi:type="dcterms:W3CDTF">2026-03-18T20:15:05Z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sync_ProviderInitializationData">
    <vt:lpwstr>https://cisco.jiveon.com</vt:lpwstr>
  </property>
  <property fmtid="{D5CDD505-2E9C-101B-9397-08002B2CF9AE}" pid="3" name="Offisync_UpdateToken">
    <vt:lpwstr>1</vt:lpwstr>
  </property>
  <property fmtid="{D5CDD505-2E9C-101B-9397-08002B2CF9AE}" pid="4" name="Offisync_ServerID">
    <vt:lpwstr>07841bbc-cd3c-4a76-827f-75a2226890f4</vt:lpwstr>
  </property>
  <property fmtid="{D5CDD505-2E9C-101B-9397-08002B2CF9AE}" pid="5" name="Offisync_UniqueId">
    <vt:lpwstr>1702406</vt:lpwstr>
  </property>
  <property fmtid="{D5CDD505-2E9C-101B-9397-08002B2CF9AE}" pid="6" name="Jive_VersionGuid">
    <vt:lpwstr>fd96a0b3-f68d-4727-8e4f-2128d37ed30a</vt:lpwstr>
  </property>
  <property fmtid="{D5CDD505-2E9C-101B-9397-08002B2CF9AE}" pid="7" name="Jive_LatestUserAccountName">
    <vt:lpwstr>alljohns</vt:lpwstr>
  </property>
  <property fmtid="{D5CDD505-2E9C-101B-9397-08002B2CF9AE}" pid="8" name="ArticulateGUID">
    <vt:lpwstr>F9A496F7-57D7-4028-9572-D40DFDF3715A</vt:lpwstr>
  </property>
  <property fmtid="{D5CDD505-2E9C-101B-9397-08002B2CF9AE}" pid="9" name="ArticulatePath">
    <vt:lpwstr>ITE7_Chp9_by_jg</vt:lpwstr>
  </property>
  <property fmtid="{D5CDD505-2E9C-101B-9397-08002B2CF9AE}" pid="10" name="ICV">
    <vt:lpwstr/>
  </property>
  <property fmtid="{D5CDD505-2E9C-101B-9397-08002B2CF9AE}" pid="11" name="KSOProductBuildVer">
    <vt:lpwstr>1046-11.1.0.11723</vt:lpwstr>
  </property>
</Properties>
</file>