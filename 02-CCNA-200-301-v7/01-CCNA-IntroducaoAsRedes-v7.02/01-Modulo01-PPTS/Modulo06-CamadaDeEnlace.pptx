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876" r:id="rId3"/>
    <p:sldId id="759" r:id="rId5"/>
    <p:sldId id="1054" r:id="rId6"/>
    <p:sldId id="1090" r:id="rId7"/>
    <p:sldId id="1091" r:id="rId8"/>
    <p:sldId id="1092" r:id="rId9"/>
    <p:sldId id="1056" r:id="rId10"/>
    <p:sldId id="1057" r:id="rId11"/>
    <p:sldId id="1093" r:id="rId12"/>
    <p:sldId id="1094" r:id="rId13"/>
    <p:sldId id="1095" r:id="rId14"/>
    <p:sldId id="1096" r:id="rId15"/>
    <p:sldId id="1097" r:id="rId16"/>
    <p:sldId id="1098" r:id="rId17"/>
    <p:sldId id="1099" r:id="rId18"/>
    <p:sldId id="1063" r:id="rId19"/>
    <p:sldId id="1064" r:id="rId20"/>
    <p:sldId id="1100" r:id="rId21"/>
    <p:sldId id="1101" r:id="rId22"/>
    <p:sldId id="1102" r:id="rId23"/>
    <p:sldId id="291" r:id="rId24"/>
  </p:sldIdLst>
  <p:sldSz cx="9144000" cy="5143500" type="screen16x9"/>
  <p:notesSz cx="6858000" cy="9144000"/>
  <p:custDataLst>
    <p:tags r:id="rId29"/>
  </p:custDataLst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bara Reif" initials="BR" lastIdx="3" clrIdx="0"/>
  <p:cmAuthor id="1" name="Jane Gibbons -X (jagibbon - DEL ORO CONSULTING INC at Cisco)" initials="JG-(-DOCIaC" lastIdx="28" clrIdx="1"/>
  <p:cmAuthor id="2" name="Bob Vachon" initials="BV" lastIdx="24" clrIdx="2"/>
  <p:cmAuthor id="3" name="Sue Livingston -X (suliving - UNICON INC at Cisco)" initials="SL-(-UIaC" lastIdx="29" clrIdx="3"/>
  <p:cmAuthor id="4" name="jagibbon" initials="jmg" lastIdx="8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0099"/>
    <a:srgbClr val="CC99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32" autoAdjust="0"/>
    <p:restoredTop sz="77288" autoAdjust="0"/>
  </p:normalViewPr>
  <p:slideViewPr>
    <p:cSldViewPr snapToGrid="0" showGuides="1">
      <p:cViewPr varScale="1">
        <p:scale>
          <a:sx n="68" d="100"/>
          <a:sy n="68" d="100"/>
        </p:scale>
        <p:origin x="1244" y="60"/>
      </p:cViewPr>
      <p:guideLst>
        <p:guide orient="horz" pos="1620"/>
        <p:guide pos="336"/>
      </p:guideLst>
    </p:cSldViewPr>
  </p:slideViewPr>
  <p:outlineViewPr>
    <p:cViewPr>
      <p:scale>
        <a:sx n="33" d="100"/>
        <a:sy n="33" d="100"/>
      </p:scale>
      <p:origin x="0" y="-22670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11" d="100"/>
        <a:sy n="111" d="100"/>
      </p:scale>
      <p:origin x="0" y="-51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gs" Target="tags/tag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337D9-3022-3D41-8D8A-BDF2F3B0DD8E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1018C-6CAF-B84E-B92C-ECB119457FBA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Programa da Cisco Networking Academy</a:t>
            </a:r>
            <a:endParaRPr lang="pt-BR"/>
          </a:p>
          <a:p>
            <a:pPr rtl="0"/>
            <a:r>
              <a:rPr lang="pt-BR"/>
              <a:t>Introdução às redes v7.0 (ITN)</a:t>
            </a:r>
            <a:endParaRPr lang="pt-BR"/>
          </a:p>
          <a:p>
            <a:pPr rtl="0"/>
            <a:r>
              <a:rPr lang="pt-BR"/>
              <a:t>Módulo 6: Camada de Link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6.1 - Finalidade da camada de enlace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6.1.1 - A camada de enlace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6.1.2 — Sublcamadas de link de dados LAN/MAN IEEE 802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6.1.3 – Fornecimento de acesso ao meio físico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6.1.4 – Padrões de camada de enlace de dados</a:t>
            </a:r>
            <a:endParaRPr lang="pt-BR"/>
          </a:p>
          <a:p>
            <a:pPr rtl="0"/>
            <a:r>
              <a:rPr lang="pt-BR"/>
              <a:t>6.1.5 — Verifique seu entendimento — Finalidade da camada de link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6.2 - Topologias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6.2.1 – Topologias físicas e lógicas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6.2.2 - Topologias da WAN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6.2.3 - Topologia de WAN ponto a ponto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6.2.4 – Topologias LAN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6.2.5 — Comunicação em meio e full duplex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6.2.6 - Métodos de controle de acesso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6.2.7 - Acesso baseado em contenção - CSMA / CD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6.2.8 - Acesso baseado em contenção - CSMA / CA</a:t>
            </a:r>
            <a:endParaRPr lang="pt-BR"/>
          </a:p>
          <a:p>
            <a:pPr rtl="0"/>
            <a:r>
              <a:rPr lang="pt-BR"/>
              <a:t>6.2.9 — Verifique seu entendimento - Topologias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6.3 - Quadro de link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6.3.1 — O quadro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6.3.2 - Campos do quadro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6.3.3 - Endereço da camada 2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6.3.4 – Quadros de LAN e WAN</a:t>
            </a:r>
            <a:endParaRPr lang="pt-BR"/>
          </a:p>
          <a:p>
            <a:pPr rtl="0"/>
            <a:r>
              <a:rPr lang="pt-BR"/>
              <a:t>6.3.5 — Verifique seu entendimento — Quadro de link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text styles</a:t>
            </a:r>
            <a:endParaRPr lang="en-US">
              <a:sym typeface="Arial" panose="020B0604020202020204" pitchFamily="34" charset="0"/>
            </a:endParaRPr>
          </a:p>
          <a:p>
            <a:pPr lvl="1"/>
            <a:r>
              <a:rPr lang="en-US">
                <a:sym typeface="Arial" panose="020B0604020202020204" pitchFamily="34" charset="0"/>
              </a:rPr>
              <a:t>Second level</a:t>
            </a:r>
            <a:endParaRPr lang="en-US">
              <a:sym typeface="Arial" panose="020B0604020202020204" pitchFamily="34" charset="0"/>
            </a:endParaRPr>
          </a:p>
          <a:p>
            <a:pPr lvl="2"/>
            <a:r>
              <a:rPr lang="en-US">
                <a:sym typeface="Arial" panose="020B0604020202020204" pitchFamily="34" charset="0"/>
              </a:rPr>
              <a:t>Third level</a:t>
            </a:r>
            <a:endParaRPr lang="en-US">
              <a:sym typeface="Arial" panose="020B0604020202020204" pitchFamily="34" charset="0"/>
            </a:endParaRPr>
          </a:p>
          <a:p>
            <a:pPr lvl="3"/>
            <a:r>
              <a:rPr lang="en-US">
                <a:sym typeface="Arial" panose="020B0604020202020204" pitchFamily="34" charset="0"/>
              </a:rPr>
              <a:t>Fourth level</a:t>
            </a:r>
            <a:endParaRPr lang="en-US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469497" y="1808480"/>
            <a:ext cx="6672708" cy="1080143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Módulo 6: Camada de Enlace (Link)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ubtitle 6"/>
          <p:cNvSpPr txBox="1"/>
          <p:nvPr/>
        </p:nvSpPr>
        <p:spPr>
          <a:xfrm>
            <a:off x="469497" y="3646043"/>
            <a:ext cx="2368954" cy="902174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 defTabSz="684530" rtl="0" eaLnBrk="1" fontAlgn="base" hangingPunct="1">
              <a:lnSpc>
                <a:spcPct val="95000"/>
              </a:lnSpc>
              <a:spcBef>
                <a:spcPts val="1075"/>
              </a:spcBef>
              <a:spcAft>
                <a:spcPct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defRPr lang="en-US" sz="1200" b="0" i="0" kern="1200">
                <a:solidFill>
                  <a:schemeClr val="accent5"/>
                </a:solidFill>
                <a:latin typeface="+mn-lt"/>
                <a:ea typeface="MS PGothic" charset="0"/>
                <a:cs typeface="CiscoSans"/>
              </a:defRPr>
            </a:lvl1pPr>
            <a:lvl2pPr marL="342900" indent="0" algn="ctr" defTabSz="684530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2pPr>
            <a:lvl3pPr marL="6858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3pPr>
            <a:lvl4pPr marL="10287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4pPr>
            <a:lvl5pPr marL="13716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5pPr>
            <a:lvl6pPr marL="17145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9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8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2565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Introdução às redes v7.0 (ITN)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  <a:sym typeface="+mn-ea"/>
              </a:rPr>
              <a:t>Versão: 1.0 - 01/03/2026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657088"/>
            <a:ext cx="7598042" cy="1473462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6.1 - Finalidade da Camada de Enlace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Objetivo da camada de vínculo de dados </a:t>
            </a:r>
            <a:br>
              <a:rPr lang="en-US" dirty="0"/>
            </a:br>
            <a:r>
              <a:rPr lang="pt-BR" sz="2400"/>
              <a:t>A camada de Vínculo de Dados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6355" y="731520"/>
            <a:ext cx="3734435" cy="3850005"/>
          </a:xfrm>
        </p:spPr>
        <p:txBody>
          <a:bodyPr/>
          <a:lstStyle/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A camada </a:t>
            </a:r>
            <a:r>
              <a:rPr lang="pt-BR" sz="1700" b="1">
                <a:solidFill>
                  <a:srgbClr val="FF0000"/>
                </a:solidFill>
              </a:rPr>
              <a:t>Data Link</a:t>
            </a:r>
            <a:r>
              <a:rPr lang="pt-BR" sz="1700">
                <a:solidFill>
                  <a:srgbClr val="000000"/>
                </a:solidFill>
              </a:rPr>
              <a:t> é responsável pelas comunicações entre </a:t>
            </a:r>
            <a:r>
              <a:rPr lang="pt-BR" sz="1700" b="1">
                <a:solidFill>
                  <a:srgbClr val="0070C0"/>
                </a:solidFill>
              </a:rPr>
              <a:t>Placas de Interface de Rede (NIC)</a:t>
            </a:r>
            <a:r>
              <a:rPr lang="pt-BR" sz="1700">
                <a:solidFill>
                  <a:srgbClr val="000000"/>
                </a:solidFill>
              </a:rPr>
              <a:t> do </a:t>
            </a:r>
            <a:r>
              <a:rPr lang="pt-BR" sz="1700" b="1">
                <a:solidFill>
                  <a:srgbClr val="000000"/>
                </a:solidFill>
              </a:rPr>
              <a:t>dispositivo final (Endpoint)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Ele permite que os </a:t>
            </a:r>
            <a:r>
              <a:rPr lang="pt-BR" sz="1700" b="1">
                <a:solidFill>
                  <a:srgbClr val="FF0000"/>
                </a:solidFill>
              </a:rPr>
              <a:t>protocolos de camada superior</a:t>
            </a:r>
            <a:r>
              <a:rPr lang="pt-BR" sz="1700">
                <a:solidFill>
                  <a:srgbClr val="000000"/>
                </a:solidFill>
              </a:rPr>
              <a:t> acessem a mídia da camada física e </a:t>
            </a:r>
            <a:r>
              <a:rPr lang="pt-BR" sz="1700" b="1">
                <a:solidFill>
                  <a:srgbClr val="000000"/>
                </a:solidFill>
              </a:rPr>
              <a:t>Encapsula Pacotes da Camada 3 (IPv4 e IPv6)</a:t>
            </a:r>
            <a:r>
              <a:rPr lang="pt-BR" sz="1700">
                <a:solidFill>
                  <a:srgbClr val="000000"/>
                </a:solidFill>
              </a:rPr>
              <a:t> em </a:t>
            </a:r>
            <a:r>
              <a:rPr lang="pt-BR" sz="1700" b="1">
                <a:solidFill>
                  <a:srgbClr val="0070C0"/>
                </a:solidFill>
              </a:rPr>
              <a:t>Frames (Quadros) da Camada 2.</a:t>
            </a:r>
            <a:endParaRPr lang="pt-BR" sz="1700" b="1">
              <a:solidFill>
                <a:srgbClr val="0070C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Ele também executa a </a:t>
            </a:r>
            <a:r>
              <a:rPr lang="pt-BR" sz="1700" b="1">
                <a:solidFill>
                  <a:srgbClr val="000000"/>
                </a:solidFill>
              </a:rPr>
              <a:t>detecção de erros</a:t>
            </a:r>
            <a:r>
              <a:rPr lang="pt-BR" sz="1700">
                <a:solidFill>
                  <a:srgbClr val="000000"/>
                </a:solidFill>
              </a:rPr>
              <a:t> e rejeita quadros corrompidos.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/>
            <a:endParaRPr lang="en-US" sz="17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9746" y="1046747"/>
            <a:ext cx="3823810" cy="2016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Objetivo da camada de enlace de dados</a:t>
            </a:r>
            <a:br>
              <a:rPr lang="en-US" dirty="0"/>
            </a:br>
            <a:r>
              <a:rPr lang="pt-BR" sz="2400"/>
              <a:t>IEEE 802 LAN/MAN Data Link Sublayers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57324" y="855419"/>
            <a:ext cx="4305820" cy="3683530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padrões IEEE 802 LAN/MAN são específicos para o tipo de rede (Ethernet, WLAN, WPAN, etc).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A Camada de Link de Dados consiste em duas subcamadas. </a:t>
            </a:r>
            <a:r>
              <a:rPr lang="pt-BR" sz="1600" b="1">
                <a:solidFill>
                  <a:srgbClr val="000000"/>
                </a:solidFill>
              </a:rPr>
              <a:t>Controle de Link Lógico (LLC)</a:t>
            </a:r>
            <a:r>
              <a:rPr lang="pt-BR" sz="1600">
                <a:solidFill>
                  <a:srgbClr val="000000"/>
                </a:solidFill>
              </a:rPr>
              <a:t> e </a:t>
            </a:r>
            <a:r>
              <a:rPr lang="pt-BR" sz="1600" b="1">
                <a:solidFill>
                  <a:srgbClr val="000000"/>
                </a:solidFill>
              </a:rPr>
              <a:t>Controle de Acesso a Mídia (MAC). </a:t>
            </a:r>
            <a:endParaRPr lang="pt-BR" sz="1600" b="1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subcamada LLC se comunica entre o software de rede nas camadas superiores e o hardware do dispositivo nas camadas inferiores.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subcamada MAC é responsável pelo encapsulamento de dados e controle de acesso à mídia.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3783" y="855419"/>
            <a:ext cx="4640217" cy="36835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Objetivo da camada de enlace de dadosr</a:t>
            </a:r>
            <a:br>
              <a:rPr lang="en-US" dirty="0"/>
            </a:br>
            <a:r>
              <a:rPr lang="pt-BR" sz="2400"/>
              <a:t>Fornecendo acesso à mídia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31972" y="855419"/>
            <a:ext cx="7913516" cy="307394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Pacotes trocados entre nós podem enfrentar várias camadas de link de dados e transições de mídia.</a:t>
            </a:r>
            <a:endParaRPr lang="pt-BR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>
                <a:solidFill>
                  <a:srgbClr val="000000"/>
                </a:solidFill>
              </a:rPr>
              <a:t>Em cada salto ao longo do caminho, um roteador executa quatro funções básicas da Camada 2: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Aceita um quadro da mídia de rede.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Desencapsula o quadro para expor o pacote encapsulado.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/>
            <a:r>
              <a:rPr lang="pt-BR" sz="1600">
                <a:solidFill>
                  <a:srgbClr val="000000"/>
                </a:solidFill>
              </a:rPr>
              <a:t>Encapsula novamente o pacote em um novo quadro.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/>
            <a:r>
              <a:rPr lang="pt-BR" sz="1600">
                <a:solidFill>
                  <a:srgbClr val="000000"/>
                </a:solidFill>
              </a:rPr>
              <a:t>Encaminha o novo quadro no meio do próximo segmento de rede.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8"/>
          </a:xfrm>
        </p:spPr>
        <p:txBody>
          <a:bodyPr/>
          <a:lstStyle/>
          <a:p>
            <a:pPr rtl="0"/>
            <a:r>
              <a:rPr lang="pt-BR" sz="1600"/>
              <a:t>Objetivo da camada de enlace de dados</a:t>
            </a:r>
            <a:br>
              <a:rPr lang="en-US" dirty="0"/>
            </a:br>
            <a:r>
              <a:rPr lang="pt-BR" sz="2400"/>
              <a:t>Padrões da camada de enlace de dados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31972" y="855419"/>
            <a:ext cx="3746328" cy="307394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Os protocolos de camada de link de dados são definidos por organizações de engenharia: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Instituto de Engenheiros Elétricos e Eletrônicos (IEEE).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União Internacional de Telecomunicações (UIT).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Organizações Internacionais de Normalização (ISO).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Instituto Nacional Americano de Padrões (ANSI).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855419"/>
            <a:ext cx="4055062" cy="2768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6.2 Topologias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 </a:t>
            </a:r>
            <a:br>
              <a:rPr lang="en-US" dirty="0"/>
            </a:br>
            <a:r>
              <a:rPr lang="pt-BR" sz="2400"/>
              <a:t>Topologias físicas e lógicas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A topologia de uma rede é o arranjo e o relacionamento dos dispositivos de rede e as interconexões entre eles.</a:t>
            </a:r>
            <a:endParaRPr lang="pt-BR" sz="1800">
              <a:solidFill>
                <a:srgbClr val="000000"/>
              </a:solidFill>
            </a:endParaRPr>
          </a:p>
          <a:p>
            <a:pPr marL="0" indent="0" algn="l"/>
            <a:endParaRPr lang="en-US" sz="18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Existem dois tipos de topologias usadas ao descrever redes: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Topologia física </a:t>
            </a:r>
            <a:r>
              <a:rPr lang="pt-BR" sz="1800">
                <a:solidFill>
                  <a:srgbClr val="000000"/>
                </a:solidFill>
              </a:rPr>
              <a:t>— mostra as conexões físicas e como os dispositivos estão interligados.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Topologia lógica </a:t>
            </a:r>
            <a:r>
              <a:rPr lang="pt-BR" sz="1800">
                <a:solidFill>
                  <a:srgbClr val="000000"/>
                </a:solidFill>
              </a:rPr>
              <a:t>— identifica as conexões virtuais entre dispositivos usando interfaces de dispositivo e esquemas de endereçamento IP. </a:t>
            </a:r>
            <a:endParaRPr lang="pt-BR" sz="18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WAN Topologias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943508"/>
            <a:ext cx="8280400" cy="2804664"/>
          </a:xfrm>
        </p:spPr>
        <p:txBody>
          <a:bodyPr/>
          <a:lstStyle/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Existem três topologias físicas comuns da WAN: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Ponto a ponto</a:t>
            </a:r>
            <a:r>
              <a:rPr lang="pt-BR" sz="1800">
                <a:solidFill>
                  <a:srgbClr val="000000"/>
                </a:solidFill>
              </a:rPr>
              <a:t> — a topologia WAN mais simples e comum. Consiste em uma ligação permanente entre dois pontos finais.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Hub e spoke </a:t>
            </a:r>
            <a:r>
              <a:rPr lang="pt-BR" sz="1800">
                <a:solidFill>
                  <a:srgbClr val="000000"/>
                </a:solidFill>
              </a:rPr>
              <a:t>- semelhante a uma topologia em estrela, na qual um site central interconecta sites de filial por meio de links ponto a ponto.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Malha</a:t>
            </a:r>
            <a:r>
              <a:rPr lang="pt-BR" sz="1800">
                <a:solidFill>
                  <a:srgbClr val="000000"/>
                </a:solidFill>
              </a:rPr>
              <a:t> - fornece alta disponibilidade, mas requer que todos os sistemas finais estejam conectados a todos os outros sistemas finais.</a:t>
            </a:r>
            <a:endParaRPr lang="pt-BR" sz="18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 </a:t>
            </a:r>
            <a:br>
              <a:rPr lang="en-US" dirty="0"/>
            </a:br>
            <a:r>
              <a:rPr lang="pt-BR" sz="2400"/>
              <a:t>Topologia de WAN ponto a ponto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1536700"/>
          </a:xfrm>
        </p:spPr>
        <p:txBody>
          <a:bodyPr/>
          <a:lstStyle/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As topologias ponto a ponto físicas conectam diretamente dois nós.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Os nós não podem compartilhar a mídia com outros hosts.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Como todos os quadros na mídia só podem viajar de ou para os dois nós, os protocolos WAN Ponto a Ponto podem ser muito simples.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0" y="2874963"/>
            <a:ext cx="6666667" cy="1590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LAN Topologias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138440" y="826265"/>
            <a:ext cx="4047061" cy="3613533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dispositivos finais em LANs são normalmente interconectados usando uma topologia estrela ou estelar estendida. Topologias estrelas e estrelas estendidas são fáceis de instalar, muito escaláveis e fáceis de solucionar problemas.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As tecnologias Early Ethernet e Token Ring Legacy fornecem duas topologias adicionais: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000000"/>
                </a:solidFill>
              </a:rPr>
              <a:t>Barramento</a:t>
            </a:r>
            <a:r>
              <a:rPr lang="pt-BR" sz="1600">
                <a:solidFill>
                  <a:srgbClr val="000000"/>
                </a:solidFill>
              </a:rPr>
              <a:t> - Todos os sistemas finais encadeados e terminados em cada extremidade.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000000"/>
                </a:solidFill>
              </a:rPr>
              <a:t>Anel </a:t>
            </a:r>
            <a:r>
              <a:rPr lang="pt-BR" sz="1600">
                <a:solidFill>
                  <a:srgbClr val="000000"/>
                </a:solidFill>
              </a:rPr>
              <a:t>— Cada sistema final é conectado aos seus respectivos vizinhos para formar um anel. 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5501" y="681400"/>
            <a:ext cx="4820059" cy="3781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Half e Full Duplex Comunicação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Comunicação half-duplex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Só permite que um dispositivo envie ou receba de cada vez em uma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em WLANs e topologias de barramento herdadas com hubs Ethernet.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b="1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Comunicação full-duplex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Permite que ambos os dispositivos transmitam e recebam simultaneamente em uma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Os comutadores Ethernet operam no modo full-duplex.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Métodos de controle de acesso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Acesso baseado em contenção</a:t>
            </a:r>
            <a:endParaRPr lang="pt-BR" sz="1600" b="1">
              <a:solidFill>
                <a:srgbClr val="000000"/>
              </a:solidFill>
            </a:endParaRPr>
          </a:p>
          <a:p>
            <a:pPr marL="73025" lvl="1" indent="0" rtl="0">
              <a:buNone/>
            </a:pPr>
            <a:r>
              <a:rPr lang="pt-BR" sz="1600">
                <a:solidFill>
                  <a:srgbClr val="000000"/>
                </a:solidFill>
              </a:rPr>
              <a:t>Todos os nós operando em half-duplex, competindo pelo uso do meio. Os exemplos são: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operadora detecta o acesso múltiplo com detecção de colisão (CSMA / CD) conforme usado na Ethernet de topologia de barramento herdada.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operadora detecta o acesso múltiplo com prevenção de colisão (CSMA / CA), conforme usado nas LANs sem fio.</a:t>
            </a:r>
            <a:endParaRPr lang="pt-BR" sz="1600">
              <a:solidFill>
                <a:srgbClr val="000000"/>
              </a:solidFill>
            </a:endParaRPr>
          </a:p>
          <a:p>
            <a:pPr marL="146050" lvl="2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Acesso controlado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Acesso determinístico onde cada nó tem seu próprio tempo no meio.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em redes herdadas, como Token Ring e ARCNET.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 - Acesso baseado em conteúdo - CSMA/CD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49"/>
            <a:ext cx="8280400" cy="3393731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CSMA/CD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por LANs Ethernet herdadas.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Funciona no modo half-duplex onde apenas um dispositivo envia ou recebe de cada vez.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 um processo de detecção de colisão para controlar quando um dispositivo pode enviar e o que acontece se vários dispositivos enviarem ao mesmo tempo.</a:t>
            </a:r>
            <a:endParaRPr lang="pt-BR" sz="1600">
              <a:solidFill>
                <a:srgbClr val="000000"/>
              </a:solidFill>
            </a:endParaRPr>
          </a:p>
          <a:p>
            <a:pPr marL="73025" lvl="1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73025" lvl="1" indent="0" rtl="0">
              <a:buNone/>
            </a:pPr>
            <a:r>
              <a:rPr lang="pt-BR" sz="1600" b="1">
                <a:solidFill>
                  <a:srgbClr val="000000"/>
                </a:solidFill>
              </a:rPr>
              <a:t>Processo de detecção de colisão CSMA/CD</a:t>
            </a:r>
            <a:r>
              <a:rPr lang="pt-BR" sz="1600">
                <a:solidFill>
                  <a:srgbClr val="000000"/>
                </a:solidFill>
              </a:rPr>
              <a:t>: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Dispositivos que transmitem simultaneamente resultarão em uma colisão de sinal na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Dispositivos detectam a colisão.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Os dispositivos aguardam um período aleatório de tempo e retransmitem dados.</a:t>
            </a:r>
            <a:endParaRPr lang="pt-BR" sz="1600">
              <a:solidFill>
                <a:srgbClr val="000000"/>
              </a:solidFill>
            </a:endParaRPr>
          </a:p>
          <a:p>
            <a:pPr marL="146050" lvl="2" indent="0">
              <a:buNone/>
            </a:pPr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Acesso baseado em conteúdo - CSMA/CA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CSMA/CA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por WLANs IEEE 802.11.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Funciona no modo half-duplex onde apenas um dispositivo envia ou recebe de cada vez.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 um processo de prevenção de colisão para controlar quando um dispositivo pode enviar e o que acontece se vários dispositivos enviarem ao mesmo tempo.</a:t>
            </a:r>
            <a:endParaRPr lang="pt-BR" sz="1600">
              <a:solidFill>
                <a:srgbClr val="000000"/>
              </a:solidFill>
            </a:endParaRPr>
          </a:p>
          <a:p>
            <a:pPr marL="73025" lvl="1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 b="1">
                <a:solidFill>
                  <a:srgbClr val="000000"/>
                </a:solidFill>
              </a:rPr>
              <a:t>Processo de prevenção de colisão CSMA/CA</a:t>
            </a:r>
            <a:r>
              <a:rPr lang="pt-BR" sz="1600">
                <a:solidFill>
                  <a:srgbClr val="000000"/>
                </a:solidFill>
              </a:rPr>
              <a:t>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Ao transmitir, os dispositivos também incluem a duração de tempo necessária para a transmissão.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Outros dispositivos na mídia compartilhada recebem as informações de duração do tempo e sabem por quanto tempo a mídia ficará indisponível.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6.3 Quadro de link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O quadro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3505566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dados são encapsulados pela camada de link de dados com um cabeçalho e um trailer para formar um quadro.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Um quadro de link de dados tem três partes: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Cabeçalho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Dados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Trailer</a:t>
            </a:r>
            <a:endParaRPr lang="pt-BR" sz="160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>
                <a:solidFill>
                  <a:srgbClr val="000000"/>
                </a:solidFill>
              </a:rPr>
              <a:t>Os campos do cabeçalho e do trailer variam de acordo com o protocolo da camada de link de dados.</a:t>
            </a:r>
            <a:endParaRPr lang="pt-BR" sz="1600">
              <a:solidFill>
                <a:srgbClr val="000000"/>
              </a:solidFill>
            </a:endParaRPr>
          </a:p>
          <a:p>
            <a:pPr marL="0" lvl="1" indent="0" defTabSz="45720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>
                <a:solidFill>
                  <a:srgbClr val="000000"/>
                </a:solidFill>
              </a:rPr>
              <a:t>A quantidade de informações de controle transportadas no quadro varia de acordo com as informações de controle de acesso e a topologia lógica.</a:t>
            </a:r>
            <a:endParaRPr lang="pt-BR" sz="160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Campos do quadro</a:t>
            </a:r>
            <a:endParaRPr lang="pt-BR" sz="2400"/>
          </a:p>
        </p:txBody>
      </p:sp>
      <p:graphicFrame>
        <p:nvGraphicFramePr>
          <p:cNvPr id="6" name="Content Placeholder 6"/>
          <p:cNvGraphicFramePr/>
          <p:nvPr/>
        </p:nvGraphicFramePr>
        <p:xfrm>
          <a:off x="474662" y="2749860"/>
          <a:ext cx="8237366" cy="18284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1847"/>
                <a:gridCol w="5735519"/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pt-BR" sz="1100"/>
                        <a:t>Campo</a:t>
                      </a:r>
                      <a:endParaRPr lang="pt-BR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/>
                        <a:t>Descrição</a:t>
                      </a:r>
                      <a:endParaRPr lang="pt-BR" sz="110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Frame Start e Stop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o início e o fim do quadro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7090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Endereçamento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Indica nós de origem e destino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20138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Tipo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o protocolo encapsulado da Camada 3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74195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Controle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serviços de controle de fluxo 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274011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Dados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Contém a carga útil do quadro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85728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Detecção de erros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Usado para determinar erros de transmissão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1925" y="565149"/>
            <a:ext cx="5524833" cy="20121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Endereço da Camada 2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1247000"/>
          </a:xfrm>
        </p:spPr>
        <p:txBody>
          <a:bodyPr/>
          <a:lstStyle/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Também referido como um endereço físico.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Contido no cabeçalho do quadro.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apenas para entrega local de um quadro no link.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Atualizado por cada dispositivo que encaminha o quadro.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2644" y="2149311"/>
            <a:ext cx="4778709" cy="22964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Link de Dados </a:t>
            </a:r>
            <a:br>
              <a:rPr lang="en-US" dirty="0"/>
            </a:br>
            <a:r>
              <a:rPr lang="pt-BR" sz="2400"/>
              <a:t>LAN e WAN Frames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350556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A topologia lógica e a mídia física determinam o protocolo de link de dados usado: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Ethernet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802.11 sem fio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Ponto a ponto (PPP)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Controle de Enlace de Dados de Alto Nível (HDLC)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Frame-Relay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>
                <a:solidFill>
                  <a:srgbClr val="000000"/>
                </a:solidFill>
              </a:rPr>
              <a:t>Cada protocolo executa o controle de acesso à mídia para topologias lógicas especificadas.</a:t>
            </a:r>
            <a:endParaRPr lang="pt-BR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transition spd="slow">
    <p:wipe/>
  </p:transition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THUMBNAIL_REFRESH" val="1"/>
</p:tagLst>
</file>

<file path=ppt/tags/tag6.xml><?xml version="1.0" encoding="utf-8"?>
<p:tagLst xmlns:p="http://schemas.openxmlformats.org/presentationml/2006/main">
  <p:tag name="ARTICULATE_SLIDE_COUNT" val="65"/>
  <p:tag name="ARTICULATE_PROJECT_OPEN" val="0"/>
</p:tagLst>
</file>

<file path=ppt/theme/theme1.xml><?xml version="1.0" encoding="utf-8"?>
<a:theme xmlns:a="http://schemas.openxmlformats.org/drawingml/2006/main" name="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7017</Words>
  <Application>WPS Presentation</Application>
  <PresentationFormat>On-screen Show (16:9)</PresentationFormat>
  <Paragraphs>238</Paragraphs>
  <Slides>21</Slides>
  <Notes>31</Notes>
  <HiddenSlides>6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0" baseType="lpstr">
      <vt:lpstr>Arial</vt:lpstr>
      <vt:lpstr>SimSun</vt:lpstr>
      <vt:lpstr>Wingdings</vt:lpstr>
      <vt:lpstr>MS PGothic</vt:lpstr>
      <vt:lpstr>Droid Sans Fallback</vt:lpstr>
      <vt:lpstr>CiscoSans Thin</vt:lpstr>
      <vt:lpstr>Gubbi</vt:lpstr>
      <vt:lpstr>MS PGothic</vt:lpstr>
      <vt:lpstr>CiscoSans</vt:lpstr>
      <vt:lpstr>CiscoSans</vt:lpstr>
      <vt:lpstr>CiscoSans ExtraLight</vt:lpstr>
      <vt:lpstr>Arial</vt:lpstr>
      <vt:lpstr>CiscoSans ExtraLight</vt:lpstr>
      <vt:lpstr>OpenSymbol</vt:lpstr>
      <vt:lpstr>Microsoft YaHei</vt:lpstr>
      <vt:lpstr>Arial Unicode MS</vt:lpstr>
      <vt:lpstr>Calibri</vt:lpstr>
      <vt:lpstr>Trebuchet MS</vt:lpstr>
      <vt:lpstr>Default Theme</vt:lpstr>
      <vt:lpstr>Módulo 6: Camada de Link de Dados</vt:lpstr>
      <vt:lpstr>6.1 - Finalidade da Camada de Enlace de Dados</vt:lpstr>
      <vt:lpstr>Objetivo da camada de vínculo de dados  A camada de Vínculo de Dados</vt:lpstr>
      <vt:lpstr>Objetivo da camada de enlace de dados IEEE 802 LAN/MAN Data Link Sublayers</vt:lpstr>
      <vt:lpstr>Objetivo da camada de enlace de dadosr Fornecendo acesso à mídia</vt:lpstr>
      <vt:lpstr>Objetivo da camada de enlace de dados Padrões da camada de enlace de dados</vt:lpstr>
      <vt:lpstr>6.2 Topologias</vt:lpstr>
      <vt:lpstr>Topologias  Topologias físicas e lógicas</vt:lpstr>
      <vt:lpstr>Topologias WAN Topologias</vt:lpstr>
      <vt:lpstr>Topologias  Topologia de WAN ponto a ponto</vt:lpstr>
      <vt:lpstr>Topologias LAN Topologias</vt:lpstr>
      <vt:lpstr>PowerPoint 演示文稿</vt:lpstr>
      <vt:lpstr>PowerPoint 演示文稿</vt:lpstr>
      <vt:lpstr>PowerPoint 演示文稿</vt:lpstr>
      <vt:lpstr>PowerPoint 演示文稿</vt:lpstr>
      <vt:lpstr>6.3 Quadro de link de dados</vt:lpstr>
      <vt:lpstr>Quadro de enlace de dados  O quadro</vt:lpstr>
      <vt:lpstr>Quadro de enlace de dados  Campos do quadro</vt:lpstr>
      <vt:lpstr>Quadro de enlace de dados  Endereço da Camada 2</vt:lpstr>
      <vt:lpstr>Quadro de Link de Dados  LAN e WAN Frames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2: Basic Switch and End Device Configuration</dc:title>
  <dc:creator>Stephanie Harvey</dc:creator>
  <cp:lastModifiedBy>vaamonde</cp:lastModifiedBy>
  <cp:revision>250</cp:revision>
  <dcterms:created xsi:type="dcterms:W3CDTF">2026-03-20T17:01:39Z</dcterms:created>
  <dcterms:modified xsi:type="dcterms:W3CDTF">2026-03-20T17:01:39Z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sync_ProviderInitializationData">
    <vt:lpwstr>https://cisco.jiveon.com</vt:lpwstr>
  </property>
  <property fmtid="{D5CDD505-2E9C-101B-9397-08002B2CF9AE}" pid="3" name="Offisync_UpdateToken">
    <vt:lpwstr>1</vt:lpwstr>
  </property>
  <property fmtid="{D5CDD505-2E9C-101B-9397-08002B2CF9AE}" pid="4" name="Offisync_ServerID">
    <vt:lpwstr>07841bbc-cd3c-4a76-827f-75a2226890f4</vt:lpwstr>
  </property>
  <property fmtid="{D5CDD505-2E9C-101B-9397-08002B2CF9AE}" pid="5" name="Offisync_UniqueId">
    <vt:lpwstr>1702406</vt:lpwstr>
  </property>
  <property fmtid="{D5CDD505-2E9C-101B-9397-08002B2CF9AE}" pid="6" name="Jive_VersionGuid">
    <vt:lpwstr>fd96a0b3-f68d-4727-8e4f-2128d37ed30a</vt:lpwstr>
  </property>
  <property fmtid="{D5CDD505-2E9C-101B-9397-08002B2CF9AE}" pid="7" name="Jive_LatestUserAccountName">
    <vt:lpwstr>alljohns</vt:lpwstr>
  </property>
  <property fmtid="{D5CDD505-2E9C-101B-9397-08002B2CF9AE}" pid="8" name="ArticulateGUID">
    <vt:lpwstr>F9A496F7-57D7-4028-9572-D40DFDF3715A</vt:lpwstr>
  </property>
  <property fmtid="{D5CDD505-2E9C-101B-9397-08002B2CF9AE}" pid="9" name="ArticulatePath">
    <vt:lpwstr>ITE7_Chp9_by_jg</vt:lpwstr>
  </property>
  <property fmtid="{D5CDD505-2E9C-101B-9397-08002B2CF9AE}" pid="10" name="ICV">
    <vt:lpwstr/>
  </property>
  <property fmtid="{D5CDD505-2E9C-101B-9397-08002B2CF9AE}" pid="11" name="KSOProductBuildVer">
    <vt:lpwstr>1046-11.1.0.11723</vt:lpwstr>
  </property>
</Properties>
</file>