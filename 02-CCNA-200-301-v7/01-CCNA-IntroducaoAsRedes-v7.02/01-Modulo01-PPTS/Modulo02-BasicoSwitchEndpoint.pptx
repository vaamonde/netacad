
<file path=[Content_Types].xml><?xml version="1.0" encoding="utf-8"?>
<Types xmlns="http://schemas.openxmlformats.org/package/2006/content-types">
  <Default Extension="jpeg" ContentType="image/jpeg"/>
  <Default Extension="JPG" ContentType="image/.jpg"/>
  <Default Extension="tiff" ContentType="image/tiff"/>
  <Default Extension="png" ContentType="image/png"/>
  <Default Extension="gif" ContentType="image/gi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513" r:id="rId3"/>
    <p:sldId id="759" r:id="rId5"/>
    <p:sldId id="788" r:id="rId6"/>
    <p:sldId id="790" r:id="rId7"/>
    <p:sldId id="927" r:id="rId8"/>
    <p:sldId id="928" r:id="rId9"/>
    <p:sldId id="929" r:id="rId10"/>
    <p:sldId id="886" r:id="rId11"/>
    <p:sldId id="792" r:id="rId12"/>
    <p:sldId id="881" r:id="rId13"/>
    <p:sldId id="795" r:id="rId14"/>
    <p:sldId id="959" r:id="rId15"/>
    <p:sldId id="812" r:id="rId16"/>
    <p:sldId id="960" r:id="rId17"/>
    <p:sldId id="808" r:id="rId18"/>
    <p:sldId id="961" r:id="rId19"/>
    <p:sldId id="932" r:id="rId20"/>
    <p:sldId id="933" r:id="rId21"/>
    <p:sldId id="962" r:id="rId22"/>
    <p:sldId id="963" r:id="rId23"/>
    <p:sldId id="771" r:id="rId24"/>
    <p:sldId id="865" r:id="rId25"/>
    <p:sldId id="934" r:id="rId26"/>
    <p:sldId id="935" r:id="rId27"/>
    <p:sldId id="964" r:id="rId28"/>
    <p:sldId id="936" r:id="rId29"/>
    <p:sldId id="937" r:id="rId30"/>
    <p:sldId id="939" r:id="rId31"/>
    <p:sldId id="940" r:id="rId32"/>
    <p:sldId id="941" r:id="rId33"/>
    <p:sldId id="942" r:id="rId34"/>
    <p:sldId id="965" r:id="rId35"/>
    <p:sldId id="946" r:id="rId36"/>
    <p:sldId id="947" r:id="rId37"/>
    <p:sldId id="966" r:id="rId38"/>
    <p:sldId id="948" r:id="rId39"/>
    <p:sldId id="949" r:id="rId40"/>
    <p:sldId id="950" r:id="rId41"/>
    <p:sldId id="951" r:id="rId42"/>
    <p:sldId id="953" r:id="rId43"/>
    <p:sldId id="954" r:id="rId44"/>
    <p:sldId id="956" r:id="rId45"/>
    <p:sldId id="291" r:id="rId46"/>
  </p:sldIdLst>
  <p:sldSz cx="9144000" cy="5143500" type="screen16x9"/>
  <p:notesSz cx="6858000" cy="9144000"/>
  <p:custDataLst>
    <p:tags r:id="rId51"/>
  </p:custDataLst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Barbara Reif" initials="BR" lastIdx="3" clrIdx="0"/>
  <p:cmAuthor id="1" name="Jane Gibbons -X (jagibbon - DEL ORO CONSULTING INC at Cisco)" initials="JG-(-DOCIaC" lastIdx="28" clrIdx="1"/>
  <p:cmAuthor id="2" name="Bob Vachon" initials="BV" lastIdx="24" clrIdx="2"/>
  <p:cmAuthor id="3" name="Sue Livingston -X (suliving - UNICON INC at Cisco)" initials="SL-(-UIaC" lastIdx="15" clrIdx="3"/>
  <p:cmAuthor id="4" name="jagibbon" initials="jmg" lastIdx="8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00CC"/>
    <a:srgbClr val="000099"/>
    <a:srgbClr val="CC99FF"/>
    <a:srgbClr val="CC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8" autoAdjust="0"/>
    <p:restoredTop sz="86402" autoAdjust="0"/>
  </p:normalViewPr>
  <p:slideViewPr>
    <p:cSldViewPr snapToGrid="0" showGuides="1">
      <p:cViewPr varScale="1">
        <p:scale>
          <a:sx n="78" d="100"/>
          <a:sy n="78" d="100"/>
        </p:scale>
        <p:origin x="964" y="44"/>
      </p:cViewPr>
      <p:guideLst>
        <p:guide orient="horz" pos="1620"/>
        <p:guide pos="336"/>
      </p:guideLst>
    </p:cSldViewPr>
  </p:slideViewPr>
  <p:outlineViewPr>
    <p:cViewPr>
      <p:scale>
        <a:sx n="33" d="100"/>
        <a:sy n="33" d="100"/>
      </p:scale>
      <p:origin x="0" y="-22670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11" d="100"/>
        <a:sy n="111" d="100"/>
      </p:scale>
      <p:origin x="0" y="-512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1" Type="http://schemas.openxmlformats.org/officeDocument/2006/relationships/tags" Target="tags/tag44.xml"/><Relationship Id="rId50" Type="http://schemas.openxmlformats.org/officeDocument/2006/relationships/commentAuthors" Target="commentAuthors.xml"/><Relationship Id="rId5" Type="http://schemas.openxmlformats.org/officeDocument/2006/relationships/slide" Target="slides/slide2.xml"/><Relationship Id="rId49" Type="http://schemas.openxmlformats.org/officeDocument/2006/relationships/tableStyles" Target="tableStyles.xml"/><Relationship Id="rId48" Type="http://schemas.openxmlformats.org/officeDocument/2006/relationships/viewProps" Target="viewProps.xml"/><Relationship Id="rId47" Type="http://schemas.openxmlformats.org/officeDocument/2006/relationships/presProps" Target="presProps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6337D9-3022-3D41-8D8A-BDF2F3B0DD8E}" type="datetimeFigureOut">
              <a:rPr lang="en-US" smtClean="0"/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41018C-6CAF-B84E-B92C-ECB119457FBA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Programa da Cisco Networking Academy</a:t>
            </a:r>
            <a:endParaRPr lang="pt-BR"/>
          </a:p>
          <a:p>
            <a:pPr rtl="0"/>
            <a:r>
              <a:rPr lang="pt-BR"/>
              <a:t>CCNA 1</a:t>
            </a:r>
            <a:endParaRPr lang="pt-BR"/>
          </a:p>
          <a:p>
            <a:pPr rtl="0"/>
            <a:r>
              <a:rPr lang="pt-BR"/>
              <a:t>Módulo 2: Configuração Básica do Switch e do Dispositivo Final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2.1 – Acesso ao Cisco IOS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rtl="0"/>
            <a:fld id="{04267211-205D-47E8-9F29-7E4C01D43DC3}" type="slidenum">
              <a:rPr sz="800">
                <a:solidFill>
                  <a:prstClr val="black"/>
                </a:solidFill>
              </a:rPr>
            </a:fld>
            <a:endParaRPr sz="800">
              <a:solidFill>
                <a:prstClr val="black"/>
              </a:solidFill>
            </a:endParaRPr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2644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2.1 – </a:t>
            </a:r>
            <a:r>
              <a:rPr lang="pt-BR" sz="1200" kern="1200">
                <a:solidFill>
                  <a:schemeClr val="accent5">
                    <a:lumMod val="40000"/>
                    <a:lumOff val="60000"/>
                  </a:schemeClr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Acesso ao Cisco IOS</a:t>
            </a:r>
            <a:endParaRPr lang="pt-BR" sz="1200" kern="1200">
              <a:solidFill>
                <a:schemeClr val="accent5">
                  <a:lumMod val="40000"/>
                  <a:lumOff val="60000"/>
                </a:schemeClr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2.1.1 - Sistemas Operacionais</a:t>
            </a:r>
            <a:endParaRPr lang="pt-BR">
              <a:latin typeface="Arial" panose="020B0604020202020204" pitchFamily="34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rtl="0"/>
            <a:fld id="{04267211-205D-47E8-9F29-7E4C01D43DC3}" type="slidenum">
              <a:rPr sz="800">
                <a:solidFill>
                  <a:prstClr val="black"/>
                </a:solidFill>
              </a:rPr>
            </a:fld>
            <a:endParaRPr sz="800">
              <a:solidFill>
                <a:prstClr val="black"/>
              </a:solidFill>
            </a:endParaRPr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2644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2.1 – </a:t>
            </a:r>
            <a:r>
              <a:rPr lang="pt-BR" sz="1200" kern="1200">
                <a:solidFill>
                  <a:schemeClr val="accent5">
                    <a:lumMod val="40000"/>
                    <a:lumOff val="60000"/>
                  </a:schemeClr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Acesso ao Cisco IOS</a:t>
            </a:r>
            <a:endParaRPr lang="pt-BR" sz="1200" kern="1200">
              <a:solidFill>
                <a:schemeClr val="accent5">
                  <a:lumMod val="40000"/>
                  <a:lumOff val="60000"/>
                </a:schemeClr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2.1.2 — GUI</a:t>
            </a:r>
            <a:endParaRPr lang="pt-BR">
              <a:latin typeface="Arial" panose="020B0604020202020204" pitchFamily="34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rtl="0"/>
            <a:fld id="{04267211-205D-47E8-9F29-7E4C01D43DC3}" type="slidenum">
              <a:rPr sz="800">
                <a:solidFill>
                  <a:prstClr val="black"/>
                </a:solidFill>
              </a:rPr>
            </a:fld>
            <a:endParaRPr sz="800">
              <a:solidFill>
                <a:prstClr val="black"/>
              </a:solidFill>
            </a:endParaRPr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2644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2.1 – </a:t>
            </a:r>
            <a:r>
              <a:rPr lang="pt-BR" sz="1200" kern="1200">
                <a:solidFill>
                  <a:schemeClr val="accent5">
                    <a:lumMod val="40000"/>
                    <a:lumOff val="60000"/>
                  </a:schemeClr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Acesso ao Cisco IOS</a:t>
            </a:r>
            <a:endParaRPr lang="pt-BR" sz="1200" kern="1200">
              <a:solidFill>
                <a:schemeClr val="accent5">
                  <a:lumMod val="40000"/>
                  <a:lumOff val="60000"/>
                </a:schemeClr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2.1.3 – Finalidade de um SO</a:t>
            </a:r>
            <a:endParaRPr lang="pt-BR">
              <a:latin typeface="Arial" panose="020B0604020202020204" pitchFamily="34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rtl="0"/>
            <a:fld id="{04267211-205D-47E8-9F29-7E4C01D43DC3}" type="slidenum">
              <a:rPr sz="800">
                <a:solidFill>
                  <a:prstClr val="black"/>
                </a:solidFill>
              </a:rPr>
            </a:fld>
            <a:endParaRPr sz="800">
              <a:solidFill>
                <a:prstClr val="black"/>
              </a:solidFill>
            </a:endParaRPr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2644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2.1 – </a:t>
            </a:r>
            <a:r>
              <a:rPr lang="pt-BR" sz="1200" kern="1200">
                <a:solidFill>
                  <a:schemeClr val="accent5">
                    <a:lumMod val="40000"/>
                    <a:lumOff val="60000"/>
                  </a:schemeClr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Acesso ao Cisco IOS</a:t>
            </a:r>
            <a:endParaRPr lang="pt-BR" sz="1200" kern="1200">
              <a:solidFill>
                <a:schemeClr val="accent5">
                  <a:lumMod val="40000"/>
                  <a:lumOff val="60000"/>
                </a:schemeClr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2.1.2.1 Métodos de Acesso</a:t>
            </a:r>
            <a:endParaRPr lang="pt-BR">
              <a:latin typeface="Arial" panose="020B0604020202020204" pitchFamily="34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rtl="0"/>
            <a:fld id="{04267211-205D-47E8-9F29-7E4C01D43DC3}" type="slidenum">
              <a:rPr sz="800">
                <a:solidFill>
                  <a:prstClr val="black"/>
                </a:solidFill>
              </a:rPr>
            </a:fld>
            <a:endParaRPr sz="800">
              <a:solidFill>
                <a:prstClr val="black"/>
              </a:solidFill>
            </a:endParaRPr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2644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2.1 – </a:t>
            </a:r>
            <a:r>
              <a:rPr lang="pt-BR" sz="1200" kern="1200">
                <a:solidFill>
                  <a:schemeClr val="accent5">
                    <a:lumMod val="40000"/>
                    <a:lumOff val="60000"/>
                  </a:schemeClr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Acesso ao Cisco IOS</a:t>
            </a:r>
            <a:endParaRPr lang="pt-BR" sz="1200" kern="1200">
              <a:solidFill>
                <a:schemeClr val="accent5">
                  <a:lumMod val="40000"/>
                  <a:lumOff val="60000"/>
                </a:schemeClr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2.1.5 – Programas de emulação de terminal</a:t>
            </a:r>
            <a:endParaRPr lang="pt-BR">
              <a:latin typeface="Arial" panose="020B0604020202020204" pitchFamily="34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2.1.6 — Verifique seu entendimento - Cisco IOS Access</a:t>
            </a:r>
            <a:endParaRPr lang="pt-BR">
              <a:latin typeface="Arial" panose="020B0604020202020204" pitchFamily="34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2.2 - </a:t>
            </a:r>
            <a:r>
              <a:rPr lang="pt-BR" sz="1200" kern="1200">
                <a:solidFill>
                  <a:schemeClr val="accent5">
                    <a:lumMod val="40000"/>
                    <a:lumOff val="60000"/>
                  </a:schemeClr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Navegação</a:t>
            </a: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 IOS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rtl="0"/>
            <a:fld id="{04267211-205D-47E8-9F29-7E4C01D43DC3}" type="slidenum">
              <a:rPr sz="800">
                <a:solidFill>
                  <a:prstClr val="black"/>
                </a:solidFill>
              </a:rPr>
            </a:fld>
            <a:endParaRPr sz="800">
              <a:solidFill>
                <a:prstClr val="black"/>
              </a:solidFill>
            </a:endParaRPr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2644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2.2 - </a:t>
            </a:r>
            <a:r>
              <a:rPr lang="pt-BR" sz="1200" kern="1200">
                <a:solidFill>
                  <a:schemeClr val="accent5">
                    <a:lumMod val="40000"/>
                    <a:lumOff val="60000"/>
                  </a:schemeClr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Navegação</a:t>
            </a: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 IOS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2.1.3.2 – Modos de comando primários</a:t>
            </a:r>
            <a:endParaRPr lang="pt-BR">
              <a:latin typeface="Arial" panose="020B0604020202020204" pitchFamily="34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rtl="0"/>
            <a:fld id="{04267211-205D-47E8-9F29-7E4C01D43DC3}" type="slidenum">
              <a:rPr sz="800">
                <a:solidFill>
                  <a:prstClr val="black"/>
                </a:solidFill>
              </a:rPr>
            </a:fld>
            <a:endParaRPr sz="800">
              <a:solidFill>
                <a:prstClr val="black"/>
              </a:solidFill>
            </a:endParaRPr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2644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2.2 - </a:t>
            </a:r>
            <a:r>
              <a:rPr lang="pt-BR" sz="1200" kern="1200">
                <a:solidFill>
                  <a:schemeClr val="accent5">
                    <a:lumMod val="40000"/>
                    <a:lumOff val="60000"/>
                  </a:schemeClr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Navegação</a:t>
            </a: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 IOS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2.2.2 — Modo de configuração e modos de subconfiguração</a:t>
            </a:r>
            <a:endParaRPr lang="pt-BR">
              <a:latin typeface="Arial" panose="020B0604020202020204" pitchFamily="34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2.2 - </a:t>
            </a:r>
            <a:r>
              <a:rPr lang="pt-BR" sz="1200" kern="1200">
                <a:solidFill>
                  <a:schemeClr val="accent5">
                    <a:lumMod val="40000"/>
                    <a:lumOff val="60000"/>
                  </a:schemeClr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Navegação</a:t>
            </a: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 IOS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2.2.4 – Navegar entre os modos do IOS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2.2 - </a:t>
            </a:r>
            <a:r>
              <a:rPr lang="pt-BR" sz="1200" kern="1200">
                <a:solidFill>
                  <a:schemeClr val="accent5">
                    <a:lumMod val="40000"/>
                    <a:lumOff val="60000"/>
                  </a:schemeClr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Navegação</a:t>
            </a: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 IOS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2.2.4 – Navegar entre os modos do IOS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2.3 – A estrutura de comandos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2.3 – A estrutura de comandos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2.3.1 – Estrutura básica de comandos do IOS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2.3 – A estrutura de comandos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2.3.2 - Verificação de sintaxe do comando IOS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2.3 – A estrutura de comandos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2.3.2 - Verificação de sintaxe do comando IOS 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2.3 – A estrutura de comandos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2.3.3 – Recursos da ajuda do IOS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2.3 – A estrutura de comandos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2.3.5 – Teclas de acesso e atalhos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2.3 – A estrutura de comandos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2.3.5 – Teclas de acesso e atalhos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2.3 – A estrutura de comandos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2.3.5 – Teclas de acesso e atalhos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2.4 – Configuração básica do dispositivo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>
              <a:buFontTx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defRPr>
            </a:lvl1pPr>
            <a:lvl2pPr marL="742950" indent="-28575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2pPr>
            <a:lvl3pPr marL="11430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3pPr>
            <a:lvl4pPr marL="16002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4pPr>
            <a:lvl5pPr marL="20574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5pPr>
            <a:lvl6pPr marL="25146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6pPr>
            <a:lvl7pPr marL="29718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7pPr>
            <a:lvl8pPr marL="34290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8pPr>
            <a:lvl9pPr marL="38862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fld id="{3997A419-355F-A04A-96E0-21643AF8E9FF}" type="slidenum">
              <a:rPr sz="800">
                <a:solidFill>
                  <a:prstClr val="black"/>
                </a:solidFill>
              </a:rPr>
            </a:fld>
            <a:endParaRPr sz="800">
              <a:solidFill>
                <a:prstClr val="black"/>
              </a:solidFill>
            </a:endParaRPr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2.4 – Configuração básica do dispositivo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2.4.1 — Nomes de dispositivos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defRPr>
            </a:lvl1pPr>
            <a:lvl2pPr marL="742950" indent="-28575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2pPr>
            <a:lvl3pPr marL="11430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3pPr>
            <a:lvl4pPr marL="16002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4pPr>
            <a:lvl5pPr marL="20574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5pPr>
            <a:lvl6pPr marL="25146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6pPr>
            <a:lvl7pPr marL="29718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7pPr>
            <a:lvl8pPr marL="34290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8pPr>
            <a:lvl9pPr marL="38862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fld id="{3997A419-355F-A04A-96E0-21643AF8E9FF}" type="slidenum">
              <a:rPr sz="800">
                <a:solidFill>
                  <a:prstClr val="black"/>
                </a:solidFill>
              </a:rPr>
            </a:fld>
            <a:endParaRPr sz="800">
              <a:solidFill>
                <a:prstClr val="black"/>
              </a:solidFill>
            </a:endParaRPr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2.4 – Configuração básica do dispositivo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2.4.2 - Diretrizes de senha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defRPr>
            </a:lvl1pPr>
            <a:lvl2pPr marL="742950" indent="-28575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2pPr>
            <a:lvl3pPr marL="11430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3pPr>
            <a:lvl4pPr marL="16002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4pPr>
            <a:lvl5pPr marL="20574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5pPr>
            <a:lvl6pPr marL="25146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6pPr>
            <a:lvl7pPr marL="29718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7pPr>
            <a:lvl8pPr marL="34290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8pPr>
            <a:lvl9pPr marL="38862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fld id="{3997A419-355F-A04A-96E0-21643AF8E9FF}" type="slidenum">
              <a:rPr sz="800">
                <a:solidFill>
                  <a:prstClr val="black"/>
                </a:solidFill>
              </a:rPr>
            </a:fld>
            <a:endParaRPr sz="800">
              <a:solidFill>
                <a:prstClr val="black"/>
              </a:solidFill>
            </a:endParaRPr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2.4 – Configuração básica do dispositivo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2.4.3 - Configurar Senhas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defRPr>
            </a:lvl1pPr>
            <a:lvl2pPr marL="742950" indent="-28575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2pPr>
            <a:lvl3pPr marL="11430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3pPr>
            <a:lvl4pPr marL="16002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4pPr>
            <a:lvl5pPr marL="20574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5pPr>
            <a:lvl6pPr marL="25146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6pPr>
            <a:lvl7pPr marL="29718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7pPr>
            <a:lvl8pPr marL="34290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8pPr>
            <a:lvl9pPr marL="38862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fld id="{3997A419-355F-A04A-96E0-21643AF8E9FF}" type="slidenum">
              <a:rPr sz="800">
                <a:solidFill>
                  <a:prstClr val="black"/>
                </a:solidFill>
              </a:rPr>
            </a:fld>
            <a:endParaRPr sz="800">
              <a:solidFill>
                <a:prstClr val="black"/>
              </a:solidFill>
            </a:endParaRPr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2.4 – Configuração básica do dispositivo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2.4.3 - Configurar Senhas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defRPr>
            </a:lvl1pPr>
            <a:lvl2pPr marL="742950" indent="-28575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2pPr>
            <a:lvl3pPr marL="11430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3pPr>
            <a:lvl4pPr marL="16002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4pPr>
            <a:lvl5pPr marL="20574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5pPr>
            <a:lvl6pPr marL="25146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6pPr>
            <a:lvl7pPr marL="29718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7pPr>
            <a:lvl8pPr marL="34290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8pPr>
            <a:lvl9pPr marL="38862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fld id="{3997A419-355F-A04A-96E0-21643AF8E9FF}" type="slidenum">
              <a:rPr sz="800">
                <a:solidFill>
                  <a:prstClr val="black"/>
                </a:solidFill>
              </a:rPr>
            </a:fld>
            <a:endParaRPr sz="800">
              <a:solidFill>
                <a:prstClr val="black"/>
              </a:solidFill>
            </a:endParaRPr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2.4 – Configuração básica do dispositivo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2.4.4 - Criptografar as Senhas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defRPr>
            </a:lvl1pPr>
            <a:lvl2pPr marL="742950" indent="-28575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2pPr>
            <a:lvl3pPr marL="11430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3pPr>
            <a:lvl4pPr marL="16002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4pPr>
            <a:lvl5pPr marL="20574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5pPr>
            <a:lvl6pPr marL="25146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6pPr>
            <a:lvl7pPr marL="29718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7pPr>
            <a:lvl8pPr marL="34290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8pPr>
            <a:lvl9pPr marL="38862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fld id="{3997A419-355F-A04A-96E0-21643AF8E9FF}" type="slidenum">
              <a:rPr sz="800">
                <a:solidFill>
                  <a:prstClr val="black"/>
                </a:solidFill>
              </a:rPr>
            </a:fld>
            <a:endParaRPr sz="800">
              <a:solidFill>
                <a:prstClr val="black"/>
              </a:solidFill>
            </a:endParaRPr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2.4 – Configuração básica do dispositivo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2.4.5 – Mensagens de banner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2.5 - Salvar configurações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>
              <a:buFontTx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defRPr>
            </a:lvl1pPr>
            <a:lvl2pPr marL="742950" indent="-28575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2pPr>
            <a:lvl3pPr marL="11430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3pPr>
            <a:lvl4pPr marL="16002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4pPr>
            <a:lvl5pPr marL="20574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5pPr>
            <a:lvl6pPr marL="25146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6pPr>
            <a:lvl7pPr marL="29718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7pPr>
            <a:lvl8pPr marL="34290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8pPr>
            <a:lvl9pPr marL="38862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fld id="{3997A419-355F-A04A-96E0-21643AF8E9FF}" type="slidenum">
              <a:rPr sz="800">
                <a:solidFill>
                  <a:prstClr val="black"/>
                </a:solidFill>
              </a:rPr>
            </a:fld>
            <a:endParaRPr sz="800">
              <a:solidFill>
                <a:prstClr val="black"/>
              </a:solidFill>
            </a:endParaRPr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2.5 - Salvar configurações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2.5.1 - Arquivos de configuração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defRPr>
            </a:lvl1pPr>
            <a:lvl2pPr marL="742950" indent="-28575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2pPr>
            <a:lvl3pPr marL="11430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3pPr>
            <a:lvl4pPr marL="16002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4pPr>
            <a:lvl5pPr marL="20574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5pPr>
            <a:lvl6pPr marL="25146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6pPr>
            <a:lvl7pPr marL="29718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7pPr>
            <a:lvl8pPr marL="34290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8pPr>
            <a:lvl9pPr marL="38862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fld id="{3997A419-355F-A04A-96E0-21643AF8E9FF}" type="slidenum">
              <a:rPr sz="800">
                <a:solidFill>
                  <a:prstClr val="black"/>
                </a:solidFill>
              </a:rPr>
            </a:fld>
            <a:endParaRPr sz="800">
              <a:solidFill>
                <a:prstClr val="black"/>
              </a:solidFill>
            </a:endParaRPr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2.5 - Salvar configurações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2.5.2 - Alterar a Configuração Ativa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defRPr>
            </a:lvl1pPr>
            <a:lvl2pPr marL="742950" indent="-28575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2pPr>
            <a:lvl3pPr marL="11430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3pPr>
            <a:lvl4pPr marL="16002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4pPr>
            <a:lvl5pPr marL="20574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5pPr>
            <a:lvl6pPr marL="25146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6pPr>
            <a:lvl7pPr marL="29718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7pPr>
            <a:lvl8pPr marL="34290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8pPr>
            <a:lvl9pPr marL="38862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fld id="{3997A419-355F-A04A-96E0-21643AF8E9FF}" type="slidenum">
              <a:rPr sz="800">
                <a:solidFill>
                  <a:prstClr val="black"/>
                </a:solidFill>
              </a:rPr>
            </a:fld>
            <a:endParaRPr sz="800">
              <a:solidFill>
                <a:prstClr val="black"/>
              </a:solidFill>
            </a:endParaRPr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2.5 - Salvar configurações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2.5.4 – Capturar a Configuração em um arquivo de texto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defRPr>
            </a:lvl1pPr>
            <a:lvl2pPr marL="742950" indent="-28575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2pPr>
            <a:lvl3pPr marL="11430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3pPr>
            <a:lvl4pPr marL="16002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4pPr>
            <a:lvl5pPr marL="20574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5pPr>
            <a:lvl6pPr marL="25146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6pPr>
            <a:lvl7pPr marL="29718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7pPr>
            <a:lvl8pPr marL="34290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8pPr>
            <a:lvl9pPr marL="38862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fld id="{3997A419-355F-A04A-96E0-21643AF8E9FF}" type="slidenum">
              <a:rPr sz="800">
                <a:solidFill>
                  <a:prstClr val="black"/>
                </a:solidFill>
              </a:rPr>
            </a:fld>
            <a:endParaRPr sz="800">
              <a:solidFill>
                <a:prstClr val="black"/>
              </a:solidFill>
            </a:endParaRPr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2.5 - Salvar configurações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2.5.4 – Capturar a Configuração em um arquivo de texto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2.6 — Portas e Endereços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defRPr>
            </a:lvl1pPr>
            <a:lvl2pPr marL="742950" indent="-28575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2pPr>
            <a:lvl3pPr marL="11430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3pPr>
            <a:lvl4pPr marL="16002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4pPr>
            <a:lvl5pPr marL="20574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5pPr>
            <a:lvl6pPr marL="25146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6pPr>
            <a:lvl7pPr marL="29718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7pPr>
            <a:lvl8pPr marL="34290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8pPr>
            <a:lvl9pPr marL="38862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fld id="{3997A419-355F-A04A-96E0-21643AF8E9FF}" type="slidenum">
              <a:rPr sz="800">
                <a:solidFill>
                  <a:prstClr val="black"/>
                </a:solidFill>
              </a:rPr>
            </a:fld>
            <a:endParaRPr sz="800">
              <a:solidFill>
                <a:prstClr val="black"/>
              </a:solidFill>
            </a:endParaRPr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2.6 — Portas e Endereços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2.6.1 — Endereços IP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defRPr>
            </a:lvl1pPr>
            <a:lvl2pPr marL="742950" indent="-28575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2pPr>
            <a:lvl3pPr marL="11430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3pPr>
            <a:lvl4pPr marL="16002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4pPr>
            <a:lvl5pPr marL="20574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5pPr>
            <a:lvl6pPr marL="25146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6pPr>
            <a:lvl7pPr marL="29718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7pPr>
            <a:lvl8pPr marL="34290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8pPr>
            <a:lvl9pPr marL="38862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fld id="{3997A419-355F-A04A-96E0-21643AF8E9FF}" type="slidenum">
              <a:rPr sz="800">
                <a:solidFill>
                  <a:prstClr val="black"/>
                </a:solidFill>
              </a:rPr>
            </a:fld>
            <a:endParaRPr sz="800">
              <a:solidFill>
                <a:prstClr val="black"/>
              </a:solidFill>
            </a:endParaRPr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2.6 — Portas e Endereços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2.6.1 — Endereços IP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defRPr>
            </a:lvl1pPr>
            <a:lvl2pPr marL="742950" indent="-28575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2pPr>
            <a:lvl3pPr marL="11430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3pPr>
            <a:lvl4pPr marL="16002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4pPr>
            <a:lvl5pPr marL="20574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5pPr>
            <a:lvl6pPr marL="25146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6pPr>
            <a:lvl7pPr marL="29718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7pPr>
            <a:lvl8pPr marL="34290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8pPr>
            <a:lvl9pPr marL="38862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fld id="{3997A419-355F-A04A-96E0-21643AF8E9FF}" type="slidenum">
              <a:rPr sz="800">
                <a:solidFill>
                  <a:prstClr val="black"/>
                </a:solidFill>
              </a:rPr>
            </a:fld>
            <a:endParaRPr sz="800">
              <a:solidFill>
                <a:prstClr val="black"/>
              </a:solidFill>
            </a:endParaRPr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2.6 — Portas e Endereços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2.3.1.2 Interfaces e Portas</a:t>
            </a:r>
            <a:endParaRPr lang="pt-BR">
              <a:latin typeface="Arial" panose="020B0604020202020204" pitchFamily="34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2.6.3 — Verifique o seu entendimento - Portas e endereços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2.7 - Configurar endereços IP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defRPr>
            </a:lvl1pPr>
            <a:lvl2pPr marL="742950" indent="-28575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2pPr>
            <a:lvl3pPr marL="11430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3pPr>
            <a:lvl4pPr marL="16002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4pPr>
            <a:lvl5pPr marL="20574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5pPr>
            <a:lvl6pPr marL="25146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6pPr>
            <a:lvl7pPr marL="29718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7pPr>
            <a:lvl8pPr marL="34290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8pPr>
            <a:lvl9pPr marL="38862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fld id="{3997A419-355F-A04A-96E0-21643AF8E9FF}" type="slidenum">
              <a:rPr sz="800">
                <a:solidFill>
                  <a:prstClr val="black"/>
                </a:solidFill>
              </a:rPr>
            </a:fld>
            <a:endParaRPr sz="800">
              <a:solidFill>
                <a:prstClr val="black"/>
              </a:solidFill>
            </a:endParaRPr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2.7 - Configurar endereços IP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2.7.1 - Configuração manual de endereço IP para dispositivos finais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defRPr>
            </a:lvl1pPr>
            <a:lvl2pPr marL="742950" indent="-28575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2pPr>
            <a:lvl3pPr marL="11430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3pPr>
            <a:lvl4pPr marL="16002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4pPr>
            <a:lvl5pPr marL="20574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5pPr>
            <a:lvl6pPr marL="25146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6pPr>
            <a:lvl7pPr marL="29718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7pPr>
            <a:lvl8pPr marL="34290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8pPr>
            <a:lvl9pPr marL="38862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fld id="{3997A419-355F-A04A-96E0-21643AF8E9FF}" type="slidenum">
              <a:rPr sz="800">
                <a:solidFill>
                  <a:prstClr val="black"/>
                </a:solidFill>
              </a:rPr>
            </a:fld>
            <a:endParaRPr sz="800">
              <a:solidFill>
                <a:prstClr val="black"/>
              </a:solidFill>
            </a:endParaRPr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2.7 - Configurar endereços IP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2.7.2 - Configuração automática de endereço IP para dispositivos finais</a:t>
            </a:r>
            <a:endParaRPr lang="pt-BR">
              <a:latin typeface="Arial" panose="020B0604020202020204" pitchFamily="34" charset="0"/>
            </a:endParaRPr>
          </a:p>
          <a:p>
            <a:pPr rtl="0"/>
            <a:r>
              <a:rPr lang="pt-BR"/>
              <a:t>2.7.3 — Verificador de sintaxe — Verifique a configuração de IP do PC Windows</a:t>
            </a:r>
            <a:endParaRPr lang="pt-BR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defRPr>
            </a:lvl1pPr>
            <a:lvl2pPr marL="742950" indent="-28575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2pPr>
            <a:lvl3pPr marL="11430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3pPr>
            <a:lvl4pPr marL="16002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4pPr>
            <a:lvl5pPr marL="2057400" indent="-228600" defTabSz="90360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5pPr>
            <a:lvl6pPr marL="25146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6pPr>
            <a:lvl7pPr marL="29718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7pPr>
            <a:lvl8pPr marL="34290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8pPr>
            <a:lvl9pPr marL="3886200" indent="-228600" algn="ctr" defTabSz="903605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fld id="{3997A419-355F-A04A-96E0-21643AF8E9FF}" type="slidenum">
              <a:rPr sz="800">
                <a:solidFill>
                  <a:prstClr val="black"/>
                </a:solidFill>
              </a:rPr>
            </a:fld>
            <a:endParaRPr sz="800">
              <a:solidFill>
                <a:prstClr val="black"/>
              </a:solidFill>
            </a:endParaRPr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2.7 - Configurar endereços IP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2.7.4 - Configuração da Interface Virtual de Switch</a:t>
            </a:r>
            <a:endParaRPr lang="pt-BR">
              <a:latin typeface="Arial" panose="020B0604020202020204" pitchFamily="34" charset="0"/>
            </a:endParaRPr>
          </a:p>
          <a:p>
            <a:pPr rtl="0"/>
            <a:r>
              <a:rPr lang="pt-BR"/>
              <a:t>2.7.5 - Verificador de sintaxe - Configurar uma interface virtual do switch</a:t>
            </a:r>
            <a:endParaRPr lang="pt-BR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2.8 - Verificar a conectividade.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rtl="0"/>
            <a:fld id="{04267211-205D-47E8-9F29-7E4C01D43DC3}" type="slidenum">
              <a:rPr sz="800"/>
            </a:fld>
            <a:endParaRPr sz="800"/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2644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 – Configuração básica do switch e do dispositivo final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2.8 - Verificar a conectividade.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2.8.2 - Testar a conectividade de ponta a ponta.</a:t>
            </a:r>
            <a:endParaRPr lang="pt-BR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3_Title Slide-animated gradi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6" name="Subtitle 2"/>
          <p:cNvSpPr>
            <a:spLocks noGrp="1"/>
          </p:cNvSpPr>
          <p:nvPr>
            <p:ph type="subTitle" idx="1"/>
          </p:nvPr>
        </p:nvSpPr>
        <p:spPr>
          <a:xfrm>
            <a:off x="469496" y="3809526"/>
            <a:ext cx="4319105" cy="288131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>
              <a:buNone/>
              <a:defRPr sz="1200" b="0" i="0">
                <a:solidFill>
                  <a:schemeClr val="accent5"/>
                </a:solidFill>
                <a:latin typeface="+mn-lt"/>
                <a:cs typeface="CiscoSan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7" name="Text Placeholder 38"/>
          <p:cNvSpPr>
            <a:spLocks noGrp="1"/>
          </p:cNvSpPr>
          <p:nvPr>
            <p:ph type="body" sz="quarter" idx="11"/>
          </p:nvPr>
        </p:nvSpPr>
        <p:spPr>
          <a:xfrm>
            <a:off x="469496" y="4049523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8" name="Text Placeholder 40"/>
          <p:cNvSpPr>
            <a:spLocks noGrp="1"/>
          </p:cNvSpPr>
          <p:nvPr>
            <p:ph type="body" sz="quarter" idx="12"/>
          </p:nvPr>
        </p:nvSpPr>
        <p:spPr>
          <a:xfrm>
            <a:off x="469496" y="4289520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9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63292" y="2872236"/>
            <a:ext cx="5925246" cy="29900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>
              <a:buFont typeface="Arial" panose="020B0604020202020204" pitchFamily="34" charset="0"/>
              <a:buNone/>
              <a:defRPr sz="2000" baseline="0">
                <a:solidFill>
                  <a:schemeClr val="bg2"/>
                </a:solidFill>
                <a:latin typeface="+mj-lt"/>
              </a:defRPr>
            </a:lvl1pPr>
            <a:lvl2pPr marL="304800" indent="0">
              <a:buNone/>
              <a:defRPr/>
            </a:lvl2pPr>
            <a:lvl3pPr marL="427355" indent="0">
              <a:buNone/>
              <a:defRPr/>
            </a:lvl3pPr>
            <a:lvl4pPr marL="516890" indent="0">
              <a:buNone/>
              <a:defRPr/>
            </a:lvl4pPr>
            <a:lvl5pPr marL="601345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425765" y="2300750"/>
            <a:ext cx="5955513" cy="644730"/>
          </a:xfrm>
          <a:prstGeom prst="rect">
            <a:avLst/>
          </a:prstGeom>
        </p:spPr>
        <p:txBody>
          <a:bodyPr anchor="b"/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3600" b="0" i="0" spc="0" baseline="0">
                <a:solidFill>
                  <a:srgbClr val="38C6F4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492125" y="395288"/>
            <a:ext cx="796924" cy="423863"/>
            <a:chOff x="310" y="249"/>
            <a:chExt cx="502" cy="267"/>
          </a:xfrm>
          <a:solidFill>
            <a:schemeClr val="accent5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5_Title Slide-animated gradi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ubtitle 2"/>
          <p:cNvSpPr>
            <a:spLocks noGrp="1"/>
          </p:cNvSpPr>
          <p:nvPr>
            <p:ph type="subTitle" idx="1"/>
          </p:nvPr>
        </p:nvSpPr>
        <p:spPr>
          <a:xfrm>
            <a:off x="469496" y="3809526"/>
            <a:ext cx="4319105" cy="288131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>
              <a:buNone/>
              <a:defRPr sz="1200" b="0" i="0">
                <a:solidFill>
                  <a:schemeClr val="accent1"/>
                </a:solidFill>
                <a:latin typeface="+mn-lt"/>
                <a:cs typeface="CiscoSan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7" name="Text Placeholder 38"/>
          <p:cNvSpPr>
            <a:spLocks noGrp="1"/>
          </p:cNvSpPr>
          <p:nvPr>
            <p:ph type="body" sz="quarter" idx="11"/>
          </p:nvPr>
        </p:nvSpPr>
        <p:spPr>
          <a:xfrm>
            <a:off x="469496" y="4049523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1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8" name="Text Placeholder 40"/>
          <p:cNvSpPr>
            <a:spLocks noGrp="1"/>
          </p:cNvSpPr>
          <p:nvPr>
            <p:ph type="body" sz="quarter" idx="12"/>
          </p:nvPr>
        </p:nvSpPr>
        <p:spPr>
          <a:xfrm>
            <a:off x="469496" y="4289520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1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492125" y="395288"/>
            <a:ext cx="796924" cy="423863"/>
            <a:chOff x="310" y="249"/>
            <a:chExt cx="502" cy="267"/>
          </a:xfrm>
          <a:solidFill>
            <a:srgbClr val="004C69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  <p:sp>
        <p:nvSpPr>
          <p:cNvPr id="29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63292" y="2872236"/>
            <a:ext cx="5925246" cy="29900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>
              <a:buFont typeface="Arial" panose="020B0604020202020204" pitchFamily="34" charset="0"/>
              <a:buNone/>
              <a:defRPr sz="2000" baseline="0">
                <a:solidFill>
                  <a:schemeClr val="accent1"/>
                </a:solidFill>
                <a:latin typeface="+mj-lt"/>
              </a:defRPr>
            </a:lvl1pPr>
            <a:lvl2pPr marL="304800" indent="0">
              <a:buNone/>
              <a:defRPr/>
            </a:lvl2pPr>
            <a:lvl3pPr marL="427355" indent="0">
              <a:buNone/>
              <a:defRPr/>
            </a:lvl3pPr>
            <a:lvl4pPr marL="516890" indent="0">
              <a:buNone/>
              <a:defRPr/>
            </a:lvl4pPr>
            <a:lvl5pPr marL="601345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0" name="Title 1"/>
          <p:cNvSpPr>
            <a:spLocks noGrp="1"/>
          </p:cNvSpPr>
          <p:nvPr>
            <p:ph type="ctrTitle"/>
          </p:nvPr>
        </p:nvSpPr>
        <p:spPr>
          <a:xfrm>
            <a:off x="425765" y="2300750"/>
            <a:ext cx="5955513" cy="644730"/>
          </a:xfrm>
          <a:prstGeom prst="rect">
            <a:avLst/>
          </a:prstGeom>
        </p:spPr>
        <p:txBody>
          <a:bodyPr anchor="b"/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3600" b="0" i="0" spc="0" baseline="0">
                <a:solidFill>
                  <a:schemeClr val="accent1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6_Title Slide-animated gradi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Subtitle 2"/>
          <p:cNvSpPr>
            <a:spLocks noGrp="1"/>
          </p:cNvSpPr>
          <p:nvPr>
            <p:ph type="subTitle" idx="1"/>
          </p:nvPr>
        </p:nvSpPr>
        <p:spPr>
          <a:xfrm>
            <a:off x="469496" y="3809526"/>
            <a:ext cx="4319105" cy="288131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>
              <a:buNone/>
              <a:defRPr sz="1200" b="0" i="0">
                <a:solidFill>
                  <a:schemeClr val="accent5"/>
                </a:solidFill>
                <a:latin typeface="+mn-lt"/>
                <a:cs typeface="CiscoSan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7" name="Text Placeholder 38"/>
          <p:cNvSpPr>
            <a:spLocks noGrp="1"/>
          </p:cNvSpPr>
          <p:nvPr>
            <p:ph type="body" sz="quarter" idx="11"/>
          </p:nvPr>
        </p:nvSpPr>
        <p:spPr>
          <a:xfrm>
            <a:off x="469496" y="4049523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8" name="Text Placeholder 40"/>
          <p:cNvSpPr>
            <a:spLocks noGrp="1"/>
          </p:cNvSpPr>
          <p:nvPr>
            <p:ph type="body" sz="quarter" idx="12"/>
          </p:nvPr>
        </p:nvSpPr>
        <p:spPr>
          <a:xfrm>
            <a:off x="469496" y="4289520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492125" y="395288"/>
            <a:ext cx="796924" cy="423863"/>
            <a:chOff x="310" y="249"/>
            <a:chExt cx="502" cy="267"/>
          </a:xfrm>
          <a:solidFill>
            <a:schemeClr val="accent5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  <p:sp>
        <p:nvSpPr>
          <p:cNvPr id="29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63292" y="2872236"/>
            <a:ext cx="5925246" cy="29900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>
              <a:buFont typeface="Arial" panose="020B0604020202020204" pitchFamily="34" charset="0"/>
              <a:buNone/>
              <a:defRPr sz="2000" baseline="0">
                <a:solidFill>
                  <a:schemeClr val="bg2"/>
                </a:solidFill>
                <a:latin typeface="+mj-lt"/>
              </a:defRPr>
            </a:lvl1pPr>
            <a:lvl2pPr marL="304800" indent="0">
              <a:buNone/>
              <a:defRPr/>
            </a:lvl2pPr>
            <a:lvl3pPr marL="427355" indent="0">
              <a:buNone/>
              <a:defRPr/>
            </a:lvl3pPr>
            <a:lvl4pPr marL="516890" indent="0">
              <a:buNone/>
              <a:defRPr/>
            </a:lvl4pPr>
            <a:lvl5pPr marL="601345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0" name="Title 1"/>
          <p:cNvSpPr>
            <a:spLocks noGrp="1"/>
          </p:cNvSpPr>
          <p:nvPr>
            <p:ph type="ctrTitle"/>
          </p:nvPr>
        </p:nvSpPr>
        <p:spPr>
          <a:xfrm>
            <a:off x="425765" y="2300750"/>
            <a:ext cx="5955513" cy="644730"/>
          </a:xfrm>
          <a:prstGeom prst="rect">
            <a:avLst/>
          </a:prstGeom>
        </p:spPr>
        <p:txBody>
          <a:bodyPr anchor="b"/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3600" b="0" i="0" spc="0" baseline="0">
                <a:solidFill>
                  <a:srgbClr val="38C6F4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3_Seg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9144000" cy="5143499"/>
          </a:xfrm>
          <a:prstGeom prst="rect">
            <a:avLst/>
          </a:prstGeom>
          <a:solidFill>
            <a:srgbClr val="00394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1"/>
          <p:cNvSpPr>
            <a:spLocks noGrp="1"/>
          </p:cNvSpPr>
          <p:nvPr>
            <p:ph type="ctrTitle"/>
          </p:nvPr>
        </p:nvSpPr>
        <p:spPr>
          <a:xfrm>
            <a:off x="416425" y="915409"/>
            <a:ext cx="7598042" cy="2569946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4600" b="0" i="0" spc="0" baseline="0">
                <a:solidFill>
                  <a:schemeClr val="accent5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Rectangle 7"/>
          <p:cNvSpPr>
            <a:spLocks noChangeArrowheads="1"/>
          </p:cNvSpPr>
          <p:nvPr userDrawn="1"/>
        </p:nvSpPr>
        <p:spPr bwMode="ltGray">
          <a:xfrm>
            <a:off x="8515707" y="4742907"/>
            <a:ext cx="218414" cy="154518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wrap="none" lIns="61586" tIns="30792" rIns="61586" bIns="30792" anchor="b">
            <a:spAutoFit/>
          </a:bodyPr>
          <a:lstStyle/>
          <a:p>
            <a:pPr algn="r"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fld id="{6A1E46DC-7EF6-4EA2-B285-14272867D133}" type="slidenum">
              <a:rPr sz="600">
                <a:solidFill>
                  <a:schemeClr val="accent5">
                    <a:lumMod val="50000"/>
                  </a:schemeClr>
                </a:solidFill>
                <a:latin typeface="+mn-lt"/>
                <a:ea typeface="+mn-ea"/>
                <a:cs typeface="CiscoSans Thin"/>
              </a:rPr>
            </a:fld>
            <a:endParaRPr sz="600">
              <a:solidFill>
                <a:schemeClr val="accent5">
                  <a:lumMod val="50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sp>
        <p:nvSpPr>
          <p:cNvPr id="9" name="Rectangle 4"/>
          <p:cNvSpPr>
            <a:spLocks noChangeArrowheads="1"/>
          </p:cNvSpPr>
          <p:nvPr userDrawn="1"/>
        </p:nvSpPr>
        <p:spPr bwMode="ltGray">
          <a:xfrm>
            <a:off x="5867508" y="4741653"/>
            <a:ext cx="2658018" cy="15451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lIns="61586" tIns="30792" rIns="61586" bIns="30792" anchor="b">
            <a:spAutoFit/>
          </a:bodyPr>
          <a:lstStyle/>
          <a:p>
            <a:pPr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pt-BR" sz="600">
                <a:solidFill>
                  <a:schemeClr val="accent5">
                    <a:lumMod val="50000"/>
                  </a:schemeClr>
                </a:solidFill>
                <a:latin typeface="+mn-lt"/>
                <a:ea typeface="+mn-ea"/>
                <a:cs typeface="CiscoSans Thin"/>
              </a:rPr>
              <a:t>© 2016 Cisco e/ou suas afiliadas. Todos os direitos reservados.   Documento confidencial da Cisco</a:t>
            </a:r>
            <a:endParaRPr lang="pt-BR" sz="600">
              <a:solidFill>
                <a:schemeClr val="accent5">
                  <a:lumMod val="50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grpSp>
        <p:nvGrpSpPr>
          <p:cNvPr id="11" name="Group 4"/>
          <p:cNvGrpSpPr>
            <a:grpSpLocks noChangeAspect="1"/>
          </p:cNvGrpSpPr>
          <p:nvPr userDrawn="1"/>
        </p:nvGrpSpPr>
        <p:grpSpPr bwMode="auto">
          <a:xfrm>
            <a:off x="508039" y="4715197"/>
            <a:ext cx="340257" cy="180974"/>
            <a:chOff x="310" y="249"/>
            <a:chExt cx="502" cy="267"/>
          </a:xfrm>
          <a:solidFill>
            <a:srgbClr val="086D8E"/>
          </a:solidFill>
        </p:grpSpPr>
        <p:sp>
          <p:nvSpPr>
            <p:cNvPr id="12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9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0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ulti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4662" y="1347788"/>
            <a:ext cx="8280057" cy="3073946"/>
          </a:xfrm>
          <a:prstGeom prst="rect">
            <a:avLst/>
          </a:prstGeom>
        </p:spPr>
        <p:txBody>
          <a:bodyPr lIns="91420" tIns="45710" rIns="91420" bIns="45710">
            <a:noAutofit/>
          </a:bodyPr>
          <a:lstStyle>
            <a:lvl1pPr marL="285750" marR="0" indent="-28575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/>
              <a:buNone/>
              <a:defRPr sz="2000" b="0" i="0" baseline="0">
                <a:solidFill>
                  <a:schemeClr val="bg1"/>
                </a:solidFill>
                <a:latin typeface="+mn-lt"/>
                <a:cs typeface="CiscoSans ExtraLight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Title Placeholder 5"/>
          <p:cNvSpPr>
            <a:spLocks noGrp="1"/>
          </p:cNvSpPr>
          <p:nvPr>
            <p:ph type="title"/>
          </p:nvPr>
        </p:nvSpPr>
        <p:spPr bwMode="auto">
          <a:xfrm>
            <a:off x="437766" y="341313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rgbClr val="004C69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GB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Circled_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Oval 11"/>
          <p:cNvSpPr/>
          <p:nvPr/>
        </p:nvSpPr>
        <p:spPr>
          <a:xfrm>
            <a:off x="575610" y="2552550"/>
            <a:ext cx="698624" cy="698624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solidFill>
                <a:srgbClr val="FFFFFF"/>
              </a:solidFill>
              <a:cs typeface="Arial" panose="020B0604020202020204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5610" y="1426607"/>
            <a:ext cx="698624" cy="698624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bg1"/>
              </a:solidFill>
              <a:cs typeface="Arial" panose="020B06040202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575610" y="3653093"/>
            <a:ext cx="698624" cy="698624"/>
          </a:xfrm>
          <a:prstGeom prst="ellipse">
            <a:avLst/>
          </a:prstGeom>
          <a:solidFill>
            <a:schemeClr val="accent5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solidFill>
                <a:srgbClr val="049FD9"/>
              </a:solidFill>
              <a:cs typeface="Arial" panose="020B0604020202020204"/>
            </a:endParaRPr>
          </a:p>
        </p:txBody>
      </p:sp>
      <p:sp>
        <p:nvSpPr>
          <p:cNvPr id="24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1365250" y="1432522"/>
            <a:ext cx="5473700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5" name="Text Placeholder 17"/>
          <p:cNvSpPr>
            <a:spLocks noGrp="1"/>
          </p:cNvSpPr>
          <p:nvPr>
            <p:ph type="body" sz="quarter" idx="14"/>
          </p:nvPr>
        </p:nvSpPr>
        <p:spPr>
          <a:xfrm>
            <a:off x="1365250" y="2557793"/>
            <a:ext cx="5473700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6" name="Text Placeholder 17"/>
          <p:cNvSpPr>
            <a:spLocks noGrp="1"/>
          </p:cNvSpPr>
          <p:nvPr>
            <p:ph type="body" sz="quarter" idx="15"/>
          </p:nvPr>
        </p:nvSpPr>
        <p:spPr>
          <a:xfrm>
            <a:off x="1365250" y="3653093"/>
            <a:ext cx="5473700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8" name="Text Placeholder 17"/>
          <p:cNvSpPr>
            <a:spLocks noGrp="1"/>
          </p:cNvSpPr>
          <p:nvPr>
            <p:ph type="body" sz="quarter" idx="17" hasCustomPrompt="1"/>
          </p:nvPr>
        </p:nvSpPr>
        <p:spPr>
          <a:xfrm>
            <a:off x="575610" y="2552550"/>
            <a:ext cx="698624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4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2</a:t>
            </a:r>
            <a:endParaRPr lang="en-US" dirty="0"/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575611" y="3651140"/>
            <a:ext cx="698624" cy="693381"/>
          </a:xfrm>
          <a:prstGeom prst="rect">
            <a:avLst/>
          </a:prstGeom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4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3</a:t>
            </a:r>
            <a:endParaRPr lang="en-US" dirty="0"/>
          </a:p>
        </p:txBody>
      </p:sp>
      <p:sp>
        <p:nvSpPr>
          <p:cNvPr id="13" name="Text Placeholder 17"/>
          <p:cNvSpPr>
            <a:spLocks noGrp="1"/>
          </p:cNvSpPr>
          <p:nvPr>
            <p:ph type="body" sz="quarter" idx="19" hasCustomPrompt="1"/>
          </p:nvPr>
        </p:nvSpPr>
        <p:spPr>
          <a:xfrm>
            <a:off x="575610" y="1427248"/>
            <a:ext cx="698624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4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Circled_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Oval 11"/>
          <p:cNvSpPr/>
          <p:nvPr/>
        </p:nvSpPr>
        <p:spPr>
          <a:xfrm>
            <a:off x="575611" y="1979318"/>
            <a:ext cx="464815" cy="464815"/>
          </a:xfrm>
          <a:prstGeom prst="ellipse">
            <a:avLst/>
          </a:prstGeom>
          <a:solidFill>
            <a:srgbClr val="38C6F4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5610" y="1328927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575611" y="2627446"/>
            <a:ext cx="464815" cy="464815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24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1172384" y="1334842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5" name="Text Placeholder 17"/>
          <p:cNvSpPr>
            <a:spLocks noGrp="1"/>
          </p:cNvSpPr>
          <p:nvPr>
            <p:ph type="body" sz="quarter" idx="14"/>
          </p:nvPr>
        </p:nvSpPr>
        <p:spPr>
          <a:xfrm>
            <a:off x="1172385" y="1984561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6" name="Text Placeholder 17"/>
          <p:cNvSpPr>
            <a:spLocks noGrp="1"/>
          </p:cNvSpPr>
          <p:nvPr>
            <p:ph type="body" sz="quarter" idx="15"/>
          </p:nvPr>
        </p:nvSpPr>
        <p:spPr>
          <a:xfrm>
            <a:off x="1172385" y="2627446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7" name="Text Placeholder 17"/>
          <p:cNvSpPr>
            <a:spLocks noGrp="1"/>
          </p:cNvSpPr>
          <p:nvPr>
            <p:ph type="body" sz="quarter" idx="16" hasCustomPrompt="1"/>
          </p:nvPr>
        </p:nvSpPr>
        <p:spPr>
          <a:xfrm>
            <a:off x="575611" y="1327521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</a:t>
            </a:r>
            <a:endParaRPr lang="en-US" dirty="0"/>
          </a:p>
        </p:txBody>
      </p:sp>
      <p:sp>
        <p:nvSpPr>
          <p:cNvPr id="28" name="Text Placeholder 17"/>
          <p:cNvSpPr>
            <a:spLocks noGrp="1"/>
          </p:cNvSpPr>
          <p:nvPr>
            <p:ph type="body" sz="quarter" idx="17" hasCustomPrompt="1"/>
          </p:nvPr>
        </p:nvSpPr>
        <p:spPr>
          <a:xfrm>
            <a:off x="575611" y="197931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2</a:t>
            </a:r>
            <a:endParaRPr lang="en-US" dirty="0"/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575612" y="2625493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3</a:t>
            </a:r>
            <a:endParaRPr lang="en-US" dirty="0"/>
          </a:p>
        </p:txBody>
      </p:sp>
      <p:sp>
        <p:nvSpPr>
          <p:cNvPr id="13" name="Oval 12"/>
          <p:cNvSpPr/>
          <p:nvPr/>
        </p:nvSpPr>
        <p:spPr>
          <a:xfrm>
            <a:off x="575612" y="3274581"/>
            <a:ext cx="464815" cy="464815"/>
          </a:xfrm>
          <a:prstGeom prst="ellipse">
            <a:avLst/>
          </a:prstGeom>
          <a:solidFill>
            <a:schemeClr val="accent6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14" name="Text Placeholder 17"/>
          <p:cNvSpPr>
            <a:spLocks noGrp="1"/>
          </p:cNvSpPr>
          <p:nvPr>
            <p:ph type="body" sz="quarter" idx="19"/>
          </p:nvPr>
        </p:nvSpPr>
        <p:spPr>
          <a:xfrm>
            <a:off x="1172386" y="3274581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20" hasCustomPrompt="1"/>
          </p:nvPr>
        </p:nvSpPr>
        <p:spPr>
          <a:xfrm>
            <a:off x="575613" y="327262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4</a:t>
            </a:r>
            <a:endParaRPr lang="en-US" dirty="0"/>
          </a:p>
        </p:txBody>
      </p:sp>
      <p:sp>
        <p:nvSpPr>
          <p:cNvPr id="17" name="Oval 16"/>
          <p:cNvSpPr/>
          <p:nvPr/>
        </p:nvSpPr>
        <p:spPr>
          <a:xfrm>
            <a:off x="575613" y="3921716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72387" y="3921716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9" name="Text Placeholder 17"/>
          <p:cNvSpPr>
            <a:spLocks noGrp="1"/>
          </p:cNvSpPr>
          <p:nvPr>
            <p:ph type="body" sz="quarter" idx="22" hasCustomPrompt="1"/>
          </p:nvPr>
        </p:nvSpPr>
        <p:spPr>
          <a:xfrm>
            <a:off x="575614" y="3919763"/>
            <a:ext cx="464815" cy="461327"/>
          </a:xfrm>
          <a:prstGeom prst="rect">
            <a:avLst/>
          </a:prstGeom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5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Circled_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4C69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2" name="Oval 41"/>
          <p:cNvSpPr/>
          <p:nvPr/>
        </p:nvSpPr>
        <p:spPr>
          <a:xfrm>
            <a:off x="575611" y="1979318"/>
            <a:ext cx="464815" cy="464815"/>
          </a:xfrm>
          <a:prstGeom prst="ellipse">
            <a:avLst/>
          </a:prstGeom>
          <a:solidFill>
            <a:srgbClr val="38C6F4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575610" y="1328927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rgbClr val="FFFFFF"/>
              </a:solidFill>
              <a:cs typeface="Arial" panose="020B0604020202020204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575611" y="2627446"/>
            <a:ext cx="464815" cy="464815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45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1172384" y="1334842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6" name="Text Placeholder 17"/>
          <p:cNvSpPr>
            <a:spLocks noGrp="1"/>
          </p:cNvSpPr>
          <p:nvPr>
            <p:ph type="body" sz="quarter" idx="14"/>
          </p:nvPr>
        </p:nvSpPr>
        <p:spPr>
          <a:xfrm>
            <a:off x="1172385" y="1984561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7" name="Text Placeholder 17"/>
          <p:cNvSpPr>
            <a:spLocks noGrp="1"/>
          </p:cNvSpPr>
          <p:nvPr>
            <p:ph type="body" sz="quarter" idx="15"/>
          </p:nvPr>
        </p:nvSpPr>
        <p:spPr>
          <a:xfrm>
            <a:off x="1172385" y="2627446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8" name="Text Placeholder 17"/>
          <p:cNvSpPr>
            <a:spLocks noGrp="1"/>
          </p:cNvSpPr>
          <p:nvPr>
            <p:ph type="body" sz="quarter" idx="16" hasCustomPrompt="1"/>
          </p:nvPr>
        </p:nvSpPr>
        <p:spPr>
          <a:xfrm>
            <a:off x="575611" y="1327521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</a:t>
            </a:r>
            <a:endParaRPr lang="en-US" dirty="0"/>
          </a:p>
        </p:txBody>
      </p:sp>
      <p:sp>
        <p:nvSpPr>
          <p:cNvPr id="49" name="Text Placeholder 17"/>
          <p:cNvSpPr>
            <a:spLocks noGrp="1"/>
          </p:cNvSpPr>
          <p:nvPr>
            <p:ph type="body" sz="quarter" idx="17" hasCustomPrompt="1"/>
          </p:nvPr>
        </p:nvSpPr>
        <p:spPr>
          <a:xfrm>
            <a:off x="575611" y="197931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2</a:t>
            </a:r>
            <a:endParaRPr lang="en-US" dirty="0"/>
          </a:p>
        </p:txBody>
      </p:sp>
      <p:sp>
        <p:nvSpPr>
          <p:cNvPr id="50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575612" y="2625493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3</a:t>
            </a:r>
            <a:endParaRPr lang="en-US" dirty="0"/>
          </a:p>
        </p:txBody>
      </p:sp>
      <p:sp>
        <p:nvSpPr>
          <p:cNvPr id="51" name="Oval 50"/>
          <p:cNvSpPr/>
          <p:nvPr/>
        </p:nvSpPr>
        <p:spPr>
          <a:xfrm>
            <a:off x="575612" y="3274581"/>
            <a:ext cx="464815" cy="464815"/>
          </a:xfrm>
          <a:prstGeom prst="ellipse">
            <a:avLst/>
          </a:prstGeom>
          <a:solidFill>
            <a:schemeClr val="accent6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2" name="Text Placeholder 17"/>
          <p:cNvSpPr>
            <a:spLocks noGrp="1"/>
          </p:cNvSpPr>
          <p:nvPr>
            <p:ph type="body" sz="quarter" idx="19"/>
          </p:nvPr>
        </p:nvSpPr>
        <p:spPr>
          <a:xfrm>
            <a:off x="1172386" y="3274581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3" name="Text Placeholder 17"/>
          <p:cNvSpPr>
            <a:spLocks noGrp="1"/>
          </p:cNvSpPr>
          <p:nvPr>
            <p:ph type="body" sz="quarter" idx="20" hasCustomPrompt="1"/>
          </p:nvPr>
        </p:nvSpPr>
        <p:spPr>
          <a:xfrm>
            <a:off x="575613" y="327262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4</a:t>
            </a:r>
            <a:endParaRPr lang="en-US" dirty="0"/>
          </a:p>
        </p:txBody>
      </p:sp>
      <p:sp>
        <p:nvSpPr>
          <p:cNvPr id="54" name="Oval 53"/>
          <p:cNvSpPr/>
          <p:nvPr/>
        </p:nvSpPr>
        <p:spPr>
          <a:xfrm>
            <a:off x="575613" y="3921716"/>
            <a:ext cx="464815" cy="46481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5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72387" y="3921716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6" name="Text Placeholder 17"/>
          <p:cNvSpPr>
            <a:spLocks noGrp="1"/>
          </p:cNvSpPr>
          <p:nvPr>
            <p:ph type="body" sz="quarter" idx="22" hasCustomPrompt="1"/>
          </p:nvPr>
        </p:nvSpPr>
        <p:spPr>
          <a:xfrm>
            <a:off x="575614" y="3919763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5</a:t>
            </a:r>
            <a:endParaRPr lang="en-US" dirty="0"/>
          </a:p>
        </p:txBody>
      </p:sp>
      <p:sp>
        <p:nvSpPr>
          <p:cNvPr id="57" name="Oval 56"/>
          <p:cNvSpPr/>
          <p:nvPr/>
        </p:nvSpPr>
        <p:spPr>
          <a:xfrm>
            <a:off x="4414576" y="1983084"/>
            <a:ext cx="464815" cy="464815"/>
          </a:xfrm>
          <a:prstGeom prst="ellipse">
            <a:avLst/>
          </a:prstGeom>
          <a:solidFill>
            <a:schemeClr val="accent6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4414575" y="1332693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4414576" y="2631212"/>
            <a:ext cx="464815" cy="464815"/>
          </a:xfrm>
          <a:prstGeom prst="ellipse">
            <a:avLst/>
          </a:prstGeom>
          <a:solidFill>
            <a:schemeClr val="accent5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60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5011349" y="1338608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1" name="Text Placeholder 17"/>
          <p:cNvSpPr>
            <a:spLocks noGrp="1"/>
          </p:cNvSpPr>
          <p:nvPr>
            <p:ph type="body" sz="quarter" idx="24"/>
          </p:nvPr>
        </p:nvSpPr>
        <p:spPr>
          <a:xfrm>
            <a:off x="5011350" y="1988327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2" name="Text Placeholder 17"/>
          <p:cNvSpPr>
            <a:spLocks noGrp="1"/>
          </p:cNvSpPr>
          <p:nvPr>
            <p:ph type="body" sz="quarter" idx="25"/>
          </p:nvPr>
        </p:nvSpPr>
        <p:spPr>
          <a:xfrm>
            <a:off x="5011350" y="2631212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3" name="Text Placeholder 17"/>
          <p:cNvSpPr>
            <a:spLocks noGrp="1"/>
          </p:cNvSpPr>
          <p:nvPr>
            <p:ph type="body" sz="quarter" idx="26" hasCustomPrompt="1"/>
          </p:nvPr>
        </p:nvSpPr>
        <p:spPr>
          <a:xfrm>
            <a:off x="4414576" y="1331287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6</a:t>
            </a:r>
            <a:endParaRPr lang="en-US" dirty="0"/>
          </a:p>
        </p:txBody>
      </p:sp>
      <p:sp>
        <p:nvSpPr>
          <p:cNvPr id="64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4414576" y="1983084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7</a:t>
            </a:r>
            <a:endParaRPr lang="en-US" dirty="0"/>
          </a:p>
        </p:txBody>
      </p:sp>
      <p:sp>
        <p:nvSpPr>
          <p:cNvPr id="65" name="Text Placeholder 17"/>
          <p:cNvSpPr>
            <a:spLocks noGrp="1"/>
          </p:cNvSpPr>
          <p:nvPr>
            <p:ph type="body" sz="quarter" idx="28" hasCustomPrompt="1"/>
          </p:nvPr>
        </p:nvSpPr>
        <p:spPr>
          <a:xfrm>
            <a:off x="4414577" y="2629259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8</a:t>
            </a:r>
            <a:endParaRPr lang="en-US" dirty="0"/>
          </a:p>
        </p:txBody>
      </p:sp>
      <p:sp>
        <p:nvSpPr>
          <p:cNvPr id="66" name="Oval 65"/>
          <p:cNvSpPr/>
          <p:nvPr/>
        </p:nvSpPr>
        <p:spPr>
          <a:xfrm>
            <a:off x="4414577" y="3278347"/>
            <a:ext cx="464815" cy="464815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67" name="Text Placeholder 17"/>
          <p:cNvSpPr>
            <a:spLocks noGrp="1"/>
          </p:cNvSpPr>
          <p:nvPr>
            <p:ph type="body" sz="quarter" idx="29"/>
          </p:nvPr>
        </p:nvSpPr>
        <p:spPr>
          <a:xfrm>
            <a:off x="5011351" y="3278347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8" name="Text Placeholder 17"/>
          <p:cNvSpPr>
            <a:spLocks noGrp="1"/>
          </p:cNvSpPr>
          <p:nvPr>
            <p:ph type="body" sz="quarter" idx="30" hasCustomPrompt="1"/>
          </p:nvPr>
        </p:nvSpPr>
        <p:spPr>
          <a:xfrm>
            <a:off x="4414578" y="3276394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9</a:t>
            </a:r>
            <a:endParaRPr lang="en-US" dirty="0"/>
          </a:p>
        </p:txBody>
      </p:sp>
      <p:sp>
        <p:nvSpPr>
          <p:cNvPr id="69" name="Oval 68"/>
          <p:cNvSpPr/>
          <p:nvPr/>
        </p:nvSpPr>
        <p:spPr>
          <a:xfrm>
            <a:off x="4414578" y="3925482"/>
            <a:ext cx="464815" cy="46481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70" name="Text Placeholder 17"/>
          <p:cNvSpPr>
            <a:spLocks noGrp="1"/>
          </p:cNvSpPr>
          <p:nvPr>
            <p:ph type="body" sz="quarter" idx="31"/>
          </p:nvPr>
        </p:nvSpPr>
        <p:spPr>
          <a:xfrm>
            <a:off x="5011352" y="3925482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71" name="Text Placeholder 17"/>
          <p:cNvSpPr>
            <a:spLocks noGrp="1"/>
          </p:cNvSpPr>
          <p:nvPr>
            <p:ph type="body" sz="quarter" idx="32" hasCustomPrompt="1"/>
          </p:nvPr>
        </p:nvSpPr>
        <p:spPr>
          <a:xfrm>
            <a:off x="4414579" y="3923529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10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1_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1"/>
            <a:ext cx="9143999" cy="5165874"/>
          </a:xfrm>
          <a:prstGeom prst="rect">
            <a:avLst/>
          </a:prstGeom>
        </p:spPr>
      </p:pic>
      <p:grpSp>
        <p:nvGrpSpPr>
          <p:cNvPr id="4" name="Group 4"/>
          <p:cNvGrpSpPr>
            <a:grpSpLocks noChangeAspect="1"/>
          </p:cNvGrpSpPr>
          <p:nvPr userDrawn="1"/>
        </p:nvGrpSpPr>
        <p:grpSpPr bwMode="auto">
          <a:xfrm>
            <a:off x="3746294" y="2129856"/>
            <a:ext cx="1617944" cy="860542"/>
            <a:chOff x="310" y="249"/>
            <a:chExt cx="502" cy="267"/>
          </a:xfrm>
          <a:solidFill>
            <a:schemeClr val="accent5"/>
          </a:solidFill>
        </p:grpSpPr>
        <p:sp>
          <p:nvSpPr>
            <p:cNvPr id="5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394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 userDrawn="1"/>
        </p:nvGrpSpPr>
        <p:grpSpPr bwMode="auto">
          <a:xfrm>
            <a:off x="3746294" y="2129856"/>
            <a:ext cx="1617944" cy="860542"/>
            <a:chOff x="310" y="249"/>
            <a:chExt cx="502" cy="267"/>
          </a:xfrm>
          <a:solidFill>
            <a:schemeClr val="accent5"/>
          </a:solidFill>
        </p:grpSpPr>
        <p:sp>
          <p:nvSpPr>
            <p:cNvPr id="5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3_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>
            <a:grpSpLocks noChangeAspect="1"/>
          </p:cNvGrpSpPr>
          <p:nvPr userDrawn="1"/>
        </p:nvGrpSpPr>
        <p:grpSpPr bwMode="auto">
          <a:xfrm>
            <a:off x="3746294" y="2129856"/>
            <a:ext cx="1617944" cy="860542"/>
            <a:chOff x="310" y="249"/>
            <a:chExt cx="502" cy="267"/>
          </a:xfrm>
          <a:solidFill>
            <a:schemeClr val="accent1">
              <a:lumMod val="75000"/>
            </a:schemeClr>
          </a:solidFill>
        </p:grpSpPr>
        <p:sp>
          <p:nvSpPr>
            <p:cNvPr id="5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6"/>
          <p:cNvSpPr>
            <a:spLocks noGrp="1"/>
          </p:cNvSpPr>
          <p:nvPr>
            <p:ph type="sldNum" sz="quarter" idx="4"/>
          </p:nvPr>
        </p:nvSpPr>
        <p:spPr>
          <a:xfrm>
            <a:off x="8473441" y="4954263"/>
            <a:ext cx="676910" cy="1892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25">
                <a:solidFill>
                  <a:schemeClr val="tx2"/>
                </a:solidFill>
              </a:defRPr>
            </a:lvl1pPr>
          </a:lstStyle>
          <a:p>
            <a:pPr defTabSz="386080">
              <a:defRPr/>
            </a:pPr>
            <a:fld id="{2F5CCB13-0A32-4557-88E9-079F0C330695}" type="slidenum">
              <a:rPr lang="en-US" kern="0" smtClean="0">
                <a:solidFill>
                  <a:srgbClr val="595959"/>
                </a:solidFill>
              </a:rPr>
            </a:fld>
            <a:endParaRPr lang="en-US" kern="0" dirty="0">
              <a:solidFill>
                <a:srgbClr val="595959"/>
              </a:solidFill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144065" y="798944"/>
            <a:ext cx="8853286" cy="41553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182880" bIns="45720" numCol="1" anchor="t" anchorCtr="0" compatLnSpc="1"/>
          <a:lstStyle>
            <a:lvl1pPr marL="170180" indent="-17018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2pPr>
            <a:lvl3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3pPr>
            <a:lvl4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4pPr>
          </a:lstStyle>
          <a:p>
            <a:pPr lvl="0"/>
            <a:r>
              <a:rPr lang="en-US">
                <a:sym typeface="Arial" panose="020B0604020202020204" pitchFamily="34" charset="0"/>
              </a:rPr>
              <a:t>Click to edit Master text styles</a:t>
            </a:r>
            <a:endParaRPr lang="en-US">
              <a:sym typeface="Arial" panose="020B0604020202020204" pitchFamily="34" charset="0"/>
            </a:endParaRPr>
          </a:p>
          <a:p>
            <a:pPr lvl="1"/>
            <a:r>
              <a:rPr lang="en-US">
                <a:sym typeface="Arial" panose="020B0604020202020204" pitchFamily="34" charset="0"/>
              </a:rPr>
              <a:t>Second level</a:t>
            </a:r>
            <a:endParaRPr lang="en-US">
              <a:sym typeface="Arial" panose="020B0604020202020204" pitchFamily="34" charset="0"/>
            </a:endParaRPr>
          </a:p>
          <a:p>
            <a:pPr lvl="2"/>
            <a:r>
              <a:rPr lang="en-US">
                <a:sym typeface="Arial" panose="020B0604020202020204" pitchFamily="34" charset="0"/>
              </a:rPr>
              <a:t>Third level</a:t>
            </a:r>
            <a:endParaRPr lang="en-US">
              <a:sym typeface="Arial" panose="020B0604020202020204" pitchFamily="34" charset="0"/>
            </a:endParaRPr>
          </a:p>
          <a:p>
            <a:pPr lvl="3"/>
            <a:r>
              <a:rPr lang="en-US">
                <a:sym typeface="Arial" panose="020B0604020202020204" pitchFamily="34" charset="0"/>
              </a:rPr>
              <a:t>Fourth level</a:t>
            </a:r>
            <a:endParaRPr lang="en-US">
              <a:sym typeface="Arial" panose="020B0604020202020204" pitchFamily="34" charset="0"/>
            </a:endParaRPr>
          </a:p>
        </p:txBody>
      </p:sp>
      <p:sp>
        <p:nvSpPr>
          <p:cNvPr id="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41393"/>
            <a:ext cx="9144000" cy="7575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>
            <a:lvl1pPr>
              <a:lnSpc>
                <a:spcPct val="100000"/>
              </a:lnSpc>
              <a:defRPr sz="2400"/>
            </a:lvl1pPr>
          </a:lstStyle>
          <a:p>
            <a:pPr lvl="0"/>
            <a:r>
              <a:rPr lang="en-US">
                <a:sym typeface="Arial" panose="020B0604020202020204" pitchFamily="34" charset="0"/>
              </a:rPr>
              <a:t>Click to edit Master title style</a:t>
            </a:r>
            <a:endParaRPr lang="en-US" dirty="0">
              <a:sym typeface="Arial" panose="020B0604020202020204" pitchFamily="34" charset="0"/>
            </a:endParaRPr>
          </a:p>
        </p:txBody>
      </p:sp>
    </p:spTree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5"/>
          <p:cNvSpPr>
            <a:spLocks noGrp="1"/>
          </p:cNvSpPr>
          <p:nvPr>
            <p:ph type="title"/>
          </p:nvPr>
        </p:nvSpPr>
        <p:spPr bwMode="auto">
          <a:xfrm>
            <a:off x="438150" y="341313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4" tIns="45712" rIns="91424" bIns="45712" numCol="1" anchor="ctr" anchorCtr="0" compatLnSpc="1"/>
          <a:lstStyle/>
          <a:p>
            <a:pPr lvl="0"/>
            <a:r>
              <a:rPr lang="en-GB" altLang="en-US" dirty="0"/>
              <a:t>Title Goes Here</a:t>
            </a:r>
            <a:endParaRPr lang="en-GB" altLang="en-US" dirty="0"/>
          </a:p>
        </p:txBody>
      </p:sp>
      <p:sp>
        <p:nvSpPr>
          <p:cNvPr id="12" name="Rectangle 7"/>
          <p:cNvSpPr>
            <a:spLocks noChangeArrowheads="1"/>
          </p:cNvSpPr>
          <p:nvPr/>
        </p:nvSpPr>
        <p:spPr bwMode="ltGray">
          <a:xfrm>
            <a:off x="8515707" y="4742907"/>
            <a:ext cx="218414" cy="154518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wrap="none" lIns="61586" tIns="30792" rIns="61586" bIns="30792" anchor="b">
            <a:spAutoFit/>
          </a:bodyPr>
          <a:lstStyle/>
          <a:p>
            <a:pPr algn="r"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fld id="{6A1E46DC-7EF6-4EA2-B285-14272867D133}" type="slidenum">
              <a:rPr sz="600">
                <a:solidFill>
                  <a:schemeClr val="accent3">
                    <a:lumMod val="85000"/>
                  </a:schemeClr>
                </a:solidFill>
                <a:latin typeface="+mn-lt"/>
                <a:ea typeface="+mn-ea"/>
                <a:cs typeface="CiscoSans Thin"/>
              </a:rPr>
            </a:fld>
            <a:endParaRPr sz="600">
              <a:solidFill>
                <a:schemeClr val="accent3">
                  <a:lumMod val="85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sp>
        <p:nvSpPr>
          <p:cNvPr id="13" name="Rectangle 4"/>
          <p:cNvSpPr>
            <a:spLocks noChangeArrowheads="1"/>
          </p:cNvSpPr>
          <p:nvPr/>
        </p:nvSpPr>
        <p:spPr bwMode="ltGray">
          <a:xfrm>
            <a:off x="5656028" y="4741653"/>
            <a:ext cx="2869498" cy="15451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 lIns="61586" tIns="30792" rIns="61586" bIns="30792" anchor="b">
            <a:spAutoFit/>
          </a:bodyPr>
          <a:lstStyle/>
          <a:p>
            <a:pPr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pt-BR" sz="600">
                <a:solidFill>
                  <a:schemeClr val="accent3">
                    <a:lumMod val="85000"/>
                  </a:schemeClr>
                </a:solidFill>
                <a:latin typeface="+mn-lt"/>
                <a:ea typeface="+mn-ea"/>
                <a:cs typeface="CiscoSans Thin"/>
              </a:rPr>
              <a:t>© 2019, 2021 Cisco e/ou suas afiliadas. Todos os direitos reservados.   Documento confidencial da Cisco</a:t>
            </a:r>
            <a:endParaRPr lang="pt-BR" sz="600">
              <a:solidFill>
                <a:schemeClr val="accent3">
                  <a:lumMod val="85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508039" y="4715197"/>
            <a:ext cx="340257" cy="180974"/>
            <a:chOff x="310" y="249"/>
            <a:chExt cx="502" cy="267"/>
          </a:xfrm>
          <a:solidFill>
            <a:schemeClr val="accent5"/>
          </a:solidFill>
        </p:grpSpPr>
        <p:sp>
          <p:nvSpPr>
            <p:cNvPr id="7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9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0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ransition spd="slow">
    <p:wipe/>
  </p:transition>
  <p:txStyles>
    <p:titleStyle>
      <a:lvl1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lang="en-US" sz="3200" kern="1200" dirty="0">
          <a:solidFill>
            <a:schemeClr val="accent4"/>
          </a:solidFill>
          <a:latin typeface="+mj-lt"/>
          <a:ea typeface="MS PGothic" charset="0"/>
          <a:cs typeface="CiscoSans"/>
        </a:defRPr>
      </a:lvl1pPr>
      <a:lvl2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2pPr>
      <a:lvl3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3pPr>
      <a:lvl4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4pPr>
      <a:lvl5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5pPr>
      <a:lvl6pPr marL="4572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6pPr>
      <a:lvl7pPr marL="9144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7pPr>
      <a:lvl8pPr marL="13716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8pPr>
      <a:lvl9pPr marL="18288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9pPr>
    </p:titleStyle>
    <p:bodyStyle>
      <a:lvl1pPr marL="170180" indent="-170180" algn="l" defTabSz="684530" rtl="0" eaLnBrk="1" fontAlgn="base" hangingPunct="1">
        <a:lnSpc>
          <a:spcPct val="95000"/>
        </a:lnSpc>
        <a:spcBef>
          <a:spcPts val="1075"/>
        </a:spcBef>
        <a:spcAft>
          <a:spcPct val="0"/>
        </a:spcAft>
        <a:buClr>
          <a:schemeClr val="tx2"/>
        </a:buClr>
        <a:buSzPct val="90000"/>
        <a:buFont typeface="Arial" panose="020B0604020202020204" pitchFamily="34" charset="0"/>
        <a:buChar char="•"/>
        <a:defRPr lang="en-US" sz="1500" kern="1200" dirty="0">
          <a:solidFill>
            <a:schemeClr val="tx1"/>
          </a:solidFill>
          <a:latin typeface="+mn-lt"/>
          <a:ea typeface="MS PGothic" charset="0"/>
          <a:cs typeface="CiscoSans"/>
        </a:defRPr>
      </a:lvl1pPr>
      <a:lvl2pPr marL="358775" indent="-215900" algn="l" defTabSz="684530" rtl="0" eaLnBrk="1" fontAlgn="base" hangingPunct="1">
        <a:lnSpc>
          <a:spcPct val="95000"/>
        </a:lnSpc>
        <a:spcBef>
          <a:spcPts val="6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lang="en-US" sz="1400" kern="1200" dirty="0">
          <a:solidFill>
            <a:schemeClr val="tx1"/>
          </a:solidFill>
          <a:latin typeface="+mn-lt"/>
          <a:ea typeface="MS PGothic" charset="0"/>
          <a:cs typeface="CiscoSans"/>
        </a:defRPr>
      </a:lvl2pPr>
      <a:lvl3pPr marL="431800" indent="-170180" algn="l" defTabSz="684530" rtl="0" eaLnBrk="1" fontAlgn="base" hangingPunct="1">
        <a:lnSpc>
          <a:spcPct val="95000"/>
        </a:lnSpc>
        <a:spcBef>
          <a:spcPts val="625"/>
        </a:spcBef>
        <a:spcAft>
          <a:spcPct val="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MS PGothic" charset="0"/>
          <a:cs typeface="CiscoSans"/>
        </a:defRPr>
      </a:lvl3pPr>
      <a:lvl4pPr marL="503555" indent="-170180" algn="l" defTabSz="684530" rtl="0" eaLnBrk="1" fontAlgn="base" hangingPunct="1">
        <a:lnSpc>
          <a:spcPct val="95000"/>
        </a:lnSpc>
        <a:spcBef>
          <a:spcPts val="625"/>
        </a:spcBef>
        <a:spcAft>
          <a:spcPct val="0"/>
        </a:spcAft>
        <a:buFont typeface="Arial" panose="020B0604020202020204" pitchFamily="34" charset="0"/>
        <a:buChar char="•"/>
        <a:defRPr lang="en-US" sz="1100" kern="1200" dirty="0">
          <a:solidFill>
            <a:schemeClr val="tx1"/>
          </a:solidFill>
          <a:latin typeface="+mn-lt"/>
          <a:ea typeface="MS PGothic" charset="0"/>
          <a:cs typeface="CiscoSans"/>
        </a:defRPr>
      </a:lvl4pPr>
      <a:lvl5pPr marL="574675" indent="-170180" algn="l" defTabSz="684530" rtl="0" eaLnBrk="1" fontAlgn="base" hangingPunct="1">
        <a:lnSpc>
          <a:spcPct val="95000"/>
        </a:lnSpc>
        <a:spcBef>
          <a:spcPts val="625"/>
        </a:spcBef>
        <a:spcAft>
          <a:spcPct val="0"/>
        </a:spcAft>
        <a:buFont typeface="Arial" panose="020B0604020202020204" pitchFamily="34" charset="0"/>
        <a:buChar char="•"/>
        <a:defRPr lang="en-US" sz="1100" kern="1200" dirty="0">
          <a:solidFill>
            <a:schemeClr val="tx1"/>
          </a:solidFill>
          <a:latin typeface="+mn-lt"/>
          <a:ea typeface="MS PGothic" charset="0"/>
          <a:cs typeface="CiscoSans"/>
        </a:defRPr>
      </a:lvl5pPr>
      <a:lvl6pPr marL="863600" indent="-171450" algn="l" defTabSz="685800" rtl="0" eaLnBrk="1" latinLnBrk="0" hangingPunct="1">
        <a:spcBef>
          <a:spcPts val="600"/>
        </a:spcBef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935990" indent="-171450" algn="l" defTabSz="685800" rtl="0" eaLnBrk="1" latinLnBrk="0" hangingPunct="1">
        <a:spcBef>
          <a:spcPts val="600"/>
        </a:spcBef>
        <a:buFont typeface="Arial" panose="020B0604020202020204" pitchFamily="34" charset="0"/>
        <a:buChar char="•"/>
        <a:defRPr sz="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400300" indent="0" algn="l" defTabSz="685800" rtl="0" eaLnBrk="1" latinLnBrk="0" hangingPunct="1">
        <a:spcBef>
          <a:spcPct val="20000"/>
        </a:spcBef>
        <a:buFont typeface="Arial" panose="020B0604020202020204" pitchFamily="34" charset="0"/>
        <a:buNone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3.xml"/><Relationship Id="rId3" Type="http://schemas.openxmlformats.org/officeDocument/2006/relationships/tags" Target="../tags/tag3.xml"/><Relationship Id="rId2" Type="http://schemas.openxmlformats.org/officeDocument/2006/relationships/image" Target="../media/image3.png"/><Relationship Id="rId1" Type="http://schemas.openxmlformats.org/officeDocument/2006/relationships/image" Target="../media/image1.tiff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3.xml"/><Relationship Id="rId2" Type="http://schemas.openxmlformats.org/officeDocument/2006/relationships/tags" Target="../tags/tag4.xml"/><Relationship Id="rId1" Type="http://schemas.openxmlformats.org/officeDocument/2006/relationships/image" Target="../media/image2.tiff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3.xml"/><Relationship Id="rId3" Type="http://schemas.openxmlformats.org/officeDocument/2006/relationships/tags" Target="../tags/tag5.xml"/><Relationship Id="rId2" Type="http://schemas.openxmlformats.org/officeDocument/2006/relationships/image" Target="../media/image2.tiff"/><Relationship Id="rId1" Type="http://schemas.openxmlformats.org/officeDocument/2006/relationships/image" Target="../media/image3.tiff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13.xml"/><Relationship Id="rId4" Type="http://schemas.openxmlformats.org/officeDocument/2006/relationships/tags" Target="../tags/tag6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GIF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13.xml"/><Relationship Id="rId3" Type="http://schemas.openxmlformats.org/officeDocument/2006/relationships/tags" Target="../tags/tag7.xml"/><Relationship Id="rId2" Type="http://schemas.openxmlformats.org/officeDocument/2006/relationships/image" Target="../media/image5.tiff"/><Relationship Id="rId1" Type="http://schemas.openxmlformats.org/officeDocument/2006/relationships/image" Target="../media/image4.tif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9.xml"/><Relationship Id="rId6" Type="http://schemas.openxmlformats.org/officeDocument/2006/relationships/slideLayout" Target="../slideLayouts/slideLayout13.xml"/><Relationship Id="rId5" Type="http://schemas.openxmlformats.org/officeDocument/2006/relationships/tags" Target="../tags/tag9.xml"/><Relationship Id="rId4" Type="http://schemas.openxmlformats.org/officeDocument/2006/relationships/image" Target="../media/image9.tiff"/><Relationship Id="rId3" Type="http://schemas.openxmlformats.org/officeDocument/2006/relationships/image" Target="../media/image8.tiff"/><Relationship Id="rId2" Type="http://schemas.openxmlformats.org/officeDocument/2006/relationships/image" Target="../media/image7.tiff"/><Relationship Id="rId1" Type="http://schemas.openxmlformats.org/officeDocument/2006/relationships/image" Target="../media/image6.tiff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13.xml"/><Relationship Id="rId4" Type="http://schemas.openxmlformats.org/officeDocument/2006/relationships/tags" Target="../tags/tag10.xml"/><Relationship Id="rId3" Type="http://schemas.openxmlformats.org/officeDocument/2006/relationships/image" Target="../media/image12.tiff"/><Relationship Id="rId2" Type="http://schemas.openxmlformats.org/officeDocument/2006/relationships/image" Target="../media/image11.tiff"/><Relationship Id="rId1" Type="http://schemas.openxmlformats.org/officeDocument/2006/relationships/image" Target="../media/image10.tiff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13.xml"/><Relationship Id="rId4" Type="http://schemas.openxmlformats.org/officeDocument/2006/relationships/tags" Target="../tags/tag11.xml"/><Relationship Id="rId3" Type="http://schemas.openxmlformats.org/officeDocument/2006/relationships/image" Target="../media/image15.tiff"/><Relationship Id="rId2" Type="http://schemas.openxmlformats.org/officeDocument/2006/relationships/image" Target="../media/image14.tiff"/><Relationship Id="rId1" Type="http://schemas.openxmlformats.org/officeDocument/2006/relationships/image" Target="../media/image13.tiff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2.xml"/><Relationship Id="rId4" Type="http://schemas.openxmlformats.org/officeDocument/2006/relationships/slideLayout" Target="../slideLayouts/slideLayout13.xml"/><Relationship Id="rId3" Type="http://schemas.openxmlformats.org/officeDocument/2006/relationships/tags" Target="../tags/tag12.xml"/><Relationship Id="rId2" Type="http://schemas.openxmlformats.org/officeDocument/2006/relationships/image" Target="../media/image17.tiff"/><Relationship Id="rId1" Type="http://schemas.openxmlformats.org/officeDocument/2006/relationships/image" Target="../media/image16.tif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13.xml"/><Relationship Id="rId2" Type="http://schemas.openxmlformats.org/officeDocument/2006/relationships/tags" Target="../tags/tag14.xml"/><Relationship Id="rId1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6.xml"/><Relationship Id="rId5" Type="http://schemas.openxmlformats.org/officeDocument/2006/relationships/slideLayout" Target="../slideLayouts/slideLayout13.xml"/><Relationship Id="rId4" Type="http://schemas.openxmlformats.org/officeDocument/2006/relationships/tags" Target="../tags/tag16.xml"/><Relationship Id="rId3" Type="http://schemas.openxmlformats.org/officeDocument/2006/relationships/image" Target="../media/image20.tiff"/><Relationship Id="rId2" Type="http://schemas.openxmlformats.org/officeDocument/2006/relationships/image" Target="../media/image19.tiff"/><Relationship Id="rId1" Type="http://schemas.openxmlformats.org/officeDocument/2006/relationships/image" Target="../media/image18.tiff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7.xml"/><Relationship Id="rId4" Type="http://schemas.openxmlformats.org/officeDocument/2006/relationships/slideLayout" Target="../slideLayouts/slideLayout13.xml"/><Relationship Id="rId3" Type="http://schemas.openxmlformats.org/officeDocument/2006/relationships/tags" Target="../tags/tag17.xml"/><Relationship Id="rId2" Type="http://schemas.openxmlformats.org/officeDocument/2006/relationships/image" Target="../media/image22.tiff"/><Relationship Id="rId1" Type="http://schemas.openxmlformats.org/officeDocument/2006/relationships/image" Target="../media/image21.tiff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8.xml"/><Relationship Id="rId4" Type="http://schemas.openxmlformats.org/officeDocument/2006/relationships/slideLayout" Target="../slideLayouts/slideLayout13.xml"/><Relationship Id="rId3" Type="http://schemas.openxmlformats.org/officeDocument/2006/relationships/tags" Target="../tags/tag18.xml"/><Relationship Id="rId2" Type="http://schemas.openxmlformats.org/officeDocument/2006/relationships/image" Target="../media/image24.tiff"/><Relationship Id="rId1" Type="http://schemas.openxmlformats.org/officeDocument/2006/relationships/image" Target="../media/image23.tif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2.xml"/><Relationship Id="rId3" Type="http://schemas.openxmlformats.org/officeDocument/2006/relationships/slideLayout" Target="../slideLayouts/slideLayout13.xml"/><Relationship Id="rId2" Type="http://schemas.openxmlformats.org/officeDocument/2006/relationships/tags" Target="../tags/tag22.xml"/><Relationship Id="rId1" Type="http://schemas.openxmlformats.org/officeDocument/2006/relationships/image" Target="../media/image25.tiff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3.xml"/><Relationship Id="rId3" Type="http://schemas.openxmlformats.org/officeDocument/2006/relationships/slideLayout" Target="../slideLayouts/slideLayout13.xml"/><Relationship Id="rId2" Type="http://schemas.openxmlformats.org/officeDocument/2006/relationships/tags" Target="../tags/tag23.xml"/><Relationship Id="rId1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4.xml"/><Relationship Id="rId4" Type="http://schemas.openxmlformats.org/officeDocument/2006/relationships/slideLayout" Target="../slideLayouts/slideLayout13.xml"/><Relationship Id="rId3" Type="http://schemas.openxmlformats.org/officeDocument/2006/relationships/tags" Target="../tags/tag24.xml"/><Relationship Id="rId2" Type="http://schemas.openxmlformats.org/officeDocument/2006/relationships/image" Target="../media/image27.tiff"/><Relationship Id="rId1" Type="http://schemas.openxmlformats.org/officeDocument/2006/relationships/image" Target="../media/image26.tiff"/></Relationships>
</file>

<file path=ppt/slides/_rels/slide2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5.xml"/><Relationship Id="rId3" Type="http://schemas.openxmlformats.org/officeDocument/2006/relationships/slideLayout" Target="../slideLayouts/slideLayout13.xml"/><Relationship Id="rId2" Type="http://schemas.openxmlformats.org/officeDocument/2006/relationships/tags" Target="../tags/tag25.xml"/><Relationship Id="rId1" Type="http://schemas.openxmlformats.org/officeDocument/2006/relationships/image" Target="../media/image28.tiff"/></Relationships>
</file>

<file path=ppt/slides/_rels/slide2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6.xml"/><Relationship Id="rId4" Type="http://schemas.openxmlformats.org/officeDocument/2006/relationships/slideLayout" Target="../slideLayouts/slideLayout13.xml"/><Relationship Id="rId3" Type="http://schemas.openxmlformats.org/officeDocument/2006/relationships/tags" Target="../tags/tag26.xml"/><Relationship Id="rId2" Type="http://schemas.openxmlformats.org/officeDocument/2006/relationships/image" Target="../media/image30.tiff"/><Relationship Id="rId1" Type="http://schemas.openxmlformats.org/officeDocument/2006/relationships/image" Target="../media/image29.tiff"/></Relationships>
</file>

<file path=ppt/slides/_rels/slide2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7.xml"/><Relationship Id="rId4" Type="http://schemas.openxmlformats.org/officeDocument/2006/relationships/slideLayout" Target="../slideLayouts/slideLayout13.xml"/><Relationship Id="rId3" Type="http://schemas.openxmlformats.org/officeDocument/2006/relationships/tags" Target="../tags/tag27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9.xml"/><Relationship Id="rId4" Type="http://schemas.openxmlformats.org/officeDocument/2006/relationships/slideLayout" Target="../slideLayouts/slideLayout13.xml"/><Relationship Id="rId3" Type="http://schemas.openxmlformats.org/officeDocument/2006/relationships/tags" Target="../tags/tag29.xml"/><Relationship Id="rId2" Type="http://schemas.openxmlformats.org/officeDocument/2006/relationships/image" Target="../media/image32.tiff"/><Relationship Id="rId1" Type="http://schemas.openxmlformats.org/officeDocument/2006/relationships/image" Target="../media/image31.tiff"/></Relationships>
</file>

<file path=ppt/slides/_rels/slide3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0.xml"/><Relationship Id="rId4" Type="http://schemas.openxmlformats.org/officeDocument/2006/relationships/slideLayout" Target="../slideLayouts/slideLayout13.xml"/><Relationship Id="rId3" Type="http://schemas.openxmlformats.org/officeDocument/2006/relationships/tags" Target="../tags/tag30.xml"/><Relationship Id="rId2" Type="http://schemas.openxmlformats.org/officeDocument/2006/relationships/image" Target="../media/image11.png"/><Relationship Id="rId1" Type="http://schemas.openxmlformats.org/officeDocument/2006/relationships/image" Target="../media/image33.tiff"/></Relationships>
</file>

<file path=ppt/slides/_rels/slide3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1.xml"/><Relationship Id="rId3" Type="http://schemas.openxmlformats.org/officeDocument/2006/relationships/slideLayout" Target="../slideLayouts/slideLayout13.xml"/><Relationship Id="rId2" Type="http://schemas.openxmlformats.org/officeDocument/2006/relationships/tags" Target="../tags/tag31.xml"/><Relationship Id="rId1" Type="http://schemas.openxmlformats.org/officeDocument/2006/relationships/image" Target="../media/image34.tiff"/></Relationships>
</file>

<file path=ppt/slides/_rels/slide3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2.xml"/><Relationship Id="rId4" Type="http://schemas.openxmlformats.org/officeDocument/2006/relationships/slideLayout" Target="../slideLayouts/slideLayout13.xml"/><Relationship Id="rId3" Type="http://schemas.openxmlformats.org/officeDocument/2006/relationships/tags" Target="../tags/tag32.xml"/><Relationship Id="rId2" Type="http://schemas.openxmlformats.org/officeDocument/2006/relationships/image" Target="../media/image35.tiff"/><Relationship Id="rId1" Type="http://schemas.openxmlformats.org/officeDocument/2006/relationships/image" Target="../media/image1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4.xml"/><Relationship Id="rId3" Type="http://schemas.openxmlformats.org/officeDocument/2006/relationships/slideLayout" Target="../slideLayouts/slideLayout13.xml"/><Relationship Id="rId2" Type="http://schemas.openxmlformats.org/officeDocument/2006/relationships/tags" Target="../tags/tag34.xml"/><Relationship Id="rId1" Type="http://schemas.openxmlformats.org/officeDocument/2006/relationships/image" Target="../media/image36.tiff"/></Relationships>
</file>

<file path=ppt/slides/_rels/slide3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5.xml"/><Relationship Id="rId3" Type="http://schemas.openxmlformats.org/officeDocument/2006/relationships/slideLayout" Target="../slideLayouts/slideLayout13.xml"/><Relationship Id="rId2" Type="http://schemas.openxmlformats.org/officeDocument/2006/relationships/tags" Target="../tags/tag35.xml"/><Relationship Id="rId1" Type="http://schemas.openxmlformats.org/officeDocument/2006/relationships/image" Target="../media/image37.tiff"/></Relationships>
</file>

<file path=ppt/slides/_rels/slide3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6.xml"/><Relationship Id="rId3" Type="http://schemas.openxmlformats.org/officeDocument/2006/relationships/slideLayout" Target="../slideLayouts/slideLayout13.xml"/><Relationship Id="rId2" Type="http://schemas.openxmlformats.org/officeDocument/2006/relationships/tags" Target="../tags/tag36.xml"/><Relationship Id="rId1" Type="http://schemas.openxmlformats.org/officeDocument/2006/relationships/image" Target="../media/image1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8.xml"/><Relationship Id="rId3" Type="http://schemas.openxmlformats.org/officeDocument/2006/relationships/slideLayout" Target="../slideLayouts/slideLayout13.xml"/><Relationship Id="rId2" Type="http://schemas.openxmlformats.org/officeDocument/2006/relationships/tags" Target="../tags/tag38.xml"/><Relationship Id="rId1" Type="http://schemas.openxmlformats.org/officeDocument/2006/relationships/image" Target="../media/image38.tiff"/></Relationships>
</file>

<file path=ppt/slides/_rels/slide3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9.xml"/><Relationship Id="rId3" Type="http://schemas.openxmlformats.org/officeDocument/2006/relationships/slideLayout" Target="../slideLayouts/slideLayout13.xml"/><Relationship Id="rId2" Type="http://schemas.openxmlformats.org/officeDocument/2006/relationships/tags" Target="../tags/tag39.xml"/><Relationship Id="rId1" Type="http://schemas.openxmlformats.org/officeDocument/2006/relationships/image" Target="../media/image39.tiff"/></Relationships>
</file>

<file path=ppt/slides/_rels/slide4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0.xml"/><Relationship Id="rId3" Type="http://schemas.openxmlformats.org/officeDocument/2006/relationships/slideLayout" Target="../slideLayouts/slideLayout13.xml"/><Relationship Id="rId2" Type="http://schemas.openxmlformats.org/officeDocument/2006/relationships/tags" Target="../tags/tag40.xml"/><Relationship Id="rId1" Type="http://schemas.openxmlformats.org/officeDocument/2006/relationships/image" Target="../media/image1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1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3.xml"/><Relationship Id="rId2" Type="http://schemas.openxmlformats.org/officeDocument/2006/relationships/slideLayout" Target="../slideLayouts/slideLayout10.xml"/><Relationship Id="rId1" Type="http://schemas.openxmlformats.org/officeDocument/2006/relationships/tags" Target="../tags/tag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>
          <a:xfrm>
            <a:off x="469497" y="1530350"/>
            <a:ext cx="6557379" cy="1666626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Módulo 2: Configuração Básica do Switch e dos Dispositivos Finais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7" name="Subtitle 6"/>
          <p:cNvSpPr>
            <a:spLocks noGrp="1"/>
          </p:cNvSpPr>
          <p:nvPr>
            <p:ph type="subTitle" idx="1"/>
          </p:nvPr>
        </p:nvSpPr>
        <p:spPr>
          <a:xfrm>
            <a:off x="469497" y="3809526"/>
            <a:ext cx="2368954" cy="902174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Introdução às redes v7.0 (ITN)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  <a:sym typeface="+mn-ea"/>
              </a:rPr>
              <a:t>Versão: 1.0 - 01/03/2026</a:t>
            </a:r>
            <a:endParaRPr lang="en-US" dirty="0"/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1788160"/>
            <a:ext cx="7598042" cy="929640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2.1 – Acesso ao Cisco IOS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altLang="en-US" sz="1600" dirty="0"/>
              <a:t>Acesso ao Cisco IOS</a:t>
            </a:r>
            <a:br>
              <a:rPr lang="en-US" altLang="en-US" dirty="0"/>
            </a:br>
            <a:r>
              <a:rPr lang="pt-BR"/>
              <a:t>Cisco IOS </a:t>
            </a:r>
            <a:r>
              <a:rPr lang="pt-BR"/>
              <a:t>Sistema Operacional de Redes</a:t>
            </a:r>
            <a:endParaRPr lang="pt-BR"/>
          </a:p>
        </p:txBody>
      </p:sp>
      <p:sp>
        <p:nvSpPr>
          <p:cNvPr id="8195" name="Rectangle 6"/>
          <p:cNvSpPr>
            <a:spLocks noGrp="1" noChangeArrowheads="1"/>
          </p:cNvSpPr>
          <p:nvPr>
            <p:ph idx="1"/>
          </p:nvPr>
        </p:nvSpPr>
        <p:spPr>
          <a:xfrm>
            <a:off x="144065" y="888396"/>
            <a:ext cx="3950857" cy="2967985"/>
          </a:xfrm>
        </p:spPr>
        <p:txBody>
          <a:bodyPr/>
          <a:lstStyle/>
          <a:p>
            <a:pPr algn="just" rtl="0">
              <a:buFont typeface="Arial" panose="020B0604020202020204" pitchFamily="34" charset="0"/>
              <a:buChar char="•"/>
            </a:pPr>
            <a:r>
              <a:rPr lang="pt-BR" sz="1600" b="1">
                <a:solidFill>
                  <a:srgbClr val="FF0000"/>
                </a:solidFill>
              </a:rPr>
              <a:t>Shell</a:t>
            </a:r>
            <a:r>
              <a:rPr lang="pt-BR" sz="1600">
                <a:solidFill>
                  <a:srgbClr val="FF0000"/>
                </a:solidFill>
              </a:rPr>
              <a:t> </a:t>
            </a:r>
            <a:r>
              <a:rPr lang="pt-BR" sz="1600"/>
              <a:t>- A interface de usuário que permite que os usuários solicitem tarefas específicas do computador. Essas solicitações podem ser feitas por meio da interface </a:t>
            </a:r>
            <a:r>
              <a:rPr lang="pt-BR" sz="1600" b="1"/>
              <a:t>CLI </a:t>
            </a:r>
            <a:r>
              <a:rPr lang="pt-BR" sz="1600"/>
              <a:t>ou </a:t>
            </a:r>
            <a:r>
              <a:rPr lang="pt-BR" sz="1600" b="1"/>
              <a:t>GUI</a:t>
            </a:r>
            <a:r>
              <a:rPr lang="pt-BR" sz="1600"/>
              <a:t>. </a:t>
            </a:r>
            <a:endParaRPr lang="pt-BR" sz="1600"/>
          </a:p>
          <a:p>
            <a:pPr algn="just" rtl="0">
              <a:buFont typeface="Arial" panose="020B0604020202020204" pitchFamily="34" charset="0"/>
              <a:buChar char="•"/>
            </a:pPr>
            <a:r>
              <a:rPr lang="pt-BR" sz="1600" b="1">
                <a:solidFill>
                  <a:srgbClr val="FF0000"/>
                </a:solidFill>
              </a:rPr>
              <a:t>Kernel</a:t>
            </a:r>
            <a:r>
              <a:rPr lang="pt-BR" sz="1600">
                <a:solidFill>
                  <a:srgbClr val="FF0000"/>
                </a:solidFill>
              </a:rPr>
              <a:t> </a:t>
            </a:r>
            <a:r>
              <a:rPr lang="pt-BR" sz="1600"/>
              <a:t>- comunica-se entre o hardware e o software de um computador e gerencia como os recursos de hardware são usados para atender aos requisitos de software.</a:t>
            </a:r>
            <a:endParaRPr lang="pt-BR" sz="1600"/>
          </a:p>
          <a:p>
            <a:pPr algn="just" rtl="0">
              <a:buFont typeface="Arial" panose="020B0604020202020204" pitchFamily="34" charset="0"/>
              <a:buChar char="•"/>
            </a:pPr>
            <a:r>
              <a:rPr lang="pt-BR" sz="1600" b="1">
                <a:solidFill>
                  <a:srgbClr val="FF0000"/>
                </a:solidFill>
              </a:rPr>
              <a:t>Hardware</a:t>
            </a:r>
            <a:r>
              <a:rPr lang="pt-BR" sz="1600">
                <a:solidFill>
                  <a:srgbClr val="FF0000"/>
                </a:solidFill>
              </a:rPr>
              <a:t> </a:t>
            </a:r>
            <a:r>
              <a:rPr lang="pt-BR" sz="1600"/>
              <a:t>- A parte física de um computador, incluindo os componentes eletrônicos subjacentes.</a:t>
            </a:r>
            <a:endParaRPr lang="pt-BR" sz="1600"/>
          </a:p>
          <a:p>
            <a:pPr algn="just" rtl="0">
              <a:buFont typeface="Arial" panose="020B0604020202020204" pitchFamily="34" charset="0"/>
              <a:buChar char="•"/>
            </a:pPr>
            <a:endParaRPr lang="en-US" altLang="ja-JP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971925" y="913765"/>
            <a:ext cx="5088890" cy="2964815"/>
          </a:xfrm>
          <a:prstGeom prst="rect">
            <a:avLst/>
          </a:prstGeom>
        </p:spPr>
      </p:pic>
      <p:pic>
        <p:nvPicPr>
          <p:cNvPr id="3" name="Imagem 2"/>
          <p:cNvPicPr>
            <a:picLocks noChangeAspect="1"/>
          </p:cNvPicPr>
          <p:nvPr/>
        </p:nvPicPr>
        <p:blipFill>
          <a:blip r:embed="rId2"/>
          <a:srcRect l="39295" t="37735" r="6628" b="51630"/>
          <a:stretch>
            <a:fillRect/>
          </a:stretch>
        </p:blipFill>
        <p:spPr>
          <a:xfrm>
            <a:off x="4095115" y="3878580"/>
            <a:ext cx="4965700" cy="54927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/>
              <a:t>Acesso à Cisco IOS </a:t>
            </a:r>
            <a:br>
              <a:rPr lang="en-US" altLang="en-US" dirty="0"/>
            </a:br>
            <a:r>
              <a:rPr lang="pt-BR"/>
              <a:t>GUI (Graphical User Interface)</a:t>
            </a:r>
            <a:endParaRPr lang="pt-BR"/>
          </a:p>
        </p:txBody>
      </p:sp>
      <p:sp>
        <p:nvSpPr>
          <p:cNvPr id="8195" name="Rectangle 6"/>
          <p:cNvSpPr>
            <a:spLocks noGrp="1" noChangeArrowheads="1"/>
          </p:cNvSpPr>
          <p:nvPr>
            <p:ph idx="1"/>
          </p:nvPr>
        </p:nvSpPr>
        <p:spPr>
          <a:xfrm>
            <a:off x="145357" y="798944"/>
            <a:ext cx="3939626" cy="3735939"/>
          </a:xfrm>
        </p:spPr>
        <p:txBody>
          <a:bodyPr/>
          <a:lstStyle/>
          <a:p>
            <a:pPr algn="just" rtl="0">
              <a:buFont typeface="Arial" panose="020B0604020202020204" pitchFamily="34" charset="0"/>
              <a:buChar char="•"/>
            </a:pPr>
            <a:r>
              <a:rPr lang="pt-BR"/>
              <a:t>Uma </a:t>
            </a:r>
            <a:r>
              <a:rPr lang="pt-BR" b="1">
                <a:solidFill>
                  <a:srgbClr val="FF0000"/>
                </a:solidFill>
              </a:rPr>
              <a:t>GUI </a:t>
            </a:r>
            <a:r>
              <a:rPr lang="pt-BR"/>
              <a:t>permite que o usuário interaja com o sistema usando um ambiente de ícones gráficos, menus e janelas.</a:t>
            </a:r>
            <a:endParaRPr lang="pt-BR"/>
          </a:p>
          <a:p>
            <a:pPr algn="just" rtl="0">
              <a:buFont typeface="Arial" panose="020B0604020202020204" pitchFamily="34" charset="0"/>
              <a:buChar char="•"/>
            </a:pPr>
            <a:r>
              <a:rPr lang="pt-BR"/>
              <a:t>Uma </a:t>
            </a:r>
            <a:r>
              <a:rPr lang="pt-BR" b="1">
                <a:solidFill>
                  <a:srgbClr val="FF0000"/>
                </a:solidFill>
              </a:rPr>
              <a:t>GUI é mais amigável</a:t>
            </a:r>
            <a:r>
              <a:rPr lang="pt-BR"/>
              <a:t> e requer menos conhecimento da estrutura de comando subjacente que controla o sistema.</a:t>
            </a:r>
            <a:endParaRPr lang="pt-BR"/>
          </a:p>
          <a:p>
            <a:pPr algn="just" rtl="0">
              <a:buFont typeface="Arial" panose="020B0604020202020204" pitchFamily="34" charset="0"/>
              <a:buChar char="•"/>
            </a:pPr>
            <a:r>
              <a:rPr lang="pt-BR"/>
              <a:t>Exemplos deles são: </a:t>
            </a:r>
            <a:r>
              <a:rPr lang="pt-BR" b="1"/>
              <a:t>Windows, macOS, Linux KDE, Apple iOS e Android</a:t>
            </a:r>
            <a:r>
              <a:rPr lang="pt-BR"/>
              <a:t>.</a:t>
            </a:r>
            <a:endParaRPr lang="pt-BR"/>
          </a:p>
          <a:p>
            <a:pPr algn="just" rtl="0">
              <a:buFont typeface="Arial" panose="020B0604020202020204" pitchFamily="34" charset="0"/>
              <a:buChar char="•"/>
            </a:pPr>
            <a:r>
              <a:rPr lang="pt-BR"/>
              <a:t>As </a:t>
            </a:r>
            <a:r>
              <a:rPr lang="pt-BR" b="1">
                <a:solidFill>
                  <a:srgbClr val="FF0000"/>
                </a:solidFill>
              </a:rPr>
              <a:t>GUIs podem falhar, travar ou simplesmente não funcionar como especificado</a:t>
            </a:r>
            <a:r>
              <a:rPr lang="pt-BR"/>
              <a:t>. Por esses motivos, os dispositivos de rede geralmente são acessados por meio de uma </a:t>
            </a:r>
            <a:r>
              <a:rPr lang="pt-BR" b="1"/>
              <a:t>CLI</a:t>
            </a:r>
            <a:r>
              <a:rPr lang="pt-BR"/>
              <a:t>.</a:t>
            </a:r>
            <a:endParaRPr lang="pt-BR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5900" y="1071245"/>
            <a:ext cx="5000625" cy="300037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>
                <a:sym typeface="+mn-ea"/>
              </a:rPr>
              <a:t>Acesso à Cisco IOS </a:t>
            </a:r>
            <a:br>
              <a:rPr lang="en-US" altLang="en-US" dirty="0"/>
            </a:br>
            <a:r>
              <a:rPr lang="pt-BR"/>
              <a:t>Cisco IOS </a:t>
            </a:r>
            <a:r>
              <a:rPr lang="pt-BR"/>
              <a:t>Finalidade do OS (Operation System)</a:t>
            </a:r>
            <a:endParaRPr lang="pt-BR"/>
          </a:p>
        </p:txBody>
      </p:sp>
      <p:sp>
        <p:nvSpPr>
          <p:cNvPr id="8195" name="Rectangle 6"/>
          <p:cNvSpPr>
            <a:spLocks noGrp="1" noChangeArrowheads="1"/>
          </p:cNvSpPr>
          <p:nvPr>
            <p:ph idx="1"/>
          </p:nvPr>
        </p:nvSpPr>
        <p:spPr>
          <a:xfrm>
            <a:off x="145415" y="925830"/>
            <a:ext cx="4277360" cy="1612900"/>
          </a:xfrm>
        </p:spPr>
        <p:txBody>
          <a:bodyPr/>
          <a:lstStyle/>
          <a:p>
            <a:pPr marL="0" indent="0" algn="just" rtl="0">
              <a:spcAft>
                <a:spcPts val="100"/>
              </a:spcAft>
              <a:buNone/>
            </a:pPr>
            <a:r>
              <a:rPr lang="pt-BR"/>
              <a:t>O </a:t>
            </a:r>
            <a:r>
              <a:rPr lang="pt-BR" b="1">
                <a:solidFill>
                  <a:srgbClr val="FF0000"/>
                </a:solidFill>
              </a:rPr>
              <a:t>sistema operacional do PC</a:t>
            </a:r>
            <a:r>
              <a:rPr lang="pt-BR"/>
              <a:t> permite que um usuário faça o seguinte:</a:t>
            </a:r>
            <a:endParaRPr lang="pt-BR"/>
          </a:p>
          <a:p>
            <a:pPr lvl="1" algn="just" rtl="0">
              <a:spcAft>
                <a:spcPts val="100"/>
              </a:spcAft>
            </a:pPr>
            <a:r>
              <a:rPr lang="pt-BR" sz="1600" b="1"/>
              <a:t>Utilizar um mouse para fazer seleções e executar programas</a:t>
            </a:r>
            <a:endParaRPr lang="pt-BR" sz="1600" b="1"/>
          </a:p>
          <a:p>
            <a:pPr lvl="1" algn="just" rtl="0">
              <a:spcAft>
                <a:spcPts val="100"/>
              </a:spcAft>
            </a:pPr>
            <a:r>
              <a:rPr lang="pt-BR" sz="1600" b="1"/>
              <a:t>Inserir texto e comandos baseados em texto</a:t>
            </a:r>
            <a:endParaRPr lang="pt-BR" sz="1600" b="1"/>
          </a:p>
          <a:p>
            <a:pPr lvl="1" algn="just" rtl="0">
              <a:spcAft>
                <a:spcPts val="100"/>
              </a:spcAft>
            </a:pPr>
            <a:r>
              <a:rPr lang="pt-BR" sz="1600"/>
              <a:t>Exibir a saída em um monitor</a:t>
            </a:r>
            <a:endParaRPr lang="pt-BR" sz="1600"/>
          </a:p>
          <a:p>
            <a:pPr algn="just" rtl="0">
              <a:spcAft>
                <a:spcPts val="100"/>
              </a:spcAft>
            </a:pP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8495" y="2945765"/>
            <a:ext cx="4443730" cy="463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468495" y="925830"/>
            <a:ext cx="4387215" cy="22917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0"/>
            <a:r>
              <a:rPr lang="pt-BR" sz="1500">
                <a:solidFill>
                  <a:srgbClr val="000000"/>
                </a:solidFill>
              </a:rPr>
              <a:t>O </a:t>
            </a:r>
            <a:r>
              <a:rPr lang="pt-BR" sz="1500" b="1">
                <a:solidFill>
                  <a:srgbClr val="FF0000"/>
                </a:solidFill>
              </a:rPr>
              <a:t>sistema operacional de rede</a:t>
            </a:r>
            <a:r>
              <a:rPr lang="pt-BR" sz="1500">
                <a:solidFill>
                  <a:srgbClr val="000000"/>
                </a:solidFill>
              </a:rPr>
              <a:t> baseado em </a:t>
            </a:r>
            <a:r>
              <a:rPr lang="pt-BR" sz="1500" b="1">
                <a:solidFill>
                  <a:srgbClr val="FF0000"/>
                </a:solidFill>
              </a:rPr>
              <a:t>CLI </a:t>
            </a:r>
            <a:r>
              <a:rPr lang="pt-BR" sz="1500">
                <a:solidFill>
                  <a:srgbClr val="000000"/>
                </a:solidFill>
              </a:rPr>
              <a:t>permite que um técnico de rede faça o seguinte:</a:t>
            </a:r>
            <a:endParaRPr lang="pt-BR" sz="1500">
              <a:solidFill>
                <a:srgbClr val="000000"/>
              </a:solidFill>
            </a:endParaRPr>
          </a:p>
          <a:p>
            <a:pPr marL="742950" lvl="1" indent="-285750" algn="just" rtl="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Use um teclado para executar programas de rede baseados na CLI</a:t>
            </a:r>
            <a:endParaRPr lang="pt-BR" sz="1600">
              <a:solidFill>
                <a:srgbClr val="000000"/>
              </a:solidFill>
            </a:endParaRPr>
          </a:p>
          <a:p>
            <a:pPr marL="742950" lvl="1" indent="-285750" algn="just" rtl="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Use um teclado para inserir texto e comandos baseados em texto</a:t>
            </a:r>
            <a:endParaRPr lang="pt-BR" sz="1600">
              <a:solidFill>
                <a:srgbClr val="000000"/>
              </a:solidFill>
            </a:endParaRPr>
          </a:p>
          <a:p>
            <a:pPr marL="742950" lvl="1" indent="-285750" algn="just" rtl="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Exibir a saída em um monitor</a:t>
            </a:r>
            <a:endParaRPr lang="pt-BR" sz="1600">
              <a:solidFill>
                <a:srgbClr val="000000"/>
              </a:solidFill>
            </a:endParaRPr>
          </a:p>
          <a:p>
            <a:pPr algn="just" rtl="0"/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" y="2516505"/>
            <a:ext cx="4058285" cy="215328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>
                <a:sym typeface="+mn-ea"/>
              </a:rPr>
              <a:t>Acesso à Cisco IOS </a:t>
            </a:r>
            <a:br>
              <a:rPr lang="en-US" altLang="en-US" dirty="0"/>
            </a:br>
            <a:r>
              <a:rPr lang="pt-BR"/>
              <a:t>Métodos de Acesso ao IOS</a:t>
            </a:r>
            <a:endParaRPr lang="pt-BR"/>
          </a:p>
        </p:txBody>
      </p:sp>
      <p:sp>
        <p:nvSpPr>
          <p:cNvPr id="8195" name="Rectangle 2"/>
          <p:cNvSpPr>
            <a:spLocks noGrp="1" noChangeArrowheads="1"/>
          </p:cNvSpPr>
          <p:nvPr>
            <p:ph idx="1"/>
          </p:nvPr>
        </p:nvSpPr>
        <p:spPr>
          <a:xfrm>
            <a:off x="145357" y="753199"/>
            <a:ext cx="3939626" cy="3848341"/>
          </a:xfrm>
        </p:spPr>
        <p:txBody>
          <a:bodyPr/>
          <a:lstStyle/>
          <a:p>
            <a:pPr algn="just" rtl="0">
              <a:buFont typeface="Arial" panose="020B0604020202020204" pitchFamily="34" charset="0"/>
              <a:buChar char="•"/>
            </a:pPr>
            <a:r>
              <a:rPr lang="pt-BR" sz="1450" b="1">
                <a:solidFill>
                  <a:srgbClr val="FF0000"/>
                </a:solidFill>
              </a:rPr>
              <a:t>Console</a:t>
            </a:r>
            <a:r>
              <a:rPr lang="pt-BR" sz="1450">
                <a:solidFill>
                  <a:srgbClr val="FF0000"/>
                </a:solidFill>
              </a:rPr>
              <a:t> </a:t>
            </a:r>
            <a:r>
              <a:rPr lang="pt-BR" sz="1450"/>
              <a:t>— Uma porta de gerenciamento física usada para acessar um dispositivo para fornecer manutenção, como executar as configurações iniciais. </a:t>
            </a:r>
            <a:endParaRPr lang="pt-BR" sz="1450"/>
          </a:p>
          <a:p>
            <a:pPr algn="just" rtl="0">
              <a:buFont typeface="Arial" panose="020B0604020202020204" pitchFamily="34" charset="0"/>
              <a:buChar char="•"/>
            </a:pPr>
            <a:r>
              <a:rPr lang="pt-BR" sz="1450" b="1">
                <a:solidFill>
                  <a:srgbClr val="FF0000"/>
                </a:solidFill>
              </a:rPr>
              <a:t>Shell Seguro</a:t>
            </a:r>
            <a:r>
              <a:rPr lang="pt-BR" sz="1450" b="1"/>
              <a:t> </a:t>
            </a:r>
            <a:r>
              <a:rPr lang="pt-BR" sz="1450"/>
              <a:t>(</a:t>
            </a:r>
            <a:r>
              <a:rPr lang="pt-BR" sz="1450" b="1"/>
              <a:t>SSH</a:t>
            </a:r>
            <a:r>
              <a:rPr lang="pt-BR" sz="1450"/>
              <a:t>) – Estabelece uma conexão CLI segura remota com um dispositivo, por meio de uma interface virtual, em uma rede. (Nota: Este é o método recomendado para se conectar remotamente a um dispositivo.) </a:t>
            </a:r>
            <a:endParaRPr lang="pt-BR" sz="1450"/>
          </a:p>
          <a:p>
            <a:pPr algn="just" rtl="0">
              <a:buFont typeface="Arial" panose="020B0604020202020204" pitchFamily="34" charset="0"/>
              <a:buChar char="•"/>
            </a:pPr>
            <a:r>
              <a:rPr lang="pt-BR" sz="1450" b="1">
                <a:solidFill>
                  <a:srgbClr val="FF0000"/>
                </a:solidFill>
              </a:rPr>
              <a:t>Telnet</a:t>
            </a:r>
            <a:r>
              <a:rPr lang="pt-BR" sz="1450">
                <a:solidFill>
                  <a:srgbClr val="FF0000"/>
                </a:solidFill>
              </a:rPr>
              <a:t> </a:t>
            </a:r>
            <a:r>
              <a:rPr lang="pt-BR" sz="1450"/>
              <a:t>— Estabelece uma conexão </a:t>
            </a:r>
            <a:r>
              <a:rPr lang="pt-BR" sz="1450" b="1"/>
              <a:t>CLI </a:t>
            </a:r>
            <a:r>
              <a:rPr lang="pt-BR" sz="1450"/>
              <a:t>remota insegura a um dispositivo através da rede. </a:t>
            </a:r>
            <a:r>
              <a:rPr lang="pt-BR" sz="1450" b="1"/>
              <a:t> </a:t>
            </a:r>
            <a:r>
              <a:rPr lang="pt-BR" sz="1450" b="1">
                <a:solidFill>
                  <a:srgbClr val="FF0000"/>
                </a:solidFill>
              </a:rPr>
              <a:t>(Nota: a autenticação do usuário, senhas e comandos são enviados pela rede em texto sem formatação.) </a:t>
            </a:r>
            <a:endParaRPr lang="pt-BR" sz="1450" b="1"/>
          </a:p>
          <a:p>
            <a:pPr algn="just" rtl="0">
              <a:buFont typeface="Arial" panose="020B0604020202020204" pitchFamily="34" charset="0"/>
              <a:buChar char="•"/>
            </a:pPr>
            <a:endParaRPr lang="en-US" sz="1450" dirty="0"/>
          </a:p>
        </p:txBody>
      </p:sp>
      <p:pic>
        <p:nvPicPr>
          <p:cNvPr id="1028" name="Picture 2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5114" y="2455883"/>
            <a:ext cx="4805378" cy="2041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Imagem 1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3936" t="4039" r="4188" b="6817"/>
          <a:stretch>
            <a:fillRect/>
          </a:stretch>
        </p:blipFill>
        <p:spPr>
          <a:xfrm>
            <a:off x="4215130" y="148590"/>
            <a:ext cx="2266315" cy="2210435"/>
          </a:xfrm>
          <a:prstGeom prst="rect">
            <a:avLst/>
          </a:prstGeom>
        </p:spPr>
      </p:pic>
      <p:pic>
        <p:nvPicPr>
          <p:cNvPr id="3" name="Imagem 2"/>
          <p:cNvPicPr>
            <a:picLocks noChangeAspect="1"/>
          </p:cNvPicPr>
          <p:nvPr/>
        </p:nvPicPr>
        <p:blipFill>
          <a:blip r:embed="rId3">
            <a:clrChange>
              <a:clrFrom>
                <a:srgbClr val="FEFEFE">
                  <a:alpha val="100000"/>
                </a:srgbClr>
              </a:clrFrom>
              <a:clrTo>
                <a:srgbClr val="FEFEFE">
                  <a:alpha val="100000"/>
                  <a:alpha val="0"/>
                </a:srgbClr>
              </a:clrTo>
            </a:clrChange>
          </a:blip>
          <a:srcRect l="3988" t="4126" r="3491" b="6566"/>
          <a:stretch>
            <a:fillRect/>
          </a:stretch>
        </p:blipFill>
        <p:spPr>
          <a:xfrm>
            <a:off x="6764020" y="148590"/>
            <a:ext cx="2169795" cy="228028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/>
              <a:t>Acesso ao Cisco IOS </a:t>
            </a:r>
            <a:br>
              <a:rPr lang="pt-BR" sz="1600"/>
            </a:br>
            <a:r>
              <a:rPr lang="pt-BR"/>
              <a:t>Programa de Emulação de Terminal</a:t>
            </a:r>
            <a:endParaRPr lang="pt-BR"/>
          </a:p>
        </p:txBody>
      </p:sp>
      <p:sp>
        <p:nvSpPr>
          <p:cNvPr id="8195" name="Rectangle 2"/>
          <p:cNvSpPr>
            <a:spLocks noGrp="1" noChangeArrowheads="1"/>
          </p:cNvSpPr>
          <p:nvPr>
            <p:ph idx="1"/>
          </p:nvPr>
        </p:nvSpPr>
        <p:spPr>
          <a:xfrm>
            <a:off x="145357" y="810349"/>
            <a:ext cx="8710408" cy="1125021"/>
          </a:xfrm>
        </p:spPr>
        <p:txBody>
          <a:bodyPr/>
          <a:lstStyle/>
          <a:p>
            <a:pPr algn="just" rtl="0">
              <a:buFont typeface="Arial" panose="020B0604020202020204" pitchFamily="34" charset="0"/>
              <a:buChar char="•"/>
            </a:pPr>
            <a:r>
              <a:rPr lang="pt-BR" sz="1600"/>
              <a:t>Programas de</a:t>
            </a:r>
            <a:r>
              <a:rPr lang="pt-BR" sz="1600" b="1">
                <a:solidFill>
                  <a:srgbClr val="FF0000"/>
                </a:solidFill>
              </a:rPr>
              <a:t> emulação de terminal </a:t>
            </a:r>
            <a:r>
              <a:rPr lang="pt-BR" sz="1600"/>
              <a:t>são usados para se conectar a um dispositivo de rede por uma porta de console ou por uma conexão </a:t>
            </a:r>
            <a:r>
              <a:rPr lang="pt-BR" sz="1600" b="1"/>
              <a:t>SSH/Telnet</a:t>
            </a:r>
            <a:r>
              <a:rPr lang="pt-BR" sz="1600"/>
              <a:t>. </a:t>
            </a:r>
            <a:endParaRPr lang="pt-BR" sz="1600"/>
          </a:p>
          <a:p>
            <a:pPr algn="just" rtl="0">
              <a:buFont typeface="Arial" panose="020B0604020202020204" pitchFamily="34" charset="0"/>
              <a:buChar char="•"/>
            </a:pPr>
            <a:r>
              <a:rPr lang="pt-BR" sz="1600"/>
              <a:t>Existem vários programas de emulação de terminal para escolher, como </a:t>
            </a:r>
            <a:r>
              <a:rPr lang="pt-BR" sz="1600" b="1">
                <a:solidFill>
                  <a:srgbClr val="FF0000"/>
                </a:solidFill>
              </a:rPr>
              <a:t>PuTTY, Tera Term e SecureCRT</a:t>
            </a:r>
            <a:r>
              <a:rPr lang="pt-BR" sz="1600"/>
              <a:t>. </a:t>
            </a:r>
            <a:endParaRPr lang="pt-BR" sz="1600"/>
          </a:p>
          <a:p>
            <a:pPr algn="just" rtl="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4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465" y="2019300"/>
            <a:ext cx="3380105" cy="2644775"/>
          </a:xfrm>
          <a:prstGeom prst="rect">
            <a:avLst/>
          </a:prstGeom>
        </p:spPr>
      </p:pic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1420" y="2019300"/>
            <a:ext cx="5114290" cy="264477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1788160"/>
            <a:ext cx="8231464" cy="929640"/>
          </a:xfrm>
        </p:spPr>
        <p:txBody>
          <a:bodyPr/>
          <a:lstStyle/>
          <a:p>
            <a:pPr rtl="0"/>
            <a:r>
              <a:rPr lang="pt-BR" sz="4000">
                <a:solidFill>
                  <a:schemeClr val="accent5">
                    <a:lumMod val="40000"/>
                    <a:lumOff val="60000"/>
                  </a:schemeClr>
                </a:solidFill>
              </a:rPr>
              <a:t>2.2 - Navegação no IOS</a:t>
            </a:r>
            <a:endParaRPr lang="pt-BR" sz="4000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164465" y="41275"/>
            <a:ext cx="8877300" cy="757555"/>
          </a:xfrm>
        </p:spPr>
        <p:txBody>
          <a:bodyPr/>
          <a:lstStyle/>
          <a:p>
            <a:pPr rtl="0"/>
            <a:r>
              <a:rPr lang="pt-BR" sz="1600"/>
              <a:t>Navegação no IOS </a:t>
            </a:r>
            <a:br>
              <a:rPr lang="pt-BR"/>
            </a:br>
            <a:r>
              <a:rPr lang="pt-BR"/>
              <a:t>Modos de comando primários</a:t>
            </a:r>
            <a:endParaRPr lang="pt-BR"/>
          </a:p>
        </p:txBody>
      </p:sp>
      <p:sp>
        <p:nvSpPr>
          <p:cNvPr id="8195" name="Rectangle 6"/>
          <p:cNvSpPr>
            <a:spLocks noGrp="1" noChangeArrowheads="1"/>
          </p:cNvSpPr>
          <p:nvPr>
            <p:ph idx="1"/>
          </p:nvPr>
        </p:nvSpPr>
        <p:spPr>
          <a:xfrm>
            <a:off x="164465" y="751205"/>
            <a:ext cx="4883785" cy="3913505"/>
          </a:xfrm>
        </p:spPr>
        <p:txBody>
          <a:bodyPr/>
          <a:lstStyle/>
          <a:p>
            <a:pPr marL="0" indent="0" rtl="0">
              <a:buNone/>
            </a:pPr>
            <a:r>
              <a:rPr lang="pt-BR" sz="2000" b="1">
                <a:solidFill>
                  <a:srgbClr val="FF0000"/>
                </a:solidFill>
              </a:rPr>
              <a:t>Modo EXEC do Usuário:</a:t>
            </a:r>
            <a:endParaRPr lang="pt-BR" sz="2000" b="1">
              <a:solidFill>
                <a:srgbClr val="FF0000"/>
              </a:solidFill>
            </a:endParaRPr>
          </a:p>
          <a:p>
            <a:pPr lvl="1" rtl="0"/>
            <a:r>
              <a:rPr lang="pt-BR" sz="2000"/>
              <a:t>Permite acesso a apenas um número limitado de comandos básicos de monitoramento</a:t>
            </a:r>
            <a:endParaRPr lang="pt-BR" sz="2000"/>
          </a:p>
          <a:p>
            <a:pPr lvl="1" rtl="0"/>
            <a:r>
              <a:rPr lang="pt-BR" sz="2000"/>
              <a:t>Identificado pelo prompt da CLI que termina com o </a:t>
            </a:r>
            <a:r>
              <a:rPr lang="pt-BR" sz="2000" b="1"/>
              <a:t>símbolo &gt; (maior)</a:t>
            </a:r>
            <a:endParaRPr lang="pt-BR" sz="2000" b="1"/>
          </a:p>
          <a:p>
            <a:pPr marL="0" indent="0" rtl="0">
              <a:buNone/>
            </a:pPr>
            <a:r>
              <a:rPr lang="pt-BR" sz="2000" b="1">
                <a:solidFill>
                  <a:srgbClr val="FF0000"/>
                </a:solidFill>
                <a:sym typeface="+mn-ea"/>
              </a:rPr>
              <a:t>Modo EXEC Privilégiado: </a:t>
            </a:r>
            <a:endParaRPr lang="pt-BR" sz="2000" b="1">
              <a:solidFill>
                <a:srgbClr val="FF0000"/>
              </a:solidFill>
            </a:endParaRPr>
          </a:p>
          <a:p>
            <a:pPr lvl="1" rtl="0"/>
            <a:r>
              <a:rPr lang="pt-BR" sz="2000">
                <a:sym typeface="+mn-ea"/>
              </a:rPr>
              <a:t>Permite acesso a todos os comandos e recursos</a:t>
            </a:r>
            <a:endParaRPr lang="pt-BR" sz="2000"/>
          </a:p>
          <a:p>
            <a:pPr lvl="1" rtl="0"/>
            <a:r>
              <a:rPr lang="pt-BR" sz="2000">
                <a:sym typeface="+mn-ea"/>
              </a:rPr>
              <a:t>Identificado pelo prompt da CLI que termina com o </a:t>
            </a:r>
            <a:r>
              <a:rPr lang="pt-BR" sz="2000" b="1">
                <a:sym typeface="+mn-ea"/>
              </a:rPr>
              <a:t>símbolo # (sustenido)</a:t>
            </a:r>
            <a:endParaRPr lang="pt-BR" sz="2000" b="1"/>
          </a:p>
          <a:p>
            <a:pPr marL="142875" lvl="1" indent="0" rtl="0">
              <a:buNone/>
            </a:pPr>
            <a:endParaRPr lang="pt-BR" sz="2000"/>
          </a:p>
          <a:p>
            <a:pPr lvl="1"/>
            <a:endParaRPr lang="en-US" sz="2000" dirty="0"/>
          </a:p>
          <a:p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3985" y="751205"/>
            <a:ext cx="3780790" cy="1238250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3985" y="1610360"/>
            <a:ext cx="3782060" cy="1245870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985" y="2659380"/>
            <a:ext cx="3787140" cy="1240155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4620" y="3514725"/>
            <a:ext cx="3787140" cy="1149985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>
                <a:sym typeface="+mn-ea"/>
              </a:rPr>
              <a:t>Navegação no IOS </a:t>
            </a:r>
            <a:br>
              <a:rPr lang="pt-BR"/>
            </a:br>
            <a:r>
              <a:rPr lang="pt-BR"/>
              <a:t>Modo de Configuração Global e Subconfiguração</a:t>
            </a: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idx="1"/>
          </p:nvPr>
        </p:nvSpPr>
        <p:spPr>
          <a:xfrm>
            <a:off x="93345" y="776605"/>
            <a:ext cx="4688840" cy="2764790"/>
          </a:xfrm>
        </p:spPr>
        <p:txBody>
          <a:bodyPr/>
          <a:lstStyle/>
          <a:p>
            <a:pPr marL="0" indent="0" algn="just" rtl="0">
              <a:spcAft>
                <a:spcPts val="100"/>
              </a:spcAft>
              <a:buNone/>
            </a:pPr>
            <a:r>
              <a:rPr lang="pt-BR" sz="2100" b="1">
                <a:solidFill>
                  <a:srgbClr val="FF0000"/>
                </a:solidFill>
              </a:rPr>
              <a:t>Modo de Configuração Global:</a:t>
            </a:r>
            <a:endParaRPr lang="pt-BR" sz="2100" b="1">
              <a:solidFill>
                <a:srgbClr val="FF0000"/>
              </a:solidFill>
            </a:endParaRPr>
          </a:p>
          <a:p>
            <a:pPr lvl="1" algn="just" rtl="0">
              <a:spcAft>
                <a:spcPts val="100"/>
              </a:spcAft>
            </a:pPr>
            <a:r>
              <a:rPr lang="pt-BR" sz="2100"/>
              <a:t>Usado para acessar opções de configuração no dispositivo </a:t>
            </a:r>
            <a:endParaRPr lang="en-US" sz="2100" dirty="0"/>
          </a:p>
          <a:p>
            <a:pPr marL="0" indent="0" algn="just" rtl="0">
              <a:spcAft>
                <a:spcPts val="100"/>
              </a:spcAft>
              <a:buNone/>
            </a:pPr>
            <a:r>
              <a:rPr lang="pt-BR" sz="2100" b="1">
                <a:solidFill>
                  <a:srgbClr val="FF0000"/>
                </a:solidFill>
              </a:rPr>
              <a:t>Modo de Configuração de Linhas:</a:t>
            </a:r>
            <a:r>
              <a:rPr lang="pt-BR" sz="2100" b="1"/>
              <a:t> </a:t>
            </a:r>
            <a:endParaRPr lang="pt-BR" sz="2100" b="1"/>
          </a:p>
          <a:p>
            <a:pPr lvl="1" algn="just" rtl="0"/>
            <a:r>
              <a:rPr lang="pt-BR" sz="2100"/>
              <a:t>Usado para configurar o acesso ao console, SSH, Telnet ou AUX</a:t>
            </a:r>
            <a:endParaRPr lang="en-US" sz="2100" dirty="0"/>
          </a:p>
          <a:p>
            <a:pPr marL="0" indent="0" algn="just" rtl="0">
              <a:spcAft>
                <a:spcPts val="100"/>
              </a:spcAft>
              <a:buNone/>
            </a:pPr>
            <a:r>
              <a:rPr lang="pt-BR" sz="2100" b="1">
                <a:solidFill>
                  <a:srgbClr val="FF0000"/>
                </a:solidFill>
              </a:rPr>
              <a:t>Modo de Configuração de Interface:</a:t>
            </a:r>
            <a:r>
              <a:rPr lang="pt-BR" sz="2100"/>
              <a:t> </a:t>
            </a:r>
            <a:endParaRPr lang="pt-BR" sz="2100"/>
          </a:p>
          <a:p>
            <a:pPr lvl="1" algn="just" rtl="0"/>
            <a:r>
              <a:rPr lang="pt-BR" sz="2100"/>
              <a:t>Usado para configurar uma porta de switch ou interface de roteador</a:t>
            </a:r>
            <a:endParaRPr lang="en-US" sz="2100" dirty="0"/>
          </a:p>
          <a:p>
            <a:pPr marL="0" indent="0" algn="just" rtl="0">
              <a:buNone/>
            </a:pPr>
            <a:endParaRPr lang="en-US" sz="2100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82185" y="776605"/>
            <a:ext cx="4276725" cy="115951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185" y="2003425"/>
            <a:ext cx="4276725" cy="115951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2185" y="3230245"/>
            <a:ext cx="4250690" cy="115252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>
                <a:sym typeface="+mn-ea"/>
              </a:rPr>
              <a:t>Navegação no IOS </a:t>
            </a:r>
            <a:br>
              <a:rPr lang="en-US" altLang="en-US" sz="1600" dirty="0"/>
            </a:br>
            <a:r>
              <a:rPr lang="pt-BR"/>
              <a:t>Navegar entre os Modos do IOS</a:t>
            </a: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idx="1"/>
          </p:nvPr>
        </p:nvSpPr>
        <p:spPr>
          <a:xfrm>
            <a:off x="120650" y="797560"/>
            <a:ext cx="4702175" cy="3676015"/>
          </a:xfrm>
        </p:spPr>
        <p:txBody>
          <a:bodyPr/>
          <a:lstStyle/>
          <a:p>
            <a:pPr marL="0" indent="0" algn="just" rtl="0">
              <a:buNone/>
            </a:pPr>
            <a:r>
              <a:rPr lang="pt-BR" sz="1500" b="1">
                <a:solidFill>
                  <a:srgbClr val="FF0000"/>
                </a:solidFill>
              </a:rPr>
              <a:t>Modo EXEC com Privilégios:</a:t>
            </a:r>
            <a:endParaRPr lang="pt-BR" sz="1500" b="1">
              <a:solidFill>
                <a:srgbClr val="FF0000"/>
              </a:solidFill>
            </a:endParaRPr>
          </a:p>
          <a:p>
            <a:pPr lvl="1" algn="just" rtl="0">
              <a:spcAft>
                <a:spcPts val="400"/>
              </a:spcAft>
            </a:pPr>
            <a:r>
              <a:rPr lang="pt-BR" sz="1500"/>
              <a:t>Para passar do modo EXEC usuário para o modo EXEC privilegiado, use o comando </a:t>
            </a:r>
            <a:r>
              <a:rPr lang="pt-BR" sz="1500" b="1"/>
              <a:t>enable</a:t>
            </a:r>
            <a:r>
              <a:rPr lang="pt-BR" sz="1500"/>
              <a:t>.</a:t>
            </a:r>
            <a:endParaRPr lang="pt-BR" sz="1500"/>
          </a:p>
          <a:p>
            <a:pPr marL="0" indent="0" algn="just" rtl="0">
              <a:buNone/>
            </a:pPr>
            <a:r>
              <a:rPr lang="pt-BR" sz="1500" b="1">
                <a:solidFill>
                  <a:srgbClr val="FF0000"/>
                </a:solidFill>
              </a:rPr>
              <a:t>Modo de Configuração Global:</a:t>
            </a:r>
            <a:endParaRPr lang="pt-BR" sz="1500" b="1">
              <a:solidFill>
                <a:srgbClr val="FF0000"/>
              </a:solidFill>
            </a:endParaRPr>
          </a:p>
          <a:p>
            <a:pPr lvl="1" algn="just" rtl="0"/>
            <a:r>
              <a:rPr lang="pt-BR" sz="1500"/>
              <a:t>Para entrar e sair do modo de configuração global, use o comando </a:t>
            </a:r>
            <a:r>
              <a:rPr lang="pt-BR" sz="1500" b="1"/>
              <a:t>configure terminal</a:t>
            </a:r>
            <a:r>
              <a:rPr lang="pt-BR" sz="1500"/>
              <a:t> Retorne ao modo EXEC privilegiado com o comando </a:t>
            </a:r>
            <a:r>
              <a:rPr lang="pt-BR" sz="1500" b="1"/>
              <a:t>exit</a:t>
            </a:r>
            <a:r>
              <a:rPr lang="pt-BR" sz="1500"/>
              <a:t> </a:t>
            </a:r>
            <a:endParaRPr lang="pt-BR" sz="1500"/>
          </a:p>
          <a:p>
            <a:pPr marL="0" indent="0" algn="just" rtl="0">
              <a:buNone/>
            </a:pPr>
            <a:r>
              <a:rPr lang="pt-BR" sz="1500" b="1">
                <a:solidFill>
                  <a:srgbClr val="FF0000"/>
                </a:solidFill>
              </a:rPr>
              <a:t>Modo de Configuração de Linhas:</a:t>
            </a:r>
            <a:endParaRPr lang="pt-BR" sz="1500" b="1">
              <a:solidFill>
                <a:srgbClr val="FF0000"/>
              </a:solidFill>
            </a:endParaRPr>
          </a:p>
          <a:p>
            <a:pPr lvl="1" algn="just" rtl="0"/>
            <a:r>
              <a:rPr lang="pt-BR" sz="1500"/>
              <a:t>Para entrar e sair do modo de configuração de linha, use o comando de </a:t>
            </a:r>
            <a:r>
              <a:rPr lang="pt-BR" sz="1500" b="1"/>
              <a:t>line </a:t>
            </a:r>
            <a:r>
              <a:rPr lang="pt-BR" sz="1500"/>
              <a:t>seguido pelo tipo de linha de gerenciamento. Retorne ao modo de configuração global usando o comando </a:t>
            </a:r>
            <a:r>
              <a:rPr lang="pt-BR" sz="1500" b="1"/>
              <a:t>exit</a:t>
            </a:r>
            <a:r>
              <a:rPr lang="pt-BR" sz="1500"/>
              <a:t> </a:t>
            </a:r>
            <a:endParaRPr lang="pt-BR" sz="1500"/>
          </a:p>
          <a:p>
            <a:pPr algn="just"/>
            <a:endParaRPr lang="en-US" sz="1500" dirty="0"/>
          </a:p>
          <a:p>
            <a:pPr marL="0" indent="0" algn="just">
              <a:buNone/>
            </a:pPr>
            <a:endParaRPr lang="en-US" sz="1500" dirty="0"/>
          </a:p>
          <a:p>
            <a:pPr algn="just"/>
            <a:endParaRPr lang="en-US" altLang="ja-JP" sz="1500" dirty="0"/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22190" y="1278255"/>
            <a:ext cx="4187190" cy="78613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2190" y="2419985"/>
            <a:ext cx="4187190" cy="780415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2190" y="3575050"/>
            <a:ext cx="4187190" cy="74231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/>
              <a:t>Navegar no IOS </a:t>
            </a:r>
            <a:br>
              <a:rPr lang="en-US" altLang="en-US" sz="1600" dirty="0"/>
            </a:br>
            <a:r>
              <a:rPr lang="pt-BR"/>
              <a:t>Navegar entre os modos do IOS</a:t>
            </a: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idx="1"/>
          </p:nvPr>
        </p:nvSpPr>
        <p:spPr>
          <a:xfrm>
            <a:off x="114017" y="799067"/>
            <a:ext cx="4244686" cy="2928646"/>
          </a:xfrm>
        </p:spPr>
        <p:txBody>
          <a:bodyPr/>
          <a:lstStyle/>
          <a:p>
            <a:pPr marL="0" indent="0" algn="just" rtl="0">
              <a:buNone/>
            </a:pPr>
            <a:r>
              <a:rPr lang="pt-BR" sz="1700" b="1">
                <a:solidFill>
                  <a:srgbClr val="FF0000"/>
                </a:solidFill>
              </a:rPr>
              <a:t>Modos de Subconfiguração: </a:t>
            </a:r>
            <a:endParaRPr lang="pt-BR" sz="1700" b="1">
              <a:solidFill>
                <a:srgbClr val="FF0000"/>
              </a:solidFill>
            </a:endParaRPr>
          </a:p>
          <a:p>
            <a:pPr lvl="1" algn="just" rtl="0"/>
            <a:r>
              <a:rPr lang="pt-BR" sz="1700"/>
              <a:t>Para sair de qualquer modo de subconfiguração e voltar ao modo de configuração global, use o comando </a:t>
            </a:r>
            <a:r>
              <a:rPr lang="pt-BR" sz="1700" b="1"/>
              <a:t>exit</a:t>
            </a:r>
            <a:r>
              <a:rPr lang="pt-BR" sz="1700" b="1" i="1"/>
              <a:t> </a:t>
            </a:r>
            <a:r>
              <a:rPr lang="pt-BR" sz="1700"/>
              <a:t>. Para retornar ao modo EXEC de privilégio, use o comando </a:t>
            </a:r>
            <a:r>
              <a:rPr lang="pt-BR" sz="1700" b="1"/>
              <a:t>end</a:t>
            </a:r>
            <a:r>
              <a:rPr lang="pt-BR" sz="1700"/>
              <a:t> ou combinação de </a:t>
            </a:r>
            <a:r>
              <a:rPr lang="pt-BR" sz="1700" b="1"/>
              <a:t>teclas Ctrl +Z</a:t>
            </a:r>
            <a:r>
              <a:rPr lang="pt-BR" sz="1700"/>
              <a:t> . </a:t>
            </a:r>
            <a:endParaRPr lang="en-US" sz="1700" dirty="0"/>
          </a:p>
          <a:p>
            <a:pPr lvl="1" algn="just" rtl="0"/>
            <a:r>
              <a:rPr lang="pt-BR" sz="1700"/>
              <a:t>Para mover diretamente de um modo de subconfiguração para outro, digite o comando de modo de subconfiguração desejado. No exemplo, o prompt de comando muda de </a:t>
            </a:r>
            <a:r>
              <a:rPr lang="pt-BR" sz="1700" b="1"/>
              <a:t>(config-line)#</a:t>
            </a:r>
            <a:r>
              <a:rPr lang="pt-BR" sz="1700"/>
              <a:t> para </a:t>
            </a:r>
            <a:r>
              <a:rPr lang="pt-BR" sz="1700" b="1"/>
              <a:t>(config-if)#</a:t>
            </a:r>
            <a:r>
              <a:rPr lang="pt-BR" sz="1700"/>
              <a:t>. </a:t>
            </a:r>
            <a:r>
              <a:rPr lang="pt-BR" sz="1700" b="1"/>
              <a:t> </a:t>
            </a:r>
            <a:endParaRPr lang="pt-BR" sz="1700" b="1"/>
          </a:p>
          <a:p>
            <a:pPr marL="0" indent="0" algn="just">
              <a:buNone/>
            </a:pPr>
            <a:endParaRPr lang="en-US" sz="1700" dirty="0"/>
          </a:p>
          <a:p>
            <a:pPr algn="just"/>
            <a:endParaRPr lang="en-US" altLang="ja-JP" sz="1700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4980" y="1229995"/>
            <a:ext cx="4716780" cy="60134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4980" y="2035175"/>
            <a:ext cx="4716145" cy="55372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2274570"/>
            <a:ext cx="8231464" cy="919480"/>
          </a:xfrm>
        </p:spPr>
        <p:txBody>
          <a:bodyPr/>
          <a:lstStyle/>
          <a:p>
            <a:pPr rtl="0"/>
            <a:r>
              <a:rPr lang="pt-BR" sz="4000">
                <a:solidFill>
                  <a:schemeClr val="accent5">
                    <a:lumMod val="40000"/>
                    <a:lumOff val="60000"/>
                  </a:schemeClr>
                </a:solidFill>
              </a:rPr>
              <a:t>2.3 – A Estrutura de Comandos do IOS</a:t>
            </a:r>
            <a:endParaRPr lang="pt-BR" sz="4000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/>
              <a:t>A estrutura de comandos</a:t>
            </a:r>
            <a:br>
              <a:rPr lang="pt-BR"/>
            </a:br>
            <a:r>
              <a:rPr lang="pt-BR"/>
              <a:t>Estrutura básica de comandos do IOS</a:t>
            </a: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idx="1"/>
          </p:nvPr>
        </p:nvSpPr>
        <p:spPr>
          <a:xfrm>
            <a:off x="191770" y="4003675"/>
            <a:ext cx="8726170" cy="661670"/>
          </a:xfrm>
        </p:spPr>
        <p:txBody>
          <a:bodyPr/>
          <a:lstStyle/>
          <a:p>
            <a:pPr rtl="0">
              <a:buFont typeface="Arial" panose="020B0604020202020204" pitchFamily="34" charset="0"/>
              <a:buChar char="•"/>
            </a:pPr>
            <a:r>
              <a:rPr lang="pt-BR" b="1"/>
              <a:t>Palavra-chave</a:t>
            </a:r>
            <a:r>
              <a:rPr lang="pt-BR"/>
              <a:t> - este é um parâmetro específico definido no sistema operacional</a:t>
            </a:r>
            <a:endParaRPr lang="pt-BR"/>
          </a:p>
          <a:p>
            <a:pPr rtl="0">
              <a:buFont typeface="Arial" panose="020B0604020202020204" pitchFamily="34" charset="0"/>
              <a:buChar char="•"/>
            </a:pPr>
            <a:r>
              <a:rPr lang="pt-BR" b="1"/>
              <a:t>Argumento </a:t>
            </a:r>
            <a:r>
              <a:rPr lang="pt-BR"/>
              <a:t>- não predefinido; um valor ou variável definido pelo usuário</a:t>
            </a:r>
            <a:endParaRPr lang="en-US" altLang="ja-JP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t="8012" b="3524"/>
          <a:stretch>
            <a:fillRect/>
          </a:stretch>
        </p:blipFill>
        <p:spPr>
          <a:xfrm>
            <a:off x="130810" y="784225"/>
            <a:ext cx="9072245" cy="324167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p:transition spd="slow">
    <p:wip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/>
              <a:t>A estrutura de comandos </a:t>
            </a:r>
            <a:br>
              <a:rPr lang="pt-BR"/>
            </a:br>
            <a:r>
              <a:rPr lang="pt-BR"/>
              <a:t>Sintaxe do comando do IOS</a:t>
            </a: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idx="1"/>
          </p:nvPr>
        </p:nvSpPr>
        <p:spPr>
          <a:xfrm>
            <a:off x="99060" y="1198880"/>
            <a:ext cx="4076700" cy="3409315"/>
          </a:xfrm>
        </p:spPr>
        <p:txBody>
          <a:bodyPr/>
          <a:lstStyle/>
          <a:p>
            <a:pPr marL="0" indent="0" algn="just" rtl="0">
              <a:buNone/>
            </a:pPr>
            <a:r>
              <a:rPr lang="pt-BR" sz="1850"/>
              <a:t>Um comando pode exigir </a:t>
            </a:r>
            <a:r>
              <a:rPr lang="pt-BR" sz="1850" b="1">
                <a:solidFill>
                  <a:srgbClr val="FF0000"/>
                </a:solidFill>
              </a:rPr>
              <a:t>um ou mais argumentos</a:t>
            </a:r>
            <a:r>
              <a:rPr lang="pt-BR" sz="1850"/>
              <a:t>. Para determinar as palavras-chave e os argumentos necessários para um comando, consulte a sintaxe de comando. </a:t>
            </a:r>
            <a:endParaRPr lang="pt-BR" sz="1850"/>
          </a:p>
          <a:p>
            <a:pPr lvl="1" algn="just" rtl="0"/>
            <a:r>
              <a:rPr lang="pt-BR" sz="1850"/>
              <a:t>O </a:t>
            </a:r>
            <a:r>
              <a:rPr lang="pt-BR" sz="1850" b="1">
                <a:solidFill>
                  <a:srgbClr val="FF0000"/>
                </a:solidFill>
              </a:rPr>
              <a:t>texto em negrito</a:t>
            </a:r>
            <a:r>
              <a:rPr lang="pt-BR" sz="1850"/>
              <a:t> indica comandos e palavras-chave que são inseridos como mostrado. </a:t>
            </a:r>
            <a:endParaRPr lang="pt-BR" sz="1850"/>
          </a:p>
          <a:p>
            <a:pPr lvl="1" algn="just" rtl="0"/>
            <a:r>
              <a:rPr lang="pt-BR" sz="1850"/>
              <a:t>O </a:t>
            </a:r>
            <a:r>
              <a:rPr lang="pt-BR" sz="1850" b="1">
                <a:solidFill>
                  <a:srgbClr val="FF0000"/>
                </a:solidFill>
              </a:rPr>
              <a:t>texto em itálico</a:t>
            </a:r>
            <a:r>
              <a:rPr lang="pt-BR" sz="1850"/>
              <a:t> indica um argumento para o qual o usuário fornece o valor.</a:t>
            </a:r>
            <a:endParaRPr lang="pt-BR" sz="185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75125" y="1271905"/>
          <a:ext cx="4773930" cy="31280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320"/>
                <a:gridCol w="3610610"/>
              </a:tblGrid>
              <a:tr h="183316"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Convenção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Descrição</a:t>
                      </a:r>
                      <a:endParaRPr lang="pt-BR" sz="1200"/>
                    </a:p>
                  </a:txBody>
                  <a:tcPr anchor="ctr" anchorCtr="0"/>
                </a:tc>
              </a:tr>
              <a:tr h="308073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1">
                          <a:effectLst/>
                        </a:rPr>
                        <a:t>negrito</a:t>
                      </a:r>
                      <a:endParaRPr lang="pt-BR" sz="1200" b="1">
                        <a:effectLst/>
                      </a:endParaRPr>
                    </a:p>
                  </a:txBody>
                  <a:tcPr marL="47625" marR="47625" marT="47625" marB="47625" anchor="ctr" anchorCtr="0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>
                          <a:effectLst/>
                        </a:rPr>
                        <a:t>O texto em negrito indica comandos e palavras-chave que você insere literalmente, como mostradas.</a:t>
                      </a:r>
                      <a:endParaRPr lang="pt-BR" sz="1200" b="0">
                        <a:effectLst/>
                      </a:endParaRPr>
                    </a:p>
                  </a:txBody>
                  <a:tcPr marL="47625" marR="47625" marT="47625" marB="47625" anchor="ctr" anchorCtr="0"/>
                </a:tc>
              </a:tr>
              <a:tr h="46101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1">
                          <a:effectLst/>
                        </a:rPr>
                        <a:t>itálico</a:t>
                      </a:r>
                      <a:endParaRPr lang="pt-BR" sz="1200" b="0" i="1">
                        <a:effectLst/>
                      </a:endParaRPr>
                    </a:p>
                  </a:txBody>
                  <a:tcPr marL="47625" marR="47625" marT="47625" marB="47625" anchor="ctr" anchorCtr="0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>
                          <a:effectLst/>
                        </a:rPr>
                        <a:t>O texto em itálico indica argumentos para os quais você fornece valores.</a:t>
                      </a:r>
                      <a:endParaRPr lang="pt-BR" sz="1200" b="0">
                        <a:effectLst/>
                      </a:endParaRPr>
                    </a:p>
                  </a:txBody>
                  <a:tcPr marL="47625" marR="47625" marT="47625" marB="47625" anchor="ctr" anchorCtr="0"/>
                </a:tc>
              </a:tr>
              <a:tr h="308073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1">
                          <a:effectLst/>
                        </a:rPr>
                        <a:t>[</a:t>
                      </a:r>
                      <a:r>
                        <a:rPr lang="pt-BR" sz="1200" b="0">
                          <a:effectLst/>
                        </a:rPr>
                        <a:t>x</a:t>
                      </a:r>
                      <a:r>
                        <a:rPr lang="pt-BR" sz="1200" b="1">
                          <a:effectLst/>
                        </a:rPr>
                        <a:t>]</a:t>
                      </a:r>
                      <a:endParaRPr lang="pt-BR" sz="1200" b="1">
                        <a:effectLst/>
                      </a:endParaRPr>
                    </a:p>
                  </a:txBody>
                  <a:tcPr marL="47625" marR="47625" marT="47625" marB="47625" anchor="ctr" anchorCtr="0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>
                          <a:effectLst/>
                        </a:rPr>
                        <a:t>Colchetes indicam um elemento opcional (palavra-chave ou argumento).</a:t>
                      </a:r>
                      <a:endParaRPr lang="pt-BR" sz="1200" b="0">
                        <a:effectLst/>
                      </a:endParaRPr>
                    </a:p>
                  </a:txBody>
                  <a:tcPr marL="47625" marR="47625" marT="47625" marB="47625" anchor="ctr" anchorCtr="0"/>
                </a:tc>
              </a:tr>
              <a:tr h="331663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1">
                          <a:effectLst/>
                        </a:rPr>
                        <a:t>{</a:t>
                      </a:r>
                      <a:r>
                        <a:rPr lang="pt-BR" sz="1200" b="0">
                          <a:effectLst/>
                        </a:rPr>
                        <a:t>x</a:t>
                      </a:r>
                      <a:r>
                        <a:rPr lang="pt-BR" sz="1200" b="1">
                          <a:effectLst/>
                        </a:rPr>
                        <a:t>}</a:t>
                      </a:r>
                      <a:endParaRPr lang="pt-BR" sz="1200" b="1">
                        <a:effectLst/>
                      </a:endParaRPr>
                    </a:p>
                  </a:txBody>
                  <a:tcPr marL="47625" marR="47625" marT="47625" marB="47625" anchor="ctr" anchorCtr="0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>
                          <a:effectLst/>
                        </a:rPr>
                        <a:t>Chaves indicam um elemento necessário (palavra-chave ou argumento).</a:t>
                      </a:r>
                      <a:endParaRPr lang="pt-BR" sz="1200" b="0">
                        <a:effectLst/>
                      </a:endParaRPr>
                    </a:p>
                  </a:txBody>
                  <a:tcPr marL="47625" marR="47625" marT="47625" marB="47625" anchor="ctr" anchorCtr="0"/>
                </a:tc>
              </a:tr>
              <a:tr h="552495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1">
                          <a:effectLst/>
                        </a:rPr>
                        <a:t>[</a:t>
                      </a:r>
                      <a:r>
                        <a:rPr lang="pt-BR" sz="1200" b="0">
                          <a:effectLst/>
                        </a:rPr>
                        <a:t>x</a:t>
                      </a:r>
                      <a:r>
                        <a:rPr lang="pt-BR" sz="1200" b="1">
                          <a:effectLst/>
                        </a:rPr>
                        <a:t> {</a:t>
                      </a:r>
                      <a:r>
                        <a:rPr lang="pt-BR" sz="1200" b="0">
                          <a:effectLst/>
                        </a:rPr>
                        <a:t>y</a:t>
                      </a:r>
                      <a:r>
                        <a:rPr lang="pt-BR" sz="1200" b="1">
                          <a:effectLst/>
                        </a:rPr>
                        <a:t> | </a:t>
                      </a:r>
                      <a:r>
                        <a:rPr lang="pt-BR" sz="1200" b="0">
                          <a:effectLst/>
                        </a:rPr>
                        <a:t>z</a:t>
                      </a:r>
                      <a:r>
                        <a:rPr lang="pt-BR" sz="1200" b="1">
                          <a:effectLst/>
                        </a:rPr>
                        <a:t> }]</a:t>
                      </a:r>
                      <a:endParaRPr lang="pt-BR" sz="1200" b="1">
                        <a:effectLst/>
                      </a:endParaRPr>
                    </a:p>
                  </a:txBody>
                  <a:tcPr marL="47625" marR="47625" marT="47625" marB="47625" anchor="ctr" anchorCtr="0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>
                          <a:effectLst/>
                        </a:rPr>
                        <a:t>Chaves e linhas verticais entre colchetes indicam uma escolha obrigatória dentro de um elemento opcional. Espaços são usados para delinear claramente partes do comando.</a:t>
                      </a:r>
                      <a:endParaRPr lang="pt-BR" sz="1200" b="0">
                        <a:effectLst/>
                      </a:endParaRPr>
                    </a:p>
                  </a:txBody>
                  <a:tcPr marL="47625" marR="47625" marT="47625" marB="47625" anchor="ctr" anchorCtr="0"/>
                </a:tc>
              </a:tr>
            </a:tbl>
          </a:graphicData>
        </a:graphic>
      </p:graphicFrame>
    </p:spTree>
    <p:custDataLst>
      <p:tags r:id="rId1"/>
    </p:custDataLst>
  </p:cSld>
  <p:clrMapOvr>
    <a:masterClrMapping/>
  </p:clrMapOvr>
  <p:transition spd="slow">
    <p:wip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/>
              <a:t>A estrutura de comandos </a:t>
            </a:r>
            <a:br>
              <a:rPr lang="en-US" dirty="0"/>
            </a:br>
            <a:r>
              <a:rPr lang="pt-BR"/>
              <a:t>Sintaxe do comando do IOS</a:t>
            </a: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idx="1"/>
          </p:nvPr>
        </p:nvSpPr>
        <p:spPr>
          <a:xfrm>
            <a:off x="95885" y="810895"/>
            <a:ext cx="8075295" cy="435610"/>
          </a:xfrm>
        </p:spPr>
        <p:txBody>
          <a:bodyPr/>
          <a:lstStyle/>
          <a:p>
            <a:pPr marL="0" indent="0" rtl="0">
              <a:buNone/>
            </a:pPr>
            <a:r>
              <a:rPr lang="pt-BR" sz="1600"/>
              <a:t>A sintaxe fornece o padrão, ou formato, que deve ser usado ao inserir um comando.</a:t>
            </a:r>
            <a:endParaRPr lang="pt-BR" sz="1600"/>
          </a:p>
        </p:txBody>
      </p:sp>
      <p:sp>
        <p:nvSpPr>
          <p:cNvPr id="12" name="Rectangle 6"/>
          <p:cNvSpPr txBox="1">
            <a:spLocks noChangeArrowheads="1"/>
          </p:cNvSpPr>
          <p:nvPr/>
        </p:nvSpPr>
        <p:spPr bwMode="auto">
          <a:xfrm>
            <a:off x="182880" y="1229360"/>
            <a:ext cx="4537075" cy="24784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182880" bIns="45720" numCol="1" anchor="t" anchorCtr="0" compatLnSpc="1"/>
          <a:lstStyle>
            <a:lvl1pPr marL="170180" indent="-170180" algn="l" defTabSz="684530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§"/>
              <a:defRPr lang="en-US" sz="15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1pPr>
            <a:lvl2pPr marL="358775" indent="-215900" algn="l" defTabSz="684530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4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2pPr>
            <a:lvl3pPr marL="431800" indent="-170180" algn="l" defTabSz="684530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3pPr>
            <a:lvl4pPr marL="503555" indent="-170180" algn="l" defTabSz="684530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lang="en-US" sz="11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4pPr>
            <a:lvl5pPr marL="574675" indent="-170180" algn="l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lang="en-US" sz="1100" kern="1200" dirty="0">
                <a:solidFill>
                  <a:schemeClr val="tx1"/>
                </a:solidFill>
                <a:latin typeface="+mn-lt"/>
                <a:ea typeface="MS PGothic" charset="0"/>
                <a:cs typeface="CiscoSans"/>
              </a:defRPr>
            </a:lvl5pPr>
            <a:lvl6pPr marL="863600" indent="-171450" algn="l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Char char="•"/>
              <a:defRPr sz="9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935990" indent="-171450" algn="l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Char char="•"/>
              <a:defRPr sz="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0">
              <a:buFont typeface="Arial" panose="020B0604020202020204" pitchFamily="34" charset="0"/>
              <a:buChar char="•"/>
            </a:pPr>
            <a:r>
              <a:rPr lang="pt-BR" sz="1750"/>
              <a:t>O comando é </a:t>
            </a:r>
            <a:r>
              <a:rPr lang="pt-BR" sz="1750" b="1">
                <a:solidFill>
                  <a:srgbClr val="FF0000"/>
                </a:solidFill>
              </a:rPr>
              <a:t>ping</a:t>
            </a:r>
            <a:r>
              <a:rPr lang="pt-BR" sz="1750">
                <a:solidFill>
                  <a:srgbClr val="FF0000"/>
                </a:solidFill>
              </a:rPr>
              <a:t> </a:t>
            </a:r>
            <a:r>
              <a:rPr lang="pt-BR" sz="1750"/>
              <a:t>e o argumento definido pelo usuário é o </a:t>
            </a:r>
            <a:r>
              <a:rPr lang="pt-BR" sz="1750" i="1"/>
              <a:t>ip-address</a:t>
            </a:r>
            <a:r>
              <a:rPr lang="pt-BR" sz="1750"/>
              <a:t> do dispositivo de destino. Por exemplo, </a:t>
            </a:r>
            <a:r>
              <a:rPr lang="pt-BR" sz="1750" b="1"/>
              <a:t>ping 10.10.10.5</a:t>
            </a:r>
            <a:r>
              <a:rPr lang="pt-BR" sz="1750"/>
              <a:t>.</a:t>
            </a:r>
            <a:endParaRPr lang="pt-BR" sz="1750"/>
          </a:p>
          <a:p>
            <a:pPr algn="just" rtl="0">
              <a:buFont typeface="Arial" panose="020B0604020202020204" pitchFamily="34" charset="0"/>
              <a:buChar char="•"/>
            </a:pPr>
            <a:r>
              <a:rPr lang="pt-BR" sz="1750">
                <a:sym typeface="+mn-ea"/>
              </a:rPr>
              <a:t>O comando é </a:t>
            </a:r>
            <a:r>
              <a:rPr lang="pt-BR" sz="1750" b="1">
                <a:solidFill>
                  <a:srgbClr val="FF0000"/>
                </a:solidFill>
                <a:sym typeface="+mn-ea"/>
              </a:rPr>
              <a:t>traceroute</a:t>
            </a:r>
            <a:r>
              <a:rPr lang="pt-BR" sz="1750">
                <a:solidFill>
                  <a:srgbClr val="FF0000"/>
                </a:solidFill>
                <a:sym typeface="+mn-ea"/>
              </a:rPr>
              <a:t> </a:t>
            </a:r>
            <a:r>
              <a:rPr lang="pt-BR" sz="1750">
                <a:sym typeface="+mn-ea"/>
              </a:rPr>
              <a:t>e o argumento definido pelo usuário é o </a:t>
            </a:r>
            <a:r>
              <a:rPr lang="pt-BR" sz="1750" i="1">
                <a:sym typeface="+mn-ea"/>
              </a:rPr>
              <a:t>ip-address</a:t>
            </a:r>
            <a:r>
              <a:rPr lang="pt-BR" sz="1750">
                <a:sym typeface="+mn-ea"/>
              </a:rPr>
              <a:t> do dispositivo de destino. Por exemplo, </a:t>
            </a:r>
            <a:r>
              <a:rPr lang="pt-BR" sz="1750" b="1">
                <a:sym typeface="+mn-ea"/>
              </a:rPr>
              <a:t>traceroute</a:t>
            </a:r>
            <a:r>
              <a:rPr lang="pt-BR" sz="1750" b="1">
                <a:sym typeface="+mn-ea"/>
              </a:rPr>
              <a:t> 192.168.254.254</a:t>
            </a:r>
            <a:r>
              <a:rPr lang="pt-BR" sz="1750">
                <a:sym typeface="+mn-ea"/>
              </a:rPr>
              <a:t>.</a:t>
            </a:r>
            <a:endParaRPr lang="pt-BR" sz="1750"/>
          </a:p>
          <a:p>
            <a:pPr algn="just" rtl="0">
              <a:buFont typeface="Arial" panose="020B0604020202020204" pitchFamily="34" charset="0"/>
              <a:buChar char="•"/>
            </a:pPr>
            <a:endParaRPr lang="pt-BR" sz="1750"/>
          </a:p>
          <a:p>
            <a:pPr algn="just" rtl="0">
              <a:buFont typeface="Arial" panose="020B0604020202020204" pitchFamily="34" charset="0"/>
              <a:buChar char="•"/>
            </a:pPr>
            <a:endParaRPr lang="en-US" sz="1750" i="1" dirty="0"/>
          </a:p>
        </p:txBody>
      </p:sp>
      <p:sp>
        <p:nvSpPr>
          <p:cNvPr id="8" name="TextBox 7"/>
          <p:cNvSpPr txBox="1"/>
          <p:nvPr/>
        </p:nvSpPr>
        <p:spPr>
          <a:xfrm>
            <a:off x="182880" y="3660140"/>
            <a:ext cx="876046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rtl="0">
              <a:buClr>
                <a:schemeClr val="tx1"/>
              </a:buClr>
              <a:buSzPct val="90000"/>
              <a:buFont typeface="Wingdings" panose="05000000000000000000" pitchFamily="2" charset="2"/>
              <a:buNone/>
            </a:pPr>
            <a:r>
              <a:rPr lang="pt-BR" sz="1600">
                <a:solidFill>
                  <a:srgbClr val="000000"/>
                </a:solidFill>
              </a:rPr>
              <a:t>Se um comando é complexo com vários argumentos, você pode vê-lo representado assim:</a:t>
            </a:r>
            <a:endParaRPr lang="pt-BR" sz="1600">
              <a:solidFill>
                <a:srgbClr val="000000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1370" y="1350010"/>
            <a:ext cx="4331970" cy="70358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1370" y="2526665"/>
            <a:ext cx="4331335" cy="65087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795" y="3997325"/>
            <a:ext cx="8360410" cy="54991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  <p:transition spd="slow">
    <p:wip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41393"/>
            <a:ext cx="9144000" cy="757551"/>
          </a:xfrm>
        </p:spPr>
        <p:txBody>
          <a:bodyPr/>
          <a:lstStyle/>
          <a:p>
            <a:pPr rtl="0"/>
            <a:r>
              <a:rPr lang="pt-BR" sz="1600"/>
              <a:t>A estrutura de comandos </a:t>
            </a:r>
            <a:br>
              <a:rPr lang="en-US" dirty="0"/>
            </a:br>
            <a:r>
              <a:rPr lang="pt-BR"/>
              <a:t>Recursos da ajuda do IOS</a:t>
            </a: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idx="1"/>
          </p:nvPr>
        </p:nvSpPr>
        <p:spPr>
          <a:xfrm>
            <a:off x="130175" y="798830"/>
            <a:ext cx="8757285" cy="582930"/>
          </a:xfrm>
        </p:spPr>
        <p:txBody>
          <a:bodyPr/>
          <a:lstStyle/>
          <a:p>
            <a:pPr marL="0" indent="0" algn="ctr" rtl="0">
              <a:buNone/>
            </a:pPr>
            <a:r>
              <a:rPr lang="pt-BR" sz="1600"/>
              <a:t>O </a:t>
            </a:r>
            <a:r>
              <a:rPr lang="pt-BR" sz="1600" b="1">
                <a:solidFill>
                  <a:srgbClr val="FF0000"/>
                </a:solidFill>
              </a:rPr>
              <a:t>IOS tem duas formas</a:t>
            </a:r>
            <a:r>
              <a:rPr lang="pt-BR" sz="1600"/>
              <a:t> de ajuda disponíveis: ajuda sensível ao contexto e verificação da sintaxe do comando.</a:t>
            </a:r>
            <a:endParaRPr lang="pt-BR" sz="1600"/>
          </a:p>
          <a:p>
            <a:pPr marL="261620" lvl="2" indent="0" algn="ctr">
              <a:buNone/>
            </a:pPr>
            <a:endParaRPr lang="en-US" dirty="0"/>
          </a:p>
          <a:p>
            <a:pPr marL="261620" lvl="2" indent="0" algn="ctr">
              <a:buNone/>
            </a:pPr>
            <a:endParaRPr lang="en-US" dirty="0"/>
          </a:p>
          <a:p>
            <a:pPr algn="ctr"/>
            <a:endParaRPr lang="en-US" dirty="0"/>
          </a:p>
          <a:p>
            <a:pPr algn="ctr"/>
            <a:endParaRPr lang="en-US" altLang="ja-JP" dirty="0"/>
          </a:p>
        </p:txBody>
      </p:sp>
      <p:sp>
        <p:nvSpPr>
          <p:cNvPr id="9" name="Rectangle 6"/>
          <p:cNvSpPr txBox="1">
            <a:spLocks noChangeArrowheads="1"/>
          </p:cNvSpPr>
          <p:nvPr/>
        </p:nvSpPr>
        <p:spPr bwMode="auto">
          <a:xfrm>
            <a:off x="132080" y="1453515"/>
            <a:ext cx="4265295" cy="20167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182880" bIns="45720" numCol="1" anchor="t" anchorCtr="0" compatLnSpc="1"/>
          <a:lstStyle>
            <a:lvl1pPr marL="170180" indent="-170180" algn="l" defTabSz="684530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§"/>
              <a:defRPr lang="en-US" sz="15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1pPr>
            <a:lvl2pPr marL="358775" indent="-215900" algn="l" defTabSz="684530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4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2pPr>
            <a:lvl3pPr marL="431800" indent="-170180" algn="l" defTabSz="684530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3pPr>
            <a:lvl4pPr marL="503555" indent="-170180" algn="l" defTabSz="684530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lang="en-US" sz="11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4pPr>
            <a:lvl5pPr marL="574675" indent="-170180" algn="l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lang="en-US" sz="1100" kern="1200" dirty="0">
                <a:solidFill>
                  <a:schemeClr val="tx1"/>
                </a:solidFill>
                <a:latin typeface="+mn-lt"/>
                <a:ea typeface="MS PGothic" charset="0"/>
                <a:cs typeface="CiscoSans"/>
              </a:defRPr>
            </a:lvl5pPr>
            <a:lvl6pPr marL="863600" indent="-171450" algn="l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Char char="•"/>
              <a:defRPr sz="9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935990" indent="-171450" algn="l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Char char="•"/>
              <a:defRPr sz="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0">
              <a:buFont typeface="Arial" panose="020B0604020202020204" pitchFamily="34" charset="0"/>
              <a:buChar char="•"/>
            </a:pPr>
            <a:r>
              <a:rPr lang="pt-BR" sz="1450"/>
              <a:t>A </a:t>
            </a:r>
            <a:r>
              <a:rPr lang="pt-BR" sz="1450" b="1"/>
              <a:t>ajuda contextual</a:t>
            </a:r>
            <a:r>
              <a:rPr lang="pt-BR" sz="1450"/>
              <a:t> permite que você encontre rapidamente respostas para estas perguntas:</a:t>
            </a:r>
            <a:endParaRPr lang="pt-BR" sz="1450"/>
          </a:p>
          <a:p>
            <a:pPr lvl="2" algn="just" rtl="0"/>
            <a:r>
              <a:rPr lang="pt-BR" sz="1450"/>
              <a:t>Quais comandos estão disponíveis em cada modo de comando?</a:t>
            </a:r>
            <a:endParaRPr lang="pt-BR" sz="1450"/>
          </a:p>
          <a:p>
            <a:pPr lvl="2" algn="just" rtl="0"/>
            <a:r>
              <a:rPr lang="pt-BR" sz="1450"/>
              <a:t>Quais comandos começam com caracteres específicos ou grupo de caracteres?</a:t>
            </a:r>
            <a:endParaRPr lang="pt-BR" sz="1450"/>
          </a:p>
          <a:p>
            <a:pPr lvl="2" algn="just" rtl="0"/>
            <a:r>
              <a:rPr lang="pt-BR" sz="1450"/>
              <a:t>Quais argumentos e palavras-chave estão disponíveis para comandos específicos?</a:t>
            </a:r>
            <a:endParaRPr lang="pt-BR" sz="1450"/>
          </a:p>
        </p:txBody>
      </p:sp>
      <p:sp>
        <p:nvSpPr>
          <p:cNvPr id="8" name="Rectangle 6"/>
          <p:cNvSpPr txBox="1">
            <a:spLocks noChangeArrowheads="1"/>
          </p:cNvSpPr>
          <p:nvPr/>
        </p:nvSpPr>
        <p:spPr bwMode="auto">
          <a:xfrm>
            <a:off x="4568825" y="1453515"/>
            <a:ext cx="4319270" cy="18186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182880" bIns="45720" numCol="1" anchor="t" anchorCtr="0" compatLnSpc="1"/>
          <a:lstStyle>
            <a:lvl1pPr marL="170180" indent="-170180" algn="l" defTabSz="684530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§"/>
              <a:defRPr lang="en-US" sz="15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1pPr>
            <a:lvl2pPr marL="358775" indent="-215900" algn="l" defTabSz="684530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4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2pPr>
            <a:lvl3pPr marL="431800" indent="-170180" algn="l" defTabSz="684530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3pPr>
            <a:lvl4pPr marL="503555" indent="-170180" algn="l" defTabSz="684530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lang="en-US" sz="11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4pPr>
            <a:lvl5pPr marL="574675" indent="-170180" algn="l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lang="en-US" sz="1100" kern="1200" dirty="0">
                <a:solidFill>
                  <a:schemeClr val="tx1"/>
                </a:solidFill>
                <a:latin typeface="+mn-lt"/>
                <a:ea typeface="MS PGothic" charset="0"/>
                <a:cs typeface="CiscoSans"/>
              </a:defRPr>
            </a:lvl5pPr>
            <a:lvl6pPr marL="863600" indent="-171450" algn="l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Char char="•"/>
              <a:defRPr sz="9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935990" indent="-171450" algn="l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Char char="•"/>
              <a:defRPr sz="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0">
              <a:buFont typeface="Arial" panose="020B0604020202020204" pitchFamily="34" charset="0"/>
              <a:buChar char="•"/>
            </a:pPr>
            <a:r>
              <a:rPr lang="pt-BR" sz="1600"/>
              <a:t>A </a:t>
            </a:r>
            <a:r>
              <a:rPr lang="pt-BR" sz="1600" b="1"/>
              <a:t>verificação da sintaxe</a:t>
            </a:r>
            <a:r>
              <a:rPr lang="pt-BR" sz="1600"/>
              <a:t> de comandos verifica se um comando válido foi inserido pelo usuário. </a:t>
            </a:r>
            <a:endParaRPr lang="pt-BR" sz="1600"/>
          </a:p>
          <a:p>
            <a:pPr lvl="2" algn="just" rtl="0"/>
            <a:r>
              <a:rPr lang="pt-BR" sz="1600"/>
              <a:t>No entanto, se o interpretador não puder entender o comando sendo inserido, ele fornecerá feedback descrevendo o que está errado com o comando.</a:t>
            </a:r>
            <a:endParaRPr lang="pt-BR" sz="1600"/>
          </a:p>
          <a:p>
            <a:pPr algn="just" rtl="0"/>
            <a:endParaRPr lang="en-US" altLang="ja-JP" sz="160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375" y="3823970"/>
            <a:ext cx="4265295" cy="69278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1370" y="3823970"/>
            <a:ext cx="4276725" cy="69405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  <p:transition spd="slow">
    <p:wip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/>
              <a:t>A estrutura de comandos </a:t>
            </a:r>
            <a:br>
              <a:rPr lang="en-US" dirty="0"/>
            </a:br>
            <a:r>
              <a:rPr lang="pt-BR"/>
              <a:t>Teclas de acesso e atalhos</a:t>
            </a: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idx="1"/>
          </p:nvPr>
        </p:nvSpPr>
        <p:spPr>
          <a:xfrm>
            <a:off x="119380" y="872490"/>
            <a:ext cx="4511675" cy="3618865"/>
          </a:xfrm>
        </p:spPr>
        <p:txBody>
          <a:bodyPr/>
          <a:lstStyle/>
          <a:p>
            <a:pPr algn="just" rtl="0">
              <a:buFont typeface="Arial" panose="020B0604020202020204" pitchFamily="34" charset="0"/>
              <a:buChar char="•"/>
            </a:pPr>
            <a:r>
              <a:rPr lang="pt-BR" sz="1850"/>
              <a:t>A </a:t>
            </a:r>
            <a:r>
              <a:rPr lang="pt-BR" sz="1850" b="1">
                <a:solidFill>
                  <a:srgbClr val="FF0000"/>
                </a:solidFill>
              </a:rPr>
              <a:t>CLI do IOS</a:t>
            </a:r>
            <a:r>
              <a:rPr lang="pt-BR" sz="1850"/>
              <a:t> fornece teclas de atalho e atalhos que facilitam a configuração, o monitoramento e a solução de problemas.</a:t>
            </a:r>
            <a:endParaRPr lang="pt-BR" sz="1850"/>
          </a:p>
          <a:p>
            <a:pPr algn="just" rtl="0">
              <a:buFont typeface="Arial" panose="020B0604020202020204" pitchFamily="34" charset="0"/>
              <a:buChar char="•"/>
            </a:pPr>
            <a:r>
              <a:rPr lang="pt-BR" sz="1850"/>
              <a:t>Os comandos e as palavras-chave </a:t>
            </a:r>
            <a:r>
              <a:rPr lang="pt-BR" sz="1850" b="1">
                <a:solidFill>
                  <a:srgbClr val="FF0000"/>
                </a:solidFill>
              </a:rPr>
              <a:t>podem ser abreviados</a:t>
            </a:r>
            <a:r>
              <a:rPr lang="pt-BR" sz="1850"/>
              <a:t> para o número mínimo de caracteres que identifica uma seleção exclusiva. Por exemplo, o comando </a:t>
            </a:r>
            <a:r>
              <a:rPr lang="pt-BR" sz="1850" b="1"/>
              <a:t>configure</a:t>
            </a:r>
            <a:r>
              <a:rPr lang="pt-BR" sz="1850"/>
              <a:t> pode ser abreviado para </a:t>
            </a:r>
            <a:r>
              <a:rPr lang="pt-BR" sz="1850" b="1"/>
              <a:t>conf</a:t>
            </a:r>
            <a:r>
              <a:rPr lang="pt-BR" sz="1850"/>
              <a:t> porque </a:t>
            </a:r>
            <a:r>
              <a:rPr lang="pt-BR" sz="1850" b="1"/>
              <a:t>configure</a:t>
            </a:r>
            <a:r>
              <a:rPr lang="pt-BR" sz="1850"/>
              <a:t> é o único comando que se inicia com </a:t>
            </a:r>
            <a:r>
              <a:rPr lang="pt-BR" sz="1850" b="1"/>
              <a:t>conf</a:t>
            </a:r>
            <a:r>
              <a:rPr lang="pt-BR" sz="1850"/>
              <a:t>.</a:t>
            </a:r>
            <a:endParaRPr lang="pt-BR" sz="1850"/>
          </a:p>
          <a:p>
            <a:pPr algn="just">
              <a:buFont typeface="Arial" panose="020B0604020202020204" pitchFamily="34" charset="0"/>
              <a:buChar char="•"/>
            </a:pPr>
            <a:endParaRPr lang="en-US" sz="1850" dirty="0"/>
          </a:p>
          <a:p>
            <a:pPr algn="just">
              <a:buFont typeface="Arial" panose="020B0604020202020204" pitchFamily="34" charset="0"/>
              <a:buChar char="•"/>
            </a:pPr>
            <a:endParaRPr lang="en-US" altLang="ja-JP" sz="185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1525" y="1003935"/>
            <a:ext cx="4413250" cy="103124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1525" y="2317750"/>
            <a:ext cx="4413885" cy="45847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  <p:transition spd="slow">
    <p:wip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/>
              <a:t>A estrutura de comandos </a:t>
            </a:r>
            <a:br>
              <a:rPr lang="en-US" dirty="0"/>
            </a:br>
            <a:r>
              <a:rPr lang="pt-BR"/>
              <a:t>Teclas de acesso e atalhos (Continuação)</a:t>
            </a: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idx="1"/>
          </p:nvPr>
        </p:nvSpPr>
        <p:spPr>
          <a:xfrm>
            <a:off x="100330" y="852805"/>
            <a:ext cx="8870950" cy="346075"/>
          </a:xfrm>
        </p:spPr>
        <p:txBody>
          <a:bodyPr/>
          <a:lstStyle/>
          <a:p>
            <a:pPr marL="0" indent="0" algn="ctr" rtl="0">
              <a:buNone/>
            </a:pPr>
            <a:r>
              <a:rPr lang="pt-BR" sz="1800"/>
              <a:t>A tabela abaixo é uma breve lista de pressionamentos de teclas para melhorar a edição da linha de comando</a:t>
            </a:r>
            <a:r>
              <a:rPr lang="pt-BR" sz="1800"/>
              <a:t>. </a:t>
            </a:r>
            <a:endParaRPr lang="pt-BR" sz="1800"/>
          </a:p>
          <a:p>
            <a:pPr marL="0" indent="0" algn="ctr" rtl="0">
              <a:buNone/>
            </a:pPr>
            <a:endParaRPr lang="en-US" altLang="ja-JP" sz="1800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0330" y="1488440"/>
          <a:ext cx="8870950" cy="3469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0050"/>
                <a:gridCol w="5930900"/>
              </a:tblGrid>
              <a:tr h="386080">
                <a:tc>
                  <a:txBody>
                    <a:bodyPr/>
                    <a:lstStyle/>
                    <a:p>
                      <a:pPr algn="ctr" rtl="0"/>
                      <a:r>
                        <a:rPr lang="pt-BR" sz="1850"/>
                        <a:t>Toque de Tecla</a:t>
                      </a:r>
                      <a:endParaRPr lang="pt-BR" sz="185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850"/>
                        <a:t>Descrição</a:t>
                      </a:r>
                      <a:endParaRPr lang="pt-BR" sz="1850"/>
                    </a:p>
                  </a:txBody>
                  <a:tcPr anchor="ctr" anchorCtr="0"/>
                </a:tc>
              </a:tr>
              <a:tr h="38608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850" b="1">
                          <a:solidFill>
                            <a:srgbClr val="FF0000"/>
                          </a:solidFill>
                          <a:effectLst/>
                        </a:rPr>
                        <a:t>Tab</a:t>
                      </a:r>
                      <a:endParaRPr lang="pt-BR" sz="1850" b="1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marL="47625" marR="47625" marT="47625" marB="47625" anchor="ctr" anchorCtr="0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850" b="0">
                          <a:effectLst/>
                        </a:rPr>
                        <a:t>Completa um nome de comando parcialmente digitado.</a:t>
                      </a:r>
                      <a:endParaRPr lang="pt-BR" sz="1850" b="0">
                        <a:effectLst/>
                      </a:endParaRPr>
                    </a:p>
                  </a:txBody>
                  <a:tcPr marL="47625" marR="47625" marT="47625" marB="47625" anchor="ctr" anchorCtr="0"/>
                </a:tc>
              </a:tr>
              <a:tr h="385445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850" b="1">
                          <a:solidFill>
                            <a:srgbClr val="00B050"/>
                          </a:solidFill>
                          <a:effectLst/>
                        </a:rPr>
                        <a:t>Backspace</a:t>
                      </a:r>
                      <a:endParaRPr lang="pt-BR" sz="1850" b="1">
                        <a:solidFill>
                          <a:srgbClr val="00B050"/>
                        </a:solidFill>
                        <a:effectLst/>
                      </a:endParaRPr>
                    </a:p>
                  </a:txBody>
                  <a:tcPr marL="47625" marR="47625" marT="47625" marB="47625" anchor="ctr" anchorCtr="0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850" b="0">
                          <a:effectLst/>
                        </a:rPr>
                        <a:t>Apaga o caractere à esquerda do cursor.</a:t>
                      </a:r>
                      <a:endParaRPr lang="pt-BR" sz="1850" b="0">
                        <a:effectLst/>
                      </a:endParaRPr>
                    </a:p>
                  </a:txBody>
                  <a:tcPr marL="47625" marR="47625" marT="47625" marB="47625" anchor="ctr" anchorCtr="0"/>
                </a:tc>
              </a:tr>
              <a:tr h="48006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850" b="1">
                          <a:solidFill>
                            <a:srgbClr val="7030A0"/>
                          </a:solidFill>
                          <a:effectLst/>
                        </a:rPr>
                        <a:t>Seta para a Esquerda</a:t>
                      </a:r>
                      <a:r>
                        <a:rPr lang="pt-BR" sz="1850" b="1">
                          <a:effectLst/>
                        </a:rPr>
                        <a:t> </a:t>
                      </a:r>
                      <a:r>
                        <a:rPr lang="pt-BR" sz="1850" b="0">
                          <a:effectLst/>
                        </a:rPr>
                        <a:t>ou</a:t>
                      </a:r>
                      <a:r>
                        <a:rPr lang="pt-BR" sz="1850" b="1">
                          <a:effectLst/>
                        </a:rPr>
                        <a:t> </a:t>
                      </a:r>
                      <a:r>
                        <a:rPr lang="pt-BR" sz="1850" b="1">
                          <a:solidFill>
                            <a:srgbClr val="7030A0"/>
                          </a:solidFill>
                          <a:effectLst/>
                        </a:rPr>
                        <a:t>Ctrl-B</a:t>
                      </a:r>
                      <a:endParaRPr lang="pt-BR" sz="1850" b="1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47625" marR="47625" marT="47625" marB="47625" anchor="ctr" anchorCtr="0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850" b="0">
                          <a:effectLst/>
                        </a:rPr>
                        <a:t>Movem o cursor um caractere para a esquerda.</a:t>
                      </a:r>
                      <a:endParaRPr lang="pt-BR" sz="1850" b="0">
                        <a:effectLst/>
                      </a:endParaRPr>
                    </a:p>
                  </a:txBody>
                  <a:tcPr marL="47625" marR="47625" marT="47625" marB="47625" anchor="ctr" anchorCtr="0"/>
                </a:tc>
              </a:tr>
              <a:tr h="479425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850" b="1">
                          <a:solidFill>
                            <a:schemeClr val="accent6">
                              <a:lumMod val="50000"/>
                            </a:schemeClr>
                          </a:solidFill>
                          <a:effectLst/>
                        </a:rPr>
                        <a:t>Seta para a Direita</a:t>
                      </a:r>
                      <a:r>
                        <a:rPr lang="pt-BR" sz="1850" b="1">
                          <a:effectLst/>
                        </a:rPr>
                        <a:t> </a:t>
                      </a:r>
                      <a:r>
                        <a:rPr lang="pt-BR" sz="1850" b="0">
                          <a:effectLst/>
                        </a:rPr>
                        <a:t>ou</a:t>
                      </a:r>
                      <a:r>
                        <a:rPr lang="pt-BR" sz="1850" b="1">
                          <a:effectLst/>
                        </a:rPr>
                        <a:t> </a:t>
                      </a:r>
                      <a:r>
                        <a:rPr lang="pt-BR" sz="1850" b="1">
                          <a:solidFill>
                            <a:schemeClr val="accent6">
                              <a:lumMod val="50000"/>
                            </a:schemeClr>
                          </a:solidFill>
                          <a:effectLst/>
                        </a:rPr>
                        <a:t>Ctrl-F</a:t>
                      </a:r>
                      <a:endParaRPr lang="pt-BR" sz="1850" b="1">
                        <a:solidFill>
                          <a:schemeClr val="accent6">
                            <a:lumMod val="50000"/>
                          </a:schemeClr>
                        </a:solidFill>
                        <a:effectLst/>
                      </a:endParaRPr>
                    </a:p>
                  </a:txBody>
                  <a:tcPr marL="47625" marR="47625" marT="47625" marB="47625" anchor="ctr" anchorCtr="0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850" b="0">
                          <a:effectLst/>
                        </a:rPr>
                        <a:t>Movem o cursor um caractere para a direita.</a:t>
                      </a:r>
                      <a:endParaRPr lang="pt-BR" sz="1850" b="0">
                        <a:effectLst/>
                      </a:endParaRPr>
                    </a:p>
                  </a:txBody>
                  <a:tcPr marL="47625" marR="47625" marT="47625" marB="47625" anchor="ctr" anchorCtr="0"/>
                </a:tc>
              </a:tr>
              <a:tr h="48006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850" b="1">
                          <a:solidFill>
                            <a:srgbClr val="0070C0"/>
                          </a:solidFill>
                          <a:effectLst/>
                        </a:rPr>
                        <a:t>Seta para Cima</a:t>
                      </a:r>
                      <a:r>
                        <a:rPr lang="pt-BR" sz="1850" b="1">
                          <a:effectLst/>
                        </a:rPr>
                        <a:t> </a:t>
                      </a:r>
                      <a:r>
                        <a:rPr lang="pt-BR" sz="1850" b="0">
                          <a:effectLst/>
                        </a:rPr>
                        <a:t>ou</a:t>
                      </a:r>
                      <a:r>
                        <a:rPr lang="pt-BR" sz="1850" b="1">
                          <a:effectLst/>
                        </a:rPr>
                        <a:t> </a:t>
                      </a:r>
                      <a:r>
                        <a:rPr lang="pt-BR" sz="1850" b="1">
                          <a:solidFill>
                            <a:srgbClr val="0070C0"/>
                          </a:solidFill>
                          <a:effectLst/>
                        </a:rPr>
                        <a:t>Ctrl-P</a:t>
                      </a:r>
                      <a:endParaRPr lang="pt-BR" sz="1850" b="1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47625" marR="47625" marT="47625" marB="47625" anchor="ctr" anchorCtr="0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850" b="0">
                          <a:effectLst/>
                        </a:rPr>
                        <a:t>Relembram os comandos no buffer de histórico, a partir dos comandos mais recentes.</a:t>
                      </a:r>
                      <a:endParaRPr lang="pt-BR" sz="1850" b="0">
                        <a:effectLst/>
                      </a:endParaRPr>
                    </a:p>
                  </a:txBody>
                  <a:tcPr marL="47625" marR="47625" marT="47625" marB="47625" anchor="ctr" anchorCtr="0"/>
                </a:tc>
              </a:tr>
            </a:tbl>
          </a:graphicData>
        </a:graphic>
      </p:graphicFrame>
    </p:spTree>
    <p:custDataLst>
      <p:tags r:id="rId1"/>
    </p:custDataLst>
  </p:cSld>
  <p:clrMapOvr>
    <a:masterClrMapping/>
  </p:clrMapOvr>
  <p:transition spd="slow">
    <p:wip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/>
              <a:t>A estrutura de comandos </a:t>
            </a:r>
            <a:br>
              <a:rPr lang="en-US" dirty="0"/>
            </a:br>
            <a:r>
              <a:rPr lang="pt-BR"/>
              <a:t>Teclas de acesso e atalhos (Continuação)</a:t>
            </a: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idx="1"/>
          </p:nvPr>
        </p:nvSpPr>
        <p:spPr>
          <a:xfrm>
            <a:off x="116205" y="852805"/>
            <a:ext cx="4374515" cy="1310640"/>
          </a:xfrm>
        </p:spPr>
        <p:txBody>
          <a:bodyPr/>
          <a:lstStyle/>
          <a:p>
            <a:pPr algn="just" rtl="0">
              <a:buFont typeface="Arial" panose="020B0604020202020204" pitchFamily="34" charset="0"/>
              <a:buChar char="•"/>
            </a:pPr>
            <a:r>
              <a:rPr lang="pt-BR" sz="1600"/>
              <a:t>Quando uma saída de comando produz mais texto do que pode ser exibido em uma janela de terminal, o IOS exibirá um prompt </a:t>
            </a:r>
            <a:r>
              <a:rPr lang="pt-BR" sz="1600" b="1">
                <a:solidFill>
                  <a:srgbClr val="FF0000"/>
                </a:solidFill>
              </a:rPr>
              <a:t>“—More—”</a:t>
            </a:r>
            <a:r>
              <a:rPr lang="pt-BR" sz="1600"/>
              <a:t> . A tabela abaixo descreve os pressionamentos de teclas que podem ser usados quando esse prompt é exibido.</a:t>
            </a:r>
            <a:endParaRPr lang="pt-BR" sz="1600"/>
          </a:p>
        </p:txBody>
      </p:sp>
      <p:sp>
        <p:nvSpPr>
          <p:cNvPr id="7" name="Rectangle 6"/>
          <p:cNvSpPr txBox="1">
            <a:spLocks noChangeArrowheads="1"/>
          </p:cNvSpPr>
          <p:nvPr/>
        </p:nvSpPr>
        <p:spPr bwMode="auto">
          <a:xfrm>
            <a:off x="4572635" y="852805"/>
            <a:ext cx="4408805" cy="7575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182880" bIns="45720" numCol="1" anchor="t" anchorCtr="0" compatLnSpc="1"/>
          <a:lstStyle>
            <a:lvl1pPr marL="170180" indent="-170180" algn="l" defTabSz="684530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§"/>
              <a:defRPr lang="en-US" sz="15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1pPr>
            <a:lvl2pPr marL="358775" indent="-215900" algn="l" defTabSz="684530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4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2pPr>
            <a:lvl3pPr marL="431800" indent="-170180" algn="l" defTabSz="684530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3pPr>
            <a:lvl4pPr marL="503555" indent="-170180" algn="l" defTabSz="684530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lang="en-US" sz="11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4pPr>
            <a:lvl5pPr marL="574675" indent="-170180" algn="l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lang="en-US" sz="1100" kern="1200" dirty="0">
                <a:solidFill>
                  <a:schemeClr val="tx1"/>
                </a:solidFill>
                <a:latin typeface="+mn-lt"/>
                <a:ea typeface="MS PGothic" charset="0"/>
                <a:cs typeface="CiscoSans"/>
              </a:defRPr>
            </a:lvl5pPr>
            <a:lvl6pPr marL="863600" indent="-171450" algn="l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Char char="•"/>
              <a:defRPr sz="9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935990" indent="-171450" algn="l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Char char="•"/>
              <a:defRPr sz="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0">
              <a:buFont typeface="Arial" panose="020B0604020202020204" pitchFamily="34" charset="0"/>
              <a:buChar char="•"/>
            </a:pPr>
            <a:r>
              <a:rPr lang="pt-BR" sz="1600"/>
              <a:t>A tabela abaixo lista comandos que podem ser usados para sair de uma operação.</a:t>
            </a:r>
            <a:endParaRPr lang="pt-BR" sz="160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635" y="2642235"/>
          <a:ext cx="4408805" cy="2000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4765"/>
                <a:gridCol w="3114040"/>
              </a:tblGrid>
              <a:tr h="274320"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Toque de tecla</a:t>
                      </a:r>
                      <a:endParaRPr lang="pt-BR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Descrição</a:t>
                      </a:r>
                      <a:endParaRPr lang="pt-BR" sz="1200"/>
                    </a:p>
                  </a:txBody>
                  <a:tcPr/>
                </a:tc>
              </a:tr>
              <a:tr h="502075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600" b="1">
                          <a:solidFill>
                            <a:srgbClr val="FF0000"/>
                          </a:solidFill>
                          <a:effectLst/>
                        </a:rPr>
                        <a:t>Ctrl-C</a:t>
                      </a:r>
                      <a:endParaRPr lang="pt-BR" sz="1600" b="1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050" b="0">
                          <a:effectLst/>
                        </a:rPr>
                        <a:t>Em qualquer modo de configuração, finaliza o modo de configuração e retorna ao modo EXEC privilegiado. </a:t>
                      </a:r>
                      <a:endParaRPr lang="pt-BR" sz="1050" b="0">
                        <a:effectLst/>
                      </a:endParaRPr>
                    </a:p>
                  </a:txBody>
                  <a:tcPr marL="47625" marR="47625" marT="47625" marB="47625" anchor="ctr"/>
                </a:tc>
              </a:tr>
              <a:tr h="476164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600" b="1">
                          <a:solidFill>
                            <a:srgbClr val="00B050"/>
                          </a:solidFill>
                          <a:effectLst/>
                        </a:rPr>
                        <a:t>Ctrl-Z</a:t>
                      </a:r>
                      <a:endParaRPr lang="pt-BR" sz="1600" b="1">
                        <a:solidFill>
                          <a:srgbClr val="00B050"/>
                        </a:solidFill>
                        <a:effectLst/>
                      </a:endParaRP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050" b="0">
                          <a:effectLst/>
                        </a:rPr>
                        <a:t>Em qualquer modo de configuração, finaliza o modo de configuração e retorna ao modo EXEC privilegiado.</a:t>
                      </a:r>
                      <a:endParaRPr lang="pt-BR" sz="1050" b="0">
                        <a:effectLst/>
                      </a:endParaRPr>
                    </a:p>
                  </a:txBody>
                  <a:tcPr marL="47625" marR="47625" marT="47625" marB="47625" anchor="ctr"/>
                </a:tc>
              </a:tr>
              <a:tr h="476164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600" b="1">
                          <a:solidFill>
                            <a:srgbClr val="7030A0"/>
                          </a:solidFill>
                          <a:effectLst/>
                        </a:rPr>
                        <a:t>Ctrl-Shift-6</a:t>
                      </a:r>
                      <a:endParaRPr lang="pt-BR" sz="1600" b="1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050" b="1">
                          <a:solidFill>
                            <a:srgbClr val="FF0000"/>
                          </a:solidFill>
                          <a:effectLst/>
                        </a:rPr>
                        <a:t>Sequência de quebra para todas as finalidades usada para abortar pesquisas DNS, traceroutes, pings, etc.</a:t>
                      </a:r>
                      <a:endParaRPr lang="pt-BR" sz="1050" b="1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marL="47625" marR="47625" marT="47625" marB="47625" anchor="ctr"/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16205" y="2642235"/>
          <a:ext cx="4373880" cy="1998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945"/>
                <a:gridCol w="2654935"/>
              </a:tblGrid>
              <a:tr h="307340"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Toque de tecla</a:t>
                      </a:r>
                      <a:endParaRPr lang="pt-BR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Descrição</a:t>
                      </a:r>
                      <a:endParaRPr lang="pt-BR" sz="1200"/>
                    </a:p>
                  </a:txBody>
                  <a:tcPr/>
                </a:tc>
              </a:tr>
              <a:tr h="56261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600" b="0">
                          <a:effectLst/>
                        </a:rPr>
                        <a:t>Tecla</a:t>
                      </a:r>
                      <a:r>
                        <a:rPr lang="pt-BR" sz="1600" b="1">
                          <a:effectLst/>
                        </a:rPr>
                        <a:t> </a:t>
                      </a:r>
                      <a:r>
                        <a:rPr lang="pt-BR" sz="1600" b="1">
                          <a:solidFill>
                            <a:srgbClr val="FF0000"/>
                          </a:solidFill>
                          <a:effectLst/>
                        </a:rPr>
                        <a:t>Enter</a:t>
                      </a:r>
                      <a:endParaRPr lang="pt-BR" sz="1600" b="1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050" b="0">
                          <a:effectLst/>
                        </a:rPr>
                        <a:t>Exibe a próxima linha.</a:t>
                      </a:r>
                      <a:endParaRPr lang="pt-BR" sz="1050" b="0">
                        <a:effectLst/>
                      </a:endParaRPr>
                    </a:p>
                  </a:txBody>
                  <a:tcPr marL="47625" marR="47625" marT="47625" marB="47625" anchor="ctr"/>
                </a:tc>
              </a:tr>
              <a:tr h="53340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600" b="1">
                          <a:solidFill>
                            <a:srgbClr val="00B050"/>
                          </a:solidFill>
                          <a:effectLst/>
                        </a:rPr>
                        <a:t>Barra de Espaço</a:t>
                      </a:r>
                      <a:endParaRPr lang="pt-BR" sz="1600" b="1">
                        <a:solidFill>
                          <a:srgbClr val="00B050"/>
                        </a:solidFill>
                        <a:effectLst/>
                      </a:endParaRP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050" b="0">
                          <a:effectLst/>
                        </a:rPr>
                        <a:t>Exibe a próxima tela.</a:t>
                      </a:r>
                      <a:endParaRPr lang="pt-BR" sz="1050" b="0">
                        <a:effectLst/>
                      </a:endParaRPr>
                    </a:p>
                  </a:txBody>
                  <a:tcPr marL="47625" marR="47625" marT="47625" marB="47625" anchor="ctr"/>
                </a:tc>
              </a:tr>
              <a:tr h="594995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600" b="1">
                          <a:solidFill>
                            <a:srgbClr val="0070C0"/>
                          </a:solidFill>
                          <a:effectLst/>
                        </a:rPr>
                        <a:t>Qualquer outra chave</a:t>
                      </a:r>
                      <a:endParaRPr lang="pt-BR" sz="1600" b="1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050" b="0">
                          <a:effectLst/>
                        </a:rPr>
                        <a:t>Encerra a sequência de exibição, retornando ao modo EXEC privilegiado.</a:t>
                      </a:r>
                      <a:endParaRPr lang="pt-BR" sz="1050" b="0">
                        <a:effectLst/>
                      </a:endParaRPr>
                    </a:p>
                  </a:txBody>
                  <a:tcPr marL="47625" marR="47625" marT="47625" marB="47625" anchor="ctr"/>
                </a:tc>
              </a:tr>
            </a:tbl>
          </a:graphicData>
        </a:graphic>
      </p:graphicFrame>
    </p:spTree>
    <p:custDataLst>
      <p:tags r:id="rId1"/>
    </p:custDataLst>
  </p:cSld>
  <p:clrMapOvr>
    <a:masterClrMapping/>
  </p:clrMapOvr>
  <p:transition spd="slow">
    <p:wip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1788160"/>
            <a:ext cx="8280314" cy="929640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2.4 - Configuração Básica do Dispositivo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>
                <a:latin typeface="Arial" panose="020B0604020202020204" pitchFamily="34" charset="0"/>
              </a:rPr>
              <a:t>Configuração Básica do Dispositivo - </a:t>
            </a:r>
            <a:br>
              <a:rPr lang="en-US" dirty="0">
                <a:latin typeface="Arial" panose="020B0604020202020204" pitchFamily="34" charset="0"/>
              </a:rPr>
            </a:br>
            <a:r>
              <a:rPr lang="pt-BR">
                <a:latin typeface="Arial" panose="020B0604020202020204" pitchFamily="34" charset="0"/>
              </a:rPr>
              <a:t>Nomes de dispositivos</a:t>
            </a:r>
            <a:endParaRPr lang="pt-BR">
              <a:latin typeface="Arial" panose="020B0604020202020204" pitchFamily="3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277839" y="855701"/>
            <a:ext cx="5920163" cy="1102977"/>
          </a:xfrm>
        </p:spPr>
        <p:txBody>
          <a:bodyPr/>
          <a:lstStyle/>
          <a:p>
            <a:pPr rtl="0">
              <a:lnSpc>
                <a:spcPct val="85000"/>
              </a:lnSpc>
              <a:spcBef>
                <a:spcPct val="30000"/>
              </a:spcBef>
              <a:buFont typeface="Arial" panose="020B0604020202020204" pitchFamily="34" charset="0"/>
              <a:buChar char="•"/>
            </a:pPr>
            <a:r>
              <a:rPr lang="pt-BR" sz="1600"/>
              <a:t>O primeiro comando de configuração em qualquer dispositivo deve ser dar a ele um nome de host exclusivo. </a:t>
            </a:r>
            <a:endParaRPr lang="pt-BR" sz="1600"/>
          </a:p>
          <a:p>
            <a:pPr rtl="0">
              <a:buFont typeface="Arial" panose="020B0604020202020204" pitchFamily="34" charset="0"/>
              <a:buChar char="•"/>
            </a:pPr>
            <a:r>
              <a:rPr lang="pt-BR" sz="1600"/>
              <a:t>Por padrão, todos os dispositivos recebem um nome padrão de fábrica. Por exemplo, um switch Cisco IOS é “Switch”.</a:t>
            </a:r>
            <a:endParaRPr lang="pt-BR" sz="160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0" name="Content Placeholder 3"/>
          <p:cNvSpPr txBox="1"/>
          <p:nvPr/>
        </p:nvSpPr>
        <p:spPr bwMode="auto">
          <a:xfrm>
            <a:off x="277838" y="2106592"/>
            <a:ext cx="4202721" cy="2251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182880" bIns="45720" numCol="1" anchor="t" anchorCtr="0" compatLnSpc="1"/>
          <a:lstStyle>
            <a:lvl1pPr marL="170180" indent="-170180" algn="l" defTabSz="684530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§"/>
              <a:defRPr lang="en-US" sz="15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1pPr>
            <a:lvl2pPr marL="358775" indent="-215900" algn="l" defTabSz="684530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4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2pPr>
            <a:lvl3pPr marL="431800" indent="-170180" algn="l" defTabSz="684530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3pPr>
            <a:lvl4pPr marL="503555" indent="-170180" algn="l" defTabSz="684530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lang="en-US" sz="11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4pPr>
            <a:lvl5pPr marL="574675" indent="-170180" algn="l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lang="en-US" sz="1100" kern="1200" dirty="0">
                <a:solidFill>
                  <a:schemeClr val="tx1"/>
                </a:solidFill>
                <a:latin typeface="+mn-lt"/>
                <a:ea typeface="MS PGothic" charset="0"/>
                <a:cs typeface="CiscoSans"/>
              </a:defRPr>
            </a:lvl5pPr>
            <a:lvl6pPr marL="863600" indent="-171450" algn="l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Char char="•"/>
              <a:defRPr sz="9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935990" indent="-171450" algn="l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Char char="•"/>
              <a:defRPr sz="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buFont typeface="Arial" panose="020B0604020202020204" pitchFamily="34" charset="0"/>
              <a:buChar char="•"/>
            </a:pPr>
            <a:r>
              <a:rPr lang="pt-BR" sz="1600"/>
              <a:t>Diretriz para dispositivos de nomeação:</a:t>
            </a:r>
            <a:endParaRPr lang="pt-BR" sz="1600"/>
          </a:p>
          <a:p>
            <a:pPr lvl="2" rtl="0">
              <a:buFont typeface="Arial" panose="020B0604020202020204" pitchFamily="34" charset="0"/>
              <a:buChar char="•"/>
            </a:pPr>
            <a:r>
              <a:rPr lang="pt-BR" sz="1600"/>
              <a:t>Começar com uma letra</a:t>
            </a:r>
            <a:endParaRPr lang="pt-BR" sz="1600"/>
          </a:p>
          <a:p>
            <a:pPr lvl="2" rtl="0">
              <a:buFont typeface="Arial" panose="020B0604020202020204" pitchFamily="34" charset="0"/>
              <a:buChar char="•"/>
            </a:pPr>
            <a:r>
              <a:rPr lang="pt-BR" sz="1600"/>
              <a:t>Não conter espaços</a:t>
            </a:r>
            <a:endParaRPr lang="pt-BR" sz="1600"/>
          </a:p>
          <a:p>
            <a:pPr lvl="2" rtl="0">
              <a:buFont typeface="Arial" panose="020B0604020202020204" pitchFamily="34" charset="0"/>
              <a:buChar char="•"/>
            </a:pPr>
            <a:r>
              <a:rPr lang="pt-BR" sz="1600"/>
              <a:t>Terminar com uma letra ou dígito</a:t>
            </a:r>
            <a:endParaRPr lang="pt-BR" sz="1600"/>
          </a:p>
          <a:p>
            <a:pPr lvl="2" rtl="0">
              <a:buFont typeface="Arial" panose="020B0604020202020204" pitchFamily="34" charset="0"/>
              <a:buChar char="•"/>
            </a:pPr>
            <a:r>
              <a:rPr lang="pt-BR" sz="1600"/>
              <a:t>Usar somente letras, números e traços</a:t>
            </a:r>
            <a:endParaRPr lang="pt-BR" sz="1600"/>
          </a:p>
          <a:p>
            <a:pPr lvl="2" rtl="0">
              <a:buFont typeface="Arial" panose="020B0604020202020204" pitchFamily="34" charset="0"/>
              <a:buChar char="•"/>
            </a:pPr>
            <a:r>
              <a:rPr lang="pt-BR" sz="1600"/>
              <a:t>Ter menos de 64 caracteres</a:t>
            </a:r>
            <a:endParaRPr lang="pt-BR" sz="160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5068861" y="3310870"/>
            <a:ext cx="3613440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pt-BR" sz="1500" b="1">
                <a:solidFill>
                  <a:srgbClr val="000000"/>
                </a:solidFill>
              </a:rPr>
              <a:t>Nota</a:t>
            </a:r>
            <a:r>
              <a:rPr lang="pt-BR" sz="1500">
                <a:solidFill>
                  <a:srgbClr val="000000"/>
                </a:solidFill>
              </a:rPr>
              <a:t>: Para retornar o switch ao prompt padrão, use o comando </a:t>
            </a:r>
            <a:r>
              <a:rPr lang="pt-BR" sz="1500" b="1">
                <a:solidFill>
                  <a:srgbClr val="000000"/>
                </a:solidFill>
              </a:rPr>
              <a:t> no hostname</a:t>
            </a:r>
            <a:r>
              <a:rPr lang="pt-BR" sz="1500">
                <a:solidFill>
                  <a:srgbClr val="000000"/>
                </a:solidFill>
              </a:rPr>
              <a:t> global config</a:t>
            </a:r>
            <a:r>
              <a:rPr lang="pt-BR" sz="1500" b="1">
                <a:solidFill>
                  <a:srgbClr val="000000"/>
                </a:solidFill>
              </a:rPr>
              <a:t>.</a:t>
            </a:r>
            <a:endParaRPr lang="pt-BR" sz="1500" b="1">
              <a:solidFill>
                <a:srgbClr val="000000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99340" y="2342912"/>
            <a:ext cx="3797300" cy="6223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p:transition spd="slow">
    <p:wip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>
                <a:latin typeface="Arial" panose="020B0604020202020204" pitchFamily="34" charset="0"/>
              </a:rPr>
              <a:t>Diretrizes desenha</a:t>
            </a:r>
            <a:r>
              <a:rPr lang="pt-BR" sz="1600">
                <a:latin typeface="Arial" panose="020B0604020202020204" pitchFamily="34" charset="0"/>
              </a:rPr>
              <a:t>de configuração básica do dispositivo</a:t>
            </a:r>
            <a:endParaRPr lang="pt-BR" sz="1600">
              <a:latin typeface="Arial" panose="020B0604020202020204" pitchFamily="3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45357" y="938988"/>
            <a:ext cx="8602403" cy="1015663"/>
          </a:xfrm>
        </p:spPr>
        <p:txBody>
          <a:bodyPr/>
          <a:lstStyle/>
          <a:p>
            <a:pPr rtl="0">
              <a:lnSpc>
                <a:spcPct val="85000"/>
              </a:lnSpc>
              <a:spcBef>
                <a:spcPct val="30000"/>
              </a:spcBef>
              <a:buFont typeface="Arial" panose="020B0604020202020204" pitchFamily="34" charset="0"/>
              <a:buChar char="•"/>
            </a:pPr>
            <a:r>
              <a:rPr lang="pt-BR" sz="1600"/>
              <a:t>O uso de senhas fracas ou facilmente adivinhadas é uma preocupação de segurança.</a:t>
            </a:r>
            <a:endParaRPr lang="pt-BR" sz="1600"/>
          </a:p>
          <a:p>
            <a:pPr rtl="0">
              <a:lnSpc>
                <a:spcPct val="85000"/>
              </a:lnSpc>
              <a:spcBef>
                <a:spcPct val="30000"/>
              </a:spcBef>
              <a:buFont typeface="Arial" panose="020B0604020202020204" pitchFamily="34" charset="0"/>
              <a:buChar char="•"/>
            </a:pPr>
            <a:r>
              <a:rPr lang="pt-BR" sz="1600"/>
              <a:t>Todos os dispositivos de rede devem limitar o acesso administrativo protegendo EXEC privilegiado, EXEC de usuário e acesso remoto Telnet com senhas. Além disso, todas as senhas devem ser criptografadas e notificações legais fornecidas.</a:t>
            </a:r>
            <a:endParaRPr lang="pt-BR" sz="1600"/>
          </a:p>
        </p:txBody>
      </p:sp>
      <p:sp>
        <p:nvSpPr>
          <p:cNvPr id="5" name="Content Placeholder 3"/>
          <p:cNvSpPr txBox="1"/>
          <p:nvPr/>
        </p:nvSpPr>
        <p:spPr bwMode="auto">
          <a:xfrm>
            <a:off x="236797" y="2099935"/>
            <a:ext cx="4933719" cy="26466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182880" bIns="45720" numCol="1" anchor="t" anchorCtr="0" compatLnSpc="1"/>
          <a:lstStyle>
            <a:lvl1pPr marL="170180" indent="-170180" algn="l" defTabSz="684530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§"/>
              <a:defRPr lang="en-US" sz="15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1pPr>
            <a:lvl2pPr marL="358775" indent="-215900" algn="l" defTabSz="684530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4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2pPr>
            <a:lvl3pPr marL="431800" indent="-170180" algn="l" defTabSz="684530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3pPr>
            <a:lvl4pPr marL="503555" indent="-170180" algn="l" defTabSz="684530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lang="en-US" sz="11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4pPr>
            <a:lvl5pPr marL="574675" indent="-170180" algn="l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lang="en-US" sz="1100" kern="1200" dirty="0">
                <a:solidFill>
                  <a:schemeClr val="tx1"/>
                </a:solidFill>
                <a:latin typeface="+mn-lt"/>
                <a:ea typeface="MS PGothic" charset="0"/>
                <a:cs typeface="CiscoSans"/>
              </a:defRPr>
            </a:lvl5pPr>
            <a:lvl6pPr marL="863600" indent="-171450" algn="l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Char char="•"/>
              <a:defRPr sz="9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935990" indent="-171450" algn="l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Char char="•"/>
              <a:defRPr sz="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buFont typeface="Arial" panose="020B0604020202020204" pitchFamily="34" charset="0"/>
              <a:buChar char="•"/>
            </a:pPr>
            <a:r>
              <a:rPr lang="pt-BR" sz="1600"/>
              <a:t>Diretrizes de senha </a:t>
            </a:r>
            <a:endParaRPr lang="pt-BR" sz="1600"/>
          </a:p>
          <a:p>
            <a:pPr lvl="2" rtl="0">
              <a:buFont typeface="Arial" panose="020B0604020202020204" pitchFamily="34" charset="0"/>
              <a:buChar char="•"/>
            </a:pPr>
            <a:r>
              <a:rPr lang="pt-BR" sz="1600"/>
              <a:t>Use senhas com mais de oito caracteres.</a:t>
            </a:r>
            <a:endParaRPr lang="pt-BR" sz="1600"/>
          </a:p>
          <a:p>
            <a:pPr lvl="2" rtl="0">
              <a:buFont typeface="Arial" panose="020B0604020202020204" pitchFamily="34" charset="0"/>
              <a:buChar char="•"/>
            </a:pPr>
            <a:r>
              <a:rPr lang="pt-BR" sz="1600"/>
              <a:t>Use uma combinação de letras maiúsculas e minúsculas, números, caracteres especiais e/ou sequências numéricas.</a:t>
            </a:r>
            <a:endParaRPr lang="pt-BR" sz="1600"/>
          </a:p>
          <a:p>
            <a:pPr lvl="2" rtl="0">
              <a:buFont typeface="Arial" panose="020B0604020202020204" pitchFamily="34" charset="0"/>
              <a:buChar char="•"/>
            </a:pPr>
            <a:r>
              <a:rPr lang="pt-BR" sz="1600"/>
              <a:t>Evite usar a mesma senha para todos os dispositivos.</a:t>
            </a:r>
            <a:endParaRPr lang="pt-BR" sz="1600"/>
          </a:p>
          <a:p>
            <a:pPr lvl="2" rtl="0">
              <a:buFont typeface="Arial" panose="020B0604020202020204" pitchFamily="34" charset="0"/>
              <a:buChar char="•"/>
            </a:pPr>
            <a:r>
              <a:rPr lang="pt-BR" sz="1600"/>
              <a:t>Não use palavras comuns, pois é fácil adivinhá-las.</a:t>
            </a:r>
            <a:endParaRPr lang="pt-BR" sz="1600"/>
          </a:p>
        </p:txBody>
      </p:sp>
      <p:sp>
        <p:nvSpPr>
          <p:cNvPr id="2" name="Rectangle 1"/>
          <p:cNvSpPr/>
          <p:nvPr/>
        </p:nvSpPr>
        <p:spPr>
          <a:xfrm>
            <a:off x="5098473" y="3508289"/>
            <a:ext cx="4045527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rtl="0"/>
            <a:r>
              <a:rPr lang="pt-BR" sz="1400">
                <a:solidFill>
                  <a:srgbClr val="000000"/>
                </a:solidFill>
                <a:latin typeface="CiscoSans"/>
              </a:rPr>
              <a:t>Observação</a:t>
            </a:r>
            <a:r>
              <a:rPr lang="pt-BR" sz="1400" b="1">
                <a:solidFill>
                  <a:srgbClr val="000000"/>
                </a:solidFill>
                <a:latin typeface="CiscoSans"/>
              </a:rPr>
              <a:t>: a maioria dos laboratórios neste curso usa senhas simples, como </a:t>
            </a:r>
            <a:r>
              <a:rPr lang="pt-BR" sz="1400">
                <a:solidFill>
                  <a:srgbClr val="000000"/>
                </a:solidFill>
                <a:latin typeface="CiscoSans"/>
              </a:rPr>
              <a:t> cisco</a:t>
            </a:r>
            <a:r>
              <a:rPr lang="pt-BR" sz="1400" b="1">
                <a:solidFill>
                  <a:srgbClr val="000000"/>
                </a:solidFill>
                <a:latin typeface="CiscoSans"/>
              </a:rPr>
              <a:t> ou </a:t>
            </a:r>
            <a:r>
              <a:rPr lang="pt-BR" sz="1400">
                <a:solidFill>
                  <a:srgbClr val="000000"/>
                </a:solidFill>
                <a:latin typeface="CiscoSans"/>
              </a:rPr>
              <a:t>class. Essas senhas são consideradas fracas e facilmente adivinháveis e devem ser evitadas nos ambientes de produção.</a:t>
            </a:r>
            <a:endParaRPr lang="pt-BR" sz="1400">
              <a:solidFill>
                <a:srgbClr val="000000"/>
              </a:solidFill>
              <a:latin typeface="CiscoSans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0760" y="2045670"/>
            <a:ext cx="13716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2"/>
    </p:custDataLst>
  </p:cSld>
  <p:clrMapOvr>
    <a:masterClrMapping/>
  </p:clrMapOvr>
  <p:transition spd="slow">
    <p:wip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>
                <a:latin typeface="Arial" panose="020B0604020202020204" pitchFamily="34" charset="0"/>
              </a:rPr>
              <a:t>Configuração básica do dispositivo</a:t>
            </a:r>
            <a:br>
              <a:rPr lang="en-US" dirty="0">
                <a:latin typeface="Arial" panose="020B0604020202020204" pitchFamily="34" charset="0"/>
              </a:rPr>
            </a:br>
            <a:r>
              <a:rPr lang="pt-BR">
                <a:latin typeface="Arial" panose="020B0604020202020204" pitchFamily="34" charset="0"/>
              </a:rPr>
              <a:t>configurar senhas</a:t>
            </a:r>
            <a:endParaRPr lang="pt-BR">
              <a:latin typeface="Arial" panose="020B0604020202020204" pitchFamily="3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45356" y="938987"/>
            <a:ext cx="4426644" cy="1865173"/>
          </a:xfrm>
        </p:spPr>
        <p:txBody>
          <a:bodyPr/>
          <a:lstStyle/>
          <a:p>
            <a:pPr marL="0" indent="0" rtl="0">
              <a:lnSpc>
                <a:spcPct val="85000"/>
              </a:lnSpc>
              <a:spcBef>
                <a:spcPct val="30000"/>
              </a:spcBef>
              <a:buNone/>
            </a:pPr>
            <a:r>
              <a:rPr lang="pt-BR"/>
              <a:t>Acesso seguro ao modo EXEC do usuário.</a:t>
            </a:r>
            <a:endParaRPr lang="pt-BR"/>
          </a:p>
          <a:p>
            <a:pPr lvl="2" rtl="0">
              <a:lnSpc>
                <a:spcPct val="85000"/>
              </a:lnSpc>
              <a:spcBef>
                <a:spcPct val="30000"/>
              </a:spcBef>
            </a:pPr>
            <a:r>
              <a:rPr lang="pt-BR" sz="1400"/>
              <a:t>Primeiro, entre no modo de configuração do console de linha usando o comando </a:t>
            </a:r>
            <a:r>
              <a:rPr lang="pt-BR" sz="1400" b="1"/>
              <a:t>line console 0</a:t>
            </a:r>
            <a:r>
              <a:rPr lang="pt-BR" sz="1400"/>
              <a:t> no modo de configuração global.</a:t>
            </a:r>
            <a:endParaRPr lang="pt-BR" sz="1400"/>
          </a:p>
          <a:p>
            <a:pPr lvl="2" rtl="0">
              <a:lnSpc>
                <a:spcPct val="85000"/>
              </a:lnSpc>
              <a:spcBef>
                <a:spcPct val="30000"/>
              </a:spcBef>
            </a:pPr>
            <a:r>
              <a:rPr lang="pt-BR" sz="1400"/>
              <a:t>Em seguida, especifique a senha do modo EXEC usuário com o comando </a:t>
            </a:r>
            <a:r>
              <a:rPr lang="pt-BR" sz="1400" b="1"/>
              <a:t>password </a:t>
            </a:r>
            <a:r>
              <a:rPr lang="pt-BR" sz="1400" i="1"/>
              <a:t>password</a:t>
            </a:r>
            <a:r>
              <a:rPr lang="pt-BR" sz="1400"/>
              <a:t>. </a:t>
            </a:r>
            <a:endParaRPr lang="pt-BR" sz="1400"/>
          </a:p>
          <a:p>
            <a:pPr lvl="2" rtl="0">
              <a:lnSpc>
                <a:spcPct val="85000"/>
              </a:lnSpc>
              <a:spcBef>
                <a:spcPct val="30000"/>
              </a:spcBef>
            </a:pPr>
            <a:r>
              <a:rPr lang="pt-BR" sz="1400"/>
              <a:t>Por fim, use o comando </a:t>
            </a:r>
            <a:r>
              <a:rPr lang="pt-BR" sz="1400" b="1"/>
              <a:t>login</a:t>
            </a:r>
            <a:r>
              <a:rPr lang="pt-BR" sz="1400"/>
              <a:t> para permitir o acesso ao EXEC usuário.</a:t>
            </a:r>
            <a:endParaRPr lang="pt-BR" sz="1400"/>
          </a:p>
        </p:txBody>
      </p:sp>
      <p:sp>
        <p:nvSpPr>
          <p:cNvPr id="5" name="Content Placeholder 3"/>
          <p:cNvSpPr txBox="1"/>
          <p:nvPr/>
        </p:nvSpPr>
        <p:spPr bwMode="auto">
          <a:xfrm>
            <a:off x="145356" y="2944203"/>
            <a:ext cx="4426644" cy="10791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182880" bIns="45720" numCol="1" anchor="t" anchorCtr="0" compatLnSpc="1"/>
          <a:lstStyle>
            <a:lvl1pPr marL="170180" indent="-170180" algn="l" defTabSz="684530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§"/>
              <a:defRPr lang="en-US" sz="15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1pPr>
            <a:lvl2pPr marL="358775" indent="-215900" algn="l" defTabSz="684530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4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2pPr>
            <a:lvl3pPr marL="431800" indent="-170180" algn="l" defTabSz="684530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3pPr>
            <a:lvl4pPr marL="503555" indent="-170180" algn="l" defTabSz="684530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lang="en-US" sz="11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4pPr>
            <a:lvl5pPr marL="574675" indent="-170180" algn="l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lang="en-US" sz="1100" kern="1200" dirty="0">
                <a:solidFill>
                  <a:schemeClr val="tx1"/>
                </a:solidFill>
                <a:latin typeface="+mn-lt"/>
                <a:ea typeface="MS PGothic" charset="0"/>
                <a:cs typeface="CiscoSans"/>
              </a:defRPr>
            </a:lvl5pPr>
            <a:lvl6pPr marL="863600" indent="-171450" algn="l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Char char="•"/>
              <a:defRPr sz="9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935990" indent="-171450" algn="l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Char char="•"/>
              <a:defRPr sz="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rtl="0">
              <a:lnSpc>
                <a:spcPct val="85000"/>
              </a:lnSpc>
              <a:spcBef>
                <a:spcPct val="30000"/>
              </a:spcBef>
              <a:buNone/>
            </a:pPr>
            <a:r>
              <a:rPr lang="pt-BR" sz="1600"/>
              <a:t>Protegendo o acesso privilegiado no modo EXEC:</a:t>
            </a:r>
            <a:endParaRPr lang="pt-BR" sz="1600"/>
          </a:p>
          <a:p>
            <a:pPr lvl="2" rtl="0">
              <a:lnSpc>
                <a:spcPct val="85000"/>
              </a:lnSpc>
              <a:spcBef>
                <a:spcPct val="30000"/>
              </a:spcBef>
            </a:pPr>
            <a:r>
              <a:rPr lang="pt-BR" sz="1300"/>
              <a:t> Primeiro entre no modo de configuração global.</a:t>
            </a:r>
            <a:endParaRPr lang="pt-BR" sz="1300"/>
          </a:p>
          <a:p>
            <a:pPr lvl="2" rtl="0">
              <a:lnSpc>
                <a:spcPct val="85000"/>
              </a:lnSpc>
              <a:spcBef>
                <a:spcPct val="30000"/>
              </a:spcBef>
            </a:pPr>
            <a:r>
              <a:rPr lang="pt-BR" sz="1300"/>
              <a:t> Em seguida, use o comando </a:t>
            </a:r>
            <a:r>
              <a:rPr lang="pt-BR" sz="1300" b="1"/>
              <a:t>enable secret</a:t>
            </a:r>
            <a:r>
              <a:rPr lang="pt-BR" sz="1300" i="1"/>
              <a:t>password</a:t>
            </a:r>
            <a:r>
              <a:rPr lang="pt-BR" sz="1300"/>
              <a:t> . </a:t>
            </a:r>
            <a:endParaRPr lang="pt-BR" sz="13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4403" y="1223873"/>
            <a:ext cx="3937000" cy="11049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403" y="2944203"/>
            <a:ext cx="3937000" cy="7620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  <p:transition spd="slow">
    <p:wip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>
                <a:latin typeface="Arial" panose="020B0604020202020204" pitchFamily="34" charset="0"/>
              </a:rPr>
              <a:t>Configuração básica do dispositivo</a:t>
            </a:r>
            <a:br>
              <a:rPr lang="en-US" dirty="0">
                <a:latin typeface="Arial" panose="020B0604020202020204" pitchFamily="34" charset="0"/>
              </a:rPr>
            </a:br>
            <a:r>
              <a:rPr lang="pt-BR">
                <a:latin typeface="Arial" panose="020B0604020202020204" pitchFamily="34" charset="0"/>
              </a:rPr>
              <a:t>configurar senhas</a:t>
            </a:r>
            <a:endParaRPr lang="pt-BR">
              <a:latin typeface="Arial" panose="020B0604020202020204" pitchFamily="3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45356" y="938987"/>
            <a:ext cx="4426644" cy="1865173"/>
          </a:xfrm>
        </p:spPr>
        <p:txBody>
          <a:bodyPr/>
          <a:lstStyle/>
          <a:p>
            <a:pPr marL="0" indent="0" rtl="0">
              <a:lnSpc>
                <a:spcPct val="85000"/>
              </a:lnSpc>
              <a:spcBef>
                <a:spcPct val="30000"/>
              </a:spcBef>
              <a:buNone/>
            </a:pPr>
            <a:r>
              <a:rPr lang="pt-BR" sz="1600"/>
              <a:t>Protegendo o acesso à linha VTY:</a:t>
            </a:r>
            <a:endParaRPr lang="pt-BR" sz="1600"/>
          </a:p>
          <a:p>
            <a:pPr lvl="2" rtl="0">
              <a:lnSpc>
                <a:spcPct val="85000"/>
              </a:lnSpc>
              <a:spcBef>
                <a:spcPct val="30000"/>
              </a:spcBef>
            </a:pPr>
            <a:r>
              <a:rPr lang="pt-BR" sz="1600"/>
              <a:t>Primeiro entre no modo de configuração VTY de </a:t>
            </a:r>
            <a:r>
              <a:rPr lang="pt-BR" sz="1600" b="1"/>
              <a:t>linha usando o comando line vty 0 15 </a:t>
            </a:r>
            <a:r>
              <a:rPr lang="pt-BR" sz="1600"/>
              <a:t>no modo de configuração global.</a:t>
            </a:r>
            <a:endParaRPr lang="pt-BR" sz="1600"/>
          </a:p>
          <a:p>
            <a:pPr lvl="2" rtl="0">
              <a:lnSpc>
                <a:spcPct val="85000"/>
              </a:lnSpc>
              <a:spcBef>
                <a:spcPct val="30000"/>
              </a:spcBef>
            </a:pPr>
            <a:r>
              <a:rPr lang="pt-BR" sz="1600"/>
              <a:t>Em seguida, especifique a senha VTY com o comando </a:t>
            </a:r>
            <a:r>
              <a:rPr lang="pt-BR" sz="1600" b="1"/>
              <a:t>password </a:t>
            </a:r>
            <a:r>
              <a:rPr lang="pt-BR" sz="1600" i="1"/>
              <a:t>senha</a:t>
            </a:r>
            <a:r>
              <a:rPr lang="pt-BR" sz="1600"/>
              <a:t>. </a:t>
            </a:r>
            <a:endParaRPr lang="pt-BR" sz="1600"/>
          </a:p>
          <a:p>
            <a:pPr lvl="2" rtl="0">
              <a:lnSpc>
                <a:spcPct val="85000"/>
              </a:lnSpc>
              <a:spcBef>
                <a:spcPct val="30000"/>
              </a:spcBef>
            </a:pPr>
            <a:r>
              <a:rPr lang="pt-BR" sz="1600"/>
              <a:t>Por fim, use o comando </a:t>
            </a:r>
            <a:r>
              <a:rPr lang="pt-BR" sz="1600" b="1"/>
              <a:t>login</a:t>
            </a:r>
            <a:r>
              <a:rPr lang="pt-BR" sz="1600"/>
              <a:t> para permitir o acesso via VTY.</a:t>
            </a:r>
            <a:endParaRPr lang="pt-BR" sz="1600"/>
          </a:p>
        </p:txBody>
      </p:sp>
      <p:sp>
        <p:nvSpPr>
          <p:cNvPr id="5" name="Content Placeholder 3"/>
          <p:cNvSpPr txBox="1"/>
          <p:nvPr/>
        </p:nvSpPr>
        <p:spPr bwMode="auto">
          <a:xfrm>
            <a:off x="615142" y="3505895"/>
            <a:ext cx="8242329" cy="8675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182880" bIns="45720" numCol="1" anchor="t" anchorCtr="0" compatLnSpc="1"/>
          <a:lstStyle>
            <a:lvl1pPr marL="170180" indent="-170180" algn="l" defTabSz="684530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§"/>
              <a:defRPr lang="en-US" sz="15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1pPr>
            <a:lvl2pPr marL="358775" indent="-215900" algn="l" defTabSz="684530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4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2pPr>
            <a:lvl3pPr marL="431800" indent="-170180" algn="l" defTabSz="684530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3pPr>
            <a:lvl4pPr marL="503555" indent="-170180" algn="l" defTabSz="684530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lang="en-US" sz="11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4pPr>
            <a:lvl5pPr marL="574675" indent="-170180" algn="l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lang="en-US" sz="1100" kern="1200" dirty="0">
                <a:solidFill>
                  <a:schemeClr val="tx1"/>
                </a:solidFill>
                <a:latin typeface="+mn-lt"/>
                <a:ea typeface="MS PGothic" charset="0"/>
                <a:cs typeface="CiscoSans"/>
              </a:defRPr>
            </a:lvl5pPr>
            <a:lvl6pPr marL="863600" indent="-171450" algn="l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Char char="•"/>
              <a:defRPr sz="9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935990" indent="-171450" algn="l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Char char="•"/>
              <a:defRPr sz="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85000"/>
              </a:lnSpc>
              <a:spcBef>
                <a:spcPct val="30000"/>
              </a:spcBef>
            </a:pPr>
            <a:r>
              <a:rPr lang="pt-BR" sz="1600"/>
              <a:t>Observação: As linhas VTY permitem acesso remoto usando Telnet ou SSH ao dispositivo. Muitos switches Cisco são compatíveis com até 16 linhas VTY numeradas de 0 a 15. </a:t>
            </a:r>
            <a:endParaRPr lang="pt-BR" sz="160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8060" y="1325473"/>
            <a:ext cx="3937000" cy="10922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p:transition spd="slow">
    <p:wip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>
                <a:latin typeface="Arial" panose="020B0604020202020204" pitchFamily="34" charset="0"/>
              </a:rPr>
              <a:t>Configuração básica do dispositivo</a:t>
            </a:r>
            <a:br>
              <a:rPr lang="en-US" dirty="0">
                <a:latin typeface="Arial" panose="020B0604020202020204" pitchFamily="34" charset="0"/>
              </a:rPr>
            </a:br>
            <a:r>
              <a:rPr lang="pt-BR">
                <a:latin typeface="Arial" panose="020B0604020202020204" pitchFamily="34" charset="0"/>
              </a:rPr>
              <a:t>Criptografar senhas</a:t>
            </a:r>
            <a:endParaRPr lang="pt-BR">
              <a:latin typeface="Arial" panose="020B0604020202020204" pitchFamily="3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45357" y="938988"/>
            <a:ext cx="4572000" cy="1286052"/>
          </a:xfrm>
        </p:spPr>
        <p:txBody>
          <a:bodyPr/>
          <a:lstStyle/>
          <a:p>
            <a:pPr rtl="0">
              <a:lnSpc>
                <a:spcPct val="85000"/>
              </a:lnSpc>
              <a:spcBef>
                <a:spcPct val="30000"/>
              </a:spcBef>
            </a:pPr>
            <a:r>
              <a:rPr lang="pt-BR"/>
              <a:t>Os arquivos startup-config e running-config exibem a maioria das senhas em texto simples.</a:t>
            </a:r>
            <a:endParaRPr lang="pt-BR"/>
          </a:p>
          <a:p>
            <a:pPr rtl="0">
              <a:lnSpc>
                <a:spcPct val="85000"/>
              </a:lnSpc>
              <a:spcBef>
                <a:spcPct val="30000"/>
              </a:spcBef>
            </a:pPr>
            <a:r>
              <a:rPr lang="pt-BR"/>
              <a:t>Para criptografar senhas, use o comando de configuração global </a:t>
            </a:r>
            <a:r>
              <a:rPr lang="pt-BR" b="1"/>
              <a:t>service password-encryption</a:t>
            </a:r>
            <a:r>
              <a:rPr lang="pt-BR"/>
              <a:t>.</a:t>
            </a:r>
            <a:endParaRPr lang="pt-BR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357" y="2649220"/>
            <a:ext cx="4572000" cy="776378"/>
          </a:xfrm>
          <a:prstGeom prst="rect">
            <a:avLst/>
          </a:prstGeom>
        </p:spPr>
      </p:pic>
      <p:sp>
        <p:nvSpPr>
          <p:cNvPr id="6" name="Content Placeholder 3"/>
          <p:cNvSpPr txBox="1"/>
          <p:nvPr/>
        </p:nvSpPr>
        <p:spPr bwMode="auto">
          <a:xfrm>
            <a:off x="4815434" y="938988"/>
            <a:ext cx="4040563" cy="7575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182880" bIns="45720" numCol="1" anchor="t" anchorCtr="0" compatLnSpc="1"/>
          <a:lstStyle>
            <a:lvl1pPr marL="170180" indent="-170180" algn="l" defTabSz="684530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§"/>
              <a:defRPr lang="en-US" sz="15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1pPr>
            <a:lvl2pPr marL="358775" indent="-215900" algn="l" defTabSz="684530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4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2pPr>
            <a:lvl3pPr marL="431800" indent="-170180" algn="l" defTabSz="684530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3pPr>
            <a:lvl4pPr marL="503555" indent="-170180" algn="l" defTabSz="684530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lang="en-US" sz="1100" kern="1200">
                <a:solidFill>
                  <a:srgbClr val="000000"/>
                </a:solidFill>
                <a:latin typeface="+mn-lt"/>
                <a:ea typeface="MS PGothic" charset="0"/>
                <a:cs typeface="CiscoSans"/>
              </a:defRPr>
            </a:lvl4pPr>
            <a:lvl5pPr marL="574675" indent="-170180" algn="l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lang="en-US" sz="1100" kern="1200" dirty="0">
                <a:solidFill>
                  <a:schemeClr val="tx1"/>
                </a:solidFill>
                <a:latin typeface="+mn-lt"/>
                <a:ea typeface="MS PGothic" charset="0"/>
                <a:cs typeface="CiscoSans"/>
              </a:defRPr>
            </a:lvl5pPr>
            <a:lvl6pPr marL="863600" indent="-171450" algn="l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Char char="•"/>
              <a:defRPr sz="9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935990" indent="-171450" algn="l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Char char="•"/>
              <a:defRPr sz="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85000"/>
              </a:lnSpc>
              <a:spcBef>
                <a:spcPct val="30000"/>
              </a:spcBef>
            </a:pPr>
            <a:r>
              <a:rPr lang="pt-BR"/>
              <a:t>Use o comando </a:t>
            </a:r>
            <a:r>
              <a:rPr lang="pt-BR" b="1"/>
              <a:t>show running-config</a:t>
            </a:r>
            <a:r>
              <a:rPr lang="pt-BR"/>
              <a:t> para verificar se as senhas do dispositivo agora estão criptografadas. </a:t>
            </a:r>
            <a:endParaRPr lang="pt-BR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5515" y="2031878"/>
            <a:ext cx="3200400" cy="2011062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  <p:transition spd="slow">
    <p:wip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>
                <a:latin typeface="Arial" panose="020B0604020202020204" pitchFamily="34" charset="0"/>
              </a:rPr>
              <a:t>Configuração básica de dispositivos </a:t>
            </a:r>
            <a:br>
              <a:rPr lang="en-US" dirty="0">
                <a:latin typeface="Arial" panose="020B0604020202020204" pitchFamily="34" charset="0"/>
              </a:rPr>
            </a:br>
            <a:r>
              <a:rPr lang="pt-BR">
                <a:latin typeface="Arial" panose="020B0604020202020204" pitchFamily="34" charset="0"/>
              </a:rPr>
              <a:t>Mensagens Banner</a:t>
            </a:r>
            <a:endParaRPr lang="pt-BR">
              <a:latin typeface="Arial" panose="020B0604020202020204" pitchFamily="3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45357" y="953416"/>
            <a:ext cx="3857686" cy="1656420"/>
          </a:xfrm>
        </p:spPr>
        <p:txBody>
          <a:bodyPr/>
          <a:lstStyle/>
          <a:p>
            <a:pPr rtl="0">
              <a:lnSpc>
                <a:spcPct val="85000"/>
              </a:lnSpc>
              <a:spcBef>
                <a:spcPct val="30000"/>
              </a:spcBef>
            </a:pPr>
            <a:r>
              <a:rPr lang="pt-BR"/>
              <a:t>Uma mensagem de banner é importante para avisar que pessoas não autorizadas tentem acessar o dispositivo. </a:t>
            </a:r>
            <a:endParaRPr lang="pt-BR"/>
          </a:p>
          <a:p>
            <a:pPr rtl="0">
              <a:lnSpc>
                <a:spcPct val="85000"/>
              </a:lnSpc>
              <a:spcBef>
                <a:spcPct val="30000"/>
              </a:spcBef>
            </a:pPr>
            <a:r>
              <a:rPr lang="pt-BR"/>
              <a:t>Para criar uma mensagem de banner do dia em um dispositivo de rede, use o comando de configuração global </a:t>
            </a:r>
            <a:r>
              <a:rPr lang="pt-BR" b="1"/>
              <a:t>banner motd # </a:t>
            </a:r>
            <a:r>
              <a:rPr lang="pt-BR" i="1"/>
              <a:t>A mensagem do dia</a:t>
            </a:r>
            <a:r>
              <a:rPr lang="pt-BR" b="1"/>
              <a:t> # </a:t>
            </a:r>
            <a:r>
              <a:rPr lang="pt-BR"/>
              <a:t>. </a:t>
            </a:r>
            <a:endParaRPr lang="pt-BR"/>
          </a:p>
        </p:txBody>
      </p:sp>
      <p:sp>
        <p:nvSpPr>
          <p:cNvPr id="2" name="TextBox 1"/>
          <p:cNvSpPr txBox="1"/>
          <p:nvPr/>
        </p:nvSpPr>
        <p:spPr>
          <a:xfrm>
            <a:off x="145357" y="3019213"/>
            <a:ext cx="385768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pt-BR" sz="1400">
                <a:solidFill>
                  <a:srgbClr val="000000"/>
                </a:solidFill>
              </a:rPr>
              <a:t>O “#” na sintaxe do comando é denominado caractere de delimitação. Ele é inserido antes e depois da mensagem. </a:t>
            </a:r>
            <a:endParaRPr lang="pt-BR" sz="1400">
              <a:solidFill>
                <a:srgbClr val="00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68947" y="1849911"/>
            <a:ext cx="487505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pt-BR" sz="1300">
                <a:solidFill>
                  <a:srgbClr val="000000"/>
                </a:solidFill>
              </a:rPr>
              <a:t>O banner será exibido nas tentativas de acessar o dispositivo. </a:t>
            </a:r>
            <a:endParaRPr lang="pt-BR" sz="1300">
              <a:solidFill>
                <a:srgbClr val="000000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3119" y="1155127"/>
            <a:ext cx="4114800" cy="441924"/>
          </a:xfrm>
          <a:prstGeom prst="rect">
            <a:avLst/>
          </a:prstGeom>
        </p:spPr>
      </p:pic>
      <p:sp>
        <p:nvSpPr>
          <p:cNvPr id="20" name="Down Arrow 19"/>
          <p:cNvSpPr/>
          <p:nvPr/>
        </p:nvSpPr>
        <p:spPr>
          <a:xfrm>
            <a:off x="6512558" y="2210830"/>
            <a:ext cx="187961" cy="292389"/>
          </a:xfrm>
          <a:prstGeom prst="downArrow">
            <a:avLst/>
          </a:prstGeom>
          <a:solidFill>
            <a:srgbClr val="36A4D7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0958" y="2571750"/>
            <a:ext cx="2743200" cy="1633591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  <p:transition spd="slow">
    <p:wip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1849120"/>
            <a:ext cx="8280314" cy="868680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2.5 Salvar configurações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>
                <a:latin typeface="Arial" panose="020B0604020202020204" pitchFamily="34" charset="0"/>
              </a:rPr>
              <a:t>Salvar configurações </a:t>
            </a:r>
            <a:br>
              <a:rPr lang="en-US" dirty="0">
                <a:latin typeface="Arial" panose="020B0604020202020204" pitchFamily="34" charset="0"/>
              </a:rPr>
            </a:br>
            <a:r>
              <a:rPr lang="pt-BR">
                <a:latin typeface="Arial" panose="020B0604020202020204" pitchFamily="34" charset="0"/>
              </a:rPr>
              <a:t>Arquivos de Configuração</a:t>
            </a:r>
            <a:endParaRPr lang="pt-BR">
              <a:latin typeface="Arial" panose="020B0604020202020204" pitchFamily="3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45357" y="938988"/>
            <a:ext cx="8853286" cy="1844852"/>
          </a:xfrm>
        </p:spPr>
        <p:txBody>
          <a:bodyPr/>
          <a:lstStyle/>
          <a:p>
            <a:pPr rtl="0"/>
            <a:r>
              <a:rPr lang="pt-BR"/>
              <a:t>Há dois arquivos de sistema que armazenam a configuração do dispositivo:</a:t>
            </a:r>
            <a:endParaRPr lang="pt-BR"/>
          </a:p>
          <a:p>
            <a:pPr lvl="2" rtl="0"/>
            <a:r>
              <a:rPr lang="pt-BR" b="1"/>
              <a:t>startup-config</a:t>
            </a:r>
            <a:r>
              <a:rPr lang="pt-BR"/>
              <a:t> - Este é o arquivo de configuração salvo armazenado na NVRAM. Ele contém todos os comandos que serão usados pelo dispositivo na inicialização ou reinicialização. O flash não perde seu conteúdo quando o dispositivo está desligado.</a:t>
            </a:r>
            <a:r>
              <a:rPr lang="pt-BR" b="1"/>
              <a:t> </a:t>
            </a:r>
            <a:endParaRPr lang="pt-BR" b="1"/>
          </a:p>
          <a:p>
            <a:pPr lvl="2" rtl="0"/>
            <a:r>
              <a:rPr lang="pt-BR" b="1"/>
              <a:t>running-config</a:t>
            </a:r>
            <a:r>
              <a:rPr lang="pt-BR"/>
              <a:t> - Isto é armazenado na memória de acesso aleatório (RAM). Ele reflete a configuração atual. A modificação de uma configuração ativa afeta o funcionamento de um dispositivo Cisco imediatamente. A RAM é uma memória volátil. Ela perde todo o seu conteúdo quando o dispositivo é desligado ou reiniciado.</a:t>
            </a:r>
            <a:endParaRPr lang="pt-BR"/>
          </a:p>
          <a:p>
            <a:pPr lvl="2" rtl="0"/>
            <a:r>
              <a:rPr lang="pt-BR"/>
              <a:t>Para salvar as alterações feitas na configuração ativa no arquivo de configuração de inicialização, use o comando do modo EXEC privilegiado </a:t>
            </a:r>
            <a:r>
              <a:rPr lang="pt-BR" b="1"/>
              <a:t>copy running-config startup-config</a:t>
            </a:r>
            <a:r>
              <a:rPr lang="pt-BR"/>
              <a:t>.</a:t>
            </a:r>
            <a:endParaRPr lang="pt-BR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1349" y="2923884"/>
            <a:ext cx="3797300" cy="15875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5351" y="2923884"/>
            <a:ext cx="3797300" cy="15875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  <p:transition spd="slow">
    <p:wip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>
                <a:latin typeface="Arial" panose="020B0604020202020204" pitchFamily="34" charset="0"/>
              </a:rPr>
              <a:t>Salvar configurações </a:t>
            </a:r>
            <a:br>
              <a:rPr lang="en-US" dirty="0">
                <a:latin typeface="Arial" panose="020B0604020202020204" pitchFamily="34" charset="0"/>
              </a:rPr>
            </a:br>
            <a:r>
              <a:rPr lang="pt-BR">
                <a:latin typeface="Arial" panose="020B0604020202020204" pitchFamily="34" charset="0"/>
              </a:rPr>
              <a:t>Alterar a configuração de execução</a:t>
            </a:r>
            <a:endParaRPr lang="pt-BR">
              <a:latin typeface="Arial" panose="020B0604020202020204" pitchFamily="3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55517" y="798944"/>
            <a:ext cx="4411993" cy="3693972"/>
          </a:xfrm>
        </p:spPr>
        <p:txBody>
          <a:bodyPr/>
          <a:lstStyle/>
          <a:p>
            <a:pPr marL="0" indent="0" rtl="0">
              <a:lnSpc>
                <a:spcPct val="85000"/>
              </a:lnSpc>
              <a:spcBef>
                <a:spcPct val="30000"/>
              </a:spcBef>
              <a:buNone/>
            </a:pPr>
            <a:r>
              <a:rPr lang="pt-BR"/>
              <a:t>Se as alterações feitas na configuração em execução não tiverem o efeito desejado e a configuração ainda não foi salva, você poderá restaurar o dispositivo para a configuração anterior. Para fazer isso, você pode:</a:t>
            </a:r>
            <a:endParaRPr lang="pt-BR"/>
          </a:p>
          <a:p>
            <a:pPr lvl="1" rtl="0">
              <a:lnSpc>
                <a:spcPct val="85000"/>
              </a:lnSpc>
              <a:spcBef>
                <a:spcPct val="30000"/>
              </a:spcBef>
            </a:pPr>
            <a:r>
              <a:rPr lang="pt-BR"/>
              <a:t>Remova os comandos alterados individualmente.</a:t>
            </a:r>
            <a:endParaRPr lang="pt-BR"/>
          </a:p>
          <a:p>
            <a:pPr lvl="1" rtl="0">
              <a:lnSpc>
                <a:spcPct val="85000"/>
              </a:lnSpc>
              <a:spcBef>
                <a:spcPct val="30000"/>
              </a:spcBef>
            </a:pPr>
            <a:r>
              <a:rPr lang="pt-BR"/>
              <a:t>Recarregar o dispositivo usando o comando do modo EXEC privilegiado </a:t>
            </a:r>
            <a:r>
              <a:rPr lang="pt-BR" b="1"/>
              <a:t>reload</a:t>
            </a:r>
            <a:r>
              <a:rPr lang="pt-BR"/>
              <a:t>. </a:t>
            </a:r>
            <a:r>
              <a:rPr lang="pt-BR" i="1"/>
              <a:t>Observação: Isso fará com que o dispositivo fique off-line brevemente, levando ao tempo de inatividade da rede. </a:t>
            </a:r>
            <a:r>
              <a:rPr lang="pt-BR"/>
              <a:t> </a:t>
            </a:r>
            <a:endParaRPr lang="pt-BR"/>
          </a:p>
          <a:p>
            <a:pPr marL="0" indent="0" rtl="0">
              <a:lnSpc>
                <a:spcPct val="85000"/>
              </a:lnSpc>
              <a:spcBef>
                <a:spcPct val="30000"/>
              </a:spcBef>
              <a:buNone/>
            </a:pPr>
            <a:r>
              <a:rPr lang="pt-BR"/>
              <a:t>Se as alterações indesejadas foram salvas na startup-config, pode ser necessário limpar todas as configurações usando o comando </a:t>
            </a:r>
            <a:r>
              <a:rPr lang="pt-BR" b="1"/>
              <a:t>erase startup-config</a:t>
            </a:r>
            <a:r>
              <a:rPr lang="pt-BR"/>
              <a:t> no modo EXEC de privilégio. </a:t>
            </a:r>
            <a:endParaRPr lang="pt-BR"/>
          </a:p>
          <a:p>
            <a:pPr lvl="1" rtl="0">
              <a:lnSpc>
                <a:spcPct val="85000"/>
              </a:lnSpc>
              <a:spcBef>
                <a:spcPct val="30000"/>
              </a:spcBef>
            </a:pPr>
            <a:r>
              <a:rPr lang="pt-BR"/>
              <a:t>Depois de apagar o startup-config, recarregue o dispositivo para limpar o arquivo running-config da RAM. </a:t>
            </a:r>
            <a:endParaRPr lang="pt-BR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6492" y="1279716"/>
            <a:ext cx="4403011" cy="578083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7510" y="3220977"/>
            <a:ext cx="4411993" cy="642807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  <p:transition spd="slow">
    <p:wip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>
                <a:latin typeface="Arial" panose="020B0604020202020204" pitchFamily="34" charset="0"/>
              </a:rPr>
              <a:t>Salvar configurações </a:t>
            </a:r>
            <a:br>
              <a:rPr lang="en-US" sz="1600" dirty="0">
                <a:latin typeface="Arial" panose="020B0604020202020204" pitchFamily="34" charset="0"/>
              </a:rPr>
            </a:br>
            <a:r>
              <a:rPr lang="pt-BR">
                <a:latin typeface="Arial" panose="020B0604020202020204" pitchFamily="34" charset="0"/>
              </a:rPr>
              <a:t>Capturar a configuração em um arquivo de texto</a:t>
            </a:r>
            <a:endParaRPr lang="pt-BR">
              <a:latin typeface="Arial" panose="020B0604020202020204" pitchFamily="3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45357" y="1025868"/>
            <a:ext cx="4426643" cy="2606852"/>
          </a:xfrm>
        </p:spPr>
        <p:txBody>
          <a:bodyPr/>
          <a:lstStyle/>
          <a:p>
            <a:pPr marL="0" indent="0" rtl="0">
              <a:lnSpc>
                <a:spcPct val="85000"/>
              </a:lnSpc>
              <a:spcBef>
                <a:spcPct val="30000"/>
              </a:spcBef>
              <a:buNone/>
            </a:pPr>
            <a:r>
              <a:rPr lang="pt-BR"/>
              <a:t>Os arquivos de configuração também podem ser salvos e armazenados em um documento de texto. </a:t>
            </a:r>
            <a:endParaRPr lang="pt-BR"/>
          </a:p>
          <a:p>
            <a:pPr rtl="0">
              <a:lnSpc>
                <a:spcPct val="85000"/>
              </a:lnSpc>
              <a:spcBef>
                <a:spcPct val="30000"/>
              </a:spcBef>
              <a:buFont typeface="Arial" panose="020B0604020202020204" pitchFamily="34" charset="0"/>
              <a:buChar char="•"/>
            </a:pPr>
            <a:r>
              <a:rPr lang="pt-BR" b="1"/>
              <a:t>Etapa 1.</a:t>
            </a:r>
            <a:r>
              <a:rPr lang="pt-BR"/>
              <a:t>Abra um software de emulação de terminal, como PuTTY ou Tera Term (Figura 1) que já está conectado a um switch.</a:t>
            </a:r>
            <a:endParaRPr lang="pt-BR"/>
          </a:p>
          <a:p>
            <a:pPr rtl="0">
              <a:lnSpc>
                <a:spcPct val="85000"/>
              </a:lnSpc>
              <a:spcBef>
                <a:spcPct val="30000"/>
              </a:spcBef>
              <a:buFont typeface="Arial" panose="020B0604020202020204" pitchFamily="34" charset="0"/>
              <a:buChar char="•"/>
            </a:pPr>
            <a:r>
              <a:rPr lang="pt-BR" b="1"/>
              <a:t>Etapa 2.</a:t>
            </a:r>
            <a:r>
              <a:rPr lang="pt-BR"/>
              <a:t>Ative o registro no software do terminal e atribua um nome e um local para salvar o arquivo de log. A Figura 2 mostra que </a:t>
            </a:r>
            <a:r>
              <a:rPr lang="pt-BR" b="1"/>
              <a:t>All session output</a:t>
            </a:r>
            <a:r>
              <a:rPr lang="pt-BR"/>
              <a:t> será capturado no arquivo especificado (isto é, MySwitchLogs).</a:t>
            </a:r>
            <a:endParaRPr lang="pt-BR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62303" y="798944"/>
            <a:ext cx="3097246" cy="30607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p:transition spd="slow">
    <p:wip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rtl="0"/>
            <a:br>
              <a:rPr lang="en-US" dirty="0">
                <a:latin typeface="Arial" panose="020B0604020202020204" pitchFamily="34" charset="0"/>
              </a:rPr>
            </a:br>
            <a:r>
              <a:rPr lang="pt-BR">
                <a:latin typeface="Arial" panose="020B0604020202020204" pitchFamily="34" charset="0"/>
              </a:rPr>
              <a:t>Salvar configurações </a:t>
            </a:r>
            <a:r>
              <a:rPr lang="pt-BR" sz="1600">
                <a:latin typeface="Arial" panose="020B0604020202020204" pitchFamily="34" charset="0"/>
              </a:rPr>
              <a:t>Capturar a configuração em um arquivo de texto (continuação)</a:t>
            </a:r>
            <a:endParaRPr lang="pt-BR" sz="1600">
              <a:latin typeface="Arial" panose="020B0604020202020204" pitchFamily="3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45357" y="1025868"/>
            <a:ext cx="4426643" cy="2032292"/>
          </a:xfrm>
        </p:spPr>
        <p:txBody>
          <a:bodyPr/>
          <a:lstStyle/>
          <a:p>
            <a:pPr rtl="0">
              <a:lnSpc>
                <a:spcPct val="85000"/>
              </a:lnSpc>
              <a:spcBef>
                <a:spcPct val="30000"/>
              </a:spcBef>
              <a:buFont typeface="Arial" panose="020B0604020202020204" pitchFamily="34" charset="0"/>
              <a:buChar char="•"/>
            </a:pPr>
            <a:r>
              <a:rPr lang="pt-BR" b="1"/>
              <a:t>Etapa 3.Execute o comando </a:t>
            </a:r>
            <a:r>
              <a:rPr lang="pt-BR"/>
              <a:t>show running-config</a:t>
            </a:r>
            <a:r>
              <a:rPr lang="pt-BR" b="1"/>
              <a:t> ou </a:t>
            </a:r>
            <a:r>
              <a:rPr lang="pt-BR"/>
              <a:t>show startup-config</a:t>
            </a:r>
            <a:r>
              <a:rPr lang="pt-BR" b="1"/>
              <a:t> </a:t>
            </a:r>
            <a:r>
              <a:rPr lang="pt-BR"/>
              <a:t>no prompt EXEC privilegiado. O texto exibido na janela do terminal será inserido no arquivo escolhido.</a:t>
            </a:r>
            <a:r>
              <a:rPr lang="pt-BR" b="1"/>
              <a:t> </a:t>
            </a:r>
            <a:endParaRPr lang="pt-BR" b="1"/>
          </a:p>
          <a:p>
            <a:pPr rtl="0">
              <a:lnSpc>
                <a:spcPct val="85000"/>
              </a:lnSpc>
              <a:spcBef>
                <a:spcPct val="30000"/>
              </a:spcBef>
              <a:buFont typeface="Arial" panose="020B0604020202020204" pitchFamily="34" charset="0"/>
              <a:buChar char="•"/>
            </a:pPr>
            <a:r>
              <a:rPr lang="pt-BR" b="1"/>
              <a:t>Etapa 4.</a:t>
            </a:r>
            <a:r>
              <a:rPr lang="pt-BR"/>
              <a:t>Desative o log no software de terminal. A Figura mostra como desativar o log escolhendo a </a:t>
            </a:r>
            <a:r>
              <a:rPr lang="pt-BR" b="1"/>
              <a:t>opção de log de sessão </a:t>
            </a:r>
            <a:r>
              <a:rPr lang="pt-BR"/>
              <a:t>None</a:t>
            </a:r>
            <a:r>
              <a:rPr lang="pt-BR" b="1"/>
              <a:t>.</a:t>
            </a:r>
            <a:endParaRPr lang="pt-BR" b="1"/>
          </a:p>
        </p:txBody>
      </p:sp>
      <p:sp>
        <p:nvSpPr>
          <p:cNvPr id="7" name="TextBox 6"/>
          <p:cNvSpPr txBox="1"/>
          <p:nvPr/>
        </p:nvSpPr>
        <p:spPr>
          <a:xfrm>
            <a:off x="145357" y="3392887"/>
            <a:ext cx="464439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pt-BR" sz="1400">
                <a:solidFill>
                  <a:srgbClr val="000000"/>
                </a:solidFill>
              </a:rPr>
              <a:t>Nota: O arquivo de texto criado pode ser usado como um registro de como o dispositivo está implementado atualmente. Talvez seja necessário editar o arquivo antes de usá-lo para restaurar uma configuração salva em um dispositivo.</a:t>
            </a:r>
            <a:endParaRPr lang="pt-BR" sz="1400">
              <a:solidFill>
                <a:srgbClr val="000000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24475" y="1207192"/>
            <a:ext cx="3302000" cy="5080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0870" y="2123440"/>
            <a:ext cx="2569210" cy="253889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  <p:transition spd="slow">
    <p:wip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1798320"/>
            <a:ext cx="8280314" cy="919480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2.6 Portas e Endereços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>
                <a:latin typeface="Arial" panose="020B0604020202020204" pitchFamily="34" charset="0"/>
              </a:rPr>
              <a:t>Portas e endereços </a:t>
            </a:r>
            <a:br>
              <a:rPr lang="en-US" dirty="0">
                <a:latin typeface="Arial" panose="020B0604020202020204" pitchFamily="34" charset="0"/>
              </a:rPr>
            </a:br>
            <a:r>
              <a:rPr lang="pt-BR">
                <a:latin typeface="Arial" panose="020B0604020202020204" pitchFamily="34" charset="0"/>
              </a:rPr>
              <a:t>Endereços IP</a:t>
            </a:r>
            <a:endParaRPr lang="pt-BR">
              <a:latin typeface="Arial" panose="020B0604020202020204" pitchFamily="3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45357" y="878028"/>
            <a:ext cx="4966970" cy="3470452"/>
          </a:xfrm>
        </p:spPr>
        <p:txBody>
          <a:bodyPr/>
          <a:lstStyle/>
          <a:p>
            <a:pPr rtl="0">
              <a:lnSpc>
                <a:spcPct val="85000"/>
              </a:lnSpc>
              <a:spcBef>
                <a:spcPct val="30000"/>
              </a:spcBef>
              <a:buFont typeface="Arial" panose="020B0604020202020204" pitchFamily="34" charset="0"/>
              <a:buChar char="•"/>
            </a:pPr>
            <a:r>
              <a:rPr lang="pt-BR" sz="1600"/>
              <a:t>O uso de endereços IP é o principal meio de permitir que os dispositivos se localizem e estabeleçam comunicação ponto a ponto na Internet. </a:t>
            </a:r>
            <a:endParaRPr lang="pt-BR" sz="1600"/>
          </a:p>
          <a:p>
            <a:pPr rtl="0">
              <a:lnSpc>
                <a:spcPct val="85000"/>
              </a:lnSpc>
              <a:spcBef>
                <a:spcPct val="30000"/>
              </a:spcBef>
              <a:buFont typeface="Arial" panose="020B0604020202020204" pitchFamily="34" charset="0"/>
              <a:buChar char="•"/>
            </a:pPr>
            <a:r>
              <a:rPr lang="pt-BR" sz="1600"/>
              <a:t>A estrutura de um endereço IPv4 é chamada notação decimal com ponto e é representada por quatro números decimais entre 0 e 255.</a:t>
            </a:r>
            <a:endParaRPr lang="pt-BR" sz="1600"/>
          </a:p>
          <a:p>
            <a:pPr rtl="0">
              <a:lnSpc>
                <a:spcPct val="85000"/>
              </a:lnSpc>
              <a:spcBef>
                <a:spcPct val="30000"/>
              </a:spcBef>
              <a:buFont typeface="Arial" panose="020B0604020202020204" pitchFamily="34" charset="0"/>
              <a:buChar char="•"/>
            </a:pPr>
            <a:r>
              <a:rPr lang="pt-BR" sz="1600"/>
              <a:t>Uma máscara de sub-rede IPv4 é um valor de 32 bits que diferencia a parte da rede do endereço da parte do host. Juntamente com o endereço IPv4, a máscara de sub-rede determina a qual sub-rede o dispositivo é um membro.</a:t>
            </a:r>
            <a:endParaRPr lang="pt-BR" sz="1600"/>
          </a:p>
          <a:p>
            <a:pPr rtl="0">
              <a:lnSpc>
                <a:spcPct val="85000"/>
              </a:lnSpc>
              <a:spcBef>
                <a:spcPct val="30000"/>
              </a:spcBef>
              <a:buFont typeface="Arial" panose="020B0604020202020204" pitchFamily="34" charset="0"/>
              <a:buChar char="•"/>
            </a:pPr>
            <a:r>
              <a:rPr lang="pt-BR" sz="1600"/>
              <a:t>O endereço de gateway padrão é o endereço IP do roteador que o host usará para acessar redes remotas, incluindo a Internet.</a:t>
            </a:r>
            <a:endParaRPr lang="pt-BR" sz="16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31789" y="798944"/>
            <a:ext cx="2805347" cy="3185972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p:transition spd="slow">
    <p:wip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>
                <a:latin typeface="Arial" panose="020B0604020202020204" pitchFamily="34" charset="0"/>
              </a:rPr>
              <a:t>Portas e endereços </a:t>
            </a:r>
            <a:br>
              <a:rPr lang="en-US" dirty="0">
                <a:latin typeface="Arial" panose="020B0604020202020204" pitchFamily="34" charset="0"/>
              </a:rPr>
            </a:br>
            <a:r>
              <a:rPr lang="pt-BR">
                <a:latin typeface="Arial" panose="020B0604020202020204" pitchFamily="34" charset="0"/>
              </a:rPr>
              <a:t>Endereços IP (Cont.)</a:t>
            </a:r>
            <a:endParaRPr lang="pt-BR">
              <a:latin typeface="Arial" panose="020B0604020202020204" pitchFamily="3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45357" y="878028"/>
            <a:ext cx="4426643" cy="2483330"/>
          </a:xfrm>
        </p:spPr>
        <p:txBody>
          <a:bodyPr/>
          <a:lstStyle/>
          <a:p>
            <a:pPr rtl="0">
              <a:lnSpc>
                <a:spcPct val="85000"/>
              </a:lnSpc>
              <a:spcBef>
                <a:spcPct val="30000"/>
              </a:spcBef>
              <a:buFont typeface="Arial" panose="020B0604020202020204" pitchFamily="34" charset="0"/>
              <a:buChar char="•"/>
            </a:pPr>
            <a:r>
              <a:rPr lang="pt-BR" sz="1600"/>
              <a:t>Os endereços IPv6 têm 128 bits e são escritos como uma sequência de valores hexadecimais. A cada quatro bits é representado por um único dígito hexadecimal; para um total de 32 valores hexadecimais. Grupos de quatro dígitos hexadecimais são separados por dois pontos “:”. </a:t>
            </a:r>
            <a:endParaRPr lang="pt-BR" sz="1600"/>
          </a:p>
          <a:p>
            <a:pPr rtl="0">
              <a:lnSpc>
                <a:spcPct val="85000"/>
              </a:lnSpc>
              <a:spcBef>
                <a:spcPct val="30000"/>
              </a:spcBef>
              <a:buFont typeface="Arial" panose="020B0604020202020204" pitchFamily="34" charset="0"/>
              <a:buChar char="•"/>
            </a:pPr>
            <a:r>
              <a:rPr lang="pt-BR" sz="1600"/>
              <a:t>Os endereços IPv6 não diferenciam maiúsculas e minúsculas e podem ser escritos tanto em minúsculas como em maiúsculas.</a:t>
            </a:r>
            <a:endParaRPr lang="pt-BR" sz="1600"/>
          </a:p>
        </p:txBody>
      </p:sp>
      <p:sp>
        <p:nvSpPr>
          <p:cNvPr id="5" name="Rectangle 4"/>
          <p:cNvSpPr/>
          <p:nvPr/>
        </p:nvSpPr>
        <p:spPr>
          <a:xfrm>
            <a:off x="355600" y="3361358"/>
            <a:ext cx="4572000" cy="738664"/>
          </a:xfrm>
          <a:prstGeom prst="rect">
            <a:avLst/>
          </a:prstGeom>
        </p:spPr>
        <p:txBody>
          <a:bodyPr>
            <a:spAutoFit/>
          </a:bodyPr>
          <a:lstStyle/>
          <a:p>
            <a:pPr rtl="0"/>
            <a:r>
              <a:rPr lang="pt-BR" sz="1400" b="1">
                <a:solidFill>
                  <a:srgbClr val="000000"/>
                </a:solidFill>
                <a:latin typeface="CiscoSans"/>
              </a:rPr>
              <a:t>Observação</a:t>
            </a:r>
            <a:r>
              <a:rPr lang="pt-BR" sz="1400">
                <a:solidFill>
                  <a:srgbClr val="000000"/>
                </a:solidFill>
                <a:latin typeface="CiscoSans"/>
              </a:rPr>
              <a:t>: neste curso, o termo IP se refere tanto a protocolos IPv4 quanto IPv6. O IPv6 é a versão mais recente do IP e está substituindo o IPv4 mais comum.</a:t>
            </a:r>
            <a:endParaRPr lang="pt-BR" sz="1400">
              <a:solidFill>
                <a:srgbClr val="000000"/>
              </a:solidFill>
              <a:latin typeface="CiscoSans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8730" y="798944"/>
            <a:ext cx="3562384" cy="2992932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p:transition spd="slow">
    <p:wip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rtl="0"/>
            <a:br>
              <a:rPr lang="en-US" dirty="0">
                <a:latin typeface="Arial" panose="020B0604020202020204" pitchFamily="34" charset="0"/>
              </a:rPr>
            </a:br>
            <a:r>
              <a:rPr lang="pt-BR">
                <a:latin typeface="Arial" panose="020B0604020202020204" pitchFamily="34" charset="0"/>
              </a:rPr>
              <a:t>Portas e endereços </a:t>
            </a:r>
            <a:r>
              <a:rPr lang="pt-BR" sz="1600">
                <a:latin typeface="Arial" panose="020B0604020202020204" pitchFamily="34" charset="0"/>
              </a:rPr>
              <a:t>Interfaces e portas</a:t>
            </a:r>
            <a:endParaRPr lang="pt-BR" sz="1600">
              <a:latin typeface="Arial" panose="020B0604020202020204" pitchFamily="3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45357" y="798944"/>
            <a:ext cx="3976376" cy="3823856"/>
          </a:xfrm>
        </p:spPr>
        <p:txBody>
          <a:bodyPr/>
          <a:lstStyle/>
          <a:p>
            <a:pPr rtl="0">
              <a:lnSpc>
                <a:spcPct val="85000"/>
              </a:lnSpc>
              <a:spcBef>
                <a:spcPct val="30000"/>
              </a:spcBef>
              <a:buFont typeface="Arial" panose="020B0604020202020204" pitchFamily="34" charset="0"/>
              <a:buChar char="•"/>
            </a:pPr>
            <a:r>
              <a:rPr lang="pt-BR"/>
              <a:t>As comunicações em rede dependem de interfaces de dispositivos de usuário final, interfaces de dispositivos de rede e cabos para conectá-las.</a:t>
            </a:r>
            <a:endParaRPr lang="pt-BR"/>
          </a:p>
          <a:p>
            <a:pPr rtl="0">
              <a:lnSpc>
                <a:spcPct val="85000"/>
              </a:lnSpc>
              <a:spcBef>
                <a:spcPct val="30000"/>
              </a:spcBef>
              <a:buFont typeface="Arial" panose="020B0604020202020204" pitchFamily="34" charset="0"/>
              <a:buChar char="•"/>
            </a:pPr>
            <a:r>
              <a:rPr lang="pt-BR"/>
              <a:t>Os tipos de meio físico de rede incluem cabos de cobre de par trançado, cabos de fibra óptica, cabos coaxiais ou sem fio.</a:t>
            </a:r>
            <a:endParaRPr lang="pt-BR"/>
          </a:p>
          <a:p>
            <a:pPr rtl="0">
              <a:buFont typeface="Arial" panose="020B0604020202020204" pitchFamily="34" charset="0"/>
              <a:buChar char="•"/>
            </a:pPr>
            <a:r>
              <a:rPr lang="pt-BR"/>
              <a:t>Diferentes tipos de meio físico de rede oferecem características e benefícios diferentes. Algumas das diferenças entre os vários tipos de meios incluem:</a:t>
            </a:r>
            <a:endParaRPr lang="pt-BR"/>
          </a:p>
          <a:p>
            <a:pPr lvl="3" rtl="0">
              <a:spcAft>
                <a:spcPts val="100"/>
              </a:spcAft>
            </a:pPr>
            <a:r>
              <a:rPr lang="pt-BR"/>
              <a:t>A distância pela qual o meio físico consegue carregar um sinal com êxito</a:t>
            </a:r>
            <a:endParaRPr lang="pt-BR"/>
          </a:p>
          <a:p>
            <a:pPr lvl="3" rtl="0">
              <a:spcAft>
                <a:spcPts val="100"/>
              </a:spcAft>
            </a:pPr>
            <a:r>
              <a:rPr lang="pt-BR"/>
              <a:t>O ambiente no qual o meio físico deve ser instalado</a:t>
            </a:r>
            <a:endParaRPr lang="pt-BR"/>
          </a:p>
          <a:p>
            <a:pPr lvl="3" rtl="0">
              <a:spcAft>
                <a:spcPts val="100"/>
              </a:spcAft>
            </a:pPr>
            <a:r>
              <a:rPr lang="pt-BR"/>
              <a:t>A quantidade e a velocidade de dados nas quais eles devem ser transmitidos</a:t>
            </a:r>
            <a:endParaRPr lang="pt-BR"/>
          </a:p>
          <a:p>
            <a:pPr lvl="3" rtl="0">
              <a:spcAft>
                <a:spcPts val="100"/>
              </a:spcAft>
            </a:pPr>
            <a:r>
              <a:rPr lang="pt-BR"/>
              <a:t>O custo do meio físico e da instalação</a:t>
            </a:r>
            <a:endParaRPr lang="pt-BR"/>
          </a:p>
          <a:p>
            <a:endParaRPr lang="en-US" dirty="0"/>
          </a:p>
          <a:p>
            <a:pPr marL="0" indent="0">
              <a:lnSpc>
                <a:spcPct val="85000"/>
              </a:lnSpc>
              <a:spcBef>
                <a:spcPct val="30000"/>
              </a:spcBef>
              <a:buNone/>
            </a:pPr>
            <a:endParaRPr 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21733" y="798944"/>
            <a:ext cx="4595547" cy="3132757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p:transition spd="slow">
    <p:wip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1828800"/>
            <a:ext cx="8280314" cy="889000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2.7 - Configurar endereços IP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>
                <a:latin typeface="Arial" panose="020B0604020202020204" pitchFamily="34" charset="0"/>
              </a:rPr>
              <a:t>Configurar endereços IP </a:t>
            </a:r>
            <a:br>
              <a:rPr lang="en-US" dirty="0">
                <a:latin typeface="Arial" panose="020B0604020202020204" pitchFamily="34" charset="0"/>
              </a:rPr>
            </a:br>
            <a:r>
              <a:rPr lang="pt-BR">
                <a:latin typeface="Arial" panose="020B0604020202020204" pitchFamily="34" charset="0"/>
              </a:rPr>
              <a:t>Configuração manual de endereço IP para dispositivos finais</a:t>
            </a:r>
            <a:endParaRPr lang="pt-BR">
              <a:latin typeface="Arial" panose="020B0604020202020204" pitchFamily="3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45357" y="938988"/>
            <a:ext cx="5066723" cy="3511092"/>
          </a:xfrm>
        </p:spPr>
        <p:txBody>
          <a:bodyPr/>
          <a:lstStyle/>
          <a:p>
            <a:pPr rtl="0">
              <a:lnSpc>
                <a:spcPct val="85000"/>
              </a:lnSpc>
              <a:spcBef>
                <a:spcPct val="30000"/>
              </a:spcBef>
              <a:buFont typeface="Arial" panose="020B0604020202020204" pitchFamily="34" charset="0"/>
              <a:buChar char="•"/>
            </a:pPr>
            <a:r>
              <a:rPr lang="pt-BR"/>
              <a:t>Os dispositivos finais na rede precisam de um endereço IP para se comunicar com outros dispositivos na rede. </a:t>
            </a:r>
            <a:endParaRPr lang="pt-BR"/>
          </a:p>
          <a:p>
            <a:pPr rtl="0">
              <a:lnSpc>
                <a:spcPct val="85000"/>
              </a:lnSpc>
              <a:spcBef>
                <a:spcPct val="30000"/>
              </a:spcBef>
              <a:buFont typeface="Arial" panose="020B0604020202020204" pitchFamily="34" charset="0"/>
              <a:buChar char="•"/>
            </a:pPr>
            <a:r>
              <a:rPr lang="pt-BR"/>
              <a:t>As informações do endereço IPv4 podem ser inseridas nos dispositivos finais ou automaticamente usando o DHCP (Dynamic Host Configuration Protocol).</a:t>
            </a:r>
            <a:endParaRPr lang="pt-BR"/>
          </a:p>
          <a:p>
            <a:pPr lvl="1" rtl="0">
              <a:lnSpc>
                <a:spcPct val="85000"/>
              </a:lnSpc>
              <a:spcBef>
                <a:spcPct val="30000"/>
              </a:spcBef>
            </a:pPr>
            <a:r>
              <a:rPr lang="pt-BR"/>
              <a:t>Para configurar manualmente um endereço IPv4 em um host do Windows, abra o </a:t>
            </a:r>
            <a:r>
              <a:rPr lang="pt-BR" b="1"/>
              <a:t>Painel de controle &gt; Central de Rede e Compartilhamento &gt; Alterar as configurações</a:t>
            </a:r>
            <a:r>
              <a:rPr lang="pt-BR"/>
              <a:t> do adaptador e escolha o adaptador. Clique com o botão direito e selecione </a:t>
            </a:r>
            <a:r>
              <a:rPr lang="pt-BR" b="1"/>
              <a:t>Propriedades</a:t>
            </a:r>
            <a:r>
              <a:rPr lang="pt-BR"/>
              <a:t> para exibir as </a:t>
            </a:r>
            <a:r>
              <a:rPr lang="pt-BR" b="1"/>
              <a:t>Propriedades da Conexão Local</a:t>
            </a:r>
            <a:endParaRPr lang="pt-BR" b="1"/>
          </a:p>
          <a:p>
            <a:pPr lvl="1" rtl="0">
              <a:lnSpc>
                <a:spcPct val="85000"/>
              </a:lnSpc>
              <a:spcBef>
                <a:spcPct val="30000"/>
              </a:spcBef>
            </a:pPr>
            <a:r>
              <a:rPr lang="pt-BR"/>
              <a:t>Depois, Clique em</a:t>
            </a:r>
            <a:r>
              <a:rPr lang="pt-BR" b="1"/>
              <a:t> Propriedades</a:t>
            </a:r>
            <a:r>
              <a:rPr lang="pt-BR"/>
              <a:t> para abrir a janela de</a:t>
            </a:r>
            <a:r>
              <a:rPr lang="pt-BR" b="1"/>
              <a:t> Propriedades do Protocolo IP Versão 4 (TCP/IPv4)</a:t>
            </a:r>
            <a:r>
              <a:rPr lang="pt-BR"/>
              <a:t>. Em seguida, configure o endereço IPv4 e as informações da máscara de sub-rede e o gateway padrão.</a:t>
            </a:r>
            <a:endParaRPr lang="pt-BR"/>
          </a:p>
          <a:p>
            <a:pPr>
              <a:lnSpc>
                <a:spcPct val="85000"/>
              </a:lnSpc>
              <a:spcBef>
                <a:spcPct val="30000"/>
              </a:spcBef>
            </a:pP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5521613" y="3949232"/>
            <a:ext cx="3160453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rtl="0"/>
            <a:r>
              <a:rPr lang="pt-BR" sz="1400" b="1">
                <a:solidFill>
                  <a:srgbClr val="000000"/>
                </a:solidFill>
                <a:latin typeface="CiscoSans"/>
              </a:rPr>
              <a:t>Observação</a:t>
            </a:r>
            <a:r>
              <a:rPr lang="pt-BR" sz="1400">
                <a:solidFill>
                  <a:srgbClr val="000000"/>
                </a:solidFill>
                <a:latin typeface="CiscoSans"/>
              </a:rPr>
              <a:t>: as opções de endereçamento e configuração IPv6 são semelhantes ao IPv4. </a:t>
            </a:r>
            <a:endParaRPr lang="pt-BR" sz="1400">
              <a:solidFill>
                <a:srgbClr val="000000"/>
              </a:solidFill>
              <a:latin typeface="CiscoSans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8190" y="938988"/>
            <a:ext cx="2527300" cy="28702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p:transition spd="slow">
    <p:wip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>
                <a:latin typeface="Arial" panose="020B0604020202020204" pitchFamily="34" charset="0"/>
              </a:rPr>
              <a:t>Configurar endereços IP </a:t>
            </a:r>
            <a:br>
              <a:rPr lang="en-US" sz="1400" dirty="0">
                <a:latin typeface="Arial" panose="020B0604020202020204" pitchFamily="34" charset="0"/>
              </a:rPr>
            </a:br>
            <a:r>
              <a:rPr lang="pt-BR">
                <a:latin typeface="Arial" panose="020B0604020202020204" pitchFamily="34" charset="0"/>
              </a:rPr>
              <a:t>Configuração automática de endereço IP para dispositivos finais</a:t>
            </a:r>
            <a:endParaRPr lang="pt-BR">
              <a:latin typeface="Arial" panose="020B0604020202020204" pitchFamily="3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45357" y="938988"/>
            <a:ext cx="4142163" cy="3663492"/>
          </a:xfrm>
        </p:spPr>
        <p:txBody>
          <a:bodyPr/>
          <a:lstStyle/>
          <a:p>
            <a:pPr rtl="0">
              <a:lnSpc>
                <a:spcPct val="85000"/>
              </a:lnSpc>
              <a:spcBef>
                <a:spcPct val="30000"/>
              </a:spcBef>
              <a:buFont typeface="Arial" panose="020B0604020202020204" pitchFamily="34" charset="0"/>
              <a:buChar char="•"/>
            </a:pPr>
            <a:r>
              <a:rPr lang="pt-BR" sz="1600"/>
              <a:t>O DHCP habilita a configuração automática de endereço IPv4 para todos os dispositivos finais com o DHCP ativo.</a:t>
            </a:r>
            <a:endParaRPr lang="pt-BR" sz="1600"/>
          </a:p>
          <a:p>
            <a:pPr rtl="0">
              <a:lnSpc>
                <a:spcPct val="85000"/>
              </a:lnSpc>
              <a:spcBef>
                <a:spcPct val="30000"/>
              </a:spcBef>
              <a:buFont typeface="Arial" panose="020B0604020202020204" pitchFamily="34" charset="0"/>
              <a:buChar char="•"/>
            </a:pPr>
            <a:r>
              <a:rPr lang="pt-BR" sz="1600"/>
              <a:t>Os dispositivos finais são normalmente por padrão usando o DHCP para configuração automática de endereço IPv4.</a:t>
            </a:r>
            <a:endParaRPr lang="pt-BR" sz="1600"/>
          </a:p>
          <a:p>
            <a:pPr lvl="1" rtl="0">
              <a:lnSpc>
                <a:spcPct val="85000"/>
              </a:lnSpc>
              <a:spcBef>
                <a:spcPct val="30000"/>
              </a:spcBef>
            </a:pPr>
            <a:r>
              <a:rPr lang="pt-BR"/>
              <a:t>Para configurar manualmente um endereço IPv4 em um host do Windows, abra o </a:t>
            </a:r>
            <a:r>
              <a:rPr lang="pt-BR" b="1"/>
              <a:t>Painel de controle &gt; Central de Rede e Compartilhamento &gt; Alterar as configurações</a:t>
            </a:r>
            <a:r>
              <a:rPr lang="pt-BR"/>
              <a:t> do adaptador e escolha o adaptador. Clique com o botão direito e selecione </a:t>
            </a:r>
            <a:r>
              <a:rPr lang="pt-BR" b="1"/>
              <a:t>Propriedades</a:t>
            </a:r>
            <a:r>
              <a:rPr lang="pt-BR"/>
              <a:t> para exibir as </a:t>
            </a:r>
            <a:r>
              <a:rPr lang="pt-BR" b="1"/>
              <a:t>Propriedades da Conexão Local</a:t>
            </a:r>
            <a:endParaRPr lang="pt-BR" b="1"/>
          </a:p>
          <a:p>
            <a:pPr lvl="1" rtl="0">
              <a:lnSpc>
                <a:spcPct val="85000"/>
              </a:lnSpc>
              <a:spcBef>
                <a:spcPct val="30000"/>
              </a:spcBef>
            </a:pPr>
            <a:r>
              <a:rPr lang="pt-BR"/>
              <a:t>Em seguida, clique em </a:t>
            </a:r>
            <a:r>
              <a:rPr lang="pt-BR" b="1"/>
              <a:t>Preferência</a:t>
            </a:r>
            <a:r>
              <a:rPr lang="pt-BR"/>
              <a:t>s para abrir a janela </a:t>
            </a:r>
            <a:r>
              <a:rPr lang="pt-BR" b="1"/>
              <a:t>Propriedades da Internet Protocol Versão 4 (TCP / IPv4)</a:t>
            </a:r>
            <a:r>
              <a:rPr lang="pt-BR"/>
              <a:t> e selecione </a:t>
            </a:r>
            <a:r>
              <a:rPr lang="pt-BR" b="1"/>
              <a:t>Obter um endereço IP automaticamente</a:t>
            </a:r>
            <a:r>
              <a:rPr lang="pt-BR"/>
              <a:t> e </a:t>
            </a:r>
            <a:r>
              <a:rPr lang="pt-BR" b="1"/>
              <a:t>Obter automaticamente o endereço do servidor DNS.</a:t>
            </a:r>
            <a:endParaRPr lang="pt-BR" b="1"/>
          </a:p>
          <a:p>
            <a:pPr>
              <a:lnSpc>
                <a:spcPct val="85000"/>
              </a:lnSpc>
              <a:spcBef>
                <a:spcPct val="30000"/>
              </a:spcBef>
            </a:pPr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4856480" y="3961932"/>
            <a:ext cx="4142163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rtl="0"/>
            <a:r>
              <a:rPr lang="pt-BR" sz="1400" b="1">
                <a:solidFill>
                  <a:srgbClr val="000000"/>
                </a:solidFill>
                <a:latin typeface="CiscoSans"/>
              </a:rPr>
              <a:t>Observação</a:t>
            </a:r>
            <a:r>
              <a:rPr lang="pt-BR" sz="1400">
                <a:solidFill>
                  <a:srgbClr val="000000"/>
                </a:solidFill>
                <a:latin typeface="CiscoSans"/>
              </a:rPr>
              <a:t>: o IPv6 usa DHCPv6 e SLAAC (Stateless Address Autoconfiguration) para alocação de endereços dinâmicos. </a:t>
            </a:r>
            <a:endParaRPr lang="pt-BR" sz="1400">
              <a:solidFill>
                <a:srgbClr val="000000"/>
              </a:solidFill>
              <a:latin typeface="CiscoSans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79440" y="938988"/>
            <a:ext cx="2540000" cy="28829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p:transition spd="slow">
    <p:wip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>
                <a:latin typeface="Arial" panose="020B0604020202020204" pitchFamily="34" charset="0"/>
              </a:rPr>
              <a:t>Configurar endereços IP</a:t>
            </a:r>
            <a:br>
              <a:rPr lang="en-US" dirty="0">
                <a:latin typeface="Arial" panose="020B0604020202020204" pitchFamily="34" charset="0"/>
              </a:rPr>
            </a:br>
            <a:r>
              <a:rPr lang="pt-BR">
                <a:latin typeface="Arial" panose="020B0604020202020204" pitchFamily="34" charset="0"/>
              </a:rPr>
              <a:t> Interface virtual de switch</a:t>
            </a:r>
            <a:endParaRPr lang="pt-BR">
              <a:latin typeface="Arial" panose="020B0604020202020204" pitchFamily="3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661958" y="982574"/>
            <a:ext cx="7820083" cy="1763572"/>
          </a:xfrm>
        </p:spPr>
        <p:txBody>
          <a:bodyPr/>
          <a:lstStyle/>
          <a:p>
            <a:pPr marL="0" indent="0" rtl="0">
              <a:lnSpc>
                <a:spcPct val="85000"/>
              </a:lnSpc>
              <a:spcBef>
                <a:spcPct val="30000"/>
              </a:spcBef>
              <a:buNone/>
            </a:pPr>
            <a:r>
              <a:rPr lang="pt-BR"/>
              <a:t>Para acessar o switch remotamente, um endereço IP e uma máscara de sub-rede devem ser configurados na SVI. </a:t>
            </a:r>
            <a:endParaRPr lang="pt-BR"/>
          </a:p>
          <a:p>
            <a:pPr marL="0" indent="0" rtl="0">
              <a:lnSpc>
                <a:spcPct val="85000"/>
              </a:lnSpc>
              <a:spcBef>
                <a:spcPct val="30000"/>
              </a:spcBef>
              <a:buNone/>
            </a:pPr>
            <a:r>
              <a:rPr lang="pt-BR"/>
              <a:t>Para configurar um SVI em um switch:</a:t>
            </a:r>
            <a:endParaRPr lang="pt-BR"/>
          </a:p>
          <a:p>
            <a:pPr lvl="1" rtl="0">
              <a:lnSpc>
                <a:spcPct val="85000"/>
              </a:lnSpc>
              <a:spcBef>
                <a:spcPct val="30000"/>
              </a:spcBef>
            </a:pPr>
            <a:r>
              <a:rPr lang="pt-BR"/>
              <a:t>Digite o comando </a:t>
            </a:r>
            <a:r>
              <a:rPr lang="pt-BR" b="1"/>
              <a:t>interface vlan 1</a:t>
            </a:r>
            <a:r>
              <a:rPr lang="pt-BR"/>
              <a:t> no modo de configuração global.</a:t>
            </a:r>
            <a:endParaRPr lang="pt-BR"/>
          </a:p>
          <a:p>
            <a:pPr lvl="1" rtl="0">
              <a:lnSpc>
                <a:spcPct val="85000"/>
              </a:lnSpc>
              <a:spcBef>
                <a:spcPct val="30000"/>
              </a:spcBef>
            </a:pPr>
            <a:r>
              <a:rPr lang="pt-BR"/>
              <a:t>Em seguida, atribua um endereço IPv4 usando o comando </a:t>
            </a:r>
            <a:r>
              <a:rPr lang="pt-BR" b="1"/>
              <a:t>ip address </a:t>
            </a:r>
            <a:r>
              <a:rPr lang="pt-BR"/>
              <a:t> </a:t>
            </a:r>
            <a:r>
              <a:rPr lang="pt-BR" i="1"/>
              <a:t>ip-address subnet-mask.</a:t>
            </a:r>
            <a:endParaRPr lang="pt-BR" i="1"/>
          </a:p>
          <a:p>
            <a:pPr lvl="1" rtl="0">
              <a:lnSpc>
                <a:spcPct val="85000"/>
              </a:lnSpc>
              <a:spcBef>
                <a:spcPct val="30000"/>
              </a:spcBef>
            </a:pPr>
            <a:r>
              <a:rPr lang="pt-BR"/>
              <a:t>Por fim, ative a interface virtual com o comando de configuração de interface </a:t>
            </a:r>
            <a:r>
              <a:rPr lang="pt-BR" b="1"/>
              <a:t>no shutdown</a:t>
            </a:r>
            <a:r>
              <a:rPr lang="pt-BR"/>
              <a:t>. </a:t>
            </a:r>
            <a:endParaRPr lang="pt-BR"/>
          </a:p>
          <a:p>
            <a:pPr>
              <a:lnSpc>
                <a:spcPct val="85000"/>
              </a:lnSpc>
              <a:spcBef>
                <a:spcPct val="30000"/>
              </a:spcBef>
            </a:pPr>
            <a:endParaRPr 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5799" y="3203284"/>
            <a:ext cx="5232400" cy="8382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p:transition spd="slow">
    <p:wip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1838960"/>
            <a:ext cx="8231464" cy="878840"/>
          </a:xfrm>
        </p:spPr>
        <p:txBody>
          <a:bodyPr/>
          <a:lstStyle/>
          <a:p>
            <a:pPr rtl="0"/>
            <a:r>
              <a:rPr lang="pt-BR" sz="4000">
                <a:solidFill>
                  <a:schemeClr val="accent5">
                    <a:lumMod val="40000"/>
                    <a:lumOff val="60000"/>
                  </a:schemeClr>
                </a:solidFill>
              </a:rPr>
              <a:t>2.8 - Verificar a conectividade.</a:t>
            </a:r>
            <a:endParaRPr lang="pt-BR" sz="4000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118872"/>
            <a:ext cx="9144000" cy="592921"/>
          </a:xfrm>
        </p:spPr>
        <p:txBody>
          <a:bodyPr/>
          <a:lstStyle/>
          <a:p>
            <a:pPr rtl="0"/>
            <a:r>
              <a:rPr lang="pt-BR" sz="1600"/>
              <a:t>Verificação de conectividade </a:t>
            </a:r>
            <a:br>
              <a:rPr lang="en-US" altLang="en-US" dirty="0"/>
            </a:br>
            <a:r>
              <a:rPr lang="pt-BR"/>
              <a:t>Testar a conectividade de ponta a ponta</a:t>
            </a: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idx="1"/>
          </p:nvPr>
        </p:nvSpPr>
        <p:spPr>
          <a:xfrm>
            <a:off x="179882" y="1034322"/>
            <a:ext cx="8649325" cy="3522688"/>
          </a:xfrm>
        </p:spPr>
        <p:txBody>
          <a:bodyPr/>
          <a:lstStyle/>
          <a:p>
            <a:pPr marL="0" indent="0" rtl="0">
              <a:buNone/>
            </a:pPr>
            <a:r>
              <a:rPr lang="pt-BR"/>
              <a:t>Este vídeo abordará o uso do comando ping para testar a conectividade em ambos os switches e em ambos os PCs. </a:t>
            </a:r>
            <a:endParaRPr lang="pt-BR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altLang="ja-JP" dirty="0"/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  <p:transition spd="slow">
    <p:wipe/>
  </p:transition>
</p:sld>
</file>

<file path=ppt/tags/tag1.xml><?xml version="1.0" encoding="utf-8"?>
<p:tagLst xmlns:p="http://schemas.openxmlformats.org/presentationml/2006/main">
  <p:tag name="ARTICULATE_SLIDE_THUMBNAIL_REFRESH" val="1"/>
</p:tagLst>
</file>

<file path=ppt/tags/tag2.xml><?xml version="1.0" encoding="utf-8"?>
<p:tagLst xmlns:p="http://schemas.openxmlformats.org/presentationml/2006/main">
  <p:tag name="ARTICULATE_SLIDE_THUMBNAIL_REFRESH" val="1"/>
</p:tagLst>
</file>

<file path=ppt/tags/tag3.xml><?xml version="1.0" encoding="utf-8"?>
<p:tagLst xmlns:p="http://schemas.openxmlformats.org/presentationml/2006/main">
  <p:tag name="ARTICULATE_SLIDE_THUMBNAIL_REFRESH" val="1"/>
</p:tagLst>
</file>

<file path=ppt/tags/tag4.xml><?xml version="1.0" encoding="utf-8"?>
<p:tagLst xmlns:p="http://schemas.openxmlformats.org/presentationml/2006/main">
  <p:tag name="ARTICULATE_SLIDE_THUMBNAIL_REFRESH" val="1"/>
</p:tagLst>
</file>

<file path=ppt/tags/tag5.xml><?xml version="1.0" encoding="utf-8"?>
<p:tagLst xmlns:p="http://schemas.openxmlformats.org/presentationml/2006/main">
  <p:tag name="ARTICULATE_SLIDE_THUMBNAIL_REFRESH" val="1"/>
</p:tagLst>
</file>

<file path=ppt/tags/tag6.xml><?xml version="1.0" encoding="utf-8"?>
<p:tagLst xmlns:p="http://schemas.openxmlformats.org/presentationml/2006/main">
  <p:tag name="ARTICULATE_SLIDE_THUMBNAIL_REFRESH" val="1"/>
</p:tagLst>
</file>

<file path=ppt/tags/tag7.xml><?xml version="1.0" encoding="utf-8"?>
<p:tagLst xmlns:p="http://schemas.openxmlformats.org/presentationml/2006/main">
  <p:tag name="ARTICULATE_SLIDE_THUMBNAIL_REFRESH" val="1"/>
</p:tagLst>
</file>

<file path=ppt/tags/tag8.xml><?xml version="1.0" encoding="utf-8"?>
<p:tagLst xmlns:p="http://schemas.openxmlformats.org/presentationml/2006/main">
  <p:tag name="ARTICULATE_SLIDE_THUMBNAIL_REFRESH" val="1"/>
</p:tagLst>
</file>

<file path=ppt/tags/tag9.xml><?xml version="1.0" encoding="utf-8"?>
<p:tagLst xmlns:p="http://schemas.openxmlformats.org/presentationml/2006/main">
  <p:tag name="ARTICULATE_SLIDE_THUMBNAIL_REFRESH" val="1"/>
</p:tagLst>
</file>

<file path=ppt/tags/tag10.xml><?xml version="1.0" encoding="utf-8"?>
<p:tagLst xmlns:p="http://schemas.openxmlformats.org/presentationml/2006/main">
  <p:tag name="ARTICULATE_SLIDE_THUMBNAIL_REFRESH" val="1"/>
</p:tagLst>
</file>

<file path=ppt/tags/tag11.xml><?xml version="1.0" encoding="utf-8"?>
<p:tagLst xmlns:p="http://schemas.openxmlformats.org/presentationml/2006/main">
  <p:tag name="ARTICULATE_SLIDE_THUMBNAIL_REFRESH" val="1"/>
</p:tagLst>
</file>

<file path=ppt/tags/tag12.xml><?xml version="1.0" encoding="utf-8"?>
<p:tagLst xmlns:p="http://schemas.openxmlformats.org/presentationml/2006/main">
  <p:tag name="ARTICULATE_SLIDE_THUMBNAIL_REFRESH" val="1"/>
</p:tagLst>
</file>

<file path=ppt/tags/tag13.xml><?xml version="1.0" encoding="utf-8"?>
<p:tagLst xmlns:p="http://schemas.openxmlformats.org/presentationml/2006/main">
  <p:tag name="ARTICULATE_SLIDE_THUMBNAIL_REFRESH" val="1"/>
</p:tagLst>
</file>

<file path=ppt/tags/tag14.xml><?xml version="1.0" encoding="utf-8"?>
<p:tagLst xmlns:p="http://schemas.openxmlformats.org/presentationml/2006/main">
  <p:tag name="ARTICULATE_SLIDE_THUMBNAIL_REFRESH" val="1"/>
</p:tagLst>
</file>

<file path=ppt/tags/tag15.xml><?xml version="1.0" encoding="utf-8"?>
<p:tagLst xmlns:p="http://schemas.openxmlformats.org/presentationml/2006/main">
  <p:tag name="ARTICULATE_SLIDE_THUMBNAIL_REFRESH" val="1"/>
</p:tagLst>
</file>

<file path=ppt/tags/tag16.xml><?xml version="1.0" encoding="utf-8"?>
<p:tagLst xmlns:p="http://schemas.openxmlformats.org/presentationml/2006/main">
  <p:tag name="ARTICULATE_SLIDE_THUMBNAIL_REFRESH" val="1"/>
</p:tagLst>
</file>

<file path=ppt/tags/tag17.xml><?xml version="1.0" encoding="utf-8"?>
<p:tagLst xmlns:p="http://schemas.openxmlformats.org/presentationml/2006/main">
  <p:tag name="ARTICULATE_SLIDE_THUMBNAIL_REFRESH" val="1"/>
</p:tagLst>
</file>

<file path=ppt/tags/tag18.xml><?xml version="1.0" encoding="utf-8"?>
<p:tagLst xmlns:p="http://schemas.openxmlformats.org/presentationml/2006/main">
  <p:tag name="ARTICULATE_SLIDE_THUMBNAIL_REFRESH" val="1"/>
</p:tagLst>
</file>

<file path=ppt/tags/tag19.xml><?xml version="1.0" encoding="utf-8"?>
<p:tagLst xmlns:p="http://schemas.openxmlformats.org/presentationml/2006/main">
  <p:tag name="ARTICULATE_SLIDE_THUMBNAIL_REFRESH" val="1"/>
</p:tagLst>
</file>

<file path=ppt/tags/tag20.xml><?xml version="1.0" encoding="utf-8"?>
<p:tagLst xmlns:p="http://schemas.openxmlformats.org/presentationml/2006/main">
  <p:tag name="ARTICULATE_SLIDE_THUMBNAIL_REFRESH" val="1"/>
</p:tagLst>
</file>

<file path=ppt/tags/tag21.xml><?xml version="1.0" encoding="utf-8"?>
<p:tagLst xmlns:p="http://schemas.openxmlformats.org/presentationml/2006/main">
  <p:tag name="ARTICULATE_SLIDE_THUMBNAIL_REFRESH" val="1"/>
</p:tagLst>
</file>

<file path=ppt/tags/tag22.xml><?xml version="1.0" encoding="utf-8"?>
<p:tagLst xmlns:p="http://schemas.openxmlformats.org/presentationml/2006/main">
  <p:tag name="ARTICULATE_SLIDE_THUMBNAIL_REFRESH" val="1"/>
</p:tagLst>
</file>

<file path=ppt/tags/tag23.xml><?xml version="1.0" encoding="utf-8"?>
<p:tagLst xmlns:p="http://schemas.openxmlformats.org/presentationml/2006/main">
  <p:tag name="ARTICULATE_SLIDE_THUMBNAIL_REFRESH" val="1"/>
</p:tagLst>
</file>

<file path=ppt/tags/tag24.xml><?xml version="1.0" encoding="utf-8"?>
<p:tagLst xmlns:p="http://schemas.openxmlformats.org/presentationml/2006/main">
  <p:tag name="ARTICULATE_SLIDE_THUMBNAIL_REFRESH" val="1"/>
</p:tagLst>
</file>

<file path=ppt/tags/tag25.xml><?xml version="1.0" encoding="utf-8"?>
<p:tagLst xmlns:p="http://schemas.openxmlformats.org/presentationml/2006/main">
  <p:tag name="ARTICULATE_SLIDE_THUMBNAIL_REFRESH" val="1"/>
</p:tagLst>
</file>

<file path=ppt/tags/tag26.xml><?xml version="1.0" encoding="utf-8"?>
<p:tagLst xmlns:p="http://schemas.openxmlformats.org/presentationml/2006/main">
  <p:tag name="ARTICULATE_SLIDE_THUMBNAIL_REFRESH" val="1"/>
</p:tagLst>
</file>

<file path=ppt/tags/tag27.xml><?xml version="1.0" encoding="utf-8"?>
<p:tagLst xmlns:p="http://schemas.openxmlformats.org/presentationml/2006/main">
  <p:tag name="ARTICULATE_SLIDE_THUMBNAIL_REFRESH" val="1"/>
</p:tagLst>
</file>

<file path=ppt/tags/tag28.xml><?xml version="1.0" encoding="utf-8"?>
<p:tagLst xmlns:p="http://schemas.openxmlformats.org/presentationml/2006/main">
  <p:tag name="ARTICULATE_SLIDE_THUMBNAIL_REFRESH" val="1"/>
</p:tagLst>
</file>

<file path=ppt/tags/tag29.xml><?xml version="1.0" encoding="utf-8"?>
<p:tagLst xmlns:p="http://schemas.openxmlformats.org/presentationml/2006/main">
  <p:tag name="ARTICULATE_SLIDE_THUMBNAIL_REFRESH" val="1"/>
</p:tagLst>
</file>

<file path=ppt/tags/tag30.xml><?xml version="1.0" encoding="utf-8"?>
<p:tagLst xmlns:p="http://schemas.openxmlformats.org/presentationml/2006/main">
  <p:tag name="ARTICULATE_SLIDE_THUMBNAIL_REFRESH" val="1"/>
</p:tagLst>
</file>

<file path=ppt/tags/tag31.xml><?xml version="1.0" encoding="utf-8"?>
<p:tagLst xmlns:p="http://schemas.openxmlformats.org/presentationml/2006/main">
  <p:tag name="ARTICULATE_SLIDE_THUMBNAIL_REFRESH" val="1"/>
</p:tagLst>
</file>

<file path=ppt/tags/tag32.xml><?xml version="1.0" encoding="utf-8"?>
<p:tagLst xmlns:p="http://schemas.openxmlformats.org/presentationml/2006/main">
  <p:tag name="ARTICULATE_SLIDE_THUMBNAIL_REFRESH" val="1"/>
</p:tagLst>
</file>

<file path=ppt/tags/tag33.xml><?xml version="1.0" encoding="utf-8"?>
<p:tagLst xmlns:p="http://schemas.openxmlformats.org/presentationml/2006/main">
  <p:tag name="ARTICULATE_SLIDE_THUMBNAIL_REFRESH" val="1"/>
</p:tagLst>
</file>

<file path=ppt/tags/tag34.xml><?xml version="1.0" encoding="utf-8"?>
<p:tagLst xmlns:p="http://schemas.openxmlformats.org/presentationml/2006/main">
  <p:tag name="ARTICULATE_SLIDE_THUMBNAIL_REFRESH" val="1"/>
</p:tagLst>
</file>

<file path=ppt/tags/tag35.xml><?xml version="1.0" encoding="utf-8"?>
<p:tagLst xmlns:p="http://schemas.openxmlformats.org/presentationml/2006/main">
  <p:tag name="ARTICULATE_SLIDE_THUMBNAIL_REFRESH" val="1"/>
</p:tagLst>
</file>

<file path=ppt/tags/tag36.xml><?xml version="1.0" encoding="utf-8"?>
<p:tagLst xmlns:p="http://schemas.openxmlformats.org/presentationml/2006/main">
  <p:tag name="ARTICULATE_SLIDE_THUMBNAIL_REFRESH" val="1"/>
</p:tagLst>
</file>

<file path=ppt/tags/tag37.xml><?xml version="1.0" encoding="utf-8"?>
<p:tagLst xmlns:p="http://schemas.openxmlformats.org/presentationml/2006/main">
  <p:tag name="ARTICULATE_SLIDE_THUMBNAIL_REFRESH" val="1"/>
</p:tagLst>
</file>

<file path=ppt/tags/tag38.xml><?xml version="1.0" encoding="utf-8"?>
<p:tagLst xmlns:p="http://schemas.openxmlformats.org/presentationml/2006/main">
  <p:tag name="ARTICULATE_SLIDE_THUMBNAIL_REFRESH" val="1"/>
</p:tagLst>
</file>

<file path=ppt/tags/tag39.xml><?xml version="1.0" encoding="utf-8"?>
<p:tagLst xmlns:p="http://schemas.openxmlformats.org/presentationml/2006/main">
  <p:tag name="ARTICULATE_SLIDE_THUMBNAIL_REFRESH" val="1"/>
</p:tagLst>
</file>

<file path=ppt/tags/tag40.xml><?xml version="1.0" encoding="utf-8"?>
<p:tagLst xmlns:p="http://schemas.openxmlformats.org/presentationml/2006/main">
  <p:tag name="ARTICULATE_SLIDE_THUMBNAIL_REFRESH" val="1"/>
</p:tagLst>
</file>

<file path=ppt/tags/tag41.xml><?xml version="1.0" encoding="utf-8"?>
<p:tagLst xmlns:p="http://schemas.openxmlformats.org/presentationml/2006/main">
  <p:tag name="ARTICULATE_SLIDE_THUMBNAIL_REFRESH" val="1"/>
</p:tagLst>
</file>

<file path=ppt/tags/tag42.xml><?xml version="1.0" encoding="utf-8"?>
<p:tagLst xmlns:p="http://schemas.openxmlformats.org/presentationml/2006/main">
  <p:tag name="ARTICULATE_SLIDE_THUMBNAIL_REFRESH" val="1"/>
</p:tagLst>
</file>

<file path=ppt/tags/tag43.xml><?xml version="1.0" encoding="utf-8"?>
<p:tagLst xmlns:p="http://schemas.openxmlformats.org/presentationml/2006/main">
  <p:tag name="ARTICULATE_SLIDE_THUMBNAIL_REFRESH" val="1"/>
</p:tagLst>
</file>

<file path=ppt/tags/tag44.xml><?xml version="1.0" encoding="utf-8"?>
<p:tagLst xmlns:p="http://schemas.openxmlformats.org/presentationml/2006/main">
  <p:tag name="ARTICULATE_SLIDE_COUNT" val="65"/>
  <p:tag name="ARTICULATE_PROJECT_OPEN" val="0"/>
</p:tagLst>
</file>

<file path=ppt/theme/theme1.xml><?xml version="1.0" encoding="utf-8"?>
<a:theme xmlns:a="http://schemas.openxmlformats.org/drawingml/2006/main" name="Default Theme">
  <a:themeElements>
    <a:clrScheme name="Custom 6">
      <a:dk1>
        <a:srgbClr val="58585B"/>
      </a:dk1>
      <a:lt1>
        <a:srgbClr val="FFFFFF"/>
      </a:lt1>
      <a:dk2>
        <a:srgbClr val="58585B"/>
      </a:dk2>
      <a:lt2>
        <a:srgbClr val="81C569"/>
      </a:lt2>
      <a:accent1>
        <a:srgbClr val="004C69"/>
      </a:accent1>
      <a:accent2>
        <a:srgbClr val="9E0B0F"/>
      </a:accent2>
      <a:accent3>
        <a:srgbClr val="FFFFFF"/>
      </a:accent3>
      <a:accent4>
        <a:srgbClr val="367187"/>
      </a:accent4>
      <a:accent5>
        <a:srgbClr val="38C6F4"/>
      </a:accent5>
      <a:accent6>
        <a:srgbClr val="FBAB18"/>
      </a:accent6>
      <a:hlink>
        <a:srgbClr val="38C6F4"/>
      </a:hlink>
      <a:folHlink>
        <a:srgbClr val="81C569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6A4D7"/>
        </a:solidFill>
        <a:ln>
          <a:noFill/>
        </a:ln>
      </a:spPr>
      <a:bodyPr rtlCol="0" anchor="ctr"/>
      <a:lstStyle>
        <a:defPPr algn="ctr"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0</TotalTime>
  <Words>18869</Words>
  <Application>WPS Presentation</Application>
  <PresentationFormat>On-screen Show (16:9)</PresentationFormat>
  <Paragraphs>400</Paragraphs>
  <Slides>43</Slides>
  <Notes>71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43</vt:i4>
      </vt:variant>
    </vt:vector>
  </HeadingPairs>
  <TitlesOfParts>
    <vt:vector size="62" baseType="lpstr">
      <vt:lpstr>Arial</vt:lpstr>
      <vt:lpstr>SimSun</vt:lpstr>
      <vt:lpstr>Wingdings</vt:lpstr>
      <vt:lpstr>MS PGothic</vt:lpstr>
      <vt:lpstr>Droid Sans Fallback</vt:lpstr>
      <vt:lpstr>CiscoSans Thin</vt:lpstr>
      <vt:lpstr>Gubbi</vt:lpstr>
      <vt:lpstr>MS PGothic</vt:lpstr>
      <vt:lpstr>CiscoSans</vt:lpstr>
      <vt:lpstr>CiscoSans</vt:lpstr>
      <vt:lpstr>CiscoSans ExtraLight</vt:lpstr>
      <vt:lpstr>Arial</vt:lpstr>
      <vt:lpstr>CiscoSans ExtraLight</vt:lpstr>
      <vt:lpstr>OpenSymbol</vt:lpstr>
      <vt:lpstr>Microsoft YaHei</vt:lpstr>
      <vt:lpstr>Arial Unicode MS</vt:lpstr>
      <vt:lpstr>Calibri</vt:lpstr>
      <vt:lpstr>Trebuchet MS</vt:lpstr>
      <vt:lpstr>Default Theme</vt:lpstr>
      <vt:lpstr>Módulo 2: Configuração Básica do Switch e do Dispositivo Final</vt:lpstr>
      <vt:lpstr>2.1 – Acesso ao Cisco IOS</vt:lpstr>
      <vt:lpstr>Acesso ao Cisco IOS Cisco IOS Sistema Operacional de Redes</vt:lpstr>
      <vt:lpstr>Acesso à Cisco IOS  GUI (Graphical User Interface)</vt:lpstr>
      <vt:lpstr>Acesso à Cisco IOS  Cisco IOS Finalidade do OS (Operation System)</vt:lpstr>
      <vt:lpstr>Acesso à Cisco IOS  Métodos de Acesso ao IOS</vt:lpstr>
      <vt:lpstr>Acesso ao Cisco IOS  Programa de Emulação de Terminal</vt:lpstr>
      <vt:lpstr>2.2 - Navegação IOS</vt:lpstr>
      <vt:lpstr>Navegação no IOS  Modos de comando primários</vt:lpstr>
      <vt:lpstr>Navegação no IOS  Modo de Configuração Global e Subconfiguração</vt:lpstr>
      <vt:lpstr>Navegação no IOS  Navegar entre os Modos do IOS</vt:lpstr>
      <vt:lpstr>Navegar no IOS  Navegar entre os modos do IOS</vt:lpstr>
      <vt:lpstr>2.3 – A estrutura de comandos</vt:lpstr>
      <vt:lpstr>A estrutura de comandos Estrutura básica de comandos do IOS</vt:lpstr>
      <vt:lpstr>A estrutura de comandos  Sintaxe do comando do IOS</vt:lpstr>
      <vt:lpstr>A estrutura de comandos  Sintaxe do comando do IOS</vt:lpstr>
      <vt:lpstr>A estrutura de comandos  Recursos da ajuda do IOS</vt:lpstr>
      <vt:lpstr>A estrutura de comandos  Teclas de acesso e atalhos</vt:lpstr>
      <vt:lpstr>A estrutura de comandos  Teclas de acesso e atalhos (Cont.)</vt:lpstr>
      <vt:lpstr>A estrutura de comandos  Teclas de acesso e atalhos (Cont.)</vt:lpstr>
      <vt:lpstr>2.4 - Configuração Básica do Dispositivo</vt:lpstr>
      <vt:lpstr>Configuração Básica do Dispositivo -  Nomes de dispositivos</vt:lpstr>
      <vt:lpstr>Diretrizes desenhade configuração básica do dispositivo</vt:lpstr>
      <vt:lpstr>Configuração básica do dispositivo configurar senhas</vt:lpstr>
      <vt:lpstr>Configuração básica do dispositivo configurar senhas</vt:lpstr>
      <vt:lpstr>Configuração básica do dispositivo Criptografar senhas</vt:lpstr>
      <vt:lpstr>Configuração básica de dispositivos  Mensagens Banner</vt:lpstr>
      <vt:lpstr>2.5 Salvar configurações</vt:lpstr>
      <vt:lpstr>Salvar configurações  Arquivos de Configuração</vt:lpstr>
      <vt:lpstr>Salvar configurações  Alterar a configuração de execução</vt:lpstr>
      <vt:lpstr>Salvar configurações  Capturar a configuração em um arquivo de texto</vt:lpstr>
      <vt:lpstr> Salvar configurações Capturar a configuração em um arquivo de texto (continuação)</vt:lpstr>
      <vt:lpstr>2.6 Portas e Endereços</vt:lpstr>
      <vt:lpstr>Portas e endereços  Endereços IP</vt:lpstr>
      <vt:lpstr>Portas e endereços  Endereços IP (Cont.)</vt:lpstr>
      <vt:lpstr> Portas e endereços Interfaces e portas</vt:lpstr>
      <vt:lpstr>2.7 - Configurar endereços IP</vt:lpstr>
      <vt:lpstr>Configurar endereços IP  Configuração manual de endereço IP para dispositivos finais</vt:lpstr>
      <vt:lpstr>Configurar endereços IP  Configuração automática de endereço IP para dispositivos finais</vt:lpstr>
      <vt:lpstr>Configurar endereços IP  Interface virtual de switch</vt:lpstr>
      <vt:lpstr>2.8 - Verificar a conectividade.</vt:lpstr>
      <vt:lpstr>Vídeo de Verificação  de Conectividade - Testar a conectividade de ponta a ponta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2: Basic Switch and End Device Configuration</dc:title>
  <dc:creator>Stephanie Harvey</dc:creator>
  <cp:lastModifiedBy>vaamonde</cp:lastModifiedBy>
  <cp:revision>232</cp:revision>
  <dcterms:created xsi:type="dcterms:W3CDTF">2026-03-01T18:10:58Z</dcterms:created>
  <dcterms:modified xsi:type="dcterms:W3CDTF">2026-03-01T18:10:58Z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sync_ProviderInitializationData">
    <vt:lpwstr>https://cisco.jiveon.com</vt:lpwstr>
  </property>
  <property fmtid="{D5CDD505-2E9C-101B-9397-08002B2CF9AE}" pid="3" name="Offisync_UpdateToken">
    <vt:lpwstr>1</vt:lpwstr>
  </property>
  <property fmtid="{D5CDD505-2E9C-101B-9397-08002B2CF9AE}" pid="4" name="Offisync_ServerID">
    <vt:lpwstr>07841bbc-cd3c-4a76-827f-75a2226890f4</vt:lpwstr>
  </property>
  <property fmtid="{D5CDD505-2E9C-101B-9397-08002B2CF9AE}" pid="5" name="Offisync_UniqueId">
    <vt:lpwstr>1702406</vt:lpwstr>
  </property>
  <property fmtid="{D5CDD505-2E9C-101B-9397-08002B2CF9AE}" pid="6" name="Jive_VersionGuid">
    <vt:lpwstr>fd96a0b3-f68d-4727-8e4f-2128d37ed30a</vt:lpwstr>
  </property>
  <property fmtid="{D5CDD505-2E9C-101B-9397-08002B2CF9AE}" pid="7" name="Jive_LatestUserAccountName">
    <vt:lpwstr>alljohns</vt:lpwstr>
  </property>
  <property fmtid="{D5CDD505-2E9C-101B-9397-08002B2CF9AE}" pid="8" name="ArticulateGUID">
    <vt:lpwstr>F9A496F7-57D7-4028-9572-D40DFDF3715A</vt:lpwstr>
  </property>
  <property fmtid="{D5CDD505-2E9C-101B-9397-08002B2CF9AE}" pid="9" name="ArticulatePath">
    <vt:lpwstr>ITE7_Chp9_by_jg</vt:lpwstr>
  </property>
  <property fmtid="{D5CDD505-2E9C-101B-9397-08002B2CF9AE}" pid="10" name="ICV">
    <vt:lpwstr/>
  </property>
  <property fmtid="{D5CDD505-2E9C-101B-9397-08002B2CF9AE}" pid="11" name="KSOProductBuildVer">
    <vt:lpwstr>1046-11.1.0.11723</vt:lpwstr>
  </property>
</Properties>
</file>