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tags/tag13.xml" ContentType="application/vnd.openxmlformats-officedocument.presentationml.tags+xml"/>
  <Override PartName="/ppt/notesSlides/notesSlide19.xml" ContentType="application/vnd.openxmlformats-officedocument.presentationml.notesSlide+xml"/>
  <Override PartName="/ppt/tags/tag14.xml" ContentType="application/vnd.openxmlformats-officedocument.presentationml.tags+xml"/>
  <Override PartName="/ppt/notesSlides/notesSlide20.xml" ContentType="application/vnd.openxmlformats-officedocument.presentationml.notesSlide+xml"/>
  <Override PartName="/ppt/tags/tag15.xml" ContentType="application/vnd.openxmlformats-officedocument.presentationml.tags+xml"/>
  <Override PartName="/ppt/notesSlides/notesSlide21.xml" ContentType="application/vnd.openxmlformats-officedocument.presentationml.notesSlide+xml"/>
  <Override PartName="/ppt/tags/tag16.xml" ContentType="application/vnd.openxmlformats-officedocument.presentationml.tags+xml"/>
  <Override PartName="/ppt/notesSlides/notesSlide22.xml" ContentType="application/vnd.openxmlformats-officedocument.presentationml.notesSlide+xml"/>
  <Override PartName="/ppt/tags/tag1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8.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9.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2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1"/>
  </p:notesMasterIdLst>
  <p:sldIdLst>
    <p:sldId id="513" r:id="rId2"/>
    <p:sldId id="1131" r:id="rId3"/>
    <p:sldId id="1132" r:id="rId4"/>
    <p:sldId id="1133" r:id="rId5"/>
    <p:sldId id="880" r:id="rId6"/>
    <p:sldId id="924" r:id="rId7"/>
    <p:sldId id="1052" r:id="rId8"/>
    <p:sldId id="1054" r:id="rId9"/>
    <p:sldId id="1055" r:id="rId10"/>
    <p:sldId id="876" r:id="rId11"/>
    <p:sldId id="925" r:id="rId12"/>
    <p:sldId id="759" r:id="rId13"/>
    <p:sldId id="628" r:id="rId14"/>
    <p:sldId id="926" r:id="rId15"/>
    <p:sldId id="1059" r:id="rId16"/>
    <p:sldId id="1060" r:id="rId17"/>
    <p:sldId id="1061" r:id="rId18"/>
    <p:sldId id="1062" r:id="rId19"/>
    <p:sldId id="1123" r:id="rId20"/>
    <p:sldId id="927" r:id="rId21"/>
    <p:sldId id="788" r:id="rId22"/>
    <p:sldId id="1070" r:id="rId23"/>
    <p:sldId id="1124" r:id="rId24"/>
    <p:sldId id="1071" r:id="rId25"/>
    <p:sldId id="886" r:id="rId26"/>
    <p:sldId id="936" r:id="rId27"/>
    <p:sldId id="1072" r:id="rId28"/>
    <p:sldId id="1074" r:id="rId29"/>
    <p:sldId id="1075" r:id="rId30"/>
    <p:sldId id="1125" r:id="rId31"/>
    <p:sldId id="1076" r:id="rId32"/>
    <p:sldId id="942" r:id="rId33"/>
    <p:sldId id="957" r:id="rId34"/>
    <p:sldId id="1126" r:id="rId35"/>
    <p:sldId id="1078" r:id="rId36"/>
    <p:sldId id="1079" r:id="rId37"/>
    <p:sldId id="1081" r:id="rId38"/>
    <p:sldId id="952" r:id="rId39"/>
    <p:sldId id="966" r:id="rId40"/>
    <p:sldId id="1082" r:id="rId41"/>
    <p:sldId id="1083" r:id="rId42"/>
    <p:sldId id="1127" r:id="rId43"/>
    <p:sldId id="1086" r:id="rId44"/>
    <p:sldId id="1087" r:id="rId45"/>
    <p:sldId id="980" r:id="rId46"/>
    <p:sldId id="1107" r:id="rId47"/>
    <p:sldId id="1129" r:id="rId48"/>
    <p:sldId id="1130" r:id="rId49"/>
    <p:sldId id="1121" r:id="rId50"/>
  </p:sldIdLst>
  <p:sldSz cx="9144000" cy="5143500" type="screen16x9"/>
  <p:notesSz cx="6858000" cy="9144000"/>
  <p:custDataLst>
    <p:tags r:id="rId5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A855F-A2BB-5EA2-317F-2034FCAD39D3}" v="10" dt="2020-06-28T23:41:42.8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75" d="100"/>
          <a:sy n="75" d="100"/>
        </p:scale>
        <p:origin x="1316" y="4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FFAA855F-A2BB-5EA2-317F-2034FCAD39D3}"/>
    <pc:docChg chg="modSld">
      <pc:chgData name="Gilberto Neves Sudre Filho" userId="S::gilberto.neves@faesa.br::d3375f58-c24b-48d7-baef-871d87266953" providerId="AD" clId="Web-{FFAA855F-A2BB-5EA2-317F-2034FCAD39D3}" dt="2020-06-28T23:41:42.881" v="9" actId="14100"/>
      <pc:docMkLst>
        <pc:docMk/>
      </pc:docMkLst>
      <pc:sldChg chg="modSp">
        <pc:chgData name="Gilberto Neves Sudre Filho" userId="S::gilberto.neves@faesa.br::d3375f58-c24b-48d7-baef-871d87266953" providerId="AD" clId="Web-{FFAA855F-A2BB-5EA2-317F-2034FCAD39D3}" dt="2020-06-28T23:41:16.708" v="5" actId="1076"/>
        <pc:sldMkLst>
          <pc:docMk/>
          <pc:sldMk cId="700830764" sldId="957"/>
        </pc:sldMkLst>
        <pc:picChg chg="mod">
          <ac:chgData name="Gilberto Neves Sudre Filho" userId="S::gilberto.neves@faesa.br::d3375f58-c24b-48d7-baef-871d87266953" providerId="AD" clId="Web-{FFAA855F-A2BB-5EA2-317F-2034FCAD39D3}" dt="2020-06-28T23:41:16.708" v="5" actId="1076"/>
          <ac:picMkLst>
            <pc:docMk/>
            <pc:sldMk cId="700830764" sldId="957"/>
            <ac:picMk id="5122" creationId="{00000000-0000-0000-0000-000000000000}"/>
          </ac:picMkLst>
        </pc:picChg>
      </pc:sldChg>
      <pc:sldChg chg="modSp">
        <pc:chgData name="Gilberto Neves Sudre Filho" userId="S::gilberto.neves@faesa.br::d3375f58-c24b-48d7-baef-871d87266953" providerId="AD" clId="Web-{FFAA855F-A2BB-5EA2-317F-2034FCAD39D3}" dt="2020-06-28T23:40:47.395" v="0" actId="20577"/>
        <pc:sldMkLst>
          <pc:docMk/>
          <pc:sldMk cId="3161630264" sldId="1072"/>
        </pc:sldMkLst>
        <pc:spChg chg="mod">
          <ac:chgData name="Gilberto Neves Sudre Filho" userId="S::gilberto.neves@faesa.br::d3375f58-c24b-48d7-baef-871d87266953" providerId="AD" clId="Web-{FFAA855F-A2BB-5EA2-317F-2034FCAD39D3}" dt="2020-06-28T23:40:47.395" v="0" actId="20577"/>
          <ac:spMkLst>
            <pc:docMk/>
            <pc:sldMk cId="3161630264" sldId="1072"/>
            <ac:spMk id="13315" creationId="{00000000-0000-0000-0000-000000000000}"/>
          </ac:spMkLst>
        </pc:spChg>
      </pc:sldChg>
      <pc:sldChg chg="modSp">
        <pc:chgData name="Gilberto Neves Sudre Filho" userId="S::gilberto.neves@faesa.br::d3375f58-c24b-48d7-baef-871d87266953" providerId="AD" clId="Web-{FFAA855F-A2BB-5EA2-317F-2034FCAD39D3}" dt="2020-06-28T23:41:06.099" v="3" actId="20577"/>
        <pc:sldMkLst>
          <pc:docMk/>
          <pc:sldMk cId="2622725155" sldId="1074"/>
        </pc:sldMkLst>
        <pc:spChg chg="mod">
          <ac:chgData name="Gilberto Neves Sudre Filho" userId="S::gilberto.neves@faesa.br::d3375f58-c24b-48d7-baef-871d87266953" providerId="AD" clId="Web-{FFAA855F-A2BB-5EA2-317F-2034FCAD39D3}" dt="2020-06-28T23:40:59.396" v="1" actId="1076"/>
          <ac:spMkLst>
            <pc:docMk/>
            <pc:sldMk cId="2622725155" sldId="1074"/>
            <ac:spMk id="13314" creationId="{00000000-0000-0000-0000-000000000000}"/>
          </ac:spMkLst>
        </pc:spChg>
        <pc:spChg chg="mod">
          <ac:chgData name="Gilberto Neves Sudre Filho" userId="S::gilberto.neves@faesa.br::d3375f58-c24b-48d7-baef-871d87266953" providerId="AD" clId="Web-{FFAA855F-A2BB-5EA2-317F-2034FCAD39D3}" dt="2020-06-28T23:41:06.099" v="3" actId="20577"/>
          <ac:spMkLst>
            <pc:docMk/>
            <pc:sldMk cId="2622725155" sldId="1074"/>
            <ac:spMk id="13315" creationId="{00000000-0000-0000-0000-000000000000}"/>
          </ac:spMkLst>
        </pc:spChg>
        <pc:picChg chg="mod">
          <ac:chgData name="Gilberto Neves Sudre Filho" userId="S::gilberto.neves@faesa.br::d3375f58-c24b-48d7-baef-871d87266953" providerId="AD" clId="Web-{FFAA855F-A2BB-5EA2-317F-2034FCAD39D3}" dt="2020-06-28T23:41:01.317" v="2" actId="1076"/>
          <ac:picMkLst>
            <pc:docMk/>
            <pc:sldMk cId="2622725155" sldId="1074"/>
            <ac:picMk id="4099" creationId="{00000000-0000-0000-0000-000000000000}"/>
          </ac:picMkLst>
        </pc:picChg>
      </pc:sldChg>
      <pc:sldChg chg="modSp">
        <pc:chgData name="Gilberto Neves Sudre Filho" userId="S::gilberto.neves@faesa.br::d3375f58-c24b-48d7-baef-871d87266953" providerId="AD" clId="Web-{FFAA855F-A2BB-5EA2-317F-2034FCAD39D3}" dt="2020-06-28T23:41:32.553" v="7" actId="1076"/>
        <pc:sldMkLst>
          <pc:docMk/>
          <pc:sldMk cId="2471866069" sldId="1082"/>
        </pc:sldMkLst>
        <pc:picChg chg="mod">
          <ac:chgData name="Gilberto Neves Sudre Filho" userId="S::gilberto.neves@faesa.br::d3375f58-c24b-48d7-baef-871d87266953" providerId="AD" clId="Web-{FFAA855F-A2BB-5EA2-317F-2034FCAD39D3}" dt="2020-06-28T23:41:32.553" v="7" actId="1076"/>
          <ac:picMkLst>
            <pc:docMk/>
            <pc:sldMk cId="2471866069" sldId="1082"/>
            <ac:picMk id="9218" creationId="{00000000-0000-0000-0000-000000000000}"/>
          </ac:picMkLst>
        </pc:picChg>
      </pc:sldChg>
      <pc:sldChg chg="modSp">
        <pc:chgData name="Gilberto Neves Sudre Filho" userId="S::gilberto.neves@faesa.br::d3375f58-c24b-48d7-baef-871d87266953" providerId="AD" clId="Web-{FFAA855F-A2BB-5EA2-317F-2034FCAD39D3}" dt="2020-06-28T23:41:38.678" v="8" actId="14100"/>
        <pc:sldMkLst>
          <pc:docMk/>
          <pc:sldMk cId="725251992" sldId="1083"/>
        </pc:sldMkLst>
        <pc:spChg chg="mod">
          <ac:chgData name="Gilberto Neves Sudre Filho" userId="S::gilberto.neves@faesa.br::d3375f58-c24b-48d7-baef-871d87266953" providerId="AD" clId="Web-{FFAA855F-A2BB-5EA2-317F-2034FCAD39D3}" dt="2020-06-28T23:41:38.678" v="8" actId="14100"/>
          <ac:spMkLst>
            <pc:docMk/>
            <pc:sldMk cId="725251992" sldId="1083"/>
            <ac:spMk id="13314" creationId="{00000000-0000-0000-0000-000000000000}"/>
          </ac:spMkLst>
        </pc:spChg>
      </pc:sldChg>
      <pc:sldChg chg="modSp">
        <pc:chgData name="Gilberto Neves Sudre Filho" userId="S::gilberto.neves@faesa.br::d3375f58-c24b-48d7-baef-871d87266953" providerId="AD" clId="Web-{FFAA855F-A2BB-5EA2-317F-2034FCAD39D3}" dt="2020-06-28T23:41:21.146" v="6" actId="1076"/>
        <pc:sldMkLst>
          <pc:docMk/>
          <pc:sldMk cId="1090649388" sldId="1126"/>
        </pc:sldMkLst>
        <pc:picChg chg="mod">
          <ac:chgData name="Gilberto Neves Sudre Filho" userId="S::gilberto.neves@faesa.br::d3375f58-c24b-48d7-baef-871d87266953" providerId="AD" clId="Web-{FFAA855F-A2BB-5EA2-317F-2034FCAD39D3}" dt="2020-06-28T23:41:21.146" v="6" actId="1076"/>
          <ac:picMkLst>
            <pc:docMk/>
            <pc:sldMk cId="1090649388" sldId="1126"/>
            <ac:picMk id="5122" creationId="{00000000-0000-0000-0000-000000000000}"/>
          </ac:picMkLst>
        </pc:picChg>
      </pc:sldChg>
      <pc:sldChg chg="modSp">
        <pc:chgData name="Gilberto Neves Sudre Filho" userId="S::gilberto.neves@faesa.br::d3375f58-c24b-48d7-baef-871d87266953" providerId="AD" clId="Web-{FFAA855F-A2BB-5EA2-317F-2034FCAD39D3}" dt="2020-06-28T23:41:42.881" v="9" actId="14100"/>
        <pc:sldMkLst>
          <pc:docMk/>
          <pc:sldMk cId="1797906835" sldId="1127"/>
        </pc:sldMkLst>
        <pc:spChg chg="mod">
          <ac:chgData name="Gilberto Neves Sudre Filho" userId="S::gilberto.neves@faesa.br::d3375f58-c24b-48d7-baef-871d87266953" providerId="AD" clId="Web-{FFAA855F-A2BB-5EA2-317F-2034FCAD39D3}" dt="2020-06-28T23:41:42.881" v="9" actId="14100"/>
          <ac:spMkLst>
            <pc:docMk/>
            <pc:sldMk cId="1797906835" sldId="1127"/>
            <ac:spMk id="133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baseline="0"/>
              <a:t>Introdução às redes v</a:t>
            </a:r>
            <a:r>
              <a:rPr lang="pt-BR" b="0"/>
              <a:t>7.0 (ITN)</a:t>
            </a:r>
          </a:p>
          <a:p>
            <a:pPr rtl="0">
              <a:buFontTx/>
              <a:buNone/>
            </a:pPr>
            <a:r>
              <a:rPr lang="pt-BR" sz="1200" b="0"/>
              <a:t>Módulo 8: Protocolos e Módulos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8</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83819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9</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6044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a:t>Introdução às redes v7.0 (ITN)</a:t>
            </a:r>
          </a:p>
          <a:p>
            <a:pPr rtl="0">
              <a:buFontTx/>
              <a:buNone/>
            </a:pPr>
            <a:r>
              <a:rPr lang="pt-BR" sz="1200">
                <a:solidFill>
                  <a:schemeClr val="accent5">
                    <a:lumMod val="40000"/>
                    <a:lumOff val="60000"/>
                  </a:schemeClr>
                </a:solidFill>
              </a:rPr>
              <a:t>Módulo 8: Camada de rede</a:t>
            </a:r>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11</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8.0 - Introdução</a:t>
            </a:r>
          </a:p>
          <a:p>
            <a:pPr rtl="0">
              <a:lnSpc>
                <a:spcPct val="80000"/>
              </a:lnSpc>
              <a:buFontTx/>
              <a:buNone/>
            </a:pPr>
            <a:r>
              <a:rPr lang="pt-BR" sz="1200" kern="1200">
                <a:solidFill>
                  <a:schemeClr val="tx1"/>
                </a:solidFill>
                <a:latin typeface="Arial" charset="0"/>
                <a:ea typeface="ＭＳ Ｐゴシック" charset="0"/>
                <a:cs typeface="ＭＳ Ｐゴシック" charset="0"/>
              </a:rPr>
              <a:t>8.0.2- </a:t>
            </a:r>
            <a:r>
              <a:rPr lang="pt-BR" sz="1200" kern="1200">
                <a:solidFill>
                  <a:schemeClr val="tx1"/>
                </a:solidFill>
                <a:latin typeface="+mn-lt"/>
                <a:ea typeface="+mn-ea"/>
                <a:cs typeface="+mn-cs"/>
              </a:rPr>
              <a:t>O que</a:t>
            </a:r>
            <a:r>
              <a:rPr lang="pt-BR" sz="1200" kern="1200" baseline="0">
                <a:solidFill>
                  <a:schemeClr val="tx1"/>
                </a:solidFill>
                <a:latin typeface="+mn-lt"/>
                <a:ea typeface="+mn-ea"/>
                <a:cs typeface="+mn-cs"/>
              </a:rPr>
              <a:t> aprenderei a fazer neste módulo.</a:t>
            </a: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p:txBody>
      </p:sp>
      <p:sp>
        <p:nvSpPr>
          <p:cNvPr id="4" name="Slide Number Placeholder 3"/>
          <p:cNvSpPr>
            <a:spLocks noGrp="1"/>
          </p:cNvSpPr>
          <p:nvPr>
            <p:ph type="sldNum" sz="quarter" idx="10"/>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13</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sz="1200" kern="1200">
                <a:solidFill>
                  <a:schemeClr val="tx1"/>
                </a:solidFill>
                <a:latin typeface="Arial" charset="0"/>
                <a:ea typeface="ＭＳ Ｐゴシック" charset="0"/>
                <a:cs typeface="ＭＳ Ｐゴシック" charset="0"/>
              </a:rPr>
              <a:t>8.1.1 — </a:t>
            </a:r>
            <a:r>
              <a:rPr lang="pt-BR"/>
              <a:t>A camada de rede</a:t>
            </a:r>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a:latin typeface="Arial" charset="0"/>
              </a:rPr>
              <a:t>8.1.2</a:t>
            </a:r>
            <a:r>
              <a:rPr lang="pt-BR" baseline="0">
                <a:latin typeface="Arial" charset="0"/>
              </a:rPr>
              <a:t> </a:t>
            </a:r>
            <a:r>
              <a:rPr lang="pt-BR" sz="1200" b="0"/>
              <a:t>— </a:t>
            </a:r>
            <a:r>
              <a:rPr lang="pt-BR"/>
              <a:t>Encapsulamento IP </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a:latin typeface="Arial" charset="0"/>
              </a:rPr>
              <a:t>8.1.3</a:t>
            </a:r>
            <a:r>
              <a:rPr lang="pt-BR" baseline="0">
                <a:latin typeface="Arial" charset="0"/>
              </a:rPr>
              <a:t> </a:t>
            </a:r>
            <a:r>
              <a:rPr lang="pt-BR" sz="1200" b="0"/>
              <a:t> –</a:t>
            </a:r>
            <a:r>
              <a:rPr lang="pt-BR"/>
              <a:t> Características do IP</a:t>
            </a:r>
          </a:p>
        </p:txBody>
      </p:sp>
    </p:spTree>
    <p:extLst>
      <p:ext uri="{BB962C8B-B14F-4D97-AF65-F5344CB8AC3E}">
        <p14:creationId xmlns:p14="http://schemas.microsoft.com/office/powerpoint/2010/main" val="78533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a:latin typeface="Arial" charset="0"/>
              </a:rPr>
              <a:t>8.1.4</a:t>
            </a:r>
            <a:r>
              <a:rPr lang="pt-BR" baseline="0">
                <a:latin typeface="Arial" charset="0"/>
              </a:rPr>
              <a:t> </a:t>
            </a:r>
            <a:r>
              <a:rPr lang="pt-BR" sz="1200" b="0"/>
              <a:t>-</a:t>
            </a:r>
            <a:r>
              <a:rPr lang="pt-BR"/>
              <a:t>Sem Conexão</a:t>
            </a:r>
          </a:p>
        </p:txBody>
      </p:sp>
    </p:spTree>
    <p:extLst>
      <p:ext uri="{BB962C8B-B14F-4D97-AF65-F5344CB8AC3E}">
        <p14:creationId xmlns:p14="http://schemas.microsoft.com/office/powerpoint/2010/main" val="78533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a:latin typeface="Arial" charset="0"/>
              </a:rPr>
              <a:t>8.1.5 </a:t>
            </a:r>
            <a:r>
              <a:rPr lang="pt-BR" baseline="0">
                <a:latin typeface="Arial" charset="0"/>
              </a:rPr>
              <a:t> </a:t>
            </a:r>
            <a:r>
              <a:rPr lang="pt-BR" sz="1200" b="0"/>
              <a:t>-</a:t>
            </a:r>
            <a:r>
              <a:rPr lang="pt-BR"/>
              <a:t>Melhor esforço</a:t>
            </a:r>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a:latin typeface="Arial" charset="0"/>
              </a:rPr>
              <a:t>8.1.6</a:t>
            </a:r>
            <a:r>
              <a:rPr lang="pt-BR" baseline="0">
                <a:latin typeface="Arial" charset="0"/>
              </a:rPr>
              <a:t> </a:t>
            </a:r>
            <a:r>
              <a:rPr lang="pt-BR" sz="1200" b="0"/>
              <a:t>–</a:t>
            </a:r>
            <a:r>
              <a:rPr lang="pt-BR" sz="1200" b="0" baseline="0"/>
              <a:t> </a:t>
            </a:r>
            <a:r>
              <a:rPr lang="pt-BR"/>
              <a:t>Independente de mídia</a:t>
            </a:r>
          </a:p>
          <a:p>
            <a:pPr rtl="0">
              <a:buFontTx/>
              <a:buNone/>
            </a:pPr>
            <a:r>
              <a:rPr lang="pt-BR"/>
              <a:t>8.1.7</a:t>
            </a:r>
            <a:r>
              <a:rPr lang="pt-BR" baseline="0"/>
              <a:t> </a:t>
            </a:r>
            <a:r>
              <a:rPr lang="pt-BR" sz="1200">
                <a:effectLst/>
              </a:rPr>
              <a:t>Verifique o seu entendimento — </a:t>
            </a:r>
            <a:r>
              <a:rPr lang="pt-BR" sz="1200">
                <a:solidFill>
                  <a:schemeClr val="accent5">
                    <a:lumMod val="40000"/>
                    <a:lumOff val="60000"/>
                  </a:schemeClr>
                </a:solidFill>
                <a:effectLst/>
              </a:rPr>
              <a:t> Características </a:t>
            </a:r>
            <a:r>
              <a:rPr lang="pt-BR"/>
              <a:t>de</a:t>
            </a:r>
            <a:r>
              <a:rPr lang="pt-BR">
                <a:solidFill>
                  <a:schemeClr val="accent5">
                    <a:lumMod val="40000"/>
                    <a:lumOff val="60000"/>
                  </a:schemeClr>
                </a:solidFill>
              </a:rPr>
              <a:t>IP </a:t>
            </a:r>
          </a:p>
        </p:txBody>
      </p:sp>
    </p:spTree>
    <p:extLst>
      <p:ext uri="{BB962C8B-B14F-4D97-AF65-F5344CB8AC3E}">
        <p14:creationId xmlns:p14="http://schemas.microsoft.com/office/powerpoint/2010/main" val="78533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8.1 </a:t>
            </a:r>
            <a:r>
              <a:rPr lang="pt-BR">
                <a:solidFill>
                  <a:schemeClr val="accent5">
                    <a:lumMod val="40000"/>
                    <a:lumOff val="60000"/>
                  </a:schemeClr>
                </a:solidFill>
              </a:rPr>
              <a:t>Características de camada de rede</a:t>
            </a:r>
          </a:p>
          <a:p>
            <a:pPr rtl="0">
              <a:lnSpc>
                <a:spcPct val="80000"/>
              </a:lnSpc>
              <a:buFontTx/>
              <a:buNone/>
            </a:pPr>
            <a:r>
              <a:rPr lang="pt-BR">
                <a:latin typeface="Arial" charset="0"/>
              </a:rPr>
              <a:t>8.1.6</a:t>
            </a:r>
            <a:r>
              <a:rPr lang="pt-BR" baseline="0">
                <a:latin typeface="Arial" charset="0"/>
              </a:rPr>
              <a:t> </a:t>
            </a:r>
            <a:r>
              <a:rPr lang="pt-BR" sz="1200" b="0"/>
              <a:t>–</a:t>
            </a:r>
            <a:r>
              <a:rPr lang="pt-BR" sz="1200" b="0" baseline="0"/>
              <a:t> </a:t>
            </a:r>
            <a:r>
              <a:rPr lang="pt-BR"/>
              <a:t>Independente de mídia</a:t>
            </a:r>
          </a:p>
          <a:p>
            <a:pPr rtl="0">
              <a:buFontTx/>
              <a:buNone/>
            </a:pPr>
            <a:r>
              <a:rPr lang="pt-BR"/>
              <a:t>8.1.7</a:t>
            </a:r>
            <a:r>
              <a:rPr lang="pt-BR" baseline="0"/>
              <a:t> </a:t>
            </a:r>
            <a:r>
              <a:rPr lang="pt-BR" sz="1200">
                <a:effectLst/>
              </a:rPr>
              <a:t>Verifique o seu entendimento — </a:t>
            </a:r>
            <a:r>
              <a:rPr lang="pt-BR" sz="1200">
                <a:solidFill>
                  <a:schemeClr val="accent5">
                    <a:lumMod val="40000"/>
                    <a:lumOff val="60000"/>
                  </a:schemeClr>
                </a:solidFill>
                <a:effectLst/>
              </a:rPr>
              <a:t> Características </a:t>
            </a:r>
            <a:r>
              <a:rPr lang="pt-BR"/>
              <a:t>de</a:t>
            </a:r>
            <a:r>
              <a:rPr lang="pt-BR">
                <a:solidFill>
                  <a:schemeClr val="accent5">
                    <a:lumMod val="40000"/>
                    <a:lumOff val="60000"/>
                  </a:schemeClr>
                </a:solidFill>
              </a:rPr>
              <a:t>IP </a:t>
            </a:r>
          </a:p>
        </p:txBody>
      </p:sp>
    </p:spTree>
    <p:extLst>
      <p:ext uri="{BB962C8B-B14F-4D97-AF65-F5344CB8AC3E}">
        <p14:creationId xmlns:p14="http://schemas.microsoft.com/office/powerpoint/2010/main" val="2465286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8.2 — </a:t>
            </a:r>
            <a:r>
              <a:rPr lang="pt-BR">
                <a:solidFill>
                  <a:schemeClr val="accent5">
                    <a:lumMod val="40000"/>
                    <a:lumOff val="60000"/>
                  </a:schemeClr>
                </a:solidFill>
              </a:rPr>
              <a:t>Pacote IPv4</a:t>
            </a:r>
          </a:p>
        </p:txBody>
      </p:sp>
      <p:sp>
        <p:nvSpPr>
          <p:cNvPr id="4" name="Slide Number Placeholder 3"/>
          <p:cNvSpPr>
            <a:spLocks noGrp="1"/>
          </p:cNvSpPr>
          <p:nvPr>
            <p:ph type="sldNum" sz="quarter" idx="10"/>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21</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8.2 — </a:t>
            </a:r>
            <a:r>
              <a:rPr lang="pt-BR">
                <a:solidFill>
                  <a:schemeClr val="accent5">
                    <a:lumMod val="40000"/>
                    <a:lumOff val="60000"/>
                  </a:schemeClr>
                </a:solidFill>
              </a:rPr>
              <a:t>Pacote IPv4</a:t>
            </a:r>
          </a:p>
          <a:p>
            <a:pPr rtl="0">
              <a:lnSpc>
                <a:spcPct val="80000"/>
              </a:lnSpc>
              <a:buFontTx/>
              <a:buNone/>
            </a:pPr>
            <a:r>
              <a:rPr lang="pt-BR" sz="1200" kern="1200">
                <a:solidFill>
                  <a:schemeClr val="tx1"/>
                </a:solidFill>
                <a:latin typeface="Arial" charset="0"/>
                <a:ea typeface="ＭＳ Ｐゴシック" charset="0"/>
                <a:cs typeface="ＭＳ Ｐゴシック" charset="0"/>
              </a:rPr>
              <a:t>8.2.1 -</a:t>
            </a:r>
            <a:r>
              <a:rPr lang="pt-BR"/>
              <a:t>Cabeçalho do Pacote IPv4</a:t>
            </a: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8.2 – </a:t>
            </a:r>
            <a:r>
              <a:rPr lang="pt-BR">
                <a:solidFill>
                  <a:schemeClr val="accent5">
                    <a:lumMod val="40000"/>
                    <a:lumOff val="60000"/>
                  </a:schemeClr>
                </a:solidFill>
              </a:rPr>
              <a:t>IPv4 Packet</a:t>
            </a:r>
          </a:p>
          <a:p>
            <a:pPr rtl="0">
              <a:lnSpc>
                <a:spcPct val="80000"/>
              </a:lnSpc>
              <a:buFontTx/>
              <a:buNone/>
            </a:pPr>
            <a:r>
              <a:rPr lang="pt-BR" sz="1200" kern="1200">
                <a:solidFill>
                  <a:schemeClr val="tx1"/>
                </a:solidFill>
                <a:latin typeface="Arial" charset="0"/>
                <a:ea typeface="ＭＳ Ｐゴシック" charset="0"/>
                <a:cs typeface="ＭＳ Ｐゴシック" charset="0"/>
              </a:rPr>
              <a:t>8.2.2</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 </a:t>
            </a:r>
            <a:r>
              <a:rPr lang="pt-BR"/>
              <a:t>Campos do cabeçalho de pacote IPv4</a:t>
            </a:r>
          </a:p>
        </p:txBody>
      </p:sp>
    </p:spTree>
    <p:extLst>
      <p:ext uri="{BB962C8B-B14F-4D97-AF65-F5344CB8AC3E}">
        <p14:creationId xmlns:p14="http://schemas.microsoft.com/office/powerpoint/2010/main" val="3427554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8.2 – </a:t>
            </a:r>
            <a:r>
              <a:rPr lang="pt-BR">
                <a:solidFill>
                  <a:schemeClr val="accent5">
                    <a:lumMod val="40000"/>
                    <a:lumOff val="60000"/>
                  </a:schemeClr>
                </a:solidFill>
              </a:rPr>
              <a:t>IPv4 Packet</a:t>
            </a:r>
          </a:p>
          <a:p>
            <a:pPr rtl="0">
              <a:lnSpc>
                <a:spcPct val="80000"/>
              </a:lnSpc>
              <a:buFontTx/>
              <a:buNone/>
            </a:pPr>
            <a:r>
              <a:rPr lang="pt-BR" sz="1200" kern="1200">
                <a:solidFill>
                  <a:schemeClr val="tx1"/>
                </a:solidFill>
                <a:latin typeface="Arial" charset="0"/>
                <a:ea typeface="ＭＳ Ｐゴシック" charset="0"/>
                <a:cs typeface="ＭＳ Ｐゴシック" charset="0"/>
              </a:rPr>
              <a:t>8.2.2</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Campos do cabeçalho de pacote IPv4</a:t>
            </a:r>
          </a:p>
        </p:txBody>
      </p:sp>
    </p:spTree>
    <p:extLst>
      <p:ext uri="{BB962C8B-B14F-4D97-AF65-F5344CB8AC3E}">
        <p14:creationId xmlns:p14="http://schemas.microsoft.com/office/powerpoint/2010/main" val="3427554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8.2 – </a:t>
            </a:r>
            <a:r>
              <a:rPr lang="pt-BR">
                <a:solidFill>
                  <a:schemeClr val="accent5">
                    <a:lumMod val="40000"/>
                    <a:lumOff val="60000"/>
                  </a:schemeClr>
                </a:solidFill>
              </a:rPr>
              <a:t>IPv4 Packet</a:t>
            </a:r>
          </a:p>
          <a:p>
            <a:pPr rtl="0">
              <a:lnSpc>
                <a:spcPct val="80000"/>
              </a:lnSpc>
              <a:buFontTx/>
              <a:buNone/>
            </a:pPr>
            <a:r>
              <a:rPr lang="pt-BR" sz="1200" kern="1200">
                <a:solidFill>
                  <a:schemeClr val="tx1"/>
                </a:solidFill>
                <a:latin typeface="Arial" charset="0"/>
                <a:ea typeface="ＭＳ Ｐゴシック" charset="0"/>
                <a:cs typeface="ＭＳ Ｐゴシック" charset="0"/>
              </a:rPr>
              <a:t>8.2.3</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Vídeo - Exemplo de cabeçalhos IPv4 no Wireshark</a:t>
            </a:r>
          </a:p>
          <a:p>
            <a:pPr rtl="0">
              <a:lnSpc>
                <a:spcPct val="80000"/>
              </a:lnSpc>
              <a:buFontTx/>
              <a:buNone/>
            </a:pPr>
            <a:r>
              <a:rPr lang="pt-BR" sz="1200" kern="1200">
                <a:solidFill>
                  <a:schemeClr val="tx1"/>
                </a:solidFill>
                <a:latin typeface="Arial" charset="0"/>
                <a:ea typeface="ＭＳ Ｐゴシック" charset="0"/>
                <a:cs typeface="ＭＳ Ｐゴシック" charset="0"/>
              </a:rPr>
              <a:t>8.2.4</a:t>
            </a:r>
            <a:r>
              <a:rPr lang="pt-BR" sz="1200" kern="1200" baseline="0">
                <a:solidFill>
                  <a:schemeClr val="tx1"/>
                </a:solidFill>
                <a:latin typeface="Arial" charset="0"/>
                <a:ea typeface="ＭＳ Ｐゴシック" charset="0"/>
                <a:cs typeface="ＭＳ Ｐゴシック" charset="0"/>
              </a:rPr>
              <a:t> </a:t>
            </a:r>
            <a:r>
              <a:rPr lang="pt-BR" sz="1200">
                <a:effectLst/>
              </a:rPr>
              <a:t>— Verifique o seu entendimento — </a:t>
            </a:r>
            <a:r>
              <a:rPr lang="pt-BR">
                <a:solidFill>
                  <a:schemeClr val="accent5">
                    <a:lumMod val="40000"/>
                    <a:lumOff val="60000"/>
                  </a:schemeClr>
                </a:solidFill>
              </a:rPr>
              <a:t>Pacote IPv4 </a:t>
            </a:r>
          </a:p>
        </p:txBody>
      </p:sp>
    </p:spTree>
    <p:extLst>
      <p:ext uri="{BB962C8B-B14F-4D97-AF65-F5344CB8AC3E}">
        <p14:creationId xmlns:p14="http://schemas.microsoft.com/office/powerpoint/2010/main" val="3427554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25</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a:p>
            <a:pPr rtl="0">
              <a:buFontTx/>
              <a:buNone/>
            </a:pPr>
            <a:r>
              <a:rPr lang="pt-BR" sz="1200" kern="1200">
                <a:solidFill>
                  <a:schemeClr val="tx1"/>
                </a:solidFill>
                <a:latin typeface="Arial" charset="0"/>
                <a:ea typeface="ＭＳ Ｐゴシック" charset="0"/>
                <a:cs typeface="ＭＳ Ｐゴシック" charset="0"/>
              </a:rPr>
              <a:t>8.3.1</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Limitações do IPv4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26</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a:p>
            <a:pPr rtl="0">
              <a:buFontTx/>
              <a:buNone/>
            </a:pPr>
            <a:r>
              <a:rPr lang="pt-BR" sz="1200" kern="1200">
                <a:solidFill>
                  <a:schemeClr val="tx1"/>
                </a:solidFill>
                <a:latin typeface="Arial" charset="0"/>
                <a:ea typeface="ＭＳ Ｐゴシック" charset="0"/>
                <a:cs typeface="ＭＳ Ｐゴシック" charset="0"/>
              </a:rPr>
              <a:t>8.3.2</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 Visão geral do IPv6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27</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a:p>
            <a:pPr rtl="0">
              <a:buFontTx/>
              <a:buNone/>
            </a:pPr>
            <a:r>
              <a:rPr lang="pt-BR" sz="1200" kern="1200">
                <a:solidFill>
                  <a:schemeClr val="tx1"/>
                </a:solidFill>
                <a:latin typeface="Arial" charset="0"/>
                <a:ea typeface="ＭＳ Ｐゴシック" charset="0"/>
                <a:cs typeface="ＭＳ Ｐゴシック" charset="0"/>
              </a:rPr>
              <a:t>8.3.3</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 Campos de cabeçalho de pacote IPv4 no cabeçalho do pacote IPv6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28</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a:p>
            <a:pPr rtl="0">
              <a:buFontTx/>
              <a:buNone/>
            </a:pPr>
            <a:r>
              <a:rPr lang="pt-BR" sz="1200" kern="1200">
                <a:solidFill>
                  <a:schemeClr val="tx1"/>
                </a:solidFill>
                <a:latin typeface="Arial" charset="0"/>
                <a:ea typeface="ＭＳ Ｐゴシック" charset="0"/>
                <a:cs typeface="ＭＳ Ｐゴシック" charset="0"/>
              </a:rPr>
              <a:t>8.3.4</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Cabeçalho do Pacote IPv6</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29</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a:p>
            <a:pPr rtl="0">
              <a:buFontTx/>
              <a:buNone/>
            </a:pPr>
            <a:r>
              <a:rPr lang="pt-BR" sz="1200" kern="1200">
                <a:solidFill>
                  <a:schemeClr val="tx1"/>
                </a:solidFill>
                <a:latin typeface="Arial" charset="0"/>
                <a:ea typeface="ＭＳ Ｐゴシック" charset="0"/>
                <a:cs typeface="ＭＳ Ｐゴシック" charset="0"/>
              </a:rPr>
              <a:t>8.3.4</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Cabeçalho do Pacote IPv6 (Cont.)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30</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8.3 — </a:t>
            </a:r>
            <a:r>
              <a:rPr lang="pt-BR">
                <a:solidFill>
                  <a:schemeClr val="accent5">
                    <a:lumMod val="40000"/>
                    <a:lumOff val="60000"/>
                  </a:schemeClr>
                </a:solidFill>
              </a:rPr>
              <a:t>Pacotes IPv6</a:t>
            </a:r>
          </a:p>
          <a:p>
            <a:pPr rtl="0">
              <a:buFontTx/>
              <a:buNone/>
            </a:pPr>
            <a:r>
              <a:rPr lang="pt-BR" sz="1200" kern="1200">
                <a:solidFill>
                  <a:schemeClr val="tx1"/>
                </a:solidFill>
                <a:latin typeface="Arial" charset="0"/>
                <a:ea typeface="ＭＳ Ｐゴシック" charset="0"/>
                <a:cs typeface="ＭＳ Ｐゴシック" charset="0"/>
              </a:rPr>
              <a:t>8.3.5 </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Vídeo - Exemplo de cabeçalhos IPv6 no Wireshark</a:t>
            </a:r>
          </a:p>
          <a:p>
            <a:pPr marL="0" marR="0" lvl="0" indent="0" algn="l" defTabSz="457200" rtl="0" eaLnBrk="1" fontAlgn="auto" latinLnBrk="0" hangingPunct="1">
              <a:lnSpc>
                <a:spcPct val="80000"/>
              </a:lnSpc>
              <a:spcBef>
                <a:spcPts val="0"/>
              </a:spcBef>
              <a:spcAft>
                <a:spcPts val="0"/>
              </a:spcAft>
              <a:buClrTx/>
              <a:buSzTx/>
              <a:buFontTx/>
              <a:buNone/>
              <a:tabLst/>
              <a:defRPr/>
            </a:pPr>
            <a:r>
              <a:rPr lang="pt-BR"/>
              <a:t>8.3.6 </a:t>
            </a:r>
            <a:r>
              <a:rPr lang="pt-BR" sz="1200">
                <a:effectLst/>
              </a:rPr>
              <a:t>— Verifique seu entendimento —</a:t>
            </a:r>
            <a:r>
              <a:rPr lang="pt-BR">
                <a:solidFill>
                  <a:schemeClr val="accent5">
                    <a:lumMod val="40000"/>
                    <a:lumOff val="60000"/>
                  </a:schemeClr>
                </a:solidFill>
              </a:rPr>
              <a:t>Pacotes IPv6</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31</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8.4 -</a:t>
            </a:r>
            <a:r>
              <a:rPr lang="pt-BR">
                <a:solidFill>
                  <a:schemeClr val="accent5">
                    <a:lumMod val="40000"/>
                    <a:lumOff val="60000"/>
                  </a:schemeClr>
                </a:solidFill>
              </a:rPr>
              <a:t>Como um host roteia</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32</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8.4 -</a:t>
            </a:r>
            <a:r>
              <a:rPr lang="pt-BR">
                <a:solidFill>
                  <a:schemeClr val="accent5">
                    <a:lumMod val="40000"/>
                    <a:lumOff val="60000"/>
                  </a:schemeClr>
                </a:solidFill>
              </a:rPr>
              <a:t>Como um host roteia</a:t>
            </a:r>
          </a:p>
          <a:p>
            <a:pPr rtl="0"/>
            <a:r>
              <a:rPr lang="pt-BR"/>
              <a:t>8.4.1</a:t>
            </a:r>
            <a:r>
              <a:rPr lang="pt-BR" baseline="0"/>
              <a:t>- </a:t>
            </a:r>
            <a:r>
              <a:rPr lang="pt-BR"/>
              <a:t> Decisão de encaminhamento do host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33</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8.4 -</a:t>
            </a:r>
            <a:r>
              <a:rPr lang="pt-BR">
                <a:solidFill>
                  <a:schemeClr val="accent5">
                    <a:lumMod val="40000"/>
                    <a:lumOff val="60000"/>
                  </a:schemeClr>
                </a:solidFill>
              </a:rPr>
              <a:t>Como um host roteia</a:t>
            </a:r>
          </a:p>
          <a:p>
            <a:pPr rtl="0"/>
            <a:r>
              <a:rPr lang="pt-BR"/>
              <a:t>8.4.1</a:t>
            </a:r>
            <a:r>
              <a:rPr lang="pt-BR" baseline="0"/>
              <a:t>- </a:t>
            </a:r>
            <a:r>
              <a:rPr lang="pt-BR"/>
              <a:t> Decisão de encaminhamento do host(Cont.)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34</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8.4 -</a:t>
            </a:r>
            <a:r>
              <a:rPr lang="pt-BR">
                <a:solidFill>
                  <a:schemeClr val="accent5">
                    <a:lumMod val="40000"/>
                    <a:lumOff val="60000"/>
                  </a:schemeClr>
                </a:solidFill>
              </a:rPr>
              <a:t>Como um host roteia</a:t>
            </a:r>
          </a:p>
          <a:p>
            <a:pPr rtl="0"/>
            <a:r>
              <a:rPr lang="pt-BR"/>
              <a:t>8.4.2</a:t>
            </a:r>
            <a:r>
              <a:rPr lang="pt-BR" baseline="0"/>
              <a:t>-</a:t>
            </a:r>
            <a:r>
              <a:rPr lang="pt-BR"/>
              <a:t>Gateway padrão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35</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8.4 — </a:t>
            </a:r>
            <a:r>
              <a:rPr lang="pt-BR">
                <a:solidFill>
                  <a:schemeClr val="accent5">
                    <a:lumMod val="40000"/>
                    <a:lumOff val="60000"/>
                  </a:schemeClr>
                </a:solidFill>
              </a:rPr>
              <a:t>Como um host roteia </a:t>
            </a:r>
          </a:p>
          <a:p>
            <a:pPr rtl="0"/>
            <a:r>
              <a:rPr lang="pt-BR"/>
              <a:t>8.4.3</a:t>
            </a:r>
            <a:r>
              <a:rPr lang="pt-BR" baseline="0"/>
              <a:t>-</a:t>
            </a:r>
            <a:r>
              <a:rPr lang="pt-BR"/>
              <a:t> Um host direciona para o gateway padrão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36</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8.4 — </a:t>
            </a:r>
            <a:r>
              <a:rPr lang="pt-BR">
                <a:solidFill>
                  <a:schemeClr val="accent5">
                    <a:lumMod val="40000"/>
                    <a:lumOff val="60000"/>
                  </a:schemeClr>
                </a:solidFill>
              </a:rPr>
              <a:t>Como um host roteia </a:t>
            </a:r>
          </a:p>
          <a:p>
            <a:pPr rtl="0"/>
            <a:r>
              <a:rPr lang="pt-BR"/>
              <a:t>8.4.4</a:t>
            </a:r>
            <a:r>
              <a:rPr lang="pt-BR" baseline="0"/>
              <a:t>-</a:t>
            </a:r>
            <a:r>
              <a:rPr lang="pt-BR"/>
              <a:t> Tabelas de Roteamento dos Hosts</a:t>
            </a:r>
          </a:p>
          <a:p>
            <a:pPr rtl="0">
              <a:buFontTx/>
              <a:buNone/>
            </a:pPr>
            <a:r>
              <a:rPr lang="pt-BR" sz="1200" kern="1200">
                <a:solidFill>
                  <a:schemeClr val="tx1"/>
                </a:solidFill>
                <a:latin typeface="Arial" charset="0"/>
                <a:ea typeface="ＭＳ Ｐゴシック" charset="0"/>
                <a:cs typeface="ＭＳ Ｐゴシック" charset="0"/>
              </a:rPr>
              <a:t>8.4.5</a:t>
            </a:r>
            <a:r>
              <a:rPr lang="pt-BR" sz="1200" kern="1200" baseline="0">
                <a:solidFill>
                  <a:schemeClr val="tx1"/>
                </a:solidFill>
                <a:latin typeface="Arial" charset="0"/>
                <a:ea typeface="ＭＳ Ｐゴシック" charset="0"/>
                <a:cs typeface="ＭＳ Ｐゴシック" charset="0"/>
              </a:rPr>
              <a:t> </a:t>
            </a:r>
            <a:r>
              <a:rPr lang="pt-BR" sz="1200">
                <a:effectLst/>
              </a:rPr>
              <a:t>— Verifique seu entendimento — </a:t>
            </a:r>
            <a:r>
              <a:rPr lang="pt-BR">
                <a:solidFill>
                  <a:schemeClr val="accent5">
                    <a:lumMod val="40000"/>
                    <a:lumOff val="60000"/>
                  </a:schemeClr>
                </a:solidFill>
              </a:rPr>
              <a:t>Como um host roteia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37</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38</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a:p>
            <a:pPr rtl="0">
              <a:lnSpc>
                <a:spcPct val="80000"/>
              </a:lnSpc>
              <a:buFontTx/>
              <a:buNone/>
            </a:pPr>
            <a:r>
              <a:rPr lang="pt-BR">
                <a:latin typeface="Arial" charset="0"/>
              </a:rPr>
              <a:t>8.5.1 -</a:t>
            </a:r>
            <a:r>
              <a:rPr lang="pt-BR"/>
              <a:t>Decisão de Encaminhamento de Pacotes do Roteador</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39</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a:p>
            <a:pPr rtl="0">
              <a:lnSpc>
                <a:spcPct val="80000"/>
              </a:lnSpc>
              <a:buFontTx/>
              <a:buNone/>
            </a:pPr>
            <a:r>
              <a:rPr lang="pt-BR">
                <a:latin typeface="Arial" charset="0"/>
              </a:rPr>
              <a:t>8.5.2 — </a:t>
            </a:r>
            <a:r>
              <a:rPr lang="pt-BR"/>
              <a:t>Tabela de roteamento de roteador IP</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40</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a:p>
            <a:pPr rtl="0">
              <a:lnSpc>
                <a:spcPct val="80000"/>
              </a:lnSpc>
              <a:buFontTx/>
              <a:buNone/>
            </a:pPr>
            <a:r>
              <a:rPr lang="pt-BR">
                <a:latin typeface="Arial" charset="0"/>
              </a:rPr>
              <a:t>8.5.3 - </a:t>
            </a:r>
            <a:r>
              <a:rPr lang="pt-BR" sz="1200"/>
              <a:t>Roteamento estático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41</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a:p>
            <a:pPr rtl="0">
              <a:lnSpc>
                <a:spcPct val="80000"/>
              </a:lnSpc>
              <a:buFontTx/>
              <a:buNone/>
            </a:pPr>
            <a:r>
              <a:rPr lang="pt-BR">
                <a:latin typeface="Arial" charset="0"/>
              </a:rPr>
              <a:t>8.5.4 - </a:t>
            </a:r>
            <a:r>
              <a:rPr lang="pt-BR" sz="1200"/>
              <a:t>Roteamento dinâmico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42</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a:p>
            <a:pPr rtl="0">
              <a:lnSpc>
                <a:spcPct val="80000"/>
              </a:lnSpc>
              <a:buFontTx/>
              <a:buNone/>
            </a:pPr>
            <a:r>
              <a:rPr lang="pt-BR">
                <a:latin typeface="Arial" charset="0"/>
              </a:rPr>
              <a:t>8.5.5 - </a:t>
            </a:r>
            <a:r>
              <a:rPr lang="pt-BR"/>
              <a:t> Vídeo - Tabelas de roteamento de roteador IPv4</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43</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8.5 — </a:t>
            </a:r>
            <a:r>
              <a:rPr lang="pt-BR">
                <a:solidFill>
                  <a:schemeClr val="accent5">
                    <a:lumMod val="40000"/>
                    <a:lumOff val="60000"/>
                  </a:schemeClr>
                </a:solidFill>
              </a:rPr>
              <a:t>Introdução ao Roteamento</a:t>
            </a:r>
          </a:p>
          <a:p>
            <a:pPr rtl="0">
              <a:lnSpc>
                <a:spcPct val="80000"/>
              </a:lnSpc>
              <a:buFontTx/>
              <a:buNone/>
            </a:pPr>
            <a:r>
              <a:rPr lang="pt-BR">
                <a:latin typeface="Arial" charset="0"/>
              </a:rPr>
              <a:t>8.5.6 — </a:t>
            </a:r>
            <a:r>
              <a:rPr lang="pt-BR"/>
              <a:t>Introdução a uma Tabela de Roteamento IPv4</a:t>
            </a:r>
          </a:p>
          <a:p>
            <a:pPr marL="0" marR="0" indent="0" algn="l" defTabSz="457200" rtl="0" eaLnBrk="1" fontAlgn="auto" latinLnBrk="0" hangingPunct="1">
              <a:lnSpc>
                <a:spcPct val="80000"/>
              </a:lnSpc>
              <a:spcBef>
                <a:spcPts val="0"/>
              </a:spcBef>
              <a:spcAft>
                <a:spcPts val="0"/>
              </a:spcAft>
              <a:buClrTx/>
              <a:buSzTx/>
              <a:buFontTx/>
              <a:buNone/>
              <a:tabLst/>
              <a:defRPr/>
            </a:pPr>
            <a:r>
              <a:rPr lang="pt-BR">
                <a:latin typeface="Arial" charset="0"/>
              </a:rPr>
              <a:t>8.5.7 - </a:t>
            </a:r>
            <a:r>
              <a:rPr lang="pt-BR" sz="1200">
                <a:effectLst/>
              </a:rPr>
              <a:t>Verifique sua compreensão - </a:t>
            </a:r>
            <a:r>
              <a:rPr lang="pt-BR">
                <a:solidFill>
                  <a:schemeClr val="accent5">
                    <a:lumMod val="40000"/>
                    <a:lumOff val="60000"/>
                  </a:schemeClr>
                </a:solidFill>
              </a:rPr>
              <a:t>Introdução ao roteamento</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44</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8.6 - </a:t>
            </a:r>
            <a:r>
              <a:rPr lang="pt-BR">
                <a:solidFill>
                  <a:schemeClr val="accent5">
                    <a:lumMod val="40000"/>
                    <a:lumOff val="60000"/>
                  </a:schemeClr>
                </a:solidFill>
              </a:rPr>
              <a:t>Módulo Prática e Quiz</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45</a:t>
            </a:fld>
            <a:endParaRPr>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a:solidFill>
                  <a:schemeClr val="accent5">
                    <a:lumMod val="40000"/>
                    <a:lumOff val="60000"/>
                  </a:schemeClr>
                </a:solidFill>
              </a:rPr>
              <a:t>8 </a:t>
            </a:r>
            <a:r>
              <a:rPr lang="pt-BR" sz="1200" baseline="0">
                <a:solidFill>
                  <a:schemeClr val="accent5">
                    <a:lumMod val="40000"/>
                    <a:lumOff val="60000"/>
                  </a:schemeClr>
                </a:solidFill>
              </a:rPr>
              <a:t>-</a:t>
            </a:r>
            <a:r>
              <a:rPr lang="pt-BR" sz="1200">
                <a:solidFill>
                  <a:schemeClr val="accent5">
                    <a:lumMod val="40000"/>
                    <a:lumOff val="60000"/>
                  </a:schemeClr>
                </a:solidFill>
              </a:rPr>
              <a:t> Camada de rede</a:t>
            </a:r>
          </a:p>
          <a:p>
            <a:pPr rtl="0">
              <a:buFontTx/>
              <a:buNone/>
            </a:pPr>
            <a:r>
              <a:rPr lang="pt-BR" sz="1200" b="0"/>
              <a:t>8.6 - </a:t>
            </a:r>
            <a:r>
              <a:rPr lang="pt-BR">
                <a:solidFill>
                  <a:schemeClr val="accent5">
                    <a:lumMod val="40000"/>
                    <a:lumOff val="60000"/>
                  </a:schemeClr>
                </a:solidFill>
              </a:rPr>
              <a:t>Módulo Prática e Quiz</a:t>
            </a:r>
          </a:p>
          <a:p>
            <a:pPr rtl="0">
              <a:lnSpc>
                <a:spcPct val="80000"/>
              </a:lnSpc>
              <a:buFontTx/>
              <a:buNone/>
            </a:pPr>
            <a:r>
              <a:rPr lang="pt-BR">
                <a:latin typeface="Arial" charset="0"/>
              </a:rPr>
              <a:t>8.6.1</a:t>
            </a:r>
            <a:r>
              <a:rPr lang="pt-BR" baseline="0">
                <a:latin typeface="Arial" charset="0"/>
              </a:rPr>
              <a:t> -</a:t>
            </a:r>
            <a:r>
              <a:rPr lang="pt-BR"/>
              <a:t> O que eu aprendi neste módulo?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46</a:t>
            </a:fld>
            <a:endParaRPr>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pPr/>
              <a:t>47</a:t>
            </a:fld>
            <a:endParaRPr sz="800"/>
          </a:p>
        </p:txBody>
      </p:sp>
      <p:sp>
        <p:nvSpPr>
          <p:cNvPr id="57346" name="Rectangle 2"/>
          <p:cNvSpPr>
            <a:spLocks noGrp="1" noRot="1" noChangeAspect="1" noChangeArrowheads="1" noTextEdit="1"/>
          </p:cNvSpPr>
          <p:nvPr>
            <p:ph type="sldImg"/>
          </p:nvPr>
        </p:nvSpPr>
        <p:spPr>
          <a:xfrm>
            <a:off x="381000" y="685800"/>
            <a:ext cx="6096000" cy="3429000"/>
          </a:xfrm>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pt-BR">
                <a:latin typeface="Arial" charset="0"/>
              </a:rPr>
              <a:t>New Terms and Commands</a:t>
            </a:r>
          </a:p>
        </p:txBody>
      </p:sp>
    </p:spTree>
    <p:extLst>
      <p:ext uri="{BB962C8B-B14F-4D97-AF65-F5344CB8AC3E}">
        <p14:creationId xmlns:p14="http://schemas.microsoft.com/office/powerpoint/2010/main" val="38805241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pPr/>
              <a:t>48</a:t>
            </a:fld>
            <a:endParaRPr sz="800"/>
          </a:p>
        </p:txBody>
      </p:sp>
      <p:sp>
        <p:nvSpPr>
          <p:cNvPr id="57346" name="Rectangle 2"/>
          <p:cNvSpPr>
            <a:spLocks noGrp="1" noRot="1" noChangeAspect="1" noChangeArrowheads="1" noTextEdit="1"/>
          </p:cNvSpPr>
          <p:nvPr>
            <p:ph type="sldImg"/>
          </p:nvPr>
        </p:nvSpPr>
        <p:spPr>
          <a:xfrm>
            <a:off x="381000" y="685800"/>
            <a:ext cx="6096000" cy="3429000"/>
          </a:xfrm>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pt-BR">
                <a:latin typeface="Arial" charset="0"/>
              </a:rPr>
              <a:t>New Terms and Commands</a:t>
            </a:r>
          </a:p>
        </p:txBody>
      </p:sp>
    </p:spTree>
    <p:extLst>
      <p:ext uri="{BB962C8B-B14F-4D97-AF65-F5344CB8AC3E}">
        <p14:creationId xmlns:p14="http://schemas.microsoft.com/office/powerpoint/2010/main" val="21175337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1.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7190087" cy="1666626"/>
          </a:xfrm>
        </p:spPr>
        <p:txBody>
          <a:bodyPr/>
          <a:lstStyle/>
          <a:p>
            <a:pPr rtl="0"/>
            <a:r>
              <a:rPr lang="pt-BR" sz="4000">
                <a:solidFill>
                  <a:schemeClr val="accent5">
                    <a:lumMod val="40000"/>
                    <a:lumOff val="60000"/>
                  </a:schemeClr>
                </a:solidFill>
              </a:rPr>
              <a:t>Módulo 8: Camada de rede</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8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rtl="0">
              <a:buNone/>
            </a:pPr>
            <a:r>
              <a:rPr lang="pt-BR" sz="1600"/>
              <a:t>This PowerPoint deck is divided in two parts:</a:t>
            </a:r>
          </a:p>
          <a:p>
            <a:pPr rtl="0">
              <a:buFont typeface="Arial" panose="020B0604020202020204" pitchFamily="34" charset="0"/>
              <a:buChar char="•"/>
            </a:pPr>
            <a:r>
              <a:rPr lang="pt-BR" sz="1600"/>
              <a:t>Instructor Planning Guide</a:t>
            </a:r>
          </a:p>
          <a:p>
            <a:pPr lvl="1" rtl="0">
              <a:buFont typeface="Arial" panose="020B0604020202020204" pitchFamily="34" charset="0"/>
              <a:buChar char="•"/>
            </a:pPr>
            <a:r>
              <a:rPr lang="pt-BR" sz="1600"/>
              <a:t>Information to help you become familiar with the module</a:t>
            </a:r>
          </a:p>
          <a:p>
            <a:pPr lvl="1" rtl="0">
              <a:buFont typeface="Arial" panose="020B0604020202020204" pitchFamily="34" charset="0"/>
              <a:buChar char="•"/>
            </a:pPr>
            <a:r>
              <a:rPr lang="pt-BR" sz="1600"/>
              <a:t>Teaching aids</a:t>
            </a:r>
          </a:p>
          <a:p>
            <a:pPr rtl="0">
              <a:buFont typeface="Arial" panose="020B0604020202020204" pitchFamily="34" charset="0"/>
              <a:buChar char="•"/>
            </a:pPr>
            <a:r>
              <a:rPr lang="pt-BR" sz="1600"/>
              <a:t>Instructor Class Presentation</a:t>
            </a:r>
          </a:p>
          <a:p>
            <a:pPr lvl="1" rtl="0"/>
            <a:r>
              <a:rPr lang="pt-BR" sz="1600"/>
              <a:t>Optional slides that you can use in the classroom</a:t>
            </a:r>
          </a:p>
          <a:p>
            <a:pPr lvl="1" rtl="0"/>
            <a:r>
              <a:rPr lang="pt-BR" sz="1600"/>
              <a:t>Begins on slide # 10</a:t>
            </a:r>
          </a:p>
          <a:p>
            <a:pPr marL="142875" lvl="1" indent="0" algn="ctr" rtl="0">
              <a:buNone/>
            </a:pPr>
            <a:r>
              <a:rPr lang="pt-BR" sz="1600" b="1"/>
              <a:t>Note</a:t>
            </a:r>
            <a:r>
              <a:rPr lang="pt-BR" sz="1600"/>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3432029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 and What Do You Already Know? </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sz="1600"/>
              <a:t>Check Your Understanding activities </a:t>
            </a:r>
            <a:r>
              <a:rPr lang="pt-BR" sz="1600" b="1" i="1"/>
              <a:t>do not </a:t>
            </a:r>
            <a:r>
              <a:rPr lang="pt-BR" sz="1600"/>
              <a:t>affect student grades.</a:t>
            </a:r>
          </a:p>
          <a:p>
            <a:pPr rtl="0">
              <a:spcBef>
                <a:spcPct val="30000"/>
              </a:spcBef>
              <a:buFont typeface="Arial" panose="020B0604020202020204" pitchFamily="34" charset="0"/>
              <a:buChar char="•"/>
            </a:pPr>
            <a:r>
              <a:rPr lang="pt-BR" sz="16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3"/>
            <a:ext cx="9144000" cy="568207"/>
          </a:xfrm>
        </p:spPr>
        <p:txBody>
          <a:bodyPr/>
          <a:lstStyle/>
          <a:p>
            <a:pPr rtl="0" eaLnBrk="1" hangingPunct="1"/>
            <a:r>
              <a:rPr lang="pt-BR"/>
              <a:t>Module 8: Activities</a:t>
            </a:r>
          </a:p>
        </p:txBody>
      </p:sp>
      <p:sp>
        <p:nvSpPr>
          <p:cNvPr id="6147" name="Rectangle 34"/>
          <p:cNvSpPr>
            <a:spLocks noGrp="1" noChangeArrowheads="1"/>
          </p:cNvSpPr>
          <p:nvPr>
            <p:ph idx="1"/>
          </p:nvPr>
        </p:nvSpPr>
        <p:spPr>
          <a:xfrm>
            <a:off x="136631" y="609600"/>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499177563"/>
              </p:ext>
            </p:extLst>
          </p:nvPr>
        </p:nvGraphicFramePr>
        <p:xfrm>
          <a:off x="369489" y="988376"/>
          <a:ext cx="8229418" cy="219114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382">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236179">
                <a:tc>
                  <a:txBody>
                    <a:bodyPr/>
                    <a:lstStyle/>
                    <a:p>
                      <a:pPr algn="ctr" rtl="0"/>
                      <a:r>
                        <a:rPr lang="pt-BR" sz="1100"/>
                        <a:t>8.1.7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b="0"/>
                        <a:t>IP Characteristics</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1"/>
                  </a:ext>
                </a:extLst>
              </a:tr>
              <a:tr h="236179">
                <a:tc>
                  <a:txBody>
                    <a:bodyPr/>
                    <a:lstStyle/>
                    <a:p>
                      <a:pPr algn="ctr" rtl="0"/>
                      <a:r>
                        <a:rPr lang="pt-BR" sz="1100"/>
                        <a:t>8.2.3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rtl="0"/>
                      <a:r>
                        <a:rPr lang="pt-BR" sz="1100" b="0"/>
                        <a:t>Sample IPv4 Headers in Wireshark</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3039725069"/>
                  </a:ext>
                </a:extLst>
              </a:tr>
              <a:tr h="236179">
                <a:tc>
                  <a:txBody>
                    <a:bodyPr/>
                    <a:lstStyle/>
                    <a:p>
                      <a:pPr algn="ctr" rtl="0"/>
                      <a:r>
                        <a:rPr lang="pt-BR" sz="1100"/>
                        <a:t>8.2.4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IPv4</a:t>
                      </a:r>
                      <a:r>
                        <a:rPr lang="pt-BR" sz="1100" baseline="0"/>
                        <a:t> Packet</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814984366"/>
                  </a:ext>
                </a:extLst>
              </a:tr>
              <a:tr h="236179">
                <a:tc>
                  <a:txBody>
                    <a:bodyPr/>
                    <a:lstStyle/>
                    <a:p>
                      <a:pPr algn="ctr" rtl="0"/>
                      <a:r>
                        <a:rPr lang="pt-BR" sz="1100"/>
                        <a:t>8.3.5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rtl="0"/>
                      <a:r>
                        <a:rPr lang="pt-BR" sz="1100" b="0"/>
                        <a:t>Sample IPv5 Headers in Wireshark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74708435"/>
                  </a:ext>
                </a:extLst>
              </a:tr>
              <a:tr h="236179">
                <a:tc>
                  <a:txBody>
                    <a:bodyPr/>
                    <a:lstStyle/>
                    <a:p>
                      <a:pPr algn="ctr" rtl="0"/>
                      <a:r>
                        <a:rPr lang="pt-BR" sz="1100"/>
                        <a:t>8.3.6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IPv6</a:t>
                      </a:r>
                      <a:r>
                        <a:rPr lang="pt-BR" sz="1100" baseline="0"/>
                        <a:t> Packet</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6"/>
                  </a:ext>
                </a:extLst>
              </a:tr>
              <a:tr h="236179">
                <a:tc>
                  <a:txBody>
                    <a:bodyPr/>
                    <a:lstStyle/>
                    <a:p>
                      <a:pPr algn="ctr" rtl="0"/>
                      <a:r>
                        <a:rPr lang="pt-BR" sz="1100"/>
                        <a:t>8.4.5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How a Host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161252496"/>
                  </a:ext>
                </a:extLst>
              </a:tr>
              <a:tr h="208254">
                <a:tc>
                  <a:txBody>
                    <a:bodyPr/>
                    <a:lstStyle/>
                    <a:p>
                      <a:pPr algn="ctr" rtl="0"/>
                      <a:r>
                        <a:rPr lang="pt-BR" sz="1100"/>
                        <a:t>8.5.5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b="0"/>
                        <a:t>IPv4 Routing Router Tables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236179">
                <a:tc>
                  <a:txBody>
                    <a:bodyPr/>
                    <a:lstStyle/>
                    <a:p>
                      <a:pPr algn="ctr" rtl="0"/>
                      <a:r>
                        <a:rPr lang="pt-BR" sz="1100"/>
                        <a:t>8.5.7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Introduction to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bl>
          </a:graphicData>
        </a:graphic>
      </p:graphicFrame>
    </p:spTree>
    <p:custDataLst>
      <p:tags r:id="rId1"/>
    </p:custDataLst>
    <p:extLst>
      <p:ext uri="{BB962C8B-B14F-4D97-AF65-F5344CB8AC3E}">
        <p14:creationId xmlns:p14="http://schemas.microsoft.com/office/powerpoint/2010/main" val="7946538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8: Best Practices</a:t>
            </a:r>
          </a:p>
        </p:txBody>
      </p:sp>
      <p:sp>
        <p:nvSpPr>
          <p:cNvPr id="11266" name="Rectangle 34"/>
          <p:cNvSpPr>
            <a:spLocks noGrp="1" noChangeArrowheads="1"/>
          </p:cNvSpPr>
          <p:nvPr>
            <p:ph idx="1"/>
          </p:nvPr>
        </p:nvSpPr>
        <p:spPr/>
        <p:txBody>
          <a:bodyPr/>
          <a:lstStyle/>
          <a:p>
            <a:pPr marL="0" indent="0" rtl="0">
              <a:lnSpc>
                <a:spcPct val="85000"/>
              </a:lnSpc>
              <a:spcBef>
                <a:spcPct val="30000"/>
              </a:spcBef>
              <a:buNone/>
            </a:pPr>
            <a:r>
              <a:rPr lang="pt-BR" sz="1600"/>
              <a:t>Prior to teaching Module 8, the instructor should:</a:t>
            </a:r>
          </a:p>
          <a:p>
            <a:pPr rtl="0">
              <a:lnSpc>
                <a:spcPct val="85000"/>
              </a:lnSpc>
              <a:spcBef>
                <a:spcPct val="30000"/>
              </a:spcBef>
              <a:buFont typeface="Arial" panose="020B0604020202020204" pitchFamily="34" charset="0"/>
              <a:buChar char="•"/>
            </a:pPr>
            <a:r>
              <a:rPr lang="pt-BR" sz="1600"/>
              <a:t>Review the activities and assessments for this module.</a:t>
            </a:r>
          </a:p>
          <a:p>
            <a:pPr rtl="0">
              <a:lnSpc>
                <a:spcPct val="85000"/>
              </a:lnSpc>
              <a:spcBef>
                <a:spcPct val="30000"/>
              </a:spcBef>
              <a:buFont typeface="Arial" panose="020B0604020202020204" pitchFamily="34" charset="0"/>
              <a:buChar char="•"/>
            </a:pPr>
            <a:r>
              <a:rPr lang="pt-BR" sz="1600"/>
              <a:t>Try to include as many questions as possible to keep students engaged during classroom presentation.</a:t>
            </a:r>
          </a:p>
          <a:p>
            <a:pPr marL="0" indent="0" rtl="0">
              <a:buNone/>
            </a:pPr>
            <a:r>
              <a:rPr lang="pt-BR" sz="1600"/>
              <a:t>Topic 8.1</a:t>
            </a:r>
          </a:p>
          <a:p>
            <a:pPr lvl="1" rtl="0"/>
            <a:r>
              <a:rPr lang="pt-BR" sz="1600"/>
              <a:t>Use the mail analogy of regular post to emphasize best effort.</a:t>
            </a:r>
          </a:p>
          <a:p>
            <a:pPr lvl="1" rtl="0"/>
            <a:r>
              <a:rPr lang="pt-BR" sz="1600"/>
              <a:t>US Mail Analogy:</a:t>
            </a:r>
          </a:p>
          <a:p>
            <a:pPr lvl="2" rtl="0"/>
            <a:r>
              <a:rPr lang="pt-BR" sz="1600"/>
              <a:t>The sender doesn’t know if the receiver is present, if the letter arrived or if the receiver can read the letter</a:t>
            </a:r>
          </a:p>
          <a:p>
            <a:pPr lvl="2" rtl="0"/>
            <a:r>
              <a:rPr lang="pt-BR" sz="1600"/>
              <a:t>The receiver doesn’t know when it is coming</a:t>
            </a:r>
          </a:p>
          <a:p>
            <a:pPr>
              <a:lnSpc>
                <a:spcPct val="85000"/>
              </a:lnSpc>
              <a:spcBef>
                <a:spcPct val="30000"/>
              </a:spcBef>
              <a:buFont typeface="Arial" panose="020B0604020202020204" pitchFamily="34" charset="0"/>
              <a:buChar char="•"/>
            </a:pPr>
            <a:endParaRPr lang="en-US" sz="1600"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119976613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8: Best Practices (Cont.)</a:t>
            </a:r>
          </a:p>
        </p:txBody>
      </p:sp>
      <p:sp>
        <p:nvSpPr>
          <p:cNvPr id="11266" name="Rectangle 34"/>
          <p:cNvSpPr>
            <a:spLocks noGrp="1" noChangeArrowheads="1"/>
          </p:cNvSpPr>
          <p:nvPr>
            <p:ph idx="1"/>
          </p:nvPr>
        </p:nvSpPr>
        <p:spPr>
          <a:xfrm>
            <a:off x="145358" y="798944"/>
            <a:ext cx="8853286" cy="3928920"/>
          </a:xfrm>
        </p:spPr>
        <p:txBody>
          <a:bodyPr/>
          <a:lstStyle/>
          <a:p>
            <a:pPr marL="0" lvl="0" indent="0" rtl="0">
              <a:buNone/>
            </a:pPr>
            <a:r>
              <a:rPr lang="pt-BR" sz="1600"/>
              <a:t>Topic 8.2</a:t>
            </a:r>
          </a:p>
          <a:p>
            <a:pPr lvl="1" rtl="0"/>
            <a:r>
              <a:rPr lang="pt-BR" sz="1600"/>
              <a:t>Discuss the fields of the IPv4 Packet. </a:t>
            </a:r>
          </a:p>
          <a:p>
            <a:pPr lvl="1" rtl="0"/>
            <a:r>
              <a:rPr lang="pt-BR" sz="1600"/>
              <a:t>Note that the Identification field is not for sequencing like TCP (1 of 5, 2 of 5, etc.). </a:t>
            </a:r>
          </a:p>
          <a:p>
            <a:pPr marL="0" indent="0" rtl="0">
              <a:buNone/>
            </a:pPr>
            <a:r>
              <a:rPr lang="pt-BR" sz="1600"/>
              <a:t>Topic 8.3</a:t>
            </a:r>
          </a:p>
          <a:p>
            <a:pPr lvl="1" rtl="0"/>
            <a:r>
              <a:rPr lang="pt-BR" sz="1600"/>
              <a:t>Explain many of the limitations of IPv4.</a:t>
            </a:r>
          </a:p>
          <a:p>
            <a:pPr lvl="1" rtl="0"/>
            <a:r>
              <a:rPr lang="pt-BR" sz="1600"/>
              <a:t>Compare the IPv6 simplicity to IPv4s complexity.</a:t>
            </a:r>
          </a:p>
          <a:p>
            <a:pPr lvl="1" rtl="0"/>
            <a:r>
              <a:rPr lang="pt-BR" sz="1600"/>
              <a:t>Explain why certain fields are eliminated and this improves IPv6, such as check sum, fragmentation, etc.</a:t>
            </a:r>
          </a:p>
          <a:p>
            <a:pPr lvl="1" rtl="0">
              <a:lnSpc>
                <a:spcPct val="85000"/>
              </a:lnSpc>
              <a:spcBef>
                <a:spcPct val="30000"/>
              </a:spcBef>
            </a:pPr>
            <a:r>
              <a:rPr lang="pt-BR" sz="1600"/>
              <a:t>Explain the use of the EH field.</a:t>
            </a:r>
          </a:p>
          <a:p>
            <a:pPr eaLnBrk="1" hangingPunct="1">
              <a:lnSpc>
                <a:spcPct val="85000"/>
              </a:lnSpc>
              <a:spcBef>
                <a:spcPct val="30000"/>
              </a:spcBef>
            </a:pPr>
            <a:endParaRPr lang="en-US" dirty="0"/>
          </a:p>
        </p:txBody>
      </p:sp>
    </p:spTree>
    <p:extLst>
      <p:ext uri="{BB962C8B-B14F-4D97-AF65-F5344CB8AC3E}">
        <p14:creationId xmlns:p14="http://schemas.microsoft.com/office/powerpoint/2010/main" val="405198685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635940"/>
          </a:xfrm>
        </p:spPr>
        <p:txBody>
          <a:bodyPr/>
          <a:lstStyle/>
          <a:p>
            <a:pPr rtl="0"/>
            <a:r>
              <a:rPr lang="pt-BR"/>
              <a:t>Module 8: Best Practices (Cont.)</a:t>
            </a:r>
          </a:p>
        </p:txBody>
      </p:sp>
      <p:sp>
        <p:nvSpPr>
          <p:cNvPr id="11266" name="Rectangle 34"/>
          <p:cNvSpPr>
            <a:spLocks noGrp="1" noChangeArrowheads="1"/>
          </p:cNvSpPr>
          <p:nvPr>
            <p:ph idx="1"/>
          </p:nvPr>
        </p:nvSpPr>
        <p:spPr>
          <a:xfrm>
            <a:off x="145358" y="677334"/>
            <a:ext cx="8853286" cy="3790757"/>
          </a:xfrm>
        </p:spPr>
        <p:txBody>
          <a:bodyPr/>
          <a:lstStyle/>
          <a:p>
            <a:pPr marL="0" indent="0" rtl="0">
              <a:lnSpc>
                <a:spcPct val="85000"/>
              </a:lnSpc>
              <a:spcBef>
                <a:spcPct val="30000"/>
              </a:spcBef>
              <a:buNone/>
            </a:pPr>
            <a:r>
              <a:rPr lang="pt-BR" sz="1600"/>
              <a:t>Topic 8.4</a:t>
            </a:r>
          </a:p>
          <a:p>
            <a:pPr lvl="1" rtl="0">
              <a:lnSpc>
                <a:spcPct val="85000"/>
              </a:lnSpc>
              <a:spcBef>
                <a:spcPct val="30000"/>
              </a:spcBef>
            </a:pPr>
            <a:r>
              <a:rPr lang="pt-BR"/>
              <a:t>Use the mail analogy to explain host routing – three letters (internal – significant other that lives with you, not mailed = 127.0.0.1; local – friend in the same zip code (US), use in-town box = send out interface; remote – friend in a different zip code (US), use out-of-town box = send to DGW.</a:t>
            </a:r>
          </a:p>
          <a:p>
            <a:pPr lvl="1" rtl="0">
              <a:lnSpc>
                <a:spcPct val="85000"/>
              </a:lnSpc>
              <a:spcBef>
                <a:spcPct val="30000"/>
              </a:spcBef>
            </a:pPr>
            <a:r>
              <a:rPr lang="pt-BR"/>
              <a:t>Explain DGW, consider showing complex network with visible IP addressing on Routers and have students give the DGW for different devices. </a:t>
            </a:r>
          </a:p>
          <a:p>
            <a:pPr lvl="1" rtl="0">
              <a:lnSpc>
                <a:spcPct val="85000"/>
              </a:lnSpc>
              <a:spcBef>
                <a:spcPct val="30000"/>
              </a:spcBef>
            </a:pPr>
            <a:r>
              <a:rPr lang="pt-BR"/>
              <a:t>Make sure students understand L2 switches also  need a DGW. </a:t>
            </a:r>
          </a:p>
          <a:p>
            <a:pPr marL="0" indent="0" rtl="0">
              <a:lnSpc>
                <a:spcPct val="85000"/>
              </a:lnSpc>
              <a:spcBef>
                <a:spcPct val="30000"/>
              </a:spcBef>
              <a:buNone/>
            </a:pPr>
            <a:r>
              <a:rPr lang="pt-BR" sz="1400"/>
              <a:t>Topic 8.5</a:t>
            </a:r>
          </a:p>
          <a:p>
            <a:pPr lvl="1" rtl="0"/>
            <a:r>
              <a:rPr lang="pt-BR"/>
              <a:t>Explain the differences of a host routing table and router routing table.</a:t>
            </a:r>
          </a:p>
          <a:p>
            <a:pPr lvl="1" rtl="0"/>
            <a:r>
              <a:rPr lang="pt-BR"/>
              <a:t>Explain how a router will build its table and then use it.  It may be helpful to remember the L3 routing table has two basic functions to forward or to filter.  If a destination makes a match in the routing table it will be forwarded, if there is no match it is discarded.</a:t>
            </a:r>
          </a:p>
          <a:p>
            <a:pPr lvl="1" rtl="0"/>
            <a:r>
              <a:rPr lang="pt-BR"/>
              <a:t>Compare and contrast static and dynamic routing when learning about remote routes. The strengths of one are the weaknesses of the other and vice versa. </a:t>
            </a:r>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107932120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pPr rtl="0"/>
            <a:r>
              <a:rPr lang="pt-BR" sz="4600">
                <a:solidFill>
                  <a:schemeClr val="accent5">
                    <a:lumMod val="40000"/>
                    <a:lumOff val="60000"/>
                  </a:schemeClr>
                </a:solidFill>
              </a:rPr>
              <a:t>Módulo 8: Camada de rede</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rtl="0" eaLnBrk="1" hangingPunct="1"/>
            <a:r>
              <a:rPr lang="pt-BR"/>
              <a:t>Módulo 8: Tópicos</a:t>
            </a:r>
          </a:p>
        </p:txBody>
      </p:sp>
      <p:sp>
        <p:nvSpPr>
          <p:cNvPr id="6147" name="Rectangle 34"/>
          <p:cNvSpPr>
            <a:spLocks noGrp="1" noChangeArrowheads="1"/>
          </p:cNvSpPr>
          <p:nvPr>
            <p:ph idx="1"/>
          </p:nvPr>
        </p:nvSpPr>
        <p:spPr>
          <a:xfrm>
            <a:off x="99461" y="654206"/>
            <a:ext cx="8769026" cy="281711"/>
          </a:xfrm>
        </p:spPr>
        <p:txBody>
          <a:bodyPr/>
          <a:lstStyle/>
          <a:p>
            <a:pPr marL="0" indent="0" rtl="0">
              <a:spcBef>
                <a:spcPct val="30000"/>
              </a:spcBef>
              <a:buNone/>
            </a:pPr>
            <a:r>
              <a:rPr lang="pt-BR"/>
              <a:t>O que vou aprender neste módulo?</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91238170"/>
              </p:ext>
            </p:extLst>
          </p:nvPr>
        </p:nvGraphicFramePr>
        <p:xfrm>
          <a:off x="522512" y="1140033"/>
          <a:ext cx="8348355" cy="3066574"/>
        </p:xfrm>
        <a:graphic>
          <a:graphicData uri="http://schemas.openxmlformats.org/drawingml/2006/table">
            <a:tbl>
              <a:tblPr firstRow="1" firstCol="1" bandRow="1">
                <a:tableStyleId>{5C22544A-7EE6-4342-B048-85BDC9FD1C3A}</a:tableStyleId>
              </a:tblPr>
              <a:tblGrid>
                <a:gridCol w="2715120">
                  <a:extLst>
                    <a:ext uri="{9D8B030D-6E8A-4147-A177-3AD203B41FA5}">
                      <a16:colId xmlns:a16="http://schemas.microsoft.com/office/drawing/2014/main" val="20000"/>
                    </a:ext>
                  </a:extLst>
                </a:gridCol>
                <a:gridCol w="5633235">
                  <a:extLst>
                    <a:ext uri="{9D8B030D-6E8A-4147-A177-3AD203B41FA5}">
                      <a16:colId xmlns:a16="http://schemas.microsoft.com/office/drawing/2014/main" val="20001"/>
                    </a:ext>
                  </a:extLst>
                </a:gridCol>
              </a:tblGrid>
              <a:tr h="201216">
                <a:tc>
                  <a:txBody>
                    <a:bodyPr/>
                    <a:lstStyle/>
                    <a:p>
                      <a:pPr rtl="0"/>
                      <a:r>
                        <a:rPr lang="pt-BR" b="1">
                          <a:effectLst/>
                        </a:rPr>
                        <a:t>Título do Tópico</a:t>
                      </a:r>
                    </a:p>
                  </a:txBody>
                  <a:tcPr anchor="ctr"/>
                </a:tc>
                <a:tc>
                  <a:txBody>
                    <a:bodyPr/>
                    <a:lstStyle/>
                    <a:p>
                      <a:pPr rtl="0"/>
                      <a:r>
                        <a:rPr lang="pt-BR" b="1"/>
                        <a:t>Objetivo do Tópico</a:t>
                      </a:r>
                    </a:p>
                  </a:txBody>
                  <a:tcPr anchor="ctr"/>
                </a:tc>
                <a:extLst>
                  <a:ext uri="{0D108BD9-81ED-4DB2-BD59-A6C34878D82A}">
                    <a16:rowId xmlns:a16="http://schemas.microsoft.com/office/drawing/2014/main" val="10000"/>
                  </a:ext>
                </a:extLst>
              </a:tr>
              <a:tr h="402431">
                <a:tc>
                  <a:txBody>
                    <a:bodyPr/>
                    <a:lstStyle/>
                    <a:p>
                      <a:pPr rtl="0"/>
                      <a:r>
                        <a:rPr lang="pt-BR" b="1"/>
                        <a:t>Características de camada de rede</a:t>
                      </a:r>
                    </a:p>
                  </a:txBody>
                  <a:tcPr anchor="ctr"/>
                </a:tc>
                <a:tc>
                  <a:txBody>
                    <a:bodyPr/>
                    <a:lstStyle/>
                    <a:p>
                      <a:pPr rtl="0"/>
                      <a:r>
                        <a:rPr lang="pt-BR"/>
                        <a:t>Explicar como a camada de rede usa protocolos IP para comunicações confiáveis.</a:t>
                      </a:r>
                    </a:p>
                  </a:txBody>
                  <a:tcPr anchor="ctr"/>
                </a:tc>
                <a:extLst>
                  <a:ext uri="{0D108BD9-81ED-4DB2-BD59-A6C34878D82A}">
                    <a16:rowId xmlns:a16="http://schemas.microsoft.com/office/drawing/2014/main" val="10001"/>
                  </a:ext>
                </a:extLst>
              </a:tr>
              <a:tr h="402431">
                <a:tc>
                  <a:txBody>
                    <a:bodyPr/>
                    <a:lstStyle/>
                    <a:p>
                      <a:pPr rtl="0"/>
                      <a:r>
                        <a:rPr lang="pt-BR" b="1"/>
                        <a:t>Pacote IPv4</a:t>
                      </a:r>
                    </a:p>
                  </a:txBody>
                  <a:tcPr anchor="ctr"/>
                </a:tc>
                <a:tc>
                  <a:txBody>
                    <a:bodyPr/>
                    <a:lstStyle/>
                    <a:p>
                      <a:pPr rtl="0"/>
                      <a:r>
                        <a:rPr lang="pt-BR"/>
                        <a:t>Explicar a função dos principais campos do cabeçalho no pacote IPv4.</a:t>
                      </a:r>
                    </a:p>
                  </a:txBody>
                  <a:tcPr anchor="ctr"/>
                </a:tc>
                <a:extLst>
                  <a:ext uri="{0D108BD9-81ED-4DB2-BD59-A6C34878D82A}">
                    <a16:rowId xmlns:a16="http://schemas.microsoft.com/office/drawing/2014/main" val="10002"/>
                  </a:ext>
                </a:extLst>
              </a:tr>
              <a:tr h="402431">
                <a:tc>
                  <a:txBody>
                    <a:bodyPr/>
                    <a:lstStyle/>
                    <a:p>
                      <a:pPr rtl="0"/>
                      <a:r>
                        <a:rPr lang="pt-BR" b="1"/>
                        <a:t>Pacote IPv6</a:t>
                      </a:r>
                    </a:p>
                  </a:txBody>
                  <a:tcPr anchor="ctr"/>
                </a:tc>
                <a:tc>
                  <a:txBody>
                    <a:bodyPr/>
                    <a:lstStyle/>
                    <a:p>
                      <a:pPr rtl="0"/>
                      <a:r>
                        <a:rPr lang="pt-BR"/>
                        <a:t>Explicar a função dos principais campos do cabeçalho no pacote IPv6.</a:t>
                      </a:r>
                    </a:p>
                  </a:txBody>
                  <a:tcPr anchor="ctr"/>
                </a:tc>
                <a:extLst>
                  <a:ext uri="{0D108BD9-81ED-4DB2-BD59-A6C34878D82A}">
                    <a16:rowId xmlns:a16="http://schemas.microsoft.com/office/drawing/2014/main" val="10003"/>
                  </a:ext>
                </a:extLst>
              </a:tr>
              <a:tr h="603647">
                <a:tc>
                  <a:txBody>
                    <a:bodyPr/>
                    <a:lstStyle/>
                    <a:p>
                      <a:pPr rtl="0"/>
                      <a:r>
                        <a:rPr lang="pt-BR" b="1"/>
                        <a:t>Como um host roteia</a:t>
                      </a:r>
                    </a:p>
                  </a:txBody>
                  <a:tcPr anchor="ctr"/>
                </a:tc>
                <a:tc>
                  <a:txBody>
                    <a:bodyPr/>
                    <a:lstStyle/>
                    <a:p>
                      <a:pPr rtl="0"/>
                      <a:r>
                        <a:rPr lang="pt-BR"/>
                        <a:t>Explicar como os dispositivos de rede usam tabelas de roteamento para direcionar pacotes para uma rede de destino.</a:t>
                      </a:r>
                    </a:p>
                  </a:txBody>
                  <a:tcPr anchor="ctr"/>
                </a:tc>
                <a:extLst>
                  <a:ext uri="{0D108BD9-81ED-4DB2-BD59-A6C34878D82A}">
                    <a16:rowId xmlns:a16="http://schemas.microsoft.com/office/drawing/2014/main" val="10004"/>
                  </a:ext>
                </a:extLst>
              </a:tr>
              <a:tr h="603647">
                <a:tc>
                  <a:txBody>
                    <a:bodyPr/>
                    <a:lstStyle/>
                    <a:p>
                      <a:pPr rtl="0"/>
                      <a:r>
                        <a:rPr lang="pt-BR" b="1"/>
                        <a:t>Tabelas de roteamento do roteador</a:t>
                      </a:r>
                    </a:p>
                  </a:txBody>
                  <a:tcPr anchor="ctr"/>
                </a:tc>
                <a:tc>
                  <a:txBody>
                    <a:bodyPr/>
                    <a:lstStyle/>
                    <a:p>
                      <a:pPr rtl="0"/>
                      <a:r>
                        <a:rPr lang="pt-BR"/>
                        <a:t>Explicar a função dos campos na tabela de roteamento de um roteador.</a:t>
                      </a:r>
                    </a:p>
                  </a:txBody>
                  <a:tcPr anchor="ct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8.1 Características de camada de rede</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5270088" cy="789880"/>
          </a:xfrm>
        </p:spPr>
        <p:txBody>
          <a:bodyPr/>
          <a:lstStyle/>
          <a:p>
            <a:pPr rtl="0"/>
            <a:r>
              <a:rPr lang="pt-BR" sz="1600"/>
              <a:t>Características de camada de rede </a:t>
            </a:r>
            <a:br>
              <a:rPr lang="en-US" altLang="en-US" dirty="0"/>
            </a:br>
            <a:r>
              <a:rPr lang="pt-BR"/>
              <a:t> Camada de Rede</a:t>
            </a:r>
          </a:p>
        </p:txBody>
      </p:sp>
      <p:sp>
        <p:nvSpPr>
          <p:cNvPr id="2" name="Content Placeholder 1"/>
          <p:cNvSpPr>
            <a:spLocks noGrp="1"/>
          </p:cNvSpPr>
          <p:nvPr>
            <p:ph idx="1"/>
          </p:nvPr>
        </p:nvSpPr>
        <p:spPr>
          <a:xfrm>
            <a:off x="118753" y="834570"/>
            <a:ext cx="5151336" cy="3176991"/>
          </a:xfrm>
        </p:spPr>
        <p:txBody>
          <a:bodyPr/>
          <a:lstStyle/>
          <a:p>
            <a:pPr rtl="0">
              <a:buFont typeface="Arial" panose="020B0604020202020204" pitchFamily="34" charset="0"/>
              <a:buChar char="•"/>
            </a:pPr>
            <a:r>
              <a:rPr lang="pt-BR" sz="1600"/>
              <a:t>Fornece serviços para permitir que dispositivos finais troquem dados</a:t>
            </a:r>
          </a:p>
          <a:p>
            <a:pPr rtl="0">
              <a:buFont typeface="Arial" panose="020B0604020202020204" pitchFamily="34" charset="0"/>
              <a:buChar char="•"/>
            </a:pPr>
            <a:r>
              <a:rPr lang="pt-BR" sz="1600"/>
              <a:t>IP versão 4 (IPv4) e IP versão 6 (IPv6) são os principais protocolos de comunicação de camada de rede.</a:t>
            </a:r>
          </a:p>
          <a:p>
            <a:pPr rtl="0">
              <a:buFont typeface="Arial" panose="020B0604020202020204" pitchFamily="34" charset="0"/>
              <a:buChar char="•"/>
            </a:pPr>
            <a:r>
              <a:rPr lang="pt-BR" sz="1600"/>
              <a:t>A camada de rede executa quatro operações básicas:</a:t>
            </a:r>
          </a:p>
          <a:p>
            <a:pPr lvl="1" rtl="0">
              <a:buFont typeface="Arial" panose="020B0604020202020204" pitchFamily="34" charset="0"/>
              <a:buChar char="•"/>
            </a:pPr>
            <a:r>
              <a:rPr lang="pt-BR" sz="1600"/>
              <a:t>Endereça os dispositivos finais</a:t>
            </a:r>
          </a:p>
          <a:p>
            <a:pPr lvl="1" rtl="0">
              <a:buFont typeface="Arial" panose="020B0604020202020204" pitchFamily="34" charset="0"/>
              <a:buChar char="•"/>
            </a:pPr>
            <a:r>
              <a:rPr lang="pt-BR" sz="1600"/>
              <a:t>Encapsulamento</a:t>
            </a:r>
          </a:p>
          <a:p>
            <a:pPr lvl="1" rtl="0">
              <a:buFont typeface="Arial" panose="020B0604020202020204" pitchFamily="34" charset="0"/>
              <a:buChar char="•"/>
            </a:pPr>
            <a:r>
              <a:rPr lang="pt-BR" sz="1600"/>
              <a:t>Roteamento</a:t>
            </a:r>
          </a:p>
          <a:p>
            <a:pPr lvl="1" rtl="0">
              <a:buFont typeface="Arial" panose="020B0604020202020204" pitchFamily="34" charset="0"/>
              <a:buChar char="•"/>
            </a:pPr>
            <a:r>
              <a:rPr lang="pt-BR" sz="1600"/>
              <a:t>Desencapsulamento</a:t>
            </a:r>
          </a:p>
        </p:txBody>
      </p:sp>
      <p:pic>
        <p:nvPicPr>
          <p:cNvPr id="5" name="Picture 4"/>
          <p:cNvPicPr>
            <a:picLocks noChangeAspect="1"/>
          </p:cNvPicPr>
          <p:nvPr/>
        </p:nvPicPr>
        <p:blipFill>
          <a:blip r:embed="rId4"/>
          <a:stretch>
            <a:fillRect/>
          </a:stretch>
        </p:blipFill>
        <p:spPr>
          <a:xfrm>
            <a:off x="5351862" y="100234"/>
            <a:ext cx="3067269" cy="2016517"/>
          </a:xfrm>
          <a:prstGeom prst="rect">
            <a:avLst/>
          </a:prstGeom>
        </p:spPr>
      </p:pic>
      <p:pic>
        <p:nvPicPr>
          <p:cNvPr id="7" name="Picture 6"/>
          <p:cNvPicPr>
            <a:picLocks noChangeAspect="1"/>
          </p:cNvPicPr>
          <p:nvPr/>
        </p:nvPicPr>
        <p:blipFill>
          <a:blip r:embed="rId5"/>
          <a:stretch>
            <a:fillRect/>
          </a:stretch>
        </p:blipFill>
        <p:spPr>
          <a:xfrm>
            <a:off x="5270088" y="2355550"/>
            <a:ext cx="3230819" cy="2458145"/>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Características de camada de rede </a:t>
            </a:r>
            <a:br>
              <a:rPr lang="en-US" altLang="en-US" dirty="0"/>
            </a:br>
            <a:r>
              <a:rPr lang="pt-BR"/>
              <a:t>Encapsulamento IP</a:t>
            </a:r>
          </a:p>
        </p:txBody>
      </p:sp>
      <p:sp>
        <p:nvSpPr>
          <p:cNvPr id="8195" name="Rectangle 6"/>
          <p:cNvSpPr>
            <a:spLocks noGrp="1" noChangeArrowheads="1"/>
          </p:cNvSpPr>
          <p:nvPr>
            <p:ph idx="1"/>
          </p:nvPr>
        </p:nvSpPr>
        <p:spPr>
          <a:xfrm>
            <a:off x="124609" y="905949"/>
            <a:ext cx="3700139" cy="3764374"/>
          </a:xfrm>
        </p:spPr>
        <p:txBody>
          <a:bodyPr/>
          <a:lstStyle/>
          <a:p>
            <a:pPr rtl="0">
              <a:buFont typeface="Arial" panose="020B0604020202020204" pitchFamily="34" charset="0"/>
              <a:buChar char="•"/>
            </a:pPr>
            <a:r>
              <a:rPr lang="pt-BR" sz="1600"/>
              <a:t>O IP encapsula o segmento da camada de transporte.</a:t>
            </a:r>
          </a:p>
          <a:p>
            <a:pPr rtl="0">
              <a:buFont typeface="Arial" panose="020B0604020202020204" pitchFamily="34" charset="0"/>
              <a:buChar char="•"/>
            </a:pPr>
            <a:r>
              <a:rPr lang="pt-BR" sz="1600"/>
              <a:t>O IP pode usar um pacote IPv4 ou IPv6 e não afetar o segmento da camada 4.</a:t>
            </a:r>
          </a:p>
          <a:p>
            <a:pPr rtl="0">
              <a:buFont typeface="Arial" panose="020B0604020202020204" pitchFamily="34" charset="0"/>
              <a:buChar char="•"/>
            </a:pPr>
            <a:r>
              <a:rPr lang="pt-BR" sz="1600"/>
              <a:t>O pacote IP será examinado por todos os dispositivos de camada 3 à medida que atravessa a rede.</a:t>
            </a:r>
          </a:p>
          <a:p>
            <a:pPr rtl="0">
              <a:buFont typeface="Arial" panose="020B0604020202020204" pitchFamily="34" charset="0"/>
              <a:buChar char="•"/>
            </a:pPr>
            <a:r>
              <a:rPr lang="pt-BR" sz="1600"/>
              <a:t>O endereçamento IP não muda de origem para destino.</a:t>
            </a:r>
          </a:p>
          <a:p>
            <a:pPr marL="0" indent="0" rtl="0">
              <a:buNone/>
            </a:pPr>
            <a:r>
              <a:rPr lang="pt-BR" sz="1600" b="1"/>
              <a:t>Observação: o </a:t>
            </a:r>
            <a:r>
              <a:rPr lang="pt-BR" sz="1600"/>
              <a:t>NAT mudará o endereçamento, mas será discutido em um módulo posterior. </a:t>
            </a:r>
          </a:p>
          <a:p>
            <a:pPr lvl="1"/>
            <a:endParaRPr lang="en-US" dirty="0">
              <a:effectLst/>
            </a:endParaRPr>
          </a:p>
        </p:txBody>
      </p:sp>
      <p:pic>
        <p:nvPicPr>
          <p:cNvPr id="2" name="Picture 1"/>
          <p:cNvPicPr>
            <a:picLocks noChangeAspect="1"/>
          </p:cNvPicPr>
          <p:nvPr/>
        </p:nvPicPr>
        <p:blipFill>
          <a:blip r:embed="rId3"/>
          <a:stretch>
            <a:fillRect/>
          </a:stretch>
        </p:blipFill>
        <p:spPr>
          <a:xfrm>
            <a:off x="3824747" y="905949"/>
            <a:ext cx="5126909" cy="2906924"/>
          </a:xfrm>
          <a:prstGeom prst="rect">
            <a:avLst/>
          </a:prstGeom>
        </p:spPr>
      </p:pic>
    </p:spTree>
    <p:extLst>
      <p:ext uri="{BB962C8B-B14F-4D97-AF65-F5344CB8AC3E}">
        <p14:creationId xmlns:p14="http://schemas.microsoft.com/office/powerpoint/2010/main" val="352921276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Características da camada de rede</a:t>
            </a:r>
            <a:br>
              <a:rPr lang="en-US" altLang="en-US" dirty="0"/>
            </a:br>
            <a:r>
              <a:rPr lang="pt-BR"/>
              <a:t>Características do IP</a:t>
            </a:r>
          </a:p>
        </p:txBody>
      </p:sp>
      <p:sp>
        <p:nvSpPr>
          <p:cNvPr id="8195" name="Rectangle 6"/>
          <p:cNvSpPr>
            <a:spLocks noGrp="1" noChangeArrowheads="1"/>
          </p:cNvSpPr>
          <p:nvPr>
            <p:ph idx="1"/>
          </p:nvPr>
        </p:nvSpPr>
        <p:spPr>
          <a:xfrm>
            <a:off x="124608" y="894073"/>
            <a:ext cx="9019391" cy="1947450"/>
          </a:xfrm>
        </p:spPr>
        <p:txBody>
          <a:bodyPr/>
          <a:lstStyle/>
          <a:p>
            <a:pPr marL="0" indent="0" rtl="0">
              <a:buNone/>
            </a:pPr>
            <a:r>
              <a:rPr lang="pt-BR" sz="1800"/>
              <a:t>O IP deve ter baixa sobrecarga e pode ser descrito como:</a:t>
            </a:r>
          </a:p>
          <a:p>
            <a:pPr lvl="1" rtl="0"/>
            <a:r>
              <a:rPr lang="pt-BR" sz="1800"/>
              <a:t>Sem Conexão </a:t>
            </a:r>
          </a:p>
          <a:p>
            <a:pPr lvl="1" rtl="0"/>
            <a:r>
              <a:rPr lang="pt-BR" sz="1800"/>
              <a:t>Melhor Esforço</a:t>
            </a:r>
          </a:p>
          <a:p>
            <a:pPr lvl="1" rtl="0"/>
            <a:r>
              <a:rPr lang="pt-BR" sz="1800"/>
              <a:t>Independente de Mídia</a:t>
            </a:r>
          </a:p>
        </p:txBody>
      </p:sp>
    </p:spTree>
    <p:extLst>
      <p:ext uri="{BB962C8B-B14F-4D97-AF65-F5344CB8AC3E}">
        <p14:creationId xmlns:p14="http://schemas.microsoft.com/office/powerpoint/2010/main" val="322054925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Características de camada de rede </a:t>
            </a:r>
            <a:br>
              <a:rPr lang="en-US" altLang="en-US" dirty="0"/>
            </a:br>
            <a:r>
              <a:rPr lang="pt-BR"/>
              <a:t>Conexões</a:t>
            </a:r>
          </a:p>
        </p:txBody>
      </p:sp>
      <p:sp>
        <p:nvSpPr>
          <p:cNvPr id="8195" name="Rectangle 6"/>
          <p:cNvSpPr>
            <a:spLocks noGrp="1" noChangeArrowheads="1"/>
          </p:cNvSpPr>
          <p:nvPr>
            <p:ph idx="1"/>
          </p:nvPr>
        </p:nvSpPr>
        <p:spPr>
          <a:xfrm>
            <a:off x="100858" y="858446"/>
            <a:ext cx="8853286" cy="2110086"/>
          </a:xfrm>
        </p:spPr>
        <p:txBody>
          <a:bodyPr/>
          <a:lstStyle/>
          <a:p>
            <a:pPr marL="0" indent="0" rtl="0">
              <a:buNone/>
            </a:pPr>
            <a:r>
              <a:rPr lang="pt-BR" sz="1600"/>
              <a:t>IP não tem conexão </a:t>
            </a:r>
          </a:p>
          <a:p>
            <a:pPr rtl="0">
              <a:buFont typeface="Arial" panose="020B0604020202020204" pitchFamily="34" charset="0"/>
              <a:buChar char="•"/>
            </a:pPr>
            <a:r>
              <a:rPr lang="pt-BR" sz="1600"/>
              <a:t>Nenhuma conexão é estabelecida com o destino antes do envio dos pacotes de dados.</a:t>
            </a:r>
          </a:p>
          <a:p>
            <a:pPr rtl="0">
              <a:buFont typeface="Arial" panose="020B0604020202020204" pitchFamily="34" charset="0"/>
              <a:buChar char="•"/>
            </a:pPr>
            <a:r>
              <a:rPr lang="pt-BR" sz="1600"/>
              <a:t>Não há informações de controle necessárias (sincronizações, confirmações, etc.).</a:t>
            </a:r>
          </a:p>
          <a:p>
            <a:pPr rtl="0">
              <a:buFont typeface="Arial" panose="020B0604020202020204" pitchFamily="34" charset="0"/>
              <a:buChar char="•"/>
            </a:pPr>
            <a:r>
              <a:rPr lang="pt-BR" sz="1600"/>
              <a:t>O destino receberá o pacote quando ele chegar, mas nenhuma pré-notificação é enviada por IP.</a:t>
            </a:r>
          </a:p>
          <a:p>
            <a:pPr rtl="0">
              <a:buFont typeface="Arial" panose="020B0604020202020204" pitchFamily="34" charset="0"/>
              <a:buChar char="•"/>
            </a:pPr>
            <a:r>
              <a:rPr lang="pt-BR" sz="1600"/>
              <a:t>Se houver necessidade de tráfego orientado para conexão, outro protocolo irá lidar com isso (normalmente TCP na camada de transporte).</a:t>
            </a:r>
          </a:p>
        </p:txBody>
      </p:sp>
      <p:pic>
        <p:nvPicPr>
          <p:cNvPr id="2" name="Picture 1"/>
          <p:cNvPicPr>
            <a:picLocks noChangeAspect="1"/>
          </p:cNvPicPr>
          <p:nvPr/>
        </p:nvPicPr>
        <p:blipFill>
          <a:blip r:embed="rId3"/>
          <a:stretch>
            <a:fillRect/>
          </a:stretch>
        </p:blipFill>
        <p:spPr>
          <a:xfrm>
            <a:off x="1629823" y="3028034"/>
            <a:ext cx="5884353" cy="1731593"/>
          </a:xfrm>
          <a:prstGeom prst="rect">
            <a:avLst/>
          </a:prstGeom>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Características de camada de rede</a:t>
            </a:r>
            <a:br>
              <a:rPr lang="en-US" altLang="en-US" dirty="0"/>
            </a:br>
            <a:r>
              <a:rPr lang="pt-BR"/>
              <a:t>Melhor Esforço</a:t>
            </a:r>
          </a:p>
        </p:txBody>
      </p:sp>
      <p:sp>
        <p:nvSpPr>
          <p:cNvPr id="8195" name="Rectangle 6"/>
          <p:cNvSpPr>
            <a:spLocks noGrp="1" noChangeArrowheads="1"/>
          </p:cNvSpPr>
          <p:nvPr>
            <p:ph idx="1"/>
          </p:nvPr>
        </p:nvSpPr>
        <p:spPr>
          <a:xfrm>
            <a:off x="100858" y="858446"/>
            <a:ext cx="3773052" cy="2849664"/>
          </a:xfrm>
        </p:spPr>
        <p:txBody>
          <a:bodyPr/>
          <a:lstStyle/>
          <a:p>
            <a:pPr marL="0" indent="0" rtl="0">
              <a:buNone/>
            </a:pPr>
            <a:r>
              <a:rPr lang="pt-BR" sz="1600"/>
              <a:t>IP é melhor esforço</a:t>
            </a:r>
          </a:p>
          <a:p>
            <a:pPr rtl="0">
              <a:buFont typeface="Arial" panose="020B0604020202020204" pitchFamily="34" charset="0"/>
              <a:buChar char="•"/>
            </a:pPr>
            <a:r>
              <a:rPr lang="pt-BR" sz="1600"/>
              <a:t>IP não garantirá a entrega do pacote.</a:t>
            </a:r>
          </a:p>
          <a:p>
            <a:pPr rtl="0">
              <a:buFont typeface="Arial" panose="020B0604020202020204" pitchFamily="34" charset="0"/>
              <a:buChar char="•"/>
            </a:pPr>
            <a:r>
              <a:rPr lang="pt-BR" sz="1600"/>
              <a:t>O IP reduziu a sobrecarga, uma vez que não há mecanismo para reenviar dados que não são recebidos.</a:t>
            </a:r>
          </a:p>
          <a:p>
            <a:pPr rtl="0">
              <a:buFont typeface="Arial" panose="020B0604020202020204" pitchFamily="34" charset="0"/>
              <a:buChar char="•"/>
            </a:pPr>
            <a:r>
              <a:rPr lang="pt-BR" sz="1600"/>
              <a:t>IP não espera confirmações.</a:t>
            </a:r>
          </a:p>
          <a:p>
            <a:pPr rtl="0">
              <a:buFont typeface="Arial" panose="020B0604020202020204" pitchFamily="34" charset="0"/>
              <a:buChar char="•"/>
            </a:pPr>
            <a:r>
              <a:rPr lang="pt-BR" sz="1600"/>
              <a:t>IP não sabe se o outro dispositivo está operacional ou se recebeu o pacote.</a:t>
            </a:r>
          </a:p>
        </p:txBody>
      </p:sp>
      <p:pic>
        <p:nvPicPr>
          <p:cNvPr id="2" name="Picture 1"/>
          <p:cNvPicPr>
            <a:picLocks noChangeAspect="1"/>
          </p:cNvPicPr>
          <p:nvPr/>
        </p:nvPicPr>
        <p:blipFill>
          <a:blip r:embed="rId3"/>
          <a:stretch>
            <a:fillRect/>
          </a:stretch>
        </p:blipFill>
        <p:spPr>
          <a:xfrm>
            <a:off x="3980503" y="858446"/>
            <a:ext cx="4831504" cy="2849664"/>
          </a:xfrm>
          <a:prstGeom prst="rect">
            <a:avLst/>
          </a:prstGeom>
        </p:spPr>
      </p:pic>
    </p:spTree>
    <p:extLst>
      <p:ext uri="{BB962C8B-B14F-4D97-AF65-F5344CB8AC3E}">
        <p14:creationId xmlns:p14="http://schemas.microsoft.com/office/powerpoint/2010/main" val="167526765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Características de camada de rede</a:t>
            </a:r>
            <a:br>
              <a:rPr lang="en-US" altLang="en-US" dirty="0"/>
            </a:br>
            <a:r>
              <a:rPr lang="pt-BR"/>
              <a:t>Independente de mídia</a:t>
            </a:r>
          </a:p>
        </p:txBody>
      </p:sp>
      <p:sp>
        <p:nvSpPr>
          <p:cNvPr id="8195" name="Rectangle 6"/>
          <p:cNvSpPr>
            <a:spLocks noGrp="1" noChangeArrowheads="1"/>
          </p:cNvSpPr>
          <p:nvPr>
            <p:ph idx="1"/>
          </p:nvPr>
        </p:nvSpPr>
        <p:spPr>
          <a:xfrm>
            <a:off x="100858" y="798945"/>
            <a:ext cx="4028689" cy="3851714"/>
          </a:xfrm>
        </p:spPr>
        <p:txBody>
          <a:bodyPr/>
          <a:lstStyle/>
          <a:p>
            <a:pPr marL="0" indent="0" rtl="0">
              <a:buNone/>
            </a:pPr>
            <a:r>
              <a:rPr lang="pt-BR"/>
              <a:t>IP não é confiável  </a:t>
            </a:r>
          </a:p>
          <a:p>
            <a:pPr lvl="1" rtl="0"/>
            <a:r>
              <a:rPr lang="pt-BR" sz="1500"/>
              <a:t>Ele não pode gerenciar ou corrigir pacotes não entregues ou corrompidos.</a:t>
            </a:r>
          </a:p>
          <a:p>
            <a:pPr lvl="1" rtl="0"/>
            <a:r>
              <a:rPr lang="pt-BR" sz="1500"/>
              <a:t>IP não pode retransmitir após um erro.</a:t>
            </a:r>
          </a:p>
          <a:p>
            <a:pPr lvl="1" rtl="0"/>
            <a:r>
              <a:rPr lang="pt-BR" sz="1500"/>
              <a:t>O IP não pode realinhar pacotes fora de sequência.</a:t>
            </a:r>
          </a:p>
          <a:p>
            <a:pPr lvl="1" rtl="0"/>
            <a:r>
              <a:rPr lang="pt-BR" sz="1500"/>
              <a:t>IP deve depender de outros protocolos para essas funções.</a:t>
            </a:r>
          </a:p>
          <a:p>
            <a:pPr marL="0" indent="0" rtl="0">
              <a:buNone/>
            </a:pPr>
            <a:r>
              <a:rPr lang="pt-BR"/>
              <a:t>O protocolo IP independe de meio físico.</a:t>
            </a:r>
          </a:p>
          <a:p>
            <a:pPr lvl="1" rtl="0"/>
            <a:r>
              <a:rPr lang="pt-BR" sz="1500"/>
              <a:t>O IP não se preocupa com o tipo de quadro exigido na camada de link de dados ou com o tipo de mídia na camada física.</a:t>
            </a:r>
          </a:p>
          <a:p>
            <a:pPr lvl="1" rtl="0"/>
            <a:r>
              <a:rPr lang="pt-BR" sz="1500"/>
              <a:t>IP pode ser enviado por qualquer tipo de mídia: cobre, fibra ou sem fio.</a:t>
            </a:r>
          </a:p>
        </p:txBody>
      </p:sp>
      <p:pic>
        <p:nvPicPr>
          <p:cNvPr id="2" name="Picture 1"/>
          <p:cNvPicPr>
            <a:picLocks noChangeAspect="1"/>
          </p:cNvPicPr>
          <p:nvPr/>
        </p:nvPicPr>
        <p:blipFill>
          <a:blip r:embed="rId3"/>
          <a:stretch>
            <a:fillRect/>
          </a:stretch>
        </p:blipFill>
        <p:spPr>
          <a:xfrm>
            <a:off x="4267199" y="1104038"/>
            <a:ext cx="4774017" cy="3176718"/>
          </a:xfrm>
          <a:prstGeom prst="rect">
            <a:avLst/>
          </a:prstGeom>
        </p:spPr>
      </p:pic>
    </p:spTree>
    <p:extLst>
      <p:ext uri="{BB962C8B-B14F-4D97-AF65-F5344CB8AC3E}">
        <p14:creationId xmlns:p14="http://schemas.microsoft.com/office/powerpoint/2010/main" val="217961573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Características da Camada de Rede</a:t>
            </a:r>
            <a:r>
              <a:rPr lang="pt-BR"/>
              <a:t>Independente deMídia (Contd.) </a:t>
            </a:r>
          </a:p>
        </p:txBody>
      </p:sp>
      <p:sp>
        <p:nvSpPr>
          <p:cNvPr id="8195" name="Rectangle 6"/>
          <p:cNvSpPr>
            <a:spLocks noGrp="1" noChangeArrowheads="1"/>
          </p:cNvSpPr>
          <p:nvPr>
            <p:ph idx="1"/>
          </p:nvPr>
        </p:nvSpPr>
        <p:spPr>
          <a:xfrm>
            <a:off x="100858" y="858445"/>
            <a:ext cx="4028689" cy="3792213"/>
          </a:xfrm>
        </p:spPr>
        <p:txBody>
          <a:bodyPr/>
          <a:lstStyle/>
          <a:p>
            <a:pPr marL="0" indent="0" rtl="0">
              <a:buNone/>
            </a:pPr>
            <a:r>
              <a:rPr lang="pt-BR" sz="1600"/>
              <a:t>A camada de rede estabelecerá a Unidade Máxima de Transmissão (MTU).</a:t>
            </a:r>
          </a:p>
          <a:p>
            <a:pPr lvl="1" rtl="0"/>
            <a:r>
              <a:rPr lang="pt-BR" sz="1600"/>
              <a:t>camada de rede recebe isso a partir de informações de controle enviadas pela camada de link de dados.</a:t>
            </a:r>
          </a:p>
          <a:p>
            <a:pPr lvl="1" rtl="0"/>
            <a:r>
              <a:rPr lang="pt-BR" sz="1600"/>
              <a:t>Em seguida, a rede estabelece o tamanho da MTU.</a:t>
            </a:r>
          </a:p>
          <a:p>
            <a:pPr marL="0" indent="0" rtl="0">
              <a:buNone/>
            </a:pPr>
            <a:r>
              <a:rPr lang="pt-BR" sz="1600"/>
              <a:t>Fragmentação ocorre quando a Camada 3 divide o pacote IPv4 em unidades menores.</a:t>
            </a:r>
          </a:p>
          <a:p>
            <a:pPr lvl="1" rtl="0"/>
            <a:r>
              <a:rPr lang="pt-BR" sz="1600"/>
              <a:t>Fragmentação causa latência.</a:t>
            </a:r>
          </a:p>
          <a:p>
            <a:pPr lvl="1" rtl="0"/>
            <a:r>
              <a:rPr lang="pt-BR" sz="1600"/>
              <a:t>O IPv6 não fragmenta pacotes.</a:t>
            </a:r>
          </a:p>
          <a:p>
            <a:pPr lvl="1" rtl="0"/>
            <a:r>
              <a:rPr lang="pt-BR" sz="1600"/>
              <a:t>Exemplo: Roteador vai de Ethernet para uma WAN lenta com um MTU menor</a:t>
            </a:r>
          </a:p>
          <a:p>
            <a:pPr lvl="1"/>
            <a:endParaRPr lang="en-US" dirty="0"/>
          </a:p>
        </p:txBody>
      </p:sp>
      <p:pic>
        <p:nvPicPr>
          <p:cNvPr id="2" name="Picture 1"/>
          <p:cNvPicPr>
            <a:picLocks noChangeAspect="1"/>
          </p:cNvPicPr>
          <p:nvPr/>
        </p:nvPicPr>
        <p:blipFill>
          <a:blip r:embed="rId3"/>
          <a:stretch>
            <a:fillRect/>
          </a:stretch>
        </p:blipFill>
        <p:spPr>
          <a:xfrm>
            <a:off x="4267199" y="1104038"/>
            <a:ext cx="4774017" cy="3176718"/>
          </a:xfrm>
          <a:prstGeom prst="rect">
            <a:avLst/>
          </a:prstGeom>
        </p:spPr>
      </p:pic>
    </p:spTree>
    <p:extLst>
      <p:ext uri="{BB962C8B-B14F-4D97-AF65-F5344CB8AC3E}">
        <p14:creationId xmlns:p14="http://schemas.microsoft.com/office/powerpoint/2010/main" val="118930875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8.2 Pacote IPv4</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Pacote IPv4 </a:t>
            </a:r>
            <a:br>
              <a:rPr lang="en-US" altLang="en-US" dirty="0"/>
            </a:br>
            <a:r>
              <a:rPr lang="pt-BR"/>
              <a:t>Cabeçalho do Pacote IPv4</a:t>
            </a:r>
          </a:p>
        </p:txBody>
      </p:sp>
      <p:sp>
        <p:nvSpPr>
          <p:cNvPr id="8195" name="Rectangle 6"/>
          <p:cNvSpPr>
            <a:spLocks noGrp="1" noChangeArrowheads="1"/>
          </p:cNvSpPr>
          <p:nvPr>
            <p:ph idx="1"/>
          </p:nvPr>
        </p:nvSpPr>
        <p:spPr>
          <a:xfrm>
            <a:off x="246742" y="798946"/>
            <a:ext cx="8184025" cy="3497284"/>
          </a:xfrm>
        </p:spPr>
        <p:txBody>
          <a:bodyPr/>
          <a:lstStyle/>
          <a:p>
            <a:pPr marL="0" indent="0" rtl="0">
              <a:buNone/>
            </a:pPr>
            <a:r>
              <a:rPr lang="pt-BR" sz="1600"/>
              <a:t>IPv4 é o principal protocolo de comunicação para a camada de rede.</a:t>
            </a:r>
          </a:p>
          <a:p>
            <a:pPr marL="0" indent="0" rtl="0">
              <a:buNone/>
            </a:pPr>
            <a:r>
              <a:rPr lang="pt-BR" sz="1600"/>
              <a:t>O cabeçalho de rede tem muitas finalidades:</a:t>
            </a:r>
          </a:p>
          <a:p>
            <a:pPr lvl="1" rtl="0"/>
            <a:r>
              <a:rPr lang="pt-BR" sz="1600"/>
              <a:t>Ele garante que o pacote seja enviado na direção correta (para o destino).</a:t>
            </a:r>
          </a:p>
          <a:p>
            <a:pPr lvl="1" rtl="0"/>
            <a:r>
              <a:rPr lang="pt-BR" sz="1600"/>
              <a:t>Ele contém informações para o processamento da camada de rede em vários campos.</a:t>
            </a:r>
          </a:p>
          <a:p>
            <a:pPr lvl="1" rtl="0"/>
            <a:r>
              <a:rPr lang="pt-BR" sz="1600"/>
              <a:t>As informações no cabeçalho são usadas por todos os dispositivos de camada 3 que manipulam o pacote</a:t>
            </a:r>
          </a:p>
          <a:p>
            <a:pPr lvl="1"/>
            <a:endParaRPr lang="en-US" altLang="en-US" sz="1600" dirty="0"/>
          </a:p>
          <a:p>
            <a:pPr marL="0" indent="0" rtl="0">
              <a:buNone/>
            </a:pPr>
            <a:r>
              <a:rPr lang="pt-BR" sz="1600"/>
              <a:t> </a:t>
            </a:r>
          </a:p>
        </p:txBody>
      </p:sp>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
            <a:ext cx="9143999" cy="731520"/>
          </a:xfrm>
        </p:spPr>
        <p:txBody>
          <a:bodyPr/>
          <a:lstStyle/>
          <a:p>
            <a:pPr rtl="0"/>
            <a:r>
              <a:rPr lang="pt-BR" sz="1600"/>
              <a:t>Pacote IPv4 </a:t>
            </a:r>
            <a:br>
              <a:rPr lang="en-US" altLang="en-US" dirty="0"/>
            </a:br>
            <a:r>
              <a:rPr lang="pt-BR"/>
              <a:t>Campos do Cabeçalho do Pacote IPv4</a:t>
            </a:r>
          </a:p>
        </p:txBody>
      </p:sp>
      <p:sp>
        <p:nvSpPr>
          <p:cNvPr id="8195" name="Rectangle 6"/>
          <p:cNvSpPr>
            <a:spLocks noGrp="1" noChangeArrowheads="1"/>
          </p:cNvSpPr>
          <p:nvPr>
            <p:ph idx="1"/>
          </p:nvPr>
        </p:nvSpPr>
        <p:spPr>
          <a:xfrm>
            <a:off x="109728" y="792335"/>
            <a:ext cx="4690872" cy="2883553"/>
          </a:xfrm>
        </p:spPr>
        <p:txBody>
          <a:bodyPr/>
          <a:lstStyle/>
          <a:p>
            <a:pPr marL="0" indent="0" rtl="0">
              <a:buNone/>
            </a:pPr>
            <a:r>
              <a:rPr lang="pt-BR" sz="1600"/>
              <a:t>As características do cabeçalho de rede IPv4:</a:t>
            </a:r>
          </a:p>
          <a:p>
            <a:pPr lvl="1" rtl="0"/>
            <a:r>
              <a:rPr lang="pt-BR" sz="1600"/>
              <a:t>É em binário.</a:t>
            </a:r>
          </a:p>
          <a:p>
            <a:pPr lvl="1" rtl="0"/>
            <a:r>
              <a:rPr lang="pt-BR" sz="1600"/>
              <a:t>Contém vários campos de informação</a:t>
            </a:r>
          </a:p>
          <a:p>
            <a:pPr lvl="1" rtl="0"/>
            <a:r>
              <a:rPr lang="pt-BR" sz="1600"/>
              <a:t>O diagrama é lido da esquerda para a direita, 4 bytes por linha</a:t>
            </a:r>
          </a:p>
          <a:p>
            <a:pPr lvl="1" rtl="0"/>
            <a:r>
              <a:rPr lang="pt-BR" sz="1600"/>
              <a:t>Os dois campos mais importantes são a origem e o destino.</a:t>
            </a:r>
          </a:p>
          <a:p>
            <a:pPr marL="0" indent="0">
              <a:buNone/>
            </a:pPr>
            <a:endParaRPr lang="en-US" altLang="ja-JP" sz="1600" dirty="0"/>
          </a:p>
          <a:p>
            <a:pPr marL="0" indent="0" rtl="0">
              <a:buNone/>
            </a:pPr>
            <a:r>
              <a:rPr lang="pt-BR" sz="1600"/>
              <a:t>Protocolos podem ter uma ou mais funções.</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2313" y="841248"/>
            <a:ext cx="4251960" cy="4080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
            <a:ext cx="9143999" cy="731520"/>
          </a:xfrm>
        </p:spPr>
        <p:txBody>
          <a:bodyPr/>
          <a:lstStyle/>
          <a:p>
            <a:pPr rtl="0"/>
            <a:r>
              <a:rPr lang="pt-BR" sz="1600"/>
              <a:t>Pacote IPv4 </a:t>
            </a:r>
            <a:br>
              <a:rPr lang="en-US" altLang="en-US" dirty="0"/>
            </a:br>
            <a:r>
              <a:rPr lang="pt-BR"/>
              <a:t>Campos do Cabeçalho do Pacote IPv4</a:t>
            </a:r>
          </a:p>
        </p:txBody>
      </p:sp>
      <p:sp>
        <p:nvSpPr>
          <p:cNvPr id="8195" name="Rectangle 6"/>
          <p:cNvSpPr>
            <a:spLocks noGrp="1" noChangeArrowheads="1"/>
          </p:cNvSpPr>
          <p:nvPr>
            <p:ph idx="1"/>
          </p:nvPr>
        </p:nvSpPr>
        <p:spPr>
          <a:xfrm>
            <a:off x="155448" y="792335"/>
            <a:ext cx="8723376" cy="542689"/>
          </a:xfrm>
        </p:spPr>
        <p:txBody>
          <a:bodyPr/>
          <a:lstStyle/>
          <a:p>
            <a:pPr marL="0" indent="0" rtl="0">
              <a:buNone/>
            </a:pPr>
            <a:r>
              <a:rPr lang="pt-BR" sz="1600"/>
              <a:t>Estes são os campos mais importantes no cabeçalho IPv4:</a:t>
            </a:r>
          </a:p>
        </p:txBody>
      </p:sp>
      <p:graphicFrame>
        <p:nvGraphicFramePr>
          <p:cNvPr id="2" name="Table 1"/>
          <p:cNvGraphicFramePr>
            <a:graphicFrameLocks noGrp="1"/>
          </p:cNvGraphicFramePr>
          <p:nvPr>
            <p:extLst>
              <p:ext uri="{D42A27DB-BD31-4B8C-83A1-F6EECF244321}">
                <p14:modId xmlns:p14="http://schemas.microsoft.com/office/powerpoint/2010/main" val="2558451830"/>
              </p:ext>
            </p:extLst>
          </p:nvPr>
        </p:nvGraphicFramePr>
        <p:xfrm>
          <a:off x="164592" y="1417319"/>
          <a:ext cx="8750808" cy="3481360"/>
        </p:xfrm>
        <a:graphic>
          <a:graphicData uri="http://schemas.openxmlformats.org/drawingml/2006/table">
            <a:tbl>
              <a:tblPr firstRow="1" bandRow="1">
                <a:tableStyleId>{5C22544A-7EE6-4342-B048-85BDC9FD1C3A}</a:tableStyleId>
              </a:tblPr>
              <a:tblGrid>
                <a:gridCol w="2359152">
                  <a:extLst>
                    <a:ext uri="{9D8B030D-6E8A-4147-A177-3AD203B41FA5}">
                      <a16:colId xmlns:a16="http://schemas.microsoft.com/office/drawing/2014/main" val="20000"/>
                    </a:ext>
                  </a:extLst>
                </a:gridCol>
                <a:gridCol w="6391656">
                  <a:extLst>
                    <a:ext uri="{9D8B030D-6E8A-4147-A177-3AD203B41FA5}">
                      <a16:colId xmlns:a16="http://schemas.microsoft.com/office/drawing/2014/main" val="20001"/>
                    </a:ext>
                  </a:extLst>
                </a:gridCol>
              </a:tblGrid>
              <a:tr h="349993">
                <a:tc>
                  <a:txBody>
                    <a:bodyPr/>
                    <a:lstStyle/>
                    <a:p>
                      <a:pPr rtl="0"/>
                      <a:r>
                        <a:rPr lang="pt-BR"/>
                        <a:t>Função</a:t>
                      </a:r>
                    </a:p>
                  </a:txBody>
                  <a:tcPr/>
                </a:tc>
                <a:tc>
                  <a:txBody>
                    <a:bodyPr/>
                    <a:lstStyle/>
                    <a:p>
                      <a:pPr rtl="0"/>
                      <a:r>
                        <a:rPr lang="pt-BR"/>
                        <a:t>Descrição</a:t>
                      </a:r>
                    </a:p>
                  </a:txBody>
                  <a:tcPr/>
                </a:tc>
                <a:extLst>
                  <a:ext uri="{0D108BD9-81ED-4DB2-BD59-A6C34878D82A}">
                    <a16:rowId xmlns:a16="http://schemas.microsoft.com/office/drawing/2014/main" val="10000"/>
                  </a:ext>
                </a:extLst>
              </a:tr>
              <a:tr h="356752">
                <a:tc>
                  <a:txBody>
                    <a:bodyPr/>
                    <a:lstStyle/>
                    <a:p>
                      <a:pPr rtl="0"/>
                      <a:r>
                        <a:rPr lang="pt-BR" b="1"/>
                        <a:t>Versão</a:t>
                      </a:r>
                    </a:p>
                  </a:txBody>
                  <a:tcPr/>
                </a:tc>
                <a:tc>
                  <a:txBody>
                    <a:bodyPr/>
                    <a:lstStyle/>
                    <a:p>
                      <a:pPr rtl="0"/>
                      <a:r>
                        <a:rPr lang="pt-BR"/>
                        <a:t>Isso</a:t>
                      </a:r>
                      <a:r>
                        <a:rPr lang="pt-BR" baseline="0"/>
                        <a:t> será para v4, ao contrário de v6, um campo de 4 bits = 0100 </a:t>
                      </a:r>
                    </a:p>
                  </a:txBody>
                  <a:tcPr/>
                </a:tc>
                <a:extLst>
                  <a:ext uri="{0D108BD9-81ED-4DB2-BD59-A6C34878D82A}">
                    <a16:rowId xmlns:a16="http://schemas.microsoft.com/office/drawing/2014/main" val="10001"/>
                  </a:ext>
                </a:extLst>
              </a:tr>
              <a:tr h="368071">
                <a:tc>
                  <a:txBody>
                    <a:bodyPr/>
                    <a:lstStyle/>
                    <a:p>
                      <a:pPr rtl="0"/>
                      <a:r>
                        <a:rPr lang="pt-BR" b="1"/>
                        <a:t>Serviços Diferenciados</a:t>
                      </a:r>
                    </a:p>
                  </a:txBody>
                  <a:tcPr/>
                </a:tc>
                <a:tc>
                  <a:txBody>
                    <a:bodyPr/>
                    <a:lstStyle/>
                    <a:p>
                      <a:pPr rtl="0"/>
                      <a:r>
                        <a:rPr lang="pt-BR"/>
                        <a:t>Usado para QoS</a:t>
                      </a:r>
                      <a:r>
                        <a:rPr lang="pt-BR" baseline="0"/>
                        <a:t>: campo DiffServ — DS ou o IntServ mais antigo — ToS ou Tipo de Serviço </a:t>
                      </a:r>
                    </a:p>
                  </a:txBody>
                  <a:tcPr/>
                </a:tc>
                <a:extLst>
                  <a:ext uri="{0D108BD9-81ED-4DB2-BD59-A6C34878D82A}">
                    <a16:rowId xmlns:a16="http://schemas.microsoft.com/office/drawing/2014/main" val="10002"/>
                  </a:ext>
                </a:extLst>
              </a:tr>
              <a:tr h="369716">
                <a:tc>
                  <a:txBody>
                    <a:bodyPr/>
                    <a:lstStyle/>
                    <a:p>
                      <a:pPr rtl="0"/>
                      <a:r>
                        <a:rPr lang="pt-BR" b="1"/>
                        <a:t>Soma de verificação do cabeçalho</a:t>
                      </a:r>
                    </a:p>
                  </a:txBody>
                  <a:tcPr/>
                </a:tc>
                <a:tc>
                  <a:txBody>
                    <a:bodyPr/>
                    <a:lstStyle/>
                    <a:p>
                      <a:pPr rtl="0"/>
                      <a:r>
                        <a:rPr lang="pt-BR"/>
                        <a:t>Detectar corrupção no cabeçalho IPv4</a:t>
                      </a:r>
                    </a:p>
                  </a:txBody>
                  <a:tcPr/>
                </a:tc>
                <a:extLst>
                  <a:ext uri="{0D108BD9-81ED-4DB2-BD59-A6C34878D82A}">
                    <a16:rowId xmlns:a16="http://schemas.microsoft.com/office/drawing/2014/main" val="10003"/>
                  </a:ext>
                </a:extLst>
              </a:tr>
              <a:tr h="352068">
                <a:tc>
                  <a:txBody>
                    <a:bodyPr/>
                    <a:lstStyle/>
                    <a:p>
                      <a:pPr rtl="0"/>
                      <a:r>
                        <a:rPr lang="pt-BR" b="1"/>
                        <a:t>Tempo de vida (TTL)</a:t>
                      </a:r>
                    </a:p>
                  </a:txBody>
                  <a:tcPr/>
                </a:tc>
                <a:tc>
                  <a:txBody>
                    <a:bodyPr/>
                    <a:lstStyle/>
                    <a:p>
                      <a:pPr rtl="0"/>
                      <a:r>
                        <a:rPr lang="pt-BR"/>
                        <a:t>Contagem de saltos de camada 3. Quando se tornar zero, o roteador</a:t>
                      </a:r>
                      <a:r>
                        <a:rPr lang="pt-BR" baseline="0"/>
                        <a:t> descartará o pacote. </a:t>
                      </a:r>
                    </a:p>
                  </a:txBody>
                  <a:tcPr/>
                </a:tc>
                <a:extLst>
                  <a:ext uri="{0D108BD9-81ED-4DB2-BD59-A6C34878D82A}">
                    <a16:rowId xmlns:a16="http://schemas.microsoft.com/office/drawing/2014/main" val="10004"/>
                  </a:ext>
                </a:extLst>
              </a:tr>
              <a:tr h="365909">
                <a:tc>
                  <a:txBody>
                    <a:bodyPr/>
                    <a:lstStyle/>
                    <a:p>
                      <a:pPr rtl="0"/>
                      <a:r>
                        <a:rPr lang="pt-BR" b="1"/>
                        <a:t>Protocolos</a:t>
                      </a:r>
                    </a:p>
                  </a:txBody>
                  <a:tcPr/>
                </a:tc>
                <a:tc>
                  <a:txBody>
                    <a:bodyPr/>
                    <a:lstStyle/>
                    <a:p>
                      <a:pPr rtl="0"/>
                      <a:r>
                        <a:rPr lang="pt-BR"/>
                        <a:t>I.D.s</a:t>
                      </a:r>
                      <a:r>
                        <a:rPr lang="pt-BR" baseline="0"/>
                        <a:t> protocolo de próximo nível: ICMP, TCP, UDP, etc.</a:t>
                      </a:r>
                    </a:p>
                  </a:txBody>
                  <a:tcPr/>
                </a:tc>
                <a:extLst>
                  <a:ext uri="{0D108BD9-81ED-4DB2-BD59-A6C34878D82A}">
                    <a16:rowId xmlns:a16="http://schemas.microsoft.com/office/drawing/2014/main" val="10005"/>
                  </a:ext>
                </a:extLst>
              </a:tr>
              <a:tr h="336066">
                <a:tc>
                  <a:txBody>
                    <a:bodyPr/>
                    <a:lstStyle/>
                    <a:p>
                      <a:pPr rtl="0"/>
                      <a:r>
                        <a:rPr lang="pt-BR" b="1"/>
                        <a:t>Endereço IPv4 Origem</a:t>
                      </a:r>
                    </a:p>
                  </a:txBody>
                  <a:tcPr/>
                </a:tc>
                <a:tc>
                  <a:txBody>
                    <a:bodyPr/>
                    <a:lstStyle/>
                    <a:p>
                      <a:pPr rtl="0"/>
                      <a:r>
                        <a:rPr lang="pt-BR"/>
                        <a:t>Endereço de origem de 32 bits</a:t>
                      </a:r>
                    </a:p>
                  </a:txBody>
                  <a:tcPr/>
                </a:tc>
                <a:extLst>
                  <a:ext uri="{0D108BD9-81ED-4DB2-BD59-A6C34878D82A}">
                    <a16:rowId xmlns:a16="http://schemas.microsoft.com/office/drawing/2014/main" val="10006"/>
                  </a:ext>
                </a:extLst>
              </a:tr>
              <a:tr h="336066">
                <a:tc>
                  <a:txBody>
                    <a:bodyPr/>
                    <a:lstStyle/>
                    <a:p>
                      <a:pPr rtl="0"/>
                      <a:r>
                        <a:rPr lang="pt-BR" b="1"/>
                        <a:t>Endereço IPV4 de destino</a:t>
                      </a:r>
                    </a:p>
                  </a:txBody>
                  <a:tcPr/>
                </a:tc>
                <a:tc>
                  <a:txBody>
                    <a:bodyPr/>
                    <a:lstStyle/>
                    <a:p>
                      <a:pPr rtl="0"/>
                      <a:r>
                        <a:rPr lang="pt-BR" baseline="0"/>
                        <a:t> Endereço</a:t>
                      </a:r>
                      <a:r>
                        <a:rPr lang="pt-BR"/>
                        <a:t>de destino de 32 bits</a:t>
                      </a:r>
                    </a:p>
                  </a:txBody>
                  <a:tcP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169841431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9144000" cy="829464"/>
          </a:xfrm>
        </p:spPr>
        <p:txBody>
          <a:bodyPr/>
          <a:lstStyle/>
          <a:p>
            <a:pPr rtl="0"/>
            <a:br>
              <a:rPr lang="en-US" altLang="en-US" dirty="0"/>
            </a:br>
            <a:r>
              <a:rPr lang="pt-BR"/>
              <a:t>Pacote IPv4 </a:t>
            </a:r>
            <a:r>
              <a:rPr lang="pt-BR" sz="1600"/>
              <a:t>Demonstração em vídeo - Exemplo de cabeçalhos IPv4 em Wireshark</a:t>
            </a:r>
          </a:p>
        </p:txBody>
      </p:sp>
      <p:sp>
        <p:nvSpPr>
          <p:cNvPr id="8195" name="Rectangle 6"/>
          <p:cNvSpPr>
            <a:spLocks noGrp="1" noChangeArrowheads="1"/>
          </p:cNvSpPr>
          <p:nvPr>
            <p:ph idx="1"/>
          </p:nvPr>
        </p:nvSpPr>
        <p:spPr>
          <a:xfrm>
            <a:off x="203200" y="986970"/>
            <a:ext cx="8593327" cy="2103701"/>
          </a:xfrm>
        </p:spPr>
        <p:txBody>
          <a:bodyPr/>
          <a:lstStyle/>
          <a:p>
            <a:pPr marL="0" indent="0" rtl="0">
              <a:buNone/>
            </a:pPr>
            <a:r>
              <a:rPr lang="pt-BR" sz="1600"/>
              <a:t>Este vídeo aborda o seguinte:</a:t>
            </a:r>
          </a:p>
          <a:p>
            <a:pPr rtl="0">
              <a:buFont typeface="Arial" panose="020B0604020202020204" pitchFamily="34" charset="0"/>
              <a:buChar char="•"/>
            </a:pPr>
            <a:r>
              <a:rPr lang="pt-BR" sz="1600"/>
              <a:t>Pacotes Ethernet IPv4 em Wireshark</a:t>
            </a:r>
          </a:p>
          <a:p>
            <a:pPr rtl="0">
              <a:buFont typeface="Arial" panose="020B0604020202020204" pitchFamily="34" charset="0"/>
              <a:buChar char="•"/>
            </a:pPr>
            <a:r>
              <a:rPr lang="pt-BR" sz="1600"/>
              <a:t>As informações de controle</a:t>
            </a:r>
          </a:p>
          <a:p>
            <a:pPr rtl="0">
              <a:buFont typeface="Arial" panose="020B0604020202020204" pitchFamily="34" charset="0"/>
              <a:buChar char="•"/>
            </a:pPr>
            <a:r>
              <a:rPr lang="pt-BR" sz="1600"/>
              <a:t>A diferença entre pacotes</a:t>
            </a:r>
          </a:p>
          <a:p>
            <a:pPr marL="0" indent="0">
              <a:buNone/>
            </a:pPr>
            <a:endParaRPr lang="en-US" altLang="ja-JP" dirty="0"/>
          </a:p>
        </p:txBody>
      </p:sp>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8.3 Pacotes IPv6</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Pacote IPv6 </a:t>
            </a:r>
            <a:r>
              <a:rPr lang="pt-BR" sz="1600"/>
              <a:t>Limitações do IPv4</a:t>
            </a:r>
          </a:p>
        </p:txBody>
      </p:sp>
      <p:sp>
        <p:nvSpPr>
          <p:cNvPr id="13315" name="Content Placeholder 2"/>
          <p:cNvSpPr>
            <a:spLocks noGrp="1"/>
          </p:cNvSpPr>
          <p:nvPr>
            <p:ph idx="1"/>
          </p:nvPr>
        </p:nvSpPr>
        <p:spPr>
          <a:xfrm>
            <a:off x="123574" y="867947"/>
            <a:ext cx="8672954" cy="3573424"/>
          </a:xfrm>
        </p:spPr>
        <p:txBody>
          <a:bodyPr/>
          <a:lstStyle/>
          <a:p>
            <a:pPr marL="0" indent="0" rtl="0">
              <a:buNone/>
            </a:pPr>
            <a:r>
              <a:rPr lang="pt-BR" sz="1600"/>
              <a:t>O IPv4 tem três limitações principais:</a:t>
            </a:r>
          </a:p>
          <a:p>
            <a:pPr lvl="1" rtl="0"/>
            <a:r>
              <a:rPr lang="pt-BR" sz="1600"/>
              <a:t>Esgotamento de endereços IPv4 — Nós basicamente ficamos sem endereçamento IPv4.</a:t>
            </a:r>
          </a:p>
          <a:p>
            <a:pPr lvl="1" rtl="0"/>
            <a:r>
              <a:rPr lang="pt-BR" sz="1600"/>
              <a:t>Falta de conectividade de ponta a ponta — Para que o IPv4 sobreviva a esse tempo, o endereçamento privado e o NAT foram criados. Isso terminou comunicações diretas com endereçamento público.</a:t>
            </a:r>
          </a:p>
          <a:p>
            <a:pPr lvl="1" rtl="0"/>
            <a:r>
              <a:rPr lang="pt-BR" sz="1600"/>
              <a:t>Maior complexidade da rede — o NAT foi concebido como solução temporária e cria problemas na rede como um efeito colateral da manipulação do endereçamento de cabeçalhos de rede. O NAT causa latência e solução de problemas.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104710310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a:t>Visão geral do IPv6 PacketsIPv6</a:t>
            </a:r>
          </a:p>
        </p:txBody>
      </p:sp>
      <p:sp>
        <p:nvSpPr>
          <p:cNvPr id="13315" name="Content Placeholder 2"/>
          <p:cNvSpPr>
            <a:spLocks noGrp="1"/>
          </p:cNvSpPr>
          <p:nvPr>
            <p:ph idx="1"/>
          </p:nvPr>
        </p:nvSpPr>
        <p:spPr>
          <a:xfrm>
            <a:off x="123574" y="867946"/>
            <a:ext cx="3997630" cy="3841213"/>
          </a:xfrm>
        </p:spPr>
        <p:txBody>
          <a:bodyPr/>
          <a:lstStyle/>
          <a:p>
            <a:pPr marL="169545" indent="-169545" rtl="0">
              <a:buFont typeface="Arial" panose="020B0604020202020204" pitchFamily="34" charset="0"/>
              <a:buChar char="•"/>
            </a:pPr>
            <a:r>
              <a:rPr lang="pt-BR" sz="1400">
                <a:ea typeface="ＭＳ Ｐゴシック"/>
              </a:rPr>
              <a:t>O IPv6 foi desenvolvido pela Internet Engineering Task Force (IETF).</a:t>
            </a:r>
          </a:p>
          <a:p>
            <a:pPr marL="169545" indent="-169545" rtl="0">
              <a:buFont typeface="Arial" panose="020B0604020202020204" pitchFamily="34" charset="0"/>
              <a:buChar char="•"/>
            </a:pPr>
            <a:r>
              <a:rPr lang="pt-BR" sz="1400">
                <a:ea typeface="ＭＳ Ｐゴシック"/>
              </a:rPr>
              <a:t>O IPv6 supera as limitações do IPv4.</a:t>
            </a:r>
          </a:p>
          <a:p>
            <a:pPr marL="169545" indent="-169545" rtl="0">
              <a:buFont typeface="Arial" panose="020B0604020202020204" pitchFamily="34" charset="0"/>
              <a:buChar char="•"/>
            </a:pPr>
            <a:r>
              <a:rPr lang="pt-BR" sz="1400">
                <a:ea typeface="ＭＳ Ｐゴシック"/>
              </a:rPr>
              <a:t>Melhorias que o IPv6 fornece:</a:t>
            </a:r>
          </a:p>
          <a:p>
            <a:pPr lvl="1" rtl="0">
              <a:buFont typeface="Arial" panose="020B0604020202020204" pitchFamily="34" charset="0"/>
              <a:buChar char="•"/>
            </a:pPr>
            <a:r>
              <a:rPr lang="pt-BR" b="1">
                <a:ea typeface="ＭＳ Ｐゴシック"/>
              </a:rPr>
              <a:t>Aumento do espaço de endereço </a:t>
            </a:r>
            <a:r>
              <a:rPr lang="pt-BR">
                <a:ea typeface="ＭＳ Ｐゴシック"/>
              </a:rPr>
              <a:t>— baseado no endereço de 128 bits, não em 32 bits</a:t>
            </a:r>
          </a:p>
          <a:p>
            <a:pPr lvl="1" rtl="0">
              <a:buFont typeface="Arial" panose="020B0604020202020204" pitchFamily="34" charset="0"/>
              <a:buChar char="•"/>
            </a:pPr>
            <a:r>
              <a:rPr lang="pt-BR" b="1">
                <a:ea typeface="ＭＳ Ｐゴシック"/>
              </a:rPr>
              <a:t>Manipulação aprimorada de pacotes </a:t>
            </a:r>
            <a:r>
              <a:rPr lang="pt-BR">
                <a:ea typeface="ＭＳ Ｐゴシック"/>
              </a:rPr>
              <a:t>- O cabeçalho IPv6 foi simplificado com menos campos.</a:t>
            </a:r>
          </a:p>
          <a:p>
            <a:pPr lvl="1" rtl="0">
              <a:buFont typeface="Arial" panose="020B0604020202020204" pitchFamily="34" charset="0"/>
              <a:buChar char="•"/>
            </a:pPr>
            <a:r>
              <a:rPr lang="pt-BR" b="1">
                <a:ea typeface="ＭＳ Ｐゴシック"/>
              </a:rPr>
              <a:t>Elimina a necessidade de NAT </a:t>
            </a:r>
            <a:r>
              <a:rPr lang="pt-BR">
                <a:ea typeface="ＭＳ Ｐゴシック"/>
              </a:rPr>
              <a:t>— uma vez que há uma grande quantidade de endereçamento, não há necessidade de usar o endereçamento privado internamente e ser mapeado para um endereço público compartilhado</a:t>
            </a:r>
          </a:p>
          <a:p>
            <a:pPr lvl="1"/>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004" y="804672"/>
            <a:ext cx="488699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14662"/>
            <a:ext cx="9144000" cy="757551"/>
          </a:xfrm>
        </p:spPr>
        <p:txBody>
          <a:bodyPr/>
          <a:lstStyle/>
          <a:p>
            <a:pPr rtl="0"/>
            <a:r>
              <a:rPr lang="pt-BR" sz="1600"/>
              <a:t>Pacotes</a:t>
            </a:r>
            <a:br>
              <a:rPr lang="en-US" altLang="en-US" dirty="0"/>
            </a:br>
            <a:r>
              <a:rPr lang="pt-BR"/>
              <a:t>IPv6 Campos de cabeçalho de pacote IPv4 no cabeçalho do pacote IPv6</a:t>
            </a:r>
          </a:p>
        </p:txBody>
      </p:sp>
      <p:sp>
        <p:nvSpPr>
          <p:cNvPr id="13315" name="Content Placeholder 2"/>
          <p:cNvSpPr>
            <a:spLocks noGrp="1"/>
          </p:cNvSpPr>
          <p:nvPr>
            <p:ph idx="1"/>
          </p:nvPr>
        </p:nvSpPr>
        <p:spPr>
          <a:xfrm>
            <a:off x="123574" y="867947"/>
            <a:ext cx="3359855" cy="3733082"/>
          </a:xfrm>
        </p:spPr>
        <p:txBody>
          <a:bodyPr/>
          <a:lstStyle/>
          <a:p>
            <a:pPr marL="169545" indent="-169545" rtl="0">
              <a:buFont typeface="Arial" panose="020B0604020202020204" pitchFamily="34" charset="0"/>
              <a:buChar char="•"/>
            </a:pPr>
            <a:r>
              <a:rPr lang="pt-BR" sz="1400">
                <a:ea typeface="ＭＳ Ｐゴシック"/>
              </a:rPr>
              <a:t>O cabeçalho IPv6 é simplificado, mas não menor.</a:t>
            </a:r>
          </a:p>
          <a:p>
            <a:pPr marL="169545" indent="-169545" rtl="0">
              <a:buFont typeface="Arial" panose="020B0604020202020204" pitchFamily="34" charset="0"/>
              <a:buChar char="•"/>
            </a:pPr>
            <a:r>
              <a:rPr lang="pt-BR" sz="1400">
                <a:ea typeface="ＭＳ Ｐゴシック"/>
              </a:rPr>
              <a:t>O cabeçalho é fixado em 40 bytes ou octetos de comprimento.</a:t>
            </a:r>
          </a:p>
          <a:p>
            <a:pPr marL="169545" indent="-169545" rtl="0">
              <a:buFont typeface="Arial" panose="020B0604020202020204" pitchFamily="34" charset="0"/>
              <a:buChar char="•"/>
            </a:pPr>
            <a:r>
              <a:rPr lang="pt-BR" sz="1400">
                <a:ea typeface="ＭＳ Ｐゴシック"/>
              </a:rPr>
              <a:t>Vários campos IPv4 foram removidos para melhorar o desempenho.</a:t>
            </a:r>
          </a:p>
          <a:p>
            <a:pPr marL="169545" indent="-169545" rtl="0">
              <a:buFont typeface="Arial" panose="020B0604020202020204" pitchFamily="34" charset="0"/>
              <a:buChar char="•"/>
            </a:pPr>
            <a:r>
              <a:rPr lang="pt-BR" sz="1400">
                <a:ea typeface="ＭＳ Ｐゴシック"/>
              </a:rPr>
              <a:t>Alguns campos IPv4 foram removidos para melhorar o desempenho:</a:t>
            </a:r>
          </a:p>
          <a:p>
            <a:pPr lvl="1" rtl="0"/>
            <a:r>
              <a:rPr lang="pt-BR">
                <a:ea typeface="ＭＳ Ｐゴシック"/>
              </a:rPr>
              <a:t>Flag</a:t>
            </a:r>
          </a:p>
          <a:p>
            <a:pPr lvl="1" rtl="0"/>
            <a:r>
              <a:rPr lang="pt-BR">
                <a:ea typeface="ＭＳ Ｐゴシック"/>
              </a:rPr>
              <a:t>Deslocamento do fragmento</a:t>
            </a:r>
          </a:p>
          <a:p>
            <a:pPr lvl="1" rtl="0"/>
            <a:r>
              <a:rPr lang="pt-BR">
                <a:ea typeface="ＭＳ Ｐゴシック"/>
              </a:rPr>
              <a:t>Soma de verificação do cabeçalho</a:t>
            </a:r>
          </a:p>
          <a:p>
            <a:pPr lvl="1"/>
            <a:endParaRPr lang="en-CA" alt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7245" y="1328283"/>
            <a:ext cx="5526755" cy="35793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Pacotes IPv6</a:t>
            </a:r>
            <a:br>
              <a:rPr lang="en-US" altLang="en-US" dirty="0"/>
            </a:br>
            <a:r>
              <a:rPr lang="pt-BR"/>
              <a:t>Cabeçalho do Pacote IPv6</a:t>
            </a:r>
          </a:p>
        </p:txBody>
      </p:sp>
      <p:sp>
        <p:nvSpPr>
          <p:cNvPr id="13315" name="Content Placeholder 2"/>
          <p:cNvSpPr>
            <a:spLocks noGrp="1"/>
          </p:cNvSpPr>
          <p:nvPr>
            <p:ph idx="1"/>
          </p:nvPr>
        </p:nvSpPr>
        <p:spPr>
          <a:xfrm>
            <a:off x="123574" y="867947"/>
            <a:ext cx="8243186" cy="457933"/>
          </a:xfrm>
        </p:spPr>
        <p:txBody>
          <a:bodyPr/>
          <a:lstStyle/>
          <a:p>
            <a:pPr marL="0" indent="0" rtl="0">
              <a:buNone/>
            </a:pPr>
            <a:r>
              <a:rPr lang="pt-BR" sz="1600"/>
              <a:t>Campos significativos no cabeçalho IPv4:</a:t>
            </a:r>
          </a:p>
          <a:p>
            <a:pPr lvl="1"/>
            <a:endParaRPr lang="en-CA" altLang="en-US" dirty="0"/>
          </a:p>
        </p:txBody>
      </p:sp>
      <p:graphicFrame>
        <p:nvGraphicFramePr>
          <p:cNvPr id="5" name="Table 4"/>
          <p:cNvGraphicFramePr>
            <a:graphicFrameLocks noGrp="1"/>
          </p:cNvGraphicFramePr>
          <p:nvPr>
            <p:extLst>
              <p:ext uri="{D42A27DB-BD31-4B8C-83A1-F6EECF244321}">
                <p14:modId xmlns:p14="http://schemas.microsoft.com/office/powerpoint/2010/main" val="1727482612"/>
              </p:ext>
            </p:extLst>
          </p:nvPr>
        </p:nvGraphicFramePr>
        <p:xfrm>
          <a:off x="219456" y="1449174"/>
          <a:ext cx="8750808" cy="3697180"/>
        </p:xfrm>
        <a:graphic>
          <a:graphicData uri="http://schemas.openxmlformats.org/drawingml/2006/table">
            <a:tbl>
              <a:tblPr firstRow="1" bandRow="1">
                <a:tableStyleId>{5C22544A-7EE6-4342-B048-85BDC9FD1C3A}</a:tableStyleId>
              </a:tblPr>
              <a:tblGrid>
                <a:gridCol w="2359152">
                  <a:extLst>
                    <a:ext uri="{9D8B030D-6E8A-4147-A177-3AD203B41FA5}">
                      <a16:colId xmlns:a16="http://schemas.microsoft.com/office/drawing/2014/main" val="20000"/>
                    </a:ext>
                  </a:extLst>
                </a:gridCol>
                <a:gridCol w="6391656">
                  <a:extLst>
                    <a:ext uri="{9D8B030D-6E8A-4147-A177-3AD203B41FA5}">
                      <a16:colId xmlns:a16="http://schemas.microsoft.com/office/drawing/2014/main" val="20001"/>
                    </a:ext>
                  </a:extLst>
                </a:gridCol>
              </a:tblGrid>
              <a:tr h="349993">
                <a:tc>
                  <a:txBody>
                    <a:bodyPr/>
                    <a:lstStyle/>
                    <a:p>
                      <a:pPr rtl="0"/>
                      <a:r>
                        <a:rPr lang="pt-BR"/>
                        <a:t>Função</a:t>
                      </a:r>
                    </a:p>
                  </a:txBody>
                  <a:tcPr/>
                </a:tc>
                <a:tc>
                  <a:txBody>
                    <a:bodyPr/>
                    <a:lstStyle/>
                    <a:p>
                      <a:pPr rtl="0"/>
                      <a:r>
                        <a:rPr lang="pt-BR"/>
                        <a:t>Descrição</a:t>
                      </a:r>
                    </a:p>
                  </a:txBody>
                  <a:tcPr/>
                </a:tc>
                <a:extLst>
                  <a:ext uri="{0D108BD9-81ED-4DB2-BD59-A6C34878D82A}">
                    <a16:rowId xmlns:a16="http://schemas.microsoft.com/office/drawing/2014/main" val="10000"/>
                  </a:ext>
                </a:extLst>
              </a:tr>
              <a:tr h="356752">
                <a:tc>
                  <a:txBody>
                    <a:bodyPr/>
                    <a:lstStyle/>
                    <a:p>
                      <a:pPr rtl="0"/>
                      <a:r>
                        <a:rPr lang="pt-BR" b="1"/>
                        <a:t>Versão</a:t>
                      </a:r>
                    </a:p>
                  </a:txBody>
                  <a:tcPr/>
                </a:tc>
                <a:tc>
                  <a:txBody>
                    <a:bodyPr/>
                    <a:lstStyle/>
                    <a:p>
                      <a:pPr rtl="0"/>
                      <a:r>
                        <a:rPr lang="pt-BR"/>
                        <a:t>Isso</a:t>
                      </a:r>
                      <a:r>
                        <a:rPr lang="pt-BR" baseline="0"/>
                        <a:t> será para v6, ao contrário de v4, um campo de 4 bits = 0110 </a:t>
                      </a:r>
                    </a:p>
                  </a:txBody>
                  <a:tcPr/>
                </a:tc>
                <a:extLst>
                  <a:ext uri="{0D108BD9-81ED-4DB2-BD59-A6C34878D82A}">
                    <a16:rowId xmlns:a16="http://schemas.microsoft.com/office/drawing/2014/main" val="10001"/>
                  </a:ext>
                </a:extLst>
              </a:tr>
              <a:tr h="368071">
                <a:tc>
                  <a:txBody>
                    <a:bodyPr/>
                    <a:lstStyle/>
                    <a:p>
                      <a:pPr rtl="0"/>
                      <a:r>
                        <a:rPr lang="pt-BR" b="1"/>
                        <a:t>Classe de tráfego</a:t>
                      </a:r>
                    </a:p>
                  </a:txBody>
                  <a:tcPr/>
                </a:tc>
                <a:tc>
                  <a:txBody>
                    <a:bodyPr/>
                    <a:lstStyle/>
                    <a:p>
                      <a:pPr rtl="0"/>
                      <a:r>
                        <a:rPr lang="pt-BR"/>
                        <a:t>Usado para QoS</a:t>
                      </a:r>
                      <a:r>
                        <a:rPr lang="pt-BR" baseline="0"/>
                        <a:t>: Equivalente ao campo DiffServ — DS </a:t>
                      </a:r>
                    </a:p>
                  </a:txBody>
                  <a:tcPr/>
                </a:tc>
                <a:extLst>
                  <a:ext uri="{0D108BD9-81ED-4DB2-BD59-A6C34878D82A}">
                    <a16:rowId xmlns:a16="http://schemas.microsoft.com/office/drawing/2014/main" val="10002"/>
                  </a:ext>
                </a:extLst>
              </a:tr>
              <a:tr h="369716">
                <a:tc>
                  <a:txBody>
                    <a:bodyPr/>
                    <a:lstStyle/>
                    <a:p>
                      <a:pPr rtl="0"/>
                      <a:r>
                        <a:rPr lang="pt-BR" b="1"/>
                        <a:t>Rótulo de fluxo</a:t>
                      </a:r>
                    </a:p>
                  </a:txBody>
                  <a:tcPr/>
                </a:tc>
                <a:tc>
                  <a:txBody>
                    <a:bodyPr/>
                    <a:lstStyle/>
                    <a:p>
                      <a:pPr rtl="0"/>
                      <a:r>
                        <a:rPr lang="pt-BR" baseline="0"/>
                        <a:t>Informa o dispositivo para lidar com rótulos de fluxo idênticos da mesma maneira, </a:t>
                      </a:r>
                      <a:r>
                        <a:rPr lang="pt-BR"/>
                        <a:t>campo de 20 bits</a:t>
                      </a:r>
                    </a:p>
                  </a:txBody>
                  <a:tcPr/>
                </a:tc>
                <a:extLst>
                  <a:ext uri="{0D108BD9-81ED-4DB2-BD59-A6C34878D82A}">
                    <a16:rowId xmlns:a16="http://schemas.microsoft.com/office/drawing/2014/main" val="10003"/>
                  </a:ext>
                </a:extLst>
              </a:tr>
              <a:tr h="352068">
                <a:tc>
                  <a:txBody>
                    <a:bodyPr/>
                    <a:lstStyle/>
                    <a:p>
                      <a:pPr rtl="0"/>
                      <a:r>
                        <a:rPr lang="pt-BR" b="1"/>
                        <a:t>Tamanho da carga</a:t>
                      </a:r>
                    </a:p>
                  </a:txBody>
                  <a:tcPr/>
                </a:tc>
                <a:tc>
                  <a:txBody>
                    <a:bodyPr/>
                    <a:lstStyle/>
                    <a:p>
                      <a:pPr rtl="0"/>
                      <a:r>
                        <a:rPr lang="pt-BR"/>
                        <a:t>Este campo de 16 bits indica o comprimento da parte dos dados ou da carga útil do pacote IPv6</a:t>
                      </a:r>
                    </a:p>
                  </a:txBody>
                  <a:tcPr/>
                </a:tc>
                <a:extLst>
                  <a:ext uri="{0D108BD9-81ED-4DB2-BD59-A6C34878D82A}">
                    <a16:rowId xmlns:a16="http://schemas.microsoft.com/office/drawing/2014/main" val="10004"/>
                  </a:ext>
                </a:extLst>
              </a:tr>
              <a:tr h="365909">
                <a:tc>
                  <a:txBody>
                    <a:bodyPr/>
                    <a:lstStyle/>
                    <a:p>
                      <a:pPr rtl="0"/>
                      <a:r>
                        <a:rPr lang="pt-BR" b="1"/>
                        <a:t>Próximo cabeçalho</a:t>
                      </a:r>
                    </a:p>
                  </a:txBody>
                  <a:tcPr/>
                </a:tc>
                <a:tc>
                  <a:txBody>
                    <a:bodyPr/>
                    <a:lstStyle/>
                    <a:p>
                      <a:pPr rtl="0"/>
                      <a:r>
                        <a:rPr lang="pt-BR"/>
                        <a:t>I.D.s</a:t>
                      </a:r>
                      <a:r>
                        <a:rPr lang="pt-BR" baseline="0"/>
                        <a:t> protocolo de próximo nível: ICMP, TCP, UDP, etc.</a:t>
                      </a:r>
                    </a:p>
                  </a:txBody>
                  <a:tcPr/>
                </a:tc>
                <a:extLst>
                  <a:ext uri="{0D108BD9-81ED-4DB2-BD59-A6C34878D82A}">
                    <a16:rowId xmlns:a16="http://schemas.microsoft.com/office/drawing/2014/main" val="10005"/>
                  </a:ext>
                </a:extLst>
              </a:tr>
              <a:tr h="365909">
                <a:tc>
                  <a:txBody>
                    <a:bodyPr/>
                    <a:lstStyle/>
                    <a:p>
                      <a:pPr rtl="0"/>
                      <a:r>
                        <a:rPr lang="pt-BR" b="1"/>
                        <a:t>Limite de saltos</a:t>
                      </a:r>
                    </a:p>
                  </a:txBody>
                  <a:tcP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pt-BR"/>
                        <a:t>Substitui o</a:t>
                      </a:r>
                      <a:r>
                        <a:rPr lang="pt-BR" baseline="0"/>
                        <a:t> campo TTL </a:t>
                      </a:r>
                      <a:r>
                        <a:rPr lang="pt-BR"/>
                        <a:t>Contagem de saltos da Camada 3</a:t>
                      </a:r>
                    </a:p>
                  </a:txBody>
                  <a:tcPr/>
                </a:tc>
                <a:extLst>
                  <a:ext uri="{0D108BD9-81ED-4DB2-BD59-A6C34878D82A}">
                    <a16:rowId xmlns:a16="http://schemas.microsoft.com/office/drawing/2014/main" val="10007"/>
                  </a:ext>
                </a:extLst>
              </a:tr>
              <a:tr h="336066">
                <a:tc>
                  <a:txBody>
                    <a:bodyPr/>
                    <a:lstStyle/>
                    <a:p>
                      <a:pPr rtl="0"/>
                      <a:r>
                        <a:rPr lang="pt-BR" b="1"/>
                        <a:t>Endereço IPv4 Origem</a:t>
                      </a:r>
                    </a:p>
                  </a:txBody>
                  <a:tcPr/>
                </a:tc>
                <a:tc>
                  <a:txBody>
                    <a:bodyPr/>
                    <a:lstStyle/>
                    <a:p>
                      <a:pPr rtl="0"/>
                      <a:r>
                        <a:rPr lang="pt-BR"/>
                        <a:t>Endereço de origem de 128 bits</a:t>
                      </a:r>
                    </a:p>
                  </a:txBody>
                  <a:tcPr/>
                </a:tc>
                <a:extLst>
                  <a:ext uri="{0D108BD9-81ED-4DB2-BD59-A6C34878D82A}">
                    <a16:rowId xmlns:a16="http://schemas.microsoft.com/office/drawing/2014/main" val="10006"/>
                  </a:ext>
                </a:extLst>
              </a:tr>
              <a:tr h="336066">
                <a:tc>
                  <a:txBody>
                    <a:bodyPr/>
                    <a:lstStyle/>
                    <a:p>
                      <a:pPr rtl="0"/>
                      <a:r>
                        <a:rPr lang="pt-BR" b="1"/>
                        <a:t>Endereço IPV4 de destino</a:t>
                      </a:r>
                    </a:p>
                  </a:txBody>
                  <a:tcPr/>
                </a:tc>
                <a:tc>
                  <a:txBody>
                    <a:bodyPr/>
                    <a:lstStyle/>
                    <a:p>
                      <a:pPr rtl="0"/>
                      <a:r>
                        <a:rPr lang="pt-BR" baseline="0"/>
                        <a:t> Endereço</a:t>
                      </a:r>
                      <a:r>
                        <a:rPr lang="pt-BR"/>
                        <a:t>de destino de 128 bits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60041384"/>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Pacote IPv6 </a:t>
            </a:r>
            <a:br>
              <a:rPr lang="en-US" altLang="en-US" dirty="0"/>
            </a:br>
            <a:r>
              <a:rPr lang="pt-BR"/>
              <a:t>Cabeçalho do pacote IPv6 (continuação)</a:t>
            </a:r>
          </a:p>
        </p:txBody>
      </p:sp>
      <p:sp>
        <p:nvSpPr>
          <p:cNvPr id="13315" name="Content Placeholder 2"/>
          <p:cNvSpPr>
            <a:spLocks noGrp="1"/>
          </p:cNvSpPr>
          <p:nvPr>
            <p:ph idx="1"/>
          </p:nvPr>
        </p:nvSpPr>
        <p:spPr>
          <a:xfrm>
            <a:off x="123574" y="867947"/>
            <a:ext cx="8243186" cy="3073117"/>
          </a:xfrm>
        </p:spPr>
        <p:txBody>
          <a:bodyPr/>
          <a:lstStyle/>
          <a:p>
            <a:pPr marL="0" indent="0" rtl="0">
              <a:buNone/>
            </a:pPr>
            <a:r>
              <a:rPr lang="pt-BR" sz="1600"/>
              <a:t>O pacote IPv6 também pode conter cabeçalhos de extensão (EH). </a:t>
            </a:r>
          </a:p>
          <a:p>
            <a:pPr marL="0" indent="0" rtl="0">
              <a:buNone/>
            </a:pPr>
            <a:r>
              <a:rPr lang="pt-BR" sz="1600"/>
              <a:t>Características dos cabeçalhos EH: </a:t>
            </a:r>
          </a:p>
          <a:p>
            <a:pPr rtl="0">
              <a:buFont typeface="Arial" panose="020B0604020202020204" pitchFamily="34" charset="0"/>
              <a:buChar char="•"/>
            </a:pPr>
            <a:r>
              <a:rPr lang="pt-BR" sz="1600"/>
              <a:t>fornecer informações opcionais sobre a camada de rede</a:t>
            </a:r>
          </a:p>
          <a:p>
            <a:pPr rtl="0">
              <a:buFont typeface="Arial" panose="020B0604020202020204" pitchFamily="34" charset="0"/>
              <a:buChar char="•"/>
            </a:pPr>
            <a:r>
              <a:rPr lang="pt-BR" sz="1600"/>
              <a:t>são opcionais</a:t>
            </a:r>
          </a:p>
          <a:p>
            <a:pPr rtl="0">
              <a:buFont typeface="Arial" panose="020B0604020202020204" pitchFamily="34" charset="0"/>
              <a:buChar char="•"/>
            </a:pPr>
            <a:r>
              <a:rPr lang="pt-BR" sz="1600"/>
              <a:t>são colocados entre o cabeçalho IPv6 e a carga útil</a:t>
            </a:r>
          </a:p>
          <a:p>
            <a:pPr rtl="0">
              <a:buFont typeface="Arial" panose="020B0604020202020204" pitchFamily="34" charset="0"/>
              <a:buChar char="•"/>
            </a:pPr>
            <a:r>
              <a:rPr lang="pt-BR" sz="1600"/>
              <a:t>podem ser usado para fragmentação, segurança, suporte à mobilidade etc.</a:t>
            </a:r>
          </a:p>
          <a:p>
            <a:pPr>
              <a:buFont typeface="Arial" panose="020B0604020202020204" pitchFamily="34" charset="0"/>
              <a:buChar char="•"/>
            </a:pPr>
            <a:endParaRPr lang="en-US" altLang="en-US" sz="1600" dirty="0"/>
          </a:p>
          <a:p>
            <a:pPr marL="0" indent="0" rtl="0">
              <a:buNone/>
            </a:pPr>
            <a:r>
              <a:rPr lang="pt-BR" sz="1600" b="1"/>
              <a:t>Nota:</a:t>
            </a:r>
            <a:r>
              <a:rPr lang="pt-BR" sz="1600"/>
              <a:t> Ao contrário do IPv4, os roteadores não fragmentam pacotes IPv6.</a:t>
            </a:r>
          </a:p>
        </p:txBody>
      </p:sp>
    </p:spTree>
    <p:extLst>
      <p:ext uri="{BB962C8B-B14F-4D97-AF65-F5344CB8AC3E}">
        <p14:creationId xmlns:p14="http://schemas.microsoft.com/office/powerpoint/2010/main" val="23929838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Pacote IPv6 </a:t>
            </a:r>
            <a:br>
              <a:rPr lang="en-US" altLang="en-US" dirty="0"/>
            </a:br>
            <a:r>
              <a:rPr lang="pt-BR"/>
              <a:t>Vídeo - Exemplo de cabeçalhos IPv6 em Wireshark</a:t>
            </a:r>
          </a:p>
        </p:txBody>
      </p:sp>
      <p:sp>
        <p:nvSpPr>
          <p:cNvPr id="13315" name="Content Placeholder 2"/>
          <p:cNvSpPr>
            <a:spLocks noGrp="1"/>
          </p:cNvSpPr>
          <p:nvPr>
            <p:ph idx="1"/>
          </p:nvPr>
        </p:nvSpPr>
        <p:spPr>
          <a:xfrm>
            <a:off x="123574" y="867946"/>
            <a:ext cx="8581514" cy="2131285"/>
          </a:xfrm>
        </p:spPr>
        <p:txBody>
          <a:bodyPr/>
          <a:lstStyle/>
          <a:p>
            <a:pPr marL="0" indent="0" rtl="0">
              <a:buNone/>
            </a:pPr>
            <a:r>
              <a:rPr lang="pt-BR" sz="1600"/>
              <a:t>Este vídeo aborda o seguinte:</a:t>
            </a:r>
          </a:p>
          <a:p>
            <a:pPr rtl="0">
              <a:buFont typeface="Arial" panose="020B0604020202020204" pitchFamily="34" charset="0"/>
              <a:buChar char="•"/>
            </a:pPr>
            <a:r>
              <a:rPr lang="pt-BR" sz="1600"/>
              <a:t>Pacotes Ethernet IPv6 em Wireshark</a:t>
            </a:r>
          </a:p>
          <a:p>
            <a:pPr rtl="0">
              <a:buFont typeface="Arial" panose="020B0604020202020204" pitchFamily="34" charset="0"/>
              <a:buChar char="•"/>
            </a:pPr>
            <a:r>
              <a:rPr lang="pt-BR" sz="1600"/>
              <a:t>As informações de controle</a:t>
            </a:r>
          </a:p>
          <a:p>
            <a:pPr rtl="0">
              <a:buFont typeface="Arial" panose="020B0604020202020204" pitchFamily="34" charset="0"/>
              <a:buChar char="•"/>
            </a:pPr>
            <a:r>
              <a:rPr lang="pt-BR" sz="1600"/>
              <a:t>A diferença entre pacotes</a:t>
            </a:r>
          </a:p>
          <a:p>
            <a:pPr marL="0" indent="0">
              <a:buNone/>
            </a:pPr>
            <a:endParaRPr lang="en-CA" altLang="en-US" dirty="0"/>
          </a:p>
        </p:txBody>
      </p:sp>
    </p:spTree>
    <p:extLst>
      <p:ext uri="{BB962C8B-B14F-4D97-AF65-F5344CB8AC3E}">
        <p14:creationId xmlns:p14="http://schemas.microsoft.com/office/powerpoint/2010/main" val="1532752531"/>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8.4 Como um host roteia</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
            <a:ext cx="9144000" cy="685800"/>
          </a:xfrm>
        </p:spPr>
        <p:txBody>
          <a:bodyPr/>
          <a:lstStyle/>
          <a:p>
            <a:pPr rtl="0"/>
            <a:r>
              <a:rPr lang="pt-BR" sz="1600"/>
              <a:t>Como um host roteia </a:t>
            </a:r>
            <a:br>
              <a:rPr lang="en-US" altLang="en-US" sz="1600" dirty="0"/>
            </a:br>
            <a:r>
              <a:rPr lang="pt-BR"/>
              <a:t>Decisão de encaminhamento do host</a:t>
            </a:r>
          </a:p>
        </p:txBody>
      </p:sp>
      <p:sp>
        <p:nvSpPr>
          <p:cNvPr id="55299" name="Rectangle 3"/>
          <p:cNvSpPr>
            <a:spLocks noGrp="1" noChangeArrowheads="1"/>
          </p:cNvSpPr>
          <p:nvPr>
            <p:ph type="body" idx="1"/>
          </p:nvPr>
        </p:nvSpPr>
        <p:spPr>
          <a:xfrm>
            <a:off x="109728" y="711504"/>
            <a:ext cx="8516566" cy="2250825"/>
          </a:xfrm>
        </p:spPr>
        <p:txBody>
          <a:bodyPr/>
          <a:lstStyle/>
          <a:p>
            <a:pPr rtl="0">
              <a:buFont typeface="Arial" panose="020B0604020202020204" pitchFamily="34" charset="0"/>
              <a:buChar char="•"/>
            </a:pPr>
            <a:r>
              <a:rPr lang="pt-BR" sz="1800"/>
              <a:t>Os pacotes são sempre criados na origem.</a:t>
            </a:r>
          </a:p>
          <a:p>
            <a:pPr rtl="0">
              <a:buFont typeface="Arial" panose="020B0604020202020204" pitchFamily="34" charset="0"/>
              <a:buChar char="•"/>
            </a:pPr>
            <a:r>
              <a:rPr lang="pt-BR" sz="1800"/>
              <a:t>Cada dispositivo host cria sua própria tabela de roteamento.</a:t>
            </a:r>
          </a:p>
          <a:p>
            <a:pPr rtl="0">
              <a:buFont typeface="Arial" panose="020B0604020202020204" pitchFamily="34" charset="0"/>
              <a:buChar char="•"/>
            </a:pPr>
            <a:r>
              <a:rPr lang="pt-BR" sz="1800"/>
              <a:t>Um host pode enviar pacotes para o seguinte:</a:t>
            </a:r>
          </a:p>
          <a:p>
            <a:pPr lvl="1" rtl="0"/>
            <a:r>
              <a:rPr lang="pt-BR" sz="1700"/>
              <a:t>Próprio — 127.0.0.1 (IPv4),: :1 (IPv6)</a:t>
            </a:r>
          </a:p>
          <a:p>
            <a:pPr lvl="1" rtl="0"/>
            <a:r>
              <a:rPr lang="pt-BR" sz="1700"/>
              <a:t>Hosts locais — o destino está na mesma LAN</a:t>
            </a:r>
          </a:p>
          <a:p>
            <a:pPr lvl="1" rtl="0"/>
            <a:r>
              <a:rPr lang="pt-BR" sz="1700"/>
              <a:t>Hosts remotos — os dispositivos não estão na mesma LAN </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3051" y="3181961"/>
            <a:ext cx="4799457" cy="1922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
            <a:ext cx="9144000" cy="685800"/>
          </a:xfrm>
        </p:spPr>
        <p:txBody>
          <a:bodyPr/>
          <a:lstStyle/>
          <a:p>
            <a:pPr rtl="0"/>
            <a:r>
              <a:rPr lang="pt-BR" sz="1600"/>
              <a:t>Como um host roteia </a:t>
            </a:r>
            <a:br>
              <a:rPr lang="en-US" altLang="en-US" sz="1600" dirty="0"/>
            </a:br>
            <a:r>
              <a:rPr lang="pt-BR"/>
              <a:t>Decisão de encaminhamento do host (Cont.)</a:t>
            </a:r>
          </a:p>
        </p:txBody>
      </p:sp>
      <p:sp>
        <p:nvSpPr>
          <p:cNvPr id="55299" name="Rectangle 3"/>
          <p:cNvSpPr>
            <a:spLocks noGrp="1" noChangeArrowheads="1"/>
          </p:cNvSpPr>
          <p:nvPr>
            <p:ph type="body" idx="1"/>
          </p:nvPr>
        </p:nvSpPr>
        <p:spPr>
          <a:xfrm>
            <a:off x="109728" y="711504"/>
            <a:ext cx="8915400" cy="2530460"/>
          </a:xfrm>
        </p:spPr>
        <p:txBody>
          <a:bodyPr/>
          <a:lstStyle/>
          <a:p>
            <a:pPr rtl="0">
              <a:buFont typeface="Arial" panose="020B0604020202020204" pitchFamily="34" charset="0"/>
              <a:buChar char="•"/>
            </a:pPr>
            <a:r>
              <a:rPr lang="pt-BR" sz="1800"/>
              <a:t>O dispositivo de origem determina se o destino é local ou remoto</a:t>
            </a:r>
          </a:p>
          <a:p>
            <a:pPr rtl="0">
              <a:buFont typeface="Arial" panose="020B0604020202020204" pitchFamily="34" charset="0"/>
              <a:buChar char="•"/>
            </a:pPr>
            <a:r>
              <a:rPr lang="pt-BR" sz="1800"/>
              <a:t>Método de determinação:</a:t>
            </a:r>
          </a:p>
          <a:p>
            <a:pPr lvl="1" rtl="0">
              <a:buFont typeface="Arial" panose="020B0604020202020204" pitchFamily="34" charset="0"/>
              <a:buChar char="•"/>
            </a:pPr>
            <a:r>
              <a:rPr lang="pt-BR" sz="1600"/>
              <a:t>IPv4 — A fonte usa seu próprio endereço IP e máscara de sub-rede, juntamente com o endereço IP de destino</a:t>
            </a:r>
          </a:p>
          <a:p>
            <a:pPr lvl="1" rtl="0">
              <a:buFont typeface="Arial" panose="020B0604020202020204" pitchFamily="34" charset="0"/>
              <a:buChar char="•"/>
            </a:pPr>
            <a:r>
              <a:rPr lang="pt-BR" sz="1600"/>
              <a:t>IPv6 — A fonte usa o endereço de rede e o prefixo anunciados pelo roteador local</a:t>
            </a:r>
          </a:p>
          <a:p>
            <a:pPr rtl="0">
              <a:buFont typeface="Arial" panose="020B0604020202020204" pitchFamily="34" charset="0"/>
              <a:buChar char="•"/>
            </a:pPr>
            <a:r>
              <a:rPr lang="pt-BR" sz="1700"/>
              <a:t>O tráfego local é despejado da interface do host a ser tratado por um dispositivo intermediário.</a:t>
            </a:r>
          </a:p>
          <a:p>
            <a:pPr rtl="0">
              <a:buFont typeface="Arial" panose="020B0604020202020204" pitchFamily="34" charset="0"/>
              <a:buChar char="•"/>
            </a:pPr>
            <a:r>
              <a:rPr lang="pt-BR" sz="1700"/>
              <a:t>O tráfego remoto é encaminhado diretamente para o gateway padrão na LAN.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984" y="3520108"/>
            <a:ext cx="4296537" cy="1545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0649388"/>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Como um host roteia </a:t>
            </a:r>
            <a:br>
              <a:rPr lang="en-US" altLang="en-US" sz="1600" dirty="0"/>
            </a:br>
            <a:r>
              <a:rPr lang="pt-BR"/>
              <a:t>Gateway padrão</a:t>
            </a:r>
          </a:p>
        </p:txBody>
      </p:sp>
      <p:sp>
        <p:nvSpPr>
          <p:cNvPr id="55299" name="Rectangle 3"/>
          <p:cNvSpPr>
            <a:spLocks noGrp="1" noChangeArrowheads="1"/>
          </p:cNvSpPr>
          <p:nvPr>
            <p:ph type="body" idx="1"/>
          </p:nvPr>
        </p:nvSpPr>
        <p:spPr>
          <a:xfrm>
            <a:off x="365760" y="821052"/>
            <a:ext cx="8535435" cy="3376044"/>
          </a:xfrm>
        </p:spPr>
        <p:txBody>
          <a:bodyPr/>
          <a:lstStyle/>
          <a:p>
            <a:pPr marL="0" indent="0" rtl="0">
              <a:buNone/>
            </a:pPr>
            <a:r>
              <a:rPr lang="pt-BR" sz="1800"/>
              <a:t>Um roteador ou switch de camada 3 pode ser um gateway padrão.</a:t>
            </a:r>
          </a:p>
          <a:p>
            <a:pPr marL="0" indent="0" rtl="0">
              <a:buNone/>
            </a:pPr>
            <a:r>
              <a:rPr lang="pt-BR" sz="1800"/>
              <a:t>Recursos de um gateway padrão (DGW):</a:t>
            </a:r>
          </a:p>
          <a:p>
            <a:pPr lvl="1" rtl="0">
              <a:buFont typeface="Arial" panose="020B0604020202020204" pitchFamily="34" charset="0"/>
              <a:buChar char="•"/>
            </a:pPr>
            <a:r>
              <a:rPr lang="pt-BR" sz="1700"/>
              <a:t>Ele deve ter um endereço IP no mesmo intervalo que o resto da LAN.</a:t>
            </a:r>
          </a:p>
          <a:p>
            <a:pPr lvl="1" rtl="0">
              <a:buFont typeface="Arial" panose="020B0604020202020204" pitchFamily="34" charset="0"/>
              <a:buChar char="•"/>
            </a:pPr>
            <a:r>
              <a:rPr lang="pt-BR" sz="1700"/>
              <a:t>Ele pode aceitar dados da LAN e é capaz de encaminhar o tráfego fora da LAN.</a:t>
            </a:r>
          </a:p>
          <a:p>
            <a:pPr lvl="1" rtl="0">
              <a:buFont typeface="Arial" panose="020B0604020202020204" pitchFamily="34" charset="0"/>
              <a:buChar char="•"/>
            </a:pPr>
            <a:r>
              <a:rPr lang="pt-BR" sz="1700"/>
              <a:t>Ele pode rotear para outras redes.</a:t>
            </a:r>
          </a:p>
          <a:p>
            <a:pPr marL="0" indent="0" rtl="0">
              <a:buNone/>
            </a:pPr>
            <a:r>
              <a:rPr lang="pt-BR" sz="1800"/>
              <a:t>Se um dispositivo não tiver um gateway padrão ou um gateway padrão incorreto, seu tráfego não poderá sair da LAN.</a:t>
            </a:r>
          </a:p>
          <a:p>
            <a:pPr lvl="1"/>
            <a:endParaRPr lang="en-US" sz="1700" dirty="0"/>
          </a:p>
        </p:txBody>
      </p:sp>
    </p:spTree>
    <p:extLst>
      <p:ext uri="{BB962C8B-B14F-4D97-AF65-F5344CB8AC3E}">
        <p14:creationId xmlns:p14="http://schemas.microsoft.com/office/powerpoint/2010/main" val="4121643246"/>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Como um host é roteia</a:t>
            </a:r>
            <a:br>
              <a:rPr lang="en-US" altLang="en-US" sz="1600" dirty="0"/>
            </a:br>
            <a:r>
              <a:rPr lang="pt-BR"/>
              <a:t> Um host é roteado para o gateway padrão</a:t>
            </a:r>
          </a:p>
        </p:txBody>
      </p:sp>
      <p:sp>
        <p:nvSpPr>
          <p:cNvPr id="55299" name="Rectangle 3"/>
          <p:cNvSpPr>
            <a:spLocks noGrp="1" noChangeArrowheads="1"/>
          </p:cNvSpPr>
          <p:nvPr>
            <p:ph type="body" idx="1"/>
          </p:nvPr>
        </p:nvSpPr>
        <p:spPr>
          <a:xfrm>
            <a:off x="116115" y="821051"/>
            <a:ext cx="4115747" cy="3794491"/>
          </a:xfrm>
        </p:spPr>
        <p:txBody>
          <a:bodyPr/>
          <a:lstStyle/>
          <a:p>
            <a:pPr rtl="0">
              <a:buFont typeface="Arial" panose="020B0604020202020204" pitchFamily="34" charset="0"/>
              <a:buChar char="•"/>
            </a:pPr>
            <a:r>
              <a:rPr lang="pt-BR" sz="1800"/>
              <a:t>O host saberá o gateway padrão (DGW) estaticamente ou por meio de DHCP no IPv4.</a:t>
            </a:r>
          </a:p>
          <a:p>
            <a:pPr rtl="0">
              <a:buFont typeface="Arial" panose="020B0604020202020204" pitchFamily="34" charset="0"/>
              <a:buChar char="•"/>
            </a:pPr>
            <a:r>
              <a:rPr lang="pt-BR" sz="1800"/>
              <a:t>O IPv6 envia o DGW através de uma solicitação de roteador (RS) ou pode ser configurado manualmente.</a:t>
            </a:r>
          </a:p>
          <a:p>
            <a:pPr rtl="0">
              <a:buFont typeface="Arial" panose="020B0604020202020204" pitchFamily="34" charset="0"/>
              <a:buChar char="•"/>
            </a:pPr>
            <a:r>
              <a:rPr lang="pt-BR" sz="1800"/>
              <a:t> Um DGW é uma rota estática que será uma rota de último recurso na tabela de roteamento.</a:t>
            </a:r>
          </a:p>
          <a:p>
            <a:pPr rtl="0">
              <a:buFont typeface="Arial" panose="020B0604020202020204" pitchFamily="34" charset="0"/>
              <a:buChar char="•"/>
            </a:pPr>
            <a:r>
              <a:rPr lang="pt-BR" sz="1800"/>
              <a:t>Todos os dispositivos na LAN precisarão do DGW do roteador se pretenderem enviar tráfego remotamente.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870" y="1501170"/>
            <a:ext cx="4765834" cy="2229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5191498"/>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Como um host roteia </a:t>
            </a:r>
            <a:br>
              <a:rPr lang="en-US" altLang="en-US" sz="1600" dirty="0"/>
            </a:br>
            <a:r>
              <a:rPr lang="pt-BR"/>
              <a:t>Tabelas de roteamento do host</a:t>
            </a:r>
          </a:p>
        </p:txBody>
      </p:sp>
      <p:sp>
        <p:nvSpPr>
          <p:cNvPr id="55299" name="Rectangle 3"/>
          <p:cNvSpPr>
            <a:spLocks noGrp="1" noChangeArrowheads="1"/>
          </p:cNvSpPr>
          <p:nvPr>
            <p:ph type="body" idx="1"/>
          </p:nvPr>
        </p:nvSpPr>
        <p:spPr>
          <a:xfrm>
            <a:off x="116115" y="821051"/>
            <a:ext cx="2819110" cy="3794491"/>
          </a:xfrm>
        </p:spPr>
        <p:txBody>
          <a:bodyPr/>
          <a:lstStyle/>
          <a:p>
            <a:pPr rtl="0">
              <a:buFont typeface="Arial" panose="020B0604020202020204" pitchFamily="34" charset="0"/>
              <a:buChar char="•"/>
            </a:pPr>
            <a:r>
              <a:rPr lang="pt-BR" sz="1700"/>
              <a:t>No Windows, rotee print ou netstat -r para exibir a tabela de roteamento do PC</a:t>
            </a:r>
          </a:p>
          <a:p>
            <a:pPr rtl="0">
              <a:buFont typeface="Arial" panose="020B0604020202020204" pitchFamily="34" charset="0"/>
              <a:buChar char="•"/>
            </a:pPr>
            <a:r>
              <a:rPr lang="pt-BR" sz="1700"/>
              <a:t>Três seções exibidas por estes dois comandos:</a:t>
            </a:r>
          </a:p>
          <a:p>
            <a:pPr lvl="1" rtl="0"/>
            <a:r>
              <a:rPr lang="pt-BR" sz="1600"/>
              <a:t>Lista de interfaces — todas as interfaces potenciais e endereçamento MAC</a:t>
            </a:r>
          </a:p>
          <a:p>
            <a:pPr lvl="1" rtl="0"/>
            <a:r>
              <a:rPr lang="pt-BR" sz="1600"/>
              <a:t>Tabela de roteamento IPv4</a:t>
            </a:r>
          </a:p>
          <a:p>
            <a:pPr lvl="1" rtl="0"/>
            <a:r>
              <a:rPr lang="pt-BR" sz="1600"/>
              <a:t>Tabela de roteamento IPv6</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864" y="932688"/>
            <a:ext cx="5485829" cy="373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861482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8.5 Introdução ao Roteamento</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Introdução à</a:t>
            </a:r>
            <a:r>
              <a:rPr lang="pt-BR"/>
              <a:t>decisão de encaminhamento de pacotes doroteador de roteamento</a:t>
            </a:r>
          </a:p>
        </p:txBody>
      </p:sp>
      <p:sp>
        <p:nvSpPr>
          <p:cNvPr id="13315" name="Content Placeholder 2"/>
          <p:cNvSpPr>
            <a:spLocks noGrp="1"/>
          </p:cNvSpPr>
          <p:nvPr>
            <p:ph idx="1"/>
          </p:nvPr>
        </p:nvSpPr>
        <p:spPr>
          <a:xfrm>
            <a:off x="173255" y="822098"/>
            <a:ext cx="8807116" cy="538969"/>
          </a:xfrm>
        </p:spPr>
        <p:txBody>
          <a:bodyPr/>
          <a:lstStyle/>
          <a:p>
            <a:pPr marL="0" indent="0" rtl="0">
              <a:buNone/>
            </a:pPr>
            <a:r>
              <a:rPr lang="pt-BR"/>
              <a:t>O que acontece quando o roteador recebe o quadro do dispositivo host?</a:t>
            </a:r>
          </a:p>
          <a:p>
            <a:pPr lvl="1"/>
            <a:endParaRPr lang="en-CA" altLang="en-US"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255" y="1361067"/>
            <a:ext cx="5439072" cy="3316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1411" y="2162150"/>
            <a:ext cx="2983832" cy="1877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Introdução à</a:t>
            </a:r>
            <a:r>
              <a:rPr lang="pt-BR"/>
              <a:t>Tabela de Roteamento do RoteadorIP</a:t>
            </a:r>
          </a:p>
        </p:txBody>
      </p:sp>
      <p:sp>
        <p:nvSpPr>
          <p:cNvPr id="13315" name="Content Placeholder 2"/>
          <p:cNvSpPr>
            <a:spLocks noGrp="1"/>
          </p:cNvSpPr>
          <p:nvPr>
            <p:ph idx="1"/>
          </p:nvPr>
        </p:nvSpPr>
        <p:spPr>
          <a:xfrm>
            <a:off x="290286" y="798943"/>
            <a:ext cx="8853715" cy="2422943"/>
          </a:xfrm>
        </p:spPr>
        <p:txBody>
          <a:bodyPr/>
          <a:lstStyle/>
          <a:p>
            <a:pPr marL="0" indent="0" rtl="0">
              <a:buNone/>
            </a:pPr>
            <a:r>
              <a:rPr lang="pt-BR"/>
              <a:t>Há três tipos de rotas na tabela de roteamento de um roteador:</a:t>
            </a:r>
          </a:p>
          <a:p>
            <a:pPr rtl="0">
              <a:buFont typeface="Arial" panose="020B0604020202020204" pitchFamily="34" charset="0"/>
              <a:buChar char="•"/>
            </a:pPr>
            <a:r>
              <a:rPr lang="pt-BR" b="1"/>
              <a:t>Conexão Direta </a:t>
            </a:r>
            <a:r>
              <a:rPr lang="pt-BR"/>
              <a:t>— Essas rotas são adicionadas automaticamente pelo roteador, desde que a interface esteja ativa e tenha endereçamento. </a:t>
            </a:r>
          </a:p>
          <a:p>
            <a:pPr rtl="0">
              <a:buFont typeface="Arial" panose="020B0604020202020204" pitchFamily="34" charset="0"/>
              <a:buChar char="•"/>
            </a:pPr>
            <a:r>
              <a:rPr lang="pt-BR" b="1"/>
              <a:t>Remoto</a:t>
            </a:r>
            <a:r>
              <a:rPr lang="pt-BR"/>
              <a:t> — Estas são as rotas em que o roteador não tem uma conexão direta e pode ser aprendido:</a:t>
            </a:r>
          </a:p>
          <a:p>
            <a:pPr lvl="1" rtl="0">
              <a:buFont typeface="Arial" panose="020B0604020202020204" pitchFamily="34" charset="0"/>
              <a:buChar char="•"/>
            </a:pPr>
            <a:r>
              <a:rPr lang="pt-BR"/>
              <a:t>Manualmente — com uma rota estática</a:t>
            </a:r>
          </a:p>
          <a:p>
            <a:pPr lvl="1" rtl="0">
              <a:buFont typeface="Arial" panose="020B0604020202020204" pitchFamily="34" charset="0"/>
              <a:buChar char="•"/>
            </a:pPr>
            <a:r>
              <a:rPr lang="pt-BR"/>
              <a:t>Dinamicamente — usando um protocolo de roteamento para que os roteadores compartilhem suas informações entre si</a:t>
            </a:r>
          </a:p>
          <a:p>
            <a:pPr rtl="0">
              <a:buFont typeface="Arial" panose="020B0604020202020204" pitchFamily="34" charset="0"/>
              <a:buChar char="•"/>
            </a:pPr>
            <a:r>
              <a:rPr lang="pt-BR" b="1"/>
              <a:t>Rota Padrão </a:t>
            </a:r>
            <a:r>
              <a:rPr lang="pt-BR"/>
              <a:t>— isso encaminha todo o tráfego para uma direção específica quando não houver correspondência na tabela de roteamento </a:t>
            </a:r>
          </a:p>
          <a:p>
            <a:pPr lvl="1"/>
            <a:endParaRPr lang="en-CA" altLang="en-US" dirty="0"/>
          </a:p>
          <a:p>
            <a:pPr lvl="1"/>
            <a:endParaRPr lang="en-CA" altLang="en-US"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9235" y="3617541"/>
            <a:ext cx="5351646" cy="1524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186606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5996198" cy="757551"/>
          </a:xfrm>
        </p:spPr>
        <p:txBody>
          <a:bodyPr/>
          <a:lstStyle/>
          <a:p>
            <a:pPr rtl="0"/>
            <a:r>
              <a:rPr lang="pt-BR" sz="1600"/>
              <a:t>Introdução ao Roteamento</a:t>
            </a:r>
            <a:br>
              <a:rPr lang="en-US" altLang="en-US" dirty="0"/>
            </a:br>
            <a:r>
              <a:rPr lang="pt-BR" sz="2400"/>
              <a:t>Estático de Roteamento</a:t>
            </a:r>
          </a:p>
        </p:txBody>
      </p:sp>
      <p:sp>
        <p:nvSpPr>
          <p:cNvPr id="3" name="Content Placeholder 2"/>
          <p:cNvSpPr>
            <a:spLocks noGrp="1"/>
          </p:cNvSpPr>
          <p:nvPr>
            <p:ph idx="1"/>
          </p:nvPr>
        </p:nvSpPr>
        <p:spPr>
          <a:xfrm>
            <a:off x="144065" y="798945"/>
            <a:ext cx="3846044" cy="3066474"/>
          </a:xfrm>
        </p:spPr>
        <p:txBody>
          <a:bodyPr/>
          <a:lstStyle/>
          <a:p>
            <a:pPr marL="0" indent="0" rtl="0">
              <a:buNone/>
            </a:pPr>
            <a:r>
              <a:rPr lang="pt-BR" sz="1600"/>
              <a:t>Características estáticas da rota:</a:t>
            </a:r>
          </a:p>
          <a:p>
            <a:pPr rtl="0">
              <a:buFont typeface="Arial" panose="020B0604020202020204" pitchFamily="34" charset="0"/>
              <a:buChar char="•"/>
            </a:pPr>
            <a:r>
              <a:rPr lang="pt-BR" sz="1600"/>
              <a:t>Deve ser configurado manualmente</a:t>
            </a:r>
          </a:p>
          <a:p>
            <a:pPr rtl="0">
              <a:buFont typeface="Arial" panose="020B0604020202020204" pitchFamily="34" charset="0"/>
              <a:buChar char="•"/>
            </a:pPr>
            <a:r>
              <a:rPr lang="pt-BR" sz="1600"/>
              <a:t>Deve ser ajustado manualmente pelo administrador quando houver uma alteração na topologia</a:t>
            </a:r>
          </a:p>
          <a:p>
            <a:pPr rtl="0">
              <a:buFont typeface="Arial" panose="020B0604020202020204" pitchFamily="34" charset="0"/>
              <a:buChar char="•"/>
            </a:pPr>
            <a:r>
              <a:rPr lang="pt-BR" sz="1600"/>
              <a:t>Bom para pequenas redes não redundantes</a:t>
            </a:r>
          </a:p>
          <a:p>
            <a:pPr rtl="0">
              <a:buFont typeface="Arial" panose="020B0604020202020204" pitchFamily="34" charset="0"/>
              <a:buChar char="•"/>
            </a:pPr>
            <a:r>
              <a:rPr lang="pt-BR" sz="1600"/>
              <a:t>Muitas vezes usado em conjunto com um protocolo de roteamento dinâmico para configurar uma rota padrão</a:t>
            </a:r>
          </a:p>
        </p:txBody>
      </p:sp>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0109" y="228982"/>
            <a:ext cx="5007756" cy="2382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109" y="2687848"/>
            <a:ext cx="5007757" cy="2117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525199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5417371" cy="757551"/>
          </a:xfrm>
        </p:spPr>
        <p:txBody>
          <a:bodyPr/>
          <a:lstStyle/>
          <a:p>
            <a:pPr rtl="0"/>
            <a:r>
              <a:rPr lang="pt-BR" sz="1600"/>
              <a:t>Introdução ao Roteamento</a:t>
            </a:r>
            <a:br>
              <a:rPr lang="en-US" altLang="en-US" sz="1600" dirty="0"/>
            </a:br>
            <a:r>
              <a:rPr lang="pt-BR"/>
              <a:t>Dinâmico de Roteamento</a:t>
            </a:r>
          </a:p>
        </p:txBody>
      </p:sp>
      <p:sp>
        <p:nvSpPr>
          <p:cNvPr id="3" name="Content Placeholder 2"/>
          <p:cNvSpPr>
            <a:spLocks noGrp="1"/>
          </p:cNvSpPr>
          <p:nvPr>
            <p:ph idx="1"/>
          </p:nvPr>
        </p:nvSpPr>
        <p:spPr>
          <a:xfrm>
            <a:off x="144065" y="798945"/>
            <a:ext cx="3846044" cy="2962564"/>
          </a:xfrm>
        </p:spPr>
        <p:txBody>
          <a:bodyPr/>
          <a:lstStyle/>
          <a:p>
            <a:pPr marL="0" indent="0" rtl="0">
              <a:buNone/>
            </a:pPr>
            <a:r>
              <a:rPr lang="pt-BR" sz="1600"/>
              <a:t>Rotas dinâmicas automaticamente:</a:t>
            </a:r>
          </a:p>
          <a:p>
            <a:pPr rtl="0">
              <a:buFont typeface="Arial" panose="020B0604020202020204" pitchFamily="34" charset="0"/>
              <a:buChar char="•"/>
            </a:pPr>
            <a:r>
              <a:rPr lang="pt-BR" sz="1600"/>
              <a:t>Descobrir redes remotas</a:t>
            </a:r>
          </a:p>
          <a:p>
            <a:pPr rtl="0">
              <a:buFont typeface="Arial" panose="020B0604020202020204" pitchFamily="34" charset="0"/>
              <a:buChar char="•"/>
            </a:pPr>
            <a:r>
              <a:rPr lang="pt-BR" sz="1600"/>
              <a:t>Manter as informações de roteamento atualizadas</a:t>
            </a:r>
          </a:p>
          <a:p>
            <a:pPr rtl="0">
              <a:buFont typeface="Arial" panose="020B0604020202020204" pitchFamily="34" charset="0"/>
              <a:buChar char="•"/>
            </a:pPr>
            <a:r>
              <a:rPr lang="pt-BR" sz="1600"/>
              <a:t>Escolher o melhor caminho para uma rede de destino</a:t>
            </a:r>
          </a:p>
          <a:p>
            <a:pPr rtl="0">
              <a:buFont typeface="Arial" panose="020B0604020202020204" pitchFamily="34" charset="0"/>
              <a:buChar char="•"/>
            </a:pPr>
            <a:r>
              <a:rPr lang="pt-BR" sz="1600"/>
              <a:t>Encontre novos caminhos melhores quando houver uma alteração de topologia</a:t>
            </a:r>
          </a:p>
          <a:p>
            <a:pPr marL="0" indent="0" rtl="0">
              <a:buNone/>
            </a:pPr>
            <a:r>
              <a:rPr lang="pt-BR" sz="1600"/>
              <a:t>O roteamento dinâmico também pode compartilhar rotas padrão estáticas com os outros roteadores.</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0109" y="358055"/>
            <a:ext cx="5007757" cy="1928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109" y="2312213"/>
            <a:ext cx="4644736" cy="2470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9790683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Introdução ao Roteamento de</a:t>
            </a:r>
            <a:br>
              <a:rPr lang="en-US" altLang="en-US" dirty="0"/>
            </a:br>
            <a:r>
              <a:rPr lang="pt-BR"/>
              <a:t>Vídeo — Tabelas de Roteamento de Roteadores IPv4</a:t>
            </a:r>
          </a:p>
        </p:txBody>
      </p:sp>
      <p:sp>
        <p:nvSpPr>
          <p:cNvPr id="13315" name="Content Placeholder 2"/>
          <p:cNvSpPr>
            <a:spLocks noGrp="1"/>
          </p:cNvSpPr>
          <p:nvPr>
            <p:ph idx="1"/>
          </p:nvPr>
        </p:nvSpPr>
        <p:spPr>
          <a:xfrm>
            <a:off x="249383" y="798944"/>
            <a:ext cx="8427026" cy="3093356"/>
          </a:xfrm>
        </p:spPr>
        <p:txBody>
          <a:bodyPr/>
          <a:lstStyle/>
          <a:p>
            <a:pPr marL="0" indent="0">
              <a:buNone/>
            </a:pPr>
            <a:endParaRPr lang="en-US" dirty="0"/>
          </a:p>
          <a:p>
            <a:pPr marL="0" indent="0" rtl="0">
              <a:buNone/>
            </a:pPr>
            <a:r>
              <a:rPr lang="pt-BR" sz="1800"/>
              <a:t>Este vídeo explicará as informações na tabela de roteamento do roteador IPv4.</a:t>
            </a:r>
          </a:p>
        </p:txBody>
      </p:sp>
    </p:spTree>
    <p:extLst>
      <p:ext uri="{BB962C8B-B14F-4D97-AF65-F5344CB8AC3E}">
        <p14:creationId xmlns:p14="http://schemas.microsoft.com/office/powerpoint/2010/main" val="3462195043"/>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Introdução a roteamento</a:t>
            </a:r>
            <a:br>
              <a:rPr lang="en-US" altLang="en-US" dirty="0"/>
            </a:br>
            <a:r>
              <a:rPr lang="pt-BR"/>
              <a:t>Introdução a uma tabela de roteamento IPv4</a:t>
            </a:r>
          </a:p>
        </p:txBody>
      </p:sp>
      <p:sp>
        <p:nvSpPr>
          <p:cNvPr id="13315" name="Content Placeholder 2"/>
          <p:cNvSpPr>
            <a:spLocks noGrp="1"/>
          </p:cNvSpPr>
          <p:nvPr>
            <p:ph idx="1"/>
          </p:nvPr>
        </p:nvSpPr>
        <p:spPr>
          <a:xfrm>
            <a:off x="135082" y="817311"/>
            <a:ext cx="3979718" cy="3723515"/>
          </a:xfrm>
        </p:spPr>
        <p:txBody>
          <a:bodyPr/>
          <a:lstStyle/>
          <a:p>
            <a:pPr marL="0" indent="0" rtl="0">
              <a:buNone/>
            </a:pPr>
            <a:r>
              <a:rPr lang="pt-BR"/>
              <a:t>O comando </a:t>
            </a:r>
            <a:r>
              <a:rPr lang="pt-BR" b="1"/>
              <a:t>show ip route </a:t>
            </a:r>
            <a:r>
              <a:rPr lang="pt-BR"/>
              <a:t>mostra as seguintes fontes de rota:</a:t>
            </a:r>
          </a:p>
          <a:p>
            <a:pPr lvl="1" rtl="0"/>
            <a:r>
              <a:rPr lang="pt-BR" b="1"/>
              <a:t>L</a:t>
            </a:r>
            <a:r>
              <a:rPr lang="pt-BR"/>
              <a:t> - Endereço IP da interface local diretamente conectado</a:t>
            </a:r>
          </a:p>
          <a:p>
            <a:pPr lvl="1" rtl="0"/>
            <a:r>
              <a:rPr lang="pt-BR" b="1"/>
              <a:t>C</a:t>
            </a:r>
            <a:r>
              <a:rPr lang="pt-BR"/>
              <a:t> - Rede diretamente conectada</a:t>
            </a:r>
          </a:p>
          <a:p>
            <a:pPr lvl="1" rtl="0"/>
            <a:r>
              <a:rPr lang="pt-BR" b="1"/>
              <a:t>S</a:t>
            </a:r>
            <a:r>
              <a:rPr lang="pt-BR"/>
              <a:t> — A rota estática foi configurada manualmente por um administrador</a:t>
            </a:r>
          </a:p>
          <a:p>
            <a:pPr lvl="1" rtl="0"/>
            <a:r>
              <a:rPr lang="pt-BR" b="1"/>
              <a:t>O</a:t>
            </a:r>
            <a:r>
              <a:rPr lang="pt-BR"/>
              <a:t>- OSPF</a:t>
            </a:r>
          </a:p>
          <a:p>
            <a:pPr lvl="1" rtl="0"/>
            <a:r>
              <a:rPr lang="pt-BR" b="1"/>
              <a:t>D</a:t>
            </a:r>
            <a:r>
              <a:rPr lang="pt-BR"/>
              <a:t>- EIGRP</a:t>
            </a:r>
          </a:p>
          <a:p>
            <a:pPr marL="0" indent="0" rtl="0">
              <a:buNone/>
            </a:pPr>
            <a:r>
              <a:rPr lang="pt-BR"/>
              <a:t>Este comando mostra tipos de rotas:</a:t>
            </a:r>
          </a:p>
          <a:p>
            <a:pPr lvl="1" rtl="0"/>
            <a:r>
              <a:rPr lang="pt-BR"/>
              <a:t>Conexão Direta - C e L</a:t>
            </a:r>
          </a:p>
          <a:p>
            <a:pPr lvl="1" rtl="0"/>
            <a:r>
              <a:rPr lang="pt-BR"/>
              <a:t>Rotas remotas - O, D, etc.</a:t>
            </a:r>
          </a:p>
          <a:p>
            <a:pPr lvl="1" rtl="0"/>
            <a:r>
              <a:rPr lang="pt-BR"/>
              <a:t>Rotas padrão - S * </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9491" y="817312"/>
            <a:ext cx="4904509" cy="39001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373709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8.6 - Módulo Prática e Quiz</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r>
              <a:rPr lang="pt-BR" sz="1600"/>
              <a:t>Módulo Prática e Quiz</a:t>
            </a:r>
            <a:br>
              <a:rPr lang="en-US" altLang="en-US" dirty="0"/>
            </a:br>
            <a:r>
              <a:rPr lang="pt-BR"/>
              <a:t>O que aprendi neste módulo?</a:t>
            </a:r>
          </a:p>
        </p:txBody>
      </p:sp>
      <p:sp>
        <p:nvSpPr>
          <p:cNvPr id="13315" name="Content Placeholder 2"/>
          <p:cNvSpPr>
            <a:spLocks noGrp="1"/>
          </p:cNvSpPr>
          <p:nvPr>
            <p:ph idx="1"/>
          </p:nvPr>
        </p:nvSpPr>
        <p:spPr>
          <a:xfrm>
            <a:off x="0" y="801475"/>
            <a:ext cx="8840141" cy="3874434"/>
          </a:xfrm>
        </p:spPr>
        <p:txBody>
          <a:bodyPr/>
          <a:lstStyle/>
          <a:p>
            <a:pPr lvl="2" rtl="0"/>
            <a:r>
              <a:rPr lang="pt-BR" sz="1600"/>
              <a:t>O IP é sem conexão, o melhor esforço e independente da mídia.</a:t>
            </a:r>
          </a:p>
          <a:p>
            <a:pPr lvl="2" rtl="0"/>
            <a:r>
              <a:rPr lang="pt-BR" sz="1600"/>
              <a:t>O IP não garante a entrega de pacotes.</a:t>
            </a:r>
          </a:p>
          <a:p>
            <a:pPr lvl="2" rtl="0"/>
            <a:r>
              <a:rPr lang="pt-BR" sz="1600"/>
              <a:t>Um cabeçalho de pacote IPv4 consiste em campos que contêm informações sobre o pacote.</a:t>
            </a:r>
          </a:p>
          <a:p>
            <a:pPr lvl="2" rtl="0"/>
            <a:r>
              <a:rPr lang="pt-BR" sz="1600"/>
              <a:t>O IPv6 supera a falta de conectividade de ponta a ponta do IPv4 e o aumento da complexidade da rede.</a:t>
            </a:r>
          </a:p>
          <a:p>
            <a:pPr lvl="2" rtl="0">
              <a:buFont typeface="Arial" panose="020B0604020202020204" pitchFamily="34" charset="0"/>
              <a:buChar char="•"/>
            </a:pPr>
            <a:r>
              <a:rPr lang="pt-BR" sz="1600"/>
              <a:t>Um dispositivo determinará se um destino é ele próprio, outro host local e um host remoto.</a:t>
            </a:r>
          </a:p>
          <a:p>
            <a:pPr lvl="2" rtl="0">
              <a:buFont typeface="Arial" panose="020B0604020202020204" pitchFamily="34" charset="0"/>
              <a:buChar char="•"/>
            </a:pPr>
            <a:r>
              <a:rPr lang="pt-BR" sz="1600"/>
              <a:t>Um gateway padrão é o roteador que faz parte da LAN e será usado como porta para outras redes.</a:t>
            </a:r>
          </a:p>
          <a:p>
            <a:pPr lvl="2" rtl="0"/>
            <a:r>
              <a:rPr lang="pt-BR" sz="1600"/>
              <a:t>A tabela de roteamento contém uma lista de todos os endereços de rede conhecidos (prefixos) e para onde encaminhar o pacote.</a:t>
            </a:r>
          </a:p>
          <a:p>
            <a:pPr lvl="2" rtl="0"/>
            <a:r>
              <a:rPr lang="pt-BR" sz="1600"/>
              <a:t>O roteador usa máscara de sub-rede mais longa ou correspondência de prefixo.</a:t>
            </a:r>
          </a:p>
          <a:p>
            <a:pPr lvl="2" rtl="0"/>
            <a:r>
              <a:rPr lang="pt-BR" sz="1600"/>
              <a:t>A tabela de roteamento tem três tipos de entradas de rota: redes conectadas diretamente, redes remotas e uma rota padrão.</a:t>
            </a:r>
          </a:p>
          <a:p>
            <a:pPr marL="0" indent="0">
              <a:buNone/>
            </a:pPr>
            <a:endParaRPr lang="en-US" b="1" dirty="0"/>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15993"/>
            <a:ext cx="9144000" cy="757551"/>
          </a:xfrm>
        </p:spPr>
        <p:txBody>
          <a:bodyPr/>
          <a:lstStyle/>
          <a:p>
            <a:pPr rtl="0"/>
            <a:r>
              <a:rPr lang="pt-BR" sz="1800"/>
              <a:t>Network Layer</a:t>
            </a:r>
            <a:br>
              <a:rPr lang="en-US" dirty="0">
                <a:latin typeface="Arial" charset="0"/>
              </a:rPr>
            </a:br>
            <a:r>
              <a:rPr lang="pt-BR">
                <a:latin typeface="Arial" charset="0"/>
              </a:rPr>
              <a:t>New Terms and Commands</a:t>
            </a:r>
          </a:p>
        </p:txBody>
      </p:sp>
      <p:sp>
        <p:nvSpPr>
          <p:cNvPr id="4" name="Content Placeholder 1"/>
          <p:cNvSpPr>
            <a:spLocks noGrp="1"/>
          </p:cNvSpPr>
          <p:nvPr>
            <p:ph idx="1"/>
          </p:nvPr>
        </p:nvSpPr>
        <p:spPr>
          <a:xfrm>
            <a:off x="286690" y="1028311"/>
            <a:ext cx="2721476" cy="3709769"/>
          </a:xfrm>
          <a:noFill/>
          <a:ln>
            <a:solidFill>
              <a:schemeClr val="accent1"/>
            </a:solidFill>
          </a:ln>
        </p:spPr>
        <p:txBody>
          <a:bodyPr/>
          <a:lstStyle/>
          <a:p>
            <a:pPr rtl="0" eaLnBrk="1" fontAlgn="b" hangingPunct="1">
              <a:spcBef>
                <a:spcPts val="0"/>
              </a:spcBef>
              <a:spcAft>
                <a:spcPts val="0"/>
              </a:spcAft>
              <a:buFont typeface="Arial" panose="020B0604020202020204" pitchFamily="34" charset="0"/>
              <a:buChar char="•"/>
            </a:pPr>
            <a:r>
              <a:rPr lang="pt-BR" sz="1600"/>
              <a:t>Encapsulation</a:t>
            </a:r>
          </a:p>
          <a:p>
            <a:pPr rtl="0" eaLnBrk="1" fontAlgn="b" hangingPunct="1">
              <a:spcBef>
                <a:spcPts val="0"/>
              </a:spcBef>
              <a:spcAft>
                <a:spcPts val="0"/>
              </a:spcAft>
              <a:buFont typeface="Arial" panose="020B0604020202020204" pitchFamily="34" charset="0"/>
              <a:buChar char="•"/>
            </a:pPr>
            <a:r>
              <a:rPr lang="pt-BR" sz="1600"/>
              <a:t>Routing</a:t>
            </a:r>
          </a:p>
          <a:p>
            <a:pPr rtl="0" eaLnBrk="1" fontAlgn="b" hangingPunct="1">
              <a:spcBef>
                <a:spcPts val="0"/>
              </a:spcBef>
              <a:spcAft>
                <a:spcPts val="0"/>
              </a:spcAft>
              <a:buFont typeface="Arial" panose="020B0604020202020204" pitchFamily="34" charset="0"/>
              <a:buChar char="•"/>
            </a:pPr>
            <a:r>
              <a:rPr lang="pt-BR" sz="1600"/>
              <a:t>De-encapsulation</a:t>
            </a:r>
          </a:p>
          <a:p>
            <a:pPr rtl="0" fontAlgn="b">
              <a:spcBef>
                <a:spcPts val="0"/>
              </a:spcBef>
              <a:spcAft>
                <a:spcPts val="0"/>
              </a:spcAft>
              <a:buFont typeface="Arial" panose="020B0604020202020204" pitchFamily="34" charset="0"/>
              <a:buChar char="•"/>
            </a:pPr>
            <a:r>
              <a:rPr lang="pt-BR" sz="1600"/>
              <a:t>Data payload</a:t>
            </a:r>
          </a:p>
          <a:p>
            <a:pPr rtl="0" eaLnBrk="1" fontAlgn="b" hangingPunct="1">
              <a:spcBef>
                <a:spcPts val="0"/>
              </a:spcBef>
              <a:spcAft>
                <a:spcPts val="0"/>
              </a:spcAft>
              <a:buFont typeface="Arial" panose="020B0604020202020204" pitchFamily="34" charset="0"/>
              <a:buChar char="•"/>
            </a:pPr>
            <a:r>
              <a:rPr lang="pt-BR" sz="1600"/>
              <a:t>Packet</a:t>
            </a:r>
          </a:p>
          <a:p>
            <a:pPr rtl="0" eaLnBrk="1" fontAlgn="b" hangingPunct="1">
              <a:spcBef>
                <a:spcPts val="0"/>
              </a:spcBef>
              <a:spcAft>
                <a:spcPts val="0"/>
              </a:spcAft>
              <a:buFont typeface="Arial" panose="020B0604020202020204" pitchFamily="34" charset="0"/>
              <a:buChar char="•"/>
            </a:pPr>
            <a:r>
              <a:rPr lang="pt-BR" sz="1600"/>
              <a:t>Internet Protocol Version 4 (IPv4)</a:t>
            </a:r>
          </a:p>
          <a:p>
            <a:pPr rtl="0" eaLnBrk="1" fontAlgn="b" hangingPunct="1">
              <a:spcBef>
                <a:spcPts val="0"/>
              </a:spcBef>
              <a:spcAft>
                <a:spcPts val="0"/>
              </a:spcAft>
              <a:buFont typeface="Arial" panose="020B0604020202020204" pitchFamily="34" charset="0"/>
              <a:buChar char="•"/>
            </a:pPr>
            <a:r>
              <a:rPr lang="pt-BR" sz="1600"/>
              <a:t>Internet Protocol Version 6 (IPv6)</a:t>
            </a:r>
          </a:p>
          <a:p>
            <a:pPr rtl="0" eaLnBrk="1" fontAlgn="b" hangingPunct="1">
              <a:spcBef>
                <a:spcPts val="0"/>
              </a:spcBef>
              <a:spcAft>
                <a:spcPts val="0"/>
              </a:spcAft>
              <a:buFont typeface="Arial" panose="020B0604020202020204" pitchFamily="34" charset="0"/>
              <a:buChar char="•"/>
            </a:pPr>
            <a:r>
              <a:rPr lang="pt-BR" sz="1600"/>
              <a:t>Network Layer PDU = IP Packet</a:t>
            </a:r>
          </a:p>
          <a:p>
            <a:pPr rtl="0" eaLnBrk="1" fontAlgn="b" hangingPunct="1">
              <a:spcBef>
                <a:spcPts val="0"/>
              </a:spcBef>
              <a:spcAft>
                <a:spcPts val="0"/>
              </a:spcAft>
              <a:buFont typeface="Arial" panose="020B0604020202020204" pitchFamily="34" charset="0"/>
              <a:buChar char="•"/>
            </a:pPr>
            <a:r>
              <a:rPr lang="pt-BR" sz="1600"/>
              <a:t>IP Header</a:t>
            </a:r>
          </a:p>
        </p:txBody>
      </p:sp>
      <p:sp>
        <p:nvSpPr>
          <p:cNvPr id="6" name="Content Placeholder 1"/>
          <p:cNvSpPr txBox="1">
            <a:spLocks/>
          </p:cNvSpPr>
          <p:nvPr/>
        </p:nvSpPr>
        <p:spPr bwMode="auto">
          <a:xfrm>
            <a:off x="3008166" y="1019059"/>
            <a:ext cx="2850381" cy="370976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xmlns:c15="http://schemas.microsoft.com/office/drawing/2012/chart" xmlns:c="http://schemas.openxmlformats.org/drawingml/2006/chart" val="1"/>
            </a:ext>
          </a:extLst>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rtl="0" eaLnBrk="1" fontAlgn="ctr" hangingPunct="1">
              <a:spcBef>
                <a:spcPts val="0"/>
              </a:spcBef>
              <a:buFont typeface="Arial" panose="020B0604020202020204" pitchFamily="34" charset="0"/>
              <a:buChar char="•"/>
            </a:pPr>
            <a:r>
              <a:rPr lang="pt-BR" sz="1600">
                <a:solidFill>
                  <a:srgbClr val="000000"/>
                </a:solidFill>
              </a:rPr>
              <a:t>Best effort delivery</a:t>
            </a:r>
          </a:p>
          <a:p>
            <a:pPr rtl="0" eaLnBrk="1" fontAlgn="ctr" hangingPunct="1">
              <a:spcBef>
                <a:spcPts val="0"/>
              </a:spcBef>
              <a:buFont typeface="Arial" panose="020B0604020202020204" pitchFamily="34" charset="0"/>
              <a:buChar char="•"/>
            </a:pPr>
            <a:r>
              <a:rPr lang="pt-BR" sz="1600">
                <a:solidFill>
                  <a:srgbClr val="000000"/>
                </a:solidFill>
              </a:rPr>
              <a:t>Media independent</a:t>
            </a:r>
          </a:p>
          <a:p>
            <a:pPr rtl="0" eaLnBrk="1" fontAlgn="b" hangingPunct="1">
              <a:spcBef>
                <a:spcPts val="0"/>
              </a:spcBef>
              <a:buFont typeface="Arial" panose="020B0604020202020204" pitchFamily="34" charset="0"/>
              <a:buChar char="•"/>
            </a:pPr>
            <a:r>
              <a:rPr lang="pt-BR" sz="1600">
                <a:solidFill>
                  <a:srgbClr val="000000"/>
                </a:solidFill>
              </a:rPr>
              <a:t>Connectionless</a:t>
            </a:r>
          </a:p>
          <a:p>
            <a:pPr rtl="0" eaLnBrk="1" fontAlgn="b" hangingPunct="1">
              <a:spcBef>
                <a:spcPts val="0"/>
              </a:spcBef>
              <a:buFont typeface="Arial" panose="020B0604020202020204" pitchFamily="34" charset="0"/>
              <a:buChar char="•"/>
            </a:pPr>
            <a:r>
              <a:rPr lang="pt-BR" sz="1600">
                <a:solidFill>
                  <a:srgbClr val="000000"/>
                </a:solidFill>
              </a:rPr>
              <a:t>Unreliable</a:t>
            </a:r>
          </a:p>
          <a:p>
            <a:pPr rtl="0" eaLnBrk="1" fontAlgn="b" hangingPunct="1">
              <a:spcBef>
                <a:spcPts val="0"/>
              </a:spcBef>
              <a:buFont typeface="Arial" panose="020B0604020202020204" pitchFamily="34" charset="0"/>
              <a:buChar char="•"/>
            </a:pPr>
            <a:r>
              <a:rPr lang="pt-BR" sz="1600">
                <a:solidFill>
                  <a:srgbClr val="000000"/>
                </a:solidFill>
              </a:rPr>
              <a:t>Maximum Transmission Unit (MTU)</a:t>
            </a:r>
          </a:p>
          <a:p>
            <a:pPr rtl="0" eaLnBrk="1" fontAlgn="b" hangingPunct="1">
              <a:spcBef>
                <a:spcPts val="0"/>
              </a:spcBef>
              <a:buFont typeface="Arial" panose="020B0604020202020204" pitchFamily="34" charset="0"/>
              <a:buChar char="•"/>
            </a:pPr>
            <a:r>
              <a:rPr lang="pt-BR" sz="1600">
                <a:solidFill>
                  <a:srgbClr val="000000"/>
                </a:solidFill>
              </a:rPr>
              <a:t>Version</a:t>
            </a:r>
          </a:p>
          <a:p>
            <a:pPr rtl="0" eaLnBrk="1" fontAlgn="b" hangingPunct="1">
              <a:spcBef>
                <a:spcPts val="0"/>
              </a:spcBef>
              <a:buFont typeface="Arial" panose="020B0604020202020204" pitchFamily="34" charset="0"/>
              <a:buChar char="•"/>
            </a:pPr>
            <a:r>
              <a:rPr lang="pt-BR" sz="1600">
                <a:solidFill>
                  <a:srgbClr val="000000"/>
                </a:solidFill>
              </a:rPr>
              <a:t>Differentiated Services (DS)</a:t>
            </a:r>
          </a:p>
          <a:p>
            <a:pPr rtl="0" eaLnBrk="1" fontAlgn="b" hangingPunct="1">
              <a:spcBef>
                <a:spcPts val="0"/>
              </a:spcBef>
              <a:buFont typeface="Arial" panose="020B0604020202020204" pitchFamily="34" charset="0"/>
              <a:buChar char="•"/>
            </a:pPr>
            <a:r>
              <a:rPr lang="pt-BR" sz="1600">
                <a:solidFill>
                  <a:srgbClr val="000000"/>
                </a:solidFill>
              </a:rPr>
              <a:t>Time-to-Live (TTL)</a:t>
            </a:r>
          </a:p>
          <a:p>
            <a:pPr rtl="0" eaLnBrk="1" fontAlgn="b" hangingPunct="1">
              <a:spcBef>
                <a:spcPts val="0"/>
              </a:spcBef>
              <a:buFont typeface="Arial" panose="020B0604020202020204" pitchFamily="34" charset="0"/>
              <a:buChar char="•"/>
            </a:pPr>
            <a:r>
              <a:rPr lang="pt-BR" sz="1600">
                <a:solidFill>
                  <a:srgbClr val="000000"/>
                </a:solidFill>
              </a:rPr>
              <a:t>Internet Control Message Protocol (ICMP)</a:t>
            </a:r>
          </a:p>
          <a:p>
            <a:pPr marL="0" indent="0" eaLnBrk="1" fontAlgn="b" hangingPunct="1">
              <a:buNone/>
            </a:pPr>
            <a:endParaRPr lang="en-US" sz="1600" dirty="0"/>
          </a:p>
        </p:txBody>
      </p:sp>
      <p:sp>
        <p:nvSpPr>
          <p:cNvPr id="8" name="Content Placeholder 1"/>
          <p:cNvSpPr txBox="1">
            <a:spLocks/>
          </p:cNvSpPr>
          <p:nvPr/>
        </p:nvSpPr>
        <p:spPr bwMode="auto">
          <a:xfrm>
            <a:off x="5858547" y="1028311"/>
            <a:ext cx="2841064" cy="365704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xmlns:c15="http://schemas.microsoft.com/office/drawing/2012/chart" xmlns:c="http://schemas.openxmlformats.org/drawingml/2006/chart" val="1"/>
            </a:ext>
          </a:extLst>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rtl="0" eaLnBrk="1" fontAlgn="b" hangingPunct="1">
              <a:spcBef>
                <a:spcPts val="0"/>
              </a:spcBef>
              <a:buFont typeface="Arial" panose="020B0604020202020204" pitchFamily="34" charset="0"/>
              <a:buChar char="•"/>
            </a:pPr>
            <a:r>
              <a:rPr lang="pt-BR" sz="1600">
                <a:solidFill>
                  <a:srgbClr val="000000"/>
                </a:solidFill>
              </a:rPr>
              <a:t>Identification, Flags, Fragment Offset fields</a:t>
            </a:r>
          </a:p>
          <a:p>
            <a:pPr rtl="0" eaLnBrk="1" fontAlgn="b" hangingPunct="1">
              <a:spcBef>
                <a:spcPts val="0"/>
              </a:spcBef>
              <a:buFont typeface="Arial" panose="020B0604020202020204" pitchFamily="34" charset="0"/>
              <a:buChar char="•"/>
            </a:pPr>
            <a:r>
              <a:rPr lang="pt-BR" sz="1600">
                <a:solidFill>
                  <a:srgbClr val="000000"/>
                </a:solidFill>
              </a:rPr>
              <a:t>Network Address Translation (NAT)</a:t>
            </a:r>
          </a:p>
          <a:p>
            <a:pPr rtl="0" eaLnBrk="1" fontAlgn="b" hangingPunct="1">
              <a:spcBef>
                <a:spcPts val="0"/>
              </a:spcBef>
              <a:buFont typeface="Arial" panose="020B0604020202020204" pitchFamily="34" charset="0"/>
              <a:buChar char="•"/>
            </a:pPr>
            <a:r>
              <a:rPr lang="pt-BR" sz="1600">
                <a:solidFill>
                  <a:srgbClr val="000000"/>
                </a:solidFill>
              </a:rPr>
              <a:t>Traffic Class</a:t>
            </a:r>
          </a:p>
          <a:p>
            <a:pPr rtl="0" eaLnBrk="1" fontAlgn="b" hangingPunct="1">
              <a:spcBef>
                <a:spcPts val="0"/>
              </a:spcBef>
              <a:buFont typeface="Arial" panose="020B0604020202020204" pitchFamily="34" charset="0"/>
              <a:buChar char="•"/>
            </a:pPr>
            <a:r>
              <a:rPr lang="pt-BR" sz="1600">
                <a:solidFill>
                  <a:srgbClr val="000000"/>
                </a:solidFill>
              </a:rPr>
              <a:t>Flow Label</a:t>
            </a:r>
          </a:p>
          <a:p>
            <a:pPr rtl="0" eaLnBrk="1" fontAlgn="b" hangingPunct="1">
              <a:spcBef>
                <a:spcPts val="0"/>
              </a:spcBef>
              <a:buFont typeface="Arial" panose="020B0604020202020204" pitchFamily="34" charset="0"/>
              <a:buChar char="•"/>
            </a:pPr>
            <a:r>
              <a:rPr lang="pt-BR" sz="1600">
                <a:solidFill>
                  <a:srgbClr val="000000"/>
                </a:solidFill>
              </a:rPr>
              <a:t>Payload Length</a:t>
            </a:r>
          </a:p>
          <a:p>
            <a:pPr rtl="0" eaLnBrk="1" fontAlgn="b" hangingPunct="1">
              <a:spcBef>
                <a:spcPts val="0"/>
              </a:spcBef>
              <a:buFont typeface="Arial" panose="020B0604020202020204" pitchFamily="34" charset="0"/>
              <a:buChar char="•"/>
            </a:pPr>
            <a:r>
              <a:rPr lang="pt-BR" sz="1600">
                <a:solidFill>
                  <a:srgbClr val="000000"/>
                </a:solidFill>
              </a:rPr>
              <a:t>Next Header</a:t>
            </a:r>
          </a:p>
          <a:p>
            <a:pPr rtl="0" eaLnBrk="1" fontAlgn="b" hangingPunct="1">
              <a:spcBef>
                <a:spcPts val="0"/>
              </a:spcBef>
              <a:buFont typeface="Arial" panose="020B0604020202020204" pitchFamily="34" charset="0"/>
              <a:buChar char="•"/>
            </a:pPr>
            <a:r>
              <a:rPr lang="pt-BR" sz="1600">
                <a:solidFill>
                  <a:srgbClr val="000000"/>
                </a:solidFill>
              </a:rPr>
              <a:t>Hop Limit</a:t>
            </a:r>
          </a:p>
          <a:p>
            <a:pPr rtl="0" eaLnBrk="1" fontAlgn="b" hangingPunct="1">
              <a:spcBef>
                <a:spcPts val="0"/>
              </a:spcBef>
              <a:buFont typeface="Arial" panose="020B0604020202020204" pitchFamily="34" charset="0"/>
              <a:buChar char="•"/>
            </a:pPr>
            <a:r>
              <a:rPr lang="pt-BR" sz="1600">
                <a:solidFill>
                  <a:srgbClr val="000000"/>
                </a:solidFill>
              </a:rPr>
              <a:t>Extension Headers</a:t>
            </a:r>
          </a:p>
          <a:p>
            <a:pPr rtl="0" eaLnBrk="1" fontAlgn="b" hangingPunct="1">
              <a:spcBef>
                <a:spcPts val="0"/>
              </a:spcBef>
              <a:buFont typeface="Arial" panose="020B0604020202020204" pitchFamily="34" charset="0"/>
              <a:buChar char="•"/>
            </a:pPr>
            <a:r>
              <a:rPr lang="pt-BR" sz="1600">
                <a:solidFill>
                  <a:srgbClr val="000000"/>
                </a:solidFill>
              </a:rPr>
              <a:t>Local host</a:t>
            </a:r>
          </a:p>
          <a:p>
            <a:pPr rtl="0" eaLnBrk="1" fontAlgn="b" hangingPunct="1">
              <a:spcBef>
                <a:spcPts val="0"/>
              </a:spcBef>
              <a:buFont typeface="Arial" panose="020B0604020202020204" pitchFamily="34" charset="0"/>
              <a:buChar char="•"/>
            </a:pPr>
            <a:r>
              <a:rPr lang="pt-BR" sz="1600">
                <a:solidFill>
                  <a:srgbClr val="000000"/>
                </a:solidFill>
              </a:rPr>
              <a:t>Remote host</a:t>
            </a:r>
          </a:p>
          <a:p>
            <a:pPr rtl="0" eaLnBrk="1" fontAlgn="b" hangingPunct="1">
              <a:spcBef>
                <a:spcPts val="0"/>
              </a:spcBef>
              <a:buFont typeface="Arial" panose="020B0604020202020204" pitchFamily="34" charset="0"/>
              <a:buChar char="•"/>
            </a:pPr>
            <a:r>
              <a:rPr lang="pt-BR" sz="1600">
                <a:solidFill>
                  <a:srgbClr val="000000"/>
                </a:solidFill>
              </a:rPr>
              <a:t>Default Gateway</a:t>
            </a:r>
          </a:p>
        </p:txBody>
      </p:sp>
    </p:spTree>
    <p:extLst>
      <p:ext uri="{BB962C8B-B14F-4D97-AF65-F5344CB8AC3E}">
        <p14:creationId xmlns:p14="http://schemas.microsoft.com/office/powerpoint/2010/main" val="494180527"/>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rtl="0" eaLnBrk="1" hangingPunct="1"/>
            <a:r>
              <a:rPr lang="pt-BR" sz="1800">
                <a:latin typeface="Arial" charset="0"/>
              </a:rPr>
              <a:t>Network Layer</a:t>
            </a:r>
            <a:br>
              <a:rPr lang="en-US" dirty="0">
                <a:latin typeface="Arial" charset="0"/>
              </a:rPr>
            </a:br>
            <a:r>
              <a:rPr lang="pt-BR">
                <a:latin typeface="Arial" charset="0"/>
              </a:rPr>
              <a:t>New Terms and Commands</a:t>
            </a:r>
          </a:p>
        </p:txBody>
      </p:sp>
      <p:sp>
        <p:nvSpPr>
          <p:cNvPr id="4" name="Content Placeholder 1"/>
          <p:cNvSpPr>
            <a:spLocks noGrp="1"/>
          </p:cNvSpPr>
          <p:nvPr>
            <p:ph idx="1"/>
          </p:nvPr>
        </p:nvSpPr>
        <p:spPr>
          <a:xfrm>
            <a:off x="276908" y="1019059"/>
            <a:ext cx="2721476" cy="3709769"/>
          </a:xfrm>
          <a:ln>
            <a:solidFill>
              <a:srgbClr val="000000"/>
            </a:solidFill>
          </a:ln>
        </p:spPr>
        <p:txBody>
          <a:bodyPr/>
          <a:lstStyle/>
          <a:p>
            <a:pPr rtl="0" eaLnBrk="1" fontAlgn="b" hangingPunct="1">
              <a:spcBef>
                <a:spcPts val="0"/>
              </a:spcBef>
              <a:spcAft>
                <a:spcPts val="0"/>
              </a:spcAft>
              <a:buFont typeface="Arial" panose="020B0604020202020204" pitchFamily="34" charset="0"/>
              <a:buChar char="•"/>
            </a:pPr>
            <a:r>
              <a:rPr lang="pt-BR" sz="1600"/>
              <a:t>netstat –r</a:t>
            </a:r>
          </a:p>
          <a:p>
            <a:pPr rtl="0" eaLnBrk="1" fontAlgn="b" hangingPunct="1">
              <a:spcBef>
                <a:spcPts val="0"/>
              </a:spcBef>
              <a:spcAft>
                <a:spcPts val="0"/>
              </a:spcAft>
              <a:buFont typeface="Arial" panose="020B0604020202020204" pitchFamily="34" charset="0"/>
              <a:buChar char="•"/>
            </a:pPr>
            <a:r>
              <a:rPr lang="pt-BR" sz="1600"/>
              <a:t>route print</a:t>
            </a:r>
          </a:p>
          <a:p>
            <a:pPr rtl="0" eaLnBrk="1" fontAlgn="b" hangingPunct="1">
              <a:spcBef>
                <a:spcPts val="0"/>
              </a:spcBef>
              <a:spcAft>
                <a:spcPts val="0"/>
              </a:spcAft>
              <a:buFont typeface="Arial" panose="020B0604020202020204" pitchFamily="34" charset="0"/>
              <a:buChar char="•"/>
            </a:pPr>
            <a:r>
              <a:rPr lang="pt-BR" sz="1600"/>
              <a:t>interface list</a:t>
            </a:r>
          </a:p>
          <a:p>
            <a:pPr rtl="0" eaLnBrk="1" fontAlgn="b" hangingPunct="1">
              <a:spcBef>
                <a:spcPts val="0"/>
              </a:spcBef>
              <a:spcAft>
                <a:spcPts val="0"/>
              </a:spcAft>
              <a:buFont typeface="Arial" panose="020B0604020202020204" pitchFamily="34" charset="0"/>
              <a:buChar char="•"/>
            </a:pPr>
            <a:r>
              <a:rPr lang="pt-BR" sz="1600"/>
              <a:t>IPv4 Route Table</a:t>
            </a:r>
          </a:p>
          <a:p>
            <a:pPr rtl="0" eaLnBrk="1" fontAlgn="b" hangingPunct="1">
              <a:spcBef>
                <a:spcPts val="0"/>
              </a:spcBef>
              <a:spcAft>
                <a:spcPts val="0"/>
              </a:spcAft>
              <a:buFont typeface="Arial" panose="020B0604020202020204" pitchFamily="34" charset="0"/>
              <a:buChar char="•"/>
            </a:pPr>
            <a:r>
              <a:rPr lang="pt-BR" sz="1600"/>
              <a:t>IPv6 Route Table</a:t>
            </a:r>
          </a:p>
          <a:p>
            <a:pPr rtl="0" eaLnBrk="1" fontAlgn="b" hangingPunct="1">
              <a:spcBef>
                <a:spcPts val="0"/>
              </a:spcBef>
              <a:spcAft>
                <a:spcPts val="0"/>
              </a:spcAft>
              <a:buFont typeface="Arial" panose="020B0604020202020204" pitchFamily="34" charset="0"/>
              <a:buChar char="•"/>
            </a:pPr>
            <a:r>
              <a:rPr lang="pt-BR" sz="1600"/>
              <a:t>directly-connected routes</a:t>
            </a:r>
          </a:p>
          <a:p>
            <a:pPr rtl="0" eaLnBrk="1" fontAlgn="b" hangingPunct="1">
              <a:spcBef>
                <a:spcPts val="0"/>
              </a:spcBef>
              <a:spcAft>
                <a:spcPts val="0"/>
              </a:spcAft>
              <a:buFont typeface="Arial" panose="020B0604020202020204" pitchFamily="34" charset="0"/>
              <a:buChar char="•"/>
            </a:pPr>
            <a:r>
              <a:rPr lang="pt-BR" sz="1600"/>
              <a:t>remote routes</a:t>
            </a:r>
          </a:p>
          <a:p>
            <a:pPr rtl="0" eaLnBrk="1" fontAlgn="b" hangingPunct="1">
              <a:spcBef>
                <a:spcPts val="0"/>
              </a:spcBef>
              <a:spcAft>
                <a:spcPts val="0"/>
              </a:spcAft>
              <a:buFont typeface="Arial" panose="020B0604020202020204" pitchFamily="34" charset="0"/>
              <a:buChar char="•"/>
            </a:pPr>
            <a:r>
              <a:rPr lang="pt-BR" sz="1600"/>
              <a:t>default route</a:t>
            </a:r>
          </a:p>
          <a:p>
            <a:pPr rtl="0" eaLnBrk="1" fontAlgn="b" hangingPunct="1">
              <a:spcBef>
                <a:spcPts val="0"/>
              </a:spcBef>
              <a:spcAft>
                <a:spcPts val="0"/>
              </a:spcAft>
              <a:buFont typeface="Arial" panose="020B0604020202020204" pitchFamily="34" charset="0"/>
              <a:buChar char="•"/>
            </a:pPr>
            <a:r>
              <a:rPr lang="pt-BR" sz="1600" b="1"/>
              <a:t>show ip route</a:t>
            </a:r>
          </a:p>
          <a:p>
            <a:pPr rtl="0" eaLnBrk="1" fontAlgn="b" hangingPunct="1">
              <a:spcBef>
                <a:spcPts val="0"/>
              </a:spcBef>
              <a:spcAft>
                <a:spcPts val="0"/>
              </a:spcAft>
              <a:buFont typeface="Arial" panose="020B0604020202020204" pitchFamily="34" charset="0"/>
              <a:buChar char="•"/>
            </a:pPr>
            <a:r>
              <a:rPr lang="pt-BR" sz="1600"/>
              <a:t>route source</a:t>
            </a:r>
          </a:p>
          <a:p>
            <a:pPr rtl="0" eaLnBrk="1" fontAlgn="b" hangingPunct="1">
              <a:spcBef>
                <a:spcPts val="0"/>
              </a:spcBef>
              <a:spcAft>
                <a:spcPts val="0"/>
              </a:spcAft>
              <a:buFont typeface="Arial" panose="020B0604020202020204" pitchFamily="34" charset="0"/>
              <a:buChar char="•"/>
            </a:pPr>
            <a:r>
              <a:rPr lang="pt-BR" sz="1600"/>
              <a:t>destination network</a:t>
            </a:r>
          </a:p>
          <a:p>
            <a:pPr rtl="0" eaLnBrk="1" fontAlgn="b" hangingPunct="1">
              <a:spcBef>
                <a:spcPts val="0"/>
              </a:spcBef>
              <a:spcAft>
                <a:spcPts val="0"/>
              </a:spcAft>
              <a:buFont typeface="Arial" panose="020B0604020202020204" pitchFamily="34" charset="0"/>
              <a:buChar char="•"/>
            </a:pPr>
            <a:r>
              <a:rPr lang="pt-BR" sz="1600"/>
              <a:t>outgoing interface</a:t>
            </a:r>
          </a:p>
          <a:p>
            <a:pPr rtl="0" eaLnBrk="1" fontAlgn="b" hangingPunct="1">
              <a:spcBef>
                <a:spcPts val="0"/>
              </a:spcBef>
              <a:spcAft>
                <a:spcPts val="0"/>
              </a:spcAft>
              <a:buFont typeface="Arial" panose="020B0604020202020204" pitchFamily="34" charset="0"/>
              <a:buChar char="•"/>
            </a:pPr>
            <a:r>
              <a:rPr lang="pt-BR" sz="1600"/>
              <a:t>administrative distance</a:t>
            </a:r>
          </a:p>
          <a:p>
            <a:pPr rtl="0" eaLnBrk="1" fontAlgn="b" hangingPunct="1">
              <a:spcBef>
                <a:spcPts val="0"/>
              </a:spcBef>
              <a:spcAft>
                <a:spcPts val="0"/>
              </a:spcAft>
              <a:buFont typeface="Arial" panose="020B0604020202020204" pitchFamily="34" charset="0"/>
              <a:buChar char="•"/>
            </a:pPr>
            <a:r>
              <a:rPr lang="pt-BR" sz="1600"/>
              <a:t>metric</a:t>
            </a:r>
          </a:p>
        </p:txBody>
      </p:sp>
      <p:sp>
        <p:nvSpPr>
          <p:cNvPr id="6" name="Content Placeholder 1"/>
          <p:cNvSpPr txBox="1">
            <a:spLocks/>
          </p:cNvSpPr>
          <p:nvPr/>
        </p:nvSpPr>
        <p:spPr bwMode="auto">
          <a:xfrm>
            <a:off x="3005998" y="1019058"/>
            <a:ext cx="2850381" cy="370976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xmlns:c15="http://schemas.microsoft.com/office/drawing/2012/chart" xmlns:c="http://schemas.openxmlformats.org/drawingml/2006/chart" val="1"/>
            </a:ext>
          </a:extLst>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rtl="0" eaLnBrk="1" fontAlgn="b" hangingPunct="1">
              <a:spcBef>
                <a:spcPts val="0"/>
              </a:spcBef>
              <a:buFont typeface="Arial" panose="020B0604020202020204" pitchFamily="34" charset="0"/>
              <a:buChar char="•"/>
            </a:pPr>
            <a:r>
              <a:rPr lang="pt-BR" sz="1600">
                <a:solidFill>
                  <a:srgbClr val="000000"/>
                </a:solidFill>
              </a:rPr>
              <a:t>next-hop</a:t>
            </a:r>
          </a:p>
          <a:p>
            <a:pPr rtl="0" eaLnBrk="1" fontAlgn="b" hangingPunct="1">
              <a:spcBef>
                <a:spcPts val="0"/>
              </a:spcBef>
              <a:buFont typeface="Arial" panose="020B0604020202020204" pitchFamily="34" charset="0"/>
              <a:buChar char="•"/>
            </a:pPr>
            <a:r>
              <a:rPr lang="pt-BR" sz="1600">
                <a:solidFill>
                  <a:srgbClr val="000000"/>
                </a:solidFill>
              </a:rPr>
              <a:t>route timestamp</a:t>
            </a:r>
          </a:p>
        </p:txBody>
      </p:sp>
    </p:spTree>
    <p:extLst>
      <p:ext uri="{BB962C8B-B14F-4D97-AF65-F5344CB8AC3E}">
        <p14:creationId xmlns:p14="http://schemas.microsoft.com/office/powerpoint/2010/main" val="130159926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21038</TotalTime>
  <Words>3604</Words>
  <Application>Microsoft Office PowerPoint</Application>
  <PresentationFormat>On-screen Show (16:9)</PresentationFormat>
  <Paragraphs>578</Paragraphs>
  <Slides>49</Slides>
  <Notes>46</Notes>
  <HiddenSlides>8</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Default Theme</vt:lpstr>
      <vt:lpstr>Módulo 8: Camada de rede</vt:lpstr>
      <vt:lpstr>Instructor Materials – Module 8 Planning Guide</vt:lpstr>
      <vt:lpstr>O que esperar neste módulo</vt:lpstr>
      <vt:lpstr>O que esperar deste módulo (cont.)</vt:lpstr>
      <vt:lpstr>Check Your Understanding and What Do You Already Know? </vt:lpstr>
      <vt:lpstr>Module 8: Activities</vt:lpstr>
      <vt:lpstr>Module 8: Best Practices</vt:lpstr>
      <vt:lpstr>Module 8: Best Practices (Cont.)</vt:lpstr>
      <vt:lpstr>Module 8: Best Practices (Cont.)</vt:lpstr>
      <vt:lpstr>Módulo 8: Camada de rede</vt:lpstr>
      <vt:lpstr>Módulo 8: Tópicos</vt:lpstr>
      <vt:lpstr>8.1 Características de camada de rede</vt:lpstr>
      <vt:lpstr>Características de camada de rede   Camada de Rede</vt:lpstr>
      <vt:lpstr>Características de camada de rede  Encapsulamento IP</vt:lpstr>
      <vt:lpstr>Características da camada de rede Características do IP</vt:lpstr>
      <vt:lpstr>Características de camada de rede  Conexões</vt:lpstr>
      <vt:lpstr>Características de camada de rede Melhor Esforço</vt:lpstr>
      <vt:lpstr>Características de camada de rede Independente de mídia</vt:lpstr>
      <vt:lpstr>Características da Camada de RedeIndependente deMídia (Contd.) </vt:lpstr>
      <vt:lpstr>8.2 Pacote IPv4</vt:lpstr>
      <vt:lpstr>Pacote IPv4  Cabeçalho do Pacote IPv4</vt:lpstr>
      <vt:lpstr>Pacote IPv4  Campos do Cabeçalho do Pacote IPv4</vt:lpstr>
      <vt:lpstr>Pacote IPv4  Campos do Cabeçalho do Pacote IPv4</vt:lpstr>
      <vt:lpstr> Pacote IPv4 Demonstração em vídeo - Exemplo de cabeçalhos IPv4 em Wireshark</vt:lpstr>
      <vt:lpstr>8.3 Pacotes IPv6</vt:lpstr>
      <vt:lpstr> Pacote IPv6 Limitações do IPv4</vt:lpstr>
      <vt:lpstr>Visão geral do IPv6 PacketsIPv6</vt:lpstr>
      <vt:lpstr>Pacotes IPv6 Campos de cabeçalho de pacote IPv4 no cabeçalho do pacote IPv6</vt:lpstr>
      <vt:lpstr>Pacotes IPv6 Cabeçalho do Pacote IPv6</vt:lpstr>
      <vt:lpstr>Pacote IPv6  Cabeçalho do pacote IPv6 (continuação)</vt:lpstr>
      <vt:lpstr>Pacote IPv6  Vídeo - Exemplo de cabeçalhos IPv6 em Wireshark</vt:lpstr>
      <vt:lpstr>8.4 Como um host roteia</vt:lpstr>
      <vt:lpstr>Como um host roteia  Decisão de encaminhamento do host</vt:lpstr>
      <vt:lpstr>Como um host roteia  Decisão de encaminhamento do host (Cont.)</vt:lpstr>
      <vt:lpstr>Como um host roteia  Gateway padrão</vt:lpstr>
      <vt:lpstr>Como um host é roteia  Um host é roteado para o gateway padrão</vt:lpstr>
      <vt:lpstr>Como um host roteia  Tabelas de roteamento do host</vt:lpstr>
      <vt:lpstr>8.5 Introdução ao Roteamento</vt:lpstr>
      <vt:lpstr>Introdução àdecisão de encaminhamento de pacotes doroteador de roteamento</vt:lpstr>
      <vt:lpstr>Introdução àTabela de Roteamento do RoteadorIP</vt:lpstr>
      <vt:lpstr>Introdução ao Roteamento Estático de Roteamento</vt:lpstr>
      <vt:lpstr>Introdução ao Roteamento Dinâmico de Roteamento</vt:lpstr>
      <vt:lpstr>Introdução ao Roteamento de Vídeo — Tabelas de Roteamento de Roteadores IPv4</vt:lpstr>
      <vt:lpstr>Introdução a roteamento Introdução a uma tabela de roteamento IPv4</vt:lpstr>
      <vt:lpstr>8.6 - Módulo Prática e Quiz</vt:lpstr>
      <vt:lpstr>Módulo Prática e Quiz O que aprendi neste módulo?</vt:lpstr>
      <vt:lpstr>Network Layer New Terms and Commands</vt:lpstr>
      <vt:lpstr>Network Layer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Sue Livingston -X (suliving - UNICON INC at Cisco)</cp:lastModifiedBy>
  <cp:revision>1041</cp:revision>
  <dcterms:created xsi:type="dcterms:W3CDTF">2016-08-22T22:27:36Z</dcterms:created>
  <dcterms:modified xsi:type="dcterms:W3CDTF">2020-06-28T23:41:44Z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