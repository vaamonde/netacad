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513" r:id="rId3"/>
    <p:sldId id="759" r:id="rId5"/>
    <p:sldId id="926" r:id="rId6"/>
    <p:sldId id="1059" r:id="rId7"/>
    <p:sldId id="1060" r:id="rId8"/>
    <p:sldId id="1061" r:id="rId9"/>
    <p:sldId id="1062" r:id="rId10"/>
    <p:sldId id="1063" r:id="rId11"/>
    <p:sldId id="1064" r:id="rId12"/>
    <p:sldId id="1065" r:id="rId13"/>
    <p:sldId id="1067" r:id="rId14"/>
    <p:sldId id="1068" r:id="rId15"/>
    <p:sldId id="1069" r:id="rId16"/>
    <p:sldId id="927" r:id="rId17"/>
    <p:sldId id="788" r:id="rId18"/>
    <p:sldId id="1070" r:id="rId19"/>
    <p:sldId id="1071" r:id="rId20"/>
    <p:sldId id="886" r:id="rId21"/>
    <p:sldId id="936" r:id="rId22"/>
    <p:sldId id="1072" r:id="rId23"/>
    <p:sldId id="1074" r:id="rId24"/>
    <p:sldId id="1075" r:id="rId25"/>
    <p:sldId id="1076" r:id="rId26"/>
    <p:sldId id="942" r:id="rId27"/>
    <p:sldId id="957" r:id="rId28"/>
    <p:sldId id="1078" r:id="rId29"/>
    <p:sldId id="1080" r:id="rId30"/>
    <p:sldId id="1079" r:id="rId31"/>
    <p:sldId id="1081" r:id="rId32"/>
    <p:sldId id="952" r:id="rId33"/>
    <p:sldId id="966" r:id="rId34"/>
    <p:sldId id="1082" r:id="rId35"/>
    <p:sldId id="1083" r:id="rId36"/>
    <p:sldId id="1085" r:id="rId37"/>
    <p:sldId id="1086" r:id="rId38"/>
    <p:sldId id="1087" r:id="rId39"/>
    <p:sldId id="980" r:id="rId40"/>
    <p:sldId id="981" r:id="rId41"/>
    <p:sldId id="1088" r:id="rId42"/>
    <p:sldId id="1090" r:id="rId43"/>
    <p:sldId id="1091" r:id="rId44"/>
    <p:sldId id="1092" r:id="rId45"/>
    <p:sldId id="995" r:id="rId46"/>
    <p:sldId id="996" r:id="rId47"/>
    <p:sldId id="1095" r:id="rId48"/>
    <p:sldId id="1096" r:id="rId49"/>
    <p:sldId id="1097" r:id="rId50"/>
    <p:sldId id="1102" r:id="rId51"/>
    <p:sldId id="1098" r:id="rId52"/>
    <p:sldId id="1099" r:id="rId53"/>
    <p:sldId id="1100" r:id="rId54"/>
    <p:sldId id="1105" r:id="rId55"/>
    <p:sldId id="1101" r:id="rId56"/>
    <p:sldId id="1128" r:id="rId57"/>
    <p:sldId id="1127" r:id="rId58"/>
    <p:sldId id="1129" r:id="rId59"/>
    <p:sldId id="1121" r:id="rId60"/>
  </p:sldIdLst>
  <p:sldSz cx="9144000" cy="5143500" type="screen16x9"/>
  <p:notesSz cx="6858000" cy="9144000"/>
  <p:custDataLst>
    <p:tags r:id="rId65"/>
  </p:custDataLst>
  <p:defaultTextStyle>
    <a:defPPr>
      <a:defRPr lang="en-US"/>
    </a:defPPr>
    <a:lvl1pPr algn="l" defTabSz="457200" rtl="0" fontAlgn="base">
      <a:spcBef>
        <a:spcPct val="0"/>
      </a:spcBef>
      <a:spcAft>
        <a:spcPct val="0"/>
      </a:spcAft>
      <a:defRPr kern="1200">
        <a:solidFill>
          <a:schemeClr val="tx1"/>
        </a:solidFill>
        <a:latin typeface="Arial" panose="020B0604020202020204" pitchFamily="34" charset="0"/>
        <a:ea typeface="MS PGothic" pitchFamily="34" charset="-128"/>
        <a:cs typeface="+mn-cs"/>
      </a:defRPr>
    </a:lvl1pPr>
    <a:lvl2pPr marL="457200" algn="l" defTabSz="457200" rtl="0" fontAlgn="base">
      <a:spcBef>
        <a:spcPct val="0"/>
      </a:spcBef>
      <a:spcAft>
        <a:spcPct val="0"/>
      </a:spcAft>
      <a:defRPr kern="1200">
        <a:solidFill>
          <a:schemeClr val="tx1"/>
        </a:solidFill>
        <a:latin typeface="Arial" panose="020B0604020202020204" pitchFamily="34" charset="0"/>
        <a:ea typeface="MS PGothic" pitchFamily="34" charset="-128"/>
        <a:cs typeface="+mn-cs"/>
      </a:defRPr>
    </a:lvl2pPr>
    <a:lvl3pPr marL="914400" algn="l" defTabSz="457200" rtl="0" fontAlgn="base">
      <a:spcBef>
        <a:spcPct val="0"/>
      </a:spcBef>
      <a:spcAft>
        <a:spcPct val="0"/>
      </a:spcAft>
      <a:defRPr kern="1200">
        <a:solidFill>
          <a:schemeClr val="tx1"/>
        </a:solidFill>
        <a:latin typeface="Arial" panose="020B0604020202020204" pitchFamily="34" charset="0"/>
        <a:ea typeface="MS PGothic" pitchFamily="34" charset="-128"/>
        <a:cs typeface="+mn-cs"/>
      </a:defRPr>
    </a:lvl3pPr>
    <a:lvl4pPr marL="1371600" algn="l" defTabSz="457200" rtl="0" fontAlgn="base">
      <a:spcBef>
        <a:spcPct val="0"/>
      </a:spcBef>
      <a:spcAft>
        <a:spcPct val="0"/>
      </a:spcAft>
      <a:defRPr kern="1200">
        <a:solidFill>
          <a:schemeClr val="tx1"/>
        </a:solidFill>
        <a:latin typeface="Arial" panose="020B0604020202020204" pitchFamily="34" charset="0"/>
        <a:ea typeface="MS PGothic" pitchFamily="34" charset="-128"/>
        <a:cs typeface="+mn-cs"/>
      </a:defRPr>
    </a:lvl4pPr>
    <a:lvl5pPr marL="1828800" algn="l" defTabSz="457200" rtl="0" fontAlgn="base">
      <a:spcBef>
        <a:spcPct val="0"/>
      </a:spcBef>
      <a:spcAft>
        <a:spcPct val="0"/>
      </a:spcAft>
      <a:defRPr kern="1200">
        <a:solidFill>
          <a:schemeClr val="tx1"/>
        </a:solidFill>
        <a:latin typeface="Arial" panose="020B0604020202020204" pitchFamily="34" charset="0"/>
        <a:ea typeface="MS PGothic"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MS PGothic"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MS PGothic"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MS PGothic"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MS PGothic" pitchFamily="34" charset="-128"/>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cmAuthor id="2" name="Bob Vachon" initials="BV" lastIdx="24" clrIdx="2"/>
  <p:cmAuthor id="3" name="Sue Livingston -X (suliving - UNICON INC at Cisco)" initials="SL-(-UIaC" lastIdx="34"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913" autoAdjust="0"/>
    <p:restoredTop sz="84965" autoAdjust="0"/>
  </p:normalViewPr>
  <p:slideViewPr>
    <p:cSldViewPr snapToGrid="0" showGuides="1">
      <p:cViewPr varScale="1">
        <p:scale>
          <a:sx n="75" d="100"/>
          <a:sy n="75" d="100"/>
        </p:scale>
        <p:origin x="1316" y="48"/>
      </p:cViewPr>
      <p:guideLst>
        <p:guide orient="horz" pos="1617"/>
        <p:guide pos="336"/>
      </p:guideLst>
    </p:cSldViewPr>
  </p:slideViewPr>
  <p:notesTextViewPr>
    <p:cViewPr>
      <p:scale>
        <a:sx n="1" d="1"/>
        <a:sy n="1" d="1"/>
      </p:scale>
      <p:origin x="0" y="0"/>
    </p:cViewPr>
  </p:notesTextViewPr>
  <p:sorterViewPr>
    <p:cViewPr>
      <p:scale>
        <a:sx n="111" d="100"/>
        <a:sy n="111" d="100"/>
      </p:scale>
      <p:origin x="0" y="-5120"/>
    </p:cViewPr>
  </p:sorter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5" Type="http://schemas.openxmlformats.org/officeDocument/2006/relationships/tags" Target="tags/tag12.xml"/><Relationship Id="rId64" Type="http://schemas.openxmlformats.org/officeDocument/2006/relationships/commentAuthors" Target="commentAuthors.xml"/><Relationship Id="rId63" Type="http://schemas.openxmlformats.org/officeDocument/2006/relationships/tableStyles" Target="tableStyles.xml"/><Relationship Id="rId62" Type="http://schemas.openxmlformats.org/officeDocument/2006/relationships/viewProps" Target="viewProps.xml"/><Relationship Id="rId61" Type="http://schemas.openxmlformats.org/officeDocument/2006/relationships/presProps" Target="presProps.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fld>
            <a:endParaRPr lang="en-US" dirty="0"/>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b="0"/>
              <a:t>Programa da Cisco Networking Academy</a:t>
            </a:r>
            <a:endParaRPr lang="pt-BR" b="0"/>
          </a:p>
          <a:p>
            <a:pPr rtl="0">
              <a:buFontTx/>
              <a:buNone/>
            </a:pPr>
            <a:r>
              <a:rPr lang="pt-BR" b="0"/>
              <a:t>Introdução às redes v7.0 (ITN)</a:t>
            </a:r>
            <a:endParaRPr lang="pt-BR" b="0"/>
          </a:p>
          <a:p>
            <a:pPr rtl="0">
              <a:buFontTx/>
              <a:buNone/>
            </a:pPr>
            <a:r>
              <a:rPr lang="pt-BR" sz="1200" b="0"/>
              <a:t>Módulo 3: Protocolos e Módulos</a:t>
            </a:r>
            <a:endParaRPr lang="pt-BR" sz="1200" b="0"/>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a:latin typeface="Arial" panose="020B0604020202020204" pitchFamily="34" charset="0"/>
              </a:rPr>
              <a:t>3.1.2</a:t>
            </a:r>
            <a:r>
              <a:rPr lang="pt-BR" baseline="0">
                <a:latin typeface="Arial" panose="020B0604020202020204" pitchFamily="34" charset="0"/>
              </a:rPr>
              <a:t> </a:t>
            </a:r>
            <a:r>
              <a:rPr lang="pt-BR" sz="1200" b="0"/>
              <a:t>–</a:t>
            </a:r>
            <a:r>
              <a:rPr lang="pt-BR"/>
              <a:t>Fundamentos das comunicações</a:t>
            </a:r>
            <a:endParaRPr lang="pt-BR"/>
          </a:p>
          <a:p>
            <a:pPr>
              <a:lnSpc>
                <a:spcPct val="80000"/>
              </a:lnSpc>
              <a:buFontTx/>
              <a:buNone/>
            </a:pPr>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a:latin typeface="Arial" panose="020B0604020202020204" pitchFamily="34" charset="0"/>
              </a:rPr>
              <a:t>3.1.3 </a:t>
            </a:r>
            <a:r>
              <a:rPr lang="pt-BR" baseline="0">
                <a:latin typeface="Arial" panose="020B0604020202020204" pitchFamily="34" charset="0"/>
              </a:rPr>
              <a:t> </a:t>
            </a:r>
            <a:r>
              <a:rPr lang="pt-BR" sz="1200" b="0"/>
              <a:t>-</a:t>
            </a:r>
            <a:r>
              <a:rPr lang="pt-BR"/>
              <a:t>Protocolos de comunicação</a:t>
            </a:r>
            <a:endParaRPr lang="pt-B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a:latin typeface="Arial" panose="020B0604020202020204" pitchFamily="34" charset="0"/>
              </a:rPr>
              <a:t>3.1.4</a:t>
            </a:r>
            <a:r>
              <a:rPr lang="pt-BR" baseline="0">
                <a:latin typeface="Arial" panose="020B0604020202020204" pitchFamily="34" charset="0"/>
              </a:rPr>
              <a:t> </a:t>
            </a:r>
            <a:r>
              <a:rPr lang="pt-BR" sz="1200" b="0"/>
              <a:t> – </a:t>
            </a:r>
            <a:r>
              <a:rPr lang="pt-BR"/>
              <a:t>Estabelecimento de regras</a:t>
            </a:r>
            <a:endParaRPr lang="pt-B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a:latin typeface="Arial" panose="020B0604020202020204" pitchFamily="34" charset="0"/>
              </a:rPr>
              <a:t>3.1.4</a:t>
            </a:r>
            <a:r>
              <a:rPr lang="pt-BR" baseline="0">
                <a:latin typeface="Arial" panose="020B0604020202020204" pitchFamily="34" charset="0"/>
              </a:rPr>
              <a:t> </a:t>
            </a:r>
            <a:r>
              <a:rPr lang="pt-BR" sz="1200" b="0"/>
              <a:t>-</a:t>
            </a:r>
            <a:r>
              <a:rPr lang="pt-BR"/>
              <a:t> Estabelecimento de Regras (cont.)</a:t>
            </a:r>
            <a:endParaRPr lang="pt-B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a:latin typeface="Arial" panose="020B0604020202020204" pitchFamily="34" charset="0"/>
              </a:rPr>
              <a:t>3.1.5</a:t>
            </a:r>
            <a:r>
              <a:rPr lang="pt-BR" baseline="0">
                <a:latin typeface="Arial" panose="020B0604020202020204" pitchFamily="34" charset="0"/>
              </a:rPr>
              <a:t> </a:t>
            </a:r>
            <a:r>
              <a:rPr lang="pt-BR" sz="1200" b="0"/>
              <a:t>— </a:t>
            </a:r>
            <a:r>
              <a:rPr lang="pt-BR"/>
              <a:t>Requisitos de protocolo de rede </a:t>
            </a:r>
            <a:endParaRPr lang="pt-B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a:latin typeface="Arial" panose="020B0604020202020204" pitchFamily="34" charset="0"/>
              </a:rPr>
              <a:t>3.1.6 </a:t>
            </a:r>
            <a:r>
              <a:rPr lang="pt-BR" baseline="0">
                <a:latin typeface="Arial" panose="020B0604020202020204" pitchFamily="34" charset="0"/>
              </a:rPr>
              <a:t> </a:t>
            </a:r>
            <a:r>
              <a:rPr lang="pt-BR" sz="1200" b="0"/>
              <a:t>– </a:t>
            </a:r>
            <a:r>
              <a:rPr lang="pt-BR"/>
              <a:t>Codificação de mensagens</a:t>
            </a:r>
            <a:endParaRPr lang="pt-BR"/>
          </a:p>
          <a:p>
            <a:pPr>
              <a:lnSpc>
                <a:spcPct val="80000"/>
              </a:lnSpc>
              <a:buFontTx/>
              <a:buNone/>
            </a:pPr>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baseline="0">
                <a:latin typeface="Arial" panose="020B0604020202020204" pitchFamily="34" charset="0"/>
              </a:rPr>
              <a:t> </a:t>
            </a:r>
            <a:r>
              <a:rPr lang="pt-BR" sz="1200" b="0"/>
              <a:t>3.1.7 – </a:t>
            </a:r>
            <a:r>
              <a:rPr lang="pt-BR"/>
              <a:t>Formatação e encapsulamento de mensagens</a:t>
            </a:r>
            <a:endParaRPr lang="pt-B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a:latin typeface="Arial" panose="020B0604020202020204" pitchFamily="34" charset="0"/>
              </a:rPr>
              <a:t>3.1.8 </a:t>
            </a:r>
            <a:r>
              <a:rPr lang="pt-BR" baseline="0">
                <a:latin typeface="Arial" panose="020B0604020202020204" pitchFamily="34" charset="0"/>
              </a:rPr>
              <a:t> </a:t>
            </a:r>
            <a:r>
              <a:rPr lang="pt-BR" sz="1200" b="0"/>
              <a:t>-</a:t>
            </a:r>
            <a:r>
              <a:rPr lang="pt-BR"/>
              <a:t>Tamanho da Mensagem</a:t>
            </a:r>
            <a:endParaRPr lang="pt-B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a:latin typeface="Arial" panose="020B0604020202020204" pitchFamily="34" charset="0"/>
              </a:rPr>
              <a:t>3.1.9</a:t>
            </a:r>
            <a:r>
              <a:rPr lang="pt-BR" baseline="0">
                <a:latin typeface="Arial" panose="020B0604020202020204" pitchFamily="34" charset="0"/>
              </a:rPr>
              <a:t> </a:t>
            </a:r>
            <a:r>
              <a:rPr lang="pt-BR" sz="1200" b="0"/>
              <a:t>-</a:t>
            </a:r>
            <a:r>
              <a:rPr lang="pt-BR"/>
              <a:t>Tempo da mensagem</a:t>
            </a:r>
            <a:endParaRPr lang="pt-B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baseline="0">
                <a:latin typeface="Arial" panose="020B0604020202020204" pitchFamily="34" charset="0"/>
              </a:rPr>
              <a:t> </a:t>
            </a:r>
            <a:r>
              <a:rPr lang="pt-BR" sz="1200" b="0"/>
              <a:t>3.1.10 – </a:t>
            </a:r>
            <a:r>
              <a:rPr lang="pt-BR"/>
              <a:t>Opções de entrega de mensagem</a:t>
            </a:r>
            <a:endParaRPr lang="pt-B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3.1 — Regras</a:t>
            </a:r>
            <a:endParaRPr lang="pt-BR" sz="1200" b="0"/>
          </a:p>
          <a:p>
            <a:pPr rtl="0">
              <a:lnSpc>
                <a:spcPct val="80000"/>
              </a:lnSpc>
              <a:buFontTx/>
              <a:buNone/>
            </a:pPr>
            <a:r>
              <a:rPr lang="pt-BR">
                <a:latin typeface="Arial" panose="020B0604020202020204" pitchFamily="34" charset="0"/>
              </a:rPr>
              <a:t>3.1.11</a:t>
            </a:r>
            <a:r>
              <a:rPr lang="pt-BR" baseline="0">
                <a:latin typeface="Arial" panose="020B0604020202020204" pitchFamily="34" charset="0"/>
              </a:rPr>
              <a:t> </a:t>
            </a:r>
            <a:r>
              <a:rPr lang="pt-BR" sz="1200" b="0"/>
              <a:t>— </a:t>
            </a:r>
            <a:r>
              <a:rPr lang="pt-BR"/>
              <a:t>Uma Nota Sobre o Ícone do Nó </a:t>
            </a:r>
            <a:endParaRPr lang="pt-BR"/>
          </a:p>
          <a:p>
            <a:pPr marL="0" marR="0" lvl="0" indent="0" algn="l" defTabSz="457200" rtl="0" eaLnBrk="1" fontAlgn="auto" latinLnBrk="0" hangingPunct="1">
              <a:lnSpc>
                <a:spcPct val="80000"/>
              </a:lnSpc>
              <a:spcBef>
                <a:spcPts val="0"/>
              </a:spcBef>
              <a:spcAft>
                <a:spcPts val="0"/>
              </a:spcAft>
              <a:buClrTx/>
              <a:buSzTx/>
              <a:buFontTx/>
              <a:buNone/>
              <a:defRPr/>
            </a:pPr>
            <a:r>
              <a:rPr lang="pt-BR"/>
              <a:t>3.1.12 </a:t>
            </a:r>
            <a:r>
              <a:rPr lang="pt-BR" sz="1200">
                <a:effectLst/>
              </a:rPr>
              <a:t>— Verifique o seu entendimento — As regras</a:t>
            </a:r>
            <a:endParaRPr lang="pt-BR" sz="1200">
              <a:effectLst/>
            </a:endParaRPr>
          </a:p>
          <a:p>
            <a:pPr>
              <a:lnSpc>
                <a:spcPct val="80000"/>
              </a:lnSpc>
              <a:buFontTx/>
              <a:buNone/>
            </a:pPr>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3.2 — Protocolos</a:t>
            </a:r>
            <a:endParaRPr lang="pt-BR" sz="1200" b="0"/>
          </a:p>
        </p:txBody>
      </p:sp>
      <p:sp>
        <p:nvSpPr>
          <p:cNvPr id="4" name="Slide Number Placeholder 3"/>
          <p:cNvSpPr>
            <a:spLocks noGrp="1"/>
          </p:cNvSpPr>
          <p:nvPr>
            <p:ph type="sldNum" sz="quarter" idx="10"/>
          </p:nvPr>
        </p:nvSpPr>
        <p:spPr/>
        <p:txBody>
          <a:bodyPr/>
          <a:lstStyle/>
          <a:p>
            <a:pPr rtl="0"/>
            <a:fld id="{5641018C-6CAF-B84E-B92C-ECB119457FBA}" type="slidenum">
              <a:rPr/>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3.2 — Protocolos</a:t>
            </a:r>
            <a:endParaRPr lang="pt-BR" sz="1200" b="0"/>
          </a:p>
          <a:p>
            <a:pPr rtl="0">
              <a:lnSpc>
                <a:spcPct val="80000"/>
              </a:lnSpc>
              <a:buFontTx/>
              <a:buNone/>
            </a:pPr>
            <a:r>
              <a:rPr lang="pt-BR" sz="1200" kern="1200">
                <a:solidFill>
                  <a:schemeClr val="tx1"/>
                </a:solidFill>
                <a:latin typeface="Arial" panose="020B0604020202020204" pitchFamily="34" charset="0"/>
                <a:ea typeface="MS PGothic" charset="0"/>
                <a:cs typeface="MS PGothic" charset="0"/>
              </a:rPr>
              <a:t>3.2.1 — </a:t>
            </a:r>
            <a:r>
              <a:rPr lang="pt-BR"/>
              <a:t>Visão geral do protocolo de rede</a:t>
            </a:r>
            <a:endParaRPr lang="pt-B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3.2 — Protocolos</a:t>
            </a:r>
            <a:endParaRPr lang="pt-BR" sz="1200" b="0"/>
          </a:p>
          <a:p>
            <a:pPr rtl="0">
              <a:lnSpc>
                <a:spcPct val="80000"/>
              </a:lnSpc>
              <a:buFontTx/>
              <a:buNone/>
            </a:pPr>
            <a:r>
              <a:rPr lang="pt-BR" sz="1200" kern="1200">
                <a:solidFill>
                  <a:schemeClr val="tx1"/>
                </a:solidFill>
                <a:latin typeface="Arial" panose="020B0604020202020204" pitchFamily="34" charset="0"/>
                <a:ea typeface="MS PGothic" charset="0"/>
                <a:cs typeface="MS PGothic" charset="0"/>
              </a:rPr>
              <a:t>3.2.2</a:t>
            </a:r>
            <a:r>
              <a:rPr lang="pt-BR" sz="1200" kern="1200" baseline="0">
                <a:solidFill>
                  <a:schemeClr val="tx1"/>
                </a:solidFill>
                <a:latin typeface="Arial" panose="020B0604020202020204" pitchFamily="34" charset="0"/>
                <a:ea typeface="MS PGothic" charset="0"/>
                <a:cs typeface="MS PGothic" charset="0"/>
              </a:rPr>
              <a:t> </a:t>
            </a:r>
            <a:r>
              <a:rPr lang="pt-BR" sz="1200" kern="1200">
                <a:solidFill>
                  <a:schemeClr val="tx1"/>
                </a:solidFill>
                <a:latin typeface="Arial" panose="020B0604020202020204" pitchFamily="34" charset="0"/>
                <a:ea typeface="MS PGothic" charset="0"/>
                <a:cs typeface="MS PGothic" charset="0"/>
              </a:rPr>
              <a:t>— </a:t>
            </a:r>
            <a:r>
              <a:rPr lang="pt-BR"/>
              <a:t>Funções de protocolo de rede </a:t>
            </a:r>
            <a:endParaRPr lang="pt-B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11"/>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82650">
              <a:defRPr sz="2400">
                <a:solidFill>
                  <a:schemeClr val="tx1"/>
                </a:solidFill>
                <a:latin typeface="Arial" panose="020B0604020202020204" pitchFamily="34" charset="0"/>
              </a:defRPr>
            </a:lvl1pPr>
            <a:lvl2pPr marL="742950" indent="-285750" defTabSz="882650">
              <a:defRPr sz="2400">
                <a:solidFill>
                  <a:schemeClr val="tx1"/>
                </a:solidFill>
                <a:latin typeface="Arial" panose="020B0604020202020204" pitchFamily="34" charset="0"/>
              </a:defRPr>
            </a:lvl2pPr>
            <a:lvl3pPr marL="1143000" indent="-228600" defTabSz="882650">
              <a:defRPr sz="2400">
                <a:solidFill>
                  <a:schemeClr val="tx1"/>
                </a:solidFill>
                <a:latin typeface="Arial" panose="020B0604020202020204" pitchFamily="34" charset="0"/>
              </a:defRPr>
            </a:lvl3pPr>
            <a:lvl4pPr marL="1600200" indent="-228600" defTabSz="882650">
              <a:defRPr sz="2400">
                <a:solidFill>
                  <a:schemeClr val="tx1"/>
                </a:solidFill>
                <a:latin typeface="Arial" panose="020B0604020202020204" pitchFamily="34" charset="0"/>
              </a:defRPr>
            </a:lvl4pPr>
            <a:lvl5pPr marL="2057400" indent="-228600" defTabSz="882650">
              <a:defRPr sz="2400">
                <a:solidFill>
                  <a:schemeClr val="tx1"/>
                </a:solidFill>
                <a:latin typeface="Arial" panose="020B0604020202020204" pitchFamily="34" charset="0"/>
              </a:defRPr>
            </a:lvl5pPr>
            <a:lvl6pPr marL="25146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6pPr>
            <a:lvl7pPr marL="29718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7pPr>
            <a:lvl8pPr marL="34290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8pPr>
            <a:lvl9pPr marL="3886200" indent="-228600" algn="ctr" defTabSz="882650" eaLnBrk="0" fontAlgn="base" hangingPunct="0">
              <a:lnSpc>
                <a:spcPct val="90000"/>
              </a:lnSpc>
              <a:spcBef>
                <a:spcPct val="0"/>
              </a:spcBef>
              <a:spcAft>
                <a:spcPct val="0"/>
              </a:spcAft>
              <a:defRPr sz="2400">
                <a:solidFill>
                  <a:schemeClr val="tx1"/>
                </a:solidFill>
                <a:latin typeface="Arial" panose="020B0604020202020204" pitchFamily="34" charset="0"/>
              </a:defRPr>
            </a:lvl9pPr>
          </a:lstStyle>
          <a:p>
            <a:pPr rtl="0"/>
            <a:fld id="{04267211-205D-47E8-9F29-7E4C01D43DC3}" type="slidenum">
              <a:rPr sz="800">
                <a:solidFill>
                  <a:prstClr val="black"/>
                </a:solidFill>
              </a:rPr>
            </a:fld>
            <a:endParaRPr sz="800">
              <a:solidFill>
                <a:prstClr val="black"/>
              </a:solidFill>
            </a:endParaRPr>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3.2 — Protocolos</a:t>
            </a:r>
            <a:endParaRPr lang="pt-BR" sz="1200" b="0"/>
          </a:p>
          <a:p>
            <a:pPr rtl="0">
              <a:lnSpc>
                <a:spcPct val="80000"/>
              </a:lnSpc>
              <a:buFontTx/>
              <a:buNone/>
            </a:pPr>
            <a:r>
              <a:rPr lang="pt-BR" sz="1200" kern="1200">
                <a:solidFill>
                  <a:schemeClr val="tx1"/>
                </a:solidFill>
                <a:latin typeface="Arial" panose="020B0604020202020204" pitchFamily="34" charset="0"/>
                <a:ea typeface="MS PGothic" charset="0"/>
                <a:cs typeface="MS PGothic" charset="0"/>
              </a:rPr>
              <a:t>3.2.3</a:t>
            </a:r>
            <a:r>
              <a:rPr lang="pt-BR" sz="1200" kern="1200" baseline="0">
                <a:solidFill>
                  <a:schemeClr val="tx1"/>
                </a:solidFill>
                <a:latin typeface="Arial" panose="020B0604020202020204" pitchFamily="34" charset="0"/>
                <a:ea typeface="MS PGothic" charset="0"/>
                <a:cs typeface="MS PGothic" charset="0"/>
              </a:rPr>
              <a:t> </a:t>
            </a:r>
            <a:r>
              <a:rPr lang="pt-BR" sz="1200" kern="1200">
                <a:solidFill>
                  <a:schemeClr val="tx1"/>
                </a:solidFill>
                <a:latin typeface="Arial" panose="020B0604020202020204" pitchFamily="34" charset="0"/>
                <a:ea typeface="MS PGothic" charset="0"/>
                <a:cs typeface="MS PGothic" charset="0"/>
              </a:rPr>
              <a:t> – </a:t>
            </a:r>
            <a:r>
              <a:rPr lang="pt-BR"/>
              <a:t>Interação de protocolos</a:t>
            </a:r>
            <a:endParaRPr lang="pt-BR"/>
          </a:p>
          <a:p>
            <a:pPr marL="0" marR="0" lvl="0" indent="0" algn="l" defTabSz="457200" rtl="0" eaLnBrk="1" fontAlgn="auto" latinLnBrk="0" hangingPunct="1">
              <a:lnSpc>
                <a:spcPct val="80000"/>
              </a:lnSpc>
              <a:spcBef>
                <a:spcPts val="0"/>
              </a:spcBef>
              <a:spcAft>
                <a:spcPts val="0"/>
              </a:spcAft>
              <a:buClrTx/>
              <a:buSzTx/>
              <a:buFontTx/>
              <a:buNone/>
              <a:defRPr/>
            </a:pPr>
            <a:r>
              <a:rPr lang="pt-BR" sz="1200" kern="1200">
                <a:solidFill>
                  <a:schemeClr val="tx1"/>
                </a:solidFill>
                <a:latin typeface="Arial" panose="020B0604020202020204" pitchFamily="34" charset="0"/>
                <a:ea typeface="MS PGothic" charset="0"/>
                <a:cs typeface="MS PGothic" charset="0"/>
              </a:rPr>
              <a:t>3.2.4</a:t>
            </a:r>
            <a:r>
              <a:rPr lang="pt-BR" sz="1200" kern="1200" baseline="0">
                <a:solidFill>
                  <a:schemeClr val="tx1"/>
                </a:solidFill>
                <a:latin typeface="Arial" panose="020B0604020202020204" pitchFamily="34" charset="0"/>
                <a:ea typeface="MS PGothic" charset="0"/>
                <a:cs typeface="MS PGothic" charset="0"/>
              </a:rPr>
              <a:t> </a:t>
            </a:r>
            <a:r>
              <a:rPr lang="pt-BR" sz="1200">
                <a:effectLst/>
              </a:rPr>
              <a:t> – Verifique sua compreensão – </a:t>
            </a:r>
            <a:r>
              <a:rPr lang="pt-BR" sz="1200" b="0"/>
              <a:t>protocolos</a:t>
            </a:r>
            <a:r>
              <a:rPr lang="pt-BR" sz="1200" b="0" baseline="0"/>
              <a:t> </a:t>
            </a:r>
            <a:endParaRPr lang="pt-BR" sz="1200" b="0" baseline="0"/>
          </a:p>
          <a:p>
            <a:pPr>
              <a:lnSpc>
                <a:spcPct val="80000"/>
              </a:lnSpc>
              <a:buFontTx/>
              <a:buNone/>
            </a:pPr>
            <a:endParaRPr lang="en-US" sz="1200" kern="1200" dirty="0">
              <a:solidFill>
                <a:schemeClr val="tx1"/>
              </a:solidFill>
              <a:latin typeface="Arial" panose="020B0604020202020204" pitchFamily="34" charset="0"/>
              <a:ea typeface="MS PGothic" charset="0"/>
              <a:cs typeface="MS PGothic"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3.3 </a:t>
            </a:r>
            <a:r>
              <a:rPr lang="pt-BR" sz="1200" b="0" baseline="0"/>
              <a:t>Conjuntos de protocolos</a:t>
            </a:r>
            <a:endParaRPr lang="pt-BR" sz="1200" b="0" baseline="0"/>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3.3 </a:t>
            </a:r>
            <a:r>
              <a:rPr lang="pt-BR" sz="1200" b="0" baseline="0"/>
              <a:t>Conjuntos de protocolos</a:t>
            </a:r>
            <a:endParaRPr lang="pt-BR" sz="1200" b="0" baseline="0"/>
          </a:p>
          <a:p>
            <a:pPr rtl="0">
              <a:lnSpc>
                <a:spcPct val="80000"/>
              </a:lnSpc>
              <a:buFontTx/>
              <a:buNone/>
            </a:pPr>
            <a:r>
              <a:rPr lang="pt-BR" sz="1200" kern="1200">
                <a:solidFill>
                  <a:schemeClr val="tx1"/>
                </a:solidFill>
                <a:latin typeface="Arial" panose="020B0604020202020204" pitchFamily="34" charset="0"/>
                <a:ea typeface="MS PGothic" charset="0"/>
                <a:cs typeface="MS PGothic" charset="0"/>
              </a:rPr>
              <a:t>3.3.1</a:t>
            </a:r>
            <a:r>
              <a:rPr lang="pt-BR" sz="1200" kern="1200" baseline="0">
                <a:solidFill>
                  <a:schemeClr val="tx1"/>
                </a:solidFill>
                <a:latin typeface="Arial" panose="020B0604020202020204" pitchFamily="34" charset="0"/>
                <a:ea typeface="MS PGothic" charset="0"/>
                <a:cs typeface="MS PGothic" charset="0"/>
              </a:rPr>
              <a:t> </a:t>
            </a:r>
            <a:r>
              <a:rPr lang="pt-BR" sz="1200" kern="1200">
                <a:solidFill>
                  <a:schemeClr val="tx1"/>
                </a:solidFill>
                <a:latin typeface="Arial" panose="020B0604020202020204" pitchFamily="34" charset="0"/>
                <a:ea typeface="MS PGothic" charset="0"/>
                <a:cs typeface="MS PGothic" charset="0"/>
              </a:rPr>
              <a:t> - Conjuntos de protocolos de rede</a:t>
            </a:r>
            <a:endParaRPr lang="pt-BR" sz="1200" kern="1200">
              <a:solidFill>
                <a:schemeClr val="tx1"/>
              </a:solidFill>
              <a:latin typeface="Arial" panose="020B0604020202020204" pitchFamily="34" charset="0"/>
              <a:ea typeface="MS PGothic" charset="0"/>
              <a:cs typeface="MS PGothic" charset="0"/>
            </a:endParaRPr>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3.3 </a:t>
            </a:r>
            <a:r>
              <a:rPr lang="pt-BR" sz="1200" b="0" baseline="0"/>
              <a:t>Conjuntos de protocolos</a:t>
            </a:r>
            <a:endParaRPr lang="pt-BR" sz="1200" b="0" baseline="0"/>
          </a:p>
          <a:p>
            <a:pPr rtl="0">
              <a:lnSpc>
                <a:spcPct val="80000"/>
              </a:lnSpc>
              <a:buFontTx/>
              <a:buNone/>
            </a:pPr>
            <a:r>
              <a:rPr lang="pt-BR" sz="1200" kern="1200">
                <a:solidFill>
                  <a:schemeClr val="tx1"/>
                </a:solidFill>
                <a:latin typeface="Arial" panose="020B0604020202020204" pitchFamily="34" charset="0"/>
                <a:ea typeface="MS PGothic" charset="0"/>
                <a:cs typeface="MS PGothic" charset="0"/>
              </a:rPr>
              <a:t>3.3.2</a:t>
            </a:r>
            <a:r>
              <a:rPr lang="pt-BR" sz="1200" kern="1200" baseline="0">
                <a:solidFill>
                  <a:schemeClr val="tx1"/>
                </a:solidFill>
                <a:latin typeface="Arial" panose="020B0604020202020204" pitchFamily="34" charset="0"/>
                <a:ea typeface="MS PGothic" charset="0"/>
                <a:cs typeface="MS PGothic" charset="0"/>
              </a:rPr>
              <a:t> </a:t>
            </a:r>
            <a:r>
              <a:rPr lang="pt-BR" sz="1200" kern="1200">
                <a:solidFill>
                  <a:schemeClr val="tx1"/>
                </a:solidFill>
                <a:latin typeface="Arial" panose="020B0604020202020204" pitchFamily="34" charset="0"/>
                <a:ea typeface="MS PGothic" charset="0"/>
                <a:cs typeface="MS PGothic" charset="0"/>
              </a:rPr>
              <a:t>— </a:t>
            </a:r>
            <a:r>
              <a:rPr lang="pt-BR"/>
              <a:t>Evolução dos conjuntos de protocolos </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3.3 </a:t>
            </a:r>
            <a:r>
              <a:rPr lang="pt-BR" sz="1200" b="0" baseline="0"/>
              <a:t>Conjuntos de protocolos</a:t>
            </a:r>
            <a:endParaRPr lang="pt-BR" sz="1200" b="0" baseline="0"/>
          </a:p>
          <a:p>
            <a:pPr rtl="0">
              <a:lnSpc>
                <a:spcPct val="80000"/>
              </a:lnSpc>
              <a:buFontTx/>
              <a:buNone/>
            </a:pPr>
            <a:r>
              <a:rPr lang="pt-BR" sz="1200" kern="1200">
                <a:solidFill>
                  <a:schemeClr val="tx1"/>
                </a:solidFill>
                <a:latin typeface="Arial" panose="020B0604020202020204" pitchFamily="34" charset="0"/>
                <a:ea typeface="MS PGothic" charset="0"/>
                <a:cs typeface="MS PGothic" charset="0"/>
              </a:rPr>
              <a:t>3.3.3</a:t>
            </a:r>
            <a:r>
              <a:rPr lang="pt-BR" sz="1200" kern="1200" baseline="0">
                <a:solidFill>
                  <a:schemeClr val="tx1"/>
                </a:solidFill>
                <a:latin typeface="Arial" panose="020B0604020202020204" pitchFamily="34" charset="0"/>
                <a:ea typeface="MS PGothic" charset="0"/>
                <a:cs typeface="MS PGothic" charset="0"/>
              </a:rPr>
              <a:t> </a:t>
            </a:r>
            <a:r>
              <a:rPr lang="pt-BR" sz="1200" kern="1200">
                <a:solidFill>
                  <a:schemeClr val="tx1"/>
                </a:solidFill>
                <a:latin typeface="Arial" panose="020B0604020202020204" pitchFamily="34" charset="0"/>
                <a:ea typeface="MS PGothic" charset="0"/>
                <a:cs typeface="MS PGothic" charset="0"/>
              </a:rPr>
              <a:t>— </a:t>
            </a:r>
            <a:r>
              <a:rPr lang="pt-BR"/>
              <a:t>Exemplo de Protocolo TCP/IP </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3.3 </a:t>
            </a:r>
            <a:r>
              <a:rPr lang="pt-BR" sz="1200" b="0" baseline="0"/>
              <a:t>Conjuntos de protocolos</a:t>
            </a:r>
            <a:endParaRPr lang="pt-BR" sz="1200" b="0" baseline="0"/>
          </a:p>
          <a:p>
            <a:pPr rtl="0">
              <a:lnSpc>
                <a:spcPct val="80000"/>
              </a:lnSpc>
              <a:buFontTx/>
              <a:buNone/>
            </a:pPr>
            <a:r>
              <a:rPr lang="pt-BR" sz="1200" kern="1200">
                <a:solidFill>
                  <a:schemeClr val="tx1"/>
                </a:solidFill>
                <a:latin typeface="Arial" panose="020B0604020202020204" pitchFamily="34" charset="0"/>
                <a:ea typeface="MS PGothic" charset="0"/>
                <a:cs typeface="MS PGothic" charset="0"/>
              </a:rPr>
              <a:t>3.3.4</a:t>
            </a:r>
            <a:r>
              <a:rPr lang="pt-BR" sz="1200" kern="1200" baseline="0">
                <a:solidFill>
                  <a:schemeClr val="tx1"/>
                </a:solidFill>
                <a:latin typeface="Arial" panose="020B0604020202020204" pitchFamily="34" charset="0"/>
                <a:ea typeface="MS PGothic" charset="0"/>
                <a:cs typeface="MS PGothic" charset="0"/>
              </a:rPr>
              <a:t> </a:t>
            </a:r>
            <a:r>
              <a:rPr lang="pt-BR" sz="1200" kern="1200">
                <a:solidFill>
                  <a:schemeClr val="tx1"/>
                </a:solidFill>
                <a:latin typeface="Arial" panose="020B0604020202020204" pitchFamily="34" charset="0"/>
                <a:ea typeface="MS PGothic" charset="0"/>
                <a:cs typeface="MS PGothic" charset="0"/>
              </a:rPr>
              <a:t>– </a:t>
            </a:r>
            <a:r>
              <a:rPr lang="pt-BR"/>
              <a:t>Conjunto de protocolos TCP / IP</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3.3 </a:t>
            </a:r>
            <a:r>
              <a:rPr lang="pt-BR" sz="1200" b="0" baseline="0"/>
              <a:t>Conjuntos de protocolos</a:t>
            </a:r>
            <a:endParaRPr lang="pt-BR" sz="1200" b="0" baseline="0"/>
          </a:p>
          <a:p>
            <a:pPr rtl="0">
              <a:lnSpc>
                <a:spcPct val="80000"/>
              </a:lnSpc>
              <a:buFontTx/>
              <a:buNone/>
            </a:pPr>
            <a:r>
              <a:rPr lang="pt-BR" sz="1200" kern="1200">
                <a:solidFill>
                  <a:schemeClr val="tx1"/>
                </a:solidFill>
                <a:latin typeface="Arial" panose="020B0604020202020204" pitchFamily="34" charset="0"/>
                <a:ea typeface="MS PGothic" charset="0"/>
                <a:cs typeface="MS PGothic" charset="0"/>
              </a:rPr>
              <a:t>3.3.5</a:t>
            </a:r>
            <a:r>
              <a:rPr lang="pt-BR" sz="1200" kern="1200" baseline="0">
                <a:solidFill>
                  <a:schemeClr val="tx1"/>
                </a:solidFill>
                <a:latin typeface="Arial" panose="020B0604020202020204" pitchFamily="34" charset="0"/>
                <a:ea typeface="MS PGothic" charset="0"/>
                <a:cs typeface="MS PGothic" charset="0"/>
              </a:rPr>
              <a:t> </a:t>
            </a:r>
            <a:r>
              <a:rPr lang="pt-BR" sz="1200" kern="1200">
                <a:solidFill>
                  <a:schemeClr val="tx1"/>
                </a:solidFill>
                <a:latin typeface="Arial" panose="020B0604020202020204" pitchFamily="34" charset="0"/>
                <a:ea typeface="MS PGothic" charset="0"/>
                <a:cs typeface="MS PGothic" charset="0"/>
              </a:rPr>
              <a:t> – </a:t>
            </a:r>
            <a:r>
              <a:rPr lang="pt-BR"/>
              <a:t>Processo de Comunicação TCP/IP</a:t>
            </a:r>
            <a:endParaRPr lang="pt-BR"/>
          </a:p>
          <a:p>
            <a:pPr marL="0" marR="0" lvl="0" indent="0" algn="l" defTabSz="457200" rtl="0" eaLnBrk="1" fontAlgn="auto" latinLnBrk="0" hangingPunct="1">
              <a:lnSpc>
                <a:spcPct val="80000"/>
              </a:lnSpc>
              <a:spcBef>
                <a:spcPts val="0"/>
              </a:spcBef>
              <a:spcAft>
                <a:spcPts val="0"/>
              </a:spcAft>
              <a:buClrTx/>
              <a:buSzTx/>
              <a:buFontTx/>
              <a:buNone/>
              <a:defRPr/>
            </a:pPr>
            <a:r>
              <a:rPr lang="pt-BR" sz="1200">
                <a:effectLst/>
              </a:rPr>
              <a:t> 3.3.6 — Verifique o seu entendimento — Pacotesdeprotocolos</a:t>
            </a:r>
            <a:r>
              <a:rPr lang="pt-BR" sz="1200" baseline="0">
                <a:effectLst/>
              </a:rPr>
              <a:t> </a:t>
            </a:r>
            <a:endParaRPr lang="pt-BR" sz="1200" baseline="0">
              <a:effectLst/>
            </a:endParaRPr>
          </a:p>
          <a:p>
            <a:pPr marL="0" marR="0" lvl="0" indent="0" algn="l" defTabSz="457200" rtl="0" eaLnBrk="1" fontAlgn="auto" latinLnBrk="0" hangingPunct="1">
              <a:lnSpc>
                <a:spcPct val="80000"/>
              </a:lnSpc>
              <a:spcBef>
                <a:spcPts val="0"/>
              </a:spcBef>
              <a:spcAft>
                <a:spcPts val="0"/>
              </a:spcAft>
              <a:buClrTx/>
              <a:buSzTx/>
              <a:buFontTx/>
              <a:buNone/>
              <a:defRPr/>
            </a:pPr>
            <a:endParaRPr lang="en-US" dirty="0"/>
          </a:p>
          <a:p>
            <a:pPr>
              <a:lnSpc>
                <a:spcPct val="80000"/>
              </a:lnSpc>
              <a:buFontTx/>
              <a:buNone/>
            </a:pPr>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3.4 </a:t>
            </a:r>
            <a:r>
              <a:rPr lang="pt-BR" sz="1200" b="0" baseline="0"/>
              <a:t>Empresas</a:t>
            </a:r>
            <a:r>
              <a:rPr lang="pt-BR" sz="1200" b="0"/>
              <a:t> de padrões</a:t>
            </a:r>
            <a:endParaRPr lang="pt-BR" sz="1200" b="0"/>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3.4 </a:t>
            </a:r>
            <a:r>
              <a:rPr lang="pt-BR" sz="1200" b="0" baseline="0"/>
              <a:t>Empresas</a:t>
            </a:r>
            <a:r>
              <a:rPr lang="pt-BR" sz="1200" b="0"/>
              <a:t> de padrões</a:t>
            </a:r>
            <a:endParaRPr lang="pt-BR" sz="1200" b="0"/>
          </a:p>
          <a:p>
            <a:pPr rtl="0"/>
            <a:r>
              <a:rPr lang="pt-BR"/>
              <a:t>3.4.1</a:t>
            </a:r>
            <a:r>
              <a:rPr lang="pt-BR" baseline="0"/>
              <a:t> -Padrões Abertos</a:t>
            </a:r>
            <a:endParaRPr lang="pt-BR" baseline="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3.4 </a:t>
            </a:r>
            <a:r>
              <a:rPr lang="pt-BR" sz="1200" b="0" baseline="0"/>
              <a:t>Empresas</a:t>
            </a:r>
            <a:r>
              <a:rPr lang="pt-BR" sz="1200" b="0"/>
              <a:t> de padrões</a:t>
            </a:r>
            <a:endParaRPr lang="pt-BR" sz="1200" b="0"/>
          </a:p>
          <a:p>
            <a:pPr rtl="0"/>
            <a:r>
              <a:rPr lang="pt-BR"/>
              <a:t>3.4.2 – </a:t>
            </a:r>
            <a:r>
              <a:rPr lang="pt-BR" baseline="0"/>
              <a:t>Padrões da Internet</a:t>
            </a:r>
            <a:endParaRPr lang="pt-BR" baseline="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3.4 </a:t>
            </a:r>
            <a:r>
              <a:rPr lang="pt-BR" sz="1200" b="0" baseline="0"/>
              <a:t>Empresas</a:t>
            </a:r>
            <a:r>
              <a:rPr lang="pt-BR" sz="1200" b="0"/>
              <a:t> de padrões</a:t>
            </a:r>
            <a:endParaRPr lang="pt-BR" sz="1200" b="0"/>
          </a:p>
          <a:p>
            <a:pPr rtl="0"/>
            <a:r>
              <a:rPr lang="pt-BR"/>
              <a:t>3.4.2</a:t>
            </a:r>
            <a:r>
              <a:rPr lang="pt-BR" baseline="0"/>
              <a:t> - Padrões da Internet (cont.)</a:t>
            </a:r>
            <a:endParaRPr lang="pt-BR" baseline="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3.4 </a:t>
            </a:r>
            <a:r>
              <a:rPr lang="pt-BR" sz="1200" b="0" baseline="0"/>
              <a:t>Empresas</a:t>
            </a:r>
            <a:r>
              <a:rPr lang="pt-BR" sz="1200" b="0"/>
              <a:t> de padrões</a:t>
            </a:r>
            <a:endParaRPr lang="pt-BR" sz="1200" b="0"/>
          </a:p>
          <a:p>
            <a:pPr rtl="0"/>
            <a:r>
              <a:rPr lang="pt-BR"/>
              <a:t>3.4.3</a:t>
            </a:r>
            <a:r>
              <a:rPr lang="pt-BR" baseline="0"/>
              <a:t>-</a:t>
            </a:r>
            <a:r>
              <a:rPr lang="pt-BR"/>
              <a:t>Padrões eletrônicos e de comunicações</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3.4 </a:t>
            </a:r>
            <a:r>
              <a:rPr lang="pt-BR" sz="1200" b="0" baseline="0"/>
              <a:t>Empresas</a:t>
            </a:r>
            <a:r>
              <a:rPr lang="pt-BR" sz="1200" b="0"/>
              <a:t> de padrões</a:t>
            </a:r>
            <a:endParaRPr lang="pt-BR" sz="1200" b="0"/>
          </a:p>
          <a:p>
            <a:pPr rtl="0"/>
            <a:r>
              <a:rPr lang="pt-BR"/>
              <a:t>3.4.4</a:t>
            </a:r>
            <a:r>
              <a:rPr lang="pt-BR" baseline="0"/>
              <a:t>-</a:t>
            </a:r>
            <a:r>
              <a:rPr lang="pt-BR"/>
              <a:t> Laboratório - Pesquisa dos Padrões de Rede</a:t>
            </a:r>
            <a:endParaRPr lang="pt-BR"/>
          </a:p>
          <a:p>
            <a:pPr marL="0" marR="0" lvl="0" indent="0" algn="l" defTabSz="457200" rtl="0" eaLnBrk="1" fontAlgn="auto" latinLnBrk="0" hangingPunct="1">
              <a:lnSpc>
                <a:spcPct val="100000"/>
              </a:lnSpc>
              <a:spcBef>
                <a:spcPts val="0"/>
              </a:spcBef>
              <a:spcAft>
                <a:spcPts val="0"/>
              </a:spcAft>
              <a:buClrTx/>
              <a:buSzTx/>
              <a:buFontTx/>
              <a:buNone/>
              <a:defRPr/>
            </a:pPr>
            <a:r>
              <a:rPr lang="pt-BR" sz="1200" kern="1200">
                <a:solidFill>
                  <a:schemeClr val="tx1"/>
                </a:solidFill>
                <a:latin typeface="Arial" panose="020B0604020202020204" pitchFamily="34" charset="0"/>
                <a:ea typeface="MS PGothic" charset="0"/>
                <a:cs typeface="MS PGothic" charset="0"/>
              </a:rPr>
              <a:t>3.4.5</a:t>
            </a:r>
            <a:r>
              <a:rPr lang="pt-BR" sz="1200" kern="1200" baseline="0">
                <a:solidFill>
                  <a:schemeClr val="tx1"/>
                </a:solidFill>
                <a:latin typeface="Arial" panose="020B0604020202020204" pitchFamily="34" charset="0"/>
                <a:ea typeface="MS PGothic" charset="0"/>
                <a:cs typeface="MS PGothic" charset="0"/>
              </a:rPr>
              <a:t> </a:t>
            </a:r>
            <a:r>
              <a:rPr lang="pt-BR" sz="1200">
                <a:effectLst/>
              </a:rPr>
              <a:t>— Verifique seu entendimento — Organizações de padrões </a:t>
            </a:r>
            <a:endParaRPr lang="pt-BR" sz="1200">
              <a:effectLst/>
            </a:endParaRPr>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3.5 Modelos de referência</a:t>
            </a:r>
            <a:endParaRPr lang="pt-BR" sz="1200" b="0"/>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3.5 Modelos de referência</a:t>
            </a:r>
            <a:endParaRPr lang="pt-BR" sz="1200" b="0"/>
          </a:p>
          <a:p>
            <a:pPr rtl="0">
              <a:lnSpc>
                <a:spcPct val="80000"/>
              </a:lnSpc>
              <a:buFontTx/>
              <a:buNone/>
            </a:pPr>
            <a:r>
              <a:rPr lang="pt-BR">
                <a:latin typeface="Arial" panose="020B0604020202020204" pitchFamily="34" charset="0"/>
              </a:rPr>
              <a:t>3.5.1 – </a:t>
            </a:r>
            <a:r>
              <a:rPr lang="pt-BR"/>
              <a:t>Os benefícios de se usar um modelo de camadas</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3.5 Modelos de referência</a:t>
            </a:r>
            <a:endParaRPr lang="pt-BR" sz="1200" b="0"/>
          </a:p>
          <a:p>
            <a:pPr rtl="0">
              <a:lnSpc>
                <a:spcPct val="80000"/>
              </a:lnSpc>
              <a:buFontTx/>
              <a:buNone/>
            </a:pPr>
            <a:r>
              <a:rPr lang="pt-BR">
                <a:latin typeface="Arial" panose="020B0604020202020204" pitchFamily="34" charset="0"/>
              </a:rPr>
              <a:t>3.5.1 – </a:t>
            </a:r>
            <a:r>
              <a:rPr lang="pt-BR"/>
              <a:t>Os benefícios de se usar um modelo de camadas (Cont.)</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3.5 Modelos de referência</a:t>
            </a:r>
            <a:endParaRPr lang="pt-BR" sz="1200" b="0"/>
          </a:p>
          <a:p>
            <a:pPr rtl="0">
              <a:lnSpc>
                <a:spcPct val="80000"/>
              </a:lnSpc>
              <a:buFontTx/>
              <a:buNone/>
            </a:pPr>
            <a:r>
              <a:rPr lang="pt-BR">
                <a:latin typeface="Arial" panose="020B0604020202020204" pitchFamily="34" charset="0"/>
              </a:rPr>
              <a:t>3.5.2 – </a:t>
            </a:r>
            <a:r>
              <a:rPr lang="pt-BR" sz="1200"/>
              <a:t>O modelo de referência OSI</a:t>
            </a:r>
            <a:endParaRPr lang="pt-BR" sz="120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3.5 Modelos de referência</a:t>
            </a:r>
            <a:endParaRPr lang="pt-BR" sz="1200" b="0"/>
          </a:p>
          <a:p>
            <a:pPr rtl="0">
              <a:lnSpc>
                <a:spcPct val="80000"/>
              </a:lnSpc>
              <a:buFontTx/>
              <a:buNone/>
            </a:pPr>
            <a:r>
              <a:rPr lang="pt-BR">
                <a:latin typeface="Arial" panose="020B0604020202020204" pitchFamily="34" charset="0"/>
              </a:rPr>
              <a:t>3.5.3 - </a:t>
            </a:r>
            <a:r>
              <a:rPr lang="pt-BR" sz="1200"/>
              <a:t>Modelo de referência TCP / IP</a:t>
            </a:r>
            <a:endParaRPr lang="pt-BR" sz="120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3.5 Modelos de referência</a:t>
            </a:r>
            <a:endParaRPr lang="pt-BR" sz="1200" b="0"/>
          </a:p>
          <a:p>
            <a:pPr rtl="0">
              <a:lnSpc>
                <a:spcPct val="80000"/>
              </a:lnSpc>
              <a:buFontTx/>
              <a:buNone/>
            </a:pPr>
            <a:r>
              <a:rPr lang="pt-BR">
                <a:latin typeface="Arial" panose="020B0604020202020204" pitchFamily="34" charset="0"/>
              </a:rPr>
              <a:t>3.5.4 - </a:t>
            </a:r>
            <a:r>
              <a:rPr lang="pt-BR"/>
              <a:t>Comparação de modelos OSI e TCP / IP</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3.5 Modelos de referência</a:t>
            </a:r>
            <a:endParaRPr lang="pt-BR" sz="1200" b="0"/>
          </a:p>
          <a:p>
            <a:pPr rtl="0">
              <a:lnSpc>
                <a:spcPct val="80000"/>
              </a:lnSpc>
              <a:buFontTx/>
              <a:buNone/>
            </a:pPr>
            <a:r>
              <a:rPr lang="pt-BR">
                <a:latin typeface="Arial" panose="020B0604020202020204" pitchFamily="34" charset="0"/>
              </a:rPr>
              <a:t>3.5.5 - </a:t>
            </a:r>
            <a:r>
              <a:rPr lang="pt-BR"/>
              <a:t>Packet Tracer - Investigue os modelos TCP / IP e OSI em ação</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3.6 - </a:t>
            </a:r>
            <a:r>
              <a:rPr lang="pt-BR" sz="1200" b="0" baseline="0"/>
              <a:t>Encapsulamento </a:t>
            </a:r>
            <a:r>
              <a:rPr lang="pt-BR" sz="1200" b="0"/>
              <a:t>de dados</a:t>
            </a:r>
            <a:endParaRPr lang="pt-BR" sz="1200" b="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3.6 - </a:t>
            </a:r>
            <a:r>
              <a:rPr lang="pt-BR" sz="1200" b="0" baseline="0"/>
              <a:t>Encapsulamento </a:t>
            </a:r>
            <a:r>
              <a:rPr lang="pt-BR" sz="1200" b="0"/>
              <a:t>de dados</a:t>
            </a:r>
            <a:endParaRPr lang="pt-BR" sz="1200" b="0"/>
          </a:p>
          <a:p>
            <a:pPr rtl="0">
              <a:lnSpc>
                <a:spcPct val="80000"/>
              </a:lnSpc>
              <a:buFontTx/>
              <a:buNone/>
            </a:pPr>
            <a:r>
              <a:rPr lang="pt-BR">
                <a:latin typeface="Arial" panose="020B0604020202020204" pitchFamily="34" charset="0"/>
              </a:rPr>
              <a:t>3.6.1 - Segmentando </a:t>
            </a:r>
            <a:r>
              <a:rPr lang="pt-BR" baseline="0">
                <a:latin typeface="Arial" panose="020B0604020202020204" pitchFamily="34" charset="0"/>
              </a:rPr>
              <a:t>Mensagens</a:t>
            </a:r>
            <a:endParaRPr lang="pt-BR" baseline="0">
              <a:latin typeface="Arial" panose="020B0604020202020204" pitchFamily="34" charset="0"/>
            </a:endParaRPr>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3.6 - </a:t>
            </a:r>
            <a:r>
              <a:rPr lang="pt-BR" sz="1200" b="0" baseline="0"/>
              <a:t>Encapsulamento </a:t>
            </a:r>
            <a:r>
              <a:rPr lang="pt-BR" sz="1200" b="0"/>
              <a:t>de dados</a:t>
            </a:r>
            <a:endParaRPr lang="pt-BR" sz="1200" b="0"/>
          </a:p>
          <a:p>
            <a:pPr rtl="0">
              <a:lnSpc>
                <a:spcPct val="80000"/>
              </a:lnSpc>
              <a:buFontTx/>
              <a:buNone/>
            </a:pPr>
            <a:r>
              <a:rPr lang="pt-BR">
                <a:latin typeface="Arial" panose="020B0604020202020204" pitchFamily="34" charset="0"/>
              </a:rPr>
              <a:t>3.6.2 – Sequenciamento</a:t>
            </a:r>
            <a:r>
              <a:rPr lang="pt-BR" baseline="0">
                <a:latin typeface="Arial" panose="020B0604020202020204" pitchFamily="34" charset="0"/>
              </a:rPr>
              <a:t> </a:t>
            </a:r>
            <a:endParaRPr lang="pt-BR" baseline="0">
              <a:latin typeface="Arial" panose="020B0604020202020204" pitchFamily="34" charset="0"/>
            </a:endParaRPr>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3.6 - </a:t>
            </a:r>
            <a:r>
              <a:rPr lang="pt-BR" sz="1200" b="0" baseline="0"/>
              <a:t>Encapsulamento </a:t>
            </a:r>
            <a:r>
              <a:rPr lang="pt-BR" sz="1200" b="0"/>
              <a:t>de dados</a:t>
            </a:r>
            <a:endParaRPr lang="pt-BR" sz="1200" b="0"/>
          </a:p>
          <a:p>
            <a:pPr rtl="0">
              <a:lnSpc>
                <a:spcPct val="80000"/>
              </a:lnSpc>
              <a:buFontTx/>
              <a:buNone/>
            </a:pPr>
            <a:r>
              <a:rPr lang="pt-BR">
                <a:latin typeface="Arial" panose="020B0604020202020204" pitchFamily="34" charset="0"/>
              </a:rPr>
              <a:t>3.6.3 - </a:t>
            </a:r>
            <a:r>
              <a:rPr lang="pt-BR"/>
              <a:t>Unidades de Dados de Protocolo (PDU)</a:t>
            </a:r>
            <a:r>
              <a:rPr lang="pt-BR" baseline="0">
                <a:latin typeface="Arial" panose="020B0604020202020204" pitchFamily="34" charset="0"/>
              </a:rPr>
              <a:t> </a:t>
            </a:r>
            <a:endParaRPr lang="pt-BR" baseline="0">
              <a:latin typeface="Arial" panose="020B0604020202020204" pitchFamily="34" charset="0"/>
            </a:endParaRPr>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3.6 - </a:t>
            </a:r>
            <a:r>
              <a:rPr lang="pt-BR" sz="1200" b="0" baseline="0"/>
              <a:t>Encapsulamento </a:t>
            </a:r>
            <a:r>
              <a:rPr lang="pt-BR" sz="1200" b="0"/>
              <a:t>de dados</a:t>
            </a:r>
            <a:endParaRPr lang="pt-BR" sz="1200" b="0"/>
          </a:p>
          <a:p>
            <a:pPr rtl="0">
              <a:lnSpc>
                <a:spcPct val="80000"/>
              </a:lnSpc>
              <a:buFontTx/>
              <a:buNone/>
            </a:pPr>
            <a:r>
              <a:rPr lang="pt-BR">
                <a:latin typeface="Arial" panose="020B0604020202020204" pitchFamily="34" charset="0"/>
              </a:rPr>
              <a:t>3.6.4 - </a:t>
            </a:r>
            <a:r>
              <a:rPr lang="pt-BR" sz="1200" kern="1200">
                <a:solidFill>
                  <a:schemeClr val="tx1"/>
                </a:solidFill>
                <a:latin typeface="Arial" panose="020B0604020202020204" pitchFamily="34" charset="0"/>
                <a:ea typeface="MS PGothic" charset="0"/>
                <a:cs typeface="MS PGothic" charset="0"/>
              </a:rPr>
              <a:t> </a:t>
            </a:r>
            <a:r>
              <a:rPr lang="pt-BR"/>
              <a:t>Exemplo de Encapsulamento</a:t>
            </a:r>
            <a:endParaRPr lang="pt-BR"/>
          </a:p>
          <a:p>
            <a:pPr marL="0" marR="0" lvl="0" indent="0" algn="l" defTabSz="457200" rtl="0" eaLnBrk="1" fontAlgn="auto" latinLnBrk="0" hangingPunct="1">
              <a:lnSpc>
                <a:spcPct val="80000"/>
              </a:lnSpc>
              <a:spcBef>
                <a:spcPts val="0"/>
              </a:spcBef>
              <a:spcAft>
                <a:spcPts val="0"/>
              </a:spcAft>
              <a:buClrTx/>
              <a:buSzTx/>
              <a:buFontTx/>
              <a:buNone/>
              <a:defRPr/>
            </a:pPr>
            <a:endParaRPr lang="en-GB" b="0" dirty="0"/>
          </a:p>
          <a:p>
            <a:pPr marL="0" marR="0" lvl="0" indent="0" algn="l" defTabSz="457200" rtl="0" eaLnBrk="1" fontAlgn="auto" latinLnBrk="0" hangingPunct="1">
              <a:lnSpc>
                <a:spcPct val="80000"/>
              </a:lnSpc>
              <a:spcBef>
                <a:spcPts val="0"/>
              </a:spcBef>
              <a:spcAft>
                <a:spcPts val="0"/>
              </a:spcAft>
              <a:buClrTx/>
              <a:buSzTx/>
              <a:buFontTx/>
              <a:buNone/>
              <a:defRPr/>
            </a:pPr>
            <a:endParaRPr lang="en-US" dirty="0"/>
          </a:p>
          <a:p>
            <a:pPr>
              <a:lnSpc>
                <a:spcPct val="80000"/>
              </a:lnSpc>
              <a:buFontTx/>
              <a:buNone/>
            </a:pPr>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3.6 - </a:t>
            </a:r>
            <a:r>
              <a:rPr lang="pt-BR" sz="1200" b="0" baseline="0"/>
              <a:t>Encapsulamento </a:t>
            </a:r>
            <a:r>
              <a:rPr lang="pt-BR" sz="1200" b="0"/>
              <a:t>de dados</a:t>
            </a:r>
            <a:endParaRPr lang="pt-BR" sz="1200" b="0"/>
          </a:p>
          <a:p>
            <a:pPr rtl="0">
              <a:lnSpc>
                <a:spcPct val="80000"/>
              </a:lnSpc>
              <a:buFontTx/>
              <a:buNone/>
            </a:pPr>
            <a:r>
              <a:rPr lang="pt-BR">
                <a:latin typeface="Arial" panose="020B0604020202020204" pitchFamily="34" charset="0"/>
              </a:rPr>
              <a:t>3.6.5 - </a:t>
            </a:r>
            <a:r>
              <a:rPr lang="pt-BR"/>
              <a:t>Exemplo de Desencapsulamento</a:t>
            </a:r>
            <a:endParaRPr lang="pt-BR"/>
          </a:p>
          <a:p>
            <a:pPr rtl="0">
              <a:buFontTx/>
              <a:buNone/>
            </a:pPr>
            <a:r>
              <a:rPr lang="pt-BR"/>
              <a:t>3.6.6 </a:t>
            </a:r>
            <a:r>
              <a:rPr lang="pt-BR" sz="1200">
                <a:effectLst/>
              </a:rPr>
              <a:t>— Verifique seu entendimento —</a:t>
            </a:r>
            <a:r>
              <a:rPr lang="pt-BR" sz="1200" baseline="0">
                <a:effectLst/>
              </a:rPr>
              <a:t> </a:t>
            </a:r>
            <a:r>
              <a:rPr lang="pt-BR" sz="1200" b="0"/>
              <a:t> Encapsulamento de</a:t>
            </a:r>
            <a:r>
              <a:rPr lang="pt-BR" sz="1200" b="0" baseline="0"/>
              <a:t>dados</a:t>
            </a:r>
            <a:endParaRPr lang="pt-BR" sz="1200" b="0" baseline="0"/>
          </a:p>
          <a:p>
            <a:pPr marL="0" marR="0" lvl="0" indent="0" algn="l" defTabSz="457200" rtl="0" eaLnBrk="1" fontAlgn="auto" latinLnBrk="0" hangingPunct="1">
              <a:lnSpc>
                <a:spcPct val="80000"/>
              </a:lnSpc>
              <a:spcBef>
                <a:spcPts val="0"/>
              </a:spcBef>
              <a:spcAft>
                <a:spcPts val="0"/>
              </a:spcAft>
              <a:buClrTx/>
              <a:buSzTx/>
              <a:buFontTx/>
              <a:buNone/>
              <a:defRPr/>
            </a:pPr>
            <a:endParaRPr lang="en-US" dirty="0"/>
          </a:p>
          <a:p>
            <a:pPr>
              <a:lnSpc>
                <a:spcPct val="80000"/>
              </a:lnSpc>
              <a:buFontTx/>
              <a:buNone/>
            </a:pPr>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a:buFontTx/>
              <a:buNone/>
            </a:pPr>
            <a:endParaRPr lang="en-GB" b="0" dirty="0"/>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3.7.1 — Endereços</a:t>
            </a:r>
            <a:endParaRPr lang="pt-BR">
              <a:latin typeface="Arial" panose="020B0604020202020204" pitchFamily="34" charset="0"/>
            </a:endParaRPr>
          </a:p>
          <a:p>
            <a:endParaRPr lang="en-US" dirty="0"/>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3.7.2 — </a:t>
            </a:r>
            <a:r>
              <a:rPr lang="pt-BR"/>
              <a:t>Endereço lógico da Camada 3</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3.7.2 — </a:t>
            </a:r>
            <a:r>
              <a:rPr lang="pt-BR"/>
              <a:t>Endereço lógico da Camada 3 (Cont.) </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3.7.3 — </a:t>
            </a:r>
            <a:r>
              <a:rPr lang="pt-BR"/>
              <a:t>Dispositivos na mesma rede-</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3.7.4 — </a:t>
            </a:r>
            <a:r>
              <a:rPr lang="pt-BR"/>
              <a:t>Função dos endereços da camada de link de dados: mesma rede IP</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3.7.5 – </a:t>
            </a:r>
            <a:r>
              <a:rPr lang="pt-BR"/>
              <a:t>Dispositivos em uma rede remota</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3.7.6 - </a:t>
            </a:r>
            <a:r>
              <a:rPr lang="pt-BR"/>
              <a:t>Função dos endereços da camada de rede</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3.7.7 — </a:t>
            </a:r>
            <a:r>
              <a:rPr lang="pt-BR"/>
              <a:t>Papel dos endereços da camada de link de dados: diferentes redes IP</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3.7.7 — </a:t>
            </a:r>
            <a:r>
              <a:rPr lang="pt-BR"/>
              <a:t>Função dos Endereços da Camada de Link de Dados: Redes IP Diferentes (Cont.) </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3.7.8 – </a:t>
            </a:r>
            <a:r>
              <a:rPr lang="pt-BR"/>
              <a:t>Endereços de enlace de dados</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3.7.8 – </a:t>
            </a:r>
            <a:r>
              <a:rPr lang="pt-BR"/>
              <a:t>Endereços de enlace de dados (Cont.)</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3.7.8 – </a:t>
            </a:r>
            <a:r>
              <a:rPr lang="pt-BR"/>
              <a:t>Endereços de enlace de dados (Cont.)</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FontTx/>
              <a:buNone/>
            </a:pPr>
            <a:r>
              <a:rPr lang="pt-BR" sz="1200" b="0"/>
              <a:t>3 - </a:t>
            </a:r>
            <a:r>
              <a:rPr lang="pt-BR" sz="1200">
                <a:solidFill>
                  <a:schemeClr val="accent5">
                    <a:lumMod val="40000"/>
                    <a:lumOff val="60000"/>
                  </a:schemeClr>
                </a:solidFill>
              </a:rPr>
              <a:t>Protocolos e modelos</a:t>
            </a:r>
            <a:endParaRPr lang="pt-BR" sz="1200">
              <a:solidFill>
                <a:schemeClr val="accent5">
                  <a:lumMod val="40000"/>
                  <a:lumOff val="60000"/>
                </a:schemeClr>
              </a:solidFill>
            </a:endParaRPr>
          </a:p>
          <a:p>
            <a:pPr rtl="0">
              <a:buFontTx/>
              <a:buNone/>
            </a:pPr>
            <a:r>
              <a:rPr lang="pt-BR" sz="1200" b="0"/>
              <a:t>3.7 —</a:t>
            </a:r>
            <a:r>
              <a:rPr lang="pt-BR" sz="1200" b="0" baseline="0"/>
              <a:t> Acesso aos</a:t>
            </a:r>
            <a:r>
              <a:rPr lang="pt-BR" sz="1200" b="0"/>
              <a:t>dados</a:t>
            </a:r>
            <a:endParaRPr lang="pt-BR" sz="1200" b="0"/>
          </a:p>
          <a:p>
            <a:pPr rtl="0">
              <a:lnSpc>
                <a:spcPct val="80000"/>
              </a:lnSpc>
              <a:buFontTx/>
              <a:buNone/>
            </a:pPr>
            <a:r>
              <a:rPr lang="pt-BR">
                <a:latin typeface="Arial" panose="020B0604020202020204" pitchFamily="34" charset="0"/>
              </a:rPr>
              <a:t>3.7.8 – </a:t>
            </a:r>
            <a:r>
              <a:rPr lang="pt-BR"/>
              <a:t>Endereços de enlace de dados (Cont.)</a:t>
            </a:r>
            <a:endParaRPr lang="pt-BR"/>
          </a:p>
        </p:txBody>
      </p:sp>
      <p:sp>
        <p:nvSpPr>
          <p:cNvPr id="4" name="Slide Number Placeholder 3"/>
          <p:cNvSpPr>
            <a:spLocks noGrp="1"/>
          </p:cNvSpPr>
          <p:nvPr>
            <p:ph type="sldNum" sz="quarter" idx="10"/>
          </p:nvPr>
        </p:nvSpPr>
        <p:spPr/>
        <p:txBody>
          <a:bodyPr/>
          <a:lstStyle/>
          <a:p>
            <a:pPr rtl="0"/>
            <a:fld id="{5641018C-6CAF-B84E-B92C-ECB119457FBA}" type="slidenum">
              <a:rPr>
                <a:solidFill>
                  <a:prstClr val="black"/>
                </a:solidFill>
              </a:rPr>
            </a:fld>
            <a:endParaRPr>
              <a:solidFill>
                <a:prstClr val="black"/>
              </a:solidFil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showMasterSp="0">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2565" indent="0" algn="ctr">
              <a:buNone/>
              <a:defRPr>
                <a:solidFill>
                  <a:schemeClr val="tx1">
                    <a:tint val="75000"/>
                  </a:schemeClr>
                </a:solidFill>
              </a:defRPr>
            </a:lvl9pPr>
          </a:lstStyle>
          <a:p>
            <a:r>
              <a:rPr lang="en-US" dirty="0"/>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800" indent="0">
              <a:buNone/>
              <a:defRPr/>
            </a:lvl2pPr>
            <a:lvl3pPr marL="427355" indent="0">
              <a:buNone/>
              <a:defRPr/>
            </a:lvl3pPr>
            <a:lvl4pPr marL="516890" indent="0">
              <a:buNone/>
              <a:defRPr/>
            </a:lvl4pPr>
            <a:lvl5pPr marL="601345" indent="0">
              <a:buNone/>
              <a:defRPr/>
            </a:lvl5pPr>
          </a:lstStyle>
          <a:p>
            <a:pPr lvl="0"/>
            <a:r>
              <a:rPr lang="en-US" dirty="0"/>
              <a:t>Click to edit Master text styles</a:t>
            </a:r>
            <a:endParaRPr lang="en-US" dirty="0"/>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10"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showMasterSp="0"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2565" indent="0" algn="ctr">
              <a:buNone/>
              <a:defRPr>
                <a:solidFill>
                  <a:schemeClr val="tx1">
                    <a:tint val="75000"/>
                  </a:schemeClr>
                </a:solidFill>
              </a:defRPr>
            </a:lvl9pPr>
          </a:lstStyle>
          <a:p>
            <a:r>
              <a:rPr lang="en-US" dirty="0"/>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10"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800" indent="0">
              <a:buNone/>
              <a:defRPr/>
            </a:lvl2pPr>
            <a:lvl3pPr marL="427355" indent="0">
              <a:buNone/>
              <a:defRPr/>
            </a:lvl3pPr>
            <a:lvl4pPr marL="516890" indent="0">
              <a:buNone/>
              <a:defRPr/>
            </a:lvl4pPr>
            <a:lvl5pPr marL="601345" indent="0">
              <a:buNone/>
              <a:defRPr/>
            </a:lvl5pPr>
          </a:lstStyle>
          <a:p>
            <a:pPr lvl="0"/>
            <a:r>
              <a:rPr lang="en-US" dirty="0"/>
              <a:t>Click to edit Master text styles</a:t>
            </a:r>
            <a:endParaRPr lang="en-US" dirty="0"/>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dirty="0"/>
              <a:t>Click to edit Master title style</a:t>
            </a:r>
            <a:endParaRPr lang="en-US" dirty="0"/>
          </a:p>
        </p:txBody>
      </p:sp>
    </p:spTree>
  </p:cSld>
  <p:clrMapOvr>
    <a:masterClrMapping/>
  </p:clrMapOvr>
  <p:transition spd="slow">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showMasterSp="0"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2565" indent="0" algn="ctr">
              <a:buNone/>
              <a:defRPr>
                <a:solidFill>
                  <a:schemeClr val="tx1">
                    <a:tint val="75000"/>
                  </a:schemeClr>
                </a:solidFill>
              </a:defRPr>
            </a:lvl9pPr>
          </a:lstStyle>
          <a:p>
            <a:r>
              <a:rPr lang="en-US" dirty="0"/>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endParaRPr lang="en-US"/>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10"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800" indent="0">
              <a:buNone/>
              <a:defRPr/>
            </a:lvl2pPr>
            <a:lvl3pPr marL="427355" indent="0">
              <a:buNone/>
              <a:defRPr/>
            </a:lvl3pPr>
            <a:lvl4pPr marL="516890" indent="0">
              <a:buNone/>
              <a:defRPr/>
            </a:lvl4pPr>
            <a:lvl5pPr marL="601345" indent="0">
              <a:buNone/>
              <a:defRPr/>
            </a:lvl5pPr>
          </a:lstStyle>
          <a:p>
            <a:pPr lvl="0"/>
            <a:r>
              <a:rPr lang="en-US" dirty="0"/>
              <a:t>Click to edit Master text styles</a:t>
            </a:r>
            <a:endParaRPr lang="en-US" dirty="0"/>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endParaRPr lang="en-US" dirty="0"/>
          </a:p>
        </p:txBody>
      </p:sp>
    </p:spTree>
  </p:cSld>
  <p:clrMapOvr>
    <a:masterClrMapping/>
  </p:clrMapOvr>
  <p:transition spd="slow">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showMasterSp="0">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dirty="0"/>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ln>
          <a:effectLst/>
        </p:spPr>
        <p:txBody>
          <a:bodyPr wrap="none" lIns="61586" tIns="30792" rIns="61586" bIns="30792" anchor="b">
            <a:spAutoFit/>
          </a:bodyPr>
          <a:lstStyle/>
          <a:p>
            <a:pPr algn="r" defTabSz="610870" rtl="0" fontAlgn="auto">
              <a:spcBef>
                <a:spcPts val="0"/>
              </a:spcBef>
              <a:spcAft>
                <a:spcPts val="0"/>
              </a:spcAft>
              <a:defRPr/>
            </a:pPr>
            <a:fld id="{6A1E46DC-7EF6-4EA2-B285-14272867D133}" type="slidenum">
              <a:rPr sz="600">
                <a:solidFill>
                  <a:schemeClr val="accent5">
                    <a:lumMod val="50000"/>
                  </a:schemeClr>
                </a:solidFill>
                <a:latin typeface="+mn-lt"/>
                <a:ea typeface="+mn-ea"/>
                <a:cs typeface="CiscoSans Thin"/>
              </a:rPr>
            </a:fld>
            <a:endParaRPr sz="60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ln>
          <a:effectLst/>
        </p:spPr>
        <p:txBody>
          <a:bodyPr lIns="61586" tIns="30792" rIns="61586" bIns="30792" anchor="b">
            <a:spAutoFit/>
          </a:bodyPr>
          <a:lstStyle/>
          <a:p>
            <a:pPr defTabSz="610870" rtl="0" fontAlgn="auto">
              <a:spcBef>
                <a:spcPts val="0"/>
              </a:spcBef>
              <a:spcAft>
                <a:spcPts val="0"/>
              </a:spcAft>
              <a:defRPr/>
            </a:pPr>
            <a:r>
              <a:rPr lang="pt-BR" sz="600">
                <a:solidFill>
                  <a:schemeClr val="accent5">
                    <a:lumMod val="50000"/>
                  </a:schemeClr>
                </a:solidFill>
                <a:latin typeface="+mn-lt"/>
                <a:ea typeface="+mn-ea"/>
                <a:cs typeface="CiscoSans Thin"/>
              </a:rPr>
              <a:t>© 2016 Cisco e/ou suas afiliadas. Todos os direitos reservados.   Confidencial da Cisco</a:t>
            </a:r>
            <a:endParaRPr lang="pt-BR" sz="600">
              <a:solidFill>
                <a:schemeClr val="accent5">
                  <a:lumMod val="50000"/>
                </a:schemeClr>
              </a:solidFill>
              <a:latin typeface="+mn-lt"/>
              <a:ea typeface="+mn-ea"/>
              <a:cs typeface="CiscoSans Thin"/>
            </a:endParaRP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13"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9"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0"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3"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4"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5"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750" marR="0" indent="-285750" algn="ctr" defTabSz="457200" rtl="0" eaLnBrk="1" fontAlgn="auto" latinLnBrk="0" hangingPunct="1">
              <a:lnSpc>
                <a:spcPct val="100000"/>
              </a:lnSpc>
              <a:spcBef>
                <a:spcPct val="20000"/>
              </a:spcBef>
              <a:spcAft>
                <a:spcPts val="0"/>
              </a:spcAft>
              <a:buClrTx/>
              <a:buSzTx/>
              <a:buFont typeface="Arial" panose="020B0604020202020204"/>
              <a:buNone/>
              <a:defRPr sz="2000" b="0" i="0" baseline="0">
                <a:solidFill>
                  <a:schemeClr val="bg1"/>
                </a:solidFill>
                <a:latin typeface="+mn-lt"/>
                <a:cs typeface="CiscoSans ExtraLight"/>
              </a:defRPr>
            </a:lvl1pPr>
          </a:lstStyle>
          <a:p>
            <a:pPr lvl="0"/>
            <a:r>
              <a:rPr lang="en-US"/>
              <a:t>Click to edit Master text styles</a:t>
            </a:r>
            <a:endParaRPr lang="en-US"/>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dirty="0"/>
              <a:t>Click to edit Master title style</a:t>
            </a:r>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panose="020B0604020202020204"/>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panose="020B0604020202020204"/>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panose="020B0604020202020204"/>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endParaRPr lang="en-US" dirty="0"/>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endParaRPr lang="en-US" dirty="0"/>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endParaRPr lang="en-US" dirty="0"/>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endParaRPr lang="en-US" dirty="0"/>
          </a:p>
        </p:txBody>
      </p:sp>
    </p:spTree>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endParaRPr lang="en-US" dirty="0"/>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endParaRPr lang="en-US" dirty="0"/>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endParaRPr lang="en-US" dirty="0"/>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endParaRPr lang="en-US" dirty="0"/>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endParaRPr lang="en-US" dirty="0"/>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panose="020B0604020202020204"/>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endParaRPr lang="en-US" dirty="0"/>
          </a:p>
        </p:txBody>
      </p:sp>
    </p:spTree>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dirty="0"/>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panose="020B0604020202020204"/>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endParaRPr lang="en-US" dirty="0"/>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endParaRPr lang="en-US" dirty="0"/>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endParaRPr lang="en-US" dirty="0"/>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endParaRPr lang="en-US" dirty="0"/>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endParaRPr lang="en-US" dirty="0"/>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endParaRPr lang="en-US" dirty="0"/>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endParaRPr lang="en-US" dirty="0"/>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endParaRPr lang="en-US" dirty="0"/>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endParaRPr lang="en-US" dirty="0"/>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endParaRPr lang="en-US" dirty="0"/>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panose="020B0604020202020204"/>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endParaRPr lang="en-US"/>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endParaRPr lang="en-US" dirty="0"/>
          </a:p>
        </p:txBody>
      </p:sp>
    </p:spTree>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showMasterSp="0">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6"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7"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9"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0"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showMasterSp="0">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6"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7"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9"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0"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showMasterSp="0">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6"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7"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9"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0"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1"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2"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3"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6080">
              <a:defRPr/>
            </a:pPr>
            <a:fld id="{2F5CCB13-0A32-4557-88E9-079F0C330695}" type="slidenum">
              <a:rPr lang="en-US" kern="0" smtClean="0">
                <a:solidFill>
                  <a:srgbClr val="595959"/>
                </a:solidFill>
              </a:rPr>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dirty="0">
                <a:sym typeface="Arial" panose="020B0604020202020204" pitchFamily="34" charset="0"/>
              </a:rPr>
              <a:t>Click to edit Master text styles</a:t>
            </a:r>
            <a:endParaRPr lang="en-US" dirty="0">
              <a:sym typeface="Arial" panose="020B0604020202020204" pitchFamily="34" charset="0"/>
            </a:endParaRPr>
          </a:p>
          <a:p>
            <a:pPr lvl="1"/>
            <a:r>
              <a:rPr lang="en-US" dirty="0">
                <a:sym typeface="Arial" panose="020B0604020202020204" pitchFamily="34" charset="0"/>
              </a:rPr>
              <a:t>Second level</a:t>
            </a:r>
            <a:endParaRPr lang="en-US" dirty="0">
              <a:sym typeface="Arial" panose="020B0604020202020204" pitchFamily="34" charset="0"/>
            </a:endParaRPr>
          </a:p>
          <a:p>
            <a:pPr lvl="2"/>
            <a:r>
              <a:rPr lang="en-US" dirty="0">
                <a:sym typeface="Arial" panose="020B0604020202020204" pitchFamily="34" charset="0"/>
              </a:rPr>
              <a:t>Third level</a:t>
            </a:r>
            <a:endParaRPr lang="en-US" dirty="0">
              <a:sym typeface="Arial" panose="020B0604020202020204" pitchFamily="34" charset="0"/>
            </a:endParaRPr>
          </a:p>
          <a:p>
            <a:pPr lvl="3"/>
            <a:r>
              <a:rPr lang="en-US" dirty="0">
                <a:sym typeface="Arial" panose="020B0604020202020204" pitchFamily="34" charset="0"/>
              </a:rPr>
              <a:t>Fourth level</a:t>
            </a:r>
            <a:endParaRPr lang="en-US" dirty="0">
              <a:sym typeface="Arial" panose="020B0604020202020204" pitchFamily="34" charset="0"/>
            </a:endParaRP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lstStyle>
            <a:lvl1pPr>
              <a:lnSpc>
                <a:spcPct val="100000"/>
              </a:lnSpc>
              <a:defRPr sz="2400"/>
            </a:lvl1pPr>
          </a:lstStyle>
          <a:p>
            <a:pPr lvl="0"/>
            <a:r>
              <a:rPr lang="en-US" dirty="0">
                <a:sym typeface="Arial" panose="020B0604020202020204" pitchFamily="34" charset="0"/>
              </a:rPr>
              <a:t>Click to edit Master title style</a:t>
            </a:r>
            <a:endParaRPr lang="en-US" dirty="0">
              <a:sym typeface="Arial" panose="020B0604020202020204" pitchFamily="34" charset="0"/>
            </a:endParaRPr>
          </a:p>
        </p:txBody>
      </p:sp>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Tree>
  </p:cSld>
  <p:clrMapOvr>
    <a:masterClrMapping/>
  </p:clrMapOvr>
  <p:transition spd="slow">
    <p:wipe/>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lstStyle/>
          <a:p>
            <a:pPr lvl="0"/>
            <a:r>
              <a:rPr lang="en-GB" altLang="en-US" dirty="0"/>
              <a:t>Title Goes Here</a:t>
            </a:r>
            <a:endParaRPr lang="en-GB" altLang="en-US" dirty="0"/>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ln>
          <a:effectLst/>
        </p:spPr>
        <p:txBody>
          <a:bodyPr wrap="none" lIns="61586" tIns="30792" rIns="61586" bIns="30792" anchor="b">
            <a:spAutoFit/>
          </a:bodyPr>
          <a:lstStyle/>
          <a:p>
            <a:pPr algn="r" defTabSz="610870" rtl="0" fontAlgn="auto">
              <a:spcBef>
                <a:spcPts val="0"/>
              </a:spcBef>
              <a:spcAft>
                <a:spcPts val="0"/>
              </a:spcAft>
              <a:defRPr/>
            </a:pPr>
            <a:fld id="{6A1E46DC-7EF6-4EA2-B285-14272867D133}" type="slidenum">
              <a:rPr sz="600">
                <a:solidFill>
                  <a:schemeClr val="accent3">
                    <a:lumMod val="85000"/>
                  </a:schemeClr>
                </a:solidFill>
                <a:latin typeface="+mn-lt"/>
                <a:ea typeface="+mn-ea"/>
                <a:cs typeface="CiscoSans Thin"/>
              </a:rPr>
            </a:fld>
            <a:endParaRPr sz="60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ln>
          <a:effectLst/>
        </p:spPr>
        <p:txBody>
          <a:bodyPr lIns="61586" tIns="30792" rIns="61586" bIns="30792" anchor="b">
            <a:spAutoFit/>
          </a:bodyPr>
          <a:lstStyle/>
          <a:p>
            <a:pPr defTabSz="610870" rtl="0" fontAlgn="auto">
              <a:spcBef>
                <a:spcPts val="0"/>
              </a:spcBef>
              <a:spcAft>
                <a:spcPts val="0"/>
              </a:spcAft>
              <a:defRPr/>
            </a:pPr>
            <a:r>
              <a:rPr lang="pt-BR" sz="600">
                <a:solidFill>
                  <a:schemeClr val="accent3">
                    <a:lumMod val="85000"/>
                  </a:schemeClr>
                </a:solidFill>
                <a:latin typeface="+mn-lt"/>
                <a:ea typeface="+mn-ea"/>
                <a:cs typeface="CiscoSans Thin"/>
              </a:rPr>
              <a:t>© 2016 Cisco e/ou suas afiliadas. Todos os direitos reservados.   Confidencial da Cisco</a:t>
            </a:r>
            <a:endParaRPr lang="pt-BR" sz="600">
              <a:solidFill>
                <a:schemeClr val="accent3">
                  <a:lumMod val="85000"/>
                </a:schemeClr>
              </a:solidFill>
              <a:latin typeface="+mn-lt"/>
              <a:ea typeface="+mn-ea"/>
              <a:cs typeface="CiscoSans Thin"/>
            </a:endParaRPr>
          </a:p>
        </p:txBody>
      </p:sp>
      <p:grpSp>
        <p:nvGrpSpPr>
          <p:cNvPr id="6" name="Group 4"/>
          <p:cNvGrpSpPr>
            <a:grpSpLocks noChangeAspect="1"/>
          </p:cNvGrpSpPr>
          <p:nvPr/>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en-US" dirty="0"/>
            </a:p>
          </p:txBody>
        </p:sp>
        <p:sp>
          <p:nvSpPr>
            <p:cNvPr id="8" name="Freeform 6"/>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9" name="Freeform 7"/>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1" name="Freeform 9"/>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4" name="Freeform 10"/>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5" name="Freeform 11"/>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6" name="Freeform 12"/>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7" name="Freeform 13"/>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8" name="Freeform 14"/>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19" name="Freeform 15"/>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0" name="Freeform 16"/>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1" name="Freeform 17"/>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sp>
          <p:nvSpPr>
            <p:cNvPr id="22" name="Freeform 18"/>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dirty="0"/>
            </a:p>
          </p:txBody>
        </p:sp>
      </p:gr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ransition spd="slow">
    <p:wipe/>
  </p:transition>
  <p:txStyles>
    <p:titleStyle>
      <a:lvl1pPr algn="l" defTabSz="684530" rtl="0" eaLnBrk="1" fontAlgn="base" hangingPunct="1">
        <a:lnSpc>
          <a:spcPct val="80000"/>
        </a:lnSpc>
        <a:spcBef>
          <a:spcPct val="0"/>
        </a:spcBef>
        <a:spcAft>
          <a:spcPct val="0"/>
        </a:spcAft>
        <a:defRPr lang="en-US" sz="3200" kern="1200" dirty="0">
          <a:solidFill>
            <a:schemeClr val="accent4"/>
          </a:solidFill>
          <a:latin typeface="+mj-lt"/>
          <a:ea typeface="MS PGothic" charset="0"/>
          <a:cs typeface="CiscoSans"/>
        </a:defRPr>
      </a:lvl1pPr>
      <a:lvl2pPr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charset="0"/>
          <a:cs typeface="CiscoSans" pitchFamily="34" charset="0"/>
        </a:defRPr>
      </a:lvl2pPr>
      <a:lvl3pPr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charset="0"/>
          <a:cs typeface="CiscoSans" pitchFamily="34" charset="0"/>
        </a:defRPr>
      </a:lvl3pPr>
      <a:lvl4pPr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charset="0"/>
          <a:cs typeface="CiscoSans" pitchFamily="34" charset="0"/>
        </a:defRPr>
      </a:lvl4pPr>
      <a:lvl5pPr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charset="0"/>
          <a:cs typeface="CiscoSans" pitchFamily="34" charset="0"/>
        </a:defRPr>
      </a:lvl5pPr>
      <a:lvl6pPr marL="457200"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charset="0"/>
        </a:defRPr>
      </a:lvl6pPr>
      <a:lvl7pPr marL="914400"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charset="0"/>
        </a:defRPr>
      </a:lvl7pPr>
      <a:lvl8pPr marL="1371600"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charset="0"/>
        </a:defRPr>
      </a:lvl8pPr>
      <a:lvl9pPr marL="1828800" algn="l" defTabSz="684530" rtl="0" eaLnBrk="1" fontAlgn="base" hangingPunct="1">
        <a:lnSpc>
          <a:spcPct val="80000"/>
        </a:lnSpc>
        <a:spcBef>
          <a:spcPct val="0"/>
        </a:spcBef>
        <a:spcAft>
          <a:spcPct val="0"/>
        </a:spcAft>
        <a:defRPr sz="3200">
          <a:solidFill>
            <a:srgbClr val="676767"/>
          </a:solidFill>
          <a:latin typeface="Arial" panose="020B0604020202020204" pitchFamily="34" charset="0"/>
          <a:ea typeface="MS PGothic" charset="0"/>
        </a:defRPr>
      </a:lvl9pPr>
    </p:titleStyle>
    <p:bodyStyle>
      <a:lvl1pPr marL="170180" indent="-170180" algn="l" defTabSz="684530" rtl="0" eaLnBrk="1" fontAlgn="base" hangingPunct="1">
        <a:lnSpc>
          <a:spcPct val="95000"/>
        </a:lnSpc>
        <a:spcBef>
          <a:spcPts val="1075"/>
        </a:spcBef>
        <a:spcAft>
          <a:spcPct val="0"/>
        </a:spcAft>
        <a:buClr>
          <a:schemeClr val="tx2"/>
        </a:buClr>
        <a:buSzPct val="90000"/>
        <a:buFont typeface="Arial" panose="020B0604020202020204" pitchFamily="34" charset="0"/>
        <a:buChar char="•"/>
        <a:defRPr lang="en-US" sz="1500" kern="1200" dirty="0">
          <a:solidFill>
            <a:schemeClr val="tx1"/>
          </a:solidFill>
          <a:latin typeface="+mn-lt"/>
          <a:ea typeface="MS PGothic" charset="0"/>
          <a:cs typeface="CiscoSans"/>
        </a:defRPr>
      </a:lvl1pPr>
      <a:lvl2pPr marL="358775" indent="-215900" algn="l" defTabSz="684530" rtl="0" eaLnBrk="1" fontAlgn="base" hangingPunct="1">
        <a:lnSpc>
          <a:spcPct val="95000"/>
        </a:lnSpc>
        <a:spcBef>
          <a:spcPts val="600"/>
        </a:spcBef>
        <a:spcAft>
          <a:spcPct val="0"/>
        </a:spcAft>
        <a:buClr>
          <a:schemeClr val="tx2"/>
        </a:buClr>
        <a:buFont typeface="Arial" panose="020B0604020202020204" pitchFamily="34" charset="0"/>
        <a:buChar char="•"/>
        <a:defRPr lang="en-US" sz="1400" kern="1200" dirty="0">
          <a:solidFill>
            <a:schemeClr val="tx1"/>
          </a:solidFill>
          <a:latin typeface="+mn-lt"/>
          <a:ea typeface="MS PGothic" charset="0"/>
          <a:cs typeface="CiscoSans"/>
        </a:defRPr>
      </a:lvl2pPr>
      <a:lvl3pPr marL="431800" indent="-170180" algn="l" defTabSz="684530" rtl="0" eaLnBrk="1" fontAlgn="base" hangingPunct="1">
        <a:lnSpc>
          <a:spcPct val="95000"/>
        </a:lnSpc>
        <a:spcBef>
          <a:spcPts val="625"/>
        </a:spcBef>
        <a:spcAft>
          <a:spcPct val="0"/>
        </a:spcAft>
        <a:buFont typeface="Arial" panose="020B0604020202020204" pitchFamily="34" charset="0"/>
        <a:buChar char="•"/>
        <a:defRPr lang="en-US" sz="1200" kern="1200" dirty="0">
          <a:solidFill>
            <a:schemeClr val="tx1"/>
          </a:solidFill>
          <a:latin typeface="+mn-lt"/>
          <a:ea typeface="MS PGothic" charset="0"/>
          <a:cs typeface="CiscoSans"/>
        </a:defRPr>
      </a:lvl3pPr>
      <a:lvl4pPr marL="50355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charset="0"/>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charset="0"/>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400" kern="1200">
          <a:solidFill>
            <a:schemeClr val="tx1"/>
          </a:solidFill>
          <a:latin typeface="+mn-lt"/>
          <a:ea typeface="+mn-ea"/>
          <a:cs typeface="+mn-cs"/>
        </a:defRPr>
      </a:lvl1pPr>
      <a:lvl2pPr marL="342900" algn="l" defTabSz="685800" rtl="0" eaLnBrk="1" latinLnBrk="0" hangingPunct="1">
        <a:defRPr sz="1400" kern="1200">
          <a:solidFill>
            <a:schemeClr val="tx1"/>
          </a:solidFill>
          <a:latin typeface="+mn-lt"/>
          <a:ea typeface="+mn-ea"/>
          <a:cs typeface="+mn-cs"/>
        </a:defRPr>
      </a:lvl2pPr>
      <a:lvl3pPr marL="685800" algn="l" defTabSz="685800" rtl="0" eaLnBrk="1" latinLnBrk="0" hangingPunct="1">
        <a:defRPr sz="1400" kern="1200">
          <a:solidFill>
            <a:schemeClr val="tx1"/>
          </a:solidFill>
          <a:latin typeface="+mn-lt"/>
          <a:ea typeface="+mn-ea"/>
          <a:cs typeface="+mn-cs"/>
        </a:defRPr>
      </a:lvl3pPr>
      <a:lvl4pPr marL="1028700" algn="l" defTabSz="685800" rtl="0" eaLnBrk="1" latinLnBrk="0" hangingPunct="1">
        <a:defRPr sz="1400" kern="1200">
          <a:solidFill>
            <a:schemeClr val="tx1"/>
          </a:solidFill>
          <a:latin typeface="+mn-lt"/>
          <a:ea typeface="+mn-ea"/>
          <a:cs typeface="+mn-cs"/>
        </a:defRPr>
      </a:lvl4pPr>
      <a:lvl5pPr marL="1371600" algn="l" defTabSz="685800" rtl="0" eaLnBrk="1" latinLnBrk="0" hangingPunct="1">
        <a:defRPr sz="1400" kern="1200">
          <a:solidFill>
            <a:schemeClr val="tx1"/>
          </a:solidFill>
          <a:latin typeface="+mn-lt"/>
          <a:ea typeface="+mn-ea"/>
          <a:cs typeface="+mn-cs"/>
        </a:defRPr>
      </a:lvl5pPr>
      <a:lvl6pPr marL="1714500" algn="l" defTabSz="685800" rtl="0" eaLnBrk="1" latinLnBrk="0" hangingPunct="1">
        <a:defRPr sz="1400" kern="1200">
          <a:solidFill>
            <a:schemeClr val="tx1"/>
          </a:solidFill>
          <a:latin typeface="+mn-lt"/>
          <a:ea typeface="+mn-ea"/>
          <a:cs typeface="+mn-cs"/>
        </a:defRPr>
      </a:lvl6pPr>
      <a:lvl7pPr marL="2057400" algn="l" defTabSz="685800" rtl="0" eaLnBrk="1" latinLnBrk="0" hangingPunct="1">
        <a:defRPr sz="1400" kern="1200">
          <a:solidFill>
            <a:schemeClr val="tx1"/>
          </a:solidFill>
          <a:latin typeface="+mn-lt"/>
          <a:ea typeface="+mn-ea"/>
          <a:cs typeface="+mn-cs"/>
        </a:defRPr>
      </a:lvl7pPr>
      <a:lvl8pPr marL="2400300" algn="l" defTabSz="685800" rtl="0" eaLnBrk="1" latinLnBrk="0" hangingPunct="1">
        <a:defRPr sz="1400" kern="1200">
          <a:solidFill>
            <a:schemeClr val="tx1"/>
          </a:solidFill>
          <a:latin typeface="+mn-lt"/>
          <a:ea typeface="+mn-ea"/>
          <a:cs typeface="+mn-cs"/>
        </a:defRPr>
      </a:lvl8pPr>
      <a:lvl9pPr marL="2743200" algn="l" defTabSz="685800" rtl="0" eaLnBrk="1" latinLnBrk="0" hangingPunct="1">
        <a:defRPr sz="1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13.xml"/><Relationship Id="rId2" Type="http://schemas.openxmlformats.org/officeDocument/2006/relationships/image" Target="../media/image5.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3.xml"/><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3.xml"/><Relationship Id="rId1" Type="http://schemas.openxmlformats.org/officeDocument/2006/relationships/image" Target="../media/image7.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3.xml"/><Relationship Id="rId2" Type="http://schemas.openxmlformats.org/officeDocument/2006/relationships/image" Target="../media/image9.png"/><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3.xml"/><Relationship Id="rId2" Type="http://schemas.openxmlformats.org/officeDocument/2006/relationships/image" Target="../media/image11.png"/><Relationship Id="rId1" Type="http://schemas.openxmlformats.org/officeDocument/2006/relationships/image" Target="../media/image10.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3.xml"/><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3.xml"/><Relationship Id="rId1" Type="http://schemas.openxmlformats.org/officeDocument/2006/relationships/image" Target="../media/image15.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3.xml"/><Relationship Id="rId4" Type="http://schemas.openxmlformats.org/officeDocument/2006/relationships/image" Target="../media/image19.png"/><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3.xml"/><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3.xml"/><Relationship Id="rId1" Type="http://schemas.openxmlformats.org/officeDocument/2006/relationships/tags" Target="../tags/tag4.xml"/></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3.xml"/><Relationship Id="rId2" Type="http://schemas.openxmlformats.org/officeDocument/2006/relationships/tags" Target="../tags/tag5.xml"/><Relationship Id="rId1" Type="http://schemas.openxmlformats.org/officeDocument/2006/relationships/image" Target="../media/image21.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3.xml"/><Relationship Id="rId2" Type="http://schemas.openxmlformats.org/officeDocument/2006/relationships/tags" Target="../tags/tag6.xml"/><Relationship Id="rId1"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4.xml"/><Relationship Id="rId1" Type="http://schemas.openxmlformats.org/officeDocument/2006/relationships/tags" Target="../tags/tag7.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3.xml"/><Relationship Id="rId1" Type="http://schemas.openxmlformats.org/officeDocument/2006/relationships/image" Target="../media/image23.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3.xml"/><Relationship Id="rId1"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3.xml"/><Relationship Id="rId1" Type="http://schemas.openxmlformats.org/officeDocument/2006/relationships/image" Target="../media/image25.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3.xml"/><Relationship Id="rId1" Type="http://schemas.openxmlformats.org/officeDocument/2006/relationships/image" Target="../media/image26.png"/></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13.xml"/><Relationship Id="rId2" Type="http://schemas.openxmlformats.org/officeDocument/2006/relationships/image" Target="../media/image28.png"/><Relationship Id="rId1"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4.xml"/><Relationship Id="rId1" Type="http://schemas.openxmlformats.org/officeDocument/2006/relationships/tags" Target="../tags/tag8.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3.xml"/><Relationship Id="rId1"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3.xml"/><Relationship Id="rId1" Type="http://schemas.openxmlformats.org/officeDocument/2006/relationships/image" Target="../media/image30.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3.xml"/><Relationship Id="rId1" Type="http://schemas.openxmlformats.org/officeDocument/2006/relationships/image" Target="../media/image31.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13.xml"/><Relationship Id="rId1" Type="http://schemas.openxmlformats.org/officeDocument/2006/relationships/image" Target="../media/image3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13.xml"/><Relationship Id="rId1" Type="http://schemas.openxmlformats.org/officeDocument/2006/relationships/image" Target="../media/image33.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4.xml"/><Relationship Id="rId1" Type="http://schemas.openxmlformats.org/officeDocument/2006/relationships/tags" Target="../tags/tag10.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13.xml"/><Relationship Id="rId1" Type="http://schemas.openxmlformats.org/officeDocument/2006/relationships/image" Target="../media/image34.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13.xml"/><Relationship Id="rId1"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13.xml"/><Relationship Id="rId1"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13.xml"/><Relationship Id="rId1" Type="http://schemas.openxmlformats.org/officeDocument/2006/relationships/image" Target="../media/image27.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13.xml"/><Relationship Id="rId1" Type="http://schemas.openxmlformats.org/officeDocument/2006/relationships/image" Target="../media/image28.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4.xml"/><Relationship Id="rId1" Type="http://schemas.openxmlformats.org/officeDocument/2006/relationships/tags" Target="../tags/tag11.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13.xml"/><Relationship Id="rId1" Type="http://schemas.openxmlformats.org/officeDocument/2006/relationships/image" Target="../media/image37.png"/></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13.xml"/><Relationship Id="rId1" Type="http://schemas.openxmlformats.org/officeDocument/2006/relationships/image" Target="../media/image38.pn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46.xml"/><Relationship Id="rId2" Type="http://schemas.openxmlformats.org/officeDocument/2006/relationships/slideLayout" Target="../slideLayouts/slideLayout13.xml"/><Relationship Id="rId1" Type="http://schemas.openxmlformats.org/officeDocument/2006/relationships/image" Target="../media/image38.png"/></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13.xml"/><Relationship Id="rId1" Type="http://schemas.openxmlformats.org/officeDocument/2006/relationships/image" Target="../media/image39.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13.xml"/><Relationship Id="rId1" Type="http://schemas.openxmlformats.org/officeDocument/2006/relationships/image" Target="../media/image40.png"/></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13.xml"/><Relationship Id="rId1" Type="http://schemas.openxmlformats.org/officeDocument/2006/relationships/image" Target="../media/image41.png"/></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13.xml"/><Relationship Id="rId1"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13.xml"/><Relationship Id="rId1" Type="http://schemas.openxmlformats.org/officeDocument/2006/relationships/image" Target="../media/image42.png"/></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13.xml"/><Relationship Id="rId1" Type="http://schemas.openxmlformats.org/officeDocument/2006/relationships/image" Target="../media/image42.png"/></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13.xml"/><Relationship Id="rId1" Type="http://schemas.openxmlformats.org/officeDocument/2006/relationships/image" Target="../media/image43.pn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13.xml"/><Relationship Id="rId1" Type="http://schemas.openxmlformats.org/officeDocument/2006/relationships/image" Target="../media/image44.pn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13.xml"/><Relationship Id="rId1" Type="http://schemas.openxmlformats.org/officeDocument/2006/relationships/image" Target="../media/image45.png"/></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13.xml"/><Relationship Id="rId1" Type="http://schemas.openxmlformats.org/officeDocument/2006/relationships/image" Target="../media/image4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265" y="1631315"/>
            <a:ext cx="6642735" cy="1051560"/>
          </a:xfrm>
        </p:spPr>
        <p:txBody>
          <a:bodyPr/>
          <a:lstStyle/>
          <a:p>
            <a:pPr rtl="0"/>
            <a:r>
              <a:rPr lang="pt-BR">
                <a:solidFill>
                  <a:schemeClr val="accent5">
                    <a:lumMod val="40000"/>
                    <a:lumOff val="60000"/>
                  </a:schemeClr>
                </a:solidFill>
              </a:rPr>
              <a:t>Módulo 3: Protocolos e Modelos de Comunicação</a:t>
            </a:r>
            <a:endParaRPr lang="pt-BR">
              <a:solidFill>
                <a:schemeClr val="accent5">
                  <a:lumMod val="40000"/>
                  <a:lumOff val="60000"/>
                </a:schemeClr>
              </a:solidFill>
            </a:endParaRPr>
          </a:p>
        </p:txBody>
      </p:sp>
      <p:sp>
        <p:nvSpPr>
          <p:cNvPr id="7" name="Subtitle 6"/>
          <p:cNvSpPr>
            <a:spLocks noGrp="1"/>
          </p:cNvSpPr>
          <p:nvPr>
            <p:ph type="subTitle" idx="1"/>
          </p:nvPr>
        </p:nvSpPr>
        <p:spPr>
          <a:xfrm>
            <a:off x="469497" y="3809526"/>
            <a:ext cx="2368954" cy="902174"/>
          </a:xfrm>
        </p:spPr>
        <p:txBody>
          <a:bodyPr/>
          <a:lstStyle/>
          <a:p>
            <a:pPr rtl="0"/>
            <a:r>
              <a:rPr lang="pt-BR">
                <a:solidFill>
                  <a:schemeClr val="accent5">
                    <a:lumMod val="40000"/>
                    <a:lumOff val="60000"/>
                  </a:schemeClr>
                </a:solidFill>
              </a:rPr>
              <a:t>Introdução às redes v7.0 (ITN)</a:t>
            </a:r>
            <a:endParaRPr lang="pt-BR">
              <a:solidFill>
                <a:schemeClr val="accent5">
                  <a:lumMod val="40000"/>
                  <a:lumOff val="60000"/>
                </a:schemeClr>
              </a:solidFill>
            </a:endParaRPr>
          </a:p>
          <a:p>
            <a:pPr rtl="0"/>
            <a:r>
              <a:rPr lang="pt-BR">
                <a:solidFill>
                  <a:schemeClr val="accent5">
                    <a:lumMod val="40000"/>
                    <a:lumOff val="60000"/>
                  </a:schemeClr>
                </a:solidFill>
                <a:sym typeface="+mn-ea"/>
              </a:rPr>
              <a:t>Versão: 1.0 - 01/03/2026</a:t>
            </a:r>
            <a:endParaRPr lang="en-US" dirty="0"/>
          </a:p>
        </p:txBody>
      </p:sp>
    </p:spTree>
    <p:custDataLst>
      <p:tags r:id="rId1"/>
    </p:custData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915409"/>
            <a:ext cx="7598042" cy="1802391"/>
          </a:xfrm>
        </p:spPr>
        <p:txBody>
          <a:bodyPr/>
          <a:lstStyle/>
          <a:p>
            <a:pPr rtl="0"/>
            <a:r>
              <a:rPr lang="pt-BR">
                <a:solidFill>
                  <a:schemeClr val="accent5">
                    <a:lumMod val="40000"/>
                    <a:lumOff val="60000"/>
                  </a:schemeClr>
                </a:solidFill>
              </a:rPr>
              <a:t>3.1 - As Regras</a:t>
            </a:r>
            <a:endParaRPr lang="pt-BR">
              <a:solidFill>
                <a:schemeClr val="accent5">
                  <a:lumMod val="40000"/>
                  <a:lumOff val="60000"/>
                </a:schemeClr>
              </a:solidFill>
            </a:endParaRPr>
          </a:p>
        </p:txBody>
      </p:sp>
    </p:spTree>
    <p:custDataLst>
      <p:tags r:id="rId1"/>
    </p:custData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 </a:t>
            </a:r>
            <a:br>
              <a:rPr lang="pt-BR"/>
            </a:br>
            <a:r>
              <a:rPr lang="pt-BR"/>
              <a:t>Princípios da Comunicação</a:t>
            </a:r>
            <a:endParaRPr lang="pt-BR"/>
          </a:p>
        </p:txBody>
      </p:sp>
      <p:sp>
        <p:nvSpPr>
          <p:cNvPr id="8195" name="Rectangle 6"/>
          <p:cNvSpPr>
            <a:spLocks noGrp="1" noChangeArrowheads="1"/>
          </p:cNvSpPr>
          <p:nvPr>
            <p:ph idx="1"/>
          </p:nvPr>
        </p:nvSpPr>
        <p:spPr>
          <a:xfrm>
            <a:off x="124460" y="906145"/>
            <a:ext cx="3966845" cy="3799840"/>
          </a:xfrm>
        </p:spPr>
        <p:txBody>
          <a:bodyPr/>
          <a:lstStyle/>
          <a:p>
            <a:pPr marL="0" indent="0" rtl="0">
              <a:buNone/>
            </a:pPr>
            <a:r>
              <a:rPr lang="pt-BR" sz="1800"/>
              <a:t>As redes podem </a:t>
            </a:r>
            <a:r>
              <a:rPr lang="pt-BR" sz="1800" b="1">
                <a:solidFill>
                  <a:srgbClr val="FF0000"/>
                </a:solidFill>
              </a:rPr>
              <a:t>variar em tamanho e complexidade</a:t>
            </a:r>
            <a:r>
              <a:rPr lang="pt-BR" sz="1800"/>
              <a:t>. Não é suficiente ter uma conexão, os dispositivos devem concordar em </a:t>
            </a:r>
            <a:r>
              <a:rPr lang="pt-BR" sz="1800" b="1"/>
              <a:t>“como”</a:t>
            </a:r>
            <a:r>
              <a:rPr lang="pt-BR" sz="1800"/>
              <a:t> se comunicar.</a:t>
            </a:r>
            <a:endParaRPr lang="pt-BR" sz="1800"/>
          </a:p>
          <a:p>
            <a:pPr marL="0" indent="0" rtl="0">
              <a:buNone/>
            </a:pPr>
            <a:r>
              <a:rPr lang="pt-BR" sz="1800"/>
              <a:t>Há </a:t>
            </a:r>
            <a:r>
              <a:rPr lang="pt-BR" sz="1800" b="1">
                <a:solidFill>
                  <a:srgbClr val="FF0000"/>
                </a:solidFill>
              </a:rPr>
              <a:t>três elementos</a:t>
            </a:r>
            <a:r>
              <a:rPr lang="pt-BR" sz="1800"/>
              <a:t> para qualquer comunicação:</a:t>
            </a:r>
            <a:endParaRPr lang="pt-BR" sz="1800"/>
          </a:p>
          <a:p>
            <a:pPr lvl="1" rtl="0"/>
            <a:r>
              <a:rPr lang="pt-BR" sz="1800">
                <a:effectLst/>
              </a:rPr>
              <a:t>Haverá uma fonte </a:t>
            </a:r>
            <a:r>
              <a:rPr lang="pt-BR" sz="1800" b="1">
                <a:effectLst/>
              </a:rPr>
              <a:t>(Remetente)</a:t>
            </a:r>
            <a:r>
              <a:rPr lang="pt-BR" sz="1800">
                <a:effectLst/>
              </a:rPr>
              <a:t>.</a:t>
            </a:r>
            <a:endParaRPr lang="pt-BR" sz="1800">
              <a:effectLst/>
            </a:endParaRPr>
          </a:p>
          <a:p>
            <a:pPr lvl="1" rtl="0"/>
            <a:r>
              <a:rPr lang="pt-BR" sz="1800"/>
              <a:t>Haverá um destino </a:t>
            </a:r>
            <a:r>
              <a:rPr lang="pt-BR" sz="1800" b="1"/>
              <a:t>(Receptor)</a:t>
            </a:r>
            <a:r>
              <a:rPr lang="pt-BR" sz="1800"/>
              <a:t>.</a:t>
            </a:r>
            <a:endParaRPr lang="pt-BR" sz="1800"/>
          </a:p>
          <a:p>
            <a:pPr lvl="1" rtl="0"/>
            <a:r>
              <a:rPr lang="pt-BR" sz="1800"/>
              <a:t>Haverá um canal </a:t>
            </a:r>
            <a:r>
              <a:rPr lang="pt-BR" sz="1800" b="1"/>
              <a:t>(Mídia)</a:t>
            </a:r>
            <a:r>
              <a:rPr lang="pt-BR" sz="1800"/>
              <a:t> que prevê o caminho das comunicações para ocorrer.</a:t>
            </a:r>
            <a:endParaRPr lang="pt-BR" sz="1800"/>
          </a:p>
          <a:p>
            <a:pPr lvl="1"/>
            <a:endParaRPr lang="en-US" dirty="0">
              <a:effectLst/>
            </a:endParaRPr>
          </a:p>
        </p:txBody>
      </p:sp>
      <p:pic>
        <p:nvPicPr>
          <p:cNvPr id="2" name="Imagem 1"/>
          <p:cNvPicPr>
            <a:picLocks noChangeAspect="1"/>
          </p:cNvPicPr>
          <p:nvPr/>
        </p:nvPicPr>
        <p:blipFill>
          <a:blip r:embed="rId1">
            <a:clrChange>
              <a:clrFrom>
                <a:srgbClr val="FFFFFF">
                  <a:alpha val="100000"/>
                </a:srgbClr>
              </a:clrFrom>
              <a:clrTo>
                <a:srgbClr val="FFFFFF">
                  <a:alpha val="100000"/>
                  <a:alpha val="0"/>
                </a:srgbClr>
              </a:clrTo>
            </a:clrChange>
          </a:blip>
          <a:srcRect l="4204" t="1767" r="1562" b="2731"/>
          <a:stretch>
            <a:fillRect/>
          </a:stretch>
        </p:blipFill>
        <p:spPr>
          <a:xfrm>
            <a:off x="3888740" y="744220"/>
            <a:ext cx="5098415" cy="3864610"/>
          </a:xfrm>
          <a:prstGeom prst="rect">
            <a:avLst/>
          </a:prstGeom>
        </p:spPr>
      </p:pic>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a:t>
            </a:r>
            <a:br>
              <a:rPr lang="pt-BR" sz="1600"/>
            </a:br>
            <a:r>
              <a:rPr lang="pt-BR"/>
              <a:t>Protocolos de Comunicações</a:t>
            </a:r>
            <a:endParaRPr lang="pt-BR"/>
          </a:p>
        </p:txBody>
      </p:sp>
      <p:sp>
        <p:nvSpPr>
          <p:cNvPr id="8195" name="Rectangle 6"/>
          <p:cNvSpPr>
            <a:spLocks noGrp="1" noChangeArrowheads="1"/>
          </p:cNvSpPr>
          <p:nvPr>
            <p:ph idx="1"/>
          </p:nvPr>
        </p:nvSpPr>
        <p:spPr>
          <a:xfrm>
            <a:off x="73809" y="741673"/>
            <a:ext cx="8853286" cy="1267235"/>
          </a:xfrm>
        </p:spPr>
        <p:txBody>
          <a:bodyPr/>
          <a:lstStyle/>
          <a:p>
            <a:pPr rtl="0">
              <a:buFont typeface="Arial" panose="020B0604020202020204" pitchFamily="34" charset="0"/>
              <a:buChar char="•"/>
            </a:pPr>
            <a:r>
              <a:rPr lang="pt-BR" sz="2000"/>
              <a:t>Todas as comunicações são </a:t>
            </a:r>
            <a:r>
              <a:rPr lang="pt-BR" sz="2000" b="1">
                <a:solidFill>
                  <a:srgbClr val="FF0000"/>
                </a:solidFill>
              </a:rPr>
              <a:t>Regidas por Protocolos</a:t>
            </a:r>
            <a:r>
              <a:rPr lang="pt-BR" sz="2000"/>
              <a:t>.</a:t>
            </a:r>
            <a:endParaRPr lang="pt-BR" sz="2000"/>
          </a:p>
          <a:p>
            <a:pPr rtl="0">
              <a:buFont typeface="Arial" panose="020B0604020202020204" pitchFamily="34" charset="0"/>
              <a:buChar char="•"/>
            </a:pPr>
            <a:r>
              <a:rPr lang="pt-BR" sz="2000" b="1">
                <a:solidFill>
                  <a:srgbClr val="FF0000"/>
                </a:solidFill>
              </a:rPr>
              <a:t>Protocolos são as Regras</a:t>
            </a:r>
            <a:r>
              <a:rPr lang="pt-BR" sz="2000"/>
              <a:t> que as comunicações seguirão.</a:t>
            </a:r>
            <a:endParaRPr lang="pt-BR" sz="2000"/>
          </a:p>
          <a:p>
            <a:pPr rtl="0">
              <a:buFont typeface="Arial" panose="020B0604020202020204" pitchFamily="34" charset="0"/>
              <a:buChar char="•"/>
            </a:pPr>
            <a:r>
              <a:rPr lang="pt-BR" sz="2000"/>
              <a:t>Essas regras </a:t>
            </a:r>
            <a:r>
              <a:rPr lang="pt-BR" sz="2000" b="1">
                <a:solidFill>
                  <a:srgbClr val="FF0000"/>
                </a:solidFill>
              </a:rPr>
              <a:t>variam de acordo com o protocolo</a:t>
            </a:r>
            <a:r>
              <a:rPr lang="pt-BR" sz="2000"/>
              <a:t>.</a:t>
            </a:r>
            <a:endParaRPr lang="pt-BR" sz="2000"/>
          </a:p>
        </p:txBody>
      </p:sp>
      <p:pic>
        <p:nvPicPr>
          <p:cNvPr id="2" name="Imagem 1"/>
          <p:cNvPicPr>
            <a:picLocks noChangeAspect="1"/>
          </p:cNvPicPr>
          <p:nvPr/>
        </p:nvPicPr>
        <p:blipFill>
          <a:blip r:embed="rId1">
            <a:clrChange>
              <a:clrFrom>
                <a:srgbClr val="FFFFFF">
                  <a:alpha val="100000"/>
                </a:srgbClr>
              </a:clrFrom>
              <a:clrTo>
                <a:srgbClr val="FFFFFF">
                  <a:alpha val="100000"/>
                  <a:alpha val="0"/>
                </a:srgbClr>
              </a:clrTo>
            </a:clrChange>
          </a:blip>
          <a:srcRect l="48372" t="38574" r="17125" b="23426"/>
          <a:stretch>
            <a:fillRect/>
          </a:stretch>
        </p:blipFill>
        <p:spPr>
          <a:xfrm>
            <a:off x="73660" y="2167255"/>
            <a:ext cx="4542790" cy="2814955"/>
          </a:xfrm>
          <a:prstGeom prst="rect">
            <a:avLst/>
          </a:prstGeom>
        </p:spPr>
      </p:pic>
      <p:pic>
        <p:nvPicPr>
          <p:cNvPr id="3" name="Imagem 2"/>
          <p:cNvPicPr>
            <a:picLocks noChangeAspect="1"/>
          </p:cNvPicPr>
          <p:nvPr/>
        </p:nvPicPr>
        <p:blipFill>
          <a:blip r:embed="rId2"/>
          <a:srcRect l="48372" t="40957" r="17122" b="25117"/>
          <a:stretch>
            <a:fillRect/>
          </a:stretch>
        </p:blipFill>
        <p:spPr>
          <a:xfrm>
            <a:off x="4589145" y="2167255"/>
            <a:ext cx="4465955" cy="2470150"/>
          </a:xfrm>
          <a:prstGeom prst="rect">
            <a:avLst/>
          </a:prstGeom>
        </p:spPr>
      </p:pic>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 </a:t>
            </a:r>
            <a:br>
              <a:rPr lang="pt-BR" sz="1600"/>
            </a:br>
            <a:r>
              <a:rPr lang="pt-BR"/>
              <a:t>Estabelecimento de Regras</a:t>
            </a:r>
            <a:endParaRPr lang="pt-BR"/>
          </a:p>
        </p:txBody>
      </p:sp>
      <p:sp>
        <p:nvSpPr>
          <p:cNvPr id="8195" name="Rectangle 6"/>
          <p:cNvSpPr>
            <a:spLocks noGrp="1" noChangeArrowheads="1"/>
          </p:cNvSpPr>
          <p:nvPr>
            <p:ph idx="1"/>
          </p:nvPr>
        </p:nvSpPr>
        <p:spPr>
          <a:xfrm>
            <a:off x="0" y="798830"/>
            <a:ext cx="9144635" cy="991870"/>
          </a:xfrm>
        </p:spPr>
        <p:txBody>
          <a:bodyPr/>
          <a:lstStyle/>
          <a:p>
            <a:pPr algn="just" rtl="0">
              <a:buFont typeface="Arial" panose="020B0604020202020204" pitchFamily="34" charset="0"/>
              <a:buChar char="•"/>
            </a:pPr>
            <a:r>
              <a:rPr lang="pt-BR" sz="1600"/>
              <a:t>Os indivíduos devem </a:t>
            </a:r>
            <a:r>
              <a:rPr lang="pt-BR" sz="1600" b="1">
                <a:solidFill>
                  <a:srgbClr val="FF0000"/>
                </a:solidFill>
              </a:rPr>
              <a:t>usar regras ou acordos</a:t>
            </a:r>
            <a:r>
              <a:rPr lang="pt-BR" sz="1600"/>
              <a:t> estabelecidos para governar a conversa.</a:t>
            </a:r>
            <a:endParaRPr lang="pt-BR" sz="1600"/>
          </a:p>
          <a:p>
            <a:pPr algn="just" rtl="0">
              <a:buFont typeface="Arial" panose="020B0604020202020204" pitchFamily="34" charset="0"/>
              <a:buChar char="•"/>
            </a:pPr>
            <a:r>
              <a:rPr lang="pt-BR" sz="1600"/>
              <a:t>A </a:t>
            </a:r>
            <a:r>
              <a:rPr lang="pt-BR" sz="1600" b="1">
                <a:solidFill>
                  <a:srgbClr val="FF0000"/>
                </a:solidFill>
              </a:rPr>
              <a:t>primeira mensagem é difícil de ler</a:t>
            </a:r>
            <a:r>
              <a:rPr lang="pt-BR" sz="1600"/>
              <a:t> porque não está formatada corretamente. A segunda mostra a mensagem formatada corretamente</a:t>
            </a:r>
            <a:endParaRPr lang="pt-BR" sz="1600"/>
          </a:p>
        </p:txBody>
      </p:sp>
      <p:graphicFrame>
        <p:nvGraphicFramePr>
          <p:cNvPr id="4" name="Tabela 3"/>
          <p:cNvGraphicFramePr/>
          <p:nvPr/>
        </p:nvGraphicFramePr>
        <p:xfrm>
          <a:off x="107950" y="1790700"/>
          <a:ext cx="8902065" cy="2834640"/>
        </p:xfrm>
        <a:graphic>
          <a:graphicData uri="http://schemas.openxmlformats.org/drawingml/2006/table">
            <a:tbl>
              <a:tblPr firstRow="1" bandRow="1">
                <a:tableStyleId>{5C22544A-7EE6-4342-B048-85BDC9FD1C3A}</a:tableStyleId>
              </a:tblPr>
              <a:tblGrid>
                <a:gridCol w="1859280"/>
                <a:gridCol w="3515360"/>
                <a:gridCol w="3527425"/>
              </a:tblGrid>
              <a:tr h="117475">
                <a:tc>
                  <a:txBody>
                    <a:bodyPr/>
                    <a:p>
                      <a:pPr algn="ctr">
                        <a:buNone/>
                      </a:pPr>
                      <a:r>
                        <a:rPr lang="pt-BR" altLang="en-US"/>
                        <a:t>Regra</a:t>
                      </a:r>
                      <a:endParaRPr lang="pt-BR" altLang="en-US"/>
                    </a:p>
                  </a:txBody>
                  <a:tcPr anchor="ctr" anchorCtr="0"/>
                </a:tc>
                <a:tc>
                  <a:txBody>
                    <a:bodyPr/>
                    <a:p>
                      <a:pPr algn="ctr">
                        <a:buNone/>
                      </a:pPr>
                      <a:r>
                        <a:rPr lang="pt-BR" altLang="en-US"/>
                        <a:t>Inglês</a:t>
                      </a:r>
                      <a:endParaRPr lang="pt-BR" altLang="en-US"/>
                    </a:p>
                  </a:txBody>
                  <a:tcPr anchor="ctr" anchorCtr="0"/>
                </a:tc>
                <a:tc>
                  <a:txBody>
                    <a:bodyPr/>
                    <a:p>
                      <a:pPr algn="ctr">
                        <a:buNone/>
                      </a:pPr>
                      <a:r>
                        <a:rPr lang="pt-BR" altLang="en-US"/>
                        <a:t>Potuguês</a:t>
                      </a:r>
                      <a:endParaRPr lang="pt-BR" altLang="en-US"/>
                    </a:p>
                  </a:txBody>
                  <a:tcPr anchor="ctr" anchorCtr="0"/>
                </a:tc>
              </a:tr>
              <a:tr h="329565">
                <a:tc>
                  <a:txBody>
                    <a:bodyPr/>
                    <a:p>
                      <a:pPr algn="ctr">
                        <a:buNone/>
                      </a:pPr>
                      <a:r>
                        <a:rPr lang="pt-BR" altLang="en-US" sz="2000" b="1">
                          <a:solidFill>
                            <a:srgbClr val="FF0000"/>
                          </a:solidFill>
                        </a:rPr>
                        <a:t>Comunicação</a:t>
                      </a:r>
                      <a:endParaRPr lang="pt-BR" altLang="en-US" sz="2000" b="1">
                        <a:solidFill>
                          <a:srgbClr val="FF0000"/>
                        </a:solidFill>
                      </a:endParaRPr>
                    </a:p>
                  </a:txBody>
                  <a:tcPr anchor="ctr" anchorCtr="0"/>
                </a:tc>
                <a:tc>
                  <a:txBody>
                    <a:bodyPr/>
                    <a:p>
                      <a:pPr algn="ctr">
                        <a:buNone/>
                      </a:pPr>
                      <a:r>
                        <a:rPr lang="pt-BR" altLang="en-US" sz="1100"/>
                        <a:t>Human communication is governed by rules it is very difficult to understand messages that are not properly formatted and that do not follow established rules and protocols the structure of grammar language punctuation and sentence construction makes human communication understandable to many different individuals.</a:t>
                      </a:r>
                      <a:endParaRPr lang="pt-BR" altLang="en-US" sz="1100"/>
                    </a:p>
                  </a:txBody>
                  <a:tcPr anchor="ctr" anchorCtr="0"/>
                </a:tc>
                <a:tc>
                  <a:txBody>
                    <a:bodyPr/>
                    <a:p>
                      <a:pPr algn="ctr">
                        <a:buNone/>
                      </a:pPr>
                      <a:r>
                        <a:rPr lang="pt-BR" altLang="en-US" sz="1100"/>
                        <a:t>A comunicação humana é regida por regras é muito difícil entender mensagens que não estão corretamente formatadas e que não seguem as regras e protocolos estabelecidos a estrutura da gramática da língua da pontuação e das frases torna a comunicação humana compreensível para muitos indivíduos diferentes.</a:t>
                      </a:r>
                      <a:endParaRPr lang="pt-BR" altLang="en-US" sz="1100"/>
                    </a:p>
                  </a:txBody>
                  <a:tcPr anchor="ctr" anchorCtr="0"/>
                </a:tc>
              </a:tr>
              <a:tr h="452120">
                <a:tc>
                  <a:txBody>
                    <a:bodyPr/>
                    <a:p>
                      <a:pPr algn="ctr">
                        <a:buNone/>
                      </a:pPr>
                      <a:r>
                        <a:rPr lang="pt-BR" altLang="en-US" sz="2000" b="1">
                          <a:solidFill>
                            <a:srgbClr val="00B050"/>
                          </a:solidFill>
                        </a:rPr>
                        <a:t>Regras e</a:t>
                      </a:r>
                      <a:endParaRPr lang="pt-BR" altLang="en-US" sz="2000" b="1">
                        <a:solidFill>
                          <a:srgbClr val="00B050"/>
                        </a:solidFill>
                      </a:endParaRPr>
                    </a:p>
                    <a:p>
                      <a:pPr algn="ctr">
                        <a:buNone/>
                      </a:pPr>
                      <a:r>
                        <a:rPr lang="pt-BR" altLang="en-US" sz="2000" b="1">
                          <a:solidFill>
                            <a:srgbClr val="00B050"/>
                          </a:solidFill>
                        </a:rPr>
                        <a:t>Acordos</a:t>
                      </a:r>
                      <a:endParaRPr lang="pt-BR" altLang="en-US" sz="2000" b="1">
                        <a:solidFill>
                          <a:srgbClr val="00B050"/>
                        </a:solidFill>
                      </a:endParaRPr>
                    </a:p>
                  </a:txBody>
                  <a:tcPr anchor="ctr" anchorCtr="0"/>
                </a:tc>
                <a:tc>
                  <a:txBody>
                    <a:bodyPr/>
                    <a:p>
                      <a:pPr algn="ctr">
                        <a:buNone/>
                      </a:pPr>
                      <a:r>
                        <a:rPr lang="pt-BR" altLang="en-US" sz="1100"/>
                        <a:t>Rules govern communication between humans. It is very difficult to understand messages that are not correctly formatted and do not follow established rules and protocols. The structure of grammar, language, punctuation, and sentences makes communication humanly understandable to many different individuals.</a:t>
                      </a:r>
                      <a:endParaRPr lang="pt-BR" altLang="en-US" sz="1100"/>
                    </a:p>
                  </a:txBody>
                  <a:tcPr anchor="ctr" anchorCtr="0"/>
                </a:tc>
                <a:tc>
                  <a:txBody>
                    <a:bodyPr/>
                    <a:p>
                      <a:pPr algn="ctr">
                        <a:buNone/>
                      </a:pPr>
                      <a:r>
                        <a:rPr lang="pt-BR" altLang="en-US" sz="1100"/>
                        <a:t>As regras governam a comunicação entre os seres humanos. É muito difícil entender mensagens que não estão corretamente formatadas e que não seguem as regras e protocolos estabelecidos. A estrutura da gramática, da linguagem, da pontuação e das frases torna a comunicação humana compreensível para muitos indivíduos diferentes.</a:t>
                      </a:r>
                      <a:endParaRPr lang="pt-BR" altLang="en-US" sz="1100"/>
                    </a:p>
                  </a:txBody>
                  <a:tcPr anchor="ctr" anchorCtr="0"/>
                </a:tc>
              </a:tr>
            </a:tbl>
          </a:graphicData>
        </a:graphic>
      </p:graphicFrame>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 </a:t>
            </a:r>
            <a:br>
              <a:rPr lang="en-US" altLang="en-US" dirty="0"/>
            </a:br>
            <a:r>
              <a:rPr lang="pt-BR"/>
              <a:t>Estabelecimento de Regras (Continuação)</a:t>
            </a:r>
            <a:endParaRPr lang="pt-BR"/>
          </a:p>
        </p:txBody>
      </p:sp>
      <p:sp>
        <p:nvSpPr>
          <p:cNvPr id="8195" name="Rectangle 6"/>
          <p:cNvSpPr>
            <a:spLocks noGrp="1" noChangeArrowheads="1"/>
          </p:cNvSpPr>
          <p:nvPr>
            <p:ph idx="1"/>
          </p:nvPr>
        </p:nvSpPr>
        <p:spPr>
          <a:xfrm>
            <a:off x="100965" y="858520"/>
            <a:ext cx="4081780" cy="3821430"/>
          </a:xfrm>
        </p:spPr>
        <p:txBody>
          <a:bodyPr/>
          <a:lstStyle/>
          <a:p>
            <a:pPr marL="0" indent="0" algn="just" rtl="0">
              <a:buNone/>
            </a:pPr>
            <a:r>
              <a:rPr lang="pt-BR" sz="2100"/>
              <a:t>Os </a:t>
            </a:r>
            <a:r>
              <a:rPr lang="pt-BR" sz="2100" b="1">
                <a:solidFill>
                  <a:srgbClr val="FF0000"/>
                </a:solidFill>
              </a:rPr>
              <a:t>protocolos</a:t>
            </a:r>
            <a:r>
              <a:rPr lang="pt-BR" sz="2100"/>
              <a:t> devem ser considerados para os seguintes requisitos:</a:t>
            </a:r>
            <a:endParaRPr lang="pt-BR" sz="2100"/>
          </a:p>
          <a:p>
            <a:pPr lvl="1" algn="just" rtl="0"/>
            <a:r>
              <a:rPr lang="pt-BR" sz="2100"/>
              <a:t>Um </a:t>
            </a:r>
            <a:r>
              <a:rPr lang="pt-BR" sz="2100" b="1"/>
              <a:t>emissor</a:t>
            </a:r>
            <a:r>
              <a:rPr lang="pt-BR" sz="2100"/>
              <a:t> e um </a:t>
            </a:r>
            <a:r>
              <a:rPr lang="pt-BR" sz="2100" b="1"/>
              <a:t>receptor </a:t>
            </a:r>
            <a:r>
              <a:rPr lang="pt-BR" sz="2100"/>
              <a:t>identificados</a:t>
            </a:r>
            <a:endParaRPr lang="pt-BR" sz="2100"/>
          </a:p>
          <a:p>
            <a:pPr lvl="1" algn="just" rtl="0"/>
            <a:r>
              <a:rPr lang="pt-BR" sz="2100"/>
              <a:t>Língua e gramática </a:t>
            </a:r>
            <a:r>
              <a:rPr lang="pt-BR" sz="2100" b="1"/>
              <a:t>comum</a:t>
            </a:r>
            <a:endParaRPr lang="pt-BR" sz="2100"/>
          </a:p>
          <a:p>
            <a:pPr lvl="1" algn="just" rtl="0"/>
            <a:r>
              <a:rPr lang="pt-BR" sz="2100" b="1"/>
              <a:t>Velocidade </a:t>
            </a:r>
            <a:r>
              <a:rPr lang="pt-BR" sz="2100"/>
              <a:t>e </a:t>
            </a:r>
            <a:r>
              <a:rPr lang="pt-BR" sz="2100" b="1"/>
              <a:t>ritmo </a:t>
            </a:r>
            <a:r>
              <a:rPr lang="pt-BR" sz="2100"/>
              <a:t>de transmissão</a:t>
            </a:r>
            <a:endParaRPr lang="pt-BR" sz="2100"/>
          </a:p>
          <a:p>
            <a:pPr lvl="1" algn="just" rtl="0"/>
            <a:r>
              <a:rPr lang="pt-BR" sz="2100"/>
              <a:t>Requisitos de </a:t>
            </a:r>
            <a:r>
              <a:rPr lang="pt-BR" sz="2100" b="1"/>
              <a:t>confirmação </a:t>
            </a:r>
            <a:r>
              <a:rPr lang="pt-BR" sz="2100"/>
              <a:t>ou </a:t>
            </a:r>
            <a:r>
              <a:rPr lang="pt-BR" sz="2100" b="1"/>
              <a:t>recepção</a:t>
            </a:r>
            <a:endParaRPr lang="pt-BR" sz="2100"/>
          </a:p>
          <a:p>
            <a:pPr lvl="1" algn="just" rtl="0"/>
            <a:endParaRPr lang="en-US" sz="2100" dirty="0"/>
          </a:p>
        </p:txBody>
      </p:sp>
      <p:pic>
        <p:nvPicPr>
          <p:cNvPr id="2" name="Imagem 1"/>
          <p:cNvPicPr>
            <a:picLocks noChangeAspect="1"/>
          </p:cNvPicPr>
          <p:nvPr/>
        </p:nvPicPr>
        <p:blipFill>
          <a:blip r:embed="rId1">
            <a:clrChange>
              <a:clrFrom>
                <a:srgbClr val="FFFFFF">
                  <a:alpha val="100000"/>
                </a:srgbClr>
              </a:clrFrom>
              <a:clrTo>
                <a:srgbClr val="FFFFFF">
                  <a:alpha val="100000"/>
                  <a:alpha val="0"/>
                </a:srgbClr>
              </a:clrTo>
            </a:clrChange>
          </a:blip>
          <a:srcRect l="4865" t="3866" r="4730" b="4042"/>
          <a:stretch>
            <a:fillRect/>
          </a:stretch>
        </p:blipFill>
        <p:spPr>
          <a:xfrm>
            <a:off x="4116070" y="798830"/>
            <a:ext cx="4918710" cy="3852545"/>
          </a:xfrm>
          <a:prstGeom prst="rect">
            <a:avLst/>
          </a:prstGeom>
        </p:spPr>
      </p:pic>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a:t>
            </a:r>
            <a:br>
              <a:rPr lang="pt-BR" sz="1600"/>
            </a:br>
            <a:r>
              <a:rPr lang="pt-BR"/>
              <a:t>Requisitos dos Protocolo de Rede</a:t>
            </a:r>
            <a:endParaRPr lang="pt-BR" sz="1600"/>
          </a:p>
        </p:txBody>
      </p:sp>
      <p:sp>
        <p:nvSpPr>
          <p:cNvPr id="8195" name="Rectangle 6"/>
          <p:cNvSpPr>
            <a:spLocks noGrp="1" noChangeArrowheads="1"/>
          </p:cNvSpPr>
          <p:nvPr>
            <p:ph idx="1"/>
          </p:nvPr>
        </p:nvSpPr>
        <p:spPr>
          <a:xfrm>
            <a:off x="93980" y="798830"/>
            <a:ext cx="4410075" cy="3716020"/>
          </a:xfrm>
        </p:spPr>
        <p:txBody>
          <a:bodyPr/>
          <a:lstStyle/>
          <a:p>
            <a:pPr marL="0" indent="0" algn="just" rtl="0">
              <a:buNone/>
            </a:pPr>
            <a:r>
              <a:rPr lang="pt-BR" sz="2100" b="1">
                <a:solidFill>
                  <a:srgbClr val="FF0000"/>
                </a:solidFill>
              </a:rPr>
              <a:t>Protocolos de Computador Comuns</a:t>
            </a:r>
            <a:r>
              <a:rPr lang="pt-BR" sz="2100"/>
              <a:t> devem estar de acordo e incluir os seguintes requisitos: </a:t>
            </a:r>
            <a:endParaRPr lang="pt-BR" sz="2100"/>
          </a:p>
          <a:p>
            <a:pPr lvl="1" algn="just" rtl="0"/>
            <a:r>
              <a:rPr lang="pt-BR" sz="2000" b="1">
                <a:solidFill>
                  <a:srgbClr val="0070C0"/>
                </a:solidFill>
              </a:rPr>
              <a:t>Codificação </a:t>
            </a:r>
            <a:r>
              <a:rPr lang="pt-BR" sz="2000" b="1"/>
              <a:t>de mensagens</a:t>
            </a:r>
            <a:endParaRPr lang="pt-BR" sz="2000" b="1"/>
          </a:p>
          <a:p>
            <a:pPr lvl="1" algn="just" rtl="0"/>
            <a:r>
              <a:rPr lang="pt-BR" sz="2000" b="1">
                <a:solidFill>
                  <a:srgbClr val="0070C0"/>
                </a:solidFill>
              </a:rPr>
              <a:t>Formatação </a:t>
            </a:r>
            <a:r>
              <a:rPr lang="pt-BR" sz="2000" b="1"/>
              <a:t>e </a:t>
            </a:r>
            <a:r>
              <a:rPr lang="pt-BR" sz="2000" b="1">
                <a:solidFill>
                  <a:srgbClr val="0070C0"/>
                </a:solidFill>
              </a:rPr>
              <a:t>Encapsulamento </a:t>
            </a:r>
            <a:r>
              <a:rPr lang="pt-BR" sz="2000" b="1"/>
              <a:t>de mensagens</a:t>
            </a:r>
            <a:endParaRPr lang="pt-BR" sz="2000" b="1"/>
          </a:p>
          <a:p>
            <a:pPr lvl="1" algn="just" rtl="0"/>
            <a:r>
              <a:rPr lang="pt-BR" sz="2000" b="1">
                <a:solidFill>
                  <a:srgbClr val="0070C0"/>
                </a:solidFill>
              </a:rPr>
              <a:t>Tamanho </a:t>
            </a:r>
            <a:r>
              <a:rPr lang="pt-BR" sz="2000" b="1"/>
              <a:t>da Mensagem</a:t>
            </a:r>
            <a:endParaRPr lang="pt-BR" sz="2000" b="1"/>
          </a:p>
          <a:p>
            <a:pPr lvl="1" algn="just" rtl="0"/>
            <a:r>
              <a:rPr lang="pt-BR" sz="2000" b="1">
                <a:solidFill>
                  <a:srgbClr val="0070C0"/>
                </a:solidFill>
              </a:rPr>
              <a:t>Tempo </a:t>
            </a:r>
            <a:r>
              <a:rPr lang="pt-BR" sz="2000" b="1"/>
              <a:t>da mensagem</a:t>
            </a:r>
            <a:endParaRPr lang="pt-BR" sz="2000" b="1"/>
          </a:p>
          <a:p>
            <a:pPr lvl="1" algn="just" rtl="0"/>
            <a:r>
              <a:rPr lang="pt-BR" sz="2000" b="1"/>
              <a:t>Opções de </a:t>
            </a:r>
            <a:r>
              <a:rPr lang="pt-BR" sz="2000" b="1">
                <a:solidFill>
                  <a:srgbClr val="0070C0"/>
                </a:solidFill>
              </a:rPr>
              <a:t>Envio </a:t>
            </a:r>
            <a:r>
              <a:rPr lang="pt-BR" sz="2000" b="1"/>
              <a:t>de mensagem</a:t>
            </a:r>
            <a:endParaRPr lang="en-US" sz="2000" b="1" dirty="0"/>
          </a:p>
        </p:txBody>
      </p:sp>
      <p:pic>
        <p:nvPicPr>
          <p:cNvPr id="2" name="Imagem 1"/>
          <p:cNvPicPr>
            <a:picLocks noChangeAspect="1"/>
          </p:cNvPicPr>
          <p:nvPr/>
        </p:nvPicPr>
        <p:blipFill>
          <a:blip r:embed="rId1">
            <a:clrChange>
              <a:clrFrom>
                <a:srgbClr val="F9F9F9">
                  <a:alpha val="100000"/>
                </a:srgbClr>
              </a:clrFrom>
              <a:clrTo>
                <a:srgbClr val="F9F9F9">
                  <a:alpha val="100000"/>
                  <a:alpha val="0"/>
                </a:srgbClr>
              </a:clrTo>
            </a:clrChange>
          </a:blip>
          <a:srcRect l="26042" t="10556" r="26042" b="10185"/>
          <a:stretch>
            <a:fillRect/>
          </a:stretch>
        </p:blipFill>
        <p:spPr>
          <a:xfrm>
            <a:off x="4504055" y="635000"/>
            <a:ext cx="4488815" cy="4030980"/>
          </a:xfrm>
          <a:prstGeom prst="rect">
            <a:avLst/>
          </a:prstGeom>
        </p:spPr>
      </p:pic>
    </p:spTree>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 </a:t>
            </a:r>
            <a:br>
              <a:rPr lang="pt-BR"/>
            </a:br>
            <a:r>
              <a:rPr lang="pt-BR"/>
              <a:t>Codificação da Mensagem</a:t>
            </a:r>
            <a:endParaRPr lang="pt-BR"/>
          </a:p>
        </p:txBody>
      </p:sp>
      <p:sp>
        <p:nvSpPr>
          <p:cNvPr id="8195" name="Rectangle 6"/>
          <p:cNvSpPr>
            <a:spLocks noGrp="1" noChangeArrowheads="1"/>
          </p:cNvSpPr>
          <p:nvPr>
            <p:ph idx="1"/>
          </p:nvPr>
        </p:nvSpPr>
        <p:spPr>
          <a:xfrm>
            <a:off x="83820" y="798830"/>
            <a:ext cx="8853170" cy="1439545"/>
          </a:xfrm>
        </p:spPr>
        <p:txBody>
          <a:bodyPr/>
          <a:lstStyle/>
          <a:p>
            <a:pPr algn="just" rtl="0">
              <a:buFont typeface="Arial" panose="020B0604020202020204" pitchFamily="34" charset="0"/>
              <a:buChar char="•"/>
            </a:pPr>
            <a:r>
              <a:rPr lang="pt-BR" sz="2000"/>
              <a:t>A </a:t>
            </a:r>
            <a:r>
              <a:rPr lang="pt-BR" sz="2000" b="1">
                <a:solidFill>
                  <a:srgbClr val="FF0000"/>
                </a:solidFill>
              </a:rPr>
              <a:t>Codificação</a:t>
            </a:r>
            <a:r>
              <a:rPr lang="pt-BR" sz="2000"/>
              <a:t> é o processo de </a:t>
            </a:r>
            <a:r>
              <a:rPr lang="pt-BR" sz="2000" b="1"/>
              <a:t>Conversão de Informações</a:t>
            </a:r>
            <a:r>
              <a:rPr lang="pt-BR" sz="2000"/>
              <a:t> em outra forma </a:t>
            </a:r>
            <a:r>
              <a:rPr lang="pt-BR" sz="2000" b="1">
                <a:solidFill>
                  <a:srgbClr val="FF0000"/>
                </a:solidFill>
              </a:rPr>
              <a:t>aceitável</a:t>
            </a:r>
            <a:r>
              <a:rPr lang="pt-BR" sz="2000"/>
              <a:t> para a transmissão. </a:t>
            </a:r>
            <a:endParaRPr lang="pt-BR" sz="2000"/>
          </a:p>
          <a:p>
            <a:pPr algn="just" rtl="0">
              <a:buFont typeface="Arial" panose="020B0604020202020204" pitchFamily="34" charset="0"/>
              <a:buChar char="•"/>
            </a:pPr>
            <a:r>
              <a:rPr lang="pt-BR" sz="2000"/>
              <a:t>A </a:t>
            </a:r>
            <a:r>
              <a:rPr lang="pt-BR" sz="2000" b="1">
                <a:solidFill>
                  <a:srgbClr val="FF0000"/>
                </a:solidFill>
              </a:rPr>
              <a:t>Decodificação</a:t>
            </a:r>
            <a:r>
              <a:rPr lang="pt-BR" sz="2000"/>
              <a:t> reverte esse processo para</a:t>
            </a:r>
            <a:r>
              <a:rPr lang="pt-BR" sz="2000" b="1"/>
              <a:t> interpretar</a:t>
            </a:r>
            <a:r>
              <a:rPr lang="pt-BR" sz="2000"/>
              <a:t> como as informações foram </a:t>
            </a:r>
            <a:r>
              <a:rPr lang="pt-BR" sz="2000" b="1"/>
              <a:t>transmitidas</a:t>
            </a:r>
            <a:r>
              <a:rPr lang="pt-BR" sz="2000"/>
              <a:t>. </a:t>
            </a:r>
            <a:endParaRPr lang="pt-BR" sz="2000"/>
          </a:p>
        </p:txBody>
      </p:sp>
      <p:pic>
        <p:nvPicPr>
          <p:cNvPr id="2" name="Imagem 1"/>
          <p:cNvPicPr>
            <a:picLocks noChangeAspect="1"/>
          </p:cNvPicPr>
          <p:nvPr/>
        </p:nvPicPr>
        <p:blipFill>
          <a:blip r:embed="rId1">
            <a:clrChange>
              <a:clrFrom>
                <a:srgbClr val="FFFFFF">
                  <a:alpha val="100000"/>
                </a:srgbClr>
              </a:clrFrom>
              <a:clrTo>
                <a:srgbClr val="FFFFFF">
                  <a:alpha val="100000"/>
                  <a:alpha val="0"/>
                </a:srgbClr>
              </a:clrTo>
            </a:clrChange>
          </a:blip>
          <a:srcRect l="51135" t="51340" r="22965" b="17815"/>
          <a:stretch>
            <a:fillRect/>
          </a:stretch>
        </p:blipFill>
        <p:spPr>
          <a:xfrm>
            <a:off x="344170" y="2238375"/>
            <a:ext cx="3986530" cy="2670810"/>
          </a:xfrm>
          <a:prstGeom prst="rect">
            <a:avLst/>
          </a:prstGeom>
        </p:spPr>
      </p:pic>
      <p:pic>
        <p:nvPicPr>
          <p:cNvPr id="3" name="Imagem 2"/>
          <p:cNvPicPr>
            <a:picLocks noChangeAspect="1"/>
          </p:cNvPicPr>
          <p:nvPr/>
        </p:nvPicPr>
        <p:blipFill>
          <a:blip r:embed="rId2">
            <a:clrChange>
              <a:clrFrom>
                <a:srgbClr val="FFFFFF">
                  <a:alpha val="100000"/>
                </a:srgbClr>
              </a:clrFrom>
              <a:clrTo>
                <a:srgbClr val="FFFFFF">
                  <a:alpha val="100000"/>
                  <a:alpha val="0"/>
                </a:srgbClr>
              </a:clrTo>
            </a:clrChange>
          </a:blip>
          <a:srcRect l="51608" t="49938" r="22410" b="24827"/>
          <a:stretch>
            <a:fillRect/>
          </a:stretch>
        </p:blipFill>
        <p:spPr>
          <a:xfrm>
            <a:off x="4415155" y="2238375"/>
            <a:ext cx="4521835" cy="2470150"/>
          </a:xfrm>
          <a:prstGeom prst="rect">
            <a:avLst/>
          </a:prstGeom>
        </p:spPr>
      </p:pic>
    </p:spTree>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 </a:t>
            </a:r>
            <a:br>
              <a:rPr lang="pt-BR"/>
            </a:br>
            <a:r>
              <a:rPr lang="pt-BR"/>
              <a:t>Formatação e Encapsulamento da Mensagem</a:t>
            </a:r>
            <a:endParaRPr lang="pt-BR"/>
          </a:p>
        </p:txBody>
      </p:sp>
      <p:sp>
        <p:nvSpPr>
          <p:cNvPr id="8195" name="Rectangle 6"/>
          <p:cNvSpPr>
            <a:spLocks noGrp="1" noChangeArrowheads="1"/>
          </p:cNvSpPr>
          <p:nvPr>
            <p:ph idx="1"/>
          </p:nvPr>
        </p:nvSpPr>
        <p:spPr>
          <a:xfrm>
            <a:off x="63500" y="798830"/>
            <a:ext cx="9022080" cy="1065530"/>
          </a:xfrm>
        </p:spPr>
        <p:txBody>
          <a:bodyPr/>
          <a:lstStyle/>
          <a:p>
            <a:pPr algn="just" rtl="0">
              <a:buFont typeface="Arial" panose="020B0604020202020204" pitchFamily="34" charset="0"/>
              <a:buChar char="•"/>
            </a:pPr>
            <a:r>
              <a:rPr lang="pt-BR" sz="1800"/>
              <a:t>Quando uma </a:t>
            </a:r>
            <a:r>
              <a:rPr lang="pt-BR" sz="1800" b="1">
                <a:solidFill>
                  <a:srgbClr val="FF0000"/>
                </a:solidFill>
              </a:rPr>
              <a:t>Mensagem é Enviada</a:t>
            </a:r>
            <a:r>
              <a:rPr lang="pt-BR" sz="1800"/>
              <a:t>, ela deve usar um </a:t>
            </a:r>
            <a:r>
              <a:rPr lang="pt-BR" sz="1800" b="1"/>
              <a:t>formato ou estrutura</a:t>
            </a:r>
            <a:r>
              <a:rPr lang="pt-BR" sz="1800"/>
              <a:t> específica. </a:t>
            </a:r>
            <a:endParaRPr lang="pt-BR" sz="1800"/>
          </a:p>
          <a:p>
            <a:pPr algn="just" rtl="0">
              <a:buFont typeface="Arial" panose="020B0604020202020204" pitchFamily="34" charset="0"/>
              <a:buChar char="•"/>
            </a:pPr>
            <a:r>
              <a:rPr lang="pt-BR" sz="1800"/>
              <a:t>Os </a:t>
            </a:r>
            <a:r>
              <a:rPr lang="pt-BR" sz="1800" b="1">
                <a:solidFill>
                  <a:srgbClr val="FF0000"/>
                </a:solidFill>
              </a:rPr>
              <a:t>Formatos da Mensagem</a:t>
            </a:r>
            <a:r>
              <a:rPr lang="pt-BR" sz="1800"/>
              <a:t> dependem do </a:t>
            </a:r>
            <a:r>
              <a:rPr lang="pt-BR" sz="1800" b="1"/>
              <a:t>tipo de mensagem</a:t>
            </a:r>
            <a:r>
              <a:rPr lang="pt-BR" sz="1800"/>
              <a:t> e do </a:t>
            </a:r>
            <a:r>
              <a:rPr lang="pt-BR" sz="1800" b="1"/>
              <a:t>canal</a:t>
            </a:r>
            <a:r>
              <a:rPr lang="pt-BR" sz="1800"/>
              <a:t> usado para entregá-la. </a:t>
            </a:r>
            <a:endParaRPr lang="pt-BR" sz="1800"/>
          </a:p>
        </p:txBody>
      </p:sp>
      <p:pic>
        <p:nvPicPr>
          <p:cNvPr id="2" name="Imagem 1"/>
          <p:cNvPicPr>
            <a:picLocks noChangeAspect="1"/>
          </p:cNvPicPr>
          <p:nvPr/>
        </p:nvPicPr>
        <p:blipFill>
          <a:blip r:embed="rId1">
            <a:clrChange>
              <a:clrFrom>
                <a:srgbClr val="FBFBFB">
                  <a:alpha val="100000"/>
                </a:srgbClr>
              </a:clrFrom>
              <a:clrTo>
                <a:srgbClr val="FBFBFB">
                  <a:alpha val="100000"/>
                  <a:alpha val="0"/>
                </a:srgbClr>
              </a:clrTo>
            </a:clrChange>
          </a:blip>
          <a:srcRect l="54844" t="44747" r="25882" b="16975"/>
          <a:stretch>
            <a:fillRect/>
          </a:stretch>
        </p:blipFill>
        <p:spPr>
          <a:xfrm>
            <a:off x="1978025" y="1860550"/>
            <a:ext cx="2506980" cy="2801620"/>
          </a:xfrm>
          <a:prstGeom prst="rect">
            <a:avLst/>
          </a:prstGeom>
        </p:spPr>
      </p:pic>
      <p:pic>
        <p:nvPicPr>
          <p:cNvPr id="3" name="Imagem 2"/>
          <p:cNvPicPr>
            <a:picLocks noChangeAspect="1"/>
          </p:cNvPicPr>
          <p:nvPr/>
        </p:nvPicPr>
        <p:blipFill>
          <a:blip r:embed="rId2">
            <a:clrChange>
              <a:clrFrom>
                <a:srgbClr val="FFFFFF">
                  <a:alpha val="100000"/>
                </a:srgbClr>
              </a:clrFrom>
              <a:clrTo>
                <a:srgbClr val="FFFFFF">
                  <a:alpha val="100000"/>
                  <a:alpha val="0"/>
                </a:srgbClr>
              </a:clrTo>
            </a:clrChange>
          </a:blip>
          <a:srcRect l="51764" t="51617" r="22413" b="18377"/>
          <a:stretch>
            <a:fillRect/>
          </a:stretch>
        </p:blipFill>
        <p:spPr>
          <a:xfrm>
            <a:off x="4758690" y="1833880"/>
            <a:ext cx="4326890" cy="2828290"/>
          </a:xfrm>
          <a:prstGeom prst="rect">
            <a:avLst/>
          </a:prstGeom>
        </p:spPr>
      </p:pic>
    </p:spTree>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 </a:t>
            </a:r>
            <a:br>
              <a:rPr lang="pt-BR"/>
            </a:br>
            <a:r>
              <a:rPr lang="pt-BR"/>
              <a:t>Tamanho da Mensagem</a:t>
            </a:r>
            <a:endParaRPr lang="pt-BR"/>
          </a:p>
        </p:txBody>
      </p:sp>
      <p:sp>
        <p:nvSpPr>
          <p:cNvPr id="8195" name="Rectangle 6"/>
          <p:cNvSpPr>
            <a:spLocks noGrp="1" noChangeArrowheads="1"/>
          </p:cNvSpPr>
          <p:nvPr>
            <p:ph idx="1"/>
          </p:nvPr>
        </p:nvSpPr>
        <p:spPr>
          <a:xfrm>
            <a:off x="63500" y="798830"/>
            <a:ext cx="9008110" cy="1297305"/>
          </a:xfrm>
        </p:spPr>
        <p:txBody>
          <a:bodyPr/>
          <a:lstStyle/>
          <a:p>
            <a:pPr marL="0" indent="0" algn="just" rtl="0">
              <a:buNone/>
            </a:pPr>
            <a:r>
              <a:rPr lang="pt-BR" sz="1600"/>
              <a:t>A </a:t>
            </a:r>
            <a:r>
              <a:rPr lang="pt-BR" sz="1600" b="1">
                <a:solidFill>
                  <a:srgbClr val="FF0000"/>
                </a:solidFill>
              </a:rPr>
              <a:t>Codificação entre Hosts</a:t>
            </a:r>
            <a:r>
              <a:rPr lang="pt-BR" sz="1600"/>
              <a:t> deve estar em um </a:t>
            </a:r>
            <a:r>
              <a:rPr lang="pt-BR" sz="1600" b="1"/>
              <a:t>f</a:t>
            </a:r>
            <a:r>
              <a:rPr lang="pt-BR" sz="1600" b="1"/>
              <a:t>ormato adequado</a:t>
            </a:r>
            <a:r>
              <a:rPr lang="pt-BR" sz="1600"/>
              <a:t> para o meio físico.</a:t>
            </a:r>
            <a:endParaRPr lang="pt-BR" sz="1600"/>
          </a:p>
          <a:p>
            <a:pPr lvl="1" algn="just" rtl="0"/>
            <a:r>
              <a:rPr lang="pt-BR" sz="1600"/>
              <a:t>As </a:t>
            </a:r>
            <a:r>
              <a:rPr lang="pt-BR" sz="1600" b="1"/>
              <a:t>mensagens enviadas</a:t>
            </a:r>
            <a:r>
              <a:rPr lang="pt-BR" sz="1600"/>
              <a:t> pela rede são </a:t>
            </a:r>
            <a:r>
              <a:rPr lang="pt-BR" sz="1600" b="1">
                <a:solidFill>
                  <a:srgbClr val="FF0000"/>
                </a:solidFill>
              </a:rPr>
              <a:t>convertidas em bits</a:t>
            </a:r>
            <a:endParaRPr lang="pt-BR" sz="1600"/>
          </a:p>
          <a:p>
            <a:pPr lvl="1" algn="just" rtl="0"/>
            <a:r>
              <a:rPr lang="pt-BR" sz="1600"/>
              <a:t>Os </a:t>
            </a:r>
            <a:r>
              <a:rPr lang="pt-BR" sz="1600" b="1">
                <a:solidFill>
                  <a:srgbClr val="FF0000"/>
                </a:solidFill>
              </a:rPr>
              <a:t>bits são codificados</a:t>
            </a:r>
            <a:r>
              <a:rPr lang="pt-BR" sz="1600"/>
              <a:t> em um padrão de </a:t>
            </a:r>
            <a:r>
              <a:rPr lang="pt-BR" sz="1600" b="1"/>
              <a:t>luz, som ou impulsos elétricos</a:t>
            </a:r>
            <a:r>
              <a:rPr lang="pt-BR" sz="1600"/>
              <a:t>.</a:t>
            </a:r>
            <a:endParaRPr lang="pt-BR" sz="1600"/>
          </a:p>
          <a:p>
            <a:pPr lvl="1" algn="just" rtl="0"/>
            <a:r>
              <a:rPr lang="pt-BR" sz="1600"/>
              <a:t>O </a:t>
            </a:r>
            <a:r>
              <a:rPr lang="pt-BR" sz="1600" b="1"/>
              <a:t>host de destino</a:t>
            </a:r>
            <a:r>
              <a:rPr lang="pt-BR" sz="1600"/>
              <a:t> deve </a:t>
            </a:r>
            <a:r>
              <a:rPr lang="pt-BR" sz="1600" b="1">
                <a:solidFill>
                  <a:srgbClr val="FF0000"/>
                </a:solidFill>
              </a:rPr>
              <a:t>decodificar os sinais</a:t>
            </a:r>
            <a:r>
              <a:rPr lang="pt-BR" sz="1600"/>
              <a:t> para </a:t>
            </a:r>
            <a:r>
              <a:rPr lang="pt-BR" sz="1600" b="1"/>
              <a:t>interpretar a mensagem</a:t>
            </a:r>
            <a:r>
              <a:rPr lang="pt-BR" sz="1600"/>
              <a:t>.</a:t>
            </a:r>
            <a:endParaRPr lang="pt-BR" sz="1600"/>
          </a:p>
        </p:txBody>
      </p:sp>
      <p:pic>
        <p:nvPicPr>
          <p:cNvPr id="6146" name="Picture 2"/>
          <p:cNvPicPr>
            <a:picLocks noChangeAspect="1" noChangeArrowheads="1"/>
          </p:cNvPicPr>
          <p:nvPr/>
        </p:nvPicPr>
        <p:blipFill>
          <a:blip r:embed="rId1">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bwMode="auto">
          <a:xfrm>
            <a:off x="4392930" y="2456815"/>
            <a:ext cx="3076575" cy="19253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147" name="Picture 3"/>
          <p:cNvPicPr>
            <a:picLocks noChangeAspect="1" noChangeArrowheads="1"/>
          </p:cNvPicPr>
          <p:nvPr/>
        </p:nvPicPr>
        <p:blipFill>
          <a:blip r:embed="rId2">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bwMode="auto">
          <a:xfrm>
            <a:off x="6219190" y="2450465"/>
            <a:ext cx="2979420" cy="19253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Imagem 1"/>
          <p:cNvPicPr>
            <a:picLocks noChangeAspect="1"/>
          </p:cNvPicPr>
          <p:nvPr/>
        </p:nvPicPr>
        <p:blipFill>
          <a:blip r:embed="rId3">
            <a:clrChange>
              <a:clrFrom>
                <a:srgbClr val="FFFFFF">
                  <a:alpha val="100000"/>
                </a:srgbClr>
              </a:clrFrom>
              <a:clrTo>
                <a:srgbClr val="FFFFFF">
                  <a:alpha val="100000"/>
                  <a:alpha val="0"/>
                </a:srgbClr>
              </a:clrTo>
            </a:clrChange>
          </a:blip>
          <a:srcRect l="56389" t="42840" r="22569" b="27531"/>
          <a:stretch>
            <a:fillRect/>
          </a:stretch>
        </p:blipFill>
        <p:spPr>
          <a:xfrm>
            <a:off x="827405" y="2096135"/>
            <a:ext cx="3667125" cy="2905125"/>
          </a:xfrm>
          <a:prstGeom prst="rect">
            <a:avLst/>
          </a:prstGeom>
        </p:spPr>
      </p:pic>
    </p:spTree>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 </a:t>
            </a:r>
            <a:br>
              <a:rPr lang="en-US" altLang="en-US" dirty="0"/>
            </a:br>
            <a:r>
              <a:rPr lang="pt-BR"/>
              <a:t>Temporização de Mensagem</a:t>
            </a:r>
            <a:endParaRPr lang="pt-BR"/>
          </a:p>
        </p:txBody>
      </p:sp>
      <p:sp>
        <p:nvSpPr>
          <p:cNvPr id="8195" name="Rectangle 6"/>
          <p:cNvSpPr>
            <a:spLocks noGrp="1" noChangeArrowheads="1"/>
          </p:cNvSpPr>
          <p:nvPr>
            <p:ph idx="1"/>
          </p:nvPr>
        </p:nvSpPr>
        <p:spPr>
          <a:xfrm>
            <a:off x="90805" y="760730"/>
            <a:ext cx="4961890" cy="3953510"/>
          </a:xfrm>
        </p:spPr>
        <p:txBody>
          <a:bodyPr/>
          <a:lstStyle/>
          <a:p>
            <a:pPr marL="0" indent="0" algn="just" rtl="0">
              <a:buNone/>
            </a:pPr>
            <a:r>
              <a:rPr lang="pt-BR" sz="1350"/>
              <a:t>A temporização da mensagem inclui o seguinte: </a:t>
            </a:r>
            <a:endParaRPr lang="pt-BR" sz="1350"/>
          </a:p>
          <a:p>
            <a:pPr marL="342900" lvl="1" indent="-342900" algn="just" rtl="0">
              <a:buAutoNum type="arabicPeriod"/>
            </a:pPr>
            <a:r>
              <a:rPr lang="pt-BR" sz="1350" b="1">
                <a:solidFill>
                  <a:srgbClr val="FF0000"/>
                </a:solidFill>
              </a:rPr>
              <a:t>Controle de Fluxo</a:t>
            </a:r>
            <a:r>
              <a:rPr lang="pt-BR" sz="1350" b="1"/>
              <a:t> - </a:t>
            </a:r>
            <a:r>
              <a:rPr lang="pt-BR" sz="1350"/>
              <a:t>gerencia a taxa de transmissão de dados e define quanta informação pode ser enviada e a velocidade na qual ela pode ser entregue.</a:t>
            </a:r>
            <a:endParaRPr lang="pt-BR" sz="1350"/>
          </a:p>
          <a:p>
            <a:pPr marL="342900" lvl="1" indent="-342900" algn="just" rtl="0">
              <a:buAutoNum type="arabicPeriod"/>
            </a:pPr>
            <a:r>
              <a:rPr lang="pt-BR" sz="1350" b="1">
                <a:solidFill>
                  <a:srgbClr val="FF0000"/>
                </a:solidFill>
              </a:rPr>
              <a:t>Tempo Limite de Resposta</a:t>
            </a:r>
            <a:r>
              <a:rPr lang="pt-BR" sz="1350" b="1"/>
              <a:t> —</a:t>
            </a:r>
            <a:r>
              <a:rPr lang="pt-BR" sz="1350"/>
              <a:t> gerencia o tempo que um dispositivo espera quando não ouve uma resposta do destino. </a:t>
            </a:r>
            <a:endParaRPr lang="pt-BR" sz="1350"/>
          </a:p>
          <a:p>
            <a:pPr marL="342900" lvl="1" indent="-342900" algn="just" rtl="0">
              <a:buAutoNum type="arabicPeriod"/>
            </a:pPr>
            <a:r>
              <a:rPr lang="pt-BR" sz="1350" b="1">
                <a:solidFill>
                  <a:srgbClr val="FF0000"/>
                </a:solidFill>
              </a:rPr>
              <a:t>Método de Acesso</a:t>
            </a:r>
            <a:r>
              <a:rPr lang="pt-BR" sz="1350" b="1"/>
              <a:t> -</a:t>
            </a:r>
            <a:r>
              <a:rPr lang="pt-BR" sz="1350"/>
              <a:t> determinar quando alguém pode enviar uma mensagem.</a:t>
            </a:r>
            <a:r>
              <a:rPr lang="pt-BR" sz="1350" b="1"/>
              <a:t> </a:t>
            </a:r>
            <a:endParaRPr lang="pt-BR" sz="1350" b="1"/>
          </a:p>
          <a:p>
            <a:pPr marL="604520" lvl="2" indent="-342900" algn="just" rtl="0"/>
            <a:r>
              <a:rPr lang="pt-BR" sz="1350"/>
              <a:t>Pode haver </a:t>
            </a:r>
            <a:r>
              <a:rPr lang="pt-BR" sz="1350" b="1"/>
              <a:t>várias regras</a:t>
            </a:r>
            <a:r>
              <a:rPr lang="pt-BR" sz="1350"/>
              <a:t> que regem questões como </a:t>
            </a:r>
            <a:r>
              <a:rPr lang="pt-BR" sz="1350" b="1">
                <a:solidFill>
                  <a:srgbClr val="FF0000"/>
                </a:solidFill>
              </a:rPr>
              <a:t>“colisões”</a:t>
            </a:r>
            <a:r>
              <a:rPr lang="pt-BR" sz="1350"/>
              <a:t>. Isso ocorre quando </a:t>
            </a:r>
            <a:r>
              <a:rPr lang="pt-BR" sz="1350" b="1"/>
              <a:t>mais de um dispositivo</a:t>
            </a:r>
            <a:r>
              <a:rPr lang="pt-BR" sz="1350"/>
              <a:t> envia tráfego ao </a:t>
            </a:r>
            <a:r>
              <a:rPr lang="pt-BR" sz="1350" b="1">
                <a:solidFill>
                  <a:srgbClr val="FF0000"/>
                </a:solidFill>
              </a:rPr>
              <a:t>mesmo tempo</a:t>
            </a:r>
            <a:r>
              <a:rPr lang="pt-BR" sz="1350"/>
              <a:t> e as mensagens ficam </a:t>
            </a:r>
            <a:r>
              <a:rPr lang="pt-BR" sz="1350" b="1"/>
              <a:t>corrompidas</a:t>
            </a:r>
            <a:r>
              <a:rPr lang="pt-BR" sz="1350"/>
              <a:t>. </a:t>
            </a:r>
            <a:endParaRPr lang="pt-BR" sz="1350"/>
          </a:p>
          <a:p>
            <a:pPr lvl="2" algn="just" rtl="0"/>
            <a:r>
              <a:rPr lang="pt-BR" sz="1350"/>
              <a:t>Alguns protocolos são </a:t>
            </a:r>
            <a:r>
              <a:rPr lang="pt-BR" sz="1350" b="1"/>
              <a:t>proativos</a:t>
            </a:r>
            <a:r>
              <a:rPr lang="pt-BR" sz="1350"/>
              <a:t> e tentam evitar </a:t>
            </a:r>
            <a:r>
              <a:rPr lang="pt-BR" sz="1350" b="1">
                <a:solidFill>
                  <a:srgbClr val="FF0000"/>
                </a:solidFill>
              </a:rPr>
              <a:t>colisões</a:t>
            </a:r>
            <a:r>
              <a:rPr lang="pt-BR" sz="1350"/>
              <a:t>; outros protocolos são </a:t>
            </a:r>
            <a:r>
              <a:rPr lang="pt-BR" sz="1350" b="1"/>
              <a:t>reativos</a:t>
            </a:r>
            <a:r>
              <a:rPr lang="pt-BR" sz="1350"/>
              <a:t> e estabelecem um </a:t>
            </a:r>
            <a:r>
              <a:rPr lang="pt-BR" sz="1350" b="1">
                <a:solidFill>
                  <a:srgbClr val="FF0000"/>
                </a:solidFill>
              </a:rPr>
              <a:t>método</a:t>
            </a:r>
            <a:r>
              <a:rPr lang="pt-BR" sz="1350"/>
              <a:t> de recuperação após a colisão ocorrer.</a:t>
            </a:r>
            <a:endParaRPr lang="pt-BR" sz="1350"/>
          </a:p>
          <a:p>
            <a:pPr marL="0" indent="0" algn="just" rtl="0">
              <a:buNone/>
            </a:pPr>
            <a:endParaRPr lang="en-US" sz="1350" dirty="0"/>
          </a:p>
        </p:txBody>
      </p:sp>
      <p:pic>
        <p:nvPicPr>
          <p:cNvPr id="2" name="Imagem 1"/>
          <p:cNvPicPr>
            <a:picLocks noChangeAspect="1"/>
          </p:cNvPicPr>
          <p:nvPr/>
        </p:nvPicPr>
        <p:blipFill>
          <a:blip r:embed="rId1">
            <a:clrChange>
              <a:clrFrom>
                <a:srgbClr val="FFFFFF">
                  <a:alpha val="100000"/>
                </a:srgbClr>
              </a:clrFrom>
              <a:clrTo>
                <a:srgbClr val="FFFFFF">
                  <a:alpha val="100000"/>
                  <a:alpha val="0"/>
                </a:srgbClr>
              </a:clrTo>
            </a:clrChange>
          </a:blip>
          <a:srcRect l="50694" t="35802" r="22569" b="20370"/>
          <a:stretch>
            <a:fillRect/>
          </a:stretch>
        </p:blipFill>
        <p:spPr>
          <a:xfrm>
            <a:off x="4972050" y="868680"/>
            <a:ext cx="4052570" cy="3737610"/>
          </a:xfrm>
          <a:prstGeom prst="rect">
            <a:avLst/>
          </a:prstGeom>
        </p:spPr>
      </p:pic>
    </p:spTree>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 </a:t>
            </a:r>
            <a:br>
              <a:rPr lang="en-US" altLang="en-US" dirty="0"/>
            </a:br>
            <a:r>
              <a:rPr lang="pt-BR"/>
              <a:t>Opções de Entrega da Mensagem</a:t>
            </a:r>
            <a:endParaRPr lang="pt-BR"/>
          </a:p>
        </p:txBody>
      </p:sp>
      <p:sp>
        <p:nvSpPr>
          <p:cNvPr id="8195" name="Rectangle 6"/>
          <p:cNvSpPr>
            <a:spLocks noGrp="1" noChangeArrowheads="1"/>
          </p:cNvSpPr>
          <p:nvPr>
            <p:ph idx="1"/>
          </p:nvPr>
        </p:nvSpPr>
        <p:spPr>
          <a:xfrm>
            <a:off x="64770" y="798830"/>
            <a:ext cx="8987790" cy="1908175"/>
          </a:xfrm>
        </p:spPr>
        <p:txBody>
          <a:bodyPr/>
          <a:lstStyle/>
          <a:p>
            <a:pPr marL="0" indent="0" algn="just" rtl="0">
              <a:buNone/>
            </a:pPr>
            <a:r>
              <a:rPr lang="pt-BR" sz="1600"/>
              <a:t>A entrega de mensagens pode ser um dos seguintes métodos: </a:t>
            </a:r>
            <a:endParaRPr lang="pt-BR" sz="1600"/>
          </a:p>
          <a:p>
            <a:pPr lvl="1" algn="just" rtl="0"/>
            <a:r>
              <a:rPr lang="pt-BR" sz="1600" b="1">
                <a:solidFill>
                  <a:srgbClr val="FF0000"/>
                </a:solidFill>
              </a:rPr>
              <a:t>Unicast </a:t>
            </a:r>
            <a:r>
              <a:rPr lang="pt-BR" sz="1600" b="1"/>
              <a:t>– </a:t>
            </a:r>
            <a:r>
              <a:rPr lang="pt-BR" sz="1600"/>
              <a:t>comunicação um para um.</a:t>
            </a:r>
            <a:endParaRPr lang="pt-BR" sz="1600"/>
          </a:p>
          <a:p>
            <a:pPr lvl="1" algn="just" rtl="0"/>
            <a:r>
              <a:rPr lang="pt-BR" sz="1600" b="1">
                <a:solidFill>
                  <a:srgbClr val="FF0000"/>
                </a:solidFill>
              </a:rPr>
              <a:t>Multicast </a:t>
            </a:r>
            <a:r>
              <a:rPr lang="pt-BR" sz="1600" b="1"/>
              <a:t>—</a:t>
            </a:r>
            <a:r>
              <a:rPr lang="pt-BR" sz="1600"/>
              <a:t> um para muitos, geralmente não todos</a:t>
            </a:r>
            <a:endParaRPr lang="pt-BR" sz="1600"/>
          </a:p>
          <a:p>
            <a:pPr lvl="1" algn="just" rtl="0"/>
            <a:r>
              <a:rPr lang="pt-BR" sz="1600" b="1">
                <a:solidFill>
                  <a:srgbClr val="FF0000"/>
                </a:solidFill>
              </a:rPr>
              <a:t>Broadcast </a:t>
            </a:r>
            <a:r>
              <a:rPr lang="pt-BR" sz="1600"/>
              <a:t>– um para todos</a:t>
            </a:r>
            <a:endParaRPr lang="en-US" sz="1600" dirty="0"/>
          </a:p>
          <a:p>
            <a:pPr marL="0" indent="0" algn="just" rtl="0">
              <a:buNone/>
            </a:pPr>
            <a:r>
              <a:rPr lang="pt-BR" sz="1600" b="1"/>
              <a:t>Nota: </a:t>
            </a:r>
            <a:r>
              <a:rPr lang="pt-BR" sz="1600"/>
              <a:t>As transmissões são usadas em </a:t>
            </a:r>
            <a:r>
              <a:rPr lang="pt-BR" sz="1600" b="1">
                <a:solidFill>
                  <a:srgbClr val="FF0000"/>
                </a:solidFill>
              </a:rPr>
              <a:t>Redes IPv4</a:t>
            </a:r>
            <a:r>
              <a:rPr lang="pt-BR" sz="1600"/>
              <a:t>, mas não são uma opção para </a:t>
            </a:r>
            <a:r>
              <a:rPr lang="pt-BR" sz="1600" b="1">
                <a:solidFill>
                  <a:srgbClr val="FF0000"/>
                </a:solidFill>
              </a:rPr>
              <a:t>IPv6</a:t>
            </a:r>
            <a:r>
              <a:rPr lang="pt-BR" sz="1600"/>
              <a:t>. Mais tarde, também veremos </a:t>
            </a:r>
            <a:r>
              <a:rPr lang="pt-BR" sz="1600" b="1">
                <a:solidFill>
                  <a:srgbClr val="FF0000"/>
                </a:solidFill>
              </a:rPr>
              <a:t>“Anycast”</a:t>
            </a:r>
            <a:r>
              <a:rPr lang="pt-BR" sz="1600"/>
              <a:t> como uma opção de entrega adicional para </a:t>
            </a:r>
            <a:r>
              <a:rPr lang="pt-BR" sz="1600" b="1"/>
              <a:t>IPv6</a:t>
            </a:r>
            <a:r>
              <a:rPr lang="pt-BR" sz="1600"/>
              <a:t>. </a:t>
            </a:r>
            <a:endParaRPr lang="pt-BR" sz="1600"/>
          </a:p>
          <a:p>
            <a:pPr marL="0" indent="0" algn="just" rtl="0">
              <a:buNone/>
            </a:pPr>
            <a:endParaRPr lang="en-US" dirty="0"/>
          </a:p>
        </p:txBody>
      </p:sp>
      <p:pic>
        <p:nvPicPr>
          <p:cNvPr id="7170" name="Picture 2"/>
          <p:cNvPicPr>
            <a:picLocks noChangeAspect="1" noChangeArrowheads="1"/>
          </p:cNvPicPr>
          <p:nvPr/>
        </p:nvPicPr>
        <p:blipFill>
          <a:blip r:embed="rId1">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bwMode="auto">
          <a:xfrm>
            <a:off x="64770" y="2657475"/>
            <a:ext cx="2748280" cy="20523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7171" name="Picture 3"/>
          <p:cNvPicPr>
            <a:picLocks noChangeAspect="1" noChangeArrowheads="1"/>
          </p:cNvPicPr>
          <p:nvPr/>
        </p:nvPicPr>
        <p:blipFill>
          <a:blip r:embed="rId2">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bwMode="auto">
          <a:xfrm>
            <a:off x="3092450" y="2707005"/>
            <a:ext cx="2720975" cy="1986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7172" name="Picture 4"/>
          <p:cNvPicPr>
            <a:picLocks noChangeAspect="1" noChangeArrowheads="1"/>
          </p:cNvPicPr>
          <p:nvPr/>
        </p:nvPicPr>
        <p:blipFill>
          <a:blip r:embed="rId3">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bwMode="auto">
          <a:xfrm>
            <a:off x="6158865" y="2707005"/>
            <a:ext cx="2753360" cy="19875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Imagem 1"/>
          <p:cNvPicPr>
            <a:picLocks noChangeAspect="1"/>
          </p:cNvPicPr>
          <p:nvPr/>
        </p:nvPicPr>
        <p:blipFill>
          <a:blip r:embed="rId4">
            <a:clrChange>
              <a:clrFrom>
                <a:srgbClr val="FFFFFF">
                  <a:alpha val="100000"/>
                </a:srgbClr>
              </a:clrFrom>
              <a:clrTo>
                <a:srgbClr val="FFFFFF">
                  <a:alpha val="100000"/>
                  <a:alpha val="0"/>
                </a:srgbClr>
              </a:clrTo>
            </a:clrChange>
          </a:blip>
          <a:srcRect l="54924" t="48253" r="25806" b="23710"/>
          <a:stretch>
            <a:fillRect/>
          </a:stretch>
        </p:blipFill>
        <p:spPr>
          <a:xfrm>
            <a:off x="6366510" y="103505"/>
            <a:ext cx="2545715" cy="2083435"/>
          </a:xfrm>
          <a:prstGeom prst="rect">
            <a:avLst/>
          </a:prstGeom>
        </p:spPr>
      </p:pic>
    </p:spTree>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As Regras</a:t>
            </a:r>
            <a:br>
              <a:rPr lang="en-US" altLang="en-US" dirty="0"/>
            </a:br>
            <a:r>
              <a:rPr lang="pt-BR"/>
              <a:t>Uma Nota Sobre o Ícone de Nó</a:t>
            </a:r>
            <a:endParaRPr lang="pt-BR"/>
          </a:p>
        </p:txBody>
      </p:sp>
      <p:sp>
        <p:nvSpPr>
          <p:cNvPr id="8195" name="Rectangle 6"/>
          <p:cNvSpPr>
            <a:spLocks noGrp="1" noChangeArrowheads="1"/>
          </p:cNvSpPr>
          <p:nvPr>
            <p:ph idx="1"/>
          </p:nvPr>
        </p:nvSpPr>
        <p:spPr>
          <a:xfrm>
            <a:off x="90805" y="752475"/>
            <a:ext cx="8853170" cy="949960"/>
          </a:xfrm>
        </p:spPr>
        <p:txBody>
          <a:bodyPr/>
          <a:lstStyle/>
          <a:p>
            <a:pPr algn="just" rtl="0">
              <a:buFont typeface="Arial" panose="020B0604020202020204" pitchFamily="34" charset="0"/>
              <a:buChar char="•"/>
            </a:pPr>
            <a:r>
              <a:rPr lang="pt-BR" sz="1600"/>
              <a:t>Os </a:t>
            </a:r>
            <a:r>
              <a:rPr lang="pt-BR" sz="1600" b="1">
                <a:solidFill>
                  <a:srgbClr val="FF0000"/>
                </a:solidFill>
              </a:rPr>
              <a:t>documentos</a:t>
            </a:r>
            <a:r>
              <a:rPr lang="pt-BR" sz="1600"/>
              <a:t> podem usar o </a:t>
            </a:r>
            <a:r>
              <a:rPr lang="pt-BR" sz="1600" b="1"/>
              <a:t>Ícone do Nó</a:t>
            </a:r>
            <a:r>
              <a:rPr lang="pt-BR" sz="1600"/>
              <a:t>, normalmente um </a:t>
            </a:r>
            <a:r>
              <a:rPr lang="pt-BR" sz="1600" b="1"/>
              <a:t>círculo</a:t>
            </a:r>
            <a:r>
              <a:rPr lang="pt-BR" sz="1600"/>
              <a:t>, para representar </a:t>
            </a:r>
            <a:r>
              <a:rPr lang="pt-BR" sz="1600" b="1"/>
              <a:t>todos os dispositivos</a:t>
            </a:r>
            <a:r>
              <a:rPr lang="pt-BR" sz="1600"/>
              <a:t>. </a:t>
            </a:r>
            <a:endParaRPr lang="pt-BR" sz="1600"/>
          </a:p>
          <a:p>
            <a:pPr algn="just" rtl="0">
              <a:buFont typeface="Arial" panose="020B0604020202020204" pitchFamily="34" charset="0"/>
              <a:buChar char="•"/>
            </a:pPr>
            <a:r>
              <a:rPr lang="pt-BR" sz="1600"/>
              <a:t>A figura ilustra o </a:t>
            </a:r>
            <a:r>
              <a:rPr lang="pt-BR" sz="1600" b="1">
                <a:solidFill>
                  <a:srgbClr val="FF0000"/>
                </a:solidFill>
              </a:rPr>
              <a:t>uso do ícone do nó</a:t>
            </a:r>
            <a:r>
              <a:rPr lang="pt-BR" sz="1600"/>
              <a:t> para opções de entrega.</a:t>
            </a:r>
            <a:endParaRPr lang="pt-BR" sz="1600"/>
          </a:p>
          <a:p>
            <a:pPr marL="0" indent="0" algn="just" rtl="0">
              <a:buFont typeface="Arial" panose="020B0604020202020204" pitchFamily="34" charset="0"/>
              <a:buChar char="•"/>
            </a:pPr>
            <a:endParaRPr lang="en-US" dirty="0"/>
          </a:p>
        </p:txBody>
      </p:sp>
      <p:pic>
        <p:nvPicPr>
          <p:cNvPr id="1026" name="Picture 2"/>
          <p:cNvPicPr>
            <a:picLocks noChangeAspect="1" noChangeArrowheads="1"/>
          </p:cNvPicPr>
          <p:nvPr/>
        </p:nvPicPr>
        <p:blipFill>
          <a:blip r:embed="rId1">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bwMode="auto">
          <a:xfrm>
            <a:off x="168910" y="1702435"/>
            <a:ext cx="8775700" cy="294449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915409"/>
            <a:ext cx="7598042" cy="1802391"/>
          </a:xfrm>
        </p:spPr>
        <p:txBody>
          <a:bodyPr/>
          <a:lstStyle/>
          <a:p>
            <a:pPr rtl="0"/>
            <a:r>
              <a:rPr lang="pt-BR">
                <a:solidFill>
                  <a:schemeClr val="accent5">
                    <a:lumMod val="40000"/>
                    <a:lumOff val="60000"/>
                  </a:schemeClr>
                </a:solidFill>
              </a:rPr>
              <a:t>3.2 - Protocolos</a:t>
            </a:r>
            <a:endParaRPr lang="pt-BR">
              <a:solidFill>
                <a:schemeClr val="accent5">
                  <a:lumMod val="40000"/>
                  <a:lumOff val="60000"/>
                </a:schemeClr>
              </a:solidFill>
            </a:endParaRPr>
          </a:p>
        </p:txBody>
      </p:sp>
    </p:spTree>
    <p:custDataLst>
      <p:tags r:id="rId1"/>
    </p:custData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rtl="0"/>
            <a:r>
              <a:rPr lang="pt-BR" sz="1600"/>
              <a:t>Visão geral do </a:t>
            </a:r>
            <a:br>
              <a:rPr lang="en-US" altLang="en-US" dirty="0"/>
            </a:br>
            <a:r>
              <a:rPr lang="pt-BR"/>
              <a:t>protocolo derede</a:t>
            </a:r>
            <a:endParaRPr lang="pt-BR"/>
          </a:p>
        </p:txBody>
      </p:sp>
      <p:sp>
        <p:nvSpPr>
          <p:cNvPr id="8195" name="Rectangle 6"/>
          <p:cNvSpPr>
            <a:spLocks noGrp="1" noChangeArrowheads="1"/>
          </p:cNvSpPr>
          <p:nvPr>
            <p:ph idx="1"/>
          </p:nvPr>
        </p:nvSpPr>
        <p:spPr>
          <a:xfrm>
            <a:off x="246743" y="798945"/>
            <a:ext cx="2757714" cy="3611129"/>
          </a:xfrm>
        </p:spPr>
        <p:txBody>
          <a:bodyPr/>
          <a:lstStyle/>
          <a:p>
            <a:pPr marL="0" indent="0" rtl="0">
              <a:buNone/>
            </a:pPr>
            <a:r>
              <a:rPr lang="pt-BR" sz="1600"/>
              <a:t>Protocolos de rede definem um conjunto comum de regras.</a:t>
            </a:r>
            <a:endParaRPr lang="pt-BR" sz="1600"/>
          </a:p>
          <a:p>
            <a:pPr rtl="0">
              <a:buFont typeface="Arial" panose="020B0604020202020204" pitchFamily="34" charset="0"/>
              <a:buChar char="•"/>
            </a:pPr>
            <a:r>
              <a:rPr lang="pt-BR" sz="1600"/>
              <a:t>Pode ser implementado em dispositivos em:</a:t>
            </a:r>
            <a:endParaRPr lang="pt-BR" sz="1600"/>
          </a:p>
          <a:p>
            <a:pPr lvl="1" rtl="0"/>
            <a:r>
              <a:rPr lang="pt-BR" sz="1600"/>
              <a:t>Software</a:t>
            </a:r>
            <a:endParaRPr lang="pt-BR" sz="1600"/>
          </a:p>
          <a:p>
            <a:pPr lvl="1" rtl="0"/>
            <a:r>
              <a:rPr lang="pt-BR" sz="1600"/>
              <a:t>Hardware</a:t>
            </a:r>
            <a:endParaRPr lang="pt-BR" sz="1600"/>
          </a:p>
          <a:p>
            <a:pPr lvl="1" rtl="0"/>
            <a:r>
              <a:rPr lang="pt-BR" sz="1600"/>
              <a:t>Ambos</a:t>
            </a:r>
            <a:endParaRPr lang="pt-BR" sz="1600"/>
          </a:p>
          <a:p>
            <a:pPr rtl="0">
              <a:buFont typeface="Arial" panose="020B0604020202020204" pitchFamily="34" charset="0"/>
              <a:buChar char="•"/>
            </a:pPr>
            <a:r>
              <a:rPr lang="pt-BR" sz="1600"/>
              <a:t>Protocolos têm os seus próprios:</a:t>
            </a:r>
            <a:endParaRPr lang="pt-BR" sz="1600"/>
          </a:p>
          <a:p>
            <a:pPr lvl="1" rtl="0"/>
            <a:r>
              <a:rPr lang="pt-BR" sz="1600"/>
              <a:t>Função</a:t>
            </a:r>
            <a:endParaRPr lang="pt-BR" sz="1600"/>
          </a:p>
          <a:p>
            <a:pPr lvl="1" rtl="0"/>
            <a:r>
              <a:rPr lang="pt-BR" sz="1600"/>
              <a:t>Formato</a:t>
            </a:r>
            <a:endParaRPr lang="pt-BR" sz="1600"/>
          </a:p>
          <a:p>
            <a:pPr lvl="1" rtl="0"/>
            <a:r>
              <a:rPr lang="pt-BR" sz="1600"/>
              <a:t>Regras</a:t>
            </a:r>
            <a:endParaRPr lang="pt-BR" sz="1600"/>
          </a:p>
          <a:p>
            <a:pPr marL="0" indent="0" rtl="0">
              <a:buNone/>
            </a:pPr>
            <a:r>
              <a:rPr lang="pt-BR"/>
              <a:t> </a:t>
            </a:r>
            <a:endParaRPr lang="pt-BR"/>
          </a:p>
        </p:txBody>
      </p:sp>
      <p:graphicFrame>
        <p:nvGraphicFramePr>
          <p:cNvPr id="2" name="Table 1"/>
          <p:cNvGraphicFramePr>
            <a:graphicFrameLocks noGrp="1"/>
          </p:cNvGraphicFramePr>
          <p:nvPr/>
        </p:nvGraphicFramePr>
        <p:xfrm>
          <a:off x="3048000" y="957943"/>
          <a:ext cx="5776684" cy="3554664"/>
        </p:xfrm>
        <a:graphic>
          <a:graphicData uri="http://schemas.openxmlformats.org/drawingml/2006/table">
            <a:tbl>
              <a:tblPr firstRow="1" bandRow="1">
                <a:tableStyleId>{5C22544A-7EE6-4342-B048-85BDC9FD1C3A}</a:tableStyleId>
              </a:tblPr>
              <a:tblGrid>
                <a:gridCol w="1553028"/>
                <a:gridCol w="4223656"/>
              </a:tblGrid>
              <a:tr h="664980">
                <a:tc>
                  <a:txBody>
                    <a:bodyPr/>
                    <a:lstStyle/>
                    <a:p>
                      <a:pPr rtl="0"/>
                      <a:r>
                        <a:rPr lang="pt-BR"/>
                        <a:t>Tipo de Protocolo</a:t>
                      </a:r>
                      <a:endParaRPr lang="pt-BR"/>
                    </a:p>
                  </a:txBody>
                  <a:tcPr/>
                </a:tc>
                <a:tc>
                  <a:txBody>
                    <a:bodyPr/>
                    <a:lstStyle/>
                    <a:p>
                      <a:pPr rtl="0"/>
                      <a:r>
                        <a:rPr lang="pt-BR"/>
                        <a:t>Descrição</a:t>
                      </a:r>
                      <a:endParaRPr lang="pt-BR"/>
                    </a:p>
                  </a:txBody>
                  <a:tcPr/>
                </a:tc>
              </a:tr>
              <a:tr h="719388">
                <a:tc>
                  <a:txBody>
                    <a:bodyPr/>
                    <a:lstStyle/>
                    <a:p>
                      <a:pPr rtl="0"/>
                      <a:r>
                        <a:rPr lang="pt-BR"/>
                        <a:t>Comunicações em Rede</a:t>
                      </a:r>
                      <a:endParaRPr lang="pt-BR"/>
                    </a:p>
                  </a:txBody>
                  <a:tcPr/>
                </a:tc>
                <a:tc>
                  <a:txBody>
                    <a:bodyPr/>
                    <a:lstStyle/>
                    <a:p>
                      <a:pPr rtl="0"/>
                      <a:r>
                        <a:rPr lang="pt-BR"/>
                        <a:t>permitir que dois ou mais dispositivos se comuniquem através de uma ou mais redes</a:t>
                      </a:r>
                      <a:endParaRPr lang="pt-BR"/>
                    </a:p>
                  </a:txBody>
                  <a:tcPr/>
                </a:tc>
              </a:tr>
              <a:tr h="719388">
                <a:tc>
                  <a:txBody>
                    <a:bodyPr/>
                    <a:lstStyle/>
                    <a:p>
                      <a:pPr rtl="0"/>
                      <a:r>
                        <a:rPr lang="pt-BR" baseline="0"/>
                        <a:t>Segurança</a:t>
                      </a:r>
                      <a:r>
                        <a:rPr lang="pt-BR"/>
                        <a:t> da rede</a:t>
                      </a:r>
                      <a:endParaRPr lang="pt-BR"/>
                    </a:p>
                  </a:txBody>
                  <a:tcPr/>
                </a:tc>
                <a:tc>
                  <a:txBody>
                    <a:bodyPr/>
                    <a:lstStyle/>
                    <a:p>
                      <a:pPr rtl="0"/>
                      <a:r>
                        <a:rPr lang="pt-BR"/>
                        <a:t>dados seguros para fornecer autenticação, integridade de dados e criptografia de dados</a:t>
                      </a:r>
                      <a:endParaRPr lang="pt-BR"/>
                    </a:p>
                  </a:txBody>
                  <a:tcPr/>
                </a:tc>
              </a:tr>
              <a:tr h="718340">
                <a:tc>
                  <a:txBody>
                    <a:bodyPr/>
                    <a:lstStyle/>
                    <a:p>
                      <a:pPr rtl="0"/>
                      <a:r>
                        <a:rPr lang="pt-BR"/>
                        <a:t>Roteamento</a:t>
                      </a:r>
                      <a:endParaRPr lang="pt-BR"/>
                    </a:p>
                  </a:txBody>
                  <a:tcPr/>
                </a:tc>
                <a:tc>
                  <a:txBody>
                    <a:bodyPr/>
                    <a:lstStyle/>
                    <a:p>
                      <a:pPr rtl="0"/>
                      <a:r>
                        <a:rPr lang="pt-BR"/>
                        <a:t>permitir que os roteadores troquem informações de rota, comparem informações de caminho e selecionem o melhor caminho</a:t>
                      </a:r>
                      <a:endParaRPr lang="pt-BR"/>
                    </a:p>
                  </a:txBody>
                  <a:tcPr/>
                </a:tc>
              </a:tr>
              <a:tr h="719388">
                <a:tc>
                  <a:txBody>
                    <a:bodyPr/>
                    <a:lstStyle/>
                    <a:p>
                      <a:pPr rtl="0"/>
                      <a:r>
                        <a:rPr lang="pt-BR"/>
                        <a:t>Descoberta de serviço</a:t>
                      </a:r>
                      <a:endParaRPr lang="pt-BR"/>
                    </a:p>
                  </a:txBody>
                  <a:tcPr/>
                </a:tc>
                <a:tc>
                  <a:txBody>
                    <a:bodyPr/>
                    <a:lstStyle/>
                    <a:p>
                      <a:pPr rtl="0"/>
                      <a:r>
                        <a:rPr lang="pt-BR"/>
                        <a:t>usado para a detecção automática de dispositivos ou serviços</a:t>
                      </a:r>
                      <a:endParaRPr lang="pt-BR"/>
                    </a:p>
                  </a:txBody>
                  <a:tcPr/>
                </a:tc>
              </a:tr>
            </a:tbl>
          </a:graphicData>
        </a:graphic>
      </p:graphicFrame>
    </p:spTree>
    <p:custDataLst>
      <p:tags r:id="rId1"/>
    </p:custData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1" y="41393"/>
            <a:ext cx="4034970" cy="757551"/>
          </a:xfrm>
        </p:spPr>
        <p:txBody>
          <a:bodyPr/>
          <a:lstStyle/>
          <a:p>
            <a:pPr rtl="0"/>
            <a:br>
              <a:rPr lang="en-US" altLang="en-US" dirty="0"/>
            </a:br>
            <a:r>
              <a:rPr lang="pt-BR"/>
              <a:t>Funções de protocolo de rede</a:t>
            </a:r>
            <a:endParaRPr lang="pt-BR"/>
          </a:p>
        </p:txBody>
      </p:sp>
      <p:sp>
        <p:nvSpPr>
          <p:cNvPr id="8195" name="Rectangle 6"/>
          <p:cNvSpPr>
            <a:spLocks noGrp="1" noChangeArrowheads="1"/>
          </p:cNvSpPr>
          <p:nvPr>
            <p:ph idx="1"/>
          </p:nvPr>
        </p:nvSpPr>
        <p:spPr>
          <a:xfrm>
            <a:off x="253929" y="929612"/>
            <a:ext cx="3715657" cy="1320800"/>
          </a:xfrm>
        </p:spPr>
        <p:txBody>
          <a:bodyPr/>
          <a:lstStyle/>
          <a:p>
            <a:pPr rtl="0">
              <a:buFont typeface="Arial" panose="020B0604020202020204" pitchFamily="34" charset="0"/>
              <a:buChar char="•"/>
            </a:pPr>
            <a:r>
              <a:rPr lang="pt-BR" sz="1600"/>
              <a:t>Os dispositivos usam protocolos acordados para se comunicar.</a:t>
            </a:r>
            <a:endParaRPr lang="pt-BR" sz="1600"/>
          </a:p>
          <a:p>
            <a:pPr rtl="0">
              <a:buFont typeface="Arial" panose="020B0604020202020204" pitchFamily="34" charset="0"/>
              <a:buChar char="•"/>
            </a:pPr>
            <a:r>
              <a:rPr lang="pt-BR" sz="1600"/>
              <a:t>Protocolos podem ter pode ter uma ou funções.</a:t>
            </a:r>
            <a:endParaRPr lang="pt-BR" sz="1600"/>
          </a:p>
        </p:txBody>
      </p:sp>
      <p:graphicFrame>
        <p:nvGraphicFramePr>
          <p:cNvPr id="2" name="Table 1"/>
          <p:cNvGraphicFramePr>
            <a:graphicFrameLocks noGrp="1"/>
          </p:cNvGraphicFramePr>
          <p:nvPr/>
        </p:nvGraphicFramePr>
        <p:xfrm>
          <a:off x="377146" y="2319920"/>
          <a:ext cx="8316911" cy="2278755"/>
        </p:xfrm>
        <a:graphic>
          <a:graphicData uri="http://schemas.openxmlformats.org/drawingml/2006/table">
            <a:tbl>
              <a:tblPr firstRow="1" bandRow="1">
                <a:tableStyleId>{5C22544A-7EE6-4342-B048-85BDC9FD1C3A}</a:tableStyleId>
              </a:tblPr>
              <a:tblGrid>
                <a:gridCol w="2351539"/>
                <a:gridCol w="5965372"/>
              </a:tblGrid>
              <a:tr h="317432">
                <a:tc>
                  <a:txBody>
                    <a:bodyPr/>
                    <a:lstStyle/>
                    <a:p>
                      <a:pPr rtl="0"/>
                      <a:r>
                        <a:rPr lang="pt-BR"/>
                        <a:t>Função</a:t>
                      </a:r>
                      <a:endParaRPr lang="pt-BR"/>
                    </a:p>
                  </a:txBody>
                  <a:tcPr/>
                </a:tc>
                <a:tc>
                  <a:txBody>
                    <a:bodyPr/>
                    <a:lstStyle/>
                    <a:p>
                      <a:pPr rtl="0"/>
                      <a:r>
                        <a:rPr lang="pt-BR"/>
                        <a:t>Descrição</a:t>
                      </a:r>
                      <a:endParaRPr lang="pt-BR"/>
                    </a:p>
                  </a:txBody>
                  <a:tcPr/>
                </a:tc>
              </a:tr>
              <a:tr h="323562">
                <a:tc>
                  <a:txBody>
                    <a:bodyPr/>
                    <a:lstStyle/>
                    <a:p>
                      <a:pPr rtl="0"/>
                      <a:r>
                        <a:rPr lang="pt-BR"/>
                        <a:t>Endereçamento</a:t>
                      </a:r>
                      <a:endParaRPr lang="pt-BR"/>
                    </a:p>
                  </a:txBody>
                  <a:tcPr/>
                </a:tc>
                <a:tc>
                  <a:txBody>
                    <a:bodyPr/>
                    <a:lstStyle/>
                    <a:p>
                      <a:pPr rtl="0"/>
                      <a:r>
                        <a:rPr lang="pt-BR"/>
                        <a:t>Identificação de</a:t>
                      </a:r>
                      <a:r>
                        <a:rPr lang="pt-BR" baseline="0"/>
                        <a:t> remetente e destinatário</a:t>
                      </a:r>
                      <a:endParaRPr lang="pt-BR" baseline="0"/>
                    </a:p>
                  </a:txBody>
                  <a:tcPr/>
                </a:tc>
              </a:tr>
              <a:tr h="333828">
                <a:tc>
                  <a:txBody>
                    <a:bodyPr/>
                    <a:lstStyle/>
                    <a:p>
                      <a:pPr rtl="0"/>
                      <a:r>
                        <a:rPr lang="pt-BR"/>
                        <a:t>Confiabilidade</a:t>
                      </a:r>
                      <a:endParaRPr lang="pt-BR"/>
                    </a:p>
                  </a:txBody>
                  <a:tcPr/>
                </a:tc>
                <a:tc>
                  <a:txBody>
                    <a:bodyPr/>
                    <a:lstStyle/>
                    <a:p>
                      <a:pPr rtl="0"/>
                      <a:r>
                        <a:rPr lang="pt-BR"/>
                        <a:t>Fornece entrega garantida</a:t>
                      </a:r>
                      <a:endParaRPr lang="pt-BR"/>
                    </a:p>
                  </a:txBody>
                  <a:tcPr/>
                </a:tc>
              </a:tr>
              <a:tr h="335320">
                <a:tc>
                  <a:txBody>
                    <a:bodyPr/>
                    <a:lstStyle/>
                    <a:p>
                      <a:pPr rtl="0"/>
                      <a:r>
                        <a:rPr lang="pt-BR"/>
                        <a:t>Controle de fluxo</a:t>
                      </a:r>
                      <a:endParaRPr lang="pt-BR"/>
                    </a:p>
                  </a:txBody>
                  <a:tcPr/>
                </a:tc>
                <a:tc>
                  <a:txBody>
                    <a:bodyPr/>
                    <a:lstStyle/>
                    <a:p>
                      <a:pPr rtl="0"/>
                      <a:r>
                        <a:rPr lang="pt-BR"/>
                        <a:t>Garante fluxos de dados a uma</a:t>
                      </a:r>
                      <a:r>
                        <a:rPr lang="pt-BR" baseline="0"/>
                        <a:t> taxa</a:t>
                      </a:r>
                      <a:r>
                        <a:rPr lang="pt-BR"/>
                        <a:t>eficiente</a:t>
                      </a:r>
                      <a:endParaRPr lang="pt-BR"/>
                    </a:p>
                  </a:txBody>
                  <a:tcPr/>
                </a:tc>
              </a:tr>
              <a:tr h="319314">
                <a:tc>
                  <a:txBody>
                    <a:bodyPr/>
                    <a:lstStyle/>
                    <a:p>
                      <a:pPr rtl="0"/>
                      <a:r>
                        <a:rPr lang="pt-BR"/>
                        <a:t>Sequenciamento</a:t>
                      </a:r>
                      <a:endParaRPr lang="pt-BR"/>
                    </a:p>
                  </a:txBody>
                  <a:tcPr/>
                </a:tc>
                <a:tc>
                  <a:txBody>
                    <a:bodyPr/>
                    <a:lstStyle/>
                    <a:p>
                      <a:pPr rtl="0"/>
                      <a:r>
                        <a:rPr lang="pt-BR"/>
                        <a:t>Rotula exclusivamente cada segmento de dados transmitido</a:t>
                      </a:r>
                      <a:endParaRPr lang="pt-BR"/>
                    </a:p>
                  </a:txBody>
                  <a:tcPr/>
                </a:tc>
              </a:tr>
              <a:tr h="331867">
                <a:tc>
                  <a:txBody>
                    <a:bodyPr/>
                    <a:lstStyle/>
                    <a:p>
                      <a:pPr rtl="0"/>
                      <a:r>
                        <a:rPr lang="pt-BR"/>
                        <a:t>Detecção de erros</a:t>
                      </a:r>
                      <a:endParaRPr lang="pt-BR"/>
                    </a:p>
                  </a:txBody>
                  <a:tcPr/>
                </a:tc>
                <a:tc>
                  <a:txBody>
                    <a:bodyPr/>
                    <a:lstStyle/>
                    <a:p>
                      <a:pPr rtl="0"/>
                      <a:r>
                        <a:rPr lang="pt-BR"/>
                        <a:t>Determina se os dados ficaram corrompidos durante a transmissão</a:t>
                      </a:r>
                      <a:endParaRPr lang="pt-BR"/>
                    </a:p>
                  </a:txBody>
                  <a:tcPr/>
                </a:tc>
              </a:tr>
              <a:tr h="317432">
                <a:tc>
                  <a:txBody>
                    <a:bodyPr/>
                    <a:lstStyle/>
                    <a:p>
                      <a:pPr rtl="0"/>
                      <a:r>
                        <a:rPr lang="pt-BR"/>
                        <a:t>Interface de aplicação</a:t>
                      </a:r>
                      <a:endParaRPr lang="pt-BR"/>
                    </a:p>
                  </a:txBody>
                  <a:tcPr/>
                </a:tc>
                <a:tc>
                  <a:txBody>
                    <a:bodyPr/>
                    <a:lstStyle/>
                    <a:p>
                      <a:pPr rtl="0"/>
                      <a:r>
                        <a:rPr lang="pt-BR"/>
                        <a:t>Comunicações de processo a processo entre aplicativos de rede</a:t>
                      </a:r>
                      <a:endParaRPr lang="pt-BR"/>
                    </a:p>
                  </a:txBody>
                  <a:tcPr/>
                </a:tc>
              </a:tr>
            </a:tbl>
          </a:graphicData>
        </a:graphic>
      </p:graphicFrame>
      <p:pic>
        <p:nvPicPr>
          <p:cNvPr id="205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209143" y="0"/>
            <a:ext cx="4491945" cy="21760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ustDataLst>
      <p:tags r:id="rId2"/>
    </p:custDataLst>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0" y="41393"/>
            <a:ext cx="4688113" cy="829464"/>
          </a:xfrm>
        </p:spPr>
        <p:txBody>
          <a:bodyPr/>
          <a:lstStyle/>
          <a:p>
            <a:pPr rtl="0"/>
            <a:br>
              <a:rPr lang="en-US" altLang="en-US" dirty="0"/>
            </a:br>
            <a:r>
              <a:rPr lang="pt-BR"/>
              <a:t>Protocolos </a:t>
            </a:r>
            <a:r>
              <a:rPr lang="pt-BR" sz="1600"/>
              <a:t>Interação de protocolos</a:t>
            </a:r>
            <a:endParaRPr lang="pt-BR" sz="1600"/>
          </a:p>
        </p:txBody>
      </p:sp>
      <p:sp>
        <p:nvSpPr>
          <p:cNvPr id="8195" name="Rectangle 6"/>
          <p:cNvSpPr>
            <a:spLocks noGrp="1" noChangeArrowheads="1"/>
          </p:cNvSpPr>
          <p:nvPr>
            <p:ph idx="1"/>
          </p:nvPr>
        </p:nvSpPr>
        <p:spPr>
          <a:xfrm>
            <a:off x="203201" y="986971"/>
            <a:ext cx="4572000" cy="990512"/>
          </a:xfrm>
        </p:spPr>
        <p:txBody>
          <a:bodyPr/>
          <a:lstStyle/>
          <a:p>
            <a:pPr rtl="0">
              <a:buFont typeface="Arial" panose="020B0604020202020204" pitchFamily="34" charset="0"/>
              <a:buChar char="•"/>
            </a:pPr>
            <a:r>
              <a:rPr lang="pt-BR" sz="1600"/>
              <a:t>As redes exigem o uso de vários protocolos.</a:t>
            </a:r>
            <a:endParaRPr lang="pt-BR" sz="1600"/>
          </a:p>
          <a:p>
            <a:pPr rtl="0">
              <a:buFont typeface="Arial" panose="020B0604020202020204" pitchFamily="34" charset="0"/>
              <a:buChar char="•"/>
            </a:pPr>
            <a:r>
              <a:rPr lang="pt-BR" sz="1600"/>
              <a:t>Cada protocolo tem sua própria função e formato.</a:t>
            </a:r>
            <a:endParaRPr lang="pt-BR" sz="1600"/>
          </a:p>
          <a:p>
            <a:pPr marL="0" indent="0">
              <a:buNone/>
            </a:pPr>
            <a:endParaRPr lang="en-US" altLang="ja-JP" dirty="0"/>
          </a:p>
        </p:txBody>
      </p:sp>
      <p:graphicFrame>
        <p:nvGraphicFramePr>
          <p:cNvPr id="2" name="Table 1"/>
          <p:cNvGraphicFramePr>
            <a:graphicFrameLocks noGrp="1"/>
          </p:cNvGraphicFramePr>
          <p:nvPr/>
        </p:nvGraphicFramePr>
        <p:xfrm>
          <a:off x="449717" y="2254251"/>
          <a:ext cx="8316911" cy="2621320"/>
        </p:xfrm>
        <a:graphic>
          <a:graphicData uri="http://schemas.openxmlformats.org/drawingml/2006/table">
            <a:tbl>
              <a:tblPr firstRow="1" bandRow="1">
                <a:tableStyleId>{5C22544A-7EE6-4342-B048-85BDC9FD1C3A}</a:tableStyleId>
              </a:tblPr>
              <a:tblGrid>
                <a:gridCol w="2090283"/>
                <a:gridCol w="6226628"/>
              </a:tblGrid>
              <a:tr h="302463">
                <a:tc>
                  <a:txBody>
                    <a:bodyPr/>
                    <a:lstStyle/>
                    <a:p>
                      <a:pPr rtl="0"/>
                      <a:r>
                        <a:rPr lang="pt-BR"/>
                        <a:t>Protocolos</a:t>
                      </a:r>
                      <a:endParaRPr lang="pt-BR"/>
                    </a:p>
                  </a:txBody>
                  <a:tcPr/>
                </a:tc>
                <a:tc>
                  <a:txBody>
                    <a:bodyPr/>
                    <a:lstStyle/>
                    <a:p>
                      <a:pPr rtl="0"/>
                      <a:r>
                        <a:rPr lang="pt-BR"/>
                        <a:t>Função</a:t>
                      </a:r>
                      <a:endParaRPr lang="pt-BR"/>
                    </a:p>
                  </a:txBody>
                  <a:tcPr/>
                </a:tc>
              </a:tr>
              <a:tr h="323562">
                <a:tc>
                  <a:txBody>
                    <a:bodyPr/>
                    <a:lstStyle/>
                    <a:p>
                      <a:pPr rtl="0"/>
                      <a:r>
                        <a:rPr lang="pt-BR" b="1"/>
                        <a:t>Protocolo HTTP</a:t>
                      </a:r>
                      <a:endParaRPr lang="pt-BR" b="1"/>
                    </a:p>
                  </a:txBody>
                  <a:tcPr/>
                </a:tc>
                <a:tc>
                  <a:txBody>
                    <a:bodyPr/>
                    <a:lstStyle/>
                    <a:p>
                      <a:pPr marL="285750" indent="-285750" rtl="0">
                        <a:buFont typeface="Wingdings" panose="05000000000000000000" pitchFamily="2" charset="2"/>
                        <a:buChar char="§"/>
                      </a:pPr>
                      <a:r>
                        <a:rPr lang="pt-BR"/>
                        <a:t>Governa a maneira como um servidor da Web e um cliente da Web interagem</a:t>
                      </a:r>
                      <a:endParaRPr lang="pt-BR"/>
                    </a:p>
                    <a:p>
                      <a:pPr marL="285750" indent="-285750" rtl="0">
                        <a:buFont typeface="Wingdings" panose="05000000000000000000" pitchFamily="2" charset="2"/>
                        <a:buChar char="§"/>
                      </a:pPr>
                      <a:r>
                        <a:rPr lang="pt-BR"/>
                        <a:t>Define conteúdo e formato</a:t>
                      </a:r>
                      <a:endParaRPr lang="pt-BR"/>
                    </a:p>
                  </a:txBody>
                  <a:tcPr/>
                </a:tc>
              </a:tr>
              <a:tr h="333828">
                <a:tc>
                  <a:txBody>
                    <a:bodyPr/>
                    <a:lstStyle/>
                    <a:p>
                      <a:pPr rtl="0"/>
                      <a:r>
                        <a:rPr lang="pt-BR" b="1"/>
                        <a:t>Protocolo TCP</a:t>
                      </a:r>
                      <a:endParaRPr lang="pt-BR" b="1"/>
                    </a:p>
                  </a:txBody>
                  <a:tcPr/>
                </a:tc>
                <a:tc>
                  <a:txBody>
                    <a:bodyPr/>
                    <a:lstStyle/>
                    <a:p>
                      <a:pPr marL="285750" indent="-285750" rtl="0">
                        <a:buFont typeface="Wingdings" panose="05000000000000000000" pitchFamily="2" charset="2"/>
                        <a:buChar char="§"/>
                      </a:pPr>
                      <a:r>
                        <a:rPr lang="pt-BR"/>
                        <a:t>Gerencia as conversas individuais</a:t>
                      </a:r>
                      <a:endParaRPr lang="pt-BR"/>
                    </a:p>
                    <a:p>
                      <a:pPr marL="285750" indent="-285750" rtl="0">
                        <a:buFont typeface="Wingdings" panose="05000000000000000000" pitchFamily="2" charset="2"/>
                        <a:buChar char="§"/>
                      </a:pPr>
                      <a:r>
                        <a:rPr lang="pt-BR"/>
                        <a:t>Fornece entrega garantida</a:t>
                      </a:r>
                      <a:endParaRPr lang="pt-BR"/>
                    </a:p>
                    <a:p>
                      <a:pPr marL="285750" indent="-285750" rtl="0">
                        <a:buFont typeface="Wingdings" panose="05000000000000000000" pitchFamily="2" charset="2"/>
                        <a:buChar char="§"/>
                      </a:pPr>
                      <a:r>
                        <a:rPr lang="pt-BR"/>
                        <a:t>Gerencia o controle de fluxo</a:t>
                      </a:r>
                      <a:endParaRPr lang="pt-BR"/>
                    </a:p>
                  </a:txBody>
                  <a:tcPr/>
                </a:tc>
              </a:tr>
              <a:tr h="335320">
                <a:tc>
                  <a:txBody>
                    <a:bodyPr/>
                    <a:lstStyle/>
                    <a:p>
                      <a:pPr rtl="0"/>
                      <a:r>
                        <a:rPr lang="pt-BR" b="1"/>
                        <a:t>Protocolo IP</a:t>
                      </a:r>
                      <a:endParaRPr lang="pt-BR" b="1"/>
                    </a:p>
                  </a:txBody>
                  <a:tcPr/>
                </a:tc>
                <a:tc>
                  <a:txBody>
                    <a:bodyPr/>
                    <a:lstStyle/>
                    <a:p>
                      <a:pPr rtl="0"/>
                      <a:r>
                        <a:rPr lang="pt-BR"/>
                        <a:t>Entrega mensagens globalmente do remetente para o receptor</a:t>
                      </a:r>
                      <a:endParaRPr lang="pt-BR"/>
                    </a:p>
                  </a:txBody>
                  <a:tcPr/>
                </a:tc>
              </a:tr>
              <a:tr h="319314">
                <a:tc>
                  <a:txBody>
                    <a:bodyPr/>
                    <a:lstStyle/>
                    <a:p>
                      <a:pPr rtl="0"/>
                      <a:r>
                        <a:rPr lang="pt-BR" b="1"/>
                        <a:t>Ethernet</a:t>
                      </a:r>
                      <a:endParaRPr lang="pt-BR" b="1"/>
                    </a:p>
                  </a:txBody>
                  <a:tcPr/>
                </a:tc>
                <a:tc>
                  <a:txBody>
                    <a:bodyPr/>
                    <a:lstStyle/>
                    <a:p>
                      <a:pPr rtl="0"/>
                      <a:r>
                        <a:rPr lang="pt-BR"/>
                        <a:t>Entrega mensagens de uma NIC para outra NIC na mesma rede local (LAN) Ethernet</a:t>
                      </a:r>
                      <a:endParaRPr lang="pt-BR"/>
                    </a:p>
                  </a:txBody>
                  <a:tcPr/>
                </a:tc>
              </a:tr>
            </a:tbl>
          </a:graphicData>
        </a:graphic>
      </p:graphicFrame>
      <p:pic>
        <p:nvPicPr>
          <p:cNvPr id="307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486399" y="0"/>
            <a:ext cx="3362777" cy="216934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ustDataLst>
      <p:tags r:id="rId2"/>
    </p:custData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915409"/>
            <a:ext cx="8231464" cy="1802391"/>
          </a:xfrm>
        </p:spPr>
        <p:txBody>
          <a:bodyPr/>
          <a:lstStyle/>
          <a:p>
            <a:pPr rtl="0"/>
            <a:r>
              <a:rPr lang="pt-BR">
                <a:solidFill>
                  <a:schemeClr val="accent5">
                    <a:lumMod val="40000"/>
                    <a:lumOff val="60000"/>
                  </a:schemeClr>
                </a:solidFill>
              </a:rPr>
              <a:t>3.3 Conjuntos de protocolos</a:t>
            </a:r>
            <a:endParaRPr lang="pt-BR">
              <a:solidFill>
                <a:schemeClr val="accent5">
                  <a:lumMod val="40000"/>
                  <a:lumOff val="60000"/>
                </a:schemeClr>
              </a:solidFill>
            </a:endParaRPr>
          </a:p>
        </p:txBody>
      </p:sp>
    </p:spTree>
    <p:custDataLst>
      <p:tags r:id="rId1"/>
    </p:custData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r>
              <a:rPr lang="pt-BR" sz="1600"/>
              <a:t>Suítes de protocolos</a:t>
            </a:r>
            <a:br>
              <a:rPr lang="en-US" altLang="en-US" dirty="0"/>
            </a:br>
            <a:r>
              <a:rPr lang="pt-BR"/>
              <a:t>de rede de conjuntos de protocolos</a:t>
            </a:r>
            <a:endParaRPr lang="pt-BR"/>
          </a:p>
        </p:txBody>
      </p:sp>
      <p:sp>
        <p:nvSpPr>
          <p:cNvPr id="13315" name="Content Placeholder 2"/>
          <p:cNvSpPr>
            <a:spLocks noGrp="1"/>
          </p:cNvSpPr>
          <p:nvPr>
            <p:ph idx="1"/>
          </p:nvPr>
        </p:nvSpPr>
        <p:spPr>
          <a:xfrm>
            <a:off x="123574" y="867947"/>
            <a:ext cx="4349274" cy="3827878"/>
          </a:xfrm>
        </p:spPr>
        <p:txBody>
          <a:bodyPr/>
          <a:lstStyle/>
          <a:p>
            <a:pPr marL="0" indent="0" rtl="0">
              <a:buNone/>
            </a:pPr>
            <a:r>
              <a:rPr lang="pt-BR" sz="1400">
                <a:ea typeface="MS PGothic"/>
              </a:rPr>
              <a:t>Os protocolos devem ser capazes de funcionar com outros protocolos.</a:t>
            </a:r>
            <a:endParaRPr lang="pt-BR" sz="1400">
              <a:ea typeface="MS PGothic"/>
            </a:endParaRPr>
          </a:p>
          <a:p>
            <a:pPr marL="0" indent="0" rtl="0">
              <a:buNone/>
            </a:pPr>
            <a:r>
              <a:rPr lang="pt-BR" sz="1400">
                <a:ea typeface="MS PGothic"/>
              </a:rPr>
              <a:t>Suíte de Protocolos:</a:t>
            </a:r>
            <a:endParaRPr lang="pt-BR" sz="1400">
              <a:ea typeface="MS PGothic"/>
            </a:endParaRPr>
          </a:p>
          <a:p>
            <a:pPr lvl="1" rtl="0"/>
            <a:r>
              <a:rPr lang="pt-BR">
                <a:ea typeface="MS PGothic"/>
              </a:rPr>
              <a:t>Um grupo de protocolos inter-relacionados necessários para executar uma função de comunicação</a:t>
            </a:r>
            <a:endParaRPr lang="pt-BR">
              <a:ea typeface="MS PGothic"/>
            </a:endParaRPr>
          </a:p>
          <a:p>
            <a:pPr lvl="1" rtl="0"/>
            <a:r>
              <a:rPr lang="pt-BR">
                <a:ea typeface="MS PGothic"/>
              </a:rPr>
              <a:t>Conjuntos de regras que trabalham juntos para ajudar a resolver um problema</a:t>
            </a:r>
            <a:endParaRPr lang="pt-BR">
              <a:ea typeface="MS PGothic"/>
            </a:endParaRPr>
          </a:p>
          <a:p>
            <a:pPr marL="0" indent="0" rtl="0">
              <a:buNone/>
            </a:pPr>
            <a:r>
              <a:rPr lang="pt-BR" sz="1400">
                <a:ea typeface="MS PGothic"/>
              </a:rPr>
              <a:t>Os protocolos são visualizados em termos de camadas:</a:t>
            </a:r>
            <a:endParaRPr lang="pt-BR" sz="1400">
              <a:ea typeface="MS PGothic"/>
            </a:endParaRPr>
          </a:p>
          <a:p>
            <a:pPr lvl="1" rtl="0"/>
            <a:r>
              <a:rPr lang="pt-BR">
                <a:ea typeface="MS PGothic"/>
              </a:rPr>
              <a:t>Camadas mais altas</a:t>
            </a:r>
            <a:endParaRPr lang="pt-BR">
              <a:ea typeface="MS PGothic"/>
            </a:endParaRPr>
          </a:p>
          <a:p>
            <a:pPr lvl="1" rtl="0"/>
            <a:r>
              <a:rPr lang="pt-BR">
                <a:ea typeface="MS PGothic"/>
              </a:rPr>
              <a:t>Camadas Inferiores - preocupado com a movimentação de dados e fornecer serviços para camadas superiores</a:t>
            </a:r>
            <a:endParaRPr lang="pt-BR">
              <a:ea typeface="MS PGothic"/>
            </a:endParaRPr>
          </a:p>
          <a:p>
            <a:pPr lvl="1"/>
            <a:endParaRPr lang="en-CA" altLang="en-US" dirty="0"/>
          </a:p>
          <a:p>
            <a:pPr lvl="1"/>
            <a:endParaRPr lang="en-CA" altLang="en-US" dirty="0"/>
          </a:p>
          <a:p>
            <a:pPr lvl="1"/>
            <a:endParaRPr lang="en-CA" altLang="en-US" dirty="0"/>
          </a:p>
          <a:p>
            <a:pPr lvl="1"/>
            <a:endParaRPr lang="en-CA" altLang="en-US" dirty="0"/>
          </a:p>
          <a:p>
            <a:pPr lvl="1"/>
            <a:endParaRPr lang="en-CA" altLang="en-US" dirty="0"/>
          </a:p>
          <a:p>
            <a:pPr lvl="1"/>
            <a:endParaRPr lang="en-CA" altLang="en-US" dirty="0"/>
          </a:p>
        </p:txBody>
      </p:sp>
      <p:pic>
        <p:nvPicPr>
          <p:cNvPr id="4098"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572000" y="1239516"/>
            <a:ext cx="4448426" cy="28302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br>
              <a:rPr lang="en-US" altLang="en-US" dirty="0"/>
            </a:br>
            <a:r>
              <a:rPr lang="pt-BR"/>
              <a:t>Evolução de conjuntos de protocolos dos conjuntos de protocolos</a:t>
            </a:r>
            <a:endParaRPr lang="pt-BR"/>
          </a:p>
        </p:txBody>
      </p:sp>
      <p:sp>
        <p:nvSpPr>
          <p:cNvPr id="13315" name="Content Placeholder 2"/>
          <p:cNvSpPr>
            <a:spLocks noGrp="1"/>
          </p:cNvSpPr>
          <p:nvPr>
            <p:ph idx="1"/>
          </p:nvPr>
        </p:nvSpPr>
        <p:spPr>
          <a:xfrm>
            <a:off x="124427" y="791746"/>
            <a:ext cx="3997630" cy="3856453"/>
          </a:xfrm>
        </p:spPr>
        <p:txBody>
          <a:bodyPr/>
          <a:lstStyle/>
          <a:p>
            <a:pPr marL="0" indent="0" rtl="0">
              <a:buNone/>
            </a:pPr>
            <a:r>
              <a:rPr lang="pt-BR" sz="1600"/>
              <a:t>Existem vários conjuntos de protocolos.</a:t>
            </a:r>
            <a:endParaRPr lang="pt-BR" sz="1600"/>
          </a:p>
          <a:p>
            <a:pPr rtl="0">
              <a:buFont typeface="Arial" panose="020B0604020202020204" pitchFamily="34" charset="0"/>
              <a:buChar char="•"/>
            </a:pPr>
            <a:r>
              <a:rPr lang="pt-BR" sz="1400" b="1"/>
              <a:t>Internet Protocol Suite ou TCP/IP - </a:t>
            </a:r>
            <a:r>
              <a:rPr lang="pt-BR" sz="1400"/>
              <a:t>O</a:t>
            </a:r>
            <a:r>
              <a:rPr lang="pt-BR" sz="1400" b="1"/>
              <a:t> </a:t>
            </a:r>
            <a:r>
              <a:rPr lang="pt-BR" sz="1400"/>
              <a:t>conjunto de protocolos mais comum e mantido pela Internet Engineering Task Force (IETF)</a:t>
            </a:r>
            <a:endParaRPr lang="pt-BR" sz="1400"/>
          </a:p>
          <a:p>
            <a:pPr rtl="0">
              <a:buFont typeface="Arial" panose="020B0604020202020204" pitchFamily="34" charset="0"/>
              <a:buChar char="•"/>
            </a:pPr>
            <a:r>
              <a:rPr lang="pt-BR" sz="1400" b="1"/>
              <a:t>Protocolos de Interconexão de Sistemas Abertos (OSI) - </a:t>
            </a:r>
            <a:r>
              <a:rPr lang="pt-BR" sz="1400"/>
              <a:t>Desenvolvido</a:t>
            </a:r>
            <a:r>
              <a:rPr lang="pt-BR" sz="1400" b="1"/>
              <a:t> </a:t>
            </a:r>
            <a:r>
              <a:rPr lang="pt-BR" sz="1400"/>
              <a:t>pela Organização Internacional de Normalização (ISO) e pela União Internacional de Telecomunicações (UIT)</a:t>
            </a:r>
            <a:endParaRPr lang="pt-BR" sz="1400"/>
          </a:p>
          <a:p>
            <a:pPr rtl="0">
              <a:buFont typeface="Arial" panose="020B0604020202020204" pitchFamily="34" charset="0"/>
              <a:buChar char="•"/>
            </a:pPr>
            <a:r>
              <a:rPr lang="pt-BR" sz="1400" b="1"/>
              <a:t>AppleTalk - </a:t>
            </a:r>
            <a:r>
              <a:rPr lang="pt-BR" sz="1400"/>
              <a:t>Lançamento da suíte proprietária da Apple Inc.</a:t>
            </a:r>
            <a:endParaRPr lang="pt-BR" sz="1400"/>
          </a:p>
          <a:p>
            <a:pPr rtl="0">
              <a:buFont typeface="Arial" panose="020B0604020202020204" pitchFamily="34" charset="0"/>
              <a:buChar char="•"/>
            </a:pPr>
            <a:r>
              <a:rPr lang="pt-BR" sz="1400" b="1"/>
              <a:t>Novell NetWare - </a:t>
            </a:r>
            <a:r>
              <a:rPr lang="pt-BR" sz="1400"/>
              <a:t>Suíte proprietária desenvolvida pela Novell Inc.</a:t>
            </a:r>
            <a:endParaRPr lang="pt-BR" sz="1400"/>
          </a:p>
          <a:p>
            <a:pPr lvl="1"/>
            <a:endParaRPr lang="en-CA" altLang="en-US" dirty="0"/>
          </a:p>
        </p:txBody>
      </p:sp>
      <p:pic>
        <p:nvPicPr>
          <p:cNvPr id="5123"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122057" y="1093522"/>
            <a:ext cx="5021943" cy="29087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br>
              <a:rPr lang="en-US" altLang="en-US" dirty="0"/>
            </a:br>
            <a:r>
              <a:rPr lang="pt-BR"/>
              <a:t>Exemplo de protocolo TCP / IP</a:t>
            </a:r>
            <a:r>
              <a:rPr lang="pt-BR" sz="1600"/>
              <a:t> de conjuntos de protocolos</a:t>
            </a:r>
            <a:endParaRPr lang="pt-BR" sz="1600"/>
          </a:p>
        </p:txBody>
      </p:sp>
      <p:sp>
        <p:nvSpPr>
          <p:cNvPr id="13315" name="Content Placeholder 2"/>
          <p:cNvSpPr>
            <a:spLocks noGrp="1"/>
          </p:cNvSpPr>
          <p:nvPr>
            <p:ph idx="1"/>
          </p:nvPr>
        </p:nvSpPr>
        <p:spPr>
          <a:xfrm>
            <a:off x="123574" y="867947"/>
            <a:ext cx="3359855" cy="3733082"/>
          </a:xfrm>
        </p:spPr>
        <p:txBody>
          <a:bodyPr/>
          <a:lstStyle/>
          <a:p>
            <a:pPr rtl="0">
              <a:buFont typeface="Arial" panose="020B0604020202020204" pitchFamily="34" charset="0"/>
              <a:buChar char="•"/>
            </a:pPr>
            <a:r>
              <a:rPr lang="pt-BR" sz="1600"/>
              <a:t>Os protocolos TCP / IP operam nas camadas de aplicativo, transporte e Internet.</a:t>
            </a:r>
            <a:endParaRPr lang="pt-BR" sz="1600"/>
          </a:p>
          <a:p>
            <a:pPr rtl="0">
              <a:buFont typeface="Arial" panose="020B0604020202020204" pitchFamily="34" charset="0"/>
              <a:buChar char="•"/>
            </a:pPr>
            <a:r>
              <a:rPr lang="pt-BR" sz="1600"/>
              <a:t>Os protocolos LAN de camada de acesso à rede mais comuns são Ethernet e WLAN (LAN sem fio).</a:t>
            </a:r>
            <a:endParaRPr lang="pt-BR" sz="1600"/>
          </a:p>
          <a:p>
            <a:pPr lvl="1"/>
            <a:endParaRPr lang="en-CA" altLang="en-US" dirty="0"/>
          </a:p>
        </p:txBody>
      </p:sp>
      <p:pic>
        <p:nvPicPr>
          <p:cNvPr id="614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537933" y="955448"/>
            <a:ext cx="5388352" cy="32391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br>
              <a:rPr lang="en-US" altLang="en-US" dirty="0"/>
            </a:br>
            <a:r>
              <a:rPr lang="pt-BR"/>
              <a:t>Conjuntos de protocolo </a:t>
            </a:r>
            <a:r>
              <a:rPr lang="pt-BR" sz="1600"/>
              <a:t>STCP/IP Protocol Suite</a:t>
            </a:r>
            <a:endParaRPr lang="pt-BR" sz="1600"/>
          </a:p>
        </p:txBody>
      </p:sp>
      <p:sp>
        <p:nvSpPr>
          <p:cNvPr id="13315" name="Content Placeholder 2"/>
          <p:cNvSpPr>
            <a:spLocks noGrp="1"/>
          </p:cNvSpPr>
          <p:nvPr>
            <p:ph idx="1"/>
          </p:nvPr>
        </p:nvSpPr>
        <p:spPr>
          <a:xfrm>
            <a:off x="167116" y="820322"/>
            <a:ext cx="3359855" cy="3942178"/>
          </a:xfrm>
        </p:spPr>
        <p:txBody>
          <a:bodyPr/>
          <a:lstStyle/>
          <a:p>
            <a:pPr rtl="0">
              <a:buFont typeface="Arial" panose="020B0604020202020204" pitchFamily="34" charset="0"/>
              <a:buChar char="•"/>
            </a:pPr>
            <a:r>
              <a:rPr lang="pt-BR" sz="1400"/>
              <a:t>TCP/IP é o conjunto de protocolos usado pela internet e inclui muitos protocolos.</a:t>
            </a:r>
            <a:endParaRPr lang="pt-BR" sz="1400"/>
          </a:p>
          <a:p>
            <a:pPr rtl="0">
              <a:buFont typeface="Arial" panose="020B0604020202020204" pitchFamily="34" charset="0"/>
              <a:buChar char="•"/>
            </a:pPr>
            <a:r>
              <a:rPr lang="pt-BR" sz="1400"/>
              <a:t>O TCP/IP é:</a:t>
            </a:r>
            <a:endParaRPr lang="pt-BR" sz="1400"/>
          </a:p>
          <a:p>
            <a:pPr lvl="1" rtl="0"/>
            <a:r>
              <a:rPr lang="pt-BR"/>
              <a:t>Um conjunto de protocolos padrão aberto que está disponível gratuitamente para o público e pode ser usado por qualquer fornecedor</a:t>
            </a:r>
            <a:endParaRPr lang="pt-BR"/>
          </a:p>
          <a:p>
            <a:pPr lvl="1" rtl="0"/>
            <a:r>
              <a:rPr lang="pt-BR"/>
              <a:t>Um conjunto de protocolos baseado em padrões que é </a:t>
            </a:r>
            <a:r>
              <a:rPr lang="pt-BR" sz="1400"/>
              <a:t>endossado pelo setor de redes e aprovado por uma organização de padrões para garantir a interoperabilidade</a:t>
            </a:r>
            <a:endParaRPr lang="pt-BR" sz="1400"/>
          </a:p>
          <a:p>
            <a:pPr lvl="1"/>
            <a:endParaRPr lang="en-CA" altLang="en-US" sz="1200" dirty="0"/>
          </a:p>
        </p:txBody>
      </p:sp>
      <p:pic>
        <p:nvPicPr>
          <p:cNvPr id="717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526971" y="890281"/>
            <a:ext cx="5480277" cy="341161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br>
              <a:rPr lang="en-US" altLang="en-US" dirty="0"/>
            </a:br>
            <a:r>
              <a:rPr lang="pt-BR"/>
              <a:t>Conjuntos de protocolo </a:t>
            </a:r>
            <a:r>
              <a:rPr lang="pt-BR" sz="1600"/>
              <a:t>Processo de protocolo STCP/IP</a:t>
            </a:r>
            <a:endParaRPr lang="pt-BR" sz="1600"/>
          </a:p>
        </p:txBody>
      </p:sp>
      <p:sp>
        <p:nvSpPr>
          <p:cNvPr id="13315" name="Content Placeholder 2"/>
          <p:cNvSpPr>
            <a:spLocks noGrp="1"/>
          </p:cNvSpPr>
          <p:nvPr>
            <p:ph idx="1"/>
          </p:nvPr>
        </p:nvSpPr>
        <p:spPr>
          <a:xfrm>
            <a:off x="123574" y="867947"/>
            <a:ext cx="4361340" cy="859252"/>
          </a:xfrm>
        </p:spPr>
        <p:txBody>
          <a:bodyPr/>
          <a:lstStyle/>
          <a:p>
            <a:pPr rtl="0">
              <a:buFont typeface="Arial" panose="020B0604020202020204" pitchFamily="34" charset="0"/>
              <a:buChar char="•"/>
            </a:pPr>
            <a:r>
              <a:rPr lang="pt-BR" sz="1600"/>
              <a:t>Um servidor web encapsulando e enviando uma página da Web para um cliente.</a:t>
            </a:r>
            <a:endParaRPr lang="pt-BR" sz="1600"/>
          </a:p>
        </p:txBody>
      </p:sp>
      <p:sp>
        <p:nvSpPr>
          <p:cNvPr id="9" name="Content Placeholder 2"/>
          <p:cNvSpPr txBox="1"/>
          <p:nvPr/>
        </p:nvSpPr>
        <p:spPr bwMode="auto">
          <a:xfrm>
            <a:off x="4659086" y="867947"/>
            <a:ext cx="4361340" cy="859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lstStyle>
            <a:lvl1pPr marL="170180" indent="-170180" algn="l" defTabSz="684530"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MS PGothic" charset="0"/>
                <a:cs typeface="CiscoSans"/>
              </a:defRPr>
            </a:lvl1pPr>
            <a:lvl2pPr marL="358775" indent="-215900" algn="l" defTabSz="684530" rtl="0" eaLnBrk="1" fontAlgn="base" hangingPunct="1">
              <a:lnSpc>
                <a:spcPct val="100000"/>
              </a:lnSpc>
              <a:spcBef>
                <a:spcPts val="300"/>
              </a:spcBef>
              <a:spcAft>
                <a:spcPts val="300"/>
              </a:spcAft>
              <a:buClr>
                <a:schemeClr val="tx2"/>
              </a:buClr>
              <a:buFont typeface="Arial" panose="020B0604020202020204" pitchFamily="34" charset="0"/>
              <a:buChar char="•"/>
              <a:defRPr lang="en-US" sz="1400" kern="1200">
                <a:solidFill>
                  <a:srgbClr val="000000"/>
                </a:solidFill>
                <a:latin typeface="+mn-lt"/>
                <a:ea typeface="MS PGothic" charset="0"/>
                <a:cs typeface="CiscoSans"/>
              </a:defRPr>
            </a:lvl2pPr>
            <a:lvl3pPr marL="431800" indent="-170180" algn="l" defTabSz="684530" rtl="0" eaLnBrk="1" fontAlgn="base" hangingPunct="1">
              <a:lnSpc>
                <a:spcPct val="100000"/>
              </a:lnSpc>
              <a:spcBef>
                <a:spcPts val="300"/>
              </a:spcBef>
              <a:spcAft>
                <a:spcPts val="300"/>
              </a:spcAft>
              <a:buFont typeface="Arial" panose="020B0604020202020204" pitchFamily="34" charset="0"/>
              <a:buChar char="•"/>
              <a:defRPr lang="en-US" sz="1200" kern="1200">
                <a:solidFill>
                  <a:srgbClr val="000000"/>
                </a:solidFill>
                <a:latin typeface="+mn-lt"/>
                <a:ea typeface="MS PGothic" charset="0"/>
                <a:cs typeface="CiscoSans"/>
              </a:defRPr>
            </a:lvl3pPr>
            <a:lvl4pPr marL="503555" indent="-170180" algn="l" defTabSz="684530" rtl="0" eaLnBrk="1" fontAlgn="base" hangingPunct="1">
              <a:lnSpc>
                <a:spcPct val="100000"/>
              </a:lnSpc>
              <a:spcBef>
                <a:spcPts val="300"/>
              </a:spcBef>
              <a:spcAft>
                <a:spcPts val="300"/>
              </a:spcAft>
              <a:buFont typeface="Arial" panose="020B0604020202020204" pitchFamily="34" charset="0"/>
              <a:buChar char="•"/>
              <a:defRPr lang="en-US" sz="1100" kern="1200">
                <a:solidFill>
                  <a:srgbClr val="000000"/>
                </a:solidFill>
                <a:latin typeface="+mn-lt"/>
                <a:ea typeface="MS PGothic" charset="0"/>
                <a:cs typeface="CiscoSans"/>
              </a:defRPr>
            </a:lvl4pPr>
            <a:lvl5pPr marL="574675" indent="-170180" algn="l" defTabSz="684530" rtl="0" eaLnBrk="1" fontAlgn="base" hangingPunct="1">
              <a:lnSpc>
                <a:spcPct val="95000"/>
              </a:lnSpc>
              <a:spcBef>
                <a:spcPts val="625"/>
              </a:spcBef>
              <a:spcAft>
                <a:spcPct val="0"/>
              </a:spcAft>
              <a:buFont typeface="Arial" panose="020B0604020202020204" pitchFamily="34" charset="0"/>
              <a:buChar char="•"/>
              <a:defRPr lang="en-US" sz="1100" kern="1200" dirty="0">
                <a:solidFill>
                  <a:schemeClr val="tx1"/>
                </a:solidFill>
                <a:latin typeface="+mn-lt"/>
                <a:ea typeface="MS PGothic" charset="0"/>
                <a:cs typeface="CiscoSans"/>
              </a:defRPr>
            </a:lvl5pPr>
            <a:lvl6pPr marL="863600" indent="-171450" algn="l" defTabSz="685800" rtl="0" eaLnBrk="1" latinLnBrk="0" hangingPunct="1">
              <a:spcBef>
                <a:spcPts val="600"/>
              </a:spcBef>
              <a:buFont typeface="Arial" panose="020B0604020202020204" pitchFamily="34" charset="0"/>
              <a:buChar char="•"/>
              <a:defRPr sz="900" kern="1200" baseline="0">
                <a:solidFill>
                  <a:schemeClr val="tx1"/>
                </a:solidFill>
                <a:latin typeface="+mn-lt"/>
                <a:ea typeface="+mn-ea"/>
                <a:cs typeface="+mn-cs"/>
              </a:defRPr>
            </a:lvl6pPr>
            <a:lvl7pPr marL="935990" indent="-171450" algn="l" defTabSz="685800" rtl="0" eaLnBrk="1" latinLnBrk="0" hangingPunct="1">
              <a:spcBef>
                <a:spcPts val="600"/>
              </a:spcBef>
              <a:buFont typeface="Arial" panose="020B0604020202020204" pitchFamily="34" charset="0"/>
              <a:buChar char="•"/>
              <a:defRPr sz="800" kern="1200" baseline="0">
                <a:solidFill>
                  <a:schemeClr val="tx1"/>
                </a:solidFill>
                <a:latin typeface="+mn-lt"/>
                <a:ea typeface="+mn-ea"/>
                <a:cs typeface="+mn-cs"/>
              </a:defRPr>
            </a:lvl7pPr>
            <a:lvl8pPr marL="2400300" indent="0" algn="l" defTabSz="685800" rtl="0" eaLnBrk="1" latinLnBrk="0" hangingPunct="1">
              <a:spcBef>
                <a:spcPct val="20000"/>
              </a:spcBef>
              <a:buFont typeface="Arial" panose="020B0604020202020204" pitchFamily="34" charset="0"/>
              <a:buNone/>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a:lstStyle>
          <a:p>
            <a:pPr rtl="0">
              <a:buFont typeface="Arial" panose="020B0604020202020204" pitchFamily="34" charset="0"/>
              <a:buChar char="•"/>
            </a:pPr>
            <a:r>
              <a:rPr lang="pt-BR" sz="1600"/>
              <a:t>Um cliente desencapsulando a página da Web para o navegador da Web</a:t>
            </a:r>
            <a:endParaRPr lang="pt-BR" sz="1600"/>
          </a:p>
        </p:txBody>
      </p:sp>
      <p:pic>
        <p:nvPicPr>
          <p:cNvPr id="819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14363" y="2017471"/>
            <a:ext cx="4230816" cy="25731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45179" y="2090057"/>
            <a:ext cx="4286817" cy="242799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915409"/>
            <a:ext cx="8231464" cy="1802391"/>
          </a:xfrm>
        </p:spPr>
        <p:txBody>
          <a:bodyPr/>
          <a:lstStyle/>
          <a:p>
            <a:pPr rtl="0"/>
            <a:r>
              <a:rPr lang="pt-BR">
                <a:solidFill>
                  <a:schemeClr val="accent5">
                    <a:lumMod val="40000"/>
                    <a:lumOff val="60000"/>
                  </a:schemeClr>
                </a:solidFill>
              </a:rPr>
              <a:t>3.4 Empresas de padrões</a:t>
            </a:r>
            <a:endParaRPr lang="pt-BR">
              <a:solidFill>
                <a:schemeClr val="accent5">
                  <a:lumMod val="40000"/>
                  <a:lumOff val="60000"/>
                </a:schemeClr>
              </a:solidFill>
            </a:endParaRPr>
          </a:p>
        </p:txBody>
      </p:sp>
    </p:spTree>
    <p:custDataLst>
      <p:tags r:id="rId1"/>
    </p:custDataLst>
  </p:cSld>
  <p:clrMapOvr>
    <a:masterClrMapping/>
  </p:clrMapOvr>
  <p:transition spd="slow">
    <p:wip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0" y="0"/>
            <a:ext cx="9144000" cy="757551"/>
          </a:xfrm>
        </p:spPr>
        <p:txBody>
          <a:bodyPr/>
          <a:lstStyle/>
          <a:p>
            <a:pPr rtl="0"/>
            <a:r>
              <a:rPr lang="pt-BR" sz="1600"/>
              <a:t>Empresas</a:t>
            </a:r>
            <a:br>
              <a:rPr lang="en-US" altLang="en-US" sz="1600" dirty="0"/>
            </a:br>
            <a:r>
              <a:rPr lang="pt-BR"/>
              <a:t> de padrões </a:t>
            </a:r>
            <a:r>
              <a:rPr lang="pt-BR" sz="1600"/>
              <a:t>Padrões abertos</a:t>
            </a:r>
            <a:endParaRPr lang="pt-BR" sz="1600"/>
          </a:p>
        </p:txBody>
      </p:sp>
      <p:sp>
        <p:nvSpPr>
          <p:cNvPr id="55299" name="Rectangle 3"/>
          <p:cNvSpPr>
            <a:spLocks noGrp="1" noChangeArrowheads="1"/>
          </p:cNvSpPr>
          <p:nvPr>
            <p:ph type="body" idx="1"/>
          </p:nvPr>
        </p:nvSpPr>
        <p:spPr>
          <a:xfrm>
            <a:off x="4572000" y="757551"/>
            <a:ext cx="4401766" cy="3950636"/>
          </a:xfrm>
        </p:spPr>
        <p:txBody>
          <a:bodyPr/>
          <a:lstStyle/>
          <a:p>
            <a:pPr marL="0" indent="0" rtl="0">
              <a:buNone/>
            </a:pPr>
            <a:r>
              <a:rPr lang="pt-BR" sz="1600"/>
              <a:t>As normas abertas incentivam:</a:t>
            </a:r>
            <a:endParaRPr lang="pt-BR" sz="1600"/>
          </a:p>
          <a:p>
            <a:pPr rtl="0">
              <a:buFont typeface="Arial" panose="020B0604020202020204" pitchFamily="34" charset="0"/>
              <a:buChar char="•"/>
            </a:pPr>
            <a:r>
              <a:rPr lang="pt-BR" sz="1600"/>
              <a:t>interoperabilidade</a:t>
            </a:r>
            <a:endParaRPr lang="pt-BR" sz="1600"/>
          </a:p>
          <a:p>
            <a:pPr rtl="0">
              <a:buFont typeface="Arial" panose="020B0604020202020204" pitchFamily="34" charset="0"/>
              <a:buChar char="•"/>
            </a:pPr>
            <a:r>
              <a:rPr lang="pt-BR" sz="1600"/>
              <a:t>concorrência</a:t>
            </a:r>
            <a:endParaRPr lang="pt-BR" sz="1600"/>
          </a:p>
          <a:p>
            <a:pPr rtl="0">
              <a:buFont typeface="Arial" panose="020B0604020202020204" pitchFamily="34" charset="0"/>
              <a:buChar char="•"/>
            </a:pPr>
            <a:r>
              <a:rPr lang="pt-BR" sz="1600"/>
              <a:t>negócios</a:t>
            </a:r>
            <a:endParaRPr lang="pt-BR" sz="1600"/>
          </a:p>
          <a:p>
            <a:pPr marL="0" indent="0" rtl="0">
              <a:buNone/>
            </a:pPr>
            <a:r>
              <a:rPr lang="pt-BR" sz="1600"/>
              <a:t>As organizações de padrões são:</a:t>
            </a:r>
            <a:endParaRPr lang="pt-BR" sz="1600"/>
          </a:p>
          <a:p>
            <a:pPr rtl="0">
              <a:buFont typeface="Arial" panose="020B0604020202020204" pitchFamily="34" charset="0"/>
              <a:buChar char="•"/>
            </a:pPr>
            <a:r>
              <a:rPr lang="pt-BR" sz="1600"/>
              <a:t>fornecedor neutro </a:t>
            </a:r>
            <a:endParaRPr lang="pt-BR" sz="1600"/>
          </a:p>
          <a:p>
            <a:pPr rtl="0">
              <a:buFont typeface="Arial" panose="020B0604020202020204" pitchFamily="34" charset="0"/>
              <a:buChar char="•"/>
            </a:pPr>
            <a:r>
              <a:rPr lang="pt-BR" sz="1600"/>
              <a:t>organizações sem fins lucrativos </a:t>
            </a:r>
            <a:endParaRPr lang="pt-BR" sz="1600"/>
          </a:p>
          <a:p>
            <a:pPr rtl="0">
              <a:buFont typeface="Arial" panose="020B0604020202020204" pitchFamily="34" charset="0"/>
              <a:buChar char="•"/>
            </a:pPr>
            <a:r>
              <a:rPr lang="pt-BR" sz="1600"/>
              <a:t>criado para desenvolver e promover o conceito de normas abertas. </a:t>
            </a:r>
            <a:endParaRPr lang="pt-BR" sz="1600"/>
          </a:p>
        </p:txBody>
      </p:sp>
      <p:pic>
        <p:nvPicPr>
          <p:cNvPr id="9218"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59658" y="832640"/>
            <a:ext cx="4308835" cy="30717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0" y="0"/>
            <a:ext cx="4499429" cy="757551"/>
          </a:xfrm>
        </p:spPr>
        <p:txBody>
          <a:bodyPr/>
          <a:lstStyle/>
          <a:p>
            <a:pPr rtl="0"/>
            <a:r>
              <a:rPr lang="pt-BR" sz="1600"/>
              <a:t>Empresas de padrões</a:t>
            </a:r>
            <a:br>
              <a:rPr lang="en-US" altLang="en-US" sz="1600" dirty="0"/>
            </a:br>
            <a:r>
              <a:rPr lang="pt-BR"/>
              <a:t> </a:t>
            </a:r>
            <a:r>
              <a:rPr lang="pt-BR" sz="1600"/>
              <a:t>Padrões de Internet</a:t>
            </a:r>
            <a:endParaRPr lang="pt-BR" sz="1600"/>
          </a:p>
        </p:txBody>
      </p:sp>
      <p:sp>
        <p:nvSpPr>
          <p:cNvPr id="55299" name="Rectangle 3"/>
          <p:cNvSpPr>
            <a:spLocks noGrp="1" noChangeArrowheads="1"/>
          </p:cNvSpPr>
          <p:nvPr>
            <p:ph type="body" idx="1"/>
          </p:nvPr>
        </p:nvSpPr>
        <p:spPr>
          <a:xfrm>
            <a:off x="4499429" y="220523"/>
            <a:ext cx="4401766" cy="4322448"/>
          </a:xfrm>
        </p:spPr>
        <p:txBody>
          <a:bodyPr/>
          <a:lstStyle/>
          <a:p>
            <a:pPr rtl="0">
              <a:buFont typeface="Arial" panose="020B0604020202020204" pitchFamily="34" charset="0"/>
              <a:buChar char="•"/>
            </a:pPr>
            <a:r>
              <a:rPr lang="pt-BR" sz="1800" b="1"/>
              <a:t>Internet Society (ISOC)</a:t>
            </a:r>
            <a:r>
              <a:rPr lang="pt-BR" sz="1800"/>
              <a:t> - Promove o desenvolvimento aberto e a evolução da Internet</a:t>
            </a:r>
            <a:endParaRPr lang="pt-BR" sz="1800"/>
          </a:p>
          <a:p>
            <a:pPr rtl="0">
              <a:buFont typeface="Arial" panose="020B0604020202020204" pitchFamily="34" charset="0"/>
              <a:buChar char="•"/>
            </a:pPr>
            <a:r>
              <a:rPr lang="pt-BR" sz="1800" b="1"/>
              <a:t>Conselho de Arquitetura da Internet (IAB)</a:t>
            </a:r>
            <a:r>
              <a:rPr lang="pt-BR" sz="1800"/>
              <a:t> - Responsável pelo gerenciamento e desenvolvimento geral dos padrões da Internet.</a:t>
            </a:r>
            <a:endParaRPr lang="pt-BR" sz="1800"/>
          </a:p>
          <a:p>
            <a:pPr rtl="0">
              <a:buFont typeface="Arial" panose="020B0604020202020204" pitchFamily="34" charset="0"/>
              <a:buChar char="•"/>
            </a:pPr>
            <a:r>
              <a:rPr lang="pt-BR" sz="1800" b="1"/>
              <a:t>IETF (Internet Engineering Task Force)</a:t>
            </a:r>
            <a:r>
              <a:rPr lang="pt-BR" sz="1800"/>
              <a:t> - Desenvolve, atualiza e mantém tecnologias de Internet e TCP / IP</a:t>
            </a:r>
            <a:endParaRPr lang="pt-BR" sz="1800"/>
          </a:p>
          <a:p>
            <a:pPr rtl="0">
              <a:buFont typeface="Arial" panose="020B0604020202020204" pitchFamily="34" charset="0"/>
              <a:buChar char="•"/>
            </a:pPr>
            <a:r>
              <a:rPr lang="pt-BR" sz="1800" b="1"/>
              <a:t>Força-Tarefa de Pesquisa na Internet (IRTF)</a:t>
            </a:r>
            <a:r>
              <a:rPr lang="pt-BR" sz="1800"/>
              <a:t> - Focada em pesquisas de longo prazo relacionadas à Internet e aos protocolos TCP / IP</a:t>
            </a:r>
            <a:endParaRPr lang="pt-BR" sz="1800"/>
          </a:p>
        </p:txBody>
      </p:sp>
      <p:pic>
        <p:nvPicPr>
          <p:cNvPr id="1024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45144" y="1006420"/>
            <a:ext cx="4354285" cy="32891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0" y="0"/>
            <a:ext cx="8955314" cy="757551"/>
          </a:xfrm>
        </p:spPr>
        <p:txBody>
          <a:bodyPr/>
          <a:lstStyle/>
          <a:p>
            <a:pPr rtl="0"/>
            <a:r>
              <a:rPr lang="pt-BR" sz="1600"/>
              <a:t>Empresas de padrões</a:t>
            </a:r>
            <a:br>
              <a:rPr lang="en-US" altLang="en-US" sz="1600" dirty="0"/>
            </a:br>
            <a:r>
              <a:rPr lang="pt-BR"/>
              <a:t> </a:t>
            </a:r>
            <a:r>
              <a:rPr lang="pt-BR" sz="1600"/>
              <a:t>Padrões de Internet</a:t>
            </a:r>
            <a:endParaRPr lang="pt-BR" sz="1600"/>
          </a:p>
        </p:txBody>
      </p:sp>
      <p:sp>
        <p:nvSpPr>
          <p:cNvPr id="55299" name="Rectangle 3"/>
          <p:cNvSpPr>
            <a:spLocks noGrp="1" noChangeArrowheads="1"/>
          </p:cNvSpPr>
          <p:nvPr>
            <p:ph type="body" idx="1"/>
          </p:nvPr>
        </p:nvSpPr>
        <p:spPr>
          <a:xfrm>
            <a:off x="4648898" y="782410"/>
            <a:ext cx="4247972" cy="3672114"/>
          </a:xfrm>
        </p:spPr>
        <p:txBody>
          <a:bodyPr/>
          <a:lstStyle/>
          <a:p>
            <a:pPr marL="0" indent="0" rtl="0">
              <a:buNone/>
            </a:pPr>
            <a:r>
              <a:rPr lang="pt-BR" sz="1600"/>
              <a:t>Organizações de padrões envolvidas no desenvolvimento e suporte de TCP / IP</a:t>
            </a:r>
            <a:endParaRPr lang="pt-BR" sz="1600"/>
          </a:p>
          <a:p>
            <a:pPr lvl="1" rtl="0"/>
            <a:r>
              <a:rPr lang="pt-BR" sz="1600" b="1"/>
              <a:t>Corporação da Internet para nomes e números atribuídos (ICANN)</a:t>
            </a:r>
            <a:r>
              <a:rPr lang="pt-BR" sz="1600"/>
              <a:t> - Coordena a alocação de endereços IP, o gerenciamento de nomes de domínio e a atribuição de outras informações</a:t>
            </a:r>
            <a:endParaRPr lang="pt-BR" sz="1600"/>
          </a:p>
          <a:p>
            <a:pPr lvl="1" rtl="0"/>
            <a:r>
              <a:rPr lang="pt-BR" sz="1600" b="1"/>
              <a:t>Autoridade para atribuição de números da Internet (IANA)</a:t>
            </a:r>
            <a:r>
              <a:rPr lang="pt-BR" sz="1600"/>
              <a:t> - supervisiona e gerencia a alocação de endereços IP, o gerenciamento de nomes de domínio e os identificadores de protocolo da ICANN</a:t>
            </a:r>
            <a:endParaRPr lang="pt-BR" sz="1600"/>
          </a:p>
        </p:txBody>
      </p:sp>
      <p:pic>
        <p:nvPicPr>
          <p:cNvPr id="1126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17022" y="1277257"/>
            <a:ext cx="4378082" cy="274047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0" y="0"/>
            <a:ext cx="9144000" cy="757551"/>
          </a:xfrm>
        </p:spPr>
        <p:txBody>
          <a:bodyPr/>
          <a:lstStyle/>
          <a:p>
            <a:pPr rtl="0"/>
            <a:r>
              <a:rPr lang="pt-BR" sz="1600"/>
              <a:t>Organizações de padrões</a:t>
            </a:r>
            <a:br>
              <a:rPr lang="en-US" altLang="en-US" sz="1600" dirty="0"/>
            </a:br>
            <a:r>
              <a:rPr lang="pt-BR"/>
              <a:t>Padrões eletrônicos e de comunicações</a:t>
            </a:r>
            <a:endParaRPr lang="pt-BR"/>
          </a:p>
        </p:txBody>
      </p:sp>
      <p:sp>
        <p:nvSpPr>
          <p:cNvPr id="55299" name="Rectangle 3"/>
          <p:cNvSpPr>
            <a:spLocks noGrp="1" noChangeArrowheads="1"/>
          </p:cNvSpPr>
          <p:nvPr>
            <p:ph type="body" idx="1"/>
          </p:nvPr>
        </p:nvSpPr>
        <p:spPr>
          <a:xfrm>
            <a:off x="116114" y="821051"/>
            <a:ext cx="8785081" cy="3794491"/>
          </a:xfrm>
        </p:spPr>
        <p:txBody>
          <a:bodyPr/>
          <a:lstStyle/>
          <a:p>
            <a:pPr rtl="0">
              <a:buFont typeface="Arial" panose="020B0604020202020204" pitchFamily="34" charset="0"/>
              <a:buChar char="•"/>
            </a:pPr>
            <a:r>
              <a:rPr lang="pt-BR" sz="1800" b="1"/>
              <a:t>Instituto de Engenheiros Elétricos e Eletrônicos (IEEE</a:t>
            </a:r>
            <a:r>
              <a:rPr lang="pt-BR" sz="1800"/>
              <a:t>, pronunciado "I-triple-E") - dedicado à criação de padrões em potência e energia, saúde, telecomunicações e redes</a:t>
            </a:r>
            <a:endParaRPr lang="pt-BR" sz="1800"/>
          </a:p>
          <a:p>
            <a:pPr rtl="0">
              <a:buFont typeface="Arial" panose="020B0604020202020204" pitchFamily="34" charset="0"/>
              <a:buChar char="•"/>
            </a:pPr>
            <a:r>
              <a:rPr lang="pt-BR" sz="1800" b="1"/>
              <a:t>Electronic Industries Alliance (EIA)</a:t>
            </a:r>
            <a:r>
              <a:rPr lang="pt-BR" sz="1800"/>
              <a:t> - desenvolve padrões relacionados à fiação elétrica, conectores e racks de 19 polegadas usados para montar equipamentos de rede</a:t>
            </a:r>
            <a:endParaRPr lang="pt-BR" sz="1800"/>
          </a:p>
          <a:p>
            <a:pPr rtl="0">
              <a:buFont typeface="Arial" panose="020B0604020202020204" pitchFamily="34" charset="0"/>
              <a:buChar char="•"/>
            </a:pPr>
            <a:r>
              <a:rPr lang="pt-BR" sz="1800" b="1"/>
              <a:t>Associação da Indústria de Telecomunicações (TIA)</a:t>
            </a:r>
            <a:r>
              <a:rPr lang="pt-BR" sz="1800"/>
              <a:t> - desenvolve padrões de comunicação em equipamentos de rádio, torres celulares, dispositivos de Voz sobre IP (VoIP), comunicações por satélite e muito mais</a:t>
            </a:r>
            <a:endParaRPr lang="pt-BR" sz="1800"/>
          </a:p>
          <a:p>
            <a:pPr rtl="0">
              <a:buFont typeface="Arial" panose="020B0604020202020204" pitchFamily="34" charset="0"/>
              <a:buChar char="•"/>
            </a:pPr>
            <a:r>
              <a:rPr lang="pt-BR" sz="1800" b="1"/>
              <a:t>Setor de padronização de telecomunicações e união internacional de telecomunicações (ITU-T)</a:t>
            </a:r>
            <a:r>
              <a:rPr lang="pt-BR" sz="1800"/>
              <a:t> - define padrões para compactação de vídeo, IPTV (Internet Protocol Television) e comunicações de banda larga, como uma linha de assinante digital (DSL)</a:t>
            </a:r>
            <a:endParaRPr lang="pt-BR" sz="1800"/>
          </a:p>
        </p:txBody>
      </p:sp>
    </p:spTree>
  </p:cSld>
  <p:clrMapOvr>
    <a:masterClrMapping/>
  </p:clrMapOvr>
  <p:transition spd="slow">
    <p:wip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0" y="0"/>
            <a:ext cx="9144000" cy="757551"/>
          </a:xfrm>
        </p:spPr>
        <p:txBody>
          <a:bodyPr/>
          <a:lstStyle/>
          <a:p>
            <a:pPr rtl="0"/>
            <a:br>
              <a:rPr lang="en-US" altLang="en-US" sz="1600" dirty="0"/>
            </a:br>
            <a:r>
              <a:rPr lang="pt-BR"/>
              <a:t>Empresas de padrões </a:t>
            </a:r>
            <a:r>
              <a:rPr lang="pt-BR" sz="1600"/>
              <a:t>Laboratório - Pesquisa dos padrões de rede</a:t>
            </a:r>
            <a:endParaRPr lang="pt-BR" sz="1600"/>
          </a:p>
        </p:txBody>
      </p:sp>
      <p:sp>
        <p:nvSpPr>
          <p:cNvPr id="55299" name="Rectangle 3"/>
          <p:cNvSpPr>
            <a:spLocks noGrp="1" noChangeArrowheads="1"/>
          </p:cNvSpPr>
          <p:nvPr>
            <p:ph type="body" idx="1"/>
          </p:nvPr>
        </p:nvSpPr>
        <p:spPr>
          <a:xfrm>
            <a:off x="116114" y="821051"/>
            <a:ext cx="8785081" cy="3794491"/>
          </a:xfrm>
        </p:spPr>
        <p:txBody>
          <a:bodyPr/>
          <a:lstStyle/>
          <a:p>
            <a:pPr marL="0" indent="0" rtl="0">
              <a:buNone/>
            </a:pPr>
            <a:r>
              <a:rPr lang="pt-BR" sz="1800"/>
              <a:t>Neste laboratório, você fará o seguinte:</a:t>
            </a:r>
            <a:endParaRPr lang="pt-BR" sz="1800"/>
          </a:p>
          <a:p>
            <a:pPr lvl="1" rtl="0"/>
            <a:r>
              <a:rPr lang="pt-BR" sz="1700"/>
              <a:t>Parte 1: pesquisar Organizações Padronizadoras de rede</a:t>
            </a:r>
            <a:endParaRPr lang="pt-BR" sz="1700"/>
          </a:p>
          <a:p>
            <a:pPr lvl="1" rtl="0"/>
            <a:r>
              <a:rPr lang="pt-BR" sz="1700"/>
              <a:t>Parte 2: refletir sobre as experiências de rede da Internet e do computador</a:t>
            </a:r>
            <a:endParaRPr lang="pt-BR" sz="1700"/>
          </a:p>
        </p:txBody>
      </p:sp>
    </p:spTree>
  </p:cSld>
  <p:clrMapOvr>
    <a:masterClrMapping/>
  </p:clrMapOvr>
  <p:transition spd="slow">
    <p:wip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915409"/>
            <a:ext cx="8231464" cy="1802391"/>
          </a:xfrm>
        </p:spPr>
        <p:txBody>
          <a:bodyPr/>
          <a:lstStyle/>
          <a:p>
            <a:pPr rtl="0"/>
            <a:r>
              <a:rPr lang="pt-BR">
                <a:solidFill>
                  <a:schemeClr val="accent5">
                    <a:lumMod val="40000"/>
                    <a:lumOff val="60000"/>
                  </a:schemeClr>
                </a:solidFill>
              </a:rPr>
              <a:t>3.5 Modelos de referência</a:t>
            </a:r>
            <a:endParaRPr lang="pt-BR">
              <a:solidFill>
                <a:schemeClr val="accent5">
                  <a:lumMod val="40000"/>
                  <a:lumOff val="60000"/>
                </a:schemeClr>
              </a:solidFill>
            </a:endParaRPr>
          </a:p>
        </p:txBody>
      </p:sp>
    </p:spTree>
    <p:custDataLst>
      <p:tags r:id="rId1"/>
    </p:custDataLst>
  </p:cSld>
  <p:clrMapOvr>
    <a:masterClrMapping/>
  </p:clrMapOvr>
  <p:transition spd="slow">
    <p:wip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br>
              <a:rPr lang="en-US" altLang="en-US" dirty="0"/>
            </a:br>
            <a:r>
              <a:rPr lang="pt-BR"/>
              <a:t>Modelos de referência </a:t>
            </a:r>
            <a:r>
              <a:rPr lang="pt-BR" sz="1600"/>
              <a:t>Os benefícios de se usar um modelo de camadas</a:t>
            </a:r>
            <a:endParaRPr lang="pt-BR" sz="1600"/>
          </a:p>
        </p:txBody>
      </p:sp>
      <p:sp>
        <p:nvSpPr>
          <p:cNvPr id="13315" name="Content Placeholder 2"/>
          <p:cNvSpPr>
            <a:spLocks noGrp="1"/>
          </p:cNvSpPr>
          <p:nvPr>
            <p:ph idx="1"/>
          </p:nvPr>
        </p:nvSpPr>
        <p:spPr>
          <a:xfrm>
            <a:off x="5453349" y="1019280"/>
            <a:ext cx="3690651" cy="3323113"/>
          </a:xfrm>
        </p:spPr>
        <p:txBody>
          <a:bodyPr/>
          <a:lstStyle/>
          <a:p>
            <a:pPr marL="0" indent="0" rtl="0">
              <a:buNone/>
            </a:pPr>
            <a:r>
              <a:rPr lang="pt-BR" sz="1600"/>
              <a:t>Conceitos complexos, como a forma como uma rede opera, podem ser difíceis de explicar e compreender. Por esse motivo, um modelo em camadas é usado.</a:t>
            </a:r>
            <a:endParaRPr lang="pt-BR" sz="1600"/>
          </a:p>
          <a:p>
            <a:pPr marL="0" indent="0" rtl="0">
              <a:buNone/>
            </a:pPr>
            <a:r>
              <a:rPr lang="pt-BR" sz="1600"/>
              <a:t>Dois modelos em camadas descrevem as operações de rede:</a:t>
            </a:r>
            <a:endParaRPr lang="pt-BR" sz="1600"/>
          </a:p>
          <a:p>
            <a:pPr rtl="0">
              <a:buFont typeface="Arial" panose="020B0604020202020204" pitchFamily="34" charset="0"/>
              <a:buChar char="•"/>
            </a:pPr>
            <a:r>
              <a:rPr lang="pt-BR" sz="1600"/>
              <a:t>Modelo de referência OSI (Open System Interconnection)</a:t>
            </a:r>
            <a:endParaRPr lang="pt-BR" sz="1600"/>
          </a:p>
          <a:p>
            <a:pPr rtl="0">
              <a:buFont typeface="Arial" panose="020B0604020202020204" pitchFamily="34" charset="0"/>
              <a:buChar char="•"/>
            </a:pPr>
            <a:r>
              <a:rPr lang="pt-BR" sz="1600"/>
              <a:t>Modelo de referência TCP/IP</a:t>
            </a:r>
            <a:endParaRPr lang="pt-BR" sz="1600"/>
          </a:p>
          <a:p>
            <a:pPr lvl="1"/>
            <a:endParaRPr lang="en-CA" altLang="en-US" dirty="0"/>
          </a:p>
          <a:p>
            <a:pPr lvl="1"/>
            <a:endParaRPr lang="en-CA" altLang="en-US" dirty="0"/>
          </a:p>
        </p:txBody>
      </p:sp>
      <p:pic>
        <p:nvPicPr>
          <p:cNvPr id="1229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798285"/>
            <a:ext cx="5266953" cy="422819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r>
              <a:rPr lang="pt-BR" sz="1600"/>
              <a:t>Modelos de referência </a:t>
            </a:r>
            <a:br>
              <a:rPr lang="en-US" altLang="en-US" dirty="0"/>
            </a:br>
            <a:r>
              <a:rPr lang="pt-BR"/>
              <a:t>Os benefícios de se usar um modelo de camadas (Cont.)</a:t>
            </a:r>
            <a:endParaRPr lang="pt-BR"/>
          </a:p>
        </p:txBody>
      </p:sp>
      <p:sp>
        <p:nvSpPr>
          <p:cNvPr id="13315" name="Content Placeholder 2"/>
          <p:cNvSpPr>
            <a:spLocks noGrp="1"/>
          </p:cNvSpPr>
          <p:nvPr>
            <p:ph idx="1"/>
          </p:nvPr>
        </p:nvSpPr>
        <p:spPr>
          <a:xfrm>
            <a:off x="290286" y="798944"/>
            <a:ext cx="8853715" cy="3352142"/>
          </a:xfrm>
        </p:spPr>
        <p:txBody>
          <a:bodyPr/>
          <a:lstStyle/>
          <a:p>
            <a:pPr marL="0" indent="0" rtl="0">
              <a:buNone/>
            </a:pPr>
            <a:r>
              <a:rPr lang="pt-BR" sz="1800"/>
              <a:t>Estes são os benefícios do uso de um modelo em camadas:</a:t>
            </a:r>
            <a:endParaRPr lang="pt-BR" sz="1800"/>
          </a:p>
          <a:p>
            <a:pPr rtl="0">
              <a:buFont typeface="Arial" panose="020B0604020202020204" pitchFamily="34" charset="0"/>
              <a:buChar char="•"/>
            </a:pPr>
            <a:r>
              <a:rPr lang="pt-BR" sz="1800"/>
              <a:t>Auxiliar no projeto de protocolos porque os protocolos que operam em uma camada específica definiram as informações sobre as quais atuam e uma interface definida para as camadas acima e abaixo</a:t>
            </a:r>
            <a:endParaRPr lang="pt-BR" sz="1800"/>
          </a:p>
          <a:p>
            <a:pPr rtl="0">
              <a:buFont typeface="Arial" panose="020B0604020202020204" pitchFamily="34" charset="0"/>
              <a:buChar char="•"/>
            </a:pPr>
            <a:r>
              <a:rPr lang="pt-BR" sz="1800"/>
              <a:t>Estimula a competição porque os produtos de diferentes fornecedores podem trabalhar em conjunto</a:t>
            </a:r>
            <a:endParaRPr lang="pt-BR" sz="1800"/>
          </a:p>
          <a:p>
            <a:pPr rtl="0">
              <a:buFont typeface="Arial" panose="020B0604020202020204" pitchFamily="34" charset="0"/>
              <a:buChar char="•"/>
            </a:pPr>
            <a:r>
              <a:rPr lang="pt-BR" sz="1800"/>
              <a:t>Impedir que alterações de tecnologia ou capacidade em uma camada afetem outras camadas acima e abaixo</a:t>
            </a:r>
            <a:endParaRPr lang="pt-BR" sz="1800"/>
          </a:p>
          <a:p>
            <a:pPr rtl="0">
              <a:buFont typeface="Arial" panose="020B0604020202020204" pitchFamily="34" charset="0"/>
              <a:buChar char="•"/>
            </a:pPr>
            <a:r>
              <a:rPr lang="pt-BR" sz="1800"/>
              <a:t>Fornece um idioma comum para descrever funções e habilidades de rede. </a:t>
            </a:r>
            <a:endParaRPr lang="pt-BR" sz="1800"/>
          </a:p>
          <a:p>
            <a:pPr lvl="1"/>
            <a:endParaRPr lang="en-CA" altLang="en-US" dirty="0"/>
          </a:p>
          <a:p>
            <a:pPr lvl="1"/>
            <a:endParaRPr lang="en-CA" altLang="en-US" dirty="0"/>
          </a:p>
          <a:p>
            <a:pPr lvl="1"/>
            <a:endParaRPr lang="en-CA" altLang="en-US" dirty="0"/>
          </a:p>
        </p:txBody>
      </p:sp>
    </p:spTree>
  </p:cSld>
  <p:clrMapOvr>
    <a:masterClrMapping/>
  </p:clrMapOvr>
  <p:transition spd="slow">
    <p:wip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101601"/>
            <a:ext cx="8783638" cy="754742"/>
          </a:xfrm>
        </p:spPr>
        <p:txBody>
          <a:bodyPr/>
          <a:lstStyle/>
          <a:p>
            <a:pPr rtl="0"/>
            <a:br>
              <a:rPr lang="en-US" altLang="en-US" dirty="0"/>
            </a:br>
            <a:r>
              <a:rPr lang="pt-BR" sz="2400"/>
              <a:t>Modelos de referência </a:t>
            </a:r>
            <a:r>
              <a:rPr lang="pt-BR" sz="1600"/>
              <a:t>O modelo de referência OSI</a:t>
            </a:r>
            <a:endParaRPr lang="pt-BR" sz="1600"/>
          </a:p>
        </p:txBody>
      </p:sp>
      <p:graphicFrame>
        <p:nvGraphicFramePr>
          <p:cNvPr id="5" name="Table 4"/>
          <p:cNvGraphicFramePr>
            <a:graphicFrameLocks noGrp="1"/>
          </p:cNvGraphicFramePr>
          <p:nvPr/>
        </p:nvGraphicFramePr>
        <p:xfrm>
          <a:off x="362857" y="955226"/>
          <a:ext cx="8215086" cy="3884459"/>
        </p:xfrm>
        <a:graphic>
          <a:graphicData uri="http://schemas.openxmlformats.org/drawingml/2006/table">
            <a:tbl>
              <a:tblPr firstRow="1" firstCol="1" bandRow="1">
                <a:tableStyleId>{5C22544A-7EE6-4342-B048-85BDC9FD1C3A}</a:tableStyleId>
              </a:tblPr>
              <a:tblGrid>
                <a:gridCol w="1675263"/>
                <a:gridCol w="6539823"/>
              </a:tblGrid>
              <a:tr h="314586">
                <a:tc>
                  <a:txBody>
                    <a:bodyPr/>
                    <a:lstStyle/>
                    <a:p>
                      <a:pPr rtl="0"/>
                      <a:r>
                        <a:rPr lang="pt-BR" b="1">
                          <a:effectLst/>
                        </a:rPr>
                        <a:t>Camada de modelo OSI</a:t>
                      </a:r>
                      <a:endParaRPr lang="pt-BR" b="1">
                        <a:effectLst/>
                      </a:endParaRPr>
                    </a:p>
                  </a:txBody>
                  <a:tcPr anchor="ctr"/>
                </a:tc>
                <a:tc>
                  <a:txBody>
                    <a:bodyPr/>
                    <a:lstStyle/>
                    <a:p>
                      <a:pPr rtl="0"/>
                      <a:r>
                        <a:rPr lang="pt-BR" b="1">
                          <a:effectLst/>
                        </a:rPr>
                        <a:t>Descrição</a:t>
                      </a:r>
                      <a:endParaRPr lang="pt-BR" b="1">
                        <a:effectLst/>
                      </a:endParaRPr>
                    </a:p>
                  </a:txBody>
                  <a:tcPr anchor="ctr"/>
                </a:tc>
              </a:tr>
              <a:tr h="294785">
                <a:tc>
                  <a:txBody>
                    <a:bodyPr/>
                    <a:lstStyle/>
                    <a:p>
                      <a:pPr rtl="0"/>
                      <a:r>
                        <a:rPr lang="pt-BR" b="1"/>
                        <a:t>7 - Aplicação</a:t>
                      </a:r>
                      <a:endParaRPr lang="pt-BR" b="1"/>
                    </a:p>
                  </a:txBody>
                  <a:tcPr anchor="ctr"/>
                </a:tc>
                <a:tc>
                  <a:txBody>
                    <a:bodyPr/>
                    <a:lstStyle/>
                    <a:p>
                      <a:pPr rtl="0"/>
                      <a:r>
                        <a:rPr lang="pt-BR"/>
                        <a:t>Contém protocolos usados para comunicações processo a processo</a:t>
                      </a:r>
                      <a:endParaRPr lang="pt-BR"/>
                    </a:p>
                  </a:txBody>
                  <a:tcPr anchor="ctr"/>
                </a:tc>
              </a:tr>
              <a:tr h="485587">
                <a:tc>
                  <a:txBody>
                    <a:bodyPr/>
                    <a:lstStyle/>
                    <a:p>
                      <a:pPr rtl="0"/>
                      <a:r>
                        <a:rPr lang="pt-BR" b="1"/>
                        <a:t>6 - Apresentação</a:t>
                      </a:r>
                      <a:endParaRPr lang="pt-BR" b="1"/>
                    </a:p>
                  </a:txBody>
                  <a:tcPr anchor="ctr"/>
                </a:tc>
                <a:tc>
                  <a:txBody>
                    <a:bodyPr/>
                    <a:lstStyle/>
                    <a:p>
                      <a:pPr rtl="0"/>
                      <a:r>
                        <a:rPr lang="pt-BR"/>
                        <a:t>Fornece representação comum dos dados transferidos entre os serviços da camada de aplicativo.</a:t>
                      </a:r>
                      <a:endParaRPr lang="pt-BR"/>
                    </a:p>
                  </a:txBody>
                  <a:tcPr anchor="ctr"/>
                </a:tc>
              </a:tr>
              <a:tr h="485587">
                <a:tc>
                  <a:txBody>
                    <a:bodyPr/>
                    <a:lstStyle/>
                    <a:p>
                      <a:pPr rtl="0"/>
                      <a:r>
                        <a:rPr lang="pt-BR" b="1"/>
                        <a:t>5 - Sessão</a:t>
                      </a:r>
                      <a:endParaRPr lang="pt-BR" b="1"/>
                    </a:p>
                  </a:txBody>
                  <a:tcPr anchor="ctr"/>
                </a:tc>
                <a:tc>
                  <a:txBody>
                    <a:bodyPr/>
                    <a:lstStyle/>
                    <a:p>
                      <a:pPr rtl="0"/>
                      <a:r>
                        <a:rPr lang="pt-BR"/>
                        <a:t>Fornece serviços para a camada de apresentação e para gerenciar a troca de dados.</a:t>
                      </a:r>
                      <a:endParaRPr lang="pt-BR"/>
                    </a:p>
                  </a:txBody>
                  <a:tcPr anchor="ctr"/>
                </a:tc>
              </a:tr>
              <a:tr h="485587">
                <a:tc>
                  <a:txBody>
                    <a:bodyPr/>
                    <a:lstStyle/>
                    <a:p>
                      <a:pPr rtl="0"/>
                      <a:r>
                        <a:rPr lang="pt-BR" b="1"/>
                        <a:t>4 - Transporte</a:t>
                      </a:r>
                      <a:endParaRPr lang="pt-BR" b="1"/>
                    </a:p>
                  </a:txBody>
                  <a:tcPr anchor="ctr"/>
                </a:tc>
                <a:tc>
                  <a:txBody>
                    <a:bodyPr/>
                    <a:lstStyle/>
                    <a:p>
                      <a:pPr rtl="0"/>
                      <a:r>
                        <a:rPr lang="pt-BR"/>
                        <a:t>Define serviços para segmentar, transferir e remontar os dados para comunicações individuais.</a:t>
                      </a:r>
                      <a:endParaRPr lang="pt-BR"/>
                    </a:p>
                  </a:txBody>
                  <a:tcPr anchor="ctr"/>
                </a:tc>
              </a:tr>
              <a:tr h="485587">
                <a:tc>
                  <a:txBody>
                    <a:bodyPr/>
                    <a:lstStyle/>
                    <a:p>
                      <a:pPr rtl="0"/>
                      <a:r>
                        <a:rPr lang="pt-BR" b="1"/>
                        <a:t>3 - Rede</a:t>
                      </a:r>
                      <a:endParaRPr lang="pt-BR" b="1"/>
                    </a:p>
                  </a:txBody>
                  <a:tcPr anchor="ctr"/>
                </a:tc>
                <a:tc>
                  <a:txBody>
                    <a:bodyPr/>
                    <a:lstStyle/>
                    <a:p>
                      <a:pPr rtl="0"/>
                      <a:r>
                        <a:rPr lang="pt-BR"/>
                        <a:t>Fornece serviços para troca de dados individuais pela rede.</a:t>
                      </a:r>
                      <a:endParaRPr lang="pt-BR"/>
                    </a:p>
                  </a:txBody>
                  <a:tcPr anchor="ctr"/>
                </a:tc>
              </a:tr>
              <a:tr h="485587">
                <a:tc>
                  <a:txBody>
                    <a:bodyPr/>
                    <a:lstStyle/>
                    <a:p>
                      <a:pPr rtl="0"/>
                      <a:r>
                        <a:rPr lang="pt-BR" b="1"/>
                        <a:t>2 - Link de dados</a:t>
                      </a:r>
                      <a:endParaRPr lang="pt-BR" b="1"/>
                    </a:p>
                  </a:txBody>
                  <a:tcPr anchor="ctr"/>
                </a:tc>
                <a:tc>
                  <a:txBody>
                    <a:bodyPr/>
                    <a:lstStyle/>
                    <a:p>
                      <a:pPr rtl="0"/>
                      <a:r>
                        <a:rPr lang="pt-BR"/>
                        <a:t>Descreve métodos para a troca de quadros de dados em uma mídia comum.</a:t>
                      </a:r>
                      <a:endParaRPr lang="pt-BR"/>
                    </a:p>
                  </a:txBody>
                  <a:tcPr anchor="ctr"/>
                </a:tc>
              </a:tr>
              <a:tr h="535845">
                <a:tc>
                  <a:txBody>
                    <a:bodyPr/>
                    <a:lstStyle/>
                    <a:p>
                      <a:pPr rtl="0"/>
                      <a:r>
                        <a:rPr lang="pt-BR" b="1"/>
                        <a:t>1 - Físico</a:t>
                      </a:r>
                      <a:endParaRPr lang="pt-BR" b="1"/>
                    </a:p>
                  </a:txBody>
                  <a:tcPr anchor="ctr"/>
                </a:tc>
                <a:tc>
                  <a:txBody>
                    <a:bodyPr/>
                    <a:lstStyle/>
                    <a:p>
                      <a:pPr rtl="0"/>
                      <a:r>
                        <a:rPr lang="pt-BR"/>
                        <a:t>Descreve os</a:t>
                      </a:r>
                      <a:r>
                        <a:rPr lang="pt-BR" baseline="0"/>
                        <a:t> </a:t>
                      </a:r>
                      <a:r>
                        <a:rPr lang="pt-BR"/>
                        <a:t>meios para ativar, manter e desativar conexões físicas.</a:t>
                      </a:r>
                      <a:endParaRPr lang="pt-BR"/>
                    </a:p>
                  </a:txBody>
                  <a:tcPr anchor="ctr"/>
                </a:tc>
              </a:tr>
            </a:tbl>
          </a:graphicData>
        </a:graphic>
      </p:graphicFrame>
    </p:spTree>
  </p:cSld>
  <p:clrMapOvr>
    <a:masterClrMapping/>
  </p:clrMapOvr>
  <p:transition spd="slow">
    <p:wip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101601"/>
            <a:ext cx="8783638" cy="754742"/>
          </a:xfrm>
        </p:spPr>
        <p:txBody>
          <a:bodyPr/>
          <a:lstStyle/>
          <a:p>
            <a:pPr rtl="0"/>
            <a:r>
              <a:rPr lang="pt-BR" sz="1600"/>
              <a:t>Modelos de referência</a:t>
            </a:r>
            <a:br>
              <a:rPr lang="en-US" altLang="en-US" dirty="0"/>
            </a:br>
            <a:r>
              <a:rPr lang="pt-BR" sz="2400"/>
              <a:t>O modelo de referência TCP / IP</a:t>
            </a:r>
            <a:endParaRPr lang="pt-BR" sz="2400"/>
          </a:p>
        </p:txBody>
      </p:sp>
      <p:graphicFrame>
        <p:nvGraphicFramePr>
          <p:cNvPr id="5" name="Table 4"/>
          <p:cNvGraphicFramePr>
            <a:graphicFrameLocks noGrp="1"/>
          </p:cNvGraphicFramePr>
          <p:nvPr/>
        </p:nvGraphicFramePr>
        <p:xfrm>
          <a:off x="362857" y="955226"/>
          <a:ext cx="8215086" cy="2312294"/>
        </p:xfrm>
        <a:graphic>
          <a:graphicData uri="http://schemas.openxmlformats.org/drawingml/2006/table">
            <a:tbl>
              <a:tblPr firstRow="1" firstCol="1" bandRow="1">
                <a:tableStyleId>{5C22544A-7EE6-4342-B048-85BDC9FD1C3A}</a:tableStyleId>
              </a:tblPr>
              <a:tblGrid>
                <a:gridCol w="1685348"/>
                <a:gridCol w="6529738"/>
              </a:tblGrid>
              <a:tr h="361653">
                <a:tc>
                  <a:txBody>
                    <a:bodyPr/>
                    <a:lstStyle/>
                    <a:p>
                      <a:pPr rtl="0"/>
                      <a:r>
                        <a:rPr lang="pt-BR" b="1">
                          <a:effectLst/>
                        </a:rPr>
                        <a:t>Camada do modelo TCP/IP</a:t>
                      </a:r>
                      <a:endParaRPr lang="pt-BR" b="1">
                        <a:effectLst/>
                      </a:endParaRPr>
                    </a:p>
                  </a:txBody>
                  <a:tcPr anchor="ctr"/>
                </a:tc>
                <a:tc>
                  <a:txBody>
                    <a:bodyPr/>
                    <a:lstStyle/>
                    <a:p>
                      <a:pPr rtl="0"/>
                      <a:r>
                        <a:rPr lang="pt-BR" b="1">
                          <a:effectLst/>
                        </a:rPr>
                        <a:t>Descrição</a:t>
                      </a:r>
                      <a:endParaRPr lang="pt-BR" b="1">
                        <a:effectLst/>
                      </a:endParaRPr>
                    </a:p>
                  </a:txBody>
                  <a:tcPr anchor="ctr"/>
                </a:tc>
              </a:tr>
              <a:tr h="294785">
                <a:tc>
                  <a:txBody>
                    <a:bodyPr/>
                    <a:lstStyle/>
                    <a:p>
                      <a:pPr rtl="0"/>
                      <a:r>
                        <a:rPr lang="pt-BR" b="1"/>
                        <a:t>Aplicação</a:t>
                      </a:r>
                      <a:endParaRPr lang="pt-BR" b="1"/>
                    </a:p>
                  </a:txBody>
                  <a:tcPr anchor="ctr"/>
                </a:tc>
                <a:tc>
                  <a:txBody>
                    <a:bodyPr/>
                    <a:lstStyle/>
                    <a:p>
                      <a:pPr rtl="0"/>
                      <a:r>
                        <a:rPr lang="pt-BR"/>
                        <a:t>Representa dados para o usuário, além do controle de codificação e de diálogo.</a:t>
                      </a:r>
                      <a:endParaRPr lang="pt-BR"/>
                    </a:p>
                  </a:txBody>
                  <a:tcPr anchor="ctr"/>
                </a:tc>
              </a:tr>
              <a:tr h="485587">
                <a:tc>
                  <a:txBody>
                    <a:bodyPr/>
                    <a:lstStyle/>
                    <a:p>
                      <a:pPr rtl="0"/>
                      <a:r>
                        <a:rPr lang="pt-BR" b="1"/>
                        <a:t>Transporte</a:t>
                      </a:r>
                      <a:endParaRPr lang="pt-BR" b="1"/>
                    </a:p>
                  </a:txBody>
                  <a:tcPr anchor="ctr"/>
                </a:tc>
                <a:tc>
                  <a:txBody>
                    <a:bodyPr/>
                    <a:lstStyle/>
                    <a:p>
                      <a:pPr rtl="0"/>
                      <a:r>
                        <a:rPr lang="pt-BR"/>
                        <a:t>Permite a comunicação entre vários dispositivos diferentes em redes distintas.</a:t>
                      </a:r>
                      <a:endParaRPr lang="pt-BR"/>
                    </a:p>
                  </a:txBody>
                  <a:tcPr anchor="ctr"/>
                </a:tc>
              </a:tr>
              <a:tr h="485587">
                <a:tc>
                  <a:txBody>
                    <a:bodyPr/>
                    <a:lstStyle/>
                    <a:p>
                      <a:pPr rtl="0"/>
                      <a:r>
                        <a:rPr lang="pt-BR" b="1"/>
                        <a:t>Internet</a:t>
                      </a:r>
                      <a:endParaRPr lang="pt-BR" b="1"/>
                    </a:p>
                  </a:txBody>
                  <a:tcPr anchor="ctr"/>
                </a:tc>
                <a:tc>
                  <a:txBody>
                    <a:bodyPr/>
                    <a:lstStyle/>
                    <a:p>
                      <a:pPr rtl="0"/>
                      <a:r>
                        <a:rPr lang="pt-BR"/>
                        <a:t>Determina o melhor caminho pela rede.</a:t>
                      </a:r>
                      <a:endParaRPr lang="pt-BR"/>
                    </a:p>
                  </a:txBody>
                  <a:tcPr anchor="ctr"/>
                </a:tc>
              </a:tr>
              <a:tr h="485587">
                <a:tc>
                  <a:txBody>
                    <a:bodyPr/>
                    <a:lstStyle/>
                    <a:p>
                      <a:pPr rtl="0"/>
                      <a:r>
                        <a:rPr lang="pt-BR" b="1"/>
                        <a:t> Endereço de rede</a:t>
                      </a:r>
                      <a:endParaRPr lang="pt-BR" b="1"/>
                    </a:p>
                  </a:txBody>
                  <a:tcPr anchor="ctr"/>
                </a:tc>
                <a:tc>
                  <a:txBody>
                    <a:bodyPr/>
                    <a:lstStyle/>
                    <a:p>
                      <a:pPr rtl="0"/>
                      <a:r>
                        <a:rPr lang="pt-BR"/>
                        <a:t>Controla os dispositivos de hardware e o meio físico que formam a rede.</a:t>
                      </a:r>
                      <a:endParaRPr lang="pt-BR"/>
                    </a:p>
                  </a:txBody>
                  <a:tcPr anchor="ctr"/>
                </a:tc>
              </a:tr>
            </a:tbl>
          </a:graphicData>
        </a:graphic>
      </p:graphicFrame>
    </p:spTree>
  </p:cSld>
  <p:clrMapOvr>
    <a:masterClrMapping/>
  </p:clrMapOvr>
  <p:transition spd="slow">
    <p:wip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r>
              <a:rPr lang="pt-BR" sz="1600"/>
              <a:t>Modelos de referência</a:t>
            </a:r>
            <a:br>
              <a:rPr lang="en-US" altLang="en-US" dirty="0"/>
            </a:br>
            <a:r>
              <a:rPr lang="pt-BR"/>
              <a:t> Comparação de modelos OSI e TCP / IP</a:t>
            </a:r>
            <a:endParaRPr lang="pt-BR"/>
          </a:p>
        </p:txBody>
      </p:sp>
      <p:sp>
        <p:nvSpPr>
          <p:cNvPr id="13315" name="Content Placeholder 2"/>
          <p:cNvSpPr>
            <a:spLocks noGrp="1"/>
          </p:cNvSpPr>
          <p:nvPr>
            <p:ph idx="1"/>
          </p:nvPr>
        </p:nvSpPr>
        <p:spPr>
          <a:xfrm>
            <a:off x="5321029" y="1176316"/>
            <a:ext cx="3822971" cy="3323113"/>
          </a:xfrm>
        </p:spPr>
        <p:txBody>
          <a:bodyPr/>
          <a:lstStyle/>
          <a:p>
            <a:pPr rtl="0">
              <a:buFont typeface="Arial" panose="020B0604020202020204" pitchFamily="34" charset="0"/>
              <a:buChar char="•"/>
            </a:pPr>
            <a:r>
              <a:rPr lang="pt-BR" sz="1600"/>
              <a:t>O modelo OSI divide a camada de acesso à rede e a camada de aplicação do modelo TCP/IP em várias camadas.</a:t>
            </a:r>
            <a:endParaRPr lang="pt-BR" sz="1600"/>
          </a:p>
          <a:p>
            <a:pPr rtl="0">
              <a:buFont typeface="Arial" panose="020B0604020202020204" pitchFamily="34" charset="0"/>
              <a:buChar char="•"/>
            </a:pPr>
            <a:r>
              <a:rPr lang="pt-BR" sz="1600"/>
              <a:t>O conjunto de protocolos TCP/IP não especifica quais protocolos usar ao transmitir por meio de uma mídia física.</a:t>
            </a:r>
            <a:endParaRPr lang="pt-BR" sz="1600"/>
          </a:p>
          <a:p>
            <a:pPr rtl="0">
              <a:buFont typeface="Arial" panose="020B0604020202020204" pitchFamily="34" charset="0"/>
              <a:buChar char="•"/>
            </a:pPr>
            <a:r>
              <a:rPr lang="pt-BR" sz="1600"/>
              <a:t>As Camadas 1 e 2 do modelo OSI discutem os procedimentos necessários para acessar a mídia e o meio físico para enviar dados por uma rede.</a:t>
            </a:r>
            <a:endParaRPr lang="pt-BR" sz="1600"/>
          </a:p>
          <a:p>
            <a:pPr lvl="1"/>
            <a:endParaRPr lang="en-CA" altLang="en-US" dirty="0"/>
          </a:p>
        </p:txBody>
      </p:sp>
      <p:pic>
        <p:nvPicPr>
          <p:cNvPr id="1741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74171" y="947480"/>
            <a:ext cx="5065486" cy="355194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r>
              <a:rPr lang="pt-BR" sz="1600"/>
              <a:t>Modelos de referência </a:t>
            </a:r>
            <a:br>
              <a:rPr lang="en-US" altLang="en-US" dirty="0"/>
            </a:br>
            <a:r>
              <a:rPr lang="pt-BR"/>
              <a:t>Packet Tracer: Investigação dos modelos TCP/IP e OSI em ação</a:t>
            </a:r>
            <a:endParaRPr lang="pt-BR"/>
          </a:p>
        </p:txBody>
      </p:sp>
      <p:sp>
        <p:nvSpPr>
          <p:cNvPr id="13315" name="Content Placeholder 2"/>
          <p:cNvSpPr>
            <a:spLocks noGrp="1"/>
          </p:cNvSpPr>
          <p:nvPr>
            <p:ph idx="1"/>
          </p:nvPr>
        </p:nvSpPr>
        <p:spPr>
          <a:xfrm>
            <a:off x="198304" y="936434"/>
            <a:ext cx="8575582" cy="3168689"/>
          </a:xfrm>
        </p:spPr>
        <p:txBody>
          <a:bodyPr/>
          <a:lstStyle/>
          <a:p>
            <a:pPr marL="0" indent="0" rtl="0">
              <a:buNone/>
            </a:pPr>
            <a:r>
              <a:rPr lang="pt-BR" sz="1800"/>
              <a:t>Esta atividade de simulação destina-se a fornecer uma base para entender a suíte de protocolos TCP/IP e a relação com o modelo OSI. O modo de simulação permite visualizar o conteúdo dos dados enviados pela rede em cada camada.</a:t>
            </a:r>
            <a:endParaRPr lang="pt-BR" sz="1800"/>
          </a:p>
          <a:p>
            <a:pPr marL="0" indent="0" rtl="0">
              <a:buNone/>
            </a:pPr>
            <a:r>
              <a:rPr lang="pt-BR" sz="1800"/>
              <a:t>Neste Packet Tracer, você irá: </a:t>
            </a:r>
            <a:endParaRPr lang="pt-BR" sz="1800"/>
          </a:p>
          <a:p>
            <a:pPr lvl="1" rtl="0"/>
            <a:r>
              <a:rPr lang="pt-BR" sz="1800"/>
              <a:t>Parte 1: Examinar o tráfego Web via HTTP </a:t>
            </a:r>
            <a:endParaRPr lang="pt-BR" sz="1800"/>
          </a:p>
          <a:p>
            <a:pPr lvl="1" rtl="0"/>
            <a:r>
              <a:rPr lang="pt-BR" sz="1800"/>
              <a:t>Parte 2: Exibir elementos da suíte de protocolos TCP/IP </a:t>
            </a:r>
            <a:endParaRPr lang="pt-BR" sz="1800"/>
          </a:p>
        </p:txBody>
      </p:sp>
    </p:spTree>
  </p:cSld>
  <p:clrMapOvr>
    <a:masterClrMapping/>
  </p:clrMapOvr>
  <p:transition spd="slow">
    <p:wip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915409"/>
            <a:ext cx="8231464" cy="1802391"/>
          </a:xfrm>
        </p:spPr>
        <p:txBody>
          <a:bodyPr/>
          <a:lstStyle/>
          <a:p>
            <a:pPr rtl="0"/>
            <a:r>
              <a:rPr lang="pt-BR">
                <a:solidFill>
                  <a:schemeClr val="accent5">
                    <a:lumMod val="40000"/>
                    <a:lumOff val="60000"/>
                  </a:schemeClr>
                </a:solidFill>
              </a:rPr>
              <a:t>3.6 Encapsulamento de dados</a:t>
            </a:r>
            <a:endParaRPr lang="pt-BR">
              <a:solidFill>
                <a:schemeClr val="accent5">
                  <a:lumMod val="40000"/>
                  <a:lumOff val="60000"/>
                </a:schemeClr>
              </a:solidFill>
            </a:endParaRPr>
          </a:p>
        </p:txBody>
      </p:sp>
    </p:spTree>
    <p:custDataLst>
      <p:tags r:id="rId1"/>
    </p:custDataLst>
  </p:cSld>
  <p:clrMapOvr>
    <a:masterClrMapping/>
  </p:clrMapOvr>
  <p:transition spd="slow">
    <p:wip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87549" y="41393"/>
            <a:ext cx="4687651" cy="757551"/>
          </a:xfrm>
        </p:spPr>
        <p:txBody>
          <a:bodyPr/>
          <a:lstStyle/>
          <a:p>
            <a:pPr rtl="0"/>
            <a:r>
              <a:rPr lang="pt-BR" sz="1600"/>
              <a:t>Encapsulamento de dados </a:t>
            </a:r>
            <a:br>
              <a:rPr lang="en-US" altLang="en-US" dirty="0"/>
            </a:br>
            <a:r>
              <a:rPr lang="pt-BR"/>
              <a:t>Segmentação de mensagens</a:t>
            </a:r>
            <a:endParaRPr lang="pt-BR"/>
          </a:p>
        </p:txBody>
      </p:sp>
      <p:sp>
        <p:nvSpPr>
          <p:cNvPr id="13315" name="Content Placeholder 2"/>
          <p:cNvSpPr>
            <a:spLocks noGrp="1"/>
          </p:cNvSpPr>
          <p:nvPr>
            <p:ph idx="1"/>
          </p:nvPr>
        </p:nvSpPr>
        <p:spPr>
          <a:xfrm>
            <a:off x="4951379" y="322866"/>
            <a:ext cx="4192621" cy="4350735"/>
          </a:xfrm>
        </p:spPr>
        <p:txBody>
          <a:bodyPr/>
          <a:lstStyle/>
          <a:p>
            <a:pPr marL="0" indent="0" rtl="0">
              <a:buNone/>
            </a:pPr>
            <a:r>
              <a:rPr lang="pt-BR" sz="1600"/>
              <a:t>Segmentação é o processo de dividir mensagens em unidades menores. Multiplexação é o processo de tomar vários fluxos de dados segmentados e intercalá-los juntos.</a:t>
            </a:r>
            <a:endParaRPr lang="pt-BR" sz="1600"/>
          </a:p>
          <a:p>
            <a:pPr marL="0" indent="0" rtl="0">
              <a:buNone/>
            </a:pPr>
            <a:r>
              <a:rPr lang="pt-BR" sz="1600"/>
              <a:t>A segmentação de mensagens apresenta dois benefícios principais:</a:t>
            </a:r>
            <a:endParaRPr lang="pt-BR" sz="1600"/>
          </a:p>
          <a:p>
            <a:pPr rtl="0">
              <a:buFont typeface="Arial" panose="020B0604020202020204" pitchFamily="34" charset="0"/>
              <a:buChar char="•"/>
            </a:pPr>
            <a:r>
              <a:rPr lang="pt-BR" sz="1600" b="1"/>
              <a:t>Aumenta a velocidade</a:t>
            </a:r>
            <a:r>
              <a:rPr lang="pt-BR" sz="1600"/>
              <a:t> - É possível enviar grandes quantidades de dados pela rede sem vincular um link de comunicação.</a:t>
            </a:r>
            <a:endParaRPr lang="pt-BR" sz="1600"/>
          </a:p>
          <a:p>
            <a:pPr rtl="0">
              <a:buFont typeface="Arial" panose="020B0604020202020204" pitchFamily="34" charset="0"/>
              <a:buChar char="•"/>
            </a:pPr>
            <a:r>
              <a:rPr lang="pt-BR" sz="1600" b="1"/>
              <a:t>Aumenta a eficiência</a:t>
            </a:r>
            <a:r>
              <a:rPr lang="pt-BR" sz="1600"/>
              <a:t> - Somente segmentos que não conseguem alcançar o destino precisam ser retransmitidos, não todo o fluxo de dados</a:t>
            </a:r>
            <a:r>
              <a:rPr lang="pt-BR"/>
              <a:t>. </a:t>
            </a:r>
            <a:endParaRPr lang="pt-BR"/>
          </a:p>
        </p:txBody>
      </p:sp>
      <p:pic>
        <p:nvPicPr>
          <p:cNvPr id="1843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1600" y="1000420"/>
            <a:ext cx="4673600" cy="35375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87549" y="41393"/>
            <a:ext cx="9144000" cy="757551"/>
          </a:xfrm>
        </p:spPr>
        <p:txBody>
          <a:bodyPr/>
          <a:lstStyle/>
          <a:p>
            <a:pPr rtl="0"/>
            <a:r>
              <a:rPr lang="pt-BR" sz="1600"/>
              <a:t>Encapsulamento de dados</a:t>
            </a:r>
            <a:br>
              <a:rPr lang="en-US" altLang="en-US" dirty="0"/>
            </a:br>
            <a:r>
              <a:rPr lang="pt-BR"/>
              <a:t> Sequenciamento</a:t>
            </a:r>
            <a:endParaRPr lang="pt-BR"/>
          </a:p>
        </p:txBody>
      </p:sp>
      <p:sp>
        <p:nvSpPr>
          <p:cNvPr id="13315" name="Content Placeholder 2"/>
          <p:cNvSpPr>
            <a:spLocks noGrp="1"/>
          </p:cNvSpPr>
          <p:nvPr>
            <p:ph idx="1"/>
          </p:nvPr>
        </p:nvSpPr>
        <p:spPr>
          <a:xfrm>
            <a:off x="4951379" y="1339753"/>
            <a:ext cx="4192621" cy="3146049"/>
          </a:xfrm>
        </p:spPr>
        <p:txBody>
          <a:bodyPr/>
          <a:lstStyle/>
          <a:p>
            <a:pPr marL="0" indent="0" rtl="0">
              <a:buNone/>
            </a:pPr>
            <a:r>
              <a:rPr lang="pt-BR" sz="1600"/>
              <a:t>Mensagens de sequenciamento é o processo de numeração dos segmentos para que a mensagem possa ser remontada no destino.</a:t>
            </a:r>
            <a:endParaRPr lang="pt-BR" sz="1600"/>
          </a:p>
          <a:p>
            <a:pPr marL="0" indent="0" rtl="0">
              <a:buNone/>
            </a:pPr>
            <a:r>
              <a:rPr lang="pt-BR" sz="1600"/>
              <a:t>O TCP é responsável por sequenciar os segmentos individuais.</a:t>
            </a:r>
            <a:endParaRPr lang="pt-BR" sz="1600"/>
          </a:p>
        </p:txBody>
      </p:sp>
      <p:pic>
        <p:nvPicPr>
          <p:cNvPr id="19458"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89591" y="968435"/>
            <a:ext cx="4658179" cy="351736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87549" y="41393"/>
            <a:ext cx="4789251" cy="757551"/>
          </a:xfrm>
        </p:spPr>
        <p:txBody>
          <a:bodyPr/>
          <a:lstStyle/>
          <a:p>
            <a:pPr rtl="0"/>
            <a:br>
              <a:rPr lang="en-US" altLang="en-US" dirty="0"/>
            </a:br>
            <a:r>
              <a:rPr lang="pt-BR"/>
              <a:t>Encapsulamento de dados </a:t>
            </a:r>
            <a:r>
              <a:rPr lang="pt-BR" sz="1600"/>
              <a:t>Unidades de dados de protocolo</a:t>
            </a:r>
            <a:endParaRPr lang="pt-BR" sz="1600"/>
          </a:p>
        </p:txBody>
      </p:sp>
      <p:sp>
        <p:nvSpPr>
          <p:cNvPr id="13315" name="Content Placeholder 2"/>
          <p:cNvSpPr>
            <a:spLocks noGrp="1"/>
          </p:cNvSpPr>
          <p:nvPr>
            <p:ph idx="1"/>
          </p:nvPr>
        </p:nvSpPr>
        <p:spPr>
          <a:xfrm>
            <a:off x="4619625" y="171450"/>
            <a:ext cx="4456282" cy="4667250"/>
          </a:xfrm>
        </p:spPr>
        <p:txBody>
          <a:bodyPr/>
          <a:lstStyle/>
          <a:p>
            <a:pPr marL="0" indent="0" rtl="0">
              <a:buNone/>
            </a:pPr>
            <a:r>
              <a:rPr lang="pt-BR" sz="1600"/>
              <a:t>Encapsulamento é o processo em que os protocolos adicionam suas informações aos dados.</a:t>
            </a:r>
            <a:endParaRPr lang="pt-BR" sz="1600"/>
          </a:p>
          <a:p>
            <a:pPr rtl="0">
              <a:buFont typeface="Arial" panose="020B0604020202020204" pitchFamily="34" charset="0"/>
              <a:buChar char="•"/>
            </a:pPr>
            <a:r>
              <a:rPr lang="pt-BR" sz="1600"/>
              <a:t>Em cada etapa do processo, uma PDU possui um nome diferente para refletir suas novas funções. </a:t>
            </a:r>
            <a:endParaRPr lang="pt-BR" sz="1600"/>
          </a:p>
          <a:p>
            <a:pPr rtl="0">
              <a:buFont typeface="Arial" panose="020B0604020202020204" pitchFamily="34" charset="0"/>
              <a:buChar char="•"/>
            </a:pPr>
            <a:r>
              <a:rPr lang="pt-BR" sz="1600"/>
              <a:t>Não há convenção de nomenclatura universal para PDUs; neste curso, as PDUs são nomeadas de acordo com os protocolos do conjunto TCP / IP. </a:t>
            </a:r>
            <a:endParaRPr lang="pt-BR" sz="1600"/>
          </a:p>
          <a:p>
            <a:pPr rtl="0">
              <a:buFont typeface="Arial" panose="020B0604020202020204" pitchFamily="34" charset="0"/>
              <a:buChar char="•"/>
            </a:pPr>
            <a:r>
              <a:rPr lang="pt-BR" sz="1600"/>
              <a:t>PDUs passando a pilha são as seguintes:</a:t>
            </a:r>
            <a:endParaRPr lang="pt-BR" sz="1600"/>
          </a:p>
          <a:p>
            <a:pPr marL="485775" lvl="1" indent="-342900" rtl="0">
              <a:buFont typeface="+mj-lt"/>
              <a:buAutoNum type="arabicPeriod"/>
            </a:pPr>
            <a:r>
              <a:rPr lang="pt-BR" sz="1600"/>
              <a:t>Dados (fluxo de dados)</a:t>
            </a:r>
            <a:endParaRPr lang="pt-BR" sz="1600"/>
          </a:p>
          <a:p>
            <a:pPr marL="485775" lvl="1" indent="-342900" rtl="0">
              <a:buFont typeface="+mj-lt"/>
              <a:buAutoNum type="arabicPeriod"/>
            </a:pPr>
            <a:r>
              <a:rPr lang="pt-BR" sz="1600"/>
              <a:t>Segmento</a:t>
            </a:r>
            <a:endParaRPr lang="pt-BR" sz="1600"/>
          </a:p>
          <a:p>
            <a:pPr marL="485775" lvl="1" indent="-342900" rtl="0">
              <a:buFont typeface="+mj-lt"/>
              <a:buAutoNum type="arabicPeriod"/>
            </a:pPr>
            <a:r>
              <a:rPr lang="pt-BR" sz="1600"/>
              <a:t>Pacote</a:t>
            </a:r>
            <a:endParaRPr lang="pt-BR" sz="1600"/>
          </a:p>
          <a:p>
            <a:pPr marL="485775" lvl="1" indent="-342900" rtl="0">
              <a:buFont typeface="+mj-lt"/>
              <a:buAutoNum type="arabicPeriod"/>
            </a:pPr>
            <a:r>
              <a:rPr lang="pt-BR" sz="1600"/>
              <a:t>Quadro</a:t>
            </a:r>
            <a:endParaRPr lang="pt-BR" sz="1600"/>
          </a:p>
          <a:p>
            <a:pPr marL="485775" lvl="1" indent="-342900" rtl="0">
              <a:buFont typeface="+mj-lt"/>
              <a:buAutoNum type="arabicPeriod"/>
            </a:pPr>
            <a:r>
              <a:rPr lang="pt-BR" sz="1600"/>
              <a:t>Bits (Fluxo de Bits)</a:t>
            </a:r>
            <a:endParaRPr lang="pt-BR" sz="1600"/>
          </a:p>
          <a:p>
            <a:endParaRPr lang="en-US" dirty="0"/>
          </a:p>
        </p:txBody>
      </p:sp>
      <p:pic>
        <p:nvPicPr>
          <p:cNvPr id="2048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56260" y="1087233"/>
            <a:ext cx="4463365" cy="34659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br>
              <a:rPr lang="en-US" altLang="en-US" dirty="0"/>
            </a:br>
            <a:r>
              <a:rPr lang="pt-BR"/>
              <a:t>Encapsulamento de dados </a:t>
            </a:r>
            <a:r>
              <a:rPr lang="pt-BR" sz="1600"/>
              <a:t>Exemplo de encapsulamento</a:t>
            </a:r>
            <a:endParaRPr lang="pt-BR" sz="1600"/>
          </a:p>
        </p:txBody>
      </p:sp>
      <p:sp>
        <p:nvSpPr>
          <p:cNvPr id="13315" name="Content Placeholder 2"/>
          <p:cNvSpPr>
            <a:spLocks noGrp="1"/>
          </p:cNvSpPr>
          <p:nvPr>
            <p:ph idx="1"/>
          </p:nvPr>
        </p:nvSpPr>
        <p:spPr>
          <a:xfrm>
            <a:off x="123574" y="867946"/>
            <a:ext cx="3060301" cy="3689539"/>
          </a:xfrm>
        </p:spPr>
        <p:txBody>
          <a:bodyPr/>
          <a:lstStyle/>
          <a:p>
            <a:pPr rtl="0">
              <a:buFont typeface="Arial" panose="020B0604020202020204" pitchFamily="34" charset="0"/>
              <a:buChar char="•"/>
            </a:pPr>
            <a:r>
              <a:rPr lang="pt-BR" sz="1600"/>
              <a:t>O encapsulamento é um processo de cima para baixo.</a:t>
            </a:r>
            <a:endParaRPr lang="pt-BR" sz="1600"/>
          </a:p>
          <a:p>
            <a:pPr rtl="0">
              <a:buFont typeface="Arial" panose="020B0604020202020204" pitchFamily="34" charset="0"/>
              <a:buChar char="•"/>
            </a:pPr>
            <a:r>
              <a:rPr lang="pt-BR" sz="1600"/>
              <a:t>O nível acima faz o seu processo e, em seguida, passa-o para o próximo nível do modelo. Este processo é repetido por cada camada até que seja enviado como um fluxo de bits.</a:t>
            </a:r>
            <a:endParaRPr lang="pt-BR" sz="1600"/>
          </a:p>
        </p:txBody>
      </p:sp>
      <p:pic>
        <p:nvPicPr>
          <p:cNvPr id="819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511963" y="1001471"/>
            <a:ext cx="5632037" cy="34253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pPr rtl="0"/>
            <a:r>
              <a:rPr lang="pt-BR" sz="1600"/>
              <a:t>Encapsulamento de dados </a:t>
            </a:r>
            <a:br>
              <a:rPr lang="en-US" altLang="en-US" dirty="0"/>
            </a:br>
            <a:r>
              <a:rPr lang="pt-BR"/>
              <a:t>Exemplo de desencapsulamento</a:t>
            </a:r>
            <a:endParaRPr lang="pt-BR"/>
          </a:p>
        </p:txBody>
      </p:sp>
      <p:sp>
        <p:nvSpPr>
          <p:cNvPr id="13315" name="Content Placeholder 2"/>
          <p:cNvSpPr>
            <a:spLocks noGrp="1"/>
          </p:cNvSpPr>
          <p:nvPr>
            <p:ph idx="1"/>
          </p:nvPr>
        </p:nvSpPr>
        <p:spPr>
          <a:xfrm>
            <a:off x="123573" y="896975"/>
            <a:ext cx="4012998" cy="3805654"/>
          </a:xfrm>
        </p:spPr>
        <p:txBody>
          <a:bodyPr/>
          <a:lstStyle/>
          <a:p>
            <a:pPr rtl="0">
              <a:buFont typeface="Arial" panose="020B0604020202020204" pitchFamily="34" charset="0"/>
              <a:buChar char="•"/>
            </a:pPr>
            <a:r>
              <a:rPr lang="pt-BR" sz="1600"/>
              <a:t>Os dados são desencapsulados à medida que se move para cima da pilha.</a:t>
            </a:r>
            <a:endParaRPr lang="pt-BR" sz="1600"/>
          </a:p>
          <a:p>
            <a:pPr rtl="0">
              <a:buFont typeface="Arial" panose="020B0604020202020204" pitchFamily="34" charset="0"/>
              <a:buChar char="•"/>
            </a:pPr>
            <a:r>
              <a:rPr lang="pt-BR" sz="1600"/>
              <a:t>Quando uma camada completa seu processo, essa camada tira seu cabeçalho e passa para o próximo nível a ser processado. Isso é repetido em cada camada até que seja um fluxo de dados que o aplicativo pode processar.</a:t>
            </a:r>
            <a:endParaRPr lang="pt-BR" sz="1600"/>
          </a:p>
          <a:p>
            <a:pPr marL="485775" lvl="1" indent="-342900" rtl="0">
              <a:buFont typeface="+mj-lt"/>
              <a:buAutoNum type="arabicPeriod"/>
            </a:pPr>
            <a:r>
              <a:rPr lang="pt-BR" sz="1600"/>
              <a:t>Recebido como Bits (Fluxo de Bits)</a:t>
            </a:r>
            <a:endParaRPr lang="pt-BR" sz="1600"/>
          </a:p>
          <a:p>
            <a:pPr marL="485775" lvl="1" indent="-342900" rtl="0">
              <a:buFont typeface="+mj-lt"/>
              <a:buAutoNum type="arabicPeriod"/>
            </a:pPr>
            <a:r>
              <a:rPr lang="pt-BR" sz="1600"/>
              <a:t>Quadro</a:t>
            </a:r>
            <a:endParaRPr lang="pt-BR" sz="1600"/>
          </a:p>
          <a:p>
            <a:pPr marL="485775" lvl="1" indent="-342900" rtl="0">
              <a:buFont typeface="+mj-lt"/>
              <a:buAutoNum type="arabicPeriod"/>
            </a:pPr>
            <a:r>
              <a:rPr lang="pt-BR" sz="1600"/>
              <a:t>Pacote</a:t>
            </a:r>
            <a:endParaRPr lang="pt-BR" sz="1600"/>
          </a:p>
          <a:p>
            <a:pPr marL="485775" lvl="1" indent="-342900" rtl="0">
              <a:buFont typeface="+mj-lt"/>
              <a:buAutoNum type="arabicPeriod"/>
            </a:pPr>
            <a:r>
              <a:rPr lang="pt-BR" sz="1600"/>
              <a:t>Segmento</a:t>
            </a:r>
            <a:endParaRPr lang="pt-BR" sz="1600"/>
          </a:p>
          <a:p>
            <a:pPr marL="485775" lvl="1" indent="-342900" rtl="0">
              <a:buFont typeface="+mj-lt"/>
              <a:buAutoNum type="arabicPeriod"/>
            </a:pPr>
            <a:r>
              <a:rPr lang="pt-BR" sz="1600"/>
              <a:t>Dados (fluxo de dados)</a:t>
            </a:r>
            <a:endParaRPr lang="pt-BR" sz="1600"/>
          </a:p>
        </p:txBody>
      </p:sp>
      <p:pic>
        <p:nvPicPr>
          <p:cNvPr id="8195"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136571" y="1451428"/>
            <a:ext cx="5007429" cy="283614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915409"/>
            <a:ext cx="8231464" cy="1802391"/>
          </a:xfrm>
        </p:spPr>
        <p:txBody>
          <a:bodyPr/>
          <a:lstStyle/>
          <a:p>
            <a:pPr rtl="0"/>
            <a:r>
              <a:rPr lang="pt-BR">
                <a:solidFill>
                  <a:schemeClr val="accent5">
                    <a:lumMod val="40000"/>
                    <a:lumOff val="60000"/>
                  </a:schemeClr>
                </a:solidFill>
              </a:rPr>
              <a:t>3.7 Acesso aos dados</a:t>
            </a:r>
            <a:endParaRPr lang="pt-BR">
              <a:solidFill>
                <a:schemeClr val="accent5">
                  <a:lumMod val="40000"/>
                  <a:lumOff val="60000"/>
                </a:schemeClr>
              </a:solidFill>
            </a:endParaRPr>
          </a:p>
        </p:txBody>
      </p:sp>
    </p:spTree>
    <p:custDataLst>
      <p:tags r:id="rId1"/>
    </p:custDataLst>
  </p:cSld>
  <p:clrMapOvr>
    <a:masterClrMapping/>
  </p:clrMapOvr>
  <p:transition spd="slow">
    <p:wip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41393"/>
            <a:ext cx="9144000" cy="757551"/>
          </a:xfrm>
        </p:spPr>
        <p:txBody>
          <a:bodyPr/>
          <a:lstStyle/>
          <a:p>
            <a:pPr rtl="0"/>
            <a:br>
              <a:rPr lang="en-US" altLang="en-US" dirty="0"/>
            </a:br>
            <a:r>
              <a:rPr lang="pt-BR"/>
              <a:t>Acesso a dados </a:t>
            </a:r>
            <a:r>
              <a:rPr lang="pt-BR" sz="1600"/>
              <a:t>Endereços</a:t>
            </a:r>
            <a:endParaRPr lang="pt-BR" sz="1600"/>
          </a:p>
        </p:txBody>
      </p:sp>
      <p:sp>
        <p:nvSpPr>
          <p:cNvPr id="13315" name="Content Placeholder 2"/>
          <p:cNvSpPr>
            <a:spLocks noGrp="1"/>
          </p:cNvSpPr>
          <p:nvPr>
            <p:ph idx="1"/>
          </p:nvPr>
        </p:nvSpPr>
        <p:spPr>
          <a:xfrm>
            <a:off x="349304" y="744498"/>
            <a:ext cx="8445389" cy="2242043"/>
          </a:xfrm>
        </p:spPr>
        <p:txBody>
          <a:bodyPr/>
          <a:lstStyle/>
          <a:p>
            <a:pPr marL="0" indent="0" rtl="0">
              <a:buNone/>
            </a:pPr>
            <a:r>
              <a:rPr lang="pt-BR" sz="1600"/>
              <a:t>Tanto o link de dados quanto as camadas de rede usam endereçamento para entregar dados da origem ao destino.</a:t>
            </a:r>
            <a:endParaRPr lang="pt-BR" sz="1600"/>
          </a:p>
          <a:p>
            <a:pPr marL="0" indent="0" rtl="0">
              <a:buNone/>
            </a:pPr>
            <a:r>
              <a:rPr lang="pt-BR" sz="1600" b="1"/>
              <a:t>Endereços origem e destino da camada de rede</a:t>
            </a:r>
            <a:r>
              <a:rPr lang="pt-BR" sz="1600"/>
              <a:t> - Responsáveis por entregar o pacote IP da origem para o destino final.</a:t>
            </a:r>
            <a:r>
              <a:rPr lang="pt-BR" sz="1600" b="1"/>
              <a:t> </a:t>
            </a:r>
            <a:endParaRPr lang="pt-BR" sz="1600" b="1"/>
          </a:p>
          <a:p>
            <a:pPr marL="0" indent="0" rtl="0">
              <a:buNone/>
            </a:pPr>
            <a:r>
              <a:rPr lang="pt-BR" sz="1600" b="1"/>
              <a:t>Endereços de origem e destino da camada de enlace de dados </a:t>
            </a:r>
            <a:r>
              <a:rPr lang="pt-BR" sz="1600"/>
              <a:t> - Responsável por fornecer o quadro de enlace de dados de uma placa de interface de rede (NIC) para outra NIC na mesma rede.</a:t>
            </a:r>
            <a:endParaRPr lang="pt-BR" sz="1600"/>
          </a:p>
          <a:p>
            <a:pPr marL="0" indent="0">
              <a:buNone/>
            </a:pPr>
            <a:endParaRPr lang="en-CA" altLang="en-US" dirty="0"/>
          </a:p>
          <a:p>
            <a:endParaRPr lang="en-CA" altLang="en-US" dirty="0"/>
          </a:p>
        </p:txBody>
      </p:sp>
      <p:pic>
        <p:nvPicPr>
          <p:cNvPr id="2150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157285" y="3184845"/>
            <a:ext cx="6829425" cy="1666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41393"/>
            <a:ext cx="9144000" cy="757551"/>
          </a:xfrm>
        </p:spPr>
        <p:txBody>
          <a:bodyPr/>
          <a:lstStyle/>
          <a:p>
            <a:pPr rtl="0"/>
            <a:r>
              <a:rPr lang="pt-BR"/>
              <a:t>Endereço Lógicoda Camada 3</a:t>
            </a:r>
            <a:r>
              <a:rPr lang="pt-BR" sz="1600"/>
              <a:t>de Acesso a Dados</a:t>
            </a:r>
            <a:endParaRPr lang="pt-BR" sz="1600"/>
          </a:p>
        </p:txBody>
      </p:sp>
      <p:sp>
        <p:nvSpPr>
          <p:cNvPr id="13315" name="Content Placeholder 2"/>
          <p:cNvSpPr>
            <a:spLocks noGrp="1"/>
          </p:cNvSpPr>
          <p:nvPr>
            <p:ph idx="1"/>
          </p:nvPr>
        </p:nvSpPr>
        <p:spPr>
          <a:xfrm>
            <a:off x="99502" y="1037994"/>
            <a:ext cx="3802452" cy="3457575"/>
          </a:xfrm>
        </p:spPr>
        <p:txBody>
          <a:bodyPr/>
          <a:lstStyle/>
          <a:p>
            <a:pPr marL="0" indent="0" rtl="0">
              <a:buNone/>
            </a:pPr>
            <a:r>
              <a:rPr lang="pt-BR" sz="1600"/>
              <a:t>O pacote IP contém dois endereços IP:</a:t>
            </a:r>
            <a:endParaRPr lang="pt-BR" sz="1600"/>
          </a:p>
          <a:p>
            <a:pPr lvl="1" rtl="0"/>
            <a:r>
              <a:rPr lang="pt-BR" sz="1600" b="1"/>
              <a:t>Endereço IP origem</a:t>
            </a:r>
            <a:r>
              <a:rPr lang="pt-BR" sz="1600"/>
              <a:t> - O endereço IP do dispositivo emissor, a origem do pacote.</a:t>
            </a:r>
            <a:endParaRPr lang="pt-BR" sz="1600"/>
          </a:p>
          <a:p>
            <a:pPr lvl="1" rtl="0"/>
            <a:r>
              <a:rPr lang="pt-BR" sz="1600" b="1"/>
              <a:t>Endereço IP de destino</a:t>
            </a:r>
            <a:r>
              <a:rPr lang="pt-BR" sz="1600"/>
              <a:t> - O endereço IP do dispositivo receptor, o destino final do pacote.</a:t>
            </a:r>
            <a:endParaRPr lang="pt-BR" sz="1600"/>
          </a:p>
          <a:p>
            <a:pPr marL="0" indent="0" rtl="0">
              <a:buNone/>
            </a:pPr>
            <a:r>
              <a:rPr lang="pt-BR" sz="1600"/>
              <a:t>Esses endereços podem estar no mesmo link ou remoto.</a:t>
            </a:r>
            <a:endParaRPr lang="pt-BR" sz="1600"/>
          </a:p>
          <a:p>
            <a:endParaRPr lang="en-CA" altLang="en-US" dirty="0"/>
          </a:p>
          <a:p>
            <a:pPr marL="0" indent="0">
              <a:buNone/>
            </a:pPr>
            <a:endParaRPr lang="en-CA" altLang="en-US" dirty="0"/>
          </a:p>
        </p:txBody>
      </p:sp>
      <p:pic>
        <p:nvPicPr>
          <p:cNvPr id="10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078224" y="1232861"/>
            <a:ext cx="4880714" cy="26692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0" y="41393"/>
            <a:ext cx="9144000" cy="757551"/>
          </a:xfrm>
        </p:spPr>
        <p:txBody>
          <a:bodyPr/>
          <a:lstStyle/>
          <a:p>
            <a:pPr rtl="0"/>
            <a:r>
              <a:rPr lang="pt-BR"/>
              <a:t>Endereço lógicoda Camada 3 de Acesso a Dados (Cont.) </a:t>
            </a:r>
            <a:endParaRPr lang="pt-BR"/>
          </a:p>
        </p:txBody>
      </p:sp>
      <p:sp>
        <p:nvSpPr>
          <p:cNvPr id="13315" name="Content Placeholder 2"/>
          <p:cNvSpPr>
            <a:spLocks noGrp="1"/>
          </p:cNvSpPr>
          <p:nvPr>
            <p:ph idx="1"/>
          </p:nvPr>
        </p:nvSpPr>
        <p:spPr>
          <a:xfrm>
            <a:off x="100013" y="885824"/>
            <a:ext cx="4303036" cy="4071766"/>
          </a:xfrm>
        </p:spPr>
        <p:txBody>
          <a:bodyPr/>
          <a:lstStyle/>
          <a:p>
            <a:pPr marL="0" indent="0" rtl="0">
              <a:buNone/>
            </a:pPr>
            <a:r>
              <a:rPr lang="pt-BR" sz="1600"/>
              <a:t>Um endereço IP contém duas partes:</a:t>
            </a:r>
            <a:endParaRPr lang="pt-BR" sz="1600"/>
          </a:p>
          <a:p>
            <a:pPr rtl="0">
              <a:buFont typeface="Arial" panose="020B0604020202020204" pitchFamily="34" charset="0"/>
              <a:buChar char="•"/>
            </a:pPr>
            <a:r>
              <a:rPr lang="pt-BR" sz="1600" b="1"/>
              <a:t>Parte de rede (IPv4) ou prefixo (IPv6)</a:t>
            </a:r>
            <a:endParaRPr lang="pt-BR" sz="1600" b="1"/>
          </a:p>
          <a:p>
            <a:pPr lvl="1" rtl="0"/>
            <a:r>
              <a:rPr lang="pt-BR" sz="1500"/>
              <a:t>A parte mais à esquerda do endereço indica o grupo de rede do qual o endereço IP é membro.</a:t>
            </a:r>
            <a:endParaRPr lang="pt-BR" sz="1500"/>
          </a:p>
          <a:p>
            <a:pPr lvl="1" rtl="0"/>
            <a:r>
              <a:rPr lang="pt-BR" sz="1500"/>
              <a:t>Cada LAN ou WAN terá a mesma parte de rede.</a:t>
            </a:r>
            <a:endParaRPr lang="pt-BR" sz="1500"/>
          </a:p>
          <a:p>
            <a:pPr rtl="0">
              <a:buFont typeface="Arial" panose="020B0604020202020204" pitchFamily="34" charset="0"/>
              <a:buChar char="•"/>
            </a:pPr>
            <a:r>
              <a:rPr lang="pt-BR" sz="1600" b="1"/>
              <a:t>Parte do host (IPv4) ou ID da interface (IPv6)</a:t>
            </a:r>
            <a:endParaRPr lang="pt-BR" sz="1600" b="1"/>
          </a:p>
          <a:p>
            <a:pPr lvl="1" rtl="0"/>
            <a:r>
              <a:rPr lang="pt-BR" sz="1500"/>
              <a:t>A parte restante do endereço identifica um dispositivo específico dentro do grupo. </a:t>
            </a:r>
            <a:endParaRPr lang="pt-BR" sz="1500"/>
          </a:p>
          <a:p>
            <a:pPr lvl="1" rtl="0"/>
            <a:r>
              <a:rPr lang="pt-BR" sz="1500"/>
              <a:t>Essa parte é exclusiva para cada dispositivo na rede.</a:t>
            </a:r>
            <a:endParaRPr lang="pt-BR" sz="1500"/>
          </a:p>
          <a:p>
            <a:endParaRPr lang="en-CA" altLang="en-US" dirty="0"/>
          </a:p>
          <a:p>
            <a:pPr marL="0" indent="0">
              <a:buNone/>
            </a:pPr>
            <a:endParaRPr lang="en-CA" altLang="en-US" dirty="0"/>
          </a:p>
        </p:txBody>
      </p:sp>
      <p:pic>
        <p:nvPicPr>
          <p:cNvPr id="10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503062" y="1237106"/>
            <a:ext cx="4640938" cy="26692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0" y="41393"/>
            <a:ext cx="9144000" cy="819993"/>
          </a:xfrm>
        </p:spPr>
        <p:txBody>
          <a:bodyPr/>
          <a:lstStyle/>
          <a:p>
            <a:pPr rtl="0"/>
            <a:br>
              <a:rPr lang="en-US" altLang="en-US" dirty="0"/>
            </a:br>
            <a:r>
              <a:rPr lang="pt-BR"/>
              <a:t>Acesso a dados </a:t>
            </a:r>
            <a:r>
              <a:rPr lang="pt-BR" sz="1600"/>
              <a:t>Dispositivos na mesma rede</a:t>
            </a:r>
            <a:endParaRPr lang="pt-BR" sz="1600"/>
          </a:p>
        </p:txBody>
      </p:sp>
      <p:sp>
        <p:nvSpPr>
          <p:cNvPr id="13315" name="Content Placeholder 2"/>
          <p:cNvSpPr>
            <a:spLocks noGrp="1"/>
          </p:cNvSpPr>
          <p:nvPr>
            <p:ph idx="1"/>
          </p:nvPr>
        </p:nvSpPr>
        <p:spPr>
          <a:xfrm>
            <a:off x="177155" y="1185062"/>
            <a:ext cx="3788917" cy="3435310"/>
          </a:xfrm>
        </p:spPr>
        <p:txBody>
          <a:bodyPr/>
          <a:lstStyle/>
          <a:p>
            <a:pPr marL="0" indent="0" rtl="0">
              <a:buNone/>
            </a:pPr>
            <a:r>
              <a:rPr lang="pt-BR" sz="1600"/>
              <a:t>Quando os dispositivos estão na mesma rede, a origem e o destino terão o mesmo número na parte da rede do endereço.</a:t>
            </a:r>
            <a:endParaRPr lang="pt-BR" sz="1600"/>
          </a:p>
          <a:p>
            <a:pPr lvl="1" rtl="0"/>
            <a:r>
              <a:rPr lang="pt-BR" sz="1600"/>
              <a:t>PC1 — </a:t>
            </a:r>
            <a:r>
              <a:rPr lang="pt-BR" sz="1600" u="sng">
                <a:solidFill>
                  <a:schemeClr val="accent6"/>
                </a:solidFill>
              </a:rPr>
              <a:t>192.168.1</a:t>
            </a:r>
            <a:r>
              <a:rPr lang="pt-BR" sz="1600"/>
              <a:t>.110</a:t>
            </a:r>
            <a:endParaRPr lang="pt-BR" sz="1600"/>
          </a:p>
          <a:p>
            <a:pPr lvl="1" rtl="0"/>
            <a:r>
              <a:rPr lang="pt-BR" sz="1600"/>
              <a:t>Servidor FTP — </a:t>
            </a:r>
            <a:r>
              <a:rPr lang="pt-BR" sz="1600" u="sng">
                <a:solidFill>
                  <a:schemeClr val="accent6"/>
                </a:solidFill>
              </a:rPr>
              <a:t>192.168.1</a:t>
            </a:r>
            <a:r>
              <a:rPr lang="pt-BR" sz="1600"/>
              <a:t>.9</a:t>
            </a:r>
            <a:endParaRPr lang="pt-BR" sz="1600"/>
          </a:p>
        </p:txBody>
      </p:sp>
      <p:pic>
        <p:nvPicPr>
          <p:cNvPr id="10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206229" y="977494"/>
            <a:ext cx="4643258" cy="29809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0" y="41393"/>
            <a:ext cx="9144000" cy="819993"/>
          </a:xfrm>
        </p:spPr>
        <p:txBody>
          <a:bodyPr/>
          <a:lstStyle/>
          <a:p>
            <a:pPr rtl="0"/>
            <a:br>
              <a:rPr lang="en-US" altLang="en-US" dirty="0"/>
            </a:br>
            <a:r>
              <a:rPr lang="pt-BR"/>
              <a:t>Função de Acesso a Dados dos Endereços da Camada de Link de Dados: Mesma Rede IP</a:t>
            </a:r>
            <a:endParaRPr lang="pt-BR"/>
          </a:p>
        </p:txBody>
      </p:sp>
      <p:sp>
        <p:nvSpPr>
          <p:cNvPr id="13315" name="Content Placeholder 2"/>
          <p:cNvSpPr>
            <a:spLocks noGrp="1"/>
          </p:cNvSpPr>
          <p:nvPr>
            <p:ph idx="1"/>
          </p:nvPr>
        </p:nvSpPr>
        <p:spPr>
          <a:xfrm>
            <a:off x="114300" y="1066541"/>
            <a:ext cx="4029075" cy="3435310"/>
          </a:xfrm>
        </p:spPr>
        <p:txBody>
          <a:bodyPr/>
          <a:lstStyle/>
          <a:p>
            <a:pPr marL="0" indent="0" rtl="0">
              <a:buNone/>
            </a:pPr>
            <a:r>
              <a:rPr lang="pt-BR" sz="1600"/>
              <a:t>Quando os dispositivos estiverem na mesma rede Ethernet, o quadro do link de dados usará o endereço MAC real da NIC de destino.</a:t>
            </a:r>
            <a:endParaRPr lang="pt-BR" sz="1600"/>
          </a:p>
          <a:p>
            <a:pPr marL="0" indent="0" rtl="0">
              <a:buNone/>
            </a:pPr>
            <a:r>
              <a:rPr lang="pt-BR" sz="1600"/>
              <a:t>Os endereços MAC são fisicamente incorporados à NIC Ethernet e são endereçamento local.</a:t>
            </a:r>
            <a:endParaRPr lang="pt-BR" sz="1600"/>
          </a:p>
          <a:p>
            <a:pPr rtl="0">
              <a:buFont typeface="Arial" panose="020B0604020202020204" pitchFamily="34" charset="0"/>
              <a:buChar char="•"/>
            </a:pPr>
            <a:r>
              <a:rPr lang="pt-BR" sz="1600"/>
              <a:t>O endereço MAC de origem será o do originador no link.</a:t>
            </a:r>
            <a:endParaRPr lang="pt-BR" sz="1600"/>
          </a:p>
          <a:p>
            <a:pPr rtl="0">
              <a:buFont typeface="Arial" panose="020B0604020202020204" pitchFamily="34" charset="0"/>
              <a:buChar char="•"/>
            </a:pPr>
            <a:r>
              <a:rPr lang="pt-BR" sz="1600"/>
              <a:t>O endereço MAC de destino estará sempre no mesmo link que a origem, mesmo que o destino final seja remoto.</a:t>
            </a:r>
            <a:endParaRPr lang="pt-BR" sz="1600"/>
          </a:p>
          <a:p>
            <a:pPr marL="0" indent="0">
              <a:buNone/>
            </a:pPr>
            <a:endParaRPr lang="en-CA" altLang="en-US" dirty="0"/>
          </a:p>
        </p:txBody>
      </p:sp>
      <p:pic>
        <p:nvPicPr>
          <p:cNvPr id="2" name="Picture 1"/>
          <p:cNvPicPr>
            <a:picLocks noChangeAspect="1"/>
          </p:cNvPicPr>
          <p:nvPr/>
        </p:nvPicPr>
        <p:blipFill>
          <a:blip r:embed="rId1"/>
          <a:stretch>
            <a:fillRect/>
          </a:stretch>
        </p:blipFill>
        <p:spPr>
          <a:xfrm>
            <a:off x="4399440" y="861386"/>
            <a:ext cx="4472943" cy="2933866"/>
          </a:xfrm>
          <a:prstGeom prst="rect">
            <a:avLst/>
          </a:prstGeom>
        </p:spPr>
      </p:pic>
    </p:spTree>
  </p:cSld>
  <p:clrMapOvr>
    <a:masterClrMapping/>
  </p:clrMapOvr>
  <p:transition spd="slow">
    <p:wip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0" y="41393"/>
            <a:ext cx="9143999" cy="819993"/>
          </a:xfrm>
        </p:spPr>
        <p:txBody>
          <a:bodyPr/>
          <a:lstStyle/>
          <a:p>
            <a:pPr rtl="0"/>
            <a:br>
              <a:rPr lang="en-US" altLang="en-US" dirty="0"/>
            </a:br>
            <a:r>
              <a:rPr lang="pt-BR"/>
              <a:t>Acesso a dados </a:t>
            </a:r>
            <a:r>
              <a:rPr lang="pt-BR" sz="1600"/>
              <a:t>Dispositivos em uma rede remota</a:t>
            </a:r>
            <a:endParaRPr lang="pt-BR" sz="1600"/>
          </a:p>
        </p:txBody>
      </p:sp>
      <p:sp>
        <p:nvSpPr>
          <p:cNvPr id="13315" name="Content Placeholder 2"/>
          <p:cNvSpPr>
            <a:spLocks noGrp="1"/>
          </p:cNvSpPr>
          <p:nvPr>
            <p:ph idx="1"/>
          </p:nvPr>
        </p:nvSpPr>
        <p:spPr>
          <a:xfrm>
            <a:off x="114301" y="861387"/>
            <a:ext cx="3935186" cy="3592626"/>
          </a:xfrm>
        </p:spPr>
        <p:txBody>
          <a:bodyPr/>
          <a:lstStyle/>
          <a:p>
            <a:pPr rtl="0">
              <a:buFont typeface="Arial" panose="020B0604020202020204" pitchFamily="34" charset="0"/>
              <a:buChar char="•"/>
            </a:pPr>
            <a:r>
              <a:rPr lang="pt-BR" sz="1600"/>
              <a:t>O que acontece quando o destino real (final) não está na mesma LAN e é remoto? </a:t>
            </a:r>
            <a:endParaRPr lang="pt-BR" sz="1600"/>
          </a:p>
          <a:p>
            <a:pPr rtl="0">
              <a:buFont typeface="Arial" panose="020B0604020202020204" pitchFamily="34" charset="0"/>
              <a:buChar char="•"/>
            </a:pPr>
            <a:r>
              <a:rPr lang="pt-BR" sz="1600"/>
              <a:t>O que acontece quando PC1 tenta alcançar o servidor Web?</a:t>
            </a:r>
            <a:endParaRPr lang="pt-BR" sz="1600"/>
          </a:p>
          <a:p>
            <a:pPr rtl="0">
              <a:buFont typeface="Arial" panose="020B0604020202020204" pitchFamily="34" charset="0"/>
              <a:buChar char="•"/>
            </a:pPr>
            <a:r>
              <a:rPr lang="pt-BR" sz="1600"/>
              <a:t>Isso afeta as camadas de rede e de link de dados?</a:t>
            </a:r>
            <a:endParaRPr lang="pt-BR" sz="1600"/>
          </a:p>
          <a:p>
            <a:pPr marL="142875" lvl="1" indent="0">
              <a:buNone/>
            </a:pPr>
            <a:endParaRPr lang="en-CA" altLang="en-US" dirty="0"/>
          </a:p>
          <a:p>
            <a:pPr marL="0" indent="0">
              <a:buNone/>
            </a:pPr>
            <a:endParaRPr lang="en-CA" altLang="en-US" dirty="0"/>
          </a:p>
        </p:txBody>
      </p:sp>
      <p:pic>
        <p:nvPicPr>
          <p:cNvPr id="3" name="Picture 2"/>
          <p:cNvPicPr>
            <a:picLocks noChangeAspect="1"/>
          </p:cNvPicPr>
          <p:nvPr/>
        </p:nvPicPr>
        <p:blipFill>
          <a:blip r:embed="rId1"/>
          <a:stretch>
            <a:fillRect/>
          </a:stretch>
        </p:blipFill>
        <p:spPr>
          <a:xfrm>
            <a:off x="4143375" y="1037350"/>
            <a:ext cx="4884533" cy="3240700"/>
          </a:xfrm>
          <a:prstGeom prst="rect">
            <a:avLst/>
          </a:prstGeom>
        </p:spPr>
      </p:pic>
    </p:spTree>
  </p:cSld>
  <p:clrMapOvr>
    <a:masterClrMapping/>
  </p:clrMapOvr>
  <p:transition spd="slow">
    <p:wip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41393"/>
            <a:ext cx="9144000" cy="819993"/>
          </a:xfrm>
        </p:spPr>
        <p:txBody>
          <a:bodyPr/>
          <a:lstStyle/>
          <a:p>
            <a:pPr rtl="0"/>
            <a:r>
              <a:rPr lang="pt-BR" sz="1600"/>
              <a:t>Acessoa aos dados </a:t>
            </a:r>
            <a:br>
              <a:rPr lang="en-US" altLang="en-US" dirty="0"/>
            </a:br>
            <a:r>
              <a:rPr lang="pt-BR"/>
              <a:t>Função dos endereços da camada de rede</a:t>
            </a:r>
            <a:endParaRPr lang="pt-BR"/>
          </a:p>
        </p:txBody>
      </p:sp>
      <p:sp>
        <p:nvSpPr>
          <p:cNvPr id="13315" name="Content Placeholder 2"/>
          <p:cNvSpPr>
            <a:spLocks noGrp="1"/>
          </p:cNvSpPr>
          <p:nvPr>
            <p:ph idx="1"/>
          </p:nvPr>
        </p:nvSpPr>
        <p:spPr>
          <a:xfrm>
            <a:off x="114301" y="861387"/>
            <a:ext cx="3862788" cy="3592626"/>
          </a:xfrm>
        </p:spPr>
        <p:txBody>
          <a:bodyPr/>
          <a:lstStyle/>
          <a:p>
            <a:pPr marL="0" indent="0" rtl="0">
              <a:buNone/>
            </a:pPr>
            <a:r>
              <a:rPr lang="pt-BR" sz="1600"/>
              <a:t>Quando a origem e o destino têm uma parte de rede diferente, isso significa que eles estão em redes diferentes.</a:t>
            </a:r>
            <a:endParaRPr lang="pt-BR" sz="1600"/>
          </a:p>
          <a:p>
            <a:pPr lvl="1" rtl="0"/>
            <a:r>
              <a:rPr lang="pt-BR" sz="1600"/>
              <a:t>PC1 — 192.168.1</a:t>
            </a:r>
            <a:endParaRPr lang="pt-BR" sz="1600"/>
          </a:p>
          <a:p>
            <a:pPr lvl="1" rtl="0"/>
            <a:r>
              <a:rPr lang="pt-BR" sz="1600"/>
              <a:t>Servidor Web — 172.16.1</a:t>
            </a:r>
            <a:endParaRPr lang="pt-BR" sz="1600"/>
          </a:p>
          <a:p>
            <a:pPr marL="0" indent="0">
              <a:buNone/>
            </a:pPr>
            <a:endParaRPr lang="en-CA" altLang="en-US" dirty="0"/>
          </a:p>
          <a:p>
            <a:pPr marL="0" indent="0">
              <a:buNone/>
            </a:pPr>
            <a:endParaRPr lang="en-CA" altLang="en-US" dirty="0"/>
          </a:p>
        </p:txBody>
      </p:sp>
      <p:pic>
        <p:nvPicPr>
          <p:cNvPr id="3" name="Picture 2"/>
          <p:cNvPicPr>
            <a:picLocks noChangeAspect="1"/>
          </p:cNvPicPr>
          <p:nvPr/>
        </p:nvPicPr>
        <p:blipFill>
          <a:blip r:embed="rId1"/>
          <a:stretch>
            <a:fillRect/>
          </a:stretch>
        </p:blipFill>
        <p:spPr>
          <a:xfrm>
            <a:off x="4143375" y="1037350"/>
            <a:ext cx="4884533" cy="3240700"/>
          </a:xfrm>
          <a:prstGeom prst="rect">
            <a:avLst/>
          </a:prstGeom>
        </p:spPr>
      </p:pic>
    </p:spTree>
  </p:cSld>
  <p:clrMapOvr>
    <a:masterClrMapping/>
  </p:clrMapOvr>
  <p:transition spd="slow">
    <p:wip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107336"/>
            <a:ext cx="9144000" cy="743794"/>
          </a:xfrm>
        </p:spPr>
        <p:txBody>
          <a:bodyPr/>
          <a:lstStyle/>
          <a:p>
            <a:pPr rtl="0"/>
            <a:r>
              <a:rPr lang="pt-BR" sz="1600"/>
              <a:t>Acesso aos Dados </a:t>
            </a:r>
            <a:br>
              <a:rPr lang="en-US" altLang="en-US" dirty="0"/>
            </a:br>
            <a:r>
              <a:rPr lang="pt-BR"/>
              <a:t>Função dos endereços da camada de enlace de dados: redes IP diferentes</a:t>
            </a:r>
            <a:endParaRPr lang="pt-BR"/>
          </a:p>
        </p:txBody>
      </p:sp>
      <p:sp>
        <p:nvSpPr>
          <p:cNvPr id="13315" name="Content Placeholder 2"/>
          <p:cNvSpPr>
            <a:spLocks noGrp="1"/>
          </p:cNvSpPr>
          <p:nvPr>
            <p:ph idx="1"/>
          </p:nvPr>
        </p:nvSpPr>
        <p:spPr>
          <a:xfrm>
            <a:off x="114301" y="1004995"/>
            <a:ext cx="4036523" cy="3901113"/>
          </a:xfrm>
        </p:spPr>
        <p:txBody>
          <a:bodyPr/>
          <a:lstStyle/>
          <a:p>
            <a:pPr marL="0" indent="0" rtl="0">
              <a:buNone/>
            </a:pPr>
            <a:r>
              <a:rPr lang="pt-BR" sz="1400">
                <a:ea typeface="MS PGothic"/>
              </a:rPr>
              <a:t>Quando o destino final for remoto, a Camada 3 fornecerá à Camada 2 o endereço IP do gateway padrão local, também conhecido como o endereço do roteador.</a:t>
            </a:r>
            <a:endParaRPr lang="pt-BR" sz="1400">
              <a:ea typeface="MS PGothic"/>
            </a:endParaRPr>
          </a:p>
          <a:p>
            <a:pPr marL="169545" indent="-169545" rtl="0">
              <a:buFont typeface="Arial" panose="020B0604020202020204" pitchFamily="34" charset="0"/>
              <a:buChar char="•"/>
            </a:pPr>
            <a:r>
              <a:rPr lang="pt-BR" sz="1400">
                <a:ea typeface="MS PGothic"/>
              </a:rPr>
              <a:t>O gateway padrão (DGW) é o endereço IP da interface do roteador que faz parte dessa LAN e será a “porta” ou “gateway” para todos os outros locais remotos.</a:t>
            </a:r>
            <a:endParaRPr lang="pt-BR" sz="1400">
              <a:ea typeface="MS PGothic"/>
            </a:endParaRPr>
          </a:p>
          <a:p>
            <a:pPr marL="169545" indent="-169545">
              <a:buFont typeface="Arial" panose="020B0604020202020204" pitchFamily="34" charset="0"/>
              <a:buChar char="•"/>
            </a:pPr>
            <a:r>
              <a:rPr lang="pt-BR" sz="1400">
                <a:ea typeface="MS PGothic"/>
              </a:rPr>
              <a:t>Todos os dispositivos na LAN devem ser informados sobre esse endereço ou seu tráfego será limitado somente à LAN. </a:t>
            </a:r>
            <a:endParaRPr lang="pt-BR" sz="1400">
              <a:ea typeface="MS PGothic"/>
            </a:endParaRPr>
          </a:p>
          <a:p>
            <a:pPr marL="169545" indent="-169545" rtl="0">
              <a:buFont typeface="Arial" panose="020B0604020202020204" pitchFamily="34" charset="0"/>
              <a:buChar char="•"/>
            </a:pPr>
            <a:r>
              <a:rPr lang="pt-BR" sz="1400">
                <a:ea typeface="MS PGothic"/>
              </a:rPr>
              <a:t>Depois que a Camada 2 em PC1 for encaminha para o gateway padrão (Roteador), o roteador poderá iniciar o processo de roteamento para obter as informações para o destino real. </a:t>
            </a:r>
            <a:endParaRPr lang="pt-BR" sz="1400"/>
          </a:p>
          <a:p>
            <a:pPr marL="0" indent="0">
              <a:buNone/>
            </a:pPr>
            <a:endParaRPr lang="en-CA" altLang="en-US" sz="1400" dirty="0"/>
          </a:p>
        </p:txBody>
      </p:sp>
      <p:pic>
        <p:nvPicPr>
          <p:cNvPr id="307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150824" y="1188719"/>
            <a:ext cx="4878875" cy="331012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41393"/>
            <a:ext cx="9144000" cy="995957"/>
          </a:xfrm>
        </p:spPr>
        <p:txBody>
          <a:bodyPr/>
          <a:lstStyle/>
          <a:p>
            <a:pPr rtl="0"/>
            <a:br>
              <a:rPr lang="en-US" altLang="en-US" dirty="0"/>
            </a:br>
            <a:r>
              <a:rPr lang="pt-BR"/>
              <a:t>Função de Acesso a Dados dos Endereços da Camada de Link de Dados: Redes IP Diferentes (Cont.) </a:t>
            </a:r>
            <a:endParaRPr lang="pt-BR"/>
          </a:p>
        </p:txBody>
      </p:sp>
      <p:sp>
        <p:nvSpPr>
          <p:cNvPr id="13315" name="Content Placeholder 2"/>
          <p:cNvSpPr>
            <a:spLocks noGrp="1"/>
          </p:cNvSpPr>
          <p:nvPr>
            <p:ph idx="1"/>
          </p:nvPr>
        </p:nvSpPr>
        <p:spPr>
          <a:xfrm>
            <a:off x="114301" y="1115568"/>
            <a:ext cx="3935186" cy="3632702"/>
          </a:xfrm>
        </p:spPr>
        <p:txBody>
          <a:bodyPr/>
          <a:lstStyle/>
          <a:p>
            <a:pPr marL="169545" indent="-169545" rtl="0">
              <a:buFont typeface="Arial" panose="020B0604020202020204" pitchFamily="34" charset="0"/>
              <a:buChar char="•"/>
            </a:pPr>
            <a:r>
              <a:rPr lang="pt-BR" sz="1400">
                <a:ea typeface="MS PGothic"/>
              </a:rPr>
              <a:t>O endereçamento do link de dados é endereçamento local, portanto, ele terá uma origem e um destino para cada link.</a:t>
            </a:r>
            <a:endParaRPr lang="pt-BR" sz="1400">
              <a:ea typeface="MS PGothic"/>
            </a:endParaRPr>
          </a:p>
          <a:p>
            <a:pPr marL="169545" indent="-169545" rtl="0">
              <a:buFont typeface="Arial" panose="020B0604020202020204" pitchFamily="34" charset="0"/>
              <a:buChar char="•"/>
            </a:pPr>
            <a:r>
              <a:rPr lang="pt-BR" sz="1400">
                <a:ea typeface="MS PGothic"/>
              </a:rPr>
              <a:t>O endereçamento MAC para o primeiro segmento é:</a:t>
            </a:r>
            <a:endParaRPr lang="pt-BR" sz="1400">
              <a:ea typeface="MS PGothic"/>
            </a:endParaRPr>
          </a:p>
          <a:p>
            <a:pPr lvl="1" rtl="0"/>
            <a:r>
              <a:rPr lang="pt-BR">
                <a:ea typeface="MS PGothic"/>
              </a:rPr>
              <a:t>Fonte — AA-AA-AA-AA-AA-AA (PC1) Envia o quadro.</a:t>
            </a:r>
            <a:endParaRPr lang="pt-BR">
              <a:ea typeface="MS PGothic"/>
            </a:endParaRPr>
          </a:p>
          <a:p>
            <a:pPr lvl="1" rtl="0"/>
            <a:r>
              <a:rPr lang="pt-BR">
                <a:ea typeface="MS PGothic"/>
              </a:rPr>
              <a:t>Destino — 11-11-11-11-11-11 (R1- MAC de gateway padrão) Recebe o quadro.</a:t>
            </a:r>
            <a:endParaRPr lang="pt-BR">
              <a:ea typeface="MS PGothic"/>
            </a:endParaRPr>
          </a:p>
          <a:p>
            <a:pPr marL="0" indent="0">
              <a:buNone/>
            </a:pPr>
            <a:r>
              <a:rPr lang="pt-BR" sz="1400" b="1">
                <a:ea typeface="MS PGothic"/>
              </a:rPr>
              <a:t>Observação: </a:t>
            </a:r>
            <a:r>
              <a:rPr lang="pt-BR" sz="1400">
                <a:ea typeface="MS PGothic"/>
              </a:rPr>
              <a:t>Embora o endereçamento local L2 mude de link para link ou de salto para salto, o endereçamento L3 permanece o mesmo. </a:t>
            </a:r>
            <a:endParaRPr lang="pt-BR" sz="1400"/>
          </a:p>
          <a:p>
            <a:pPr marL="169545" indent="-169545"/>
            <a:endParaRPr lang="en-CA" altLang="en-US" sz="1400" dirty="0"/>
          </a:p>
          <a:p>
            <a:pPr marL="0" indent="0">
              <a:buNone/>
            </a:pPr>
            <a:endParaRPr lang="en-CA" altLang="en-US" sz="1400" dirty="0"/>
          </a:p>
        </p:txBody>
      </p:sp>
      <p:pic>
        <p:nvPicPr>
          <p:cNvPr id="5"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482059" y="874527"/>
            <a:ext cx="4215838" cy="26974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1"/>
            <a:ext cx="6994866" cy="861386"/>
          </a:xfrm>
        </p:spPr>
        <p:txBody>
          <a:bodyPr/>
          <a:lstStyle/>
          <a:p>
            <a:pPr rtl="0"/>
            <a:r>
              <a:rPr lang="pt-BR" sz="1600"/>
              <a:t>Acesso a dados </a:t>
            </a:r>
            <a:br>
              <a:rPr lang="en-US" altLang="en-US" dirty="0"/>
            </a:br>
            <a:r>
              <a:rPr lang="pt-BR"/>
              <a:t>Endereços de enlace de dados</a:t>
            </a:r>
            <a:endParaRPr lang="pt-BR"/>
          </a:p>
        </p:txBody>
      </p:sp>
      <p:sp>
        <p:nvSpPr>
          <p:cNvPr id="13315" name="Content Placeholder 2"/>
          <p:cNvSpPr>
            <a:spLocks noGrp="1"/>
          </p:cNvSpPr>
          <p:nvPr>
            <p:ph idx="1"/>
          </p:nvPr>
        </p:nvSpPr>
        <p:spPr>
          <a:xfrm>
            <a:off x="161925" y="861388"/>
            <a:ext cx="8505825" cy="1676504"/>
          </a:xfrm>
        </p:spPr>
        <p:txBody>
          <a:bodyPr/>
          <a:lstStyle/>
          <a:p>
            <a:pPr rtl="0">
              <a:buFont typeface="Arial" panose="020B0604020202020204" pitchFamily="34" charset="0"/>
              <a:buChar char="•"/>
            </a:pPr>
            <a:r>
              <a:rPr lang="pt-BR" sz="1600"/>
              <a:t>Como o endereçamento de link de dados é endereçamento local, ele terá uma origem e um destino para cada segmento ou salto da viagem para o destino.</a:t>
            </a:r>
            <a:endParaRPr lang="pt-BR" sz="1600"/>
          </a:p>
          <a:p>
            <a:pPr rtl="0">
              <a:buFont typeface="Arial" panose="020B0604020202020204" pitchFamily="34" charset="0"/>
              <a:buChar char="•"/>
            </a:pPr>
            <a:r>
              <a:rPr lang="pt-BR" sz="1600"/>
              <a:t>O endereçamento MAC para o primeiro segmento é:</a:t>
            </a:r>
            <a:endParaRPr lang="pt-BR" sz="1600"/>
          </a:p>
          <a:p>
            <a:pPr lvl="1" rtl="0"/>
            <a:r>
              <a:rPr lang="pt-BR" sz="1600"/>
              <a:t>Origem — (NIC PC1) envia quadro</a:t>
            </a:r>
            <a:endParaRPr lang="pt-BR" sz="1600"/>
          </a:p>
          <a:p>
            <a:pPr lvl="1" rtl="0"/>
            <a:r>
              <a:rPr lang="pt-BR" sz="1600"/>
              <a:t>Destino — (Primeiro Roteador - Interface DGW) recebe quadro</a:t>
            </a:r>
            <a:endParaRPr lang="pt-BR" sz="1600"/>
          </a:p>
        </p:txBody>
      </p:sp>
      <p:pic>
        <p:nvPicPr>
          <p:cNvPr id="205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525841" y="2571750"/>
            <a:ext cx="4470787" cy="216454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1"/>
            <a:ext cx="4467224" cy="861386"/>
          </a:xfrm>
        </p:spPr>
        <p:txBody>
          <a:bodyPr/>
          <a:lstStyle/>
          <a:p>
            <a:pPr rtl="0"/>
            <a:r>
              <a:rPr lang="pt-BR" sz="1600"/>
              <a:t>Acesso a dados </a:t>
            </a:r>
            <a:br>
              <a:rPr lang="en-US" altLang="en-US" dirty="0"/>
            </a:br>
            <a:r>
              <a:rPr lang="pt-BR"/>
              <a:t>Endereços de enlace de dados</a:t>
            </a:r>
            <a:endParaRPr lang="pt-BR"/>
          </a:p>
        </p:txBody>
      </p:sp>
      <p:sp>
        <p:nvSpPr>
          <p:cNvPr id="13315" name="Content Placeholder 2"/>
          <p:cNvSpPr>
            <a:spLocks noGrp="1"/>
          </p:cNvSpPr>
          <p:nvPr>
            <p:ph idx="1"/>
          </p:nvPr>
        </p:nvSpPr>
        <p:spPr>
          <a:xfrm>
            <a:off x="190500" y="851863"/>
            <a:ext cx="8248650" cy="1148388"/>
          </a:xfrm>
        </p:spPr>
        <p:txBody>
          <a:bodyPr/>
          <a:lstStyle/>
          <a:p>
            <a:pPr marL="0" indent="0" rtl="0">
              <a:buNone/>
            </a:pPr>
            <a:r>
              <a:rPr lang="pt-BR" sz="1600"/>
              <a:t>O endereçamento MAC para o segundo salto é:</a:t>
            </a:r>
            <a:endParaRPr lang="pt-BR" sz="1600"/>
          </a:p>
          <a:p>
            <a:pPr lvl="1" rtl="0"/>
            <a:r>
              <a:rPr lang="pt-BR" sz="1600"/>
              <a:t>Origem — (Primeira interface de saída do Roteador) envia quadro</a:t>
            </a:r>
            <a:endParaRPr lang="pt-BR" sz="1600"/>
          </a:p>
          <a:p>
            <a:pPr lvl="1" rtl="0"/>
            <a:r>
              <a:rPr lang="pt-BR" sz="1600"/>
              <a:t>Destino — (Segundo Roteador) recebe quadro</a:t>
            </a:r>
            <a:endParaRPr lang="pt-BR" sz="1600"/>
          </a:p>
        </p:txBody>
      </p:sp>
      <p:pic>
        <p:nvPicPr>
          <p:cNvPr id="2051"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960042" y="2080004"/>
            <a:ext cx="5223916" cy="23477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0" y="1"/>
            <a:ext cx="7278564" cy="846733"/>
          </a:xfrm>
        </p:spPr>
        <p:txBody>
          <a:bodyPr/>
          <a:lstStyle/>
          <a:p>
            <a:pPr rtl="0"/>
            <a:r>
              <a:rPr lang="pt-BR" sz="1600"/>
              <a:t>Acesso a dados </a:t>
            </a:r>
            <a:br>
              <a:rPr lang="en-US" altLang="en-US" dirty="0"/>
            </a:br>
            <a:r>
              <a:rPr lang="pt-BR"/>
              <a:t>Endereços de enlace de dados</a:t>
            </a:r>
            <a:endParaRPr lang="pt-BR"/>
          </a:p>
        </p:txBody>
      </p:sp>
      <p:sp>
        <p:nvSpPr>
          <p:cNvPr id="13315" name="Content Placeholder 2"/>
          <p:cNvSpPr>
            <a:spLocks noGrp="1"/>
          </p:cNvSpPr>
          <p:nvPr>
            <p:ph idx="1"/>
          </p:nvPr>
        </p:nvSpPr>
        <p:spPr>
          <a:xfrm>
            <a:off x="180975" y="842338"/>
            <a:ext cx="7791449" cy="1205538"/>
          </a:xfrm>
        </p:spPr>
        <p:txBody>
          <a:bodyPr/>
          <a:lstStyle/>
          <a:p>
            <a:pPr marL="0" indent="0" rtl="0">
              <a:buNone/>
            </a:pPr>
            <a:r>
              <a:rPr lang="pt-BR" sz="1600"/>
              <a:t>O endereçamento MAC para o último segmento é:</a:t>
            </a:r>
            <a:endParaRPr lang="pt-BR" sz="1600"/>
          </a:p>
          <a:p>
            <a:pPr lvl="1" rtl="0"/>
            <a:r>
              <a:rPr lang="pt-BR" sz="1600"/>
              <a:t>Origem — (Segunda interface de saída do Roteador) envia quadro</a:t>
            </a:r>
            <a:endParaRPr lang="pt-BR" sz="1600"/>
          </a:p>
          <a:p>
            <a:pPr lvl="1" rtl="0"/>
            <a:r>
              <a:rPr lang="pt-BR" sz="1600"/>
              <a:t>Destino — (NIC do servidor Web) recebe quadro</a:t>
            </a:r>
            <a:endParaRPr lang="pt-BR" sz="1600"/>
          </a:p>
        </p:txBody>
      </p:sp>
      <p:pic>
        <p:nvPicPr>
          <p:cNvPr id="2052"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983621" y="2137157"/>
            <a:ext cx="5176758" cy="227951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1" y="1"/>
            <a:ext cx="8010523" cy="861386"/>
          </a:xfrm>
        </p:spPr>
        <p:txBody>
          <a:bodyPr/>
          <a:lstStyle/>
          <a:p>
            <a:pPr rtl="0"/>
            <a:r>
              <a:rPr lang="pt-BR" sz="1600"/>
              <a:t>Acesso a dados </a:t>
            </a:r>
            <a:br>
              <a:rPr lang="en-US" altLang="en-US" dirty="0"/>
            </a:br>
            <a:r>
              <a:rPr lang="pt-BR"/>
              <a:t>Endereços de enlace de dados (Cont.)</a:t>
            </a:r>
            <a:endParaRPr lang="pt-BR"/>
          </a:p>
        </p:txBody>
      </p:sp>
      <p:sp>
        <p:nvSpPr>
          <p:cNvPr id="13315" name="Content Placeholder 2"/>
          <p:cNvSpPr>
            <a:spLocks noGrp="1"/>
          </p:cNvSpPr>
          <p:nvPr>
            <p:ph idx="1"/>
          </p:nvPr>
        </p:nvSpPr>
        <p:spPr>
          <a:xfrm>
            <a:off x="200025" y="832813"/>
            <a:ext cx="8620125" cy="1205538"/>
          </a:xfrm>
        </p:spPr>
        <p:txBody>
          <a:bodyPr/>
          <a:lstStyle/>
          <a:p>
            <a:pPr rtl="0">
              <a:buFont typeface="Arial" panose="020B0604020202020204" pitchFamily="34" charset="0"/>
              <a:buChar char="•"/>
            </a:pPr>
            <a:r>
              <a:rPr lang="pt-BR" sz="1600"/>
              <a:t>Observe que o pacote não é modificado, mas o quadro é alterado, portanto, o endereçamento IP L3 não muda de segmento para segmento como o endereçamento MAC L2.</a:t>
            </a:r>
            <a:endParaRPr lang="pt-BR" sz="1600"/>
          </a:p>
          <a:p>
            <a:pPr rtl="0">
              <a:buFont typeface="Arial" panose="020B0604020202020204" pitchFamily="34" charset="0"/>
              <a:buChar char="•"/>
            </a:pPr>
            <a:r>
              <a:rPr lang="pt-BR" sz="1600"/>
              <a:t>O endereçamento L3 permanece o mesmo, uma vez que é global e o destino final ainda é o servidor Web.</a:t>
            </a:r>
            <a:endParaRPr lang="pt-BR" sz="1600"/>
          </a:p>
        </p:txBody>
      </p:sp>
      <p:pic>
        <p:nvPicPr>
          <p:cNvPr id="2052"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970660" y="2182128"/>
            <a:ext cx="5221729" cy="227951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transition spd="slow">
    <p:wip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slow">
    <p:wipe/>
  </p:transition>
</p:sld>
</file>

<file path=ppt/tags/tag1.xml><?xml version="1.0" encoding="utf-8"?>
<p:tagLst xmlns:p="http://schemas.openxmlformats.org/presentationml/2006/main">
  <p:tag name="ARTICULATE_SLIDE_THUMBNAIL_REFRESH" val="1"/>
</p:tagLst>
</file>

<file path=ppt/tags/tag2.xml><?xml version="1.0" encoding="utf-8"?>
<p:tagLst xmlns:p="http://schemas.openxmlformats.org/presentationml/2006/main">
  <p:tag name="ARTICULATE_SLIDE_THUMBNAIL_REFRESH" val="1"/>
</p:tagLst>
</file>

<file path=ppt/tags/tag3.xml><?xml version="1.0" encoding="utf-8"?>
<p:tagLst xmlns:p="http://schemas.openxmlformats.org/presentationml/2006/main">
  <p:tag name="ARTICULATE_SLIDE_THUMBNAIL_REFRESH" val="1"/>
</p:tagLst>
</file>

<file path=ppt/tags/tag4.xml><?xml version="1.0" encoding="utf-8"?>
<p:tagLst xmlns:p="http://schemas.openxmlformats.org/presentationml/2006/main">
  <p:tag name="ARTICULATE_SLIDE_THUMBNAIL_REFRESH" val="1"/>
</p:tagLst>
</file>

<file path=ppt/tags/tag5.xml><?xml version="1.0" encoding="utf-8"?>
<p:tagLst xmlns:p="http://schemas.openxmlformats.org/presentationml/2006/main">
  <p:tag name="ARTICULATE_SLIDE_THUMBNAIL_REFRESH" val="1"/>
</p:tagLst>
</file>

<file path=ppt/tags/tag6.xml><?xml version="1.0" encoding="utf-8"?>
<p:tagLst xmlns:p="http://schemas.openxmlformats.org/presentationml/2006/main">
  <p:tag name="ARTICULATE_SLIDE_THUMBNAIL_REFRESH" val="1"/>
</p:tagLst>
</file>

<file path=ppt/tags/tag7.xml><?xml version="1.0" encoding="utf-8"?>
<p:tagLst xmlns:p="http://schemas.openxmlformats.org/presentationml/2006/main">
  <p:tag name="ARTICULATE_SLIDE_THUMBNAIL_REFRESH" val="1"/>
</p:tagLst>
</file>

<file path=ppt/tags/tag8.xml><?xml version="1.0" encoding="utf-8"?>
<p:tagLst xmlns:p="http://schemas.openxmlformats.org/presentationml/2006/main">
  <p:tag name="ARTICULATE_SLIDE_THUMBNAIL_REFRESH" val="1"/>
</p:tagLst>
</file>

<file path=ppt/tags/tag9.xml><?xml version="1.0" encoding="utf-8"?>
<p:tagLst xmlns:p="http://schemas.openxmlformats.org/presentationml/2006/main">
  <p:tag name="ARTICULATE_SLIDE_THUMBNAIL_REFRESH" val="1"/>
</p:tagLst>
</file>

<file path=ppt/tags/tag10.xml><?xml version="1.0" encoding="utf-8"?>
<p:tagLst xmlns:p="http://schemas.openxmlformats.org/presentationml/2006/main">
  <p:tag name="ARTICULATE_SLIDE_THUMBNAIL_REFRESH" val="1"/>
</p:tagLst>
</file>

<file path=ppt/tags/tag11.xml><?xml version="1.0" encoding="utf-8"?>
<p:tagLst xmlns:p="http://schemas.openxmlformats.org/presentationml/2006/main">
  <p:tag name="ARTICULATE_SLIDE_THUMBNAIL_REFRESH" val="1"/>
</p:tagLst>
</file>

<file path=ppt/tags/tag12.xml><?xml version="1.0" encoding="utf-8"?>
<p:tagLst xmlns:p="http://schemas.openxmlformats.org/presentationml/2006/main">
  <p:tag name="ARTICULATE_SLIDE_COUNT" val="67"/>
  <p:tag name="ARTICULATE_PROJECT_OPEN" val="0"/>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0</TotalTime>
  <Words>19959</Words>
  <Application>WPS Presentation</Application>
  <PresentationFormat>On-screen Show (16:9)</PresentationFormat>
  <Paragraphs>526</Paragraphs>
  <Slides>57</Slides>
  <Notes>75</Notes>
  <HiddenSlides>12</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57</vt:i4>
      </vt:variant>
    </vt:vector>
  </HeadingPairs>
  <TitlesOfParts>
    <vt:vector size="77" baseType="lpstr">
      <vt:lpstr>Arial</vt:lpstr>
      <vt:lpstr>SimSun</vt:lpstr>
      <vt:lpstr>Wingdings</vt:lpstr>
      <vt:lpstr>MS PGothic</vt:lpstr>
      <vt:lpstr>Droid Sans Fallback</vt:lpstr>
      <vt:lpstr>CiscoSans Thin</vt:lpstr>
      <vt:lpstr>Gubbi</vt:lpstr>
      <vt:lpstr>MS PGothic</vt:lpstr>
      <vt:lpstr>CiscoSans</vt:lpstr>
      <vt:lpstr>CiscoSans</vt:lpstr>
      <vt:lpstr>CiscoSans ExtraLight</vt:lpstr>
      <vt:lpstr>Arial</vt:lpstr>
      <vt:lpstr>CiscoSans ExtraLight</vt:lpstr>
      <vt:lpstr>OpenSymbol</vt:lpstr>
      <vt:lpstr>Microsoft YaHei</vt:lpstr>
      <vt:lpstr>Arial Unicode MS</vt:lpstr>
      <vt:lpstr>Calibri</vt:lpstr>
      <vt:lpstr>Trebuchet MS</vt:lpstr>
      <vt:lpstr>MS PGothic</vt:lpstr>
      <vt:lpstr>Default Theme</vt:lpstr>
      <vt:lpstr>Módulo 3: Protocolos e Modelos</vt:lpstr>
      <vt:lpstr>3.1 As Regras</vt:lpstr>
      <vt:lpstr> As regras Princípios da comunicação</vt:lpstr>
      <vt:lpstr>As Regras  Protocolos de comunicações</vt:lpstr>
      <vt:lpstr>As regras  Estabelecimento de regras</vt:lpstr>
      <vt:lpstr>As regras  Estabelecimento de regras(Cont.)</vt:lpstr>
      <vt:lpstr>Osrequisitos do protocolode redede regras</vt:lpstr>
      <vt:lpstr> As regras Codificação da mensagem</vt:lpstr>
      <vt:lpstr> As regras Formatação e encapsulamento da mensagem</vt:lpstr>
      <vt:lpstr> As regras Tamanho da mensagem</vt:lpstr>
      <vt:lpstr>As regras  Temporização de mensagem</vt:lpstr>
      <vt:lpstr>As regras  Opções de entrega da mensagem</vt:lpstr>
      <vt:lpstr>As Regras Uma Nota Sobre o Ícone de Nó</vt:lpstr>
      <vt:lpstr>3.2 Protocolos</vt:lpstr>
      <vt:lpstr>Visão geral do  protocolo derede</vt:lpstr>
      <vt:lpstr> Funções de protocolo de rede</vt:lpstr>
      <vt:lpstr> Protocolos Interação de protocolos</vt:lpstr>
      <vt:lpstr>3.3 Conjuntos de protocolos</vt:lpstr>
      <vt:lpstr>Suítes de protocolos de rede de conjuntos de protocolos</vt:lpstr>
      <vt:lpstr> Evolução de conjuntos de protocolos dos conjuntos de protocolos</vt:lpstr>
      <vt:lpstr> Exemplo de protocolo TCP / IP de conjuntos de protocolos</vt:lpstr>
      <vt:lpstr> Conjuntos de protocolo STCP/IP Protocol Suite</vt:lpstr>
      <vt:lpstr> Conjuntos de protocolo Processo de protocolo STCP/IP</vt:lpstr>
      <vt:lpstr>3.4 Empresas de padrões</vt:lpstr>
      <vt:lpstr>Empresas  de padrões Padrões abertos</vt:lpstr>
      <vt:lpstr>Empresas de padrões  Padrões de Internet</vt:lpstr>
      <vt:lpstr>Empresas de padrões  Padrões de Internet</vt:lpstr>
      <vt:lpstr>Organizações de padrões Padrões eletrônicos e de comunicações</vt:lpstr>
      <vt:lpstr> Empresas de padrões Laboratório - Pesquisa dos padrões de rede</vt:lpstr>
      <vt:lpstr>3.5 Modelos de referência</vt:lpstr>
      <vt:lpstr> Modelos de referência Os benefícios de se usar um modelo de camadas</vt:lpstr>
      <vt:lpstr>Modelos de referência  Os benefícios de se usar um modelo de camadas (Cont.)</vt:lpstr>
      <vt:lpstr> Modelos de referência O modelo de referência OSI</vt:lpstr>
      <vt:lpstr>Modelos de referência O modelo de referência TCP / IP</vt:lpstr>
      <vt:lpstr>Modelos de referência  Comparação de modelos OSI e TCP / IP</vt:lpstr>
      <vt:lpstr>Modelos de referência  Packet Tracer: Investigação dos modelos TCP/IP e OSI em ação</vt:lpstr>
      <vt:lpstr>3.6 Encapsulamento de dados</vt:lpstr>
      <vt:lpstr>Encapsulamento de dados  Segmentação de mensagens</vt:lpstr>
      <vt:lpstr>Encapsulamento de dados  Sequenciamento</vt:lpstr>
      <vt:lpstr> Encapsulamento de dados Unidades de dados de protocolo</vt:lpstr>
      <vt:lpstr> Encapsulamento de dados Exemplo de encapsulamento</vt:lpstr>
      <vt:lpstr>Encapsulamento de dados  Exemplo de desencapsulamento</vt:lpstr>
      <vt:lpstr>3.7 Acesso aos dados</vt:lpstr>
      <vt:lpstr> Acesso a dados Endereços</vt:lpstr>
      <vt:lpstr>Endereço Lógicoda Camada 3de Acesso a Dados</vt:lpstr>
      <vt:lpstr>Endereço lógicoda Camada 3 de Acesso a Dados (Cont.) </vt:lpstr>
      <vt:lpstr> Acesso a dados Dispositivos na mesma rede</vt:lpstr>
      <vt:lpstr> Função de Acesso a Dados dos Endereços da Camada de Link de Dados: Mesma Rede IP</vt:lpstr>
      <vt:lpstr> Acesso a dados Dispositivos em uma rede remota</vt:lpstr>
      <vt:lpstr>Acessoa aos dados  Função dos endereços da camada de rede</vt:lpstr>
      <vt:lpstr>Acesso aos Dados  Função dos endereços da camada de enlace de dados: redes IP diferentes</vt:lpstr>
      <vt:lpstr> Função de Acesso a Dados dos Endereços da Camada de Link de Dados: Redes IP Diferentes (Cont.) </vt:lpstr>
      <vt:lpstr>Acesso a dados  Endereços de enlace de dados</vt:lpstr>
      <vt:lpstr>Acesso a dados  Endereços de enlace de dados</vt:lpstr>
      <vt:lpstr>Acesso a dados  Endereços de enlace de dados</vt:lpstr>
      <vt:lpstr>Acesso a dados  Endereços de enlace de dados (Cont.)</vt:lpstr>
      <vt:lpstr>PowerPoint 演示文稿</vt:lpstr>
    </vt:vector>
  </TitlesOfParts>
  <Company>Cisco Systems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bvachon@cisco.com</dc:creator>
  <cp:lastModifiedBy>vaamonde</cp:lastModifiedBy>
  <cp:revision>1020</cp:revision>
  <dcterms:created xsi:type="dcterms:W3CDTF">2026-03-02T00:02:22Z</dcterms:created>
  <dcterms:modified xsi:type="dcterms:W3CDTF">2026-03-02T00:02:22Z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y fmtid="{D5CDD505-2E9C-101B-9397-08002B2CF9AE}" pid="10" name="ICV">
    <vt:lpwstr/>
  </property>
  <property fmtid="{D5CDD505-2E9C-101B-9397-08002B2CF9AE}" pid="11" name="KSOProductBuildVer">
    <vt:lpwstr>1046-11.1.0.11723</vt:lpwstr>
  </property>
</Properties>
</file>