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3" r:id="rId3"/>
  </p:sldMasterIdLst>
  <p:notesMasterIdLst>
    <p:notesMasterId r:id="rId5"/>
  </p:notesMasterIdLst>
  <p:sldIdLst>
    <p:sldId id="876" r:id="rId4"/>
    <p:sldId id="759" r:id="rId6"/>
    <p:sldId id="628" r:id="rId7"/>
    <p:sldId id="927" r:id="rId8"/>
    <p:sldId id="788" r:id="rId9"/>
    <p:sldId id="928" r:id="rId10"/>
    <p:sldId id="956" r:id="rId11"/>
    <p:sldId id="930" r:id="rId12"/>
    <p:sldId id="932" r:id="rId13"/>
    <p:sldId id="886" r:id="rId14"/>
    <p:sldId id="936" r:id="rId15"/>
    <p:sldId id="955" r:id="rId16"/>
    <p:sldId id="942" r:id="rId17"/>
    <p:sldId id="957" r:id="rId18"/>
    <p:sldId id="944" r:id="rId19"/>
    <p:sldId id="946" r:id="rId20"/>
    <p:sldId id="947" r:id="rId21"/>
    <p:sldId id="948" r:id="rId22"/>
    <p:sldId id="952" r:id="rId23"/>
    <p:sldId id="966" r:id="rId24"/>
    <p:sldId id="967" r:id="rId25"/>
    <p:sldId id="968" r:id="rId26"/>
    <p:sldId id="972" r:id="rId27"/>
    <p:sldId id="976" r:id="rId28"/>
    <p:sldId id="980" r:id="rId29"/>
    <p:sldId id="981" r:id="rId30"/>
    <p:sldId id="987" r:id="rId31"/>
    <p:sldId id="984" r:id="rId32"/>
    <p:sldId id="985" r:id="rId33"/>
    <p:sldId id="990" r:id="rId34"/>
    <p:sldId id="995" r:id="rId35"/>
    <p:sldId id="996" r:id="rId36"/>
    <p:sldId id="1015" r:id="rId37"/>
    <p:sldId id="998" r:id="rId38"/>
    <p:sldId id="999" r:id="rId39"/>
    <p:sldId id="1000" r:id="rId40"/>
    <p:sldId id="1001" r:id="rId41"/>
    <p:sldId id="1002" r:id="rId42"/>
    <p:sldId id="1003" r:id="rId43"/>
    <p:sldId id="1004" r:id="rId44"/>
    <p:sldId id="1021" r:id="rId45"/>
    <p:sldId id="1022" r:id="rId46"/>
    <p:sldId id="1035" r:id="rId47"/>
    <p:sldId id="1024" r:id="rId48"/>
    <p:sldId id="1025" r:id="rId49"/>
    <p:sldId id="1041" r:id="rId50"/>
    <p:sldId id="1026" r:id="rId51"/>
    <p:sldId id="1027" r:id="rId52"/>
    <p:sldId id="291" r:id="rId53"/>
  </p:sldIdLst>
  <p:sldSz cx="9144000" cy="5143500" type="screen16x9"/>
  <p:notesSz cx="6858000" cy="9144000"/>
  <p:custDataLst>
    <p:tags r:id="rId5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4" clrIdx="3"/>
  <p:cmAuthor id="4" name="jagibbon" initials="jmg" lastIdx="3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4965" autoAdjust="0"/>
  </p:normalViewPr>
  <p:slideViewPr>
    <p:cSldViewPr snapToGrid="0" showGuides="1">
      <p:cViewPr varScale="1">
        <p:scale>
          <a:sx n="76" d="100"/>
          <a:sy n="76" d="100"/>
        </p:scale>
        <p:origin x="1296" y="56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8" Type="http://schemas.openxmlformats.org/officeDocument/2006/relationships/tags" Target="tags/tag21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/>
              <a:t>Introdução às redes v7.0 (ITN)</a:t>
            </a:r>
            <a:endParaRPr lang="pt-BR" b="0"/>
          </a:p>
          <a:p>
            <a:pPr rtl="0">
              <a:buFontTx/>
              <a:buNone/>
            </a:pPr>
            <a:r>
              <a:rPr lang="pt-BR" sz="1200" b="0"/>
              <a:t>Módulo 1: As redes </a:t>
            </a:r>
            <a:r>
              <a:rPr lang="pt-BR" sz="1200" b="0" baseline="0"/>
              <a:t>de hoje</a:t>
            </a:r>
            <a:endParaRPr lang="pt-BR" sz="1200" b="0" baseline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1 – As redes de hoje</a:t>
            </a:r>
            <a:endParaRPr lang="pt-BR" sz="1200" b="0"/>
          </a:p>
          <a:p>
            <a:pPr rtl="0">
              <a:buFontTx/>
              <a:buNone/>
            </a:pPr>
            <a:r>
              <a:rPr lang="pt-BR" sz="1200" b="0"/>
              <a:t>1.1 - As redes</a:t>
            </a:r>
            <a:r>
              <a:rPr lang="pt-BR" sz="1200" b="0" baseline="0"/>
              <a:t> afetam nossas vidas</a:t>
            </a:r>
            <a:endParaRPr lang="pt-BR" sz="1200" b="0" baseline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1.1 - As redes afetam nossas vidas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1.1.1 — </a:t>
            </a:r>
            <a:r>
              <a:rPr lang="pt-BR"/>
              <a:t>Redes nos conectam</a:t>
            </a:r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1.2.1— Funções de host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1.2.2 - Ponto a ponto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1.2.3 — Dispositivos finais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1.2.4 – </a:t>
            </a:r>
            <a:r>
              <a:rPr lang="pt-BR"/>
              <a:t>Dispositivos de rede intermediários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1.2.5 — </a:t>
            </a:r>
            <a:r>
              <a:rPr lang="pt-BR"/>
              <a:t>Mídia de rede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1.2.6 - Verifique sua compreensão - Componentes de rede</a:t>
            </a:r>
            <a:endParaRPr lang="pt-BR" sz="1200">
              <a:effectLst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1.3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Representações e topologias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1.3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Representações e topologias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1.3.1 – Representações</a:t>
            </a:r>
            <a:r>
              <a:rPr lang="pt-BR" baseline="0">
                <a:latin typeface="Arial" panose="020B0604020202020204" pitchFamily="34" charset="0"/>
              </a:rPr>
              <a:t> de Rede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1.3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Representações e topologias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1.3.2 - Diagramas de topologia</a:t>
            </a:r>
            <a:endParaRPr lang="pt-BR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1.3.3 — Verifique o seu entendimento — Representação e topologias de rede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1.4.1</a:t>
            </a:r>
            <a:r>
              <a:rPr lang="pt-BR" baseline="0"/>
              <a:t> – Redes de vários tamanhos</a:t>
            </a:r>
            <a:endParaRPr lang="pt-BR" baseline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1.4.2</a:t>
            </a:r>
            <a:r>
              <a:rPr lang="pt-BR" baseline="0"/>
              <a:t> – </a:t>
            </a:r>
            <a:r>
              <a:rPr lang="pt-BR"/>
              <a:t>LANs e WANs</a:t>
            </a:r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1.4.2</a:t>
            </a:r>
            <a:r>
              <a:rPr lang="pt-BR" baseline="0"/>
              <a:t> — </a:t>
            </a:r>
            <a:r>
              <a:rPr lang="pt-BR"/>
              <a:t>LANs e WANs (cont.)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1.4.3</a:t>
            </a:r>
            <a:r>
              <a:rPr lang="pt-BR" baseline="0"/>
              <a:t> — </a:t>
            </a:r>
            <a:r>
              <a:rPr lang="pt-BR">
                <a:latin typeface="Arial" panose="020B0604020202020204" pitchFamily="34" charset="0"/>
              </a:rPr>
              <a:t>A </a:t>
            </a:r>
            <a:r>
              <a:rPr lang="pt-BR" baseline="0">
                <a:latin typeface="Arial" panose="020B0604020202020204" pitchFamily="34" charset="0"/>
              </a:rPr>
              <a:t> Internet 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1.4.4</a:t>
            </a:r>
            <a:r>
              <a:rPr lang="pt-BR" baseline="0"/>
              <a:t> </a:t>
            </a:r>
            <a:r>
              <a:rPr lang="pt-BR">
                <a:latin typeface="Arial" panose="020B0604020202020204" pitchFamily="34" charset="0"/>
              </a:rPr>
              <a:t>– Intranets</a:t>
            </a:r>
            <a:r>
              <a:rPr lang="pt-BR" baseline="0">
                <a:latin typeface="Arial" panose="020B0604020202020204" pitchFamily="34" charset="0"/>
              </a:rPr>
              <a:t> e Extranets</a:t>
            </a:r>
            <a:endParaRPr lang="pt-BR" baseline="0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1.4.5 - Verifique sua compreensão - Tipos comuns de redes</a:t>
            </a:r>
            <a:endParaRPr lang="pt-BR" sz="120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1.5.1 – Tecnologias de acesso à internet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1.5.2 – Conexões com a Internet para residências e pequenos escritórios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1.5.3 – Conexões corporativas com a Internet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1.5.5 - A rede convergente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1.5.5 — A Rede Convergente (Cont.)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1.6.1 - Arquitetura de rede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1.6.2 - Tolerância</a:t>
            </a:r>
            <a:r>
              <a:rPr lang="pt-BR" baseline="0">
                <a:latin typeface="Arial" panose="020B0604020202020204" pitchFamily="34" charset="0"/>
              </a:rPr>
              <a:t> a falhas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1.6.3 - Escalabilidade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1.6.4 - Qualidade de serviço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1.6.5 — Segurança de rede</a:t>
            </a:r>
            <a:endParaRPr lang="pt-BR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1.6.6 — Verifique seu entendimento — Redes confiáveis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Tx/>
              <a:buNone/>
            </a:pP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1.7.1 —</a:t>
            </a:r>
            <a:r>
              <a:rPr lang="pt-BR" baseline="0">
                <a:latin typeface="Arial" panose="020B0604020202020204" pitchFamily="34" charset="0"/>
              </a:rPr>
              <a:t> Tendências</a:t>
            </a:r>
            <a:r>
              <a:rPr lang="pt-BR">
                <a:latin typeface="Arial" panose="020B0604020202020204" pitchFamily="34" charset="0"/>
              </a:rPr>
              <a:t>recentes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1.7.2 - Traga seu próprio dispositivo (BYOD)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1.7.3 – Colaboração on-line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1.7.4 - Comunicação por vídeo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1.7.6 - Computação em nuvem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1.7.6 — Computação em nuvem (Cont.)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1.7.7 - Tendências</a:t>
            </a:r>
            <a:r>
              <a:rPr lang="pt-BR" baseline="0">
                <a:latin typeface="Arial" panose="020B0604020202020204" pitchFamily="34" charset="0"/>
              </a:rPr>
              <a:t> tecnológicas em casa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1.7.8 – Rede powerline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1.7.9 – Banda larga sem fio</a:t>
            </a:r>
            <a:endParaRPr lang="pt-BR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1.7.10 — Verifique seu entendimento — Tendências de rede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Tx/>
              <a:buNone/>
            </a:pP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1.8.1 - Ameaças</a:t>
            </a:r>
            <a:r>
              <a:rPr lang="pt-BR" baseline="0">
                <a:latin typeface="Arial" panose="020B0604020202020204" pitchFamily="34" charset="0"/>
              </a:rPr>
              <a:t> à segurança</a:t>
            </a:r>
            <a:endParaRPr lang="pt-BR" baseline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1.8.1 – Ameaças</a:t>
            </a:r>
            <a:r>
              <a:rPr lang="pt-BR" baseline="0">
                <a:latin typeface="Arial" panose="020B0604020202020204" pitchFamily="34" charset="0"/>
              </a:rPr>
              <a:t> à segurança (Cont.)</a:t>
            </a:r>
            <a:endParaRPr lang="pt-BR" baseline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1.8.2 - Soluções</a:t>
            </a:r>
            <a:r>
              <a:rPr lang="pt-BR" baseline="0">
                <a:latin typeface="Arial" panose="020B0604020202020204" pitchFamily="34" charset="0"/>
              </a:rPr>
              <a:t> de segurança</a:t>
            </a:r>
            <a:endParaRPr lang="pt-BR" baseline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1.8.2 - </a:t>
            </a:r>
            <a:r>
              <a:rPr lang="pt-BR" baseline="0">
                <a:latin typeface="Arial" panose="020B0604020202020204" pitchFamily="34" charset="0"/>
              </a:rPr>
              <a:t> Soluções de segurança (Cont.) </a:t>
            </a:r>
            <a:endParaRPr lang="pt-BR" baseline="0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1.8.3 - Verifique sua compreensão - Segurança de rede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1.9.1 - CCNA</a:t>
            </a:r>
            <a:endParaRPr lang="pt-BR" baseline="0">
              <a:latin typeface="Arial" panose="020B0604020202020204" pitchFamily="34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Diagrama de https://newsroom.cisco.com/press-release-content?type=webcontent&amp;articleId=1993077</a:t>
            </a:r>
            <a:endParaRPr lang="pt-BR" baseline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1.9.2 — </a:t>
            </a:r>
            <a:r>
              <a:rPr lang="pt-BR"/>
              <a:t>Trabalhos em rede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anose="020B0604020202020204" pitchFamily="34" charset="0"/>
              </a:rPr>
              <a:t>Click to edit Master text styles</a:t>
            </a:r>
            <a:endParaRPr lang="en-US" dirty="0">
              <a:sym typeface="Arial" panose="020B0604020202020204" pitchFamily="34" charset="0"/>
            </a:endParaRPr>
          </a:p>
          <a:p>
            <a:pPr lvl="1"/>
            <a:r>
              <a:rPr lang="en-US" dirty="0">
                <a:sym typeface="Arial" panose="020B0604020202020204" pitchFamily="34" charset="0"/>
              </a:rPr>
              <a:t>Second level</a:t>
            </a:r>
            <a:endParaRPr lang="en-US" dirty="0">
              <a:sym typeface="Arial" panose="020B0604020202020204" pitchFamily="34" charset="0"/>
            </a:endParaRPr>
          </a:p>
          <a:p>
            <a:pPr lvl="2"/>
            <a:r>
              <a:rPr lang="en-US" dirty="0">
                <a:sym typeface="Arial" panose="020B0604020202020204" pitchFamily="34" charset="0"/>
              </a:rPr>
              <a:t>Third level</a:t>
            </a:r>
            <a:endParaRPr lang="en-US" dirty="0">
              <a:sym typeface="Arial" panose="020B0604020202020204" pitchFamily="34" charset="0"/>
            </a:endParaRPr>
          </a:p>
          <a:p>
            <a:pPr lvl="3"/>
            <a:r>
              <a:rPr lang="en-US" dirty="0">
                <a:sym typeface="Arial" panose="020B0604020202020204" pitchFamily="34" charset="0"/>
              </a:rPr>
              <a:t>Fourth level</a:t>
            </a:r>
            <a:endParaRPr lang="en-US" dirty="0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493429" y="4741653"/>
            <a:ext cx="3032097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22226" y="4741653"/>
            <a:ext cx="2903300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6.pn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9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5.png"/><Relationship Id="rId1" Type="http://schemas.openxmlformats.org/officeDocument/2006/relationships/hyperlink" Target="http://www.netacad.com/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265" y="1605280"/>
            <a:ext cx="6672580" cy="1556385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1: Introdução das Redes de Computadores de Hoje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Versão: 1.0 - 01/03/2026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 sz="6000">
                <a:solidFill>
                  <a:schemeClr val="accent5">
                    <a:lumMod val="40000"/>
                    <a:lumOff val="60000"/>
                  </a:schemeClr>
                </a:solidFill>
              </a:rPr>
              <a:t>1.1 Redes afetam nossas vidas</a:t>
            </a:r>
            <a:endParaRPr lang="pt-BR" sz="6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145" y="798830"/>
            <a:ext cx="8853170" cy="962660"/>
          </a:xfrm>
        </p:spPr>
        <p:txBody>
          <a:bodyPr/>
          <a:lstStyle/>
          <a:p>
            <a:pPr marL="0" indent="0" algn="ctr">
              <a:buNone/>
            </a:pPr>
            <a:r>
              <a:rPr lang="pt-BR" sz="1800"/>
              <a:t>A </a:t>
            </a:r>
            <a:r>
              <a:rPr lang="pt-BR" sz="1800" b="1">
                <a:solidFill>
                  <a:srgbClr val="FF0000"/>
                </a:solidFill>
              </a:rPr>
              <a:t>comunicação é quase tão importante</a:t>
            </a:r>
            <a:r>
              <a:rPr lang="pt-BR" sz="1800"/>
              <a:t> para nós quanto nossa dependência de ar, água, comida e abrigo. No mundo de hoje, com o uso de redes, estamos conectados como nunca estivemos.</a:t>
            </a:r>
            <a:endParaRPr lang="pt-BR" sz="180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68453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/>
              <a:t>As redes de hoje</a:t>
            </a:r>
            <a:br>
              <a:rPr lang="en-US" altLang="en-US" dirty="0"/>
            </a:br>
            <a:r>
              <a:rPr lang="pt-BR"/>
              <a:t>Redes nos Conectam</a:t>
            </a:r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15" y="1761490"/>
            <a:ext cx="4291330" cy="286067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885" y="1770380"/>
            <a:ext cx="4272915" cy="28524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1.2 Componentes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86995" y="741680"/>
            <a:ext cx="3556000" cy="415290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00"/>
              <a:t>Todo computador em uma Rede é chamado de </a:t>
            </a:r>
            <a:r>
              <a:rPr lang="pt-BR" sz="1500" b="1">
                <a:solidFill>
                  <a:srgbClr val="FF0000"/>
                </a:solidFill>
              </a:rPr>
              <a:t>host </a:t>
            </a:r>
            <a:r>
              <a:rPr lang="pt-BR" sz="1500"/>
              <a:t>ou </a:t>
            </a:r>
            <a:r>
              <a:rPr lang="pt-BR" sz="1500" b="1"/>
              <a:t>dispositivo final </a:t>
            </a:r>
            <a:r>
              <a:rPr lang="pt-BR" sz="1500" b="1">
                <a:solidFill>
                  <a:srgbClr val="FF0000"/>
                </a:solidFill>
              </a:rPr>
              <a:t>(endpoint)</a:t>
            </a:r>
            <a:r>
              <a:rPr lang="pt-BR" sz="1500"/>
              <a:t>.</a:t>
            </a:r>
            <a:endParaRPr lang="pt-BR" sz="1500"/>
          </a:p>
          <a:p>
            <a:pPr marL="0" indent="0" algn="just" rtl="0">
              <a:buNone/>
            </a:pPr>
            <a:r>
              <a:rPr lang="pt-BR" sz="1500"/>
              <a:t>Servidores são computadores que fornecem informações aos </a:t>
            </a:r>
            <a:r>
              <a:rPr lang="pt-BR" sz="1500" b="1"/>
              <a:t>dispositivos finais</a:t>
            </a:r>
            <a:r>
              <a:rPr lang="pt-BR" sz="1500"/>
              <a:t>:</a:t>
            </a:r>
            <a:endParaRPr lang="pt-BR" sz="15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00" b="1">
                <a:solidFill>
                  <a:srgbClr val="0070C0"/>
                </a:solidFill>
              </a:rPr>
              <a:t>Servidores de email</a:t>
            </a:r>
            <a:endParaRPr lang="pt-BR" sz="1500" b="1">
              <a:solidFill>
                <a:srgbClr val="0070C0"/>
              </a:solidFill>
            </a:endParaRPr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00" b="1">
                <a:solidFill>
                  <a:srgbClr val="0070C0"/>
                </a:solidFill>
              </a:rPr>
              <a:t>Servidores web</a:t>
            </a:r>
            <a:endParaRPr lang="pt-BR" sz="1500" b="1">
              <a:solidFill>
                <a:srgbClr val="0070C0"/>
              </a:solidFill>
            </a:endParaRPr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00" b="1">
                <a:solidFill>
                  <a:srgbClr val="0070C0"/>
                </a:solidFill>
              </a:rPr>
              <a:t>Servidor de arquivos</a:t>
            </a:r>
            <a:endParaRPr lang="pt-BR" sz="1500" b="1">
              <a:solidFill>
                <a:srgbClr val="0070C0"/>
              </a:solidFill>
            </a:endParaRPr>
          </a:p>
          <a:p>
            <a:pPr marL="0" indent="0" algn="just" rtl="0">
              <a:buNone/>
            </a:pPr>
            <a:r>
              <a:rPr lang="pt-BR" sz="1500"/>
              <a:t>Os clientes são computadores que enviam solicitações aos </a:t>
            </a:r>
            <a:r>
              <a:rPr lang="pt-BR" sz="1500" b="1"/>
              <a:t>servidores</a:t>
            </a:r>
            <a:r>
              <a:rPr lang="pt-BR" sz="1500"/>
              <a:t> para recuperar informações:</a:t>
            </a:r>
            <a:endParaRPr lang="pt-BR" sz="15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00" b="1">
                <a:solidFill>
                  <a:srgbClr val="0070C0"/>
                </a:solidFill>
              </a:rPr>
              <a:t>A partir de um servidor Web</a:t>
            </a:r>
            <a:endParaRPr lang="pt-BR" sz="1500" b="1">
              <a:solidFill>
                <a:srgbClr val="0070C0"/>
              </a:solidFill>
            </a:endParaRPr>
          </a:p>
          <a:p>
            <a:pPr lvl="1" algn="just" rtl="0"/>
            <a:r>
              <a:rPr lang="pt-BR" sz="1500" b="1">
                <a:solidFill>
                  <a:srgbClr val="0070C0"/>
                </a:solidFill>
              </a:rPr>
              <a:t>E-mail de um servidor de e-mail</a:t>
            </a:r>
            <a:endParaRPr lang="pt-BR" sz="1500" b="1">
              <a:solidFill>
                <a:srgbClr val="0070C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99932" y="1653117"/>
          <a:ext cx="5300003" cy="2407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567"/>
                <a:gridCol w="4403436"/>
              </a:tblGrid>
              <a:tr h="52705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Tipo de servidor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 anchor="ctr" anchorCtr="0"/>
                </a:tc>
              </a:tr>
              <a:tr h="527016">
                <a:tc>
                  <a:txBody>
                    <a:bodyPr/>
                    <a:lstStyle/>
                    <a:p>
                      <a:pPr algn="ctr" rtl="0"/>
                      <a:r>
                        <a:rPr lang="pt-BR" b="1">
                          <a:solidFill>
                            <a:srgbClr val="FF0000"/>
                          </a:solidFill>
                        </a:rPr>
                        <a:t>E-mail</a:t>
                      </a:r>
                      <a:endParaRPr lang="pt-BR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servidor de email executa o software do servidor de email. 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clientes usam</a:t>
                      </a:r>
                      <a:r>
                        <a:rPr lang="pt-BR" sz="1400" b="0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software cliente para acessar o e-mail.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744023">
                <a:tc>
                  <a:txBody>
                    <a:bodyPr/>
                    <a:lstStyle/>
                    <a:p>
                      <a:pPr algn="ctr" rtl="0"/>
                      <a:r>
                        <a:rPr lang="pt-BR" b="1">
                          <a:solidFill>
                            <a:srgbClr val="FF0000"/>
                          </a:solidFill>
                        </a:rPr>
                        <a:t>Web</a:t>
                      </a:r>
                      <a:endParaRPr lang="pt-BR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servidor Web executa software de servidor web. 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clientes usam software do navegador para acessar páginas da Web.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609777">
                <a:tc>
                  <a:txBody>
                    <a:bodyPr/>
                    <a:lstStyle/>
                    <a:p>
                      <a:pPr algn="ctr" rtl="0"/>
                      <a:r>
                        <a:rPr lang="pt-BR" b="1">
                          <a:solidFill>
                            <a:srgbClr val="FF0000"/>
                          </a:solidFill>
                        </a:rPr>
                        <a:t>Arquivo</a:t>
                      </a:r>
                      <a:endParaRPr lang="pt-BR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servidor de arquivos armazena arquivos corporativos e de usuário.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dispositivos cliente acessam esses arquivos.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2310" y="41141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68453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/>
              <a:t>Funções de Host</a:t>
            </a:r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4792" t="47593" r="13229" b="35000"/>
          <a:stretch>
            <a:fillRect/>
          </a:stretch>
        </p:blipFill>
        <p:spPr>
          <a:xfrm>
            <a:off x="3700145" y="416560"/>
            <a:ext cx="5299075" cy="12363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709974"/>
          </a:xfrm>
        </p:spPr>
        <p:txBody>
          <a:bodyPr/>
          <a:lstStyle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 altLang="en-US" dirty="0"/>
              <a:t>Rede P</a:t>
            </a:r>
            <a:r>
              <a:rPr lang="pt-BR"/>
              <a:t>onto-a-Ponto (Básica/Simples)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30175" y="728345"/>
            <a:ext cx="8853170" cy="585470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600"/>
              <a:t>É possível que um dispositivo seja um </a:t>
            </a:r>
            <a:r>
              <a:rPr lang="pt-BR" sz="1600" b="1">
                <a:solidFill>
                  <a:srgbClr val="FF0000"/>
                </a:solidFill>
              </a:rPr>
              <a:t>Cliente e um Servidor</a:t>
            </a:r>
            <a:r>
              <a:rPr lang="pt-BR" sz="1600"/>
              <a:t> em uma </a:t>
            </a:r>
            <a:r>
              <a:rPr lang="pt-BR" sz="1600" b="1"/>
              <a:t>Rede Ponto-a-Ponto</a:t>
            </a:r>
            <a:r>
              <a:rPr lang="pt-BR" sz="1600"/>
              <a:t>. Este tipo de design de rede é recomendado apenas para </a:t>
            </a:r>
            <a:r>
              <a:rPr lang="pt-BR" sz="1600" b="1">
                <a:solidFill>
                  <a:srgbClr val="0070C0"/>
                </a:solidFill>
              </a:rPr>
              <a:t>redes muito pequenas</a:t>
            </a:r>
            <a:r>
              <a:rPr lang="pt-BR" sz="1600"/>
              <a:t>. </a:t>
            </a:r>
            <a:endParaRPr lang="pt-BR" sz="160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29888" y="2743199"/>
          <a:ext cx="8853286" cy="1902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1774"/>
                <a:gridCol w="4481512"/>
              </a:tblGrid>
              <a:tr h="276705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Vantagens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Desvantagens</a:t>
                      </a:r>
                      <a:endParaRPr lang="pt-BR"/>
                    </a:p>
                  </a:txBody>
                  <a:tcPr anchor="ctr" anchorCtr="0"/>
                </a:tc>
              </a:tr>
              <a:tr h="289977">
                <a:tc>
                  <a:txBody>
                    <a:bodyPr/>
                    <a:lstStyle/>
                    <a:p>
                      <a:pPr algn="ctr" rtl="0">
                        <a:buFont typeface="Arial" panose="020B0604020202020204"/>
                        <a:buNone/>
                      </a:pPr>
                      <a:r>
                        <a:rPr lang="pt-BR" b="1" i="0">
                          <a:solidFill>
                            <a:srgbClr val="00B050"/>
                          </a:solidFill>
                          <a:effectLst/>
                          <a:latin typeface="CiscoSans"/>
                        </a:rPr>
                        <a:t>Fácil de configurar</a:t>
                      </a:r>
                      <a:endParaRPr lang="pt-BR" b="1" i="0">
                        <a:solidFill>
                          <a:srgbClr val="00B050"/>
                        </a:solidFill>
                        <a:effectLst/>
                        <a:latin typeface="CiscoSan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Nenhuma administração centralizada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276705">
                <a:tc>
                  <a:txBody>
                    <a:bodyPr/>
                    <a:lstStyle/>
                    <a:p>
                      <a:pPr algn="ctr" rtl="0">
                        <a:buFont typeface="Arial" panose="020B0604020202020204"/>
                        <a:buNone/>
                      </a:pPr>
                      <a:r>
                        <a:rPr lang="pt-BR" b="1" i="0">
                          <a:solidFill>
                            <a:srgbClr val="7030A0"/>
                          </a:solidFill>
                          <a:effectLst/>
                          <a:latin typeface="CiscoSans"/>
                        </a:rPr>
                        <a:t>Menos complexo</a:t>
                      </a:r>
                      <a:endParaRPr lang="pt-BR" b="1" i="0">
                        <a:solidFill>
                          <a:srgbClr val="7030A0"/>
                        </a:solidFill>
                        <a:effectLst/>
                        <a:latin typeface="CiscoSan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Não é tão segura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470398">
                <a:tc>
                  <a:txBody>
                    <a:bodyPr/>
                    <a:lstStyle/>
                    <a:p>
                      <a:pPr algn="ctr" rtl="0">
                        <a:buFont typeface="Arial" panose="020B0604020202020204"/>
                        <a:buNone/>
                      </a:pPr>
                      <a:r>
                        <a:rPr lang="pt-BR" b="1" i="0">
                          <a:solidFill>
                            <a:srgbClr val="FF0000"/>
                          </a:solidFill>
                          <a:effectLst/>
                          <a:latin typeface="CiscoSans"/>
                        </a:rPr>
                        <a:t>Custo mais baixo</a:t>
                      </a:r>
                      <a:endParaRPr lang="pt-BR" b="1" i="0">
                        <a:solidFill>
                          <a:srgbClr val="FF0000"/>
                        </a:solidFill>
                        <a:effectLst/>
                        <a:latin typeface="CiscoSan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Não é escalável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470398">
                <a:tc>
                  <a:txBody>
                    <a:bodyPr/>
                    <a:lstStyle/>
                    <a:p>
                      <a:pPr algn="ctr" rtl="0">
                        <a:buFont typeface="Arial" panose="020B0604020202020204"/>
                        <a:buNone/>
                      </a:pPr>
                      <a:r>
                        <a:rPr lang="pt-BR" b="1" i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iscoSans"/>
                        </a:rPr>
                        <a:t>Usado para tarefas simples: transferência de arquivos e compartilhamento de impressoras</a:t>
                      </a:r>
                      <a:endParaRPr lang="pt-BR" b="1" i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iscoSan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Desempenho mais lento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1347" t="43481" r="8917" b="32969"/>
          <a:stretch>
            <a:fillRect/>
          </a:stretch>
        </p:blipFill>
        <p:spPr>
          <a:xfrm>
            <a:off x="1821180" y="1286510"/>
            <a:ext cx="5470525" cy="14566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145" y="754380"/>
            <a:ext cx="8853170" cy="556895"/>
          </a:xfrm>
        </p:spPr>
        <p:txBody>
          <a:bodyPr/>
          <a:lstStyle/>
          <a:p>
            <a:pPr marL="0" lvl="1" indent="0" algn="ctr" rtl="0"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r>
              <a:rPr lang="pt-BR" sz="1600"/>
              <a:t>Um </a:t>
            </a:r>
            <a:r>
              <a:rPr lang="pt-BR" sz="1600" b="1">
                <a:solidFill>
                  <a:srgbClr val="FF0000"/>
                </a:solidFill>
              </a:rPr>
              <a:t>dispositivo final</a:t>
            </a:r>
            <a:r>
              <a:rPr lang="pt-BR" sz="1600"/>
              <a:t> é onde uma mensagem se </a:t>
            </a:r>
            <a:r>
              <a:rPr lang="pt-BR" sz="1600" b="1"/>
              <a:t>origina </a:t>
            </a:r>
            <a:r>
              <a:rPr lang="pt-BR" sz="1600"/>
              <a:t>ou onde ela é </a:t>
            </a:r>
            <a:r>
              <a:rPr lang="pt-BR" sz="1600" b="1"/>
              <a:t>recebida</a:t>
            </a:r>
            <a:r>
              <a:rPr lang="pt-BR" sz="1600"/>
              <a:t>. Os dados se originam em um </a:t>
            </a:r>
            <a:r>
              <a:rPr lang="pt-BR" sz="1600" b="1"/>
              <a:t>dispositivo final</a:t>
            </a:r>
            <a:r>
              <a:rPr lang="pt-BR" sz="1600"/>
              <a:t>, fluem pela rede e chegam a outro </a:t>
            </a:r>
            <a:r>
              <a:rPr lang="pt-BR" sz="1600" b="1"/>
              <a:t>dispositivo final</a:t>
            </a:r>
            <a:r>
              <a:rPr lang="pt-BR" sz="1600"/>
              <a:t>.</a:t>
            </a:r>
            <a:endParaRPr lang="en-US" altLang="en-US" sz="1600" dirty="0"/>
          </a:p>
          <a:p>
            <a:pPr algn="ctr"/>
            <a:endParaRPr lang="en-US" altLang="en-US" sz="1600" dirty="0"/>
          </a:p>
          <a:p>
            <a:pPr marL="0" indent="0" algn="ctr" rtl="0">
              <a:buNone/>
            </a:pPr>
            <a:r>
              <a:rPr lang="pt-BR" sz="1600"/>
              <a:t> </a:t>
            </a:r>
            <a:endParaRPr lang="pt-BR" sz="160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709974"/>
          </a:xfrm>
        </p:spPr>
        <p:txBody>
          <a:bodyPr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 altLang="en-US" dirty="0"/>
              <a:t>Dispositivos Finais</a:t>
            </a:r>
            <a:r>
              <a:rPr lang="pt-BR"/>
              <a:t> (Hosts/Endpoints)</a:t>
            </a:r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003" t="27068" r="7573" b="23426"/>
          <a:stretch>
            <a:fillRect/>
          </a:stretch>
        </p:blipFill>
        <p:spPr>
          <a:xfrm>
            <a:off x="1306195" y="1314450"/>
            <a:ext cx="6315075" cy="33547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/>
              <a:t>Dispositivos de Rede Intermediários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97790" y="798830"/>
            <a:ext cx="8874760" cy="209867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600"/>
              <a:t>Um </a:t>
            </a:r>
            <a:r>
              <a:rPr lang="pt-BR" sz="1600" b="1">
                <a:solidFill>
                  <a:srgbClr val="FF0000"/>
                </a:solidFill>
              </a:rPr>
              <a:t>dispositivo intermediário</a:t>
            </a:r>
            <a:r>
              <a:rPr lang="pt-BR" sz="1600"/>
              <a:t> interconecta </a:t>
            </a:r>
            <a:r>
              <a:rPr lang="pt-BR" sz="1600" b="1"/>
              <a:t>dispositivos finais</a:t>
            </a:r>
            <a:r>
              <a:rPr lang="pt-BR" sz="1600"/>
              <a:t>. Os exemplos incluem comutadores, pontos de acesso sem fio, roteadores e firewalls.</a:t>
            </a:r>
            <a:endParaRPr lang="pt-BR" sz="1600"/>
          </a:p>
          <a:p>
            <a:pPr marL="0" indent="0" algn="just" rtl="0">
              <a:buNone/>
            </a:pPr>
            <a:r>
              <a:rPr lang="pt-BR" sz="1600"/>
              <a:t>O gerenciamento de dados à medida que flui através de uma rede também é o papel de um </a:t>
            </a:r>
            <a:r>
              <a:rPr lang="pt-BR" sz="1600" b="1"/>
              <a:t>dispositivo intermediário</a:t>
            </a:r>
            <a:r>
              <a:rPr lang="pt-BR" sz="1600"/>
              <a:t>, incluindo:</a:t>
            </a:r>
            <a:endParaRPr lang="pt-BR" sz="1600"/>
          </a:p>
          <a:p>
            <a:pPr lvl="1" algn="just" rtl="0"/>
            <a:r>
              <a:rPr lang="pt-BR" sz="1600"/>
              <a:t>Regenerar e retransmitir sinais de dados.</a:t>
            </a:r>
            <a:endParaRPr lang="pt-BR" sz="1600"/>
          </a:p>
          <a:p>
            <a:pPr lvl="1" algn="just" rtl="0"/>
            <a:r>
              <a:rPr lang="pt-BR" sz="1600"/>
              <a:t>Mantenha informações sobre quais caminhos existem na rede.</a:t>
            </a:r>
            <a:endParaRPr lang="pt-BR" sz="1600"/>
          </a:p>
          <a:p>
            <a:pPr lvl="1" algn="just" rtl="0"/>
            <a:r>
              <a:rPr lang="pt-BR" sz="1600"/>
              <a:t>Notificar outros dispositivos sobre erros e falhas de comunicação.</a:t>
            </a:r>
            <a:endParaRPr lang="en-US" altLang="en-US" sz="1600" dirty="0"/>
          </a:p>
          <a:p>
            <a:pPr lvl="1" algn="just"/>
            <a:endParaRPr lang="en-US" altLang="en-US" sz="1600" dirty="0"/>
          </a:p>
          <a:p>
            <a:pPr marL="142875" lvl="1" indent="0" algn="just">
              <a:buNone/>
            </a:pPr>
            <a:endParaRPr lang="en-CA" altLang="en-US" sz="1600" dirty="0"/>
          </a:p>
          <a:p>
            <a:pPr lvl="1" algn="just"/>
            <a:endParaRPr lang="en-CA" altLang="en-US" sz="1600" dirty="0"/>
          </a:p>
          <a:p>
            <a:pPr lvl="1" algn="just"/>
            <a:endParaRPr lang="en-CA" altLang="en-US" sz="1600" dirty="0"/>
          </a:p>
          <a:p>
            <a:pPr lvl="1" algn="just"/>
            <a:endParaRPr lang="en-CA" altLang="en-US" sz="1600" dirty="0"/>
          </a:p>
          <a:p>
            <a:pPr lvl="1" algn="just"/>
            <a:endParaRPr lang="en-CA" altLang="en-US" sz="1600" dirty="0"/>
          </a:p>
          <a:p>
            <a:pPr lvl="1" algn="just"/>
            <a:endParaRPr lang="en-CA" altLang="en-US" sz="1600" dirty="0"/>
          </a:p>
          <a:p>
            <a:pPr lvl="1" algn="just"/>
            <a:endParaRPr lang="en-CA" altLang="en-US" sz="1600" dirty="0"/>
          </a:p>
          <a:p>
            <a:pPr lvl="1" algn="just"/>
            <a:endParaRPr lang="en-CA" altLang="en-US" sz="1600" dirty="0"/>
          </a:p>
          <a:p>
            <a:pPr lvl="1" algn="just"/>
            <a:endParaRPr lang="en-CA" altLang="en-US" sz="1600" dirty="0"/>
          </a:p>
          <a:p>
            <a:pPr lvl="1" algn="just"/>
            <a:endParaRPr lang="en-CA" altLang="en-US" sz="1600" dirty="0"/>
          </a:p>
          <a:p>
            <a:pPr lvl="1" algn="just"/>
            <a:endParaRPr lang="en-CA" altLang="en-US" sz="16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247" t="44506" r="12753" b="33611"/>
          <a:stretch>
            <a:fillRect/>
          </a:stretch>
        </p:blipFill>
        <p:spPr>
          <a:xfrm>
            <a:off x="1569085" y="2989580"/>
            <a:ext cx="5931535" cy="16598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/>
              <a:t>Meio Físico de Rede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6045" y="798830"/>
            <a:ext cx="8781415" cy="608965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2000"/>
              <a:t>A comunicação através de uma rede é </a:t>
            </a:r>
            <a:r>
              <a:rPr lang="pt-BR" sz="2000" b="1">
                <a:solidFill>
                  <a:srgbClr val="FF0000"/>
                </a:solidFill>
              </a:rPr>
              <a:t>transmitida por um meio</a:t>
            </a:r>
            <a:r>
              <a:rPr lang="pt-BR" sz="2000"/>
              <a:t> que permite a uma mensagem se deslocar da</a:t>
            </a:r>
            <a:r>
              <a:rPr lang="pt-BR" sz="2000" b="1"/>
              <a:t> origem até o destino</a:t>
            </a:r>
            <a:r>
              <a:rPr lang="pt-BR" sz="2000"/>
              <a:t>. </a:t>
            </a:r>
            <a:endParaRPr lang="pt-BR" sz="2000"/>
          </a:p>
          <a:p>
            <a:pPr marL="0" indent="0" algn="ctr" rtl="0">
              <a:buNone/>
            </a:pPr>
            <a:r>
              <a:rPr lang="pt-BR" sz="2000"/>
              <a:t> </a:t>
            </a:r>
            <a:endParaRPr lang="pt-BR" sz="200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6045" y="1598295"/>
          <a:ext cx="4813300" cy="2999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910"/>
                <a:gridCol w="2358390"/>
              </a:tblGrid>
              <a:tr h="45847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Tipos de mídia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 anchor="ctr" anchorCtr="0"/>
                </a:tc>
              </a:tr>
              <a:tr h="637540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Fios Metálicos de Cobre dentro de Cabos</a:t>
                      </a:r>
                      <a:endParaRPr lang="pt-BR" sz="1400" b="1" i="0" kern="120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 impulsos elétricos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899795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Fibras de Vidro ou Plástico nos Cabos </a:t>
                      </a:r>
                      <a:endParaRPr lang="pt-BR" sz="1400" b="1" i="0" kern="120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pt-BR" sz="1400" b="1" i="0" kern="120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(cabo de fibra óptica)</a:t>
                      </a:r>
                      <a:endParaRPr lang="pt-BR" sz="1400" b="1" i="0" kern="120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 pulsos de luz.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1003935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Transmissão Sem Fio (Wilress/Wi-Fi - Rádio Frequência)</a:t>
                      </a:r>
                      <a:endParaRPr lang="pt-BR" sz="1400" b="1" i="0" kern="120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 modulação de frequências específicas de ondas eletromagnéticas.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903" t="31235" r="8333" b="5556"/>
          <a:stretch>
            <a:fillRect/>
          </a:stretch>
        </p:blipFill>
        <p:spPr>
          <a:xfrm>
            <a:off x="4919345" y="1598295"/>
            <a:ext cx="4120515" cy="30524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1.3 Representações e Topologias de Rede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Representações e Topologias de Rede</a:t>
            </a:r>
            <a:br>
              <a:rPr lang="en-US" altLang="en-US" dirty="0"/>
            </a:br>
            <a:r>
              <a:rPr lang="pt-BR"/>
              <a:t>Representações de Rede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70485" y="798830"/>
            <a:ext cx="3997325" cy="388620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600"/>
              <a:t>Os </a:t>
            </a:r>
            <a:r>
              <a:rPr lang="pt-BR" sz="1600" b="1">
                <a:solidFill>
                  <a:srgbClr val="FF0000"/>
                </a:solidFill>
              </a:rPr>
              <a:t>diagramas de rede</a:t>
            </a:r>
            <a:r>
              <a:rPr lang="pt-BR" sz="1600"/>
              <a:t>, muitas vezes chamados de </a:t>
            </a:r>
            <a:r>
              <a:rPr lang="pt-BR" sz="1600" b="1"/>
              <a:t>diagramas de topologia</a:t>
            </a:r>
            <a:r>
              <a:rPr lang="pt-BR" sz="1600"/>
              <a:t>, usam símbolos para representar os dispositivos na rede.</a:t>
            </a:r>
            <a:endParaRPr lang="pt-BR" sz="1600"/>
          </a:p>
          <a:p>
            <a:pPr marL="0" indent="0" algn="just" rtl="0">
              <a:buNone/>
            </a:pPr>
            <a:r>
              <a:rPr lang="pt-BR" sz="1600"/>
              <a:t>Os termos importantes a serem conhecidos incluem:</a:t>
            </a:r>
            <a:endParaRPr lang="pt-BR" sz="1600"/>
          </a:p>
          <a:p>
            <a:pPr lvl="2" algn="just" rtl="0"/>
            <a:r>
              <a:rPr lang="pt-BR" sz="1600" b="1"/>
              <a:t>Placa de Interface de Rede (NIC)</a:t>
            </a:r>
            <a:endParaRPr lang="pt-BR" sz="1600" b="1"/>
          </a:p>
          <a:p>
            <a:pPr lvl="2" algn="just" rtl="0"/>
            <a:r>
              <a:rPr lang="pt-BR" sz="1600" b="1"/>
              <a:t>Porta Física</a:t>
            </a:r>
            <a:endParaRPr lang="pt-BR" sz="1600" b="1"/>
          </a:p>
          <a:p>
            <a:pPr lvl="2" algn="just" rtl="0"/>
            <a:r>
              <a:rPr lang="pt-BR" sz="1600" b="1"/>
              <a:t>Interface</a:t>
            </a:r>
            <a:endParaRPr lang="pt-BR" sz="1600" b="1"/>
          </a:p>
          <a:p>
            <a:pPr marL="261620" lvl="2" indent="0" algn="just">
              <a:buNone/>
            </a:pPr>
            <a:endParaRPr lang="en-US" sz="1600" b="1" dirty="0"/>
          </a:p>
          <a:p>
            <a:pPr marL="0" lvl="2" indent="0" algn="just" rtl="0">
              <a:buNone/>
            </a:pPr>
            <a:r>
              <a:rPr lang="pt-BR" sz="1600" b="1"/>
              <a:t>Nota</a:t>
            </a:r>
            <a:r>
              <a:rPr lang="pt-BR" sz="1600"/>
              <a:t>: Frequentemente, os termos</a:t>
            </a:r>
            <a:r>
              <a:rPr lang="pt-BR" sz="1600" b="1">
                <a:solidFill>
                  <a:srgbClr val="FF0000"/>
                </a:solidFill>
              </a:rPr>
              <a:t> porta e interface</a:t>
            </a:r>
            <a:r>
              <a:rPr lang="pt-BR" sz="1600"/>
              <a:t> são usados de forma intercambiável</a:t>
            </a:r>
            <a:endParaRPr lang="pt-BR" sz="1600"/>
          </a:p>
          <a:p>
            <a:pPr lvl="2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972" t="30370" r="8333" b="6667"/>
          <a:stretch>
            <a:fillRect/>
          </a:stretch>
        </p:blipFill>
        <p:spPr>
          <a:xfrm>
            <a:off x="3969385" y="953135"/>
            <a:ext cx="5003165" cy="34956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Representações e Topologias de Tede</a:t>
            </a:r>
            <a:br>
              <a:rPr lang="en-US" altLang="en-US" dirty="0"/>
            </a:br>
            <a:r>
              <a:rPr lang="pt-BR"/>
              <a:t>Diagramas de Topologia (Física e Lógica)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01600" y="816610"/>
            <a:ext cx="4432935" cy="740410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600"/>
              <a:t>Os diagramas de </a:t>
            </a:r>
            <a:r>
              <a:rPr lang="pt-BR" sz="1600" b="1">
                <a:solidFill>
                  <a:srgbClr val="FF0000"/>
                </a:solidFill>
              </a:rPr>
              <a:t>Topologia Física</a:t>
            </a:r>
            <a:r>
              <a:rPr lang="pt-BR" sz="1600"/>
              <a:t> ilustram a </a:t>
            </a:r>
            <a:r>
              <a:rPr lang="pt-BR" sz="1600" b="1"/>
              <a:t>localização física</a:t>
            </a:r>
            <a:r>
              <a:rPr lang="pt-BR" sz="1600"/>
              <a:t> de dispositivos intermediários e a instalação de cabos.</a:t>
            </a:r>
            <a:endParaRPr lang="pt-BR" sz="160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4614545" y="775335"/>
            <a:ext cx="44202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600">
                <a:solidFill>
                  <a:srgbClr val="000000"/>
                </a:solidFill>
              </a:rPr>
              <a:t>Os diagramas de</a:t>
            </a:r>
            <a:r>
              <a:rPr lang="pt-BR" sz="1600" b="1">
                <a:solidFill>
                  <a:srgbClr val="FF0000"/>
                </a:solidFill>
              </a:rPr>
              <a:t> Topologia Lógica</a:t>
            </a:r>
            <a:r>
              <a:rPr lang="pt-BR" sz="1600">
                <a:solidFill>
                  <a:srgbClr val="000000"/>
                </a:solidFill>
              </a:rPr>
              <a:t> ilustram dispositivos, portas e o esquema de endereçamento da rede (IPv4/IPv6).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903" t="35679" r="8333" b="8272"/>
          <a:stretch>
            <a:fillRect/>
          </a:stretch>
        </p:blipFill>
        <p:spPr>
          <a:xfrm>
            <a:off x="106680" y="1681480"/>
            <a:ext cx="4423410" cy="274701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972" t="30494" r="8264" b="8642"/>
          <a:stretch>
            <a:fillRect/>
          </a:stretch>
        </p:blipFill>
        <p:spPr>
          <a:xfrm>
            <a:off x="4574540" y="1681480"/>
            <a:ext cx="4459605" cy="300736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1.4 Tipos Comuns de Redes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Tipos comuns de Rede</a:t>
            </a:r>
            <a:br>
              <a:rPr lang="en-US" altLang="en-US" sz="1600" dirty="0"/>
            </a:br>
            <a:r>
              <a:rPr lang="pt-BR"/>
              <a:t>Vários Tamanhos das Redes</a:t>
            </a:r>
            <a:endParaRPr lang="pt-BR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85945" y="389255"/>
            <a:ext cx="4664710" cy="4411980"/>
          </a:xfrm>
        </p:spPr>
        <p:txBody>
          <a:bodyPr/>
          <a:lstStyle/>
          <a:p>
            <a:pPr algn="just" rtl="0" eaLnBrk="1" hangingPunct="1">
              <a:buFont typeface="Arial" panose="020B0604020202020204" pitchFamily="34" charset="0"/>
              <a:buChar char="•"/>
            </a:pPr>
            <a:r>
              <a:rPr lang="pt-BR" sz="1900"/>
              <a:t>Redes </a:t>
            </a:r>
            <a:r>
              <a:rPr lang="pt-BR" sz="1900" b="1">
                <a:solidFill>
                  <a:srgbClr val="FF0000"/>
                </a:solidFill>
              </a:rPr>
              <a:t>domésticas pequenas</a:t>
            </a:r>
            <a:r>
              <a:rPr lang="pt-BR" sz="1900"/>
              <a:t> – conectam alguns computadores entre si e à Internet</a:t>
            </a:r>
            <a:endParaRPr lang="pt-BR" sz="1900"/>
          </a:p>
          <a:p>
            <a:pPr algn="just" rtl="0" eaLnBrk="1" hangingPunct="1">
              <a:buFont typeface="Arial" panose="020B0604020202020204" pitchFamily="34" charset="0"/>
              <a:buChar char="•"/>
            </a:pPr>
            <a:r>
              <a:rPr lang="pt-BR" sz="1900"/>
              <a:t>Redes </a:t>
            </a:r>
            <a:r>
              <a:rPr lang="pt-BR" sz="1900" b="1">
                <a:solidFill>
                  <a:srgbClr val="FF0000"/>
                </a:solidFill>
              </a:rPr>
              <a:t>office/home office pequenos</a:t>
            </a:r>
            <a:r>
              <a:rPr lang="pt-BR" sz="1900"/>
              <a:t> – permite que o computador dentro de uma residência ou escritório remoto se conecte a uma rede corporativa</a:t>
            </a:r>
            <a:endParaRPr lang="pt-BR" sz="1900"/>
          </a:p>
          <a:p>
            <a:pPr algn="just" rtl="0" eaLnBrk="1" hangingPunct="1">
              <a:buFont typeface="Arial" panose="020B0604020202020204" pitchFamily="34" charset="0"/>
              <a:buChar char="•"/>
            </a:pPr>
            <a:r>
              <a:rPr lang="pt-BR" sz="1900"/>
              <a:t>Redes </a:t>
            </a:r>
            <a:r>
              <a:rPr lang="pt-BR" sz="1900" b="1">
                <a:solidFill>
                  <a:srgbClr val="FF0000"/>
                </a:solidFill>
              </a:rPr>
              <a:t>médias a grandes</a:t>
            </a:r>
            <a:r>
              <a:rPr lang="pt-BR" sz="1900"/>
              <a:t> – muitos locais com centenas ou milhares de computadores interconectados</a:t>
            </a:r>
            <a:endParaRPr lang="pt-BR" sz="1900"/>
          </a:p>
          <a:p>
            <a:pPr algn="just" rtl="0" eaLnBrk="1" hangingPunct="1">
              <a:buFont typeface="Arial" panose="020B0604020202020204" pitchFamily="34" charset="0"/>
              <a:buChar char="•"/>
            </a:pPr>
            <a:r>
              <a:rPr lang="pt-BR" sz="1900"/>
              <a:t>Redes </a:t>
            </a:r>
            <a:r>
              <a:rPr lang="pt-BR" sz="1900" b="1">
                <a:solidFill>
                  <a:srgbClr val="FF0000"/>
                </a:solidFill>
              </a:rPr>
              <a:t>mundiais </a:t>
            </a:r>
            <a:r>
              <a:rPr lang="pt-BR" sz="1900"/>
              <a:t>- conecta centenas de milhões de computadores em todo o mundo - como a Internet</a:t>
            </a:r>
            <a:endParaRPr lang="pt-BR" sz="1900"/>
          </a:p>
          <a:p>
            <a:pPr lvl="1" algn="just"/>
            <a:endParaRPr lang="en-US" altLang="en-US" sz="1900" dirty="0"/>
          </a:p>
          <a:p>
            <a:pPr lvl="1" algn="just"/>
            <a:endParaRPr lang="en-US" altLang="en-US" sz="1900" dirty="0"/>
          </a:p>
          <a:p>
            <a:pPr marL="0" indent="0" algn="just" eaLnBrk="1" hangingPunct="1">
              <a:buNone/>
            </a:pPr>
            <a:endParaRPr lang="en-CA" altLang="en-US" sz="19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75895" y="2253615"/>
            <a:ext cx="4110990" cy="337185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0"/>
            <a:r>
              <a:rPr lang="pt-BR" sz="1600" b="1">
                <a:solidFill>
                  <a:srgbClr val="FF0000"/>
                </a:solidFill>
              </a:rPr>
              <a:t>Pequeno Home SOHO</a:t>
            </a:r>
            <a:endParaRPr lang="pt-BR" sz="1600" b="1">
              <a:solidFill>
                <a:srgbClr val="FF0000"/>
              </a:solidFill>
            </a:endParaRPr>
          </a:p>
        </p:txBody>
      </p:sp>
      <p:pic>
        <p:nvPicPr>
          <p:cNvPr id="3074" name="Picture 2" descr="this is the image’s alt tex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" y="756285"/>
            <a:ext cx="2127250" cy="155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d1qjbjciwpxftb.cloudfront.net/courses/ccna1/networking-today/5_common-types-of-networks/assets/1_chunk/media--Small-Home-Office-Net--im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884" y="757551"/>
            <a:ext cx="2090460" cy="153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0345" y="4259580"/>
            <a:ext cx="4066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1600" b="1">
                <a:solidFill>
                  <a:srgbClr val="FF0000"/>
                </a:solidFill>
              </a:rPr>
              <a:t>Médio/Grande Mundo</a:t>
            </a:r>
            <a:endParaRPr lang="pt-BR" sz="1600" b="1">
              <a:solidFill>
                <a:srgbClr val="FF0000"/>
              </a:solidFill>
            </a:endParaRPr>
          </a:p>
        </p:txBody>
      </p:sp>
      <p:pic>
        <p:nvPicPr>
          <p:cNvPr id="3078" name="Picture 6" descr="this is the image’s alt tex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78" y="2699263"/>
            <a:ext cx="2103105" cy="16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615" y="2680335"/>
            <a:ext cx="2124075" cy="163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709974"/>
          </a:xfrm>
        </p:spPr>
        <p:txBody>
          <a:bodyPr/>
          <a:lstStyle/>
          <a:p>
            <a:pPr rtl="0"/>
            <a:r>
              <a:rPr lang="pt-BR" sz="1600"/>
              <a:t>Tipos comuns de redes</a:t>
            </a:r>
            <a:br>
              <a:rPr lang="en-US" altLang="en-US" dirty="0"/>
            </a:br>
            <a:r>
              <a:rPr lang="pt-BR"/>
              <a:t>LANs e WANs (as mais importantes)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78454" y="758541"/>
            <a:ext cx="3995544" cy="370269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600"/>
              <a:t>As infra-estruturas de rede variam muito em termos de:</a:t>
            </a:r>
            <a:endParaRPr lang="pt-BR" sz="16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/>
              <a:t>Tamanho da área coberta</a:t>
            </a:r>
            <a:endParaRPr lang="pt-BR" sz="16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/>
              <a:t>Número de usuários conectados</a:t>
            </a:r>
            <a:endParaRPr lang="pt-BR" sz="16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/>
              <a:t>Número e tipos de serviços disponíveis</a:t>
            </a:r>
            <a:endParaRPr lang="pt-BR" sz="16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/>
              <a:t>Área de responsabilidade</a:t>
            </a:r>
            <a:endParaRPr lang="pt-BR" sz="1600"/>
          </a:p>
          <a:p>
            <a:pPr marL="142875" lvl="1" indent="0" algn="just">
              <a:buNone/>
            </a:pPr>
            <a:endParaRPr lang="en-US" altLang="en-US" sz="1600" dirty="0"/>
          </a:p>
          <a:p>
            <a:pPr marL="0" indent="0" algn="just" rtl="0">
              <a:buNone/>
            </a:pPr>
            <a:r>
              <a:rPr lang="pt-BR" sz="1600"/>
              <a:t>Os dois tipos mais comuns de redes são: </a:t>
            </a:r>
            <a:endParaRPr lang="pt-BR" sz="16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Rede Local LAN</a:t>
            </a:r>
            <a:r>
              <a:rPr lang="pt-BR" sz="1600"/>
              <a:t> (Local Area Network) </a:t>
            </a:r>
            <a:endParaRPr lang="pt-BR" sz="16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Rede de Área Ampla WAN</a:t>
            </a:r>
            <a:r>
              <a:rPr lang="pt-BR" sz="1600"/>
              <a:t> (Wide Area Netwok). </a:t>
            </a:r>
            <a:endParaRPr lang="pt-BR" sz="160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611" t="29877" r="10833" b="11358"/>
          <a:stretch>
            <a:fillRect/>
          </a:stretch>
        </p:blipFill>
        <p:spPr>
          <a:xfrm>
            <a:off x="3965575" y="848995"/>
            <a:ext cx="4977765" cy="36125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Tipos comuns de redes </a:t>
            </a:r>
            <a:br>
              <a:rPr lang="en-US" altLang="en-US" dirty="0"/>
            </a:br>
            <a:r>
              <a:rPr lang="pt-BR"/>
              <a:t>LANs e WANs (continuação) 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85420" y="737235"/>
            <a:ext cx="4150995" cy="559435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500"/>
              <a:t>Uma LAN é uma </a:t>
            </a:r>
            <a:r>
              <a:rPr lang="pt-BR" sz="1500" b="1"/>
              <a:t>infraestrutura de rede</a:t>
            </a:r>
            <a:r>
              <a:rPr lang="pt-BR" sz="1500"/>
              <a:t> que abrange uma </a:t>
            </a:r>
            <a:r>
              <a:rPr lang="pt-BR" sz="1500" b="1">
                <a:solidFill>
                  <a:srgbClr val="FF0000"/>
                </a:solidFill>
              </a:rPr>
              <a:t>pequena área geográfica</a:t>
            </a:r>
            <a:r>
              <a:rPr lang="pt-BR" sz="1500"/>
              <a:t>. </a:t>
            </a:r>
            <a:endParaRPr lang="pt-BR" sz="1500"/>
          </a:p>
          <a:p>
            <a:pPr lvl="1" algn="ctr"/>
            <a:endParaRPr lang="en-CA" altLang="en-US" sz="1500" dirty="0"/>
          </a:p>
          <a:p>
            <a:pPr lvl="1" algn="ctr"/>
            <a:endParaRPr lang="en-CA" altLang="en-US" sz="1500" dirty="0"/>
          </a:p>
          <a:p>
            <a:pPr lvl="1" algn="ctr"/>
            <a:endParaRPr lang="en-CA" altLang="en-US" sz="1500" dirty="0"/>
          </a:p>
          <a:p>
            <a:pPr lvl="1" algn="ctr"/>
            <a:endParaRPr lang="en-CA" altLang="en-US" sz="1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785" y="1356360"/>
            <a:ext cx="4152265" cy="141541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336415" y="721995"/>
            <a:ext cx="45935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600">
                <a:solidFill>
                  <a:srgbClr val="000000"/>
                </a:solidFill>
              </a:rPr>
              <a:t>Uma WAN é uma </a:t>
            </a:r>
            <a:r>
              <a:rPr lang="pt-BR" sz="1600" b="1">
                <a:solidFill>
                  <a:srgbClr val="000000"/>
                </a:solidFill>
              </a:rPr>
              <a:t>infraestrutura de rede</a:t>
            </a:r>
            <a:r>
              <a:rPr lang="pt-BR" sz="1600">
                <a:solidFill>
                  <a:srgbClr val="000000"/>
                </a:solidFill>
              </a:rPr>
              <a:t> que abrange uma </a:t>
            </a:r>
            <a:r>
              <a:rPr lang="pt-BR" sz="1600" b="1">
                <a:solidFill>
                  <a:srgbClr val="FF0000"/>
                </a:solidFill>
              </a:rPr>
              <a:t>ampla área geográfica</a:t>
            </a:r>
            <a:r>
              <a:rPr lang="pt-BR" sz="1600">
                <a:solidFill>
                  <a:srgbClr val="000000"/>
                </a:solidFill>
              </a:rPr>
              <a:t>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37050" y="1315085"/>
            <a:ext cx="4592955" cy="146431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5420" y="2779395"/>
          <a:ext cx="8743950" cy="1885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015"/>
                <a:gridCol w="4559935"/>
              </a:tblGrid>
              <a:tr h="331381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LAN (Local Area Network)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WAN (Wide Area Network)</a:t>
                      </a:r>
                      <a:endParaRPr lang="pt-BR"/>
                    </a:p>
                  </a:txBody>
                  <a:tcPr anchor="ctr" anchorCtr="0"/>
                </a:tc>
              </a:tr>
              <a:tr h="331381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Interconecte dispositivos finais em uma área limitada.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Interconecte LANs em áreas geográficas amplas.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331381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Administrado por uma única organização ou indivíduo.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Normalmente</a:t>
                      </a:r>
                      <a:r>
                        <a:rPr lang="pt-BR" sz="1400" b="1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um</a:t>
                      </a:r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ministrado por um</a:t>
                      </a:r>
                      <a:r>
                        <a:rPr lang="pt-BR" sz="1400" b="1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 mais</a:t>
                      </a:r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provedores de serviços.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331381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Forneça largura de banda de alta velocidade aos dispositivos internos.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Geralmente, fornece links de velocidade mais lenta entre LANs.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Tipos comuns de redes</a:t>
            </a:r>
            <a:br>
              <a:rPr lang="en-US" altLang="en-US" dirty="0"/>
            </a:br>
            <a:r>
              <a:rPr lang="pt-BR"/>
              <a:t>A Internet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2284" y="798944"/>
            <a:ext cx="4170316" cy="4054993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600"/>
              <a:t>A internet é uma </a:t>
            </a:r>
            <a:r>
              <a:rPr lang="pt-BR" sz="1600" b="1">
                <a:solidFill>
                  <a:srgbClr val="FF0000"/>
                </a:solidFill>
              </a:rPr>
              <a:t>coleção mundial de LANs e WANs interconectadas</a:t>
            </a:r>
            <a:r>
              <a:rPr lang="pt-BR" sz="1600"/>
              <a:t>. 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As LANs estão </a:t>
            </a:r>
            <a:r>
              <a:rPr lang="pt-BR" sz="1600" b="1"/>
              <a:t>conectadas entre si</a:t>
            </a:r>
            <a:r>
              <a:rPr lang="pt-BR" sz="1600"/>
              <a:t> usando as WANs.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As WANs podem usar fios de cobre, cabos de fibra ótica e transmissões sem fio.</a:t>
            </a:r>
            <a:endParaRPr lang="pt-BR" sz="1600"/>
          </a:p>
          <a:p>
            <a:pPr marL="0" indent="0" algn="just" rtl="0">
              <a:buNone/>
            </a:pPr>
            <a:r>
              <a:rPr lang="pt-BR" sz="1600"/>
              <a:t>A </a:t>
            </a:r>
            <a:r>
              <a:rPr lang="pt-BR" sz="1600" b="1">
                <a:solidFill>
                  <a:srgbClr val="FF0000"/>
                </a:solidFill>
              </a:rPr>
              <a:t>internet não é de propriedade de nenhum indivíduo ou grupo</a:t>
            </a:r>
            <a:r>
              <a:rPr lang="pt-BR" sz="1600"/>
              <a:t>. Os seguintes grupos foram desenvolvidos para ajudar a manter a estrutura na internet:</a:t>
            </a:r>
            <a:endParaRPr lang="pt-BR" sz="1600"/>
          </a:p>
          <a:p>
            <a:pPr lvl="1" algn="just" rtl="0"/>
            <a:r>
              <a:rPr lang="pt-BR" sz="1600" b="1"/>
              <a:t>IETF, ICANN e IAB</a:t>
            </a:r>
            <a:endParaRPr lang="en-CA" altLang="en-US" b="1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  <a:p>
            <a:pPr lvl="1" algn="just"/>
            <a:endParaRPr lang="en-CA" alt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5764" t="32957" r="10486" b="21605"/>
          <a:stretch>
            <a:fillRect/>
          </a:stretch>
        </p:blipFill>
        <p:spPr>
          <a:xfrm>
            <a:off x="4166870" y="1096010"/>
            <a:ext cx="4902835" cy="286448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Tipos comuns de</a:t>
            </a:r>
            <a:br>
              <a:rPr lang="en-US" altLang="en-US" dirty="0"/>
            </a:br>
            <a:r>
              <a:rPr lang="pt-BR"/>
              <a:t>Intranets, Extranets e Internet (Conceitos)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220845" y="709930"/>
            <a:ext cx="4780280" cy="405955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2100"/>
              <a:t>Uma </a:t>
            </a:r>
            <a:r>
              <a:rPr lang="pt-BR" sz="2100" b="1">
                <a:solidFill>
                  <a:srgbClr val="FF0000"/>
                </a:solidFill>
              </a:rPr>
              <a:t>Intranet</a:t>
            </a:r>
            <a:r>
              <a:rPr lang="pt-BR" sz="2100"/>
              <a:t> é uma </a:t>
            </a:r>
            <a:r>
              <a:rPr lang="pt-BR" sz="2100" b="1"/>
              <a:t>coleção particular de LANs e WANs internas</a:t>
            </a:r>
            <a:r>
              <a:rPr lang="pt-BR" sz="2100"/>
              <a:t> a uma organização que deve ser acessível apenas aos membros da organização ou a outras pessoas com autorização.</a:t>
            </a:r>
            <a:endParaRPr lang="pt-BR" sz="2100"/>
          </a:p>
          <a:p>
            <a:pPr marL="0" indent="0" algn="just" rtl="0">
              <a:buNone/>
            </a:pPr>
            <a:r>
              <a:rPr lang="pt-BR" sz="2100"/>
              <a:t>Uma empresa pode usar uma </a:t>
            </a:r>
            <a:r>
              <a:rPr lang="pt-BR" sz="2100" b="1">
                <a:solidFill>
                  <a:srgbClr val="FF0000"/>
                </a:solidFill>
              </a:rPr>
              <a:t>Extranet </a:t>
            </a:r>
            <a:r>
              <a:rPr lang="pt-BR" sz="2100"/>
              <a:t>para fornecer </a:t>
            </a:r>
            <a:r>
              <a:rPr lang="pt-BR" sz="2100" b="1"/>
              <a:t>acesso seguro à sua rede</a:t>
            </a:r>
            <a:r>
              <a:rPr lang="pt-BR" sz="2100"/>
              <a:t> aos indivíduos que trabalham em diferentes empresas, mas precisam acessar os dados em sua rede.</a:t>
            </a:r>
            <a:endParaRPr lang="pt-BR" sz="2100"/>
          </a:p>
          <a:p>
            <a:pPr lvl="1" algn="just"/>
            <a:endParaRPr lang="en-CA" altLang="en-US" sz="2100" dirty="0"/>
          </a:p>
          <a:p>
            <a:pPr lvl="1" algn="just"/>
            <a:endParaRPr lang="en-CA" altLang="en-US" sz="2100" dirty="0"/>
          </a:p>
          <a:p>
            <a:pPr lvl="1" algn="just"/>
            <a:endParaRPr lang="en-CA" altLang="en-US" sz="2100" dirty="0"/>
          </a:p>
          <a:p>
            <a:pPr lvl="1" algn="just"/>
            <a:endParaRPr lang="en-CA" altLang="en-US" sz="2100" dirty="0"/>
          </a:p>
          <a:p>
            <a:pPr lvl="1" algn="just"/>
            <a:endParaRPr lang="en-CA" altLang="en-US" sz="2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0972" t="27284" r="18194" b="17901"/>
          <a:stretch>
            <a:fillRect/>
          </a:stretch>
        </p:blipFill>
        <p:spPr>
          <a:xfrm>
            <a:off x="88900" y="709930"/>
            <a:ext cx="4077335" cy="407733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1.5 Conexões à Internet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Tecnologias de Acesso à Internet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669155" y="709930"/>
            <a:ext cx="4323080" cy="400367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00"/>
              <a:t>Existem várias maneiras de </a:t>
            </a:r>
            <a:r>
              <a:rPr lang="pt-BR" sz="1500" b="1">
                <a:solidFill>
                  <a:srgbClr val="FF0000"/>
                </a:solidFill>
              </a:rPr>
              <a:t>conectar usuários e organizações à Internet</a:t>
            </a:r>
            <a:r>
              <a:rPr lang="pt-BR" sz="1500"/>
              <a:t>:</a:t>
            </a:r>
            <a:endParaRPr lang="pt-BR" sz="1500"/>
          </a:p>
          <a:p>
            <a:pPr lvl="1" algn="just" rtl="0"/>
            <a:r>
              <a:rPr lang="pt-BR" sz="1500"/>
              <a:t>Os </a:t>
            </a:r>
            <a:r>
              <a:rPr lang="pt-BR" sz="1500" b="1"/>
              <a:t>serviços populares para usuários</a:t>
            </a:r>
            <a:r>
              <a:rPr lang="pt-BR" sz="1500"/>
              <a:t> domésticos e pequenos escritórios incluem cabo de banda larga, linha de assinante digital banda larga (DSL), WANs sem fio e serviços móveis.</a:t>
            </a:r>
            <a:endParaRPr lang="pt-BR" sz="1500"/>
          </a:p>
          <a:p>
            <a:pPr lvl="1" algn="just" rtl="0"/>
            <a:r>
              <a:rPr lang="pt-BR" sz="1500"/>
              <a:t>As </a:t>
            </a:r>
            <a:r>
              <a:rPr lang="pt-BR" sz="1500" b="1"/>
              <a:t>empresas precisam de conexões mais rápidas</a:t>
            </a:r>
            <a:r>
              <a:rPr lang="pt-BR" sz="1500"/>
              <a:t> para oferecer suporte a telefones IP, videoconferência e armazenamento de data center.</a:t>
            </a:r>
            <a:endParaRPr lang="pt-BR" sz="1500"/>
          </a:p>
          <a:p>
            <a:pPr lvl="1" algn="just" rtl="0"/>
            <a:r>
              <a:rPr lang="pt-BR" sz="1500"/>
              <a:t>As </a:t>
            </a:r>
            <a:r>
              <a:rPr lang="pt-BR" sz="1500" b="1"/>
              <a:t>interconexões de nível empresarial</a:t>
            </a:r>
            <a:r>
              <a:rPr lang="pt-BR" sz="1500"/>
              <a:t> são geralmente fornecidas por provedores de serviços de internet </a:t>
            </a:r>
            <a:r>
              <a:rPr lang="pt-BR" sz="1500" b="1">
                <a:solidFill>
                  <a:srgbClr val="FF0000"/>
                </a:solidFill>
              </a:rPr>
              <a:t>(ISP)</a:t>
            </a:r>
            <a:r>
              <a:rPr lang="pt-BR" sz="1500"/>
              <a:t> e podem incluir: DSL empresarial, linhas dedicadas e Metro Ethernet.</a:t>
            </a:r>
            <a:endParaRPr lang="en-CA" altLang="en-US" sz="1500" dirty="0"/>
          </a:p>
          <a:p>
            <a:pPr lvl="1" algn="just"/>
            <a:endParaRPr lang="en-CA" altLang="en-US" sz="1500" dirty="0"/>
          </a:p>
          <a:p>
            <a:pPr lvl="1" algn="just"/>
            <a:endParaRPr lang="en-CA" altLang="en-US" sz="1500" dirty="0"/>
          </a:p>
          <a:p>
            <a:pPr lvl="1" algn="just"/>
            <a:endParaRPr lang="en-CA" altLang="en-US" sz="15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" y="1611630"/>
            <a:ext cx="4500245" cy="254635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>
          <a:xfrm>
            <a:off x="0" y="3175"/>
            <a:ext cx="9144000" cy="757238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 sz="2400"/>
              <a:t>Conexões à Internet para residências e pequenos escritórios</a:t>
            </a:r>
            <a:endParaRPr lang="pt-BR" sz="2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5175" y="661035"/>
          <a:ext cx="4392295" cy="4192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625"/>
                <a:gridCol w="3201670"/>
              </a:tblGrid>
              <a:tr h="48006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Conexão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 anchor="ctr" anchorCtr="0"/>
                </a:tc>
              </a:tr>
              <a:tr h="94488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Cabo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Internet de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alta largura de banda</a:t>
                      </a:r>
                      <a:r>
                        <a:rPr lang="pt-BR"/>
                        <a:t>, sempre ativada, oferecida por provedores de serviços de televisão a cabo.</a:t>
                      </a:r>
                      <a:endParaRPr lang="pt-BR"/>
                    </a:p>
                  </a:txBody>
                  <a:tcPr anchor="ctr" anchorCtr="0"/>
                </a:tc>
              </a:tr>
              <a:tr h="73152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DSL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b="1">
                          <a:solidFill>
                            <a:srgbClr val="FF0000"/>
                          </a:solidFill>
                        </a:rPr>
                        <a:t>Alta largura de banda</a:t>
                      </a:r>
                      <a:r>
                        <a:rPr lang="pt-BR"/>
                        <a:t>, sempre ativada, conexão à Internet que passa por uma linha telefônica.</a:t>
                      </a:r>
                      <a:endParaRPr lang="pt-BR"/>
                    </a:p>
                  </a:txBody>
                  <a:tcPr anchor="ctr" anchorCtr="0"/>
                </a:tc>
              </a:tr>
              <a:tr h="57404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Celular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Usa uma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rede de telefone celular</a:t>
                      </a:r>
                      <a:r>
                        <a:rPr lang="pt-BR"/>
                        <a:t> para se conectar à internet.</a:t>
                      </a:r>
                      <a:endParaRPr lang="pt-BR"/>
                    </a:p>
                  </a:txBody>
                  <a:tcPr anchor="ctr" anchorCtr="0"/>
                </a:tc>
              </a:tr>
              <a:tr h="730885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Satélite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Maior benefício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para áreas rurais</a:t>
                      </a:r>
                      <a:r>
                        <a:rPr lang="pt-BR"/>
                        <a:t> sem provedores de serviços de Internet.</a:t>
                      </a:r>
                      <a:endParaRPr lang="pt-BR"/>
                    </a:p>
                  </a:txBody>
                  <a:tcPr anchor="ctr" anchorCtr="0"/>
                </a:tc>
              </a:tr>
              <a:tr h="73152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>
                          <a:solidFill>
                            <a:srgbClr val="FF0000"/>
                          </a:solidFill>
                        </a:rPr>
                        <a:t>Conexão Discada (dial-up)</a:t>
                      </a:r>
                      <a:endParaRPr lang="pt-BR" sz="18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Uma opção barata e de baixa largura de banda usando um modem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(Já descontinuado e em desuso no Mundo).</a:t>
                      </a:r>
                      <a:endParaRPr lang="pt-BR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611" t="36667" r="10972" b="16420"/>
          <a:stretch>
            <a:fillRect/>
          </a:stretch>
        </p:blipFill>
        <p:spPr>
          <a:xfrm>
            <a:off x="85725" y="1468120"/>
            <a:ext cx="4449445" cy="25857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8962933" cy="757551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Conexões Corporativas com a Internet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805180"/>
            <a:ext cx="4024630" cy="146177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600"/>
              <a:t>As conexões de negócios corporativas podem exigir:</a:t>
            </a:r>
            <a:endParaRPr lang="pt-BR" sz="1600"/>
          </a:p>
          <a:p>
            <a:pPr lvl="1" algn="just" rtl="0"/>
            <a:r>
              <a:rPr lang="pt-BR" sz="1600" b="1"/>
              <a:t>Maior Largura de Banda </a:t>
            </a:r>
            <a:endParaRPr lang="pt-BR" sz="1600" b="1"/>
          </a:p>
          <a:p>
            <a:pPr lvl="1" algn="just" rtl="0"/>
            <a:r>
              <a:rPr lang="pt-BR" sz="1600" b="1"/>
              <a:t>Conexões Dedicadas</a:t>
            </a:r>
            <a:endParaRPr lang="pt-BR" sz="1600" b="1"/>
          </a:p>
          <a:p>
            <a:pPr lvl="1" algn="just" rtl="0"/>
            <a:r>
              <a:rPr lang="pt-BR" sz="1600" b="1"/>
              <a:t>Serviços Gerenciados  </a:t>
            </a:r>
            <a:endParaRPr lang="pt-BR" sz="1600" b="1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2260" y="798830"/>
          <a:ext cx="4855210" cy="3923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355"/>
                <a:gridCol w="3538855"/>
              </a:tblGrid>
              <a:tr h="52578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Tipo de conexão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 anchor="ctr" anchorCtr="0"/>
                </a:tc>
              </a:tr>
              <a:tr h="108331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Linha Dedicada Privada 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Esses são circuitos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reservados na rede do provedor</a:t>
                      </a:r>
                      <a:r>
                        <a:rPr lang="pt-BR"/>
                        <a:t> de serviços que conectam escritórios distantes com redes privadas de voz e / ou dados.</a:t>
                      </a:r>
                      <a:endParaRPr lang="pt-BR"/>
                    </a:p>
                  </a:txBody>
                  <a:tcPr anchor="ctr" anchorCtr="0"/>
                </a:tc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Ethernet WAN 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Isso estende a tecnologia de acesso à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LAN na WAN</a:t>
                      </a:r>
                      <a:r>
                        <a:rPr lang="pt-BR"/>
                        <a:t>.</a:t>
                      </a:r>
                      <a:endParaRPr lang="pt-BR"/>
                    </a:p>
                  </a:txBody>
                  <a:tcPr anchor="ctr" anchorCtr="0"/>
                </a:tc>
              </a:tr>
              <a:tr h="885825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DSL Comercial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O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DSL comercial</a:t>
                      </a:r>
                      <a:r>
                        <a:rPr lang="pt-BR"/>
                        <a:t> está disponível em vários formatos, incluindo </a:t>
                      </a:r>
                      <a:r>
                        <a:rPr lang="pt-BR" b="1"/>
                        <a:t>SDSL </a:t>
                      </a:r>
                      <a:r>
                        <a:rPr lang="pt-BR"/>
                        <a:t>(Symmetric Digital Subscriber Lines).</a:t>
                      </a:r>
                      <a:endParaRPr lang="pt-BR"/>
                    </a:p>
                  </a:txBody>
                  <a:tcPr anchor="ctr" anchorCtr="0"/>
                </a:tc>
              </a:tr>
              <a:tr h="742315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Satélite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Isso pode fornecer uma conexão quando uma solução com fio não está disponível.</a:t>
                      </a:r>
                      <a:endParaRPr lang="pt-BR"/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556" t="35352" r="11128" b="18099"/>
          <a:stretch>
            <a:fillRect/>
          </a:stretch>
        </p:blipFill>
        <p:spPr>
          <a:xfrm>
            <a:off x="87630" y="2366645"/>
            <a:ext cx="4024630" cy="232537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3871387" cy="757551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As Redes Convergentes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957580"/>
            <a:ext cx="3871595" cy="345694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2000"/>
              <a:t>Antes das </a:t>
            </a:r>
            <a:r>
              <a:rPr lang="pt-BR" sz="2000" b="1"/>
              <a:t>redes convergentes</a:t>
            </a:r>
            <a:r>
              <a:rPr lang="pt-BR" sz="2000"/>
              <a:t>, uma organização teria sido conectada separadamente para telefone, vídeo e dados. </a:t>
            </a:r>
            <a:endParaRPr lang="pt-BR" sz="2000"/>
          </a:p>
          <a:p>
            <a:pPr marL="0" indent="0" algn="just" rtl="0">
              <a:buNone/>
            </a:pPr>
            <a:r>
              <a:rPr lang="pt-BR" sz="2000"/>
              <a:t>Cada uma dessas redes usaria </a:t>
            </a:r>
            <a:r>
              <a:rPr lang="pt-BR" sz="2000" b="1"/>
              <a:t>tecnologias diferentes</a:t>
            </a:r>
            <a:r>
              <a:rPr lang="pt-BR" sz="2000"/>
              <a:t> para transmitir o sinal. </a:t>
            </a:r>
            <a:endParaRPr lang="pt-BR" sz="2000"/>
          </a:p>
          <a:p>
            <a:pPr marL="0" indent="0" algn="just" rtl="0">
              <a:buNone/>
            </a:pPr>
            <a:r>
              <a:rPr lang="pt-BR" sz="2000" b="1">
                <a:solidFill>
                  <a:srgbClr val="FF0000"/>
                </a:solidFill>
              </a:rPr>
              <a:t>Cada uma destas tecnologias utilizaria um conjunto diferente de regras e normas.</a:t>
            </a:r>
            <a:endParaRPr lang="pt-BR" sz="2000" b="1">
              <a:solidFill>
                <a:srgbClr val="FF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958" t="35432" r="10903" b="17160"/>
          <a:stretch>
            <a:fillRect/>
          </a:stretch>
        </p:blipFill>
        <p:spPr>
          <a:xfrm>
            <a:off x="3848100" y="1166495"/>
            <a:ext cx="5144770" cy="30397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630" y="41275"/>
            <a:ext cx="5544185" cy="757555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As Redes Convergentes (Continuação)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811" y="798854"/>
            <a:ext cx="3735870" cy="308261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800"/>
              <a:t>As redes de dados convergentes transportam vários serviços em um link, incluindo: </a:t>
            </a:r>
            <a:endParaRPr lang="pt-BR" sz="18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800" b="1"/>
              <a:t>Dados </a:t>
            </a:r>
            <a:endParaRPr lang="pt-BR" sz="18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800" b="1"/>
              <a:t>Voz</a:t>
            </a:r>
            <a:endParaRPr lang="pt-BR" sz="18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800" b="1"/>
              <a:t>Vídeo</a:t>
            </a:r>
            <a:endParaRPr lang="pt-BR" sz="1800" b="1"/>
          </a:p>
          <a:p>
            <a:pPr marL="0" indent="0" algn="just" rtl="0">
              <a:buNone/>
            </a:pPr>
            <a:r>
              <a:rPr lang="pt-BR" sz="1800"/>
              <a:t>As redes convergentes podem fornecer </a:t>
            </a:r>
            <a:r>
              <a:rPr lang="pt-BR" sz="1800" b="1">
                <a:solidFill>
                  <a:srgbClr val="FF0000"/>
                </a:solidFill>
              </a:rPr>
              <a:t>dados, voz e vídeo na mesma infraestrutura de rede.</a:t>
            </a:r>
            <a:r>
              <a:rPr lang="pt-BR" sz="1800"/>
              <a:t> A infraestrutura de rede usa o mesmo conjunto de regras e normas.</a:t>
            </a:r>
            <a:endParaRPr lang="pt-BR" sz="1800"/>
          </a:p>
          <a:p>
            <a:pPr marL="0" indent="0" algn="just" rtl="0">
              <a:buNone/>
            </a:pPr>
            <a:endParaRPr lang="en-CA" altLang="en-US" sz="18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5139" t="35926" r="11250" b="20988"/>
          <a:stretch>
            <a:fillRect/>
          </a:stretch>
        </p:blipFill>
        <p:spPr>
          <a:xfrm>
            <a:off x="3675380" y="1166495"/>
            <a:ext cx="5252720" cy="29190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1.6 Redes Confiáveis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Arquitetura de Rede Atuais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081780" y="459105"/>
            <a:ext cx="4898390" cy="3035300"/>
          </a:xfrm>
        </p:spPr>
        <p:txBody>
          <a:bodyPr/>
          <a:lstStyle/>
          <a:p>
            <a:pPr marL="0" indent="0" algn="just">
              <a:buNone/>
            </a:pPr>
            <a:r>
              <a:rPr lang="pt-BR" sz="2000"/>
              <a:t>A </a:t>
            </a:r>
            <a:r>
              <a:rPr lang="pt-BR" sz="2000" b="1"/>
              <a:t>arquitetura de rede</a:t>
            </a:r>
            <a:r>
              <a:rPr lang="pt-BR" sz="2000"/>
              <a:t> refere-se a tecnologias que apoiam a infraestrutura responsável por transferir os dados através da rede.</a:t>
            </a:r>
            <a:endParaRPr lang="pt-BR" sz="2000"/>
          </a:p>
          <a:p>
            <a:pPr marL="0" indent="0" algn="just" rtl="0">
              <a:buNone/>
            </a:pPr>
            <a:r>
              <a:rPr lang="pt-BR" sz="2000"/>
              <a:t>Há </a:t>
            </a:r>
            <a:r>
              <a:rPr lang="pt-BR" sz="2000" b="1">
                <a:solidFill>
                  <a:srgbClr val="FF0000"/>
                </a:solidFill>
              </a:rPr>
              <a:t>quatro características básicas</a:t>
            </a:r>
            <a:r>
              <a:rPr lang="pt-BR" sz="2000"/>
              <a:t> que as arquiteturas subjacentes precisam abordar para atender às expectativas do usuário:</a:t>
            </a:r>
            <a:endParaRPr lang="pt-BR" sz="2000"/>
          </a:p>
          <a:p>
            <a:pPr marL="600075" lvl="1" indent="-457200" algn="just" rtl="0">
              <a:buFont typeface="Arial" panose="020B0604020202020204" pitchFamily="34" charset="0"/>
              <a:buAutoNum type="arabicPeriod"/>
            </a:pPr>
            <a:r>
              <a:rPr lang="pt-BR" sz="2000" b="1"/>
              <a:t>Tolerância a Falhas</a:t>
            </a:r>
            <a:endParaRPr lang="pt-BR" sz="2000" b="1"/>
          </a:p>
          <a:p>
            <a:pPr marL="600075" lvl="1" indent="-457200" algn="just" rtl="0">
              <a:buFont typeface="Arial" panose="020B0604020202020204" pitchFamily="34" charset="0"/>
              <a:buAutoNum type="arabicPeriod"/>
            </a:pPr>
            <a:r>
              <a:rPr lang="pt-BR" sz="2000" b="1"/>
              <a:t>Escalabilidade</a:t>
            </a:r>
            <a:endParaRPr lang="pt-BR" sz="2000" b="1"/>
          </a:p>
          <a:p>
            <a:pPr marL="600075" lvl="1" indent="-457200" algn="just" rtl="0">
              <a:buFont typeface="Arial" panose="020B0604020202020204" pitchFamily="34" charset="0"/>
              <a:buAutoNum type="arabicPeriod"/>
            </a:pPr>
            <a:r>
              <a:rPr lang="pt-BR" sz="2000" b="1"/>
              <a:t>Qualidade de serviço (QoS)</a:t>
            </a:r>
            <a:endParaRPr lang="pt-BR" sz="2000" b="1"/>
          </a:p>
          <a:p>
            <a:pPr marL="600075" lvl="1" indent="-457200" algn="just" rtl="0">
              <a:buFont typeface="Arial" panose="020B0604020202020204" pitchFamily="34" charset="0"/>
              <a:buAutoNum type="arabicPeriod"/>
            </a:pPr>
            <a:r>
              <a:rPr lang="pt-BR" sz="2000" b="1"/>
              <a:t>Segurança</a:t>
            </a:r>
            <a:endParaRPr lang="pt-BR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" y="798830"/>
            <a:ext cx="3887470" cy="38385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8875300" cy="657417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Tolerância ao Erro/Falhas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2080" y="698500"/>
            <a:ext cx="4226560" cy="401320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50"/>
              <a:t>Uma </a:t>
            </a:r>
            <a:r>
              <a:rPr lang="pt-BR" sz="1550" b="1">
                <a:solidFill>
                  <a:srgbClr val="FF0000"/>
                </a:solidFill>
              </a:rPr>
              <a:t>rede tolerante a falhas</a:t>
            </a:r>
            <a:r>
              <a:rPr lang="pt-BR" sz="1550"/>
              <a:t> limita o impacto de uma falha, ao limitar o número de dispositivos afetados. Vários caminhos são necessários para tolerância a falhas.</a:t>
            </a:r>
            <a:endParaRPr lang="pt-BR" sz="1550"/>
          </a:p>
          <a:p>
            <a:pPr marL="0" indent="0" algn="just" rtl="0">
              <a:buNone/>
            </a:pPr>
            <a:r>
              <a:rPr lang="pt-BR" sz="1550"/>
              <a:t>As </a:t>
            </a:r>
            <a:r>
              <a:rPr lang="pt-BR" sz="1550" b="1"/>
              <a:t>redes confiáveis</a:t>
            </a:r>
            <a:r>
              <a:rPr lang="pt-BR" sz="1550"/>
              <a:t> fornecem redundância implementando uma rede comutada por pacotes:</a:t>
            </a:r>
            <a:endParaRPr lang="pt-BR" sz="15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O switch de pacotes divide os dados do tráfego em pacotes que são roteados por uma rede. </a:t>
            </a:r>
            <a:endParaRPr lang="pt-BR" sz="15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Cada pacote, teoricamente, pode levar um caminho até o destino diferente.</a:t>
            </a:r>
            <a:endParaRPr lang="pt-BR" sz="1550" b="1"/>
          </a:p>
          <a:p>
            <a:pPr marL="0" indent="0" algn="just" rtl="0">
              <a:buNone/>
            </a:pPr>
            <a:r>
              <a:rPr lang="pt-BR" sz="1550"/>
              <a:t>Isso não é possível com redes de switch de circuitos que estabelecem circuitos dedicados.</a:t>
            </a:r>
            <a:endParaRPr lang="pt-BR" sz="1550"/>
          </a:p>
          <a:p>
            <a:pPr algn="just" rtl="0"/>
            <a:endParaRPr lang="en-CA" altLang="en-US" sz="155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556" t="35488" r="10573" b="17395"/>
          <a:stretch>
            <a:fillRect/>
          </a:stretch>
        </p:blipFill>
        <p:spPr>
          <a:xfrm>
            <a:off x="4243705" y="1058545"/>
            <a:ext cx="4819650" cy="278511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Escalabilidade (Crescimento)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21935" y="643255"/>
            <a:ext cx="3702685" cy="2755900"/>
          </a:xfrm>
        </p:spPr>
        <p:txBody>
          <a:bodyPr/>
          <a:lstStyle/>
          <a:p>
            <a:pPr marL="0" indent="0" algn="just">
              <a:buNone/>
            </a:pPr>
            <a:r>
              <a:rPr lang="pt-BR" sz="2100"/>
              <a:t>Uma </a:t>
            </a:r>
            <a:r>
              <a:rPr lang="pt-BR" sz="2100" b="1">
                <a:solidFill>
                  <a:srgbClr val="FF0000"/>
                </a:solidFill>
              </a:rPr>
              <a:t>rede escalável</a:t>
            </a:r>
            <a:r>
              <a:rPr lang="pt-BR" sz="2100"/>
              <a:t> pode se expandir de modo rápido e fácil para comportar novos usuários e aplicações, sem causar impacto no desempenho dos serviços fornecidos aos usuários atuais.</a:t>
            </a:r>
            <a:endParaRPr lang="pt-BR" sz="2100"/>
          </a:p>
          <a:p>
            <a:pPr marL="0" indent="0" algn="just" rtl="0">
              <a:buNone/>
            </a:pPr>
            <a:r>
              <a:rPr lang="pt-BR" sz="2100"/>
              <a:t>Os </a:t>
            </a:r>
            <a:r>
              <a:rPr lang="pt-BR" sz="2100" b="1">
                <a:solidFill>
                  <a:srgbClr val="FF0000"/>
                </a:solidFill>
              </a:rPr>
              <a:t>designers de rede</a:t>
            </a:r>
            <a:r>
              <a:rPr lang="pt-BR" sz="2100"/>
              <a:t> seguem </a:t>
            </a:r>
            <a:r>
              <a:rPr lang="pt-BR" sz="2100" b="1"/>
              <a:t>normas e protocolos</a:t>
            </a:r>
            <a:r>
              <a:rPr lang="pt-BR" sz="2100"/>
              <a:t> aceitos para tornar as redes escaláveis.</a:t>
            </a:r>
            <a:endParaRPr lang="en-CA" altLang="en-US" sz="2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556" t="33944" r="10653" b="14451"/>
          <a:stretch>
            <a:fillRect/>
          </a:stretch>
        </p:blipFill>
        <p:spPr>
          <a:xfrm>
            <a:off x="87630" y="1075690"/>
            <a:ext cx="5266690" cy="33388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056451" cy="757551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Qualidade de Serviço (QoS)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549" y="798944"/>
            <a:ext cx="3809042" cy="4147129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450"/>
              <a:t>As transmissões de vídeo ao vivo e de voz requerem expectativas mais altas para esses serviços sendo entregues. </a:t>
            </a:r>
            <a:endParaRPr lang="pt-BR" sz="1450"/>
          </a:p>
          <a:p>
            <a:pPr marL="0" indent="0" algn="just" rtl="0">
              <a:buNone/>
            </a:pPr>
            <a:r>
              <a:rPr lang="pt-BR" sz="1450"/>
              <a:t>Você já assistiu a um vídeo ao vivo com intervalos e pausas constantes? Isso acontece quando há uma maior demanda por largura de banda que a disponível – e o QoS não está configurado.</a:t>
            </a:r>
            <a:endParaRPr lang="pt-BR" sz="14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FF0000"/>
                </a:solidFill>
              </a:rPr>
              <a:t>Qualidade de Serviço</a:t>
            </a:r>
            <a:r>
              <a:rPr lang="pt-BR" sz="1450"/>
              <a:t> (QoS, Quality of Service) é o mecanismo principal usado para assegurar a entrega confiável do conteúdo para todos os usuários. </a:t>
            </a:r>
            <a:endParaRPr lang="pt-BR" sz="14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450"/>
              <a:t>Com uma </a:t>
            </a:r>
            <a:r>
              <a:rPr lang="pt-BR" sz="1450" b="1">
                <a:solidFill>
                  <a:srgbClr val="FF0000"/>
                </a:solidFill>
              </a:rPr>
              <a:t>Política de QoS</a:t>
            </a:r>
            <a:r>
              <a:rPr lang="pt-BR" sz="1450"/>
              <a:t> em vigor, o roteador pode gerenciar mais facilmente o fluxo de dados e o tráfego de voz.</a:t>
            </a:r>
            <a:endParaRPr lang="pt-BR" sz="1450"/>
          </a:p>
          <a:p>
            <a:pPr algn="just" rtl="0">
              <a:buFont typeface="Wingdings" panose="05000000000000000000" pitchFamily="2" charset="2"/>
              <a:buChar char="Ø"/>
            </a:pPr>
            <a:endParaRPr lang="en-CA" altLang="en-US" sz="145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479" t="36333" r="10969" b="14031"/>
          <a:stretch>
            <a:fillRect/>
          </a:stretch>
        </p:blipFill>
        <p:spPr>
          <a:xfrm>
            <a:off x="3754120" y="993775"/>
            <a:ext cx="5307330" cy="32531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234470" cy="757551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Segurança de Rede (Obrigatório)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62855" y="132715"/>
            <a:ext cx="3948430" cy="459549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350"/>
              <a:t>Existem </a:t>
            </a:r>
            <a:r>
              <a:rPr lang="pt-BR" sz="1350" b="1">
                <a:solidFill>
                  <a:srgbClr val="FF0000"/>
                </a:solidFill>
              </a:rPr>
              <a:t>dois tipos</a:t>
            </a:r>
            <a:r>
              <a:rPr lang="pt-BR" sz="1350"/>
              <a:t> principais de segurança da rede que devem ser abordados:  </a:t>
            </a:r>
            <a:endParaRPr lang="pt-BR" sz="13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350" b="1"/>
              <a:t>Segurança de infraestrutura de rede</a:t>
            </a:r>
            <a:endParaRPr lang="pt-BR" sz="135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50"/>
              <a:t>Segurança física dos dispositivos de rede</a:t>
            </a:r>
            <a:endParaRPr lang="pt-BR" sz="135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50"/>
              <a:t>Impedindo o acesso não autorizado aos dispositivos</a:t>
            </a:r>
            <a:endParaRPr lang="pt-BR" sz="13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350" b="1"/>
              <a:t>Segurança da Informação</a:t>
            </a:r>
            <a:r>
              <a:rPr lang="pt-BR" sz="1350"/>
              <a:t>.</a:t>
            </a:r>
            <a:endParaRPr lang="pt-BR" sz="135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50"/>
              <a:t>Proteção de informações ou dados transmitidos pela rede</a:t>
            </a:r>
            <a:endParaRPr lang="pt-BR" sz="1350"/>
          </a:p>
          <a:p>
            <a:pPr marL="0" indent="0" algn="just" rtl="0">
              <a:buNone/>
            </a:pPr>
            <a:r>
              <a:rPr lang="pt-BR" sz="1350" b="1"/>
              <a:t>Três metas de segurança da rede:</a:t>
            </a:r>
            <a:endParaRPr lang="pt-BR" sz="1350"/>
          </a:p>
          <a:p>
            <a:pPr lvl="1" algn="just" rtl="0"/>
            <a:r>
              <a:rPr lang="pt-BR" sz="1350" b="1">
                <a:solidFill>
                  <a:srgbClr val="FF0000"/>
                </a:solidFill>
              </a:rPr>
              <a:t>Confidencialidade </a:t>
            </a:r>
            <a:r>
              <a:rPr lang="pt-BR" sz="1350"/>
              <a:t>– somente os destinatários desejados podem ler os dados</a:t>
            </a:r>
            <a:endParaRPr lang="pt-BR" sz="1350"/>
          </a:p>
          <a:p>
            <a:pPr lvl="1" algn="just" rtl="0"/>
            <a:r>
              <a:rPr lang="pt-BR" sz="1350" b="1">
                <a:solidFill>
                  <a:srgbClr val="FF0000"/>
                </a:solidFill>
              </a:rPr>
              <a:t>Integridade </a:t>
            </a:r>
            <a:r>
              <a:rPr lang="pt-BR" sz="1350"/>
              <a:t>– garantia de que os dados não foram alterados durante a transmissão</a:t>
            </a:r>
            <a:endParaRPr lang="pt-BR" sz="1350"/>
          </a:p>
          <a:p>
            <a:pPr lvl="1" algn="just" rtl="0"/>
            <a:r>
              <a:rPr lang="pt-BR" sz="1350" b="1">
                <a:solidFill>
                  <a:srgbClr val="FF0000"/>
                </a:solidFill>
              </a:rPr>
              <a:t>Disponibilidade </a:t>
            </a:r>
            <a:r>
              <a:rPr lang="pt-BR" sz="1350"/>
              <a:t>– garantia de que os usuários autorizados terão acesso pontual e confiável aos dados</a:t>
            </a:r>
            <a:endParaRPr lang="pt-BR" sz="1350"/>
          </a:p>
          <a:p>
            <a:pPr algn="just" rtl="0"/>
            <a:endParaRPr lang="en-CA" altLang="en-US" sz="135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240" t="38012" r="10576" b="14309"/>
          <a:stretch>
            <a:fillRect/>
          </a:stretch>
        </p:blipFill>
        <p:spPr>
          <a:xfrm>
            <a:off x="87630" y="1263650"/>
            <a:ext cx="5034915" cy="29241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1.7 Tendências das Redes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Tendências Recentes em Redes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21935" y="460375"/>
            <a:ext cx="3691255" cy="3546475"/>
          </a:xfrm>
        </p:spPr>
        <p:txBody>
          <a:bodyPr/>
          <a:lstStyle/>
          <a:p>
            <a:pPr marL="0" indent="0" algn="just">
              <a:buNone/>
            </a:pPr>
            <a:r>
              <a:rPr lang="pt-BR" sz="1700"/>
              <a:t>A função da rede deve ser ajustada e transformada continuamente para acompanhar as novas tecnologias e dispositivos de usuário final à medida que eles entram no mercado de forma constante. </a:t>
            </a:r>
            <a:endParaRPr lang="pt-BR" sz="1700"/>
          </a:p>
          <a:p>
            <a:pPr marL="0" indent="0" algn="just" rtl="0">
              <a:buNone/>
            </a:pPr>
            <a:r>
              <a:rPr lang="pt-BR" sz="1700"/>
              <a:t>Várias novas tendências de rede que afetam as empresas e os consumidores:</a:t>
            </a:r>
            <a:endParaRPr lang="pt-BR" sz="17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700" b="1"/>
              <a:t>BYOD (Bring Your Own Device)</a:t>
            </a:r>
            <a:endParaRPr lang="pt-BR" sz="17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700" b="1"/>
              <a:t>Colaboração on-line</a:t>
            </a:r>
            <a:endParaRPr lang="pt-BR" sz="17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700" b="1"/>
              <a:t>Comunicação por vídeo</a:t>
            </a:r>
            <a:endParaRPr lang="pt-BR" sz="17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700" b="1"/>
              <a:t>Computação em nuvem</a:t>
            </a:r>
            <a:endParaRPr lang="en-CA" altLang="en-US" sz="1700" b="1" dirty="0"/>
          </a:p>
          <a:p>
            <a:pPr algn="just"/>
            <a:endParaRPr lang="en-CA" altLang="en-US" sz="17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798944"/>
            <a:ext cx="5172075" cy="37242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234470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Traga seu Próprio Aparelho (BYOD)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21935" y="375920"/>
            <a:ext cx="3664585" cy="431546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450" b="1">
                <a:solidFill>
                  <a:srgbClr val="FF0000"/>
                </a:solidFill>
              </a:rPr>
              <a:t>Traga seu Próprio Dispositivo (BYOD)</a:t>
            </a:r>
            <a:r>
              <a:rPr lang="pt-BR" sz="1450"/>
              <a:t> permite que os usuários usem seus próprios dispositivos, dando-lhes mais oportunidades e maior flexibilidade. </a:t>
            </a:r>
            <a:endParaRPr lang="pt-BR" sz="1450"/>
          </a:p>
          <a:p>
            <a:pPr marL="0" indent="0" algn="just" rtl="0">
              <a:buNone/>
            </a:pPr>
            <a:r>
              <a:rPr lang="pt-BR" sz="1450"/>
              <a:t>O </a:t>
            </a:r>
            <a:r>
              <a:rPr lang="pt-BR" sz="1450" b="1"/>
              <a:t>BYOD </a:t>
            </a:r>
            <a:r>
              <a:rPr lang="pt-BR" sz="1450"/>
              <a:t>permite que os usuários finais tenham liberdade para usar ferramentas pessoais, acessar informações e se comunicar usando seus:</a:t>
            </a:r>
            <a:endParaRPr lang="pt-BR" sz="1450"/>
          </a:p>
          <a:p>
            <a:pPr lvl="1" algn="just" rtl="0"/>
            <a:r>
              <a:rPr lang="pt-BR" sz="1450" b="1"/>
              <a:t>Notebooks</a:t>
            </a:r>
            <a:endParaRPr lang="pt-BR" sz="1450" b="1"/>
          </a:p>
          <a:p>
            <a:pPr lvl="1" algn="just" rtl="0"/>
            <a:r>
              <a:rPr lang="pt-BR" sz="1450" b="1"/>
              <a:t>Netbooks</a:t>
            </a:r>
            <a:endParaRPr lang="pt-BR" sz="1450" b="1"/>
          </a:p>
          <a:p>
            <a:pPr lvl="1" algn="just" rtl="0"/>
            <a:r>
              <a:rPr lang="pt-BR" sz="1450" b="1"/>
              <a:t>Tablets</a:t>
            </a:r>
            <a:endParaRPr lang="pt-BR" sz="1450" b="1"/>
          </a:p>
          <a:p>
            <a:pPr lvl="1" algn="just" rtl="0"/>
            <a:r>
              <a:rPr lang="pt-BR" sz="1450" b="1"/>
              <a:t>Smartphones</a:t>
            </a:r>
            <a:endParaRPr lang="pt-BR" sz="1450" b="1"/>
          </a:p>
          <a:p>
            <a:pPr lvl="1" algn="just" rtl="0"/>
            <a:r>
              <a:rPr lang="pt-BR" sz="1450" b="1"/>
              <a:t>E-readers</a:t>
            </a:r>
            <a:endParaRPr lang="pt-BR" sz="1450" b="1"/>
          </a:p>
          <a:p>
            <a:pPr marL="0" indent="0" algn="just" rtl="0">
              <a:buNone/>
            </a:pPr>
            <a:r>
              <a:rPr lang="pt-BR" sz="1450" b="1"/>
              <a:t>BYOD </a:t>
            </a:r>
            <a:r>
              <a:rPr lang="pt-BR" sz="1450"/>
              <a:t>significa o uso de qualquer dispositivo, de qualquer propriedade e em qualquer lugar.</a:t>
            </a:r>
            <a:endParaRPr lang="pt-BR" sz="145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94" y="894229"/>
            <a:ext cx="5114925" cy="36957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617313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Colaboração Online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29835" y="347980"/>
            <a:ext cx="3973830" cy="3754755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550" b="1">
                <a:solidFill>
                  <a:srgbClr val="FF0000"/>
                </a:solidFill>
              </a:rPr>
              <a:t>Colabore e trabalhe</a:t>
            </a:r>
            <a:r>
              <a:rPr lang="pt-BR" sz="1550"/>
              <a:t> com outras pessoas na rede em projetos conjuntos.</a:t>
            </a:r>
            <a:endParaRPr lang="pt-BR" sz="15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550"/>
              <a:t>As </a:t>
            </a:r>
            <a:r>
              <a:rPr lang="pt-BR" sz="1550" b="1"/>
              <a:t>ferramentas de colaboração</a:t>
            </a:r>
            <a:r>
              <a:rPr lang="pt-BR" sz="1550"/>
              <a:t>, incluindo o </a:t>
            </a:r>
            <a:r>
              <a:rPr lang="pt-BR" sz="1550" b="1">
                <a:solidFill>
                  <a:srgbClr val="FF0000"/>
                </a:solidFill>
              </a:rPr>
              <a:t>Cisco WebEx</a:t>
            </a:r>
            <a:r>
              <a:rPr lang="pt-BR" sz="1550"/>
              <a:t> (mostrado na figura), oferecem aos usuários uma maneira de conectar e interagir instantaneamente.</a:t>
            </a:r>
            <a:endParaRPr lang="pt-BR" sz="15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550"/>
              <a:t>A </a:t>
            </a:r>
            <a:r>
              <a:rPr lang="pt-BR" sz="1550" b="1">
                <a:solidFill>
                  <a:srgbClr val="FF0000"/>
                </a:solidFill>
              </a:rPr>
              <a:t>colaboração é uma prioridade</a:t>
            </a:r>
            <a:r>
              <a:rPr lang="pt-BR" sz="1550"/>
              <a:t> muito alta para no mundo corporativo e acadêmico.</a:t>
            </a:r>
            <a:endParaRPr lang="pt-BR" sz="15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550"/>
              <a:t>Cisco Webex Teams é uma ferramenta de colaboração multifuncional.</a:t>
            </a:r>
            <a:endParaRPr lang="pt-BR" sz="15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Envie mensagens instantâneas </a:t>
            </a:r>
            <a:endParaRPr lang="pt-BR" sz="15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Postar imagens</a:t>
            </a:r>
            <a:endParaRPr lang="pt-BR" sz="15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Postar vídeos e links</a:t>
            </a:r>
            <a:endParaRPr lang="pt-BR" sz="1550" b="1"/>
          </a:p>
          <a:p>
            <a:pPr algn="just" rtl="0">
              <a:buFont typeface="Arial" panose="020B0604020202020204" pitchFamily="34" charset="0"/>
              <a:buChar char="•"/>
            </a:pPr>
            <a:endParaRPr lang="en-CA" altLang="en-US" sz="155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02" y="1212361"/>
            <a:ext cx="4835762" cy="271937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056451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Comunicação por Vídeo (Call On-Line)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798830"/>
            <a:ext cx="4286885" cy="3867785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FF0000"/>
                </a:solidFill>
              </a:rPr>
              <a:t>Chamadas de Vídeo</a:t>
            </a:r>
            <a:r>
              <a:rPr lang="pt-BR" sz="1800"/>
              <a:t> são feitas para qualquer pessoa, independentemente de onde eles estão localizados.</a:t>
            </a:r>
            <a:endParaRPr lang="pt-BR" sz="18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800"/>
              <a:t>A </a:t>
            </a:r>
            <a:r>
              <a:rPr lang="pt-BR" sz="1800" b="1">
                <a:solidFill>
                  <a:srgbClr val="FF0000"/>
                </a:solidFill>
              </a:rPr>
              <a:t>videoconferência </a:t>
            </a:r>
            <a:r>
              <a:rPr lang="pt-BR" sz="1800"/>
              <a:t>é uma ferramenta poderosa para se comunicar com outras pessoas.</a:t>
            </a:r>
            <a:endParaRPr lang="pt-BR" sz="18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800"/>
              <a:t>O vídeo está se tornando um </a:t>
            </a:r>
            <a:r>
              <a:rPr lang="pt-BR" sz="1800" b="1">
                <a:solidFill>
                  <a:srgbClr val="FF0000"/>
                </a:solidFill>
              </a:rPr>
              <a:t>requisito crítico</a:t>
            </a:r>
            <a:r>
              <a:rPr lang="pt-BR" sz="1800"/>
              <a:t> para uma colaboração eficaz.</a:t>
            </a:r>
            <a:endParaRPr lang="pt-BR" sz="18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800" b="1"/>
              <a:t>Cisco TelePresence</a:t>
            </a:r>
            <a:r>
              <a:rPr lang="pt-BR" sz="1800"/>
              <a:t> poderes é uma maneira de trabalhar onde todos, em todos os lugares</a:t>
            </a:r>
            <a:r>
              <a:rPr lang="pt-BR"/>
              <a:t>. </a:t>
            </a:r>
            <a:r>
              <a:rPr lang="pt-BR" sz="1800"/>
              <a:t> </a:t>
            </a:r>
            <a:endParaRPr lang="pt-BR" sz="1800"/>
          </a:p>
          <a:p>
            <a:pPr marL="0" indent="0" algn="just" rtl="0">
              <a:buFont typeface="Arial" panose="020B0604020202020204" pitchFamily="34" charset="0"/>
              <a:buChar char="•"/>
            </a:pPr>
            <a:endParaRPr lang="en-CA" altLang="en-US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rcRect l="2623" t="12883" r="5220" b="4569"/>
          <a:stretch>
            <a:fillRect/>
          </a:stretch>
        </p:blipFill>
        <p:spPr>
          <a:xfrm>
            <a:off x="4233545" y="1046480"/>
            <a:ext cx="4752975" cy="292544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630" y="41275"/>
            <a:ext cx="5892165" cy="989965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Computação em Nuvem (Cloud Computer)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917575"/>
            <a:ext cx="4634230" cy="322453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50"/>
              <a:t>A </a:t>
            </a:r>
            <a:r>
              <a:rPr lang="pt-BR" sz="1550" b="1">
                <a:solidFill>
                  <a:srgbClr val="FF0000"/>
                </a:solidFill>
              </a:rPr>
              <a:t>computação em nuvem</a:t>
            </a:r>
            <a:r>
              <a:rPr lang="pt-BR" sz="1550"/>
              <a:t> nos permite armazenar arquivos pessoais ou fazer backup de nossos dados em servidores pela Internet. </a:t>
            </a:r>
            <a:endParaRPr lang="pt-BR" sz="1550"/>
          </a:p>
          <a:p>
            <a:pPr lvl="1" algn="just" rtl="0"/>
            <a:r>
              <a:rPr lang="pt-BR" sz="1550"/>
              <a:t>Os aplicativos também podem ser acessados usando a Nuvem.</a:t>
            </a:r>
            <a:endParaRPr lang="pt-BR" sz="1550"/>
          </a:p>
          <a:p>
            <a:pPr lvl="1" algn="just" rtl="0"/>
            <a:r>
              <a:rPr lang="pt-BR" sz="1550"/>
              <a:t>Permite que as empresas entregem a qualquer dispositivo em qualquer lugar do mundo.</a:t>
            </a:r>
            <a:endParaRPr lang="en-CA" altLang="en-US" sz="1550" dirty="0"/>
          </a:p>
          <a:p>
            <a:pPr marL="0" indent="0" algn="just" rtl="0">
              <a:buNone/>
            </a:pPr>
            <a:r>
              <a:rPr lang="pt-BR" sz="1550"/>
              <a:t>A computação em nuvem é possível </a:t>
            </a:r>
            <a:r>
              <a:rPr lang="pt-BR" sz="1550" b="1">
                <a:solidFill>
                  <a:srgbClr val="FF0000"/>
                </a:solidFill>
              </a:rPr>
              <a:t>devido aos data centers</a:t>
            </a:r>
            <a:r>
              <a:rPr lang="pt-BR" sz="1550"/>
              <a:t>. </a:t>
            </a:r>
            <a:endParaRPr lang="pt-BR" sz="1550"/>
          </a:p>
          <a:p>
            <a:pPr lvl="1" algn="just" rtl="0"/>
            <a:r>
              <a:rPr lang="pt-BR" sz="1550"/>
              <a:t>Empresas menores que não podem arcar com seus próprios data centers, alugar serviços de armazenamento e servidor de maiores empresas de data center na nuvem.</a:t>
            </a:r>
            <a:endParaRPr lang="pt-BR" sz="1550"/>
          </a:p>
          <a:p>
            <a:pPr marL="0" indent="0" algn="just" rtl="0">
              <a:buNone/>
            </a:pPr>
            <a:endParaRPr lang="en-CA" altLang="en-US" sz="155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7615" r="8614" b="2707"/>
          <a:stretch>
            <a:fillRect/>
          </a:stretch>
        </p:blipFill>
        <p:spPr>
          <a:xfrm>
            <a:off x="4645025" y="917575"/>
            <a:ext cx="4315460" cy="36988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0" y="889000"/>
            <a:ext cx="4318635" cy="361632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400"/>
              <a:t>Quatro tipos de nuvens:</a:t>
            </a:r>
            <a:endParaRPr lang="pt-BR" sz="14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Nuvens Públicas</a:t>
            </a:r>
            <a:endParaRPr lang="pt-BR" sz="1400" b="1">
              <a:solidFill>
                <a:srgbClr val="FF000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/>
              <a:t>Disponível para o público em geral através de um modelo de pagamento por uso ou gratuitamente.</a:t>
            </a:r>
            <a:endParaRPr lang="pt-BR" sz="13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Nuvens Particulares/Privadas</a:t>
            </a:r>
            <a:endParaRPr lang="pt-BR" sz="1400" b="1">
              <a:solidFill>
                <a:srgbClr val="FF000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/>
              <a:t>Destinado a uma organização ou entidade específica, como o governo.</a:t>
            </a:r>
            <a:endParaRPr lang="pt-BR" sz="13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Nuvens Híbridas</a:t>
            </a:r>
            <a:endParaRPr lang="pt-BR" sz="1400" b="1">
              <a:solidFill>
                <a:srgbClr val="FF000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/>
              <a:t>Com dois ou mais tipos de nuvem – por exemplo, parte personalizada e parte pública. </a:t>
            </a:r>
            <a:endParaRPr lang="pt-BR" sz="13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Nuvens Personalizadas/Comunitárias</a:t>
            </a:r>
            <a:endParaRPr lang="pt-BR" sz="1400" b="1">
              <a:solidFill>
                <a:srgbClr val="FF000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/>
              <a:t>Criado para atender às necessidades de um setor específico, como assistência médica ou mídia. </a:t>
            </a:r>
            <a:endParaRPr lang="en-CA" altLang="en-US" sz="1400" dirty="0"/>
          </a:p>
          <a:p>
            <a:pPr lvl="1" algn="just"/>
            <a:endParaRPr lang="en-CA" altLang="en-US" sz="1400" dirty="0"/>
          </a:p>
          <a:p>
            <a:pPr lvl="1" algn="just"/>
            <a:endParaRPr lang="en-CA" altLang="en-US" sz="1400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7630" y="41275"/>
            <a:ext cx="7924800" cy="989965"/>
          </a:xfrm>
        </p:spPr>
        <p:txBody>
          <a:bodyPr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Computação em Nuvem (Cloud Computer - Continuação)</a:t>
            </a:r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rcRect l="5675" t="11811" r="4700" b="13600"/>
          <a:stretch>
            <a:fillRect/>
          </a:stretch>
        </p:blipFill>
        <p:spPr>
          <a:xfrm>
            <a:off x="4403090" y="1407160"/>
            <a:ext cx="4740910" cy="29591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Tendências Tecnológicas em Casa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86655" y="354330"/>
            <a:ext cx="4025900" cy="3240405"/>
          </a:xfrm>
        </p:spPr>
        <p:txBody>
          <a:bodyPr/>
          <a:lstStyle/>
          <a:p>
            <a:pPr marL="240030" lvl="1" indent="-208280" algn="just" rtl="0">
              <a:buFont typeface="Arial" panose="020B0604020202020204" pitchFamily="34" charset="0"/>
              <a:buChar char="•"/>
            </a:pPr>
            <a:r>
              <a:rPr lang="pt-BR" sz="1700"/>
              <a:t>A </a:t>
            </a:r>
            <a:r>
              <a:rPr lang="pt-BR" sz="1700" b="1">
                <a:solidFill>
                  <a:srgbClr val="FF0000"/>
                </a:solidFill>
              </a:rPr>
              <a:t>tecnologia residencial inteligente</a:t>
            </a:r>
            <a:r>
              <a:rPr lang="pt-BR" sz="1700"/>
              <a:t> é uma tendência crescente que permite a integração dela em dispositivos de uso diário e, assim, a interconexão com outros dispositivos.</a:t>
            </a:r>
            <a:endParaRPr lang="pt-BR" sz="1700"/>
          </a:p>
          <a:p>
            <a:pPr marL="240030" lvl="1" indent="-208280" algn="just" rtl="0">
              <a:buFont typeface="Arial" panose="020B0604020202020204" pitchFamily="34" charset="0"/>
              <a:buChar char="•"/>
            </a:pPr>
            <a:r>
              <a:rPr lang="pt-BR" sz="1700"/>
              <a:t>Os </a:t>
            </a:r>
            <a:r>
              <a:rPr lang="pt-BR" sz="1700" b="1"/>
              <a:t>fornos</a:t>
            </a:r>
            <a:r>
              <a:rPr lang="pt-BR" sz="1700"/>
              <a:t> podem saber a que horas deve ser preparada uma refeição para você ao comunicarem-se com a sua agenda sobre a hora agendada para você voltar para casa.</a:t>
            </a:r>
            <a:endParaRPr lang="pt-BR" sz="1700"/>
          </a:p>
          <a:p>
            <a:pPr marL="240030" lvl="1" indent="-208280" algn="just" rtl="0">
              <a:buFont typeface="Arial" panose="020B0604020202020204" pitchFamily="34" charset="0"/>
              <a:buChar char="•"/>
            </a:pPr>
            <a:r>
              <a:rPr lang="pt-BR" sz="1700"/>
              <a:t>Atualmente, a tecnologia de </a:t>
            </a:r>
            <a:r>
              <a:rPr lang="pt-BR" sz="1700" b="1">
                <a:solidFill>
                  <a:srgbClr val="FF0000"/>
                </a:solidFill>
              </a:rPr>
              <a:t>casa inteligente</a:t>
            </a:r>
            <a:r>
              <a:rPr lang="pt-BR" sz="1700"/>
              <a:t> está sendo desenvolvida para todos os cômodos de uma casa.</a:t>
            </a:r>
            <a:endParaRPr lang="pt-BR" sz="1700"/>
          </a:p>
          <a:p>
            <a:pPr lvl="1" algn="just"/>
            <a:endParaRPr lang="en-CA" altLang="en-US" sz="1700" dirty="0"/>
          </a:p>
          <a:p>
            <a:pPr lvl="1" algn="just"/>
            <a:endParaRPr lang="en-CA" altLang="en-US" sz="1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824345"/>
            <a:ext cx="4796178" cy="385209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Rede Powerline (Cai em desuso)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97805" y="283210"/>
            <a:ext cx="3662680" cy="3524250"/>
          </a:xfrm>
        </p:spPr>
        <p:txBody>
          <a:bodyPr/>
          <a:lstStyle/>
          <a:p>
            <a:pPr lvl="1" algn="just" rtl="0"/>
            <a:r>
              <a:rPr lang="pt-BR" sz="1600"/>
              <a:t>A </a:t>
            </a:r>
            <a:r>
              <a:rPr lang="pt-BR" sz="1600" b="1">
                <a:solidFill>
                  <a:srgbClr val="FF0000"/>
                </a:solidFill>
              </a:rPr>
              <a:t>rede Powerline</a:t>
            </a:r>
            <a:r>
              <a:rPr lang="pt-BR" sz="1600"/>
              <a:t> pode permitir que os dispositivos se conectem a uma LAN, onde os cabos de rede de dados ou comunicações sem fio não são uma opção viável.</a:t>
            </a:r>
            <a:endParaRPr lang="pt-BR" sz="1600"/>
          </a:p>
          <a:p>
            <a:pPr lvl="1" algn="just" rtl="0"/>
            <a:r>
              <a:rPr lang="pt-BR" sz="1600"/>
              <a:t>Usando um adaptador padrão powerline, os dispositivos podem se conectar à LAN onde quer que haja uma tomada elétrica ao enviar dados em determinadas frequências.</a:t>
            </a:r>
            <a:endParaRPr lang="pt-BR" sz="1600"/>
          </a:p>
          <a:p>
            <a:pPr lvl="1" algn="just" rtl="0"/>
            <a:r>
              <a:rPr lang="pt-BR" sz="1600"/>
              <a:t>A </a:t>
            </a:r>
            <a:r>
              <a:rPr lang="pt-BR" sz="1600" b="1"/>
              <a:t>rede Powerline</a:t>
            </a:r>
            <a:r>
              <a:rPr lang="pt-BR" sz="1600"/>
              <a:t> é especialmente útil quando os pontos de acesso sem fio não conseguem alcançar todos os dispositivos em casa.</a:t>
            </a:r>
            <a:endParaRPr lang="pt-BR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1129144"/>
            <a:ext cx="5354463" cy="284477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875536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Banda Larga Sem Fio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38725" y="360680"/>
            <a:ext cx="3862070" cy="4305935"/>
          </a:xfrm>
        </p:spPr>
        <p:txBody>
          <a:bodyPr/>
          <a:lstStyle/>
          <a:p>
            <a:pPr marL="142875" lvl="1" indent="0" algn="just" rtl="0">
              <a:buNone/>
            </a:pPr>
            <a:r>
              <a:rPr lang="pt-BR" sz="1450"/>
              <a:t>Além do </a:t>
            </a:r>
            <a:r>
              <a:rPr lang="pt-BR" sz="1450" b="1"/>
              <a:t>DSL </a:t>
            </a:r>
            <a:r>
              <a:rPr lang="pt-BR" sz="1450"/>
              <a:t>e do cabo, a </a:t>
            </a:r>
            <a:r>
              <a:rPr lang="pt-BR" sz="1450" b="1">
                <a:solidFill>
                  <a:srgbClr val="FF0000"/>
                </a:solidFill>
              </a:rPr>
              <a:t>conexão sem fio</a:t>
            </a:r>
            <a:r>
              <a:rPr lang="pt-BR" sz="1450"/>
              <a:t> é outra opção usada para conectar residências e pequenas empresas à Internet. </a:t>
            </a:r>
            <a:endParaRPr lang="pt-BR" sz="145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450"/>
              <a:t>Mais comumente encontrado em </a:t>
            </a:r>
            <a:r>
              <a:rPr lang="pt-BR" sz="1450" b="1">
                <a:solidFill>
                  <a:srgbClr val="FF0000"/>
                </a:solidFill>
              </a:rPr>
              <a:t>ambientes rurais</a:t>
            </a:r>
            <a:r>
              <a:rPr lang="pt-BR" sz="1450"/>
              <a:t>, um ISP sem fio (WISP) é um ISP que conecta os assinantes a designados access points ou hotspots. </a:t>
            </a:r>
            <a:endParaRPr lang="pt-BR" sz="145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450"/>
              <a:t>A </a:t>
            </a:r>
            <a:r>
              <a:rPr lang="pt-BR" sz="1450" b="1">
                <a:solidFill>
                  <a:srgbClr val="FF0000"/>
                </a:solidFill>
              </a:rPr>
              <a:t>banda larga sem fio</a:t>
            </a:r>
            <a:r>
              <a:rPr lang="pt-BR" sz="1450"/>
              <a:t> é outra solução para residências e pequenas empresas.</a:t>
            </a:r>
            <a:endParaRPr lang="pt-BR" sz="1450"/>
          </a:p>
          <a:p>
            <a:pPr lvl="3" algn="just" rtl="0">
              <a:buFont typeface="Arial" panose="020B0604020202020204" pitchFamily="34" charset="0"/>
              <a:buChar char="•"/>
            </a:pPr>
            <a:r>
              <a:rPr lang="pt-BR" sz="1450"/>
              <a:t>Usa a </a:t>
            </a:r>
            <a:r>
              <a:rPr lang="pt-BR" sz="1450" b="1">
                <a:solidFill>
                  <a:srgbClr val="FF0000"/>
                </a:solidFill>
              </a:rPr>
              <a:t>mesma tecnologia de celular de um Smartphone</a:t>
            </a:r>
            <a:r>
              <a:rPr lang="pt-BR" sz="1450"/>
              <a:t>.</a:t>
            </a:r>
            <a:endParaRPr lang="pt-BR" sz="1450"/>
          </a:p>
          <a:p>
            <a:pPr lvl="3" algn="just" rtl="0">
              <a:buFont typeface="Arial" panose="020B0604020202020204" pitchFamily="34" charset="0"/>
              <a:buChar char="•"/>
            </a:pPr>
            <a:r>
              <a:rPr lang="pt-BR" sz="1450"/>
              <a:t>Uma antena é instalada fora da residência, fornecendo conectividade com ou sem fio para dispositivos na casa.</a:t>
            </a:r>
            <a:endParaRPr lang="pt-BR" sz="145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" y="906780"/>
            <a:ext cx="4995545" cy="37369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1.8 Segurança de Rede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123043" cy="757551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Ameaças à Segurança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42205" y="513715"/>
            <a:ext cx="4018280" cy="3811270"/>
          </a:xfrm>
        </p:spPr>
        <p:txBody>
          <a:bodyPr/>
          <a:lstStyle/>
          <a:p>
            <a:pPr lvl="1" algn="just" rtl="0"/>
            <a:r>
              <a:rPr lang="pt-BR" sz="1600"/>
              <a:t>A </a:t>
            </a:r>
            <a:r>
              <a:rPr lang="pt-BR" sz="1600" b="1">
                <a:solidFill>
                  <a:srgbClr val="FF0000"/>
                </a:solidFill>
              </a:rPr>
              <a:t>Segurança de Rede</a:t>
            </a:r>
            <a:r>
              <a:rPr lang="pt-BR" sz="1600"/>
              <a:t> é parte integrante da rede, independentemente do tamanho dela.</a:t>
            </a:r>
            <a:endParaRPr lang="pt-BR" sz="1600"/>
          </a:p>
          <a:p>
            <a:pPr lvl="1" algn="just" rtl="0"/>
            <a:r>
              <a:rPr lang="pt-BR" sz="1600"/>
              <a:t>A </a:t>
            </a:r>
            <a:r>
              <a:rPr lang="pt-BR" sz="1600" b="1">
                <a:solidFill>
                  <a:srgbClr val="FF0000"/>
                </a:solidFill>
              </a:rPr>
              <a:t>segurança da rede implementada </a:t>
            </a:r>
            <a:r>
              <a:rPr lang="pt-BR" sz="1600"/>
              <a:t>deve levar em consideração o ambiente ao proteger os dados, mas ainda permitir a qualidade de serviço esperada da rede.</a:t>
            </a:r>
            <a:endParaRPr lang="pt-BR" sz="1600"/>
          </a:p>
          <a:p>
            <a:pPr lvl="1" algn="just" rtl="0"/>
            <a:r>
              <a:rPr lang="pt-BR" sz="1600"/>
              <a:t>Proteger uma rede </a:t>
            </a:r>
            <a:r>
              <a:rPr lang="pt-BR" sz="1600" b="1">
                <a:solidFill>
                  <a:srgbClr val="FF0000"/>
                </a:solidFill>
              </a:rPr>
              <a:t>envolve muitos protocolos, tecnologias, dispositivos, ferramentas e técnicas</a:t>
            </a:r>
            <a:r>
              <a:rPr lang="pt-BR" sz="1600"/>
              <a:t> para proteger dados e reduzir ameaças.</a:t>
            </a:r>
            <a:endParaRPr lang="pt-BR" sz="1600"/>
          </a:p>
          <a:p>
            <a:pPr lvl="1" algn="just" rtl="0"/>
            <a:r>
              <a:rPr lang="pt-BR" sz="1600"/>
              <a:t>Vetores de ameaça podem ser </a:t>
            </a:r>
            <a:r>
              <a:rPr lang="pt-BR" sz="1600" b="1">
                <a:solidFill>
                  <a:srgbClr val="FF0000"/>
                </a:solidFill>
              </a:rPr>
              <a:t>internos ou externos</a:t>
            </a:r>
            <a:r>
              <a:rPr lang="pt-BR" sz="1600"/>
              <a:t>.</a:t>
            </a:r>
            <a:endParaRPr lang="pt-BR" sz="160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7569" t="34568" r="14792" b="28765"/>
          <a:stretch>
            <a:fillRect/>
          </a:stretch>
        </p:blipFill>
        <p:spPr>
          <a:xfrm>
            <a:off x="87630" y="1357630"/>
            <a:ext cx="5031105" cy="27578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630" y="41275"/>
            <a:ext cx="5285105" cy="757555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Ameaças à Segurança (Continuação)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13960" y="614680"/>
            <a:ext cx="4043045" cy="4102100"/>
          </a:xfrm>
        </p:spPr>
        <p:txBody>
          <a:bodyPr/>
          <a:lstStyle/>
          <a:p>
            <a:pPr marL="142875" lvl="1" indent="0" rtl="0">
              <a:buNone/>
            </a:pPr>
            <a:r>
              <a:rPr lang="pt-BR" sz="1600" b="1">
                <a:solidFill>
                  <a:srgbClr val="FF0000"/>
                </a:solidFill>
              </a:rPr>
              <a:t>Ameaças Externas:</a:t>
            </a:r>
            <a:endParaRPr lang="pt-BR" sz="1600" b="1">
              <a:solidFill>
                <a:srgbClr val="FF0000"/>
              </a:solidFill>
            </a:endParaRPr>
          </a:p>
          <a:p>
            <a:pPr lvl="2" rtl="0"/>
            <a:r>
              <a:rPr lang="pt-BR" sz="1600"/>
              <a:t>Vírus, worms e cavalos de Troia</a:t>
            </a:r>
            <a:endParaRPr lang="pt-BR" sz="1600"/>
          </a:p>
          <a:p>
            <a:pPr lvl="2" rtl="0"/>
            <a:r>
              <a:rPr lang="pt-BR" sz="1600"/>
              <a:t>Spyware e adware</a:t>
            </a:r>
            <a:endParaRPr lang="pt-BR" sz="1600"/>
          </a:p>
          <a:p>
            <a:pPr lvl="2" rtl="0"/>
            <a:r>
              <a:rPr lang="pt-BR" sz="1600"/>
              <a:t>Ataques de dia zero</a:t>
            </a:r>
            <a:endParaRPr lang="pt-BR" sz="1600"/>
          </a:p>
          <a:p>
            <a:pPr lvl="2" rtl="0"/>
            <a:r>
              <a:rPr lang="pt-BR" sz="1600"/>
              <a:t>Ataques de Ator Ameaça</a:t>
            </a:r>
            <a:endParaRPr lang="pt-BR" sz="1600"/>
          </a:p>
          <a:p>
            <a:pPr lvl="2" rtl="0"/>
            <a:r>
              <a:rPr lang="pt-BR" sz="1600"/>
              <a:t>Ataques de negação de serviço</a:t>
            </a:r>
            <a:endParaRPr lang="pt-BR" sz="1600"/>
          </a:p>
          <a:p>
            <a:pPr lvl="2" rtl="0"/>
            <a:r>
              <a:rPr lang="pt-BR" sz="1600"/>
              <a:t>Interceptação e roubo de dados</a:t>
            </a:r>
            <a:endParaRPr lang="pt-BR" sz="1600"/>
          </a:p>
          <a:p>
            <a:pPr lvl="2" rtl="0"/>
            <a:r>
              <a:rPr lang="pt-BR" sz="1600"/>
              <a:t>Roubo de identidade</a:t>
            </a:r>
            <a:endParaRPr lang="en-CA" altLang="en-US" sz="1600" dirty="0"/>
          </a:p>
          <a:p>
            <a:pPr marL="142875" lvl="1" indent="0" rtl="0">
              <a:buNone/>
            </a:pPr>
            <a:r>
              <a:rPr lang="pt-BR" sz="1600" b="1">
                <a:solidFill>
                  <a:srgbClr val="FF0000"/>
                </a:solidFill>
              </a:rPr>
              <a:t>Ameaças Internas:</a:t>
            </a:r>
            <a:endParaRPr lang="pt-BR" sz="1600" b="1">
              <a:solidFill>
                <a:srgbClr val="FF0000"/>
              </a:solidFill>
            </a:endParaRPr>
          </a:p>
          <a:p>
            <a:pPr lvl="2" rtl="0"/>
            <a:r>
              <a:rPr lang="pt-BR" sz="1600"/>
              <a:t>dispositivos perdidos ou roubados</a:t>
            </a:r>
            <a:endParaRPr lang="pt-BR" sz="1600"/>
          </a:p>
          <a:p>
            <a:pPr lvl="2" rtl="0"/>
            <a:r>
              <a:rPr lang="pt-BR" sz="1600"/>
              <a:t>uso indevido acidental por funcionários</a:t>
            </a:r>
            <a:endParaRPr lang="pt-BR" sz="1600"/>
          </a:p>
          <a:p>
            <a:pPr lvl="2" rtl="0"/>
            <a:r>
              <a:rPr lang="pt-BR" sz="1600"/>
              <a:t>funcionários maliciosos</a:t>
            </a:r>
            <a:endParaRPr lang="pt-BR" sz="160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7569" t="34568" r="14792" b="28765"/>
          <a:stretch>
            <a:fillRect/>
          </a:stretch>
        </p:blipFill>
        <p:spPr>
          <a:xfrm>
            <a:off x="87630" y="1357630"/>
            <a:ext cx="5031105" cy="27578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261426" cy="757551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Soluções de Segurança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348480" y="917575"/>
            <a:ext cx="4633595" cy="311467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2000"/>
              <a:t>A segurança deve ser implementada em </a:t>
            </a:r>
            <a:r>
              <a:rPr lang="pt-BR" sz="2000" b="1">
                <a:solidFill>
                  <a:srgbClr val="FF0000"/>
                </a:solidFill>
              </a:rPr>
              <a:t>várias camadas</a:t>
            </a:r>
            <a:r>
              <a:rPr lang="pt-BR" sz="2000"/>
              <a:t>, com uso de mais de uma solução.</a:t>
            </a:r>
            <a:endParaRPr lang="pt-BR" sz="2000"/>
          </a:p>
          <a:p>
            <a:pPr marL="0" indent="0" algn="just" rtl="0">
              <a:buNone/>
            </a:pPr>
            <a:r>
              <a:rPr lang="pt-BR" sz="2000"/>
              <a:t>Componentes de segurança da rede doméstica ou da pequena empresa:</a:t>
            </a:r>
            <a:endParaRPr lang="pt-BR" sz="2000"/>
          </a:p>
          <a:p>
            <a:pPr lvl="2" algn="just" rtl="0"/>
            <a:r>
              <a:rPr lang="pt-BR" sz="2000"/>
              <a:t>O </a:t>
            </a:r>
            <a:r>
              <a:rPr lang="pt-BR" sz="2000" b="1">
                <a:solidFill>
                  <a:srgbClr val="FF0000"/>
                </a:solidFill>
              </a:rPr>
              <a:t>software antivírus e antispyware</a:t>
            </a:r>
            <a:r>
              <a:rPr lang="pt-BR" sz="2000"/>
              <a:t> deve ser instalado nos dispositivos finais.</a:t>
            </a:r>
            <a:endParaRPr lang="pt-BR" sz="2000"/>
          </a:p>
          <a:p>
            <a:pPr lvl="2" algn="just" rtl="0"/>
            <a:r>
              <a:rPr lang="pt-BR" sz="2000" b="1">
                <a:solidFill>
                  <a:srgbClr val="FF0000"/>
                </a:solidFill>
              </a:rPr>
              <a:t>Filtragem de firewall</a:t>
            </a:r>
            <a:r>
              <a:rPr lang="pt-BR" sz="2000"/>
              <a:t> usada para bloquear o acesso não autorizado à rede.</a:t>
            </a:r>
            <a:endParaRPr lang="pt-BR" sz="2000"/>
          </a:p>
          <a:p>
            <a:pPr marL="142875" lvl="1" indent="0" algn="just">
              <a:buNone/>
            </a:pPr>
            <a:endParaRPr lang="en-CA" altLang="en-US" sz="2000" dirty="0"/>
          </a:p>
          <a:p>
            <a:pPr marL="261620" lvl="2" indent="0" algn="just">
              <a:buNone/>
            </a:pPr>
            <a:endParaRPr lang="en-CA" alt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8" y="1058546"/>
            <a:ext cx="4261427" cy="351468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271645" y="912495"/>
            <a:ext cx="4784725" cy="3166745"/>
          </a:xfrm>
        </p:spPr>
        <p:txBody>
          <a:bodyPr/>
          <a:lstStyle/>
          <a:p>
            <a:pPr marL="142875" lvl="1" indent="0" algn="just" rtl="0">
              <a:buNone/>
            </a:pPr>
            <a:r>
              <a:rPr lang="pt-BR" sz="1800"/>
              <a:t>As redes maiores têm requisitos de segurança adicionais:</a:t>
            </a:r>
            <a:endParaRPr lang="pt-BR" sz="1800"/>
          </a:p>
          <a:p>
            <a:pPr lvl="2" algn="just" rtl="0"/>
            <a:r>
              <a:rPr lang="pt-BR" sz="1800" b="1">
                <a:solidFill>
                  <a:srgbClr val="FF0000"/>
                </a:solidFill>
              </a:rPr>
              <a:t>Sistema de firewall dedicado</a:t>
            </a:r>
            <a:endParaRPr lang="pt-BR" sz="1800" b="1">
              <a:solidFill>
                <a:srgbClr val="FF0000"/>
              </a:solidFill>
            </a:endParaRPr>
          </a:p>
          <a:p>
            <a:pPr lvl="2" algn="just" rtl="0"/>
            <a:r>
              <a:rPr lang="pt-BR" sz="1800" b="1">
                <a:solidFill>
                  <a:srgbClr val="FF0000"/>
                </a:solidFill>
              </a:rPr>
              <a:t>ACLs (Access control lists, listas de controle de acesso) </a:t>
            </a:r>
            <a:endParaRPr lang="pt-BR" sz="1800" b="1">
              <a:solidFill>
                <a:srgbClr val="FF0000"/>
              </a:solidFill>
            </a:endParaRPr>
          </a:p>
          <a:p>
            <a:pPr lvl="2" algn="just" rtl="0"/>
            <a:r>
              <a:rPr lang="pt-BR" sz="1800" b="1">
                <a:solidFill>
                  <a:srgbClr val="FF0000"/>
                </a:solidFill>
              </a:rPr>
              <a:t>IPS (Intrusion prevention systems, sistemas de prevenção de intrusão)</a:t>
            </a:r>
            <a:endParaRPr lang="pt-BR" sz="1800" b="1">
              <a:solidFill>
                <a:srgbClr val="FF0000"/>
              </a:solidFill>
            </a:endParaRPr>
          </a:p>
          <a:p>
            <a:pPr lvl="2" algn="just" rtl="0"/>
            <a:r>
              <a:rPr lang="pt-BR" sz="1800" b="1">
                <a:solidFill>
                  <a:srgbClr val="FF0000"/>
                </a:solidFill>
              </a:rPr>
              <a:t>Redes privadas virtuais (VPN)</a:t>
            </a:r>
            <a:endParaRPr lang="pt-BR" sz="1800" b="1">
              <a:solidFill>
                <a:srgbClr val="FF0000"/>
              </a:solidFill>
            </a:endParaRPr>
          </a:p>
          <a:p>
            <a:pPr marL="142875" lvl="1" indent="0" algn="just" rtl="0">
              <a:buNone/>
            </a:pPr>
            <a:r>
              <a:rPr lang="pt-BR" sz="1800"/>
              <a:t>O estudo da segurança de rede começa com um </a:t>
            </a:r>
            <a:r>
              <a:rPr lang="pt-BR" sz="1800" b="1"/>
              <a:t>entendimento claro da infra-estrutura</a:t>
            </a:r>
            <a:r>
              <a:rPr lang="pt-BR" sz="1800"/>
              <a:t> de comutação e roteamento subjacente.</a:t>
            </a:r>
            <a:endParaRPr lang="pt-BR" sz="1800"/>
          </a:p>
          <a:p>
            <a:pPr marL="261620" lvl="2" indent="0" algn="just" rtl="0">
              <a:buNone/>
            </a:pPr>
            <a:endParaRPr lang="en-CA" alt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1095970"/>
            <a:ext cx="4223989" cy="3483804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7630" y="41275"/>
            <a:ext cx="6308725" cy="757555"/>
          </a:xfrm>
        </p:spPr>
        <p:txBody>
          <a:bodyPr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Soluções de Segurança (Continuação)</a:t>
            </a:r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1.9 O Profissional de TI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371956" cy="965772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O profissional de TI</a:t>
            </a:r>
            <a:br>
              <a:rPr lang="pt-BR" sz="1600"/>
            </a:br>
            <a:r>
              <a:rPr lang="pt-BR"/>
              <a:t>A trilha do CCNA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459505" y="366990"/>
            <a:ext cx="3684495" cy="4272700"/>
          </a:xfrm>
        </p:spPr>
        <p:txBody>
          <a:bodyPr/>
          <a:lstStyle/>
          <a:p>
            <a:pPr marL="142875" lvl="1" indent="0" algn="just" rtl="0">
              <a:buNone/>
            </a:pPr>
            <a:r>
              <a:rPr lang="pt-BR"/>
              <a:t>A certificação </a:t>
            </a:r>
            <a:r>
              <a:rPr lang="pt-BR" b="1">
                <a:solidFill>
                  <a:srgbClr val="FF0000"/>
                </a:solidFill>
              </a:rPr>
              <a:t>Cisco Certified Network Associate (CCNA)</a:t>
            </a:r>
            <a:r>
              <a:rPr lang="pt-BR"/>
              <a:t>: </a:t>
            </a:r>
            <a:endParaRPr lang="pt-BR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/>
              <a:t>demonstra que você tem um conhecimento de tecnologias fundamentais </a:t>
            </a:r>
            <a:endParaRPr lang="pt-BR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/>
              <a:t>garante que você permaneça relevante com as habilidades necessárias para a adoção de tecnologias de próxima geração.</a:t>
            </a:r>
            <a:endParaRPr lang="pt-BR"/>
          </a:p>
          <a:p>
            <a:pPr marL="142875" lvl="1" indent="0" algn="just" rtl="0">
              <a:buNone/>
            </a:pPr>
            <a:r>
              <a:rPr lang="pt-BR"/>
              <a:t>O novo foco da </a:t>
            </a:r>
            <a:r>
              <a:rPr lang="pt-BR" b="1"/>
              <a:t>CCNA</a:t>
            </a:r>
            <a:r>
              <a:rPr lang="pt-BR"/>
              <a:t>:</a:t>
            </a:r>
            <a:endParaRPr lang="pt-BR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/>
              <a:t>Tópicos de base e segurança de IP</a:t>
            </a:r>
            <a:endParaRPr lang="pt-BR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b="1"/>
              <a:t>Wireless, virtualização, automação e programação de rede</a:t>
            </a:r>
            <a:r>
              <a:rPr lang="pt-BR"/>
              <a:t>. </a:t>
            </a:r>
            <a:endParaRPr lang="pt-BR"/>
          </a:p>
          <a:p>
            <a:pPr marL="142875" lvl="1" indent="0" algn="just" rtl="0">
              <a:buNone/>
            </a:pPr>
            <a:r>
              <a:rPr lang="pt-BR"/>
              <a:t>Novas certificações </a:t>
            </a:r>
            <a:r>
              <a:rPr lang="pt-BR" b="1">
                <a:solidFill>
                  <a:srgbClr val="FF0000"/>
                </a:solidFill>
              </a:rPr>
              <a:t>DevNet</a:t>
            </a:r>
            <a:r>
              <a:rPr lang="pt-BR"/>
              <a:t> nos níveis de associado, especialista e profissional para validar as habilidades de desenvolvimento de software.</a:t>
            </a:r>
            <a:endParaRPr lang="pt-BR"/>
          </a:p>
          <a:p>
            <a:pPr marL="142875" lvl="1" indent="0" algn="just" rtl="0">
              <a:buNone/>
            </a:pPr>
            <a:r>
              <a:rPr lang="pt-BR"/>
              <a:t>A certificação especializada valida suas habilidades de acordo com seu papel e interesses profissionais.</a:t>
            </a:r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4305"/>
          <a:stretch>
            <a:fillRect/>
          </a:stretch>
        </p:blipFill>
        <p:spPr>
          <a:xfrm>
            <a:off x="87630" y="805180"/>
            <a:ext cx="5530215" cy="318706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7389" r="17116"/>
          <a:stretch>
            <a:fillRect/>
          </a:stretch>
        </p:blipFill>
        <p:spPr>
          <a:xfrm>
            <a:off x="1534160" y="4042410"/>
            <a:ext cx="2637155" cy="11010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630" y="41275"/>
            <a:ext cx="7158355" cy="92583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O profissional de TI</a:t>
            </a:r>
            <a:br>
              <a:rPr lang="pt-BR" sz="1600">
                <a:sym typeface="+mn-ea"/>
              </a:rPr>
            </a:br>
            <a:r>
              <a:rPr lang="pt-BR"/>
              <a:t>Crreiras do Profissionais de TI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773295" y="1212850"/>
            <a:ext cx="4218305" cy="262636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800"/>
              <a:t>Em </a:t>
            </a:r>
            <a:r>
              <a:rPr lang="pt-BR" sz="1800">
                <a:hlinkClick r:id="rId1"/>
              </a:rPr>
              <a:t>www.netacad.com</a:t>
            </a:r>
            <a:r>
              <a:rPr lang="pt-BR" sz="1800"/>
              <a:t> você pode clicar no menu </a:t>
            </a:r>
            <a:r>
              <a:rPr lang="pt-BR" sz="1800" b="1"/>
              <a:t>Carreiras </a:t>
            </a:r>
            <a:r>
              <a:rPr lang="pt-BR" sz="1800"/>
              <a:t>e, em seguida, selecionar Oportunidades de emprego. </a:t>
            </a:r>
            <a:endParaRPr lang="pt-BR" sz="1800"/>
          </a:p>
          <a:p>
            <a:pPr lvl="1" algn="just" rtl="0"/>
            <a:r>
              <a:rPr lang="pt-BR" sz="1800"/>
              <a:t>Encontre oportunidades de emprego usando o Talent Bridge Matching Engine.</a:t>
            </a:r>
            <a:endParaRPr lang="pt-BR" sz="1800"/>
          </a:p>
          <a:p>
            <a:pPr lvl="1" algn="just" rtl="0"/>
            <a:r>
              <a:rPr lang="pt-BR" sz="1800"/>
              <a:t>Procure empregos na Cisco, parceiros e distribuidores da Cisco que procuram </a:t>
            </a:r>
            <a:r>
              <a:rPr lang="pt-BR" sz="1800" b="1">
                <a:solidFill>
                  <a:srgbClr val="FF0000"/>
                </a:solidFill>
              </a:rPr>
              <a:t>alunos e ex-alunos da Cisco Networking Academy</a:t>
            </a:r>
            <a:r>
              <a:rPr lang="pt-BR" sz="1800"/>
              <a:t>.</a:t>
            </a:r>
            <a:endParaRPr lang="pt-BR" sz="1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4" y="1238214"/>
            <a:ext cx="4643037" cy="293731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THUMBNAIL_REFRESH" val="1"/>
</p:tagLst>
</file>

<file path=ppt/tags/tag14.xml><?xml version="1.0" encoding="utf-8"?>
<p:tagLst xmlns:p="http://schemas.openxmlformats.org/presentationml/2006/main">
  <p:tag name="ARTICULATE_SLIDE_THUMBNAIL_REFRESH" val="1"/>
</p:tagLst>
</file>

<file path=ppt/tags/tag15.xml><?xml version="1.0" encoding="utf-8"?>
<p:tagLst xmlns:p="http://schemas.openxmlformats.org/presentationml/2006/main">
  <p:tag name="ARTICULATE_SLIDE_THUMBNAIL_REFRESH" val="1"/>
</p:tagLst>
</file>

<file path=ppt/tags/tag16.xml><?xml version="1.0" encoding="utf-8"?>
<p:tagLst xmlns:p="http://schemas.openxmlformats.org/presentationml/2006/main">
  <p:tag name="ARTICULATE_SLIDE_THUMBNAIL_REFRESH" val="1"/>
</p:tagLst>
</file>

<file path=ppt/tags/tag17.xml><?xml version="1.0" encoding="utf-8"?>
<p:tagLst xmlns:p="http://schemas.openxmlformats.org/presentationml/2006/main">
  <p:tag name="ARTICULATE_SLIDE_THUMBNAIL_REFRESH" val="1"/>
</p:tagLst>
</file>

<file path=ppt/tags/tag18.xml><?xml version="1.0" encoding="utf-8"?>
<p:tagLst xmlns:p="http://schemas.openxmlformats.org/presentationml/2006/main">
  <p:tag name="ARTICULATE_SLIDE_THUMBNAIL_REFRESH" val="1"/>
</p:tagLst>
</file>

<file path=ppt/tags/tag19.xml><?xml version="1.0" encoding="utf-8"?>
<p:tagLst xmlns:p="http://schemas.openxmlformats.org/presentationml/2006/main">
  <p:tag name="ARTICULATE_SLIDE_THUMBNAIL_REFRESH" val="1"/>
</p:tagLst>
</file>

<file path=ppt/tags/tag20.xml><?xml version="1.0" encoding="utf-8"?>
<p:tagLst xmlns:p="http://schemas.openxmlformats.org/presentationml/2006/main">
  <p:tag name="ARTICULATE_SLIDE_THUMBNAIL_REFRESH" val="1"/>
</p:tagLst>
</file>

<file path=ppt/tags/tag21.xml><?xml version="1.0" encoding="utf-8"?>
<p:tagLst xmlns:p="http://schemas.openxmlformats.org/presentationml/2006/main">
  <p:tag name="ARTICULATE_SLIDE_COUNT" val="71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17521</Words>
  <Application>WPS Presentation</Application>
  <PresentationFormat>On-screen Show (16:9)</PresentationFormat>
  <Paragraphs>501</Paragraphs>
  <Slides>49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9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Default Theme</vt:lpstr>
      <vt:lpstr>1_Default Theme</vt:lpstr>
      <vt:lpstr>Módulo 1: Introdução das Redes de Computadores de hoje</vt:lpstr>
      <vt:lpstr>1.1 Redes afetam nossas vidas</vt:lpstr>
      <vt:lpstr>PowerPoint 演示文稿</vt:lpstr>
      <vt:lpstr>1.2 Componentes de rede</vt:lpstr>
      <vt:lpstr>PowerPoint 演示文稿</vt:lpstr>
      <vt:lpstr>Componentes de rede Rede Ponto-a-Ponto (Básica/Simples)</vt:lpstr>
      <vt:lpstr>Componentes de rede Dispositivos Finais (Hosts/Endpoints)</vt:lpstr>
      <vt:lpstr>Componentes de rede Dispositivos de Rede Intermediários</vt:lpstr>
      <vt:lpstr>Componentes de rede Meio Físico de Rede</vt:lpstr>
      <vt:lpstr>1.3 Representações e Topologias de Rede</vt:lpstr>
      <vt:lpstr>Representações e Topologias de Rede Representações de Rede</vt:lpstr>
      <vt:lpstr>Representações e Topologias de Tede Diagramas de Topologia (Física e Lógica)</vt:lpstr>
      <vt:lpstr>1.4 Tipos comuns de redes</vt:lpstr>
      <vt:lpstr>Tipos comuns de Rede Vários Tamanhos das Redes</vt:lpstr>
      <vt:lpstr>Tipos comuns de redes LANs e WANs (as mais importantes)</vt:lpstr>
      <vt:lpstr>Tipos comuns de redes  LANs e WANs (continuação) </vt:lpstr>
      <vt:lpstr>Tipos comuns de redes A Internet</vt:lpstr>
      <vt:lpstr>Tipos comuns de Intranets, Extranets e Internet (Conceitos)</vt:lpstr>
      <vt:lpstr>1.5 Conexões à Internet</vt:lpstr>
      <vt:lpstr>Conexões à Internet Tecnologias de Acesso à Internet</vt:lpstr>
      <vt:lpstr>Conexões à Internet Conexões à Internet para residências e pequenos escritórios</vt:lpstr>
      <vt:lpstr>Conexões à Internet Conexões Corporativas com a Internet</vt:lpstr>
      <vt:lpstr>Conexões à Internet As Redes Convergentes</vt:lpstr>
      <vt:lpstr>Conexões à Internet As Redes Convergentes (Continuação)</vt:lpstr>
      <vt:lpstr>1.6 Redes confiáveis</vt:lpstr>
      <vt:lpstr>Rede confiável Arquitetura de Rede Atuais</vt:lpstr>
      <vt:lpstr>Rede confiável Tolerância ao Erro/Falhas</vt:lpstr>
      <vt:lpstr>Rede confiável Escalabilidade (Crescimento)</vt:lpstr>
      <vt:lpstr>Rede confiável Qualidade de Serviço (QoS)</vt:lpstr>
      <vt:lpstr>Rede confiável Segurança de Rede (Obrigatório)</vt:lpstr>
      <vt:lpstr>1.7 Tendências de rede</vt:lpstr>
      <vt:lpstr>Tendências de rede Tendências Recentes em Redes</vt:lpstr>
      <vt:lpstr>Tendências de rede Traga seu Próprio Aparelho (BYOD)</vt:lpstr>
      <vt:lpstr>Tendências de rede Colaboração Online</vt:lpstr>
      <vt:lpstr>Tendências de rede Comunicação por Vídeo (Call On-Line)</vt:lpstr>
      <vt:lpstr>Tendências de rede Computação em Nuvem (Cloud Computer)</vt:lpstr>
      <vt:lpstr>Tendências de rede Computação em Nuvem (Cloud Computer - Continuação)</vt:lpstr>
      <vt:lpstr>Tendências de rede Tendências Tecnológicas em Casa</vt:lpstr>
      <vt:lpstr>Tendências de rede Rede Powerline (Cai em desuso)</vt:lpstr>
      <vt:lpstr>Tendências de rede Banda Larga Sem Fio</vt:lpstr>
      <vt:lpstr>1.8 Segurança de rede</vt:lpstr>
      <vt:lpstr>Segurança de rede Ameaças à Segurança</vt:lpstr>
      <vt:lpstr>Segurança de rede Ameaças à Segurança (Continuação)</vt:lpstr>
      <vt:lpstr>Segurança de rede Soluções de Segurança</vt:lpstr>
      <vt:lpstr>Segurança de rede Soluções de Segurança (Continuação)</vt:lpstr>
      <vt:lpstr>1.9 O profissional de TI</vt:lpstr>
      <vt:lpstr>O profissional de TI A trilha do CCNA</vt:lpstr>
      <vt:lpstr>O profissional de TI Crreiras do Profissionais de TI</vt:lpstr>
      <vt:lpstr>PowerPoint 演示文稿</vt:lpstr>
    </vt:vector>
  </TitlesOfParts>
  <Company>Cisco Systems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vaamonde</cp:lastModifiedBy>
  <cp:revision>835</cp:revision>
  <dcterms:created xsi:type="dcterms:W3CDTF">2026-03-01T17:47:04Z</dcterms:created>
  <dcterms:modified xsi:type="dcterms:W3CDTF">2026-03-01T17:47:04Z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