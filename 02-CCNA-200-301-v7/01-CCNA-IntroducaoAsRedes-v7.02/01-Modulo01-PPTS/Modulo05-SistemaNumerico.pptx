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876" r:id="rId3"/>
    <p:sldId id="759" r:id="rId5"/>
    <p:sldId id="1054" r:id="rId6"/>
    <p:sldId id="1091" r:id="rId7"/>
    <p:sldId id="1092" r:id="rId8"/>
    <p:sldId id="1093" r:id="rId9"/>
    <p:sldId id="1094" r:id="rId10"/>
    <p:sldId id="1095" r:id="rId11"/>
    <p:sldId id="1096" r:id="rId12"/>
    <p:sldId id="1056" r:id="rId13"/>
    <p:sldId id="1097" r:id="rId14"/>
    <p:sldId id="1098" r:id="rId15"/>
    <p:sldId id="1100" r:id="rId16"/>
    <p:sldId id="1101" r:id="rId17"/>
    <p:sldId id="291" r:id="rId18"/>
  </p:sldIdLst>
  <p:sldSz cx="9144000" cy="5143500" type="screen16x9"/>
  <p:notesSz cx="6858000" cy="9144000"/>
  <p:custDataLst>
    <p:tags r:id="rId23"/>
  </p:custDataLst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arbara Reif" initials="BR" lastIdx="3" clrIdx="0"/>
  <p:cmAuthor id="1" name="Jane Gibbons -X (jagibbon - DEL ORO CONSULTING INC at Cisco)" initials="JG-(-DOCIaC" lastIdx="28" clrIdx="1"/>
  <p:cmAuthor id="2" name="Bob Vachon" initials="BV" lastIdx="24" clrIdx="2"/>
  <p:cmAuthor id="3" name="Sue Livingston -X (suliving - UNICON INC at Cisco)" initials="SL-(-UIaC" lastIdx="26" clrIdx="3"/>
  <p:cmAuthor id="4" name="jagibbon" initials="jmg" lastIdx="8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00CC"/>
    <a:srgbClr val="000099"/>
    <a:srgbClr val="CC99FF"/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34" autoAdjust="0"/>
    <p:restoredTop sz="86438" autoAdjust="0"/>
  </p:normalViewPr>
  <p:slideViewPr>
    <p:cSldViewPr snapToGrid="0" showGuides="1">
      <p:cViewPr varScale="1">
        <p:scale>
          <a:sx n="77" d="100"/>
          <a:sy n="77" d="100"/>
        </p:scale>
        <p:origin x="1160" y="48"/>
      </p:cViewPr>
      <p:guideLst>
        <p:guide orient="horz" pos="1610"/>
        <p:guide pos="336"/>
      </p:guideLst>
    </p:cSldViewPr>
  </p:slideViewPr>
  <p:outlineViewPr>
    <p:cViewPr>
      <p:scale>
        <a:sx n="33" d="100"/>
        <a:sy n="33" d="100"/>
      </p:scale>
      <p:origin x="0" y="-22670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11" d="100"/>
        <a:sy n="111" d="100"/>
      </p:scale>
      <p:origin x="0" y="-512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3" Type="http://schemas.openxmlformats.org/officeDocument/2006/relationships/tags" Target="tags/tag5.xml"/><Relationship Id="rId22" Type="http://schemas.openxmlformats.org/officeDocument/2006/relationships/commentAuthors" Target="commentAuthors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337D9-3022-3D41-8D8A-BDF2F3B0DD8E}" type="datetimeFigureOut">
              <a:rPr lang="en-US" smtClean="0"/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41018C-6CAF-B84E-B92C-ECB119457FBA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Programa da Cisco Networking Academy</a:t>
            </a:r>
            <a:endParaRPr lang="pt-BR"/>
          </a:p>
          <a:p>
            <a:pPr rtl="0"/>
            <a:r>
              <a:rPr lang="pt-BR"/>
              <a:t>Introdução às redes v7.0 (ITN)</a:t>
            </a:r>
            <a:endParaRPr lang="pt-BR"/>
          </a:p>
          <a:p>
            <a:pPr rtl="0"/>
            <a:r>
              <a:rPr lang="pt-BR"/>
              <a:t>Módulo 5: Sistemas numéricos</a:t>
            </a:r>
            <a:endParaRPr lang="pt-BR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Sistema Binário de Numeração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5.1.1 - Endereços Binários e IPv4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5.1.3 - Notação Posicional Binária</a:t>
            </a:r>
            <a:endParaRPr lang="pt-BR"/>
          </a:p>
          <a:p>
            <a:pPr rtl="0"/>
            <a:r>
              <a:rPr lang="pt-BR"/>
              <a:t>5.1.4 — Verifique o seu entendimento — Sistema Binário de Numeração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5.1.5 - Converter Binário para Decimal</a:t>
            </a:r>
            <a:endParaRPr lang="pt-BR"/>
          </a:p>
          <a:p>
            <a:pPr rtl="0"/>
            <a:r>
              <a:rPr lang="pt-BR"/>
              <a:t>5.1.6 - Atividade - conversões binárias em decimais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de numeração binário</a:t>
            </a:r>
            <a:endParaRPr lang="pt-BR"/>
          </a:p>
          <a:p>
            <a:pPr rtl="0"/>
            <a:r>
              <a:rPr lang="pt-BR"/>
              <a:t>5.1.7 - Conversão de Decimal para Binário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5.1.8 - Exemplo de Conversão de Decimal para Binário</a:t>
            </a:r>
            <a:endParaRPr lang="pt-BR"/>
          </a:p>
          <a:p>
            <a:pPr rtl="0"/>
            <a:r>
              <a:rPr lang="pt-BR"/>
              <a:t>5.1.9 - Atividade - Conversões decimais em binárias</a:t>
            </a:r>
            <a:endParaRPr lang="pt-BR"/>
          </a:p>
          <a:p>
            <a:pPr rtl="0"/>
            <a:r>
              <a:rPr lang="pt-BR"/>
              <a:t>5.1.10 - Atividade - Jogo Binário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5.1 - Sistema Binário de Numeração</a:t>
            </a:r>
            <a:endParaRPr lang="pt-BR"/>
          </a:p>
          <a:p>
            <a:pPr rtl="0"/>
            <a:r>
              <a:rPr lang="pt-BR"/>
              <a:t>5.1.11 — Endereços IPv4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5.2.1 - Endereços hexadecimais e IPv6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5.2.1 - Endereços hexadecimais e IPv6</a:t>
            </a:r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5.2.3 - </a:t>
            </a:r>
            <a:r>
              <a:rPr lang="pt-BR" sz="1200"/>
              <a:t>Conversões decimais em hexadecimais</a:t>
            </a:r>
            <a:endParaRPr lang="pt-BR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pt-BR"/>
              <a:t>5 - Sistemas Numéricos</a:t>
            </a:r>
            <a:endParaRPr lang="pt-BR"/>
          </a:p>
          <a:p>
            <a:pPr rtl="0"/>
            <a:r>
              <a:rPr lang="pt-BR"/>
              <a:t>5.2 - Sistema de numeração hexadecimal</a:t>
            </a:r>
            <a:endParaRPr lang="pt-BR"/>
          </a:p>
          <a:p>
            <a:pPr rtl="0"/>
            <a:r>
              <a:rPr lang="pt-BR"/>
              <a:t>5.2.4 - </a:t>
            </a:r>
            <a:r>
              <a:rPr lang="pt-BR" sz="1200"/>
              <a:t>Conversões decimais em hexadecimais</a:t>
            </a:r>
            <a:endParaRPr lang="pt-BR" sz="1200"/>
          </a:p>
          <a:p>
            <a:pPr rtl="0"/>
            <a:r>
              <a:rPr lang="pt-BR" sz="1200"/>
              <a:t>5.2.5 - Verifique o seu entendimento - Sistema de números hexadecimal</a:t>
            </a:r>
            <a:endParaRPr lang="pt-BR" sz="12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5641018C-6CAF-B84E-B92C-ECB119457FBA}" type="slidenum">
              <a:rPr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5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1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1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rgbClr val="004C69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accent1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chemeClr val="accent1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6_Title Slide-animated gradient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ubtitle 2"/>
          <p:cNvSpPr>
            <a:spLocks noGrp="1"/>
          </p:cNvSpPr>
          <p:nvPr>
            <p:ph type="subTitle" idx="1"/>
          </p:nvPr>
        </p:nvSpPr>
        <p:spPr>
          <a:xfrm>
            <a:off x="469496" y="3809526"/>
            <a:ext cx="4319105" cy="288131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>
              <a:buNone/>
              <a:defRPr sz="1200" b="0" i="0">
                <a:solidFill>
                  <a:schemeClr val="accent5"/>
                </a:solidFill>
                <a:latin typeface="+mn-lt"/>
                <a:cs typeface="CiscoSans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2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Text Placeholder 38"/>
          <p:cNvSpPr>
            <a:spLocks noGrp="1"/>
          </p:cNvSpPr>
          <p:nvPr>
            <p:ph type="body" sz="quarter" idx="11"/>
          </p:nvPr>
        </p:nvSpPr>
        <p:spPr>
          <a:xfrm>
            <a:off x="469496" y="4049523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8" name="Text Placeholder 40"/>
          <p:cNvSpPr>
            <a:spLocks noGrp="1"/>
          </p:cNvSpPr>
          <p:nvPr>
            <p:ph type="body" sz="quarter" idx="12"/>
          </p:nvPr>
        </p:nvSpPr>
        <p:spPr>
          <a:xfrm>
            <a:off x="469496" y="4289520"/>
            <a:ext cx="4319105" cy="28813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 algn="l">
              <a:buFontTx/>
              <a:buNone/>
              <a:defRPr lang="en-US" sz="1200" b="0" i="0" kern="1200" dirty="0" smtClean="0">
                <a:solidFill>
                  <a:schemeClr val="accent5"/>
                </a:solidFill>
                <a:latin typeface="+mn-lt"/>
                <a:ea typeface="+mn-ea"/>
                <a:cs typeface="CiscoSans ExtraLight" pitchFamily="34" charset="0"/>
              </a:defRPr>
            </a:lvl1pPr>
            <a:lvl2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2pPr>
            <a:lvl3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3pPr>
            <a:lvl4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4pPr>
            <a:lvl5pPr>
              <a:buFontTx/>
              <a:buNone/>
              <a:defRPr lang="en-US" sz="1500" kern="1200" dirty="0" smtClean="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492125" y="395288"/>
            <a:ext cx="796924" cy="423863"/>
            <a:chOff x="310" y="249"/>
            <a:chExt cx="502" cy="267"/>
          </a:xfrm>
          <a:solidFill>
            <a:schemeClr val="accent5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  <p:sp>
        <p:nvSpPr>
          <p:cNvPr id="29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63292" y="2872236"/>
            <a:ext cx="5925246" cy="299001"/>
          </a:xfrm>
          <a:prstGeom prst="rect">
            <a:avLst/>
          </a:prstGeom>
        </p:spPr>
        <p:txBody>
          <a:bodyPr lIns="91420" tIns="45710" rIns="91420" bIns="45710"/>
          <a:lstStyle>
            <a:lvl1pPr marL="0" indent="0">
              <a:buFont typeface="Arial" panose="020B0604020202020204" pitchFamily="34" charset="0"/>
              <a:buNone/>
              <a:defRPr sz="2000" baseline="0">
                <a:solidFill>
                  <a:schemeClr val="bg2"/>
                </a:solidFill>
                <a:latin typeface="+mj-lt"/>
              </a:defRPr>
            </a:lvl1pPr>
            <a:lvl2pPr marL="304800" indent="0">
              <a:buNone/>
              <a:defRPr/>
            </a:lvl2pPr>
            <a:lvl3pPr marL="427355" indent="0">
              <a:buNone/>
              <a:defRPr/>
            </a:lvl3pPr>
            <a:lvl4pPr marL="516890" indent="0">
              <a:buNone/>
              <a:defRPr/>
            </a:lvl4pPr>
            <a:lvl5pPr marL="601345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ctrTitle"/>
          </p:nvPr>
        </p:nvSpPr>
        <p:spPr>
          <a:xfrm>
            <a:off x="425765" y="2300750"/>
            <a:ext cx="5955513" cy="644730"/>
          </a:xfrm>
          <a:prstGeom prst="rect">
            <a:avLst/>
          </a:prstGeom>
        </p:spPr>
        <p:txBody>
          <a:bodyPr anchor="b"/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3600" b="0" i="0" spc="0" baseline="0">
                <a:solidFill>
                  <a:srgbClr val="38C6F4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Seg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16425" y="915409"/>
            <a:ext cx="7598042" cy="256994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Font typeface="Arial" panose="020B0604020202020204" pitchFamily="34" charset="0"/>
              <a:buNone/>
              <a:defRPr sz="4600" b="0" i="0" spc="0" baseline="0">
                <a:solidFill>
                  <a:schemeClr val="accent5"/>
                </a:solidFill>
                <a:latin typeface="+mj-lt"/>
                <a:cs typeface="CiscoSans Thin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Rectangle 7"/>
          <p:cNvSpPr>
            <a:spLocks noChangeArrowheads="1"/>
          </p:cNvSpPr>
          <p:nvPr userDrawn="1"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9" name="Rectangle 4"/>
          <p:cNvSpPr>
            <a:spLocks noChangeArrowheads="1"/>
          </p:cNvSpPr>
          <p:nvPr userDrawn="1"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5">
                    <a:lumMod val="50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5">
                  <a:lumMod val="50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11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rgbClr val="086D8E"/>
          </a:solidFill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3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4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5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ulti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4662" y="1347788"/>
            <a:ext cx="8280057" cy="3073946"/>
          </a:xfrm>
          <a:prstGeom prst="rect">
            <a:avLst/>
          </a:prstGeom>
        </p:spPr>
        <p:txBody>
          <a:bodyPr lIns="91420" tIns="45710" rIns="91420" bIns="45710">
            <a:noAutofit/>
          </a:bodyPr>
          <a:lstStyle>
            <a:lvl1pPr marL="285750" marR="0" indent="-28575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/>
              <a:buNone/>
              <a:defRPr sz="2000" b="0" i="0" baseline="0">
                <a:solidFill>
                  <a:schemeClr val="bg1"/>
                </a:solidFill>
                <a:latin typeface="+mn-lt"/>
                <a:cs typeface="CiscoSans ExtraLight"/>
              </a:defRPr>
            </a:lvl1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Title Placeholder 5"/>
          <p:cNvSpPr>
            <a:spLocks noGrp="1"/>
          </p:cNvSpPr>
          <p:nvPr>
            <p:ph type="title"/>
          </p:nvPr>
        </p:nvSpPr>
        <p:spPr bwMode="auto">
          <a:xfrm>
            <a:off x="437766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0" y="2552550"/>
            <a:ext cx="698624" cy="698624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426607"/>
            <a:ext cx="698624" cy="698624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bg1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0" y="3653093"/>
            <a:ext cx="698624" cy="698624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solidFill>
                <a:srgbClr val="049FD9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365250" y="1432522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365250" y="25577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365250" y="3653093"/>
            <a:ext cx="5473700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0" y="2552550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1" y="3651140"/>
            <a:ext cx="698624" cy="693381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575610" y="1427248"/>
            <a:ext cx="698624" cy="693381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4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Oval 1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24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5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6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27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28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2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13" name="Oval 12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4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6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17" name="Oval 16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4000" dirty="0">
              <a:ln>
                <a:solidFill>
                  <a:schemeClr val="bg2"/>
                </a:solidFill>
              </a:ln>
              <a:solidFill>
                <a:schemeClr val="accent5"/>
              </a:solidFill>
              <a:cs typeface="Arial" panose="020B0604020202020204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5678748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2000" b="0" i="0" baseline="0">
                <a:solidFill>
                  <a:schemeClr val="accent1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19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20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ircled_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4C6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2" name="Oval 41"/>
          <p:cNvSpPr/>
          <p:nvPr/>
        </p:nvSpPr>
        <p:spPr>
          <a:xfrm>
            <a:off x="575611" y="1979318"/>
            <a:ext cx="464815" cy="464815"/>
          </a:xfrm>
          <a:prstGeom prst="ellipse">
            <a:avLst/>
          </a:prstGeom>
          <a:solidFill>
            <a:srgbClr val="38C6F4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575610" y="1328927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rgbClr val="FFFFFF"/>
              </a:solidFill>
              <a:cs typeface="Arial" panose="020B0604020202020204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575611" y="2627446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45" name="Text Placeholder 17"/>
          <p:cNvSpPr>
            <a:spLocks noGrp="1"/>
          </p:cNvSpPr>
          <p:nvPr>
            <p:ph type="body" sz="quarter" idx="13"/>
          </p:nvPr>
        </p:nvSpPr>
        <p:spPr>
          <a:xfrm>
            <a:off x="1172384" y="133484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6" name="Text Placeholder 17"/>
          <p:cNvSpPr>
            <a:spLocks noGrp="1"/>
          </p:cNvSpPr>
          <p:nvPr>
            <p:ph type="body" sz="quarter" idx="14"/>
          </p:nvPr>
        </p:nvSpPr>
        <p:spPr>
          <a:xfrm>
            <a:off x="1172385" y="198456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7" name="Text Placeholder 17"/>
          <p:cNvSpPr>
            <a:spLocks noGrp="1"/>
          </p:cNvSpPr>
          <p:nvPr>
            <p:ph type="body" sz="quarter" idx="15"/>
          </p:nvPr>
        </p:nvSpPr>
        <p:spPr>
          <a:xfrm>
            <a:off x="1172385" y="262744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8" name="Text Placeholder 17"/>
          <p:cNvSpPr>
            <a:spLocks noGrp="1"/>
          </p:cNvSpPr>
          <p:nvPr>
            <p:ph type="body" sz="quarter" idx="16" hasCustomPrompt="1"/>
          </p:nvPr>
        </p:nvSpPr>
        <p:spPr>
          <a:xfrm>
            <a:off x="575611" y="1327521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</a:t>
            </a:r>
            <a:endParaRPr lang="en-US" dirty="0"/>
          </a:p>
        </p:txBody>
      </p:sp>
      <p:sp>
        <p:nvSpPr>
          <p:cNvPr id="49" name="Text Placeholder 17"/>
          <p:cNvSpPr>
            <a:spLocks noGrp="1"/>
          </p:cNvSpPr>
          <p:nvPr>
            <p:ph type="body" sz="quarter" idx="17" hasCustomPrompt="1"/>
          </p:nvPr>
        </p:nvSpPr>
        <p:spPr>
          <a:xfrm>
            <a:off x="575611" y="197931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2</a:t>
            </a:r>
            <a:endParaRPr lang="en-US" dirty="0"/>
          </a:p>
        </p:txBody>
      </p:sp>
      <p:sp>
        <p:nvSpPr>
          <p:cNvPr id="50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575612" y="262549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3</a:t>
            </a:r>
            <a:endParaRPr lang="en-US" dirty="0"/>
          </a:p>
        </p:txBody>
      </p:sp>
      <p:sp>
        <p:nvSpPr>
          <p:cNvPr id="51" name="Oval 50"/>
          <p:cNvSpPr/>
          <p:nvPr/>
        </p:nvSpPr>
        <p:spPr>
          <a:xfrm>
            <a:off x="575612" y="3274581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2" name="Text Placeholder 17"/>
          <p:cNvSpPr>
            <a:spLocks noGrp="1"/>
          </p:cNvSpPr>
          <p:nvPr>
            <p:ph type="body" sz="quarter" idx="19"/>
          </p:nvPr>
        </p:nvSpPr>
        <p:spPr>
          <a:xfrm>
            <a:off x="1172386" y="3274581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3" name="Text Placeholder 17"/>
          <p:cNvSpPr>
            <a:spLocks noGrp="1"/>
          </p:cNvSpPr>
          <p:nvPr>
            <p:ph type="body" sz="quarter" idx="20" hasCustomPrompt="1"/>
          </p:nvPr>
        </p:nvSpPr>
        <p:spPr>
          <a:xfrm>
            <a:off x="575613" y="3272628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4</a:t>
            </a:r>
            <a:endParaRPr lang="en-US" dirty="0"/>
          </a:p>
        </p:txBody>
      </p:sp>
      <p:sp>
        <p:nvSpPr>
          <p:cNvPr id="54" name="Oval 53"/>
          <p:cNvSpPr/>
          <p:nvPr/>
        </p:nvSpPr>
        <p:spPr>
          <a:xfrm>
            <a:off x="575613" y="3921716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5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72387" y="3921716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6" name="Text Placeholder 17"/>
          <p:cNvSpPr>
            <a:spLocks noGrp="1"/>
          </p:cNvSpPr>
          <p:nvPr>
            <p:ph type="body" sz="quarter" idx="22" hasCustomPrompt="1"/>
          </p:nvPr>
        </p:nvSpPr>
        <p:spPr>
          <a:xfrm>
            <a:off x="575614" y="3919763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5</a:t>
            </a:r>
            <a:endParaRPr lang="en-US" dirty="0"/>
          </a:p>
        </p:txBody>
      </p:sp>
      <p:sp>
        <p:nvSpPr>
          <p:cNvPr id="57" name="Oval 56"/>
          <p:cNvSpPr/>
          <p:nvPr/>
        </p:nvSpPr>
        <p:spPr>
          <a:xfrm>
            <a:off x="4414576" y="1983084"/>
            <a:ext cx="464815" cy="464815"/>
          </a:xfrm>
          <a:prstGeom prst="ellipse">
            <a:avLst/>
          </a:prstGeom>
          <a:solidFill>
            <a:schemeClr val="accent6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414575" y="1332693"/>
            <a:ext cx="464815" cy="464815"/>
          </a:xfrm>
          <a:prstGeom prst="ellipse">
            <a:avLst/>
          </a:prstGeom>
          <a:solidFill>
            <a:srgbClr val="00394F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4414576" y="2631212"/>
            <a:ext cx="464815" cy="464815"/>
          </a:xfrm>
          <a:prstGeom prst="ellipse">
            <a:avLst/>
          </a:prstGeom>
          <a:solidFill>
            <a:schemeClr val="accent5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0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011349" y="1338608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1" name="Text Placeholder 17"/>
          <p:cNvSpPr>
            <a:spLocks noGrp="1"/>
          </p:cNvSpPr>
          <p:nvPr>
            <p:ph type="body" sz="quarter" idx="24"/>
          </p:nvPr>
        </p:nvSpPr>
        <p:spPr>
          <a:xfrm>
            <a:off x="5011350" y="198832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2" name="Text Placeholder 17"/>
          <p:cNvSpPr>
            <a:spLocks noGrp="1"/>
          </p:cNvSpPr>
          <p:nvPr>
            <p:ph type="body" sz="quarter" idx="25"/>
          </p:nvPr>
        </p:nvSpPr>
        <p:spPr>
          <a:xfrm>
            <a:off x="5011350" y="263121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3" name="Text Placeholder 17"/>
          <p:cNvSpPr>
            <a:spLocks noGrp="1"/>
          </p:cNvSpPr>
          <p:nvPr>
            <p:ph type="body" sz="quarter" idx="26" hasCustomPrompt="1"/>
          </p:nvPr>
        </p:nvSpPr>
        <p:spPr>
          <a:xfrm>
            <a:off x="4414576" y="1331287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6</a:t>
            </a:r>
            <a:endParaRPr lang="en-US" dirty="0"/>
          </a:p>
        </p:txBody>
      </p:sp>
      <p:sp>
        <p:nvSpPr>
          <p:cNvPr id="64" name="Text Placeholder 17"/>
          <p:cNvSpPr>
            <a:spLocks noGrp="1"/>
          </p:cNvSpPr>
          <p:nvPr>
            <p:ph type="body" sz="quarter" idx="27" hasCustomPrompt="1"/>
          </p:nvPr>
        </p:nvSpPr>
        <p:spPr>
          <a:xfrm>
            <a:off x="4414576" y="198308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7</a:t>
            </a:r>
            <a:endParaRPr lang="en-US" dirty="0"/>
          </a:p>
        </p:txBody>
      </p:sp>
      <p:sp>
        <p:nvSpPr>
          <p:cNvPr id="65" name="Text Placeholder 17"/>
          <p:cNvSpPr>
            <a:spLocks noGrp="1"/>
          </p:cNvSpPr>
          <p:nvPr>
            <p:ph type="body" sz="quarter" idx="28" hasCustomPrompt="1"/>
          </p:nvPr>
        </p:nvSpPr>
        <p:spPr>
          <a:xfrm>
            <a:off x="4414577" y="262925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8</a:t>
            </a:r>
            <a:endParaRPr lang="en-US" dirty="0"/>
          </a:p>
        </p:txBody>
      </p:sp>
      <p:sp>
        <p:nvSpPr>
          <p:cNvPr id="66" name="Oval 65"/>
          <p:cNvSpPr/>
          <p:nvPr/>
        </p:nvSpPr>
        <p:spPr>
          <a:xfrm>
            <a:off x="4414577" y="3278347"/>
            <a:ext cx="464815" cy="464815"/>
          </a:xfrm>
          <a:prstGeom prst="ellipse">
            <a:avLst/>
          </a:prstGeom>
          <a:solidFill>
            <a:schemeClr val="bg2"/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67" name="Text Placeholder 17"/>
          <p:cNvSpPr>
            <a:spLocks noGrp="1"/>
          </p:cNvSpPr>
          <p:nvPr>
            <p:ph type="body" sz="quarter" idx="29"/>
          </p:nvPr>
        </p:nvSpPr>
        <p:spPr>
          <a:xfrm>
            <a:off x="5011351" y="3278347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8" name="Text Placeholder 17"/>
          <p:cNvSpPr>
            <a:spLocks noGrp="1"/>
          </p:cNvSpPr>
          <p:nvPr>
            <p:ph type="body" sz="quarter" idx="30" hasCustomPrompt="1"/>
          </p:nvPr>
        </p:nvSpPr>
        <p:spPr>
          <a:xfrm>
            <a:off x="4414578" y="3276394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9</a:t>
            </a:r>
            <a:endParaRPr lang="en-US" dirty="0"/>
          </a:p>
        </p:txBody>
      </p:sp>
      <p:sp>
        <p:nvSpPr>
          <p:cNvPr id="69" name="Oval 68"/>
          <p:cNvSpPr/>
          <p:nvPr/>
        </p:nvSpPr>
        <p:spPr>
          <a:xfrm>
            <a:off x="4414578" y="3925482"/>
            <a:ext cx="464815" cy="464815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90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91440" rtlCol="0" anchor="ctr" anchorCtr="0"/>
          <a:lstStyle/>
          <a:p>
            <a:pPr algn="ctr"/>
            <a:endParaRPr lang="en-US" sz="1800" dirty="0">
              <a:ln>
                <a:solidFill>
                  <a:schemeClr val="bg2"/>
                </a:solidFill>
              </a:ln>
              <a:solidFill>
                <a:schemeClr val="bg2"/>
              </a:solidFill>
              <a:cs typeface="Arial" panose="020B0604020202020204"/>
            </a:endParaRPr>
          </a:p>
        </p:txBody>
      </p:sp>
      <p:sp>
        <p:nvSpPr>
          <p:cNvPr id="70" name="Text Placeholder 17"/>
          <p:cNvSpPr>
            <a:spLocks noGrp="1"/>
          </p:cNvSpPr>
          <p:nvPr>
            <p:ph type="body" sz="quarter" idx="31"/>
          </p:nvPr>
        </p:nvSpPr>
        <p:spPr>
          <a:xfrm>
            <a:off x="5011352" y="3925482"/>
            <a:ext cx="2175886" cy="461327"/>
          </a:xfrm>
          <a:prstGeom prst="rect">
            <a:avLst/>
          </a:prstGeom>
        </p:spPr>
        <p:txBody>
          <a:bodyPr lIns="91420" tIns="45710" rIns="91420" bIns="45710" anchor="ctr" anchorCtr="0">
            <a:noAutofit/>
          </a:bodyPr>
          <a:lstStyle>
            <a:lvl1pPr marL="0" indent="0" algn="l">
              <a:buNone/>
              <a:defRPr sz="1800" b="0" i="0" baseline="0">
                <a:solidFill>
                  <a:srgbClr val="004C69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71" name="Text Placeholder 17"/>
          <p:cNvSpPr>
            <a:spLocks noGrp="1"/>
          </p:cNvSpPr>
          <p:nvPr>
            <p:ph type="body" sz="quarter" idx="32" hasCustomPrompt="1"/>
          </p:nvPr>
        </p:nvSpPr>
        <p:spPr>
          <a:xfrm>
            <a:off x="4414579" y="3923529"/>
            <a:ext cx="464815" cy="461327"/>
          </a:xfrm>
          <a:prstGeom prst="rect">
            <a:avLst/>
          </a:prstGeom>
          <a:noFill/>
          <a:ln>
            <a:noFill/>
          </a:ln>
        </p:spPr>
        <p:txBody>
          <a:bodyPr lIns="91420" tIns="45710" rIns="91420" bIns="45710" anchor="ctr" anchorCtr="0">
            <a:noAutofit/>
          </a:bodyPr>
          <a:lstStyle>
            <a:lvl1pPr marL="0" indent="0" algn="ctr">
              <a:buNone/>
              <a:defRPr sz="1800" b="0" i="0" baseline="0">
                <a:ln>
                  <a:solidFill>
                    <a:srgbClr val="FFFFFF"/>
                  </a:solidFill>
                </a:ln>
                <a:solidFill>
                  <a:srgbClr val="FFFFFF"/>
                </a:solidFill>
                <a:latin typeface="+mn-lt"/>
                <a:cs typeface="CiscoSans ExtraLight"/>
              </a:defRPr>
            </a:lvl1pPr>
            <a:lvl2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2pPr>
            <a:lvl3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3pPr>
            <a:lvl4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4pPr>
            <a:lvl5pPr>
              <a:defRPr b="0" i="0">
                <a:solidFill>
                  <a:srgbClr val="FFFFFF"/>
                </a:solidFill>
                <a:latin typeface="CiscoSans ExtraLight"/>
                <a:cs typeface="CiscoSans ExtraLight"/>
              </a:defRPr>
            </a:lvl5pPr>
          </a:lstStyle>
          <a:p>
            <a:pPr lvl="0"/>
            <a:r>
              <a:rPr lang="en-US" dirty="0"/>
              <a:t>10</a:t>
            </a:r>
            <a:endParaRPr lang="en-US" dirty="0"/>
          </a:p>
        </p:txBody>
      </p:sp>
    </p:spTree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1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"/>
            <a:ext cx="9143999" cy="5165874"/>
          </a:xfrm>
          <a:prstGeom prst="rect">
            <a:avLst/>
          </a:prstGeom>
        </p:spPr>
      </p:pic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394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5"/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3_Closing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>
            <a:grpSpLocks noChangeAspect="1"/>
          </p:cNvGrpSpPr>
          <p:nvPr userDrawn="1"/>
        </p:nvGrpSpPr>
        <p:grpSpPr bwMode="auto">
          <a:xfrm>
            <a:off x="3746294" y="2129856"/>
            <a:ext cx="1617944" cy="860542"/>
            <a:chOff x="310" y="249"/>
            <a:chExt cx="502" cy="267"/>
          </a:xfrm>
          <a:solidFill>
            <a:schemeClr val="accent1">
              <a:lumMod val="75000"/>
            </a:schemeClr>
          </a:solidFill>
        </p:grpSpPr>
        <p:sp>
          <p:nvSpPr>
            <p:cNvPr id="5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2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3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Ovr>
    <a:masterClrMapping/>
  </p:clrMapOvr>
  <p:transition spd="slow">
    <p:wip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6"/>
          <p:cNvSpPr>
            <a:spLocks noGrp="1"/>
          </p:cNvSpPr>
          <p:nvPr>
            <p:ph type="sldNum" sz="quarter" idx="4"/>
          </p:nvPr>
        </p:nvSpPr>
        <p:spPr>
          <a:xfrm>
            <a:off x="8473441" y="4954263"/>
            <a:ext cx="676910" cy="1892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25">
                <a:solidFill>
                  <a:schemeClr val="tx2"/>
                </a:solidFill>
              </a:defRPr>
            </a:lvl1pPr>
          </a:lstStyle>
          <a:p>
            <a:pPr defTabSz="386080">
              <a:defRPr/>
            </a:pPr>
            <a:fld id="{2F5CCB13-0A32-4557-88E9-079F0C330695}" type="slidenum">
              <a:rPr lang="en-US" kern="0" smtClean="0">
                <a:solidFill>
                  <a:srgbClr val="595959"/>
                </a:solidFill>
              </a:rPr>
            </a:fld>
            <a:endParaRPr lang="en-US" kern="0" dirty="0">
              <a:solidFill>
                <a:srgbClr val="595959"/>
              </a:solidFill>
            </a:endParaRPr>
          </a:p>
        </p:txBody>
      </p:sp>
      <p:sp>
        <p:nvSpPr>
          <p:cNvPr id="5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144065" y="798944"/>
            <a:ext cx="8853286" cy="4155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182880" bIns="45720" numCol="1" anchor="t" anchorCtr="0" compatLnSpc="1"/>
          <a:lstStyle>
            <a:lvl1pPr marL="170180" indent="-17018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>
                <a:solidFill>
                  <a:srgbClr val="000000"/>
                </a:solidFill>
              </a:defRPr>
            </a:lvl1pPr>
            <a:lvl2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2pPr>
            <a:lvl3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3pPr>
            <a:lvl4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>
                <a:solidFill>
                  <a:srgbClr val="000000"/>
                </a:solidFill>
              </a:defRPr>
            </a:lvl4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text styles</a:t>
            </a:r>
            <a:endParaRPr lang="en-US">
              <a:sym typeface="Arial" panose="020B0604020202020204" pitchFamily="34" charset="0"/>
            </a:endParaRPr>
          </a:p>
          <a:p>
            <a:pPr lvl="1"/>
            <a:r>
              <a:rPr lang="en-US">
                <a:sym typeface="Arial" panose="020B0604020202020204" pitchFamily="34" charset="0"/>
              </a:rPr>
              <a:t>Second level</a:t>
            </a:r>
            <a:endParaRPr lang="en-US">
              <a:sym typeface="Arial" panose="020B0604020202020204" pitchFamily="34" charset="0"/>
            </a:endParaRPr>
          </a:p>
          <a:p>
            <a:pPr lvl="2"/>
            <a:r>
              <a:rPr lang="en-US">
                <a:sym typeface="Arial" panose="020B0604020202020204" pitchFamily="34" charset="0"/>
              </a:rPr>
              <a:t>Third level</a:t>
            </a:r>
            <a:endParaRPr lang="en-US">
              <a:sym typeface="Arial" panose="020B0604020202020204" pitchFamily="34" charset="0"/>
            </a:endParaRPr>
          </a:p>
          <a:p>
            <a:pPr lvl="3"/>
            <a:r>
              <a:rPr lang="en-US">
                <a:sym typeface="Arial" panose="020B0604020202020204" pitchFamily="34" charset="0"/>
              </a:rPr>
              <a:t>Fourth level</a:t>
            </a:r>
            <a:endParaRPr lang="en-US">
              <a:sym typeface="Arial" panose="020B0604020202020204" pitchFamily="34" charset="0"/>
            </a:endParaRP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41393"/>
            <a:ext cx="9144000" cy="757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/>
            </a:lvl1pPr>
          </a:lstStyle>
          <a:p>
            <a:pPr lvl="0"/>
            <a:r>
              <a:rPr lang="en-US">
                <a:sym typeface="Arial" panose="020B0604020202020204" pitchFamily="34" charset="0"/>
              </a:rPr>
              <a:t>Click to edit Master title style</a:t>
            </a:r>
            <a:endParaRPr lang="en-US" dirty="0"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5"/>
          <p:cNvSpPr>
            <a:spLocks noGrp="1"/>
          </p:cNvSpPr>
          <p:nvPr>
            <p:ph type="title"/>
          </p:nvPr>
        </p:nvSpPr>
        <p:spPr bwMode="auto">
          <a:xfrm>
            <a:off x="438150" y="341313"/>
            <a:ext cx="8345488" cy="731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24" tIns="45712" rIns="91424" bIns="45712" numCol="1" anchor="ctr" anchorCtr="0" compatLnSpc="1"/>
          <a:lstStyle/>
          <a:p>
            <a:pPr lvl="0"/>
            <a:r>
              <a:rPr lang="en-GB" altLang="en-US" dirty="0"/>
              <a:t>Title Goes Here</a:t>
            </a:r>
            <a:endParaRPr lang="en-GB" altLang="en-US" dirty="0"/>
          </a:p>
        </p:txBody>
      </p:sp>
      <p:sp>
        <p:nvSpPr>
          <p:cNvPr id="12" name="Rectangle 7"/>
          <p:cNvSpPr>
            <a:spLocks noChangeArrowheads="1"/>
          </p:cNvSpPr>
          <p:nvPr/>
        </p:nvSpPr>
        <p:spPr bwMode="ltGray">
          <a:xfrm>
            <a:off x="8515707" y="4742907"/>
            <a:ext cx="218414" cy="154518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none" lIns="61586" tIns="30792" rIns="61586" bIns="30792" anchor="b">
            <a:spAutoFit/>
          </a:bodyPr>
          <a:lstStyle/>
          <a:p>
            <a:pPr algn="r"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fld id="{6A1E46DC-7EF6-4EA2-B285-14272867D133}" type="slidenum">
              <a:rPr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</a:fld>
            <a:endParaRPr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sp>
        <p:nvSpPr>
          <p:cNvPr id="13" name="Rectangle 4"/>
          <p:cNvSpPr>
            <a:spLocks noChangeArrowheads="1"/>
          </p:cNvSpPr>
          <p:nvPr/>
        </p:nvSpPr>
        <p:spPr bwMode="ltGray">
          <a:xfrm>
            <a:off x="5867508" y="4741653"/>
            <a:ext cx="2658018" cy="154518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lIns="61586" tIns="30792" rIns="61586" bIns="30792" anchor="b">
            <a:spAutoFit/>
          </a:bodyPr>
          <a:lstStyle/>
          <a:p>
            <a:pPr defTabSz="610870" rtl="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pt-BR" sz="600">
                <a:solidFill>
                  <a:schemeClr val="accent3">
                    <a:lumMod val="85000"/>
                  </a:schemeClr>
                </a:solidFill>
                <a:latin typeface="+mn-lt"/>
                <a:ea typeface="+mn-ea"/>
                <a:cs typeface="CiscoSans Thin"/>
              </a:rPr>
              <a:t>© 2016 Cisco e/ou suas afiliadas. Todos os direitos reservados.   Confidencial da Cisco</a:t>
            </a:r>
            <a:endParaRPr lang="pt-BR" sz="600">
              <a:solidFill>
                <a:schemeClr val="accent3">
                  <a:lumMod val="85000"/>
                </a:schemeClr>
              </a:solidFill>
              <a:latin typeface="+mn-lt"/>
              <a:ea typeface="+mn-ea"/>
              <a:cs typeface="CiscoSans Thin"/>
            </a:endParaRPr>
          </a:p>
        </p:txBody>
      </p:sp>
      <p:grpSp>
        <p:nvGrpSpPr>
          <p:cNvPr id="6" name="Group 4"/>
          <p:cNvGrpSpPr>
            <a:grpSpLocks noChangeAspect="1"/>
          </p:cNvGrpSpPr>
          <p:nvPr userDrawn="1"/>
        </p:nvGrpSpPr>
        <p:grpSpPr bwMode="auto">
          <a:xfrm>
            <a:off x="508039" y="4715197"/>
            <a:ext cx="340257" cy="180974"/>
            <a:chOff x="310" y="249"/>
            <a:chExt cx="502" cy="267"/>
          </a:xfrm>
          <a:solidFill>
            <a:schemeClr val="accent5"/>
          </a:solidFill>
        </p:grpSpPr>
        <p:sp>
          <p:nvSpPr>
            <p:cNvPr id="7" name="Rectangle 5"/>
            <p:cNvSpPr>
              <a:spLocks noChangeArrowheads="1"/>
            </p:cNvSpPr>
            <p:nvPr userDrawn="1"/>
          </p:nvSpPr>
          <p:spPr bwMode="auto">
            <a:xfrm>
              <a:off x="452" y="426"/>
              <a:ext cx="22" cy="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8" name="Freeform 6"/>
            <p:cNvSpPr/>
            <p:nvPr userDrawn="1"/>
          </p:nvSpPr>
          <p:spPr bwMode="auto">
            <a:xfrm>
              <a:off x="585" y="425"/>
              <a:ext cx="66" cy="91"/>
            </a:xfrm>
            <a:custGeom>
              <a:avLst/>
              <a:gdLst>
                <a:gd name="T0" fmla="*/ 51 w 51"/>
                <a:gd name="T1" fmla="*/ 20 h 69"/>
                <a:gd name="T2" fmla="*/ 37 w 51"/>
                <a:gd name="T3" fmla="*/ 16 h 69"/>
                <a:gd name="T4" fmla="*/ 18 w 51"/>
                <a:gd name="T5" fmla="*/ 34 h 69"/>
                <a:gd name="T6" fmla="*/ 37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7" y="16"/>
                  </a:cubicBezTo>
                  <a:cubicBezTo>
                    <a:pt x="26" y="16"/>
                    <a:pt x="18" y="24"/>
                    <a:pt x="18" y="34"/>
                  </a:cubicBezTo>
                  <a:cubicBezTo>
                    <a:pt x="18" y="44"/>
                    <a:pt x="25" y="52"/>
                    <a:pt x="37" y="52"/>
                  </a:cubicBezTo>
                  <a:cubicBezTo>
                    <a:pt x="45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9" name="Freeform 7"/>
            <p:cNvSpPr/>
            <p:nvPr userDrawn="1"/>
          </p:nvSpPr>
          <p:spPr bwMode="auto">
            <a:xfrm>
              <a:off x="355" y="425"/>
              <a:ext cx="67" cy="91"/>
            </a:xfrm>
            <a:custGeom>
              <a:avLst/>
              <a:gdLst>
                <a:gd name="T0" fmla="*/ 51 w 51"/>
                <a:gd name="T1" fmla="*/ 20 h 69"/>
                <a:gd name="T2" fmla="*/ 36 w 51"/>
                <a:gd name="T3" fmla="*/ 16 h 69"/>
                <a:gd name="T4" fmla="*/ 18 w 51"/>
                <a:gd name="T5" fmla="*/ 34 h 69"/>
                <a:gd name="T6" fmla="*/ 36 w 51"/>
                <a:gd name="T7" fmla="*/ 52 h 69"/>
                <a:gd name="T8" fmla="*/ 51 w 51"/>
                <a:gd name="T9" fmla="*/ 49 h 69"/>
                <a:gd name="T10" fmla="*/ 51 w 51"/>
                <a:gd name="T11" fmla="*/ 67 h 69"/>
                <a:gd name="T12" fmla="*/ 35 w 51"/>
                <a:gd name="T13" fmla="*/ 69 h 69"/>
                <a:gd name="T14" fmla="*/ 0 w 51"/>
                <a:gd name="T15" fmla="*/ 34 h 69"/>
                <a:gd name="T16" fmla="*/ 35 w 51"/>
                <a:gd name="T17" fmla="*/ 0 h 69"/>
                <a:gd name="T18" fmla="*/ 51 w 51"/>
                <a:gd name="T19" fmla="*/ 2 h 69"/>
                <a:gd name="T20" fmla="*/ 51 w 51"/>
                <a:gd name="T21" fmla="*/ 20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1" h="69">
                  <a:moveTo>
                    <a:pt x="51" y="20"/>
                  </a:moveTo>
                  <a:cubicBezTo>
                    <a:pt x="50" y="20"/>
                    <a:pt x="45" y="16"/>
                    <a:pt x="36" y="16"/>
                  </a:cubicBezTo>
                  <a:cubicBezTo>
                    <a:pt x="25" y="16"/>
                    <a:pt x="18" y="24"/>
                    <a:pt x="18" y="34"/>
                  </a:cubicBezTo>
                  <a:cubicBezTo>
                    <a:pt x="18" y="44"/>
                    <a:pt x="25" y="52"/>
                    <a:pt x="36" y="52"/>
                  </a:cubicBezTo>
                  <a:cubicBezTo>
                    <a:pt x="44" y="52"/>
                    <a:pt x="50" y="49"/>
                    <a:pt x="51" y="49"/>
                  </a:cubicBezTo>
                  <a:cubicBezTo>
                    <a:pt x="51" y="67"/>
                    <a:pt x="51" y="67"/>
                    <a:pt x="51" y="67"/>
                  </a:cubicBezTo>
                  <a:cubicBezTo>
                    <a:pt x="49" y="67"/>
                    <a:pt x="43" y="69"/>
                    <a:pt x="35" y="69"/>
                  </a:cubicBezTo>
                  <a:cubicBezTo>
                    <a:pt x="16" y="69"/>
                    <a:pt x="0" y="56"/>
                    <a:pt x="0" y="34"/>
                  </a:cubicBezTo>
                  <a:cubicBezTo>
                    <a:pt x="0" y="14"/>
                    <a:pt x="15" y="0"/>
                    <a:pt x="35" y="0"/>
                  </a:cubicBezTo>
                  <a:cubicBezTo>
                    <a:pt x="43" y="0"/>
                    <a:pt x="49" y="2"/>
                    <a:pt x="51" y="2"/>
                  </a:cubicBezTo>
                  <a:lnTo>
                    <a:pt x="51" y="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0" name="Freeform 8"/>
            <p:cNvSpPr>
              <a:spLocks noEditPoints="1"/>
            </p:cNvSpPr>
            <p:nvPr userDrawn="1"/>
          </p:nvSpPr>
          <p:spPr bwMode="auto">
            <a:xfrm>
              <a:off x="675" y="425"/>
              <a:ext cx="91" cy="91"/>
            </a:xfrm>
            <a:custGeom>
              <a:avLst/>
              <a:gdLst>
                <a:gd name="T0" fmla="*/ 70 w 70"/>
                <a:gd name="T1" fmla="*/ 34 h 69"/>
                <a:gd name="T2" fmla="*/ 35 w 70"/>
                <a:gd name="T3" fmla="*/ 69 h 69"/>
                <a:gd name="T4" fmla="*/ 0 w 70"/>
                <a:gd name="T5" fmla="*/ 34 h 69"/>
                <a:gd name="T6" fmla="*/ 35 w 70"/>
                <a:gd name="T7" fmla="*/ 0 h 69"/>
                <a:gd name="T8" fmla="*/ 70 w 70"/>
                <a:gd name="T9" fmla="*/ 34 h 69"/>
                <a:gd name="T10" fmla="*/ 35 w 70"/>
                <a:gd name="T11" fmla="*/ 17 h 69"/>
                <a:gd name="T12" fmla="*/ 18 w 70"/>
                <a:gd name="T13" fmla="*/ 34 h 69"/>
                <a:gd name="T14" fmla="*/ 35 w 70"/>
                <a:gd name="T15" fmla="*/ 52 h 69"/>
                <a:gd name="T16" fmla="*/ 52 w 70"/>
                <a:gd name="T17" fmla="*/ 34 h 69"/>
                <a:gd name="T18" fmla="*/ 35 w 70"/>
                <a:gd name="T19" fmla="*/ 17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0" h="69">
                  <a:moveTo>
                    <a:pt x="70" y="34"/>
                  </a:moveTo>
                  <a:cubicBezTo>
                    <a:pt x="70" y="53"/>
                    <a:pt x="56" y="69"/>
                    <a:pt x="35" y="69"/>
                  </a:cubicBezTo>
                  <a:cubicBezTo>
                    <a:pt x="14" y="69"/>
                    <a:pt x="0" y="53"/>
                    <a:pt x="0" y="34"/>
                  </a:cubicBezTo>
                  <a:cubicBezTo>
                    <a:pt x="0" y="15"/>
                    <a:pt x="14" y="0"/>
                    <a:pt x="35" y="0"/>
                  </a:cubicBezTo>
                  <a:cubicBezTo>
                    <a:pt x="56" y="0"/>
                    <a:pt x="70" y="15"/>
                    <a:pt x="70" y="34"/>
                  </a:cubicBezTo>
                  <a:close/>
                  <a:moveTo>
                    <a:pt x="35" y="17"/>
                  </a:moveTo>
                  <a:cubicBezTo>
                    <a:pt x="25" y="17"/>
                    <a:pt x="18" y="25"/>
                    <a:pt x="18" y="34"/>
                  </a:cubicBezTo>
                  <a:cubicBezTo>
                    <a:pt x="18" y="44"/>
                    <a:pt x="25" y="52"/>
                    <a:pt x="35" y="52"/>
                  </a:cubicBezTo>
                  <a:cubicBezTo>
                    <a:pt x="45" y="52"/>
                    <a:pt x="52" y="44"/>
                    <a:pt x="52" y="34"/>
                  </a:cubicBezTo>
                  <a:cubicBezTo>
                    <a:pt x="52" y="25"/>
                    <a:pt x="45" y="17"/>
                    <a:pt x="35" y="1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1" name="Freeform 9"/>
            <p:cNvSpPr/>
            <p:nvPr userDrawn="1"/>
          </p:nvSpPr>
          <p:spPr bwMode="auto">
            <a:xfrm>
              <a:off x="503" y="425"/>
              <a:ext cx="60" cy="91"/>
            </a:xfrm>
            <a:custGeom>
              <a:avLst/>
              <a:gdLst>
                <a:gd name="T0" fmla="*/ 42 w 46"/>
                <a:gd name="T1" fmla="*/ 16 h 69"/>
                <a:gd name="T2" fmla="*/ 29 w 46"/>
                <a:gd name="T3" fmla="*/ 14 h 69"/>
                <a:gd name="T4" fmla="*/ 18 w 46"/>
                <a:gd name="T5" fmla="*/ 20 h 69"/>
                <a:gd name="T6" fmla="*/ 26 w 46"/>
                <a:gd name="T7" fmla="*/ 26 h 69"/>
                <a:gd name="T8" fmla="*/ 30 w 46"/>
                <a:gd name="T9" fmla="*/ 27 h 69"/>
                <a:gd name="T10" fmla="*/ 46 w 46"/>
                <a:gd name="T11" fmla="*/ 47 h 69"/>
                <a:gd name="T12" fmla="*/ 19 w 46"/>
                <a:gd name="T13" fmla="*/ 69 h 69"/>
                <a:gd name="T14" fmla="*/ 1 w 46"/>
                <a:gd name="T15" fmla="*/ 67 h 69"/>
                <a:gd name="T16" fmla="*/ 1 w 46"/>
                <a:gd name="T17" fmla="*/ 52 h 69"/>
                <a:gd name="T18" fmla="*/ 16 w 46"/>
                <a:gd name="T19" fmla="*/ 54 h 69"/>
                <a:gd name="T20" fmla="*/ 29 w 46"/>
                <a:gd name="T21" fmla="*/ 48 h 69"/>
                <a:gd name="T22" fmla="*/ 21 w 46"/>
                <a:gd name="T23" fmla="*/ 41 h 69"/>
                <a:gd name="T24" fmla="*/ 18 w 46"/>
                <a:gd name="T25" fmla="*/ 40 h 69"/>
                <a:gd name="T26" fmla="*/ 0 w 46"/>
                <a:gd name="T27" fmla="*/ 21 h 69"/>
                <a:gd name="T28" fmla="*/ 25 w 46"/>
                <a:gd name="T29" fmla="*/ 0 h 69"/>
                <a:gd name="T30" fmla="*/ 42 w 46"/>
                <a:gd name="T31" fmla="*/ 2 h 69"/>
                <a:gd name="T32" fmla="*/ 42 w 46"/>
                <a:gd name="T33" fmla="*/ 16 h 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69">
                  <a:moveTo>
                    <a:pt x="42" y="16"/>
                  </a:moveTo>
                  <a:cubicBezTo>
                    <a:pt x="41" y="16"/>
                    <a:pt x="34" y="14"/>
                    <a:pt x="29" y="14"/>
                  </a:cubicBezTo>
                  <a:cubicBezTo>
                    <a:pt x="22" y="14"/>
                    <a:pt x="18" y="16"/>
                    <a:pt x="18" y="20"/>
                  </a:cubicBezTo>
                  <a:cubicBezTo>
                    <a:pt x="18" y="24"/>
                    <a:pt x="23" y="25"/>
                    <a:pt x="26" y="26"/>
                  </a:cubicBezTo>
                  <a:cubicBezTo>
                    <a:pt x="30" y="27"/>
                    <a:pt x="30" y="27"/>
                    <a:pt x="30" y="27"/>
                  </a:cubicBezTo>
                  <a:cubicBezTo>
                    <a:pt x="41" y="31"/>
                    <a:pt x="46" y="38"/>
                    <a:pt x="46" y="47"/>
                  </a:cubicBezTo>
                  <a:cubicBezTo>
                    <a:pt x="46" y="63"/>
                    <a:pt x="32" y="69"/>
                    <a:pt x="19" y="69"/>
                  </a:cubicBezTo>
                  <a:cubicBezTo>
                    <a:pt x="10" y="69"/>
                    <a:pt x="1" y="67"/>
                    <a:pt x="1" y="67"/>
                  </a:cubicBezTo>
                  <a:cubicBezTo>
                    <a:pt x="1" y="52"/>
                    <a:pt x="1" y="52"/>
                    <a:pt x="1" y="52"/>
                  </a:cubicBezTo>
                  <a:cubicBezTo>
                    <a:pt x="2" y="52"/>
                    <a:pt x="9" y="54"/>
                    <a:pt x="16" y="54"/>
                  </a:cubicBezTo>
                  <a:cubicBezTo>
                    <a:pt x="25" y="54"/>
                    <a:pt x="29" y="52"/>
                    <a:pt x="29" y="48"/>
                  </a:cubicBezTo>
                  <a:cubicBezTo>
                    <a:pt x="29" y="45"/>
                    <a:pt x="25" y="43"/>
                    <a:pt x="21" y="41"/>
                  </a:cubicBezTo>
                  <a:cubicBezTo>
                    <a:pt x="20" y="41"/>
                    <a:pt x="19" y="41"/>
                    <a:pt x="18" y="40"/>
                  </a:cubicBezTo>
                  <a:cubicBezTo>
                    <a:pt x="8" y="37"/>
                    <a:pt x="0" y="32"/>
                    <a:pt x="0" y="21"/>
                  </a:cubicBezTo>
                  <a:cubicBezTo>
                    <a:pt x="0" y="8"/>
                    <a:pt x="10" y="0"/>
                    <a:pt x="25" y="0"/>
                  </a:cubicBezTo>
                  <a:cubicBezTo>
                    <a:pt x="34" y="0"/>
                    <a:pt x="41" y="2"/>
                    <a:pt x="42" y="2"/>
                  </a:cubicBezTo>
                  <a:lnTo>
                    <a:pt x="4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4" name="Freeform 10"/>
            <p:cNvSpPr/>
            <p:nvPr userDrawn="1"/>
          </p:nvSpPr>
          <p:spPr bwMode="auto">
            <a:xfrm>
              <a:off x="31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5" name="Freeform 11"/>
            <p:cNvSpPr/>
            <p:nvPr userDrawn="1"/>
          </p:nvSpPr>
          <p:spPr bwMode="auto">
            <a:xfrm>
              <a:off x="37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6" name="Freeform 12"/>
            <p:cNvSpPr/>
            <p:nvPr userDrawn="1"/>
          </p:nvSpPr>
          <p:spPr bwMode="auto">
            <a:xfrm>
              <a:off x="43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8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8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8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8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7" name="Freeform 13"/>
            <p:cNvSpPr/>
            <p:nvPr userDrawn="1"/>
          </p:nvSpPr>
          <p:spPr bwMode="auto">
            <a:xfrm>
              <a:off x="49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8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8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8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8" name="Freeform 14"/>
            <p:cNvSpPr/>
            <p:nvPr userDrawn="1"/>
          </p:nvSpPr>
          <p:spPr bwMode="auto">
            <a:xfrm>
              <a:off x="55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8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8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8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8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19" name="Freeform 15"/>
            <p:cNvSpPr/>
            <p:nvPr userDrawn="1"/>
          </p:nvSpPr>
          <p:spPr bwMode="auto">
            <a:xfrm>
              <a:off x="61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0" name="Freeform 16"/>
            <p:cNvSpPr/>
            <p:nvPr userDrawn="1"/>
          </p:nvSpPr>
          <p:spPr bwMode="auto">
            <a:xfrm>
              <a:off x="670" y="249"/>
              <a:ext cx="22" cy="139"/>
            </a:xfrm>
            <a:custGeom>
              <a:avLst/>
              <a:gdLst>
                <a:gd name="T0" fmla="*/ 17 w 17"/>
                <a:gd name="T1" fmla="*/ 8 h 106"/>
                <a:gd name="T2" fmla="*/ 9 w 17"/>
                <a:gd name="T3" fmla="*/ 0 h 106"/>
                <a:gd name="T4" fmla="*/ 0 w 17"/>
                <a:gd name="T5" fmla="*/ 8 h 106"/>
                <a:gd name="T6" fmla="*/ 0 w 17"/>
                <a:gd name="T7" fmla="*/ 97 h 106"/>
                <a:gd name="T8" fmla="*/ 9 w 17"/>
                <a:gd name="T9" fmla="*/ 106 h 106"/>
                <a:gd name="T10" fmla="*/ 17 w 17"/>
                <a:gd name="T11" fmla="*/ 97 h 106"/>
                <a:gd name="T12" fmla="*/ 17 w 17"/>
                <a:gd name="T13" fmla="*/ 8 h 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106">
                  <a:moveTo>
                    <a:pt x="17" y="8"/>
                  </a:moveTo>
                  <a:cubicBezTo>
                    <a:pt x="17" y="4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97"/>
                    <a:pt x="0" y="97"/>
                    <a:pt x="0" y="97"/>
                  </a:cubicBezTo>
                  <a:cubicBezTo>
                    <a:pt x="0" y="102"/>
                    <a:pt x="4" y="106"/>
                    <a:pt x="9" y="106"/>
                  </a:cubicBezTo>
                  <a:cubicBezTo>
                    <a:pt x="13" y="106"/>
                    <a:pt x="17" y="102"/>
                    <a:pt x="17" y="97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1" name="Freeform 17"/>
            <p:cNvSpPr/>
            <p:nvPr userDrawn="1"/>
          </p:nvSpPr>
          <p:spPr bwMode="auto">
            <a:xfrm>
              <a:off x="730" y="291"/>
              <a:ext cx="22" cy="75"/>
            </a:xfrm>
            <a:custGeom>
              <a:avLst/>
              <a:gdLst>
                <a:gd name="T0" fmla="*/ 17 w 17"/>
                <a:gd name="T1" fmla="*/ 8 h 57"/>
                <a:gd name="T2" fmla="*/ 9 w 17"/>
                <a:gd name="T3" fmla="*/ 0 h 57"/>
                <a:gd name="T4" fmla="*/ 0 w 17"/>
                <a:gd name="T5" fmla="*/ 8 h 57"/>
                <a:gd name="T6" fmla="*/ 0 w 17"/>
                <a:gd name="T7" fmla="*/ 49 h 57"/>
                <a:gd name="T8" fmla="*/ 9 w 17"/>
                <a:gd name="T9" fmla="*/ 57 h 57"/>
                <a:gd name="T10" fmla="*/ 17 w 17"/>
                <a:gd name="T11" fmla="*/ 49 h 57"/>
                <a:gd name="T12" fmla="*/ 17 w 17"/>
                <a:gd name="T13" fmla="*/ 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57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4" y="57"/>
                    <a:pt x="9" y="57"/>
                  </a:cubicBezTo>
                  <a:cubicBezTo>
                    <a:pt x="13" y="57"/>
                    <a:pt x="17" y="53"/>
                    <a:pt x="17" y="49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  <p:sp>
          <p:nvSpPr>
            <p:cNvPr id="22" name="Freeform 18"/>
            <p:cNvSpPr/>
            <p:nvPr userDrawn="1"/>
          </p:nvSpPr>
          <p:spPr bwMode="auto">
            <a:xfrm>
              <a:off x="790" y="321"/>
              <a:ext cx="22" cy="45"/>
            </a:xfrm>
            <a:custGeom>
              <a:avLst/>
              <a:gdLst>
                <a:gd name="T0" fmla="*/ 17 w 17"/>
                <a:gd name="T1" fmla="*/ 8 h 34"/>
                <a:gd name="T2" fmla="*/ 9 w 17"/>
                <a:gd name="T3" fmla="*/ 0 h 34"/>
                <a:gd name="T4" fmla="*/ 0 w 17"/>
                <a:gd name="T5" fmla="*/ 8 h 34"/>
                <a:gd name="T6" fmla="*/ 0 w 17"/>
                <a:gd name="T7" fmla="*/ 26 h 34"/>
                <a:gd name="T8" fmla="*/ 9 w 17"/>
                <a:gd name="T9" fmla="*/ 34 h 34"/>
                <a:gd name="T10" fmla="*/ 17 w 17"/>
                <a:gd name="T11" fmla="*/ 26 h 34"/>
                <a:gd name="T12" fmla="*/ 17 w 17"/>
                <a:gd name="T13" fmla="*/ 8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" h="34">
                  <a:moveTo>
                    <a:pt x="17" y="8"/>
                  </a:moveTo>
                  <a:cubicBezTo>
                    <a:pt x="17" y="3"/>
                    <a:pt x="13" y="0"/>
                    <a:pt x="9" y="0"/>
                  </a:cubicBezTo>
                  <a:cubicBezTo>
                    <a:pt x="4" y="0"/>
                    <a:pt x="0" y="3"/>
                    <a:pt x="0" y="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30"/>
                    <a:pt x="4" y="34"/>
                    <a:pt x="9" y="34"/>
                  </a:cubicBezTo>
                  <a:cubicBezTo>
                    <a:pt x="13" y="34"/>
                    <a:pt x="17" y="30"/>
                    <a:pt x="17" y="26"/>
                  </a:cubicBezTo>
                  <a:lnTo>
                    <a:pt x="17" y="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en-US" dirty="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ransition spd="slow">
    <p:wipe/>
  </p:transition>
  <p:txStyles>
    <p:titleStyle>
      <a:lvl1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lang="en-US" sz="3200" kern="1200" dirty="0">
          <a:solidFill>
            <a:schemeClr val="accent4"/>
          </a:solidFill>
          <a:latin typeface="+mj-lt"/>
          <a:ea typeface="MS PGothic" charset="0"/>
          <a:cs typeface="CiscoSans"/>
        </a:defRPr>
      </a:lvl1pPr>
      <a:lvl2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2pPr>
      <a:lvl3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3pPr>
      <a:lvl4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4pPr>
      <a:lvl5pPr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  <a:cs typeface="CiscoSans" pitchFamily="34" charset="0"/>
        </a:defRPr>
      </a:lvl5pPr>
      <a:lvl6pPr marL="4572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6pPr>
      <a:lvl7pPr marL="9144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7pPr>
      <a:lvl8pPr marL="13716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8pPr>
      <a:lvl9pPr marL="1828800" algn="l" defTabSz="684530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200">
          <a:solidFill>
            <a:srgbClr val="676767"/>
          </a:solidFill>
          <a:latin typeface="Arial" panose="020B0604020202020204" pitchFamily="34" charset="0"/>
          <a:ea typeface="MS PGothic" charset="0"/>
        </a:defRPr>
      </a:lvl9pPr>
    </p:titleStyle>
    <p:bodyStyle>
      <a:lvl1pPr marL="170180" indent="-170180" algn="l" defTabSz="684530" rtl="0" eaLnBrk="1" fontAlgn="base" hangingPunct="1">
        <a:lnSpc>
          <a:spcPct val="95000"/>
        </a:lnSpc>
        <a:spcBef>
          <a:spcPts val="1075"/>
        </a:spcBef>
        <a:spcAft>
          <a:spcPct val="0"/>
        </a:spcAft>
        <a:buClr>
          <a:schemeClr val="tx2"/>
        </a:buClr>
        <a:buSzPct val="90000"/>
        <a:buFont typeface="Arial" panose="020B0604020202020204" pitchFamily="34" charset="0"/>
        <a:buChar char="•"/>
        <a:defRPr lang="en-US" sz="1500" kern="1200" dirty="0">
          <a:solidFill>
            <a:schemeClr val="tx1"/>
          </a:solidFill>
          <a:latin typeface="+mn-lt"/>
          <a:ea typeface="MS PGothic" charset="0"/>
          <a:cs typeface="CiscoSans"/>
        </a:defRPr>
      </a:lvl1pPr>
      <a:lvl2pPr marL="358775" indent="-215900" algn="l" defTabSz="684530" rtl="0" eaLnBrk="1" fontAlgn="base" hangingPunct="1">
        <a:lnSpc>
          <a:spcPct val="95000"/>
        </a:lnSpc>
        <a:spcBef>
          <a:spcPts val="6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lang="en-US" sz="1400" kern="1200" dirty="0">
          <a:solidFill>
            <a:schemeClr val="tx1"/>
          </a:solidFill>
          <a:latin typeface="+mn-lt"/>
          <a:ea typeface="MS PGothic" charset="0"/>
          <a:cs typeface="CiscoSans"/>
        </a:defRPr>
      </a:lvl2pPr>
      <a:lvl3pPr marL="431800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+mn-lt"/>
          <a:ea typeface="MS PGothic" charset="0"/>
          <a:cs typeface="CiscoSans"/>
        </a:defRPr>
      </a:lvl3pPr>
      <a:lvl4pPr marL="50355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4pPr>
      <a:lvl5pPr marL="574675" indent="-170180" algn="l" defTabSz="684530" rtl="0" eaLnBrk="1" fontAlgn="base" hangingPunct="1">
        <a:lnSpc>
          <a:spcPct val="95000"/>
        </a:lnSpc>
        <a:spcBef>
          <a:spcPts val="625"/>
        </a:spcBef>
        <a:spcAft>
          <a:spcPct val="0"/>
        </a:spcAft>
        <a:buFont typeface="Arial" panose="020B0604020202020204" pitchFamily="34" charset="0"/>
        <a:buChar char="•"/>
        <a:defRPr lang="en-US" sz="1100" kern="1200" dirty="0">
          <a:solidFill>
            <a:schemeClr val="tx1"/>
          </a:solidFill>
          <a:latin typeface="+mn-lt"/>
          <a:ea typeface="MS PGothic" charset="0"/>
          <a:cs typeface="CiscoSans"/>
        </a:defRPr>
      </a:lvl5pPr>
      <a:lvl6pPr marL="86360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171450" algn="l" defTabSz="685800" rtl="0" eaLnBrk="1" latinLnBrk="0" hangingPunct="1">
        <a:spcBef>
          <a:spcPts val="600"/>
        </a:spcBef>
        <a:buFont typeface="Arial" panose="020B0604020202020204" pitchFamily="34" charset="0"/>
        <a:buChar char="•"/>
        <a:defRPr sz="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0" algn="l" defTabSz="685800" rtl="0" eaLnBrk="1" latinLnBrk="0" hangingPunct="1">
        <a:spcBef>
          <a:spcPct val="20000"/>
        </a:spcBef>
        <a:buFont typeface="Arial" panose="020B0604020202020204" pitchFamily="34" charset="0"/>
        <a:buNone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469265" y="1459230"/>
            <a:ext cx="6510655" cy="1080135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Módulo 5: Sistemas Numéricos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" name="Subtitle 6"/>
          <p:cNvSpPr txBox="1"/>
          <p:nvPr/>
        </p:nvSpPr>
        <p:spPr>
          <a:xfrm>
            <a:off x="469497" y="3646043"/>
            <a:ext cx="2368954" cy="902174"/>
          </a:xfrm>
          <a:prstGeom prst="rect">
            <a:avLst/>
          </a:prstGeom>
        </p:spPr>
        <p:txBody>
          <a:bodyPr lIns="91420" tIns="45710" rIns="91420" bIns="45710" anchor="b" anchorCtr="0">
            <a:noAutofit/>
          </a:bodyPr>
          <a:lstStyle>
            <a:lvl1pPr marL="0" indent="0" algn="l" defTabSz="684530" rtl="0" eaLnBrk="1" fontAlgn="base" hangingPunct="1">
              <a:lnSpc>
                <a:spcPct val="95000"/>
              </a:lnSpc>
              <a:spcBef>
                <a:spcPts val="1075"/>
              </a:spcBef>
              <a:spcAft>
                <a:spcPct val="0"/>
              </a:spcAft>
              <a:buClr>
                <a:schemeClr val="tx2"/>
              </a:buClr>
              <a:buSzPct val="90000"/>
              <a:buFont typeface="Arial" panose="020B0604020202020204" pitchFamily="34" charset="0"/>
              <a:buNone/>
              <a:defRPr lang="en-US" sz="1200" b="0" i="0" kern="1200">
                <a:solidFill>
                  <a:schemeClr val="accent5"/>
                </a:solidFill>
                <a:latin typeface="+mn-lt"/>
                <a:ea typeface="MS PGothic" charset="0"/>
                <a:cs typeface="CiscoSans"/>
              </a:defRPr>
            </a:lvl1pPr>
            <a:lvl2pPr marL="342900" indent="0" algn="ctr" defTabSz="684530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tx2"/>
              </a:buClr>
              <a:buFont typeface="Arial" panose="020B0604020202020204" pitchFamily="34" charset="0"/>
              <a:buNone/>
              <a:defRPr lang="en-US" sz="14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2pPr>
            <a:lvl3pPr marL="6858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2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3pPr>
            <a:lvl4pPr marL="10287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4pPr>
            <a:lvl5pPr marL="1371600" indent="0" algn="ctr" defTabSz="684530" rtl="0" eaLnBrk="1" fontAlgn="base" hangingPunct="1">
              <a:lnSpc>
                <a:spcPct val="95000"/>
              </a:lnSpc>
              <a:spcBef>
                <a:spcPts val="625"/>
              </a:spcBef>
              <a:spcAft>
                <a:spcPct val="0"/>
              </a:spcAft>
              <a:buFont typeface="Arial" panose="020B0604020202020204" pitchFamily="34" charset="0"/>
              <a:buNone/>
              <a:defRPr lang="en-US" sz="1100" kern="1200">
                <a:solidFill>
                  <a:schemeClr val="tx1">
                    <a:tint val="75000"/>
                  </a:schemeClr>
                </a:solidFill>
                <a:latin typeface="+mn-lt"/>
                <a:ea typeface="MS PGothic" charset="0"/>
                <a:cs typeface="CiscoSans"/>
              </a:defRPr>
            </a:lvl5pPr>
            <a:lvl6pPr marL="17145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9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spcBef>
                <a:spcPts val="600"/>
              </a:spcBef>
              <a:buFont typeface="Arial" panose="020B0604020202020204" pitchFamily="34" charset="0"/>
              <a:buNone/>
              <a:defRPr sz="8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2565" indent="0" algn="ctr" defTabSz="6858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Introdução às redes v7.0 (ITN)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  <a:sym typeface="+mn-ea"/>
              </a:rPr>
              <a:t>Versão: 1.0 - 01/03/2026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560" y="2169160"/>
            <a:ext cx="7847330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5.1 - Sistema de Numeração Binário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Endereços Binários e IPv4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4775" y="628015"/>
            <a:ext cx="8890000" cy="2136775"/>
          </a:xfrm>
        </p:spPr>
        <p:txBody>
          <a:bodyPr/>
          <a:lstStyle/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O </a:t>
            </a:r>
            <a:r>
              <a:rPr lang="pt-BR" sz="1500" b="1">
                <a:solidFill>
                  <a:srgbClr val="FF0000"/>
                </a:solidFill>
              </a:rPr>
              <a:t>Sistema de Numeração Binária</a:t>
            </a:r>
            <a:r>
              <a:rPr lang="pt-BR" sz="1500">
                <a:solidFill>
                  <a:srgbClr val="000000"/>
                </a:solidFill>
              </a:rPr>
              <a:t> consiste em </a:t>
            </a:r>
            <a:r>
              <a:rPr lang="pt-BR" sz="1500" b="1">
                <a:solidFill>
                  <a:srgbClr val="0070C0"/>
                </a:solidFill>
              </a:rPr>
              <a:t>1s e 0s</a:t>
            </a:r>
            <a:r>
              <a:rPr lang="pt-BR" sz="1500">
                <a:solidFill>
                  <a:srgbClr val="000000"/>
                </a:solidFill>
              </a:rPr>
              <a:t>, chamados </a:t>
            </a:r>
            <a:r>
              <a:rPr lang="pt-BR" sz="1500" b="1">
                <a:solidFill>
                  <a:srgbClr val="000000"/>
                </a:solidFill>
              </a:rPr>
              <a:t>bits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O </a:t>
            </a:r>
            <a:r>
              <a:rPr lang="pt-BR" sz="1500" b="1">
                <a:solidFill>
                  <a:srgbClr val="FF0000"/>
                </a:solidFill>
              </a:rPr>
              <a:t>Sistema de Numeração Decimal</a:t>
            </a:r>
            <a:r>
              <a:rPr lang="pt-BR" sz="1500">
                <a:solidFill>
                  <a:srgbClr val="000000"/>
                </a:solidFill>
              </a:rPr>
              <a:t> consiste em dígitos </a:t>
            </a:r>
            <a:r>
              <a:rPr lang="pt-BR" sz="1500" b="1">
                <a:solidFill>
                  <a:srgbClr val="0070C0"/>
                </a:solidFill>
              </a:rPr>
              <a:t>0 a 9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Hosts, servidores e equipamentos de rede usa </a:t>
            </a:r>
            <a:r>
              <a:rPr lang="pt-BR" sz="1500" b="1">
                <a:solidFill>
                  <a:srgbClr val="000000"/>
                </a:solidFill>
              </a:rPr>
              <a:t>endereçamento binário</a:t>
            </a:r>
            <a:r>
              <a:rPr lang="pt-BR" sz="1500">
                <a:solidFill>
                  <a:srgbClr val="000000"/>
                </a:solidFill>
              </a:rPr>
              <a:t> para identificar uns aos outros.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Cada </a:t>
            </a:r>
            <a:r>
              <a:rPr lang="pt-BR" sz="1500" b="1">
                <a:solidFill>
                  <a:srgbClr val="FF0000"/>
                </a:solidFill>
              </a:rPr>
              <a:t>endereço é composto de uma sequência de 32 bits</a:t>
            </a:r>
            <a:r>
              <a:rPr lang="pt-BR" sz="1500">
                <a:solidFill>
                  <a:srgbClr val="000000"/>
                </a:solidFill>
              </a:rPr>
              <a:t>, dividida em quatro seções chamadas octetos.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Cada </a:t>
            </a:r>
            <a:r>
              <a:rPr lang="pt-BR" sz="1500" b="1">
                <a:solidFill>
                  <a:srgbClr val="FF0000"/>
                </a:solidFill>
              </a:rPr>
              <a:t>octeto contém 8 bits (ou 1 byte)</a:t>
            </a:r>
            <a:r>
              <a:rPr lang="pt-BR" sz="1500">
                <a:solidFill>
                  <a:srgbClr val="000000"/>
                </a:solidFill>
              </a:rPr>
              <a:t> separados por um ponto.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Para facilitar o uso por pessoas, esta</a:t>
            </a:r>
            <a:r>
              <a:rPr lang="pt-BR" sz="1500" b="1">
                <a:solidFill>
                  <a:srgbClr val="000000"/>
                </a:solidFill>
              </a:rPr>
              <a:t> notação pontilhada</a:t>
            </a:r>
            <a:r>
              <a:rPr lang="pt-BR" sz="1500">
                <a:solidFill>
                  <a:srgbClr val="000000"/>
                </a:solidFill>
              </a:rPr>
              <a:t> é convertida em </a:t>
            </a:r>
            <a:r>
              <a:rPr lang="pt-BR" sz="1500" b="1">
                <a:solidFill>
                  <a:srgbClr val="FF0000"/>
                </a:solidFill>
              </a:rPr>
              <a:t>decimal pontilhada</a:t>
            </a:r>
            <a:r>
              <a:rPr lang="pt-BR" sz="1500">
                <a:solidFill>
                  <a:srgbClr val="000000"/>
                </a:solidFill>
              </a:rPr>
              <a:t>.</a:t>
            </a:r>
            <a:endParaRPr lang="pt-BR" sz="150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endParaRPr lang="en-US" sz="1500" dirty="0">
              <a:solidFill>
                <a:srgbClr val="000000"/>
              </a:solidFill>
            </a:endParaRPr>
          </a:p>
        </p:txBody>
      </p:sp>
      <p:sp>
        <p:nvSpPr>
          <p:cNvPr id="7" name="Striped Right Arrow 6"/>
          <p:cNvSpPr/>
          <p:nvPr/>
        </p:nvSpPr>
        <p:spPr>
          <a:xfrm>
            <a:off x="4363757" y="3958407"/>
            <a:ext cx="520995" cy="239867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010" t="33944" r="25410" b="17821"/>
          <a:stretch>
            <a:fillRect/>
          </a:stretch>
        </p:blipFill>
        <p:spPr>
          <a:xfrm>
            <a:off x="511810" y="2722880"/>
            <a:ext cx="3747770" cy="1962150"/>
          </a:xfrm>
          <a:prstGeom prst="rect">
            <a:avLst/>
          </a:prstGeom>
        </p:spPr>
      </p:pic>
      <p:pic>
        <p:nvPicPr>
          <p:cNvPr id="8" name="Imagem 7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5010" t="30580" r="25410" b="21043"/>
          <a:stretch>
            <a:fillRect/>
          </a:stretch>
        </p:blipFill>
        <p:spPr>
          <a:xfrm>
            <a:off x="4954905" y="2718435"/>
            <a:ext cx="3582670" cy="19665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144000" cy="731520"/>
          </a:xfrm>
        </p:spPr>
        <p:txBody>
          <a:bodyPr/>
          <a:lstStyle/>
          <a:p>
            <a:pPr rtl="0"/>
            <a:r>
              <a:rPr lang="pt-BR" sz="1600"/>
              <a:t>Sistema de Numeração Binário</a:t>
            </a:r>
            <a:br>
              <a:rPr lang="en-US" dirty="0"/>
            </a:br>
            <a:r>
              <a:rPr lang="pt-BR" sz="2400"/>
              <a:t>Notação Posicional Binária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16205" y="763270"/>
            <a:ext cx="8921115" cy="1402715"/>
          </a:xfrm>
        </p:spPr>
        <p:txBody>
          <a:bodyPr/>
          <a:lstStyle/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A </a:t>
            </a:r>
            <a:r>
              <a:rPr lang="pt-BR" b="1">
                <a:solidFill>
                  <a:srgbClr val="FF0000"/>
                </a:solidFill>
              </a:rPr>
              <a:t>Notação Posicional</a:t>
            </a:r>
            <a:r>
              <a:rPr lang="pt-BR">
                <a:solidFill>
                  <a:srgbClr val="000000"/>
                </a:solidFill>
              </a:rPr>
              <a:t> significa que um </a:t>
            </a:r>
            <a:r>
              <a:rPr lang="pt-BR" b="1">
                <a:solidFill>
                  <a:srgbClr val="000000"/>
                </a:solidFill>
              </a:rPr>
              <a:t>dígito </a:t>
            </a:r>
            <a:r>
              <a:rPr lang="pt-BR">
                <a:solidFill>
                  <a:srgbClr val="000000"/>
                </a:solidFill>
              </a:rPr>
              <a:t>representa </a:t>
            </a:r>
            <a:r>
              <a:rPr lang="pt-BR" b="1">
                <a:solidFill>
                  <a:srgbClr val="0070C0"/>
                </a:solidFill>
              </a:rPr>
              <a:t>valores diferentes</a:t>
            </a:r>
            <a:r>
              <a:rPr lang="pt-BR">
                <a:solidFill>
                  <a:srgbClr val="000000"/>
                </a:solidFill>
              </a:rPr>
              <a:t>, dependendo da posição que ocupa na</a:t>
            </a:r>
            <a:r>
              <a:rPr lang="pt-BR">
                <a:solidFill>
                  <a:srgbClr val="000000"/>
                </a:solidFill>
              </a:rPr>
              <a:t> sequência de números.</a:t>
            </a:r>
            <a:endParaRPr lang="pt-BR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>
                <a:solidFill>
                  <a:srgbClr val="000000"/>
                </a:solidFill>
              </a:rPr>
              <a:t>O </a:t>
            </a:r>
            <a:r>
              <a:rPr lang="pt-BR" b="1">
                <a:solidFill>
                  <a:srgbClr val="FF0000"/>
                </a:solidFill>
              </a:rPr>
              <a:t>Sistema de Notação Posicional Decimal</a:t>
            </a:r>
            <a:r>
              <a:rPr lang="pt-BR">
                <a:solidFill>
                  <a:srgbClr val="000000"/>
                </a:solidFill>
              </a:rPr>
              <a:t> opera como mostrado nas tabelas abaixo.</a:t>
            </a:r>
            <a:endParaRPr lang="pt-BR">
              <a:solidFill>
                <a:srgbClr val="000000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6205" y="2311400"/>
          <a:ext cx="3672205" cy="1724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400"/>
                <a:gridCol w="611505"/>
                <a:gridCol w="563245"/>
                <a:gridCol w="532130"/>
                <a:gridCol w="542925"/>
              </a:tblGrid>
              <a:tr h="319405"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Raiz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</a:tr>
              <a:tr h="542925"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Posição no número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3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2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0</a:t>
                      </a:r>
                      <a:endParaRPr lang="pt-BR" sz="1400"/>
                    </a:p>
                  </a:txBody>
                  <a:tcPr anchor="ctr" anchorCtr="0"/>
                </a:tc>
              </a:tr>
              <a:tr h="319405"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Cálculo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3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2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1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(10</a:t>
                      </a:r>
                      <a:r>
                        <a:rPr lang="pt-BR" sz="1400" baseline="30000"/>
                        <a:t>0</a:t>
                      </a:r>
                      <a:r>
                        <a:rPr lang="pt-BR" sz="1400"/>
                        <a:t>)</a:t>
                      </a:r>
                      <a:endParaRPr lang="pt-BR" sz="1400"/>
                    </a:p>
                  </a:txBody>
                  <a:tcPr anchor="ctr" anchorCtr="0"/>
                </a:tc>
              </a:tr>
              <a:tr h="542925"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Valor da posição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1000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10</a:t>
                      </a:r>
                      <a:endParaRPr lang="pt-BR" sz="14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400"/>
                        <a:t>1</a:t>
                      </a:r>
                      <a:endParaRPr lang="pt-BR" sz="1400"/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7" name="Striped Right Arrow 6"/>
          <p:cNvSpPr/>
          <p:nvPr/>
        </p:nvSpPr>
        <p:spPr>
          <a:xfrm>
            <a:off x="3832174" y="3174543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57040" y="2311400"/>
          <a:ext cx="4707255" cy="195516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44320"/>
                <a:gridCol w="835025"/>
                <a:gridCol w="797560"/>
                <a:gridCol w="741680"/>
                <a:gridCol w="788670"/>
              </a:tblGrid>
              <a:tr h="400685"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Milhar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Centena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Dezena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Unidade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Valor Posicional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5430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Número decimal (1234)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2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3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4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160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Cálculo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 x 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2 x 100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3 x 10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4 x 1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Adicionar…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1000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+ 200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+ 30</a:t>
                      </a:r>
                      <a:endParaRPr lang="pt-BR" sz="12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+ 4</a:t>
                      </a:r>
                      <a:endParaRPr lang="pt-BR" sz="1200"/>
                    </a:p>
                  </a:txBody>
                  <a:tcPr anchor="ctr" anchorCtr="0"/>
                </a:tc>
              </a:tr>
              <a:tr h="264795">
                <a:tc>
                  <a:txBody>
                    <a:bodyPr/>
                    <a:lstStyle/>
                    <a:p>
                      <a:pPr algn="ctr" rtl="0"/>
                      <a:r>
                        <a:rPr lang="pt-BR" sz="1200"/>
                        <a:t>Resultado</a:t>
                      </a:r>
                      <a:endParaRPr lang="pt-BR" sz="1200"/>
                    </a:p>
                  </a:txBody>
                  <a:tcPr anchor="ctr" anchorCtr="0"/>
                </a:tc>
                <a:tc gridSpan="4">
                  <a:txBody>
                    <a:bodyPr/>
                    <a:lstStyle/>
                    <a:p>
                      <a:pPr algn="ctr" rtl="0"/>
                      <a:r>
                        <a:rPr lang="pt-BR" sz="1200" b="1"/>
                        <a:t>1.234</a:t>
                      </a:r>
                      <a:endParaRPr lang="pt-BR" sz="1200" b="1"/>
                    </a:p>
                  </a:txBody>
                  <a:tcPr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sz="2400">
                <a:sym typeface="+mn-ea"/>
              </a:rPr>
            </a:br>
            <a:r>
              <a:rPr lang="pt-BR" sz="2400">
                <a:sym typeface="+mn-ea"/>
              </a:rPr>
              <a:t>Notação Posicional Binária (Continuação)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6040" y="692785"/>
            <a:ext cx="8975725" cy="334645"/>
          </a:xfrm>
        </p:spPr>
        <p:txBody>
          <a:bodyPr/>
          <a:lstStyle/>
          <a:p>
            <a:pPr marL="0" indent="0" algn="ctr" rtl="0"/>
            <a:r>
              <a:rPr lang="pt-BR" sz="1800">
                <a:solidFill>
                  <a:srgbClr val="000000"/>
                </a:solidFill>
              </a:rPr>
              <a:t>O sistema de </a:t>
            </a:r>
            <a:r>
              <a:rPr lang="pt-BR" sz="1800" b="1">
                <a:solidFill>
                  <a:srgbClr val="FF0000"/>
                </a:solidFill>
              </a:rPr>
              <a:t>notação posicional binária</a:t>
            </a:r>
            <a:r>
              <a:rPr lang="pt-BR" sz="1800">
                <a:solidFill>
                  <a:srgbClr val="000000"/>
                </a:solidFill>
              </a:rPr>
              <a:t> opera como mostrado nas tabelas abaixo.</a:t>
            </a:r>
            <a:endParaRPr lang="pt-BR" sz="1800">
              <a:solidFill>
                <a:srgbClr val="000000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9065" y="1097280"/>
          <a:ext cx="6193790" cy="14909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315"/>
                <a:gridCol w="539750"/>
                <a:gridCol w="494030"/>
                <a:gridCol w="470535"/>
                <a:gridCol w="471170"/>
                <a:gridCol w="539750"/>
                <a:gridCol w="494030"/>
                <a:gridCol w="516255"/>
                <a:gridCol w="528955"/>
              </a:tblGrid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Raiz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Posição no número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7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5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Cálculo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7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6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5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4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3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2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1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(2</a:t>
                      </a:r>
                      <a:r>
                        <a:rPr lang="pt-BR" sz="1500" baseline="30000"/>
                        <a:t>0</a:t>
                      </a:r>
                      <a:r>
                        <a:rPr lang="pt-BR" sz="1500"/>
                        <a:t>)</a:t>
                      </a:r>
                      <a:endParaRPr lang="pt-BR" sz="1500"/>
                    </a:p>
                  </a:txBody>
                  <a:tcPr anchor="ctr" anchorCtr="0"/>
                </a:tc>
              </a:tr>
              <a:tr h="37274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Valor da posição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7" name="Striped Right Arrow 6"/>
          <p:cNvSpPr/>
          <p:nvPr/>
        </p:nvSpPr>
        <p:spPr>
          <a:xfrm rot="5400000">
            <a:off x="4384040" y="2662555"/>
            <a:ext cx="441960" cy="294005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944370" y="3030855"/>
          <a:ext cx="7056755" cy="161925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041525"/>
                <a:gridCol w="748665"/>
                <a:gridCol w="649605"/>
                <a:gridCol w="643255"/>
                <a:gridCol w="659130"/>
                <a:gridCol w="561340"/>
                <a:gridCol w="562610"/>
                <a:gridCol w="588645"/>
                <a:gridCol w="601980"/>
              </a:tblGrid>
              <a:tr h="329565"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Valor Posicional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Número binário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Cálculo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1x128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1x64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0x32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0x16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0x2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0x1</a:t>
                      </a:r>
                      <a:endParaRPr lang="pt-BR" sz="1500"/>
                    </a:p>
                  </a:txBody>
                  <a:tcPr anchor="ctr" anchorCtr="0"/>
                </a:tc>
              </a:tr>
              <a:tr h="0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Adicioná-los...</a:t>
                      </a:r>
                      <a:endParaRPr lang="pt-BR" sz="15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128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+ 64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500"/>
                        <a:t>+ 0</a:t>
                      </a:r>
                      <a:endParaRPr lang="pt-BR" sz="1500"/>
                    </a:p>
                  </a:txBody>
                  <a:tcPr anchor="ctr" anchorCtr="0"/>
                </a:tc>
              </a:tr>
              <a:tr h="329565">
                <a:tc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Resultado</a:t>
                      </a:r>
                      <a:endParaRPr lang="pt-BR" sz="1500" b="1"/>
                    </a:p>
                  </a:txBody>
                  <a:tcPr anchor="ctr" anchorCtr="0"/>
                </a:tc>
                <a:tc gridSpan="8">
                  <a:txBody>
                    <a:bodyPr/>
                    <a:lstStyle/>
                    <a:p>
                      <a:pPr algn="ctr" rtl="0"/>
                      <a:r>
                        <a:rPr lang="pt-BR" sz="1500" b="1"/>
                        <a:t>192</a:t>
                      </a:r>
                      <a:endParaRPr lang="pt-BR" sz="1500" b="1"/>
                    </a:p>
                  </a:txBody>
                  <a:tcPr anchor="ctr" anchorCtr="0"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900"/>
            <a:ext cx="8345488" cy="64200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Binário para Decimal</a:t>
            </a:r>
            <a:endParaRPr lang="pt-BR" sz="2400"/>
          </a:p>
        </p:txBody>
      </p:sp>
      <p:sp>
        <p:nvSpPr>
          <p:cNvPr id="9" name="TextBox 8"/>
          <p:cNvSpPr txBox="1"/>
          <p:nvPr/>
        </p:nvSpPr>
        <p:spPr>
          <a:xfrm>
            <a:off x="79375" y="554990"/>
            <a:ext cx="89858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/>
            <a:r>
              <a:rPr lang="pt-BR" sz="2000"/>
              <a:t>Converter: </a:t>
            </a:r>
            <a:r>
              <a:rPr lang="pt-BR" sz="2000" b="1">
                <a:solidFill>
                  <a:srgbClr val="FF0000"/>
                </a:solidFill>
              </a:rPr>
              <a:t>11000000.10101000.00001011.00001010</a:t>
            </a:r>
            <a:r>
              <a:rPr lang="pt-BR" sz="2000"/>
              <a:t> para decimais.</a:t>
            </a:r>
            <a:endParaRPr lang="pt-BR" sz="200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7325" y="941705"/>
          <a:ext cx="6325235" cy="372300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999615"/>
                <a:gridCol w="643255"/>
                <a:gridCol w="537845"/>
                <a:gridCol w="550545"/>
                <a:gridCol w="525780"/>
                <a:gridCol w="502285"/>
                <a:gridCol w="501650"/>
                <a:gridCol w="526415"/>
                <a:gridCol w="537845"/>
              </a:tblGrid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Valor Posicional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(11000000)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(10101000)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(00001011)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Número Binário (00001010)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1</a:t>
                      </a:r>
                      <a:endParaRPr lang="pt-BR" sz="1100" b="1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 b="1"/>
                        <a:t>0</a:t>
                      </a:r>
                      <a:endParaRPr lang="pt-BR" sz="1100" b="1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Cálculo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0x128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0x64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0x32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0x16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0x4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1x2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0x1</a:t>
                      </a:r>
                      <a:endParaRPr lang="pt-BR" sz="1100"/>
                    </a:p>
                  </a:txBody>
                  <a:tcPr anchor="ctr" anchorCtr="0"/>
                </a:tc>
              </a:tr>
              <a:tr h="286385"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Adicioná-los...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+ 8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+ 2</a:t>
                      </a:r>
                      <a:endParaRPr lang="pt-BR" sz="1100"/>
                    </a:p>
                  </a:txBody>
                  <a:tcPr anchor="ctr" anchorCtr="0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pt-BR" sz="1100"/>
                        <a:t>+ 0</a:t>
                      </a:r>
                      <a:endParaRPr lang="pt-BR" sz="1100"/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10" name="Striped Right Arrow 9"/>
          <p:cNvSpPr/>
          <p:nvPr/>
        </p:nvSpPr>
        <p:spPr>
          <a:xfrm>
            <a:off x="6547405" y="1774309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6928449" y="1668465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600"/>
              <a:t>192</a:t>
            </a:r>
            <a:endParaRPr lang="pt-BR" sz="1600"/>
          </a:p>
        </p:txBody>
      </p:sp>
      <p:sp>
        <p:nvSpPr>
          <p:cNvPr id="11" name="Striped Right Arrow 10"/>
          <p:cNvSpPr/>
          <p:nvPr/>
        </p:nvSpPr>
        <p:spPr>
          <a:xfrm>
            <a:off x="6547405" y="263021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/>
          <p:cNvSpPr txBox="1"/>
          <p:nvPr/>
        </p:nvSpPr>
        <p:spPr>
          <a:xfrm>
            <a:off x="6928449" y="2562677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600"/>
              <a:t>168</a:t>
            </a:r>
            <a:endParaRPr lang="pt-BR" sz="1600"/>
          </a:p>
        </p:txBody>
      </p:sp>
      <p:sp>
        <p:nvSpPr>
          <p:cNvPr id="12" name="Striped Right Arrow 11"/>
          <p:cNvSpPr/>
          <p:nvPr/>
        </p:nvSpPr>
        <p:spPr>
          <a:xfrm>
            <a:off x="6547405" y="345377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928449" y="3380628"/>
            <a:ext cx="3970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600"/>
              <a:t>11</a:t>
            </a:r>
            <a:endParaRPr lang="pt-BR" sz="1600"/>
          </a:p>
        </p:txBody>
      </p:sp>
      <p:sp>
        <p:nvSpPr>
          <p:cNvPr id="13" name="Striped Right Arrow 12"/>
          <p:cNvSpPr/>
          <p:nvPr/>
        </p:nvSpPr>
        <p:spPr>
          <a:xfrm>
            <a:off x="6547405" y="4277330"/>
            <a:ext cx="381044" cy="192271"/>
          </a:xfrm>
          <a:prstGeom prst="stripedRightArrow">
            <a:avLst/>
          </a:prstGeom>
          <a:solidFill>
            <a:srgbClr val="36A4D7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6925776" y="4215204"/>
            <a:ext cx="41229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600"/>
              <a:t>10</a:t>
            </a:r>
            <a:endParaRPr lang="pt-BR" sz="1600"/>
          </a:p>
        </p:txBody>
      </p:sp>
      <p:sp>
        <p:nvSpPr>
          <p:cNvPr id="18" name="TextBox 17"/>
          <p:cNvSpPr txBox="1"/>
          <p:nvPr/>
        </p:nvSpPr>
        <p:spPr>
          <a:xfrm>
            <a:off x="7549849" y="2571031"/>
            <a:ext cx="14806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pt-BR" sz="1600"/>
              <a:t>192.168.11.10</a:t>
            </a:r>
            <a:endParaRPr lang="pt-BR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750"/>
            <a:ext cx="9096375" cy="731520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Converter Binário para Decimal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00965" y="659130"/>
            <a:ext cx="8909685" cy="613410"/>
          </a:xfrm>
        </p:spPr>
        <p:txBody>
          <a:bodyPr/>
          <a:lstStyle/>
          <a:p>
            <a:pPr marL="0" indent="0" algn="ctr" rtl="0"/>
            <a:r>
              <a:rPr lang="pt-BR" sz="1600">
                <a:solidFill>
                  <a:srgbClr val="000000"/>
                </a:solidFill>
              </a:rPr>
              <a:t>A tabela de valores posicionais binários é útil na conversão de um endereço IPv4 decimal pontilhado em binário.</a:t>
            </a:r>
            <a:endParaRPr lang="pt-BR" sz="1600">
              <a:solidFill>
                <a:srgbClr val="00000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0330" y="1075690"/>
            <a:ext cx="3162935" cy="3553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31800" lvl="2" indent="-28575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Comece na </a:t>
            </a:r>
            <a:r>
              <a:rPr lang="pt-BR" sz="1500" b="1">
                <a:solidFill>
                  <a:srgbClr val="FF0000"/>
                </a:solidFill>
              </a:rPr>
              <a:t>posição 128</a:t>
            </a:r>
            <a:r>
              <a:rPr lang="pt-BR" sz="1500">
                <a:solidFill>
                  <a:srgbClr val="000000"/>
                </a:solidFill>
              </a:rPr>
              <a:t> (o bit mais significativo). O número decimal do octeto (n) é igual ou superior a 128?</a:t>
            </a:r>
            <a:endParaRPr lang="pt-BR" sz="1500">
              <a:solidFill>
                <a:srgbClr val="000000"/>
              </a:solidFill>
            </a:endParaRPr>
          </a:p>
          <a:p>
            <a:pPr marL="431800" lvl="2" indent="-28575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Se não, registre um </a:t>
            </a:r>
            <a:r>
              <a:rPr lang="pt-BR" sz="1500" b="1">
                <a:solidFill>
                  <a:srgbClr val="FF0000"/>
                </a:solidFill>
              </a:rPr>
              <a:t>binário 0</a:t>
            </a:r>
            <a:r>
              <a:rPr lang="pt-BR" sz="1500" b="1">
                <a:solidFill>
                  <a:srgbClr val="000000"/>
                </a:solidFill>
              </a:rPr>
              <a:t> </a:t>
            </a:r>
            <a:r>
              <a:rPr lang="pt-BR" sz="1500">
                <a:solidFill>
                  <a:srgbClr val="000000"/>
                </a:solidFill>
              </a:rPr>
              <a:t>no valor </a:t>
            </a:r>
            <a:r>
              <a:rPr lang="pt-BR" sz="1500" b="1">
                <a:solidFill>
                  <a:srgbClr val="FF0000"/>
                </a:solidFill>
              </a:rPr>
              <a:t>posicional 128</a:t>
            </a:r>
            <a:r>
              <a:rPr lang="pt-BR" sz="1500">
                <a:solidFill>
                  <a:srgbClr val="000000"/>
                </a:solidFill>
              </a:rPr>
              <a:t> e mova para o valor </a:t>
            </a:r>
            <a:r>
              <a:rPr lang="pt-BR" sz="1500" b="1">
                <a:solidFill>
                  <a:srgbClr val="FF0000"/>
                </a:solidFill>
              </a:rPr>
              <a:t>posicional 64</a:t>
            </a:r>
            <a:r>
              <a:rPr lang="pt-BR" sz="1500">
                <a:solidFill>
                  <a:srgbClr val="000000"/>
                </a:solidFill>
              </a:rPr>
              <a:t>.</a:t>
            </a:r>
            <a:endParaRPr lang="pt-BR" sz="1500">
              <a:solidFill>
                <a:srgbClr val="000000"/>
              </a:solidFill>
            </a:endParaRPr>
          </a:p>
          <a:p>
            <a:pPr marL="431800" lvl="2" indent="-28575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Se sim, registre um </a:t>
            </a:r>
            <a:r>
              <a:rPr lang="pt-BR" sz="1500" b="1">
                <a:solidFill>
                  <a:srgbClr val="FF0000"/>
                </a:solidFill>
              </a:rPr>
              <a:t>1 binário</a:t>
            </a:r>
            <a:r>
              <a:rPr lang="pt-BR" sz="1500" b="1">
                <a:solidFill>
                  <a:srgbClr val="000000"/>
                </a:solidFill>
              </a:rPr>
              <a:t> </a:t>
            </a:r>
            <a:r>
              <a:rPr lang="pt-BR" sz="1500">
                <a:solidFill>
                  <a:srgbClr val="000000"/>
                </a:solidFill>
              </a:rPr>
              <a:t>no valor </a:t>
            </a:r>
            <a:r>
              <a:rPr lang="pt-BR" sz="1500" b="1">
                <a:solidFill>
                  <a:srgbClr val="FF0000"/>
                </a:solidFill>
              </a:rPr>
              <a:t>posicional 128</a:t>
            </a:r>
            <a:r>
              <a:rPr lang="pt-BR" sz="1500">
                <a:solidFill>
                  <a:srgbClr val="000000"/>
                </a:solidFill>
              </a:rPr>
              <a:t>, subtraia 128 do número decimal e vá para o valor </a:t>
            </a:r>
            <a:r>
              <a:rPr lang="pt-BR" sz="1500" b="1">
                <a:solidFill>
                  <a:srgbClr val="FF0000"/>
                </a:solidFill>
              </a:rPr>
              <a:t>posicional 64</a:t>
            </a:r>
            <a:r>
              <a:rPr lang="pt-BR" sz="1500">
                <a:solidFill>
                  <a:srgbClr val="000000"/>
                </a:solidFill>
              </a:rPr>
              <a:t>.</a:t>
            </a:r>
            <a:endParaRPr lang="pt-BR" sz="1500">
              <a:solidFill>
                <a:srgbClr val="000000"/>
              </a:solidFill>
            </a:endParaRPr>
          </a:p>
          <a:p>
            <a:pPr marL="431800" lvl="2" indent="-285750" algn="just" rtl="0">
              <a:buFont typeface="Arial" panose="020B0604020202020204" pitchFamily="34" charset="0"/>
              <a:buChar char="•"/>
            </a:pPr>
            <a:r>
              <a:rPr lang="pt-BR" sz="1500">
                <a:solidFill>
                  <a:srgbClr val="000000"/>
                </a:solidFill>
              </a:rPr>
              <a:t>Repita estas etapas através do valor posicional 1.</a:t>
            </a:r>
            <a:endParaRPr lang="pt-BR" sz="15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0243" t="53276" r="19194" b="16474"/>
          <a:stretch>
            <a:fillRect/>
          </a:stretch>
        </p:blipFill>
        <p:spPr>
          <a:xfrm>
            <a:off x="3270250" y="1299210"/>
            <a:ext cx="5740400" cy="3106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>
                <a:sym typeface="+mn-ea"/>
              </a:rPr>
              <a:t>Sistema de Numeração Binário</a:t>
            </a:r>
            <a:br>
              <a:rPr lang="en-US" dirty="0"/>
            </a:br>
            <a:r>
              <a:rPr lang="pt-BR" sz="2400"/>
              <a:t>Exemplo de Conversão de Decimal para Binário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6040" y="657225"/>
            <a:ext cx="8950960" cy="448310"/>
          </a:xfrm>
        </p:spPr>
        <p:txBody>
          <a:bodyPr/>
          <a:lstStyle/>
          <a:p>
            <a:pPr marL="0" indent="0" algn="ctr" rtl="0">
              <a:buFont typeface="Arial" panose="020B0604020202020204" pitchFamily="34" charset="0"/>
            </a:pPr>
            <a:r>
              <a:rPr lang="pt-BR" sz="2500">
                <a:solidFill>
                  <a:srgbClr val="000000"/>
                </a:solidFill>
              </a:rPr>
              <a:t>Converter decimal </a:t>
            </a:r>
            <a:r>
              <a:rPr lang="pt-BR" sz="2500" b="1">
                <a:solidFill>
                  <a:srgbClr val="FF0000"/>
                </a:solidFill>
              </a:rPr>
              <a:t>192 </a:t>
            </a:r>
            <a:r>
              <a:rPr lang="pt-BR" sz="2500">
                <a:solidFill>
                  <a:srgbClr val="000000"/>
                </a:solidFill>
              </a:rPr>
              <a:t>em binário</a:t>
            </a:r>
            <a:endParaRPr lang="pt-BR" sz="25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20694" t="46083" r="34632" b="34462"/>
          <a:stretch>
            <a:fillRect/>
          </a:stretch>
        </p:blipFill>
        <p:spPr>
          <a:xfrm>
            <a:off x="66040" y="1105535"/>
            <a:ext cx="8950325" cy="3498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Binário de Numeração </a:t>
            </a:r>
            <a:br>
              <a:rPr lang="en-US" dirty="0"/>
            </a:br>
            <a:r>
              <a:rPr lang="pt-BR" sz="2400"/>
              <a:t>Enderecos IPv4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02870" y="763905"/>
            <a:ext cx="8820150" cy="1680210"/>
          </a:xfrm>
        </p:spPr>
        <p:txBody>
          <a:bodyPr/>
          <a:lstStyle/>
          <a:p>
            <a:pPr marL="0" indent="0" algn="ctr" rtl="0">
              <a:buFont typeface="Arial" panose="020B0604020202020204" pitchFamily="34" charset="0"/>
            </a:pPr>
            <a:r>
              <a:rPr lang="pt-BR" sz="2500">
                <a:solidFill>
                  <a:srgbClr val="000000"/>
                </a:solidFill>
              </a:rPr>
              <a:t>Roteadores e Computadores só entendem </a:t>
            </a:r>
            <a:r>
              <a:rPr lang="pt-BR" sz="2500" b="1">
                <a:solidFill>
                  <a:srgbClr val="FF0000"/>
                </a:solidFill>
              </a:rPr>
              <a:t>Binários</a:t>
            </a:r>
            <a:r>
              <a:rPr lang="pt-BR" sz="2500">
                <a:solidFill>
                  <a:srgbClr val="000000"/>
                </a:solidFill>
              </a:rPr>
              <a:t>, enquanto humanos trabalham em </a:t>
            </a:r>
            <a:r>
              <a:rPr lang="pt-BR" sz="2500" b="1">
                <a:solidFill>
                  <a:srgbClr val="FF0000"/>
                </a:solidFill>
              </a:rPr>
              <a:t>Decimal</a:t>
            </a:r>
            <a:r>
              <a:rPr lang="pt-BR" sz="2500">
                <a:solidFill>
                  <a:srgbClr val="000000"/>
                </a:solidFill>
              </a:rPr>
              <a:t>. É importante que você obtenha uma </a:t>
            </a:r>
            <a:r>
              <a:rPr lang="pt-BR" sz="2500" b="1">
                <a:solidFill>
                  <a:srgbClr val="0070C0"/>
                </a:solidFill>
              </a:rPr>
              <a:t>compreensão completa</a:t>
            </a:r>
            <a:r>
              <a:rPr lang="pt-BR" sz="2500">
                <a:solidFill>
                  <a:srgbClr val="000000"/>
                </a:solidFill>
              </a:rPr>
              <a:t> desses dois sistemas de numeração e como eles são usados na rede.</a:t>
            </a:r>
            <a:endParaRPr lang="pt-BR" sz="2500">
              <a:solidFill>
                <a:srgbClr val="000000"/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" y="2454910"/>
            <a:ext cx="8856345" cy="22644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6425" y="2239010"/>
            <a:ext cx="7848344" cy="929640"/>
          </a:xfrm>
        </p:spPr>
        <p:txBody>
          <a:bodyPr/>
          <a:lstStyle/>
          <a:p>
            <a:pPr rtl="0"/>
            <a:r>
              <a:rPr lang="pt-BR">
                <a:solidFill>
                  <a:schemeClr val="accent5">
                    <a:lumMod val="40000"/>
                    <a:lumOff val="60000"/>
                  </a:schemeClr>
                </a:solidFill>
              </a:rPr>
              <a:t>5.2 - Sistema de Numeração Hexadecimal</a:t>
            </a:r>
            <a:endParaRPr lang="pt-BR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</p:spTree>
    <p:custDataLst>
      <p:tags r:id="rId1"/>
    </p:custData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Endereços Hexadecimais e IPv6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96520" y="662305"/>
            <a:ext cx="3331845" cy="3996055"/>
          </a:xfrm>
        </p:spPr>
        <p:txBody>
          <a:bodyPr/>
          <a:lstStyle/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Para entender </a:t>
            </a:r>
            <a:r>
              <a:rPr lang="pt-BR" sz="1650" b="1">
                <a:solidFill>
                  <a:srgbClr val="FF0000"/>
                </a:solidFill>
              </a:rPr>
              <a:t>Endereços IPv6</a:t>
            </a:r>
            <a:r>
              <a:rPr lang="pt-BR" sz="1650">
                <a:solidFill>
                  <a:srgbClr val="000000"/>
                </a:solidFill>
              </a:rPr>
              <a:t>, você deve ser capaz de </a:t>
            </a:r>
            <a:r>
              <a:rPr lang="pt-BR" sz="1650" b="1">
                <a:solidFill>
                  <a:srgbClr val="FF0000"/>
                </a:solidFill>
              </a:rPr>
              <a:t>converter hexadecimal para decimal e vice-versa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Hexadecimal é um sistema de </a:t>
            </a:r>
            <a:r>
              <a:rPr lang="pt-BR" sz="1650" b="1">
                <a:solidFill>
                  <a:srgbClr val="FF0000"/>
                </a:solidFill>
              </a:rPr>
              <a:t>numeração de base dezesseis</a:t>
            </a:r>
            <a:r>
              <a:rPr lang="pt-BR" sz="1650">
                <a:solidFill>
                  <a:srgbClr val="000000"/>
                </a:solidFill>
              </a:rPr>
              <a:t>, usando os dígitos de </a:t>
            </a:r>
            <a:r>
              <a:rPr lang="pt-BR" sz="1650" b="1">
                <a:solidFill>
                  <a:srgbClr val="FF0000"/>
                </a:solidFill>
              </a:rPr>
              <a:t>0 a 9</a:t>
            </a:r>
            <a:r>
              <a:rPr lang="pt-BR" sz="1650">
                <a:solidFill>
                  <a:srgbClr val="000000"/>
                </a:solidFill>
              </a:rPr>
              <a:t> e as letras de </a:t>
            </a:r>
            <a:r>
              <a:rPr lang="pt-BR" sz="1650" b="1">
                <a:solidFill>
                  <a:srgbClr val="FF0000"/>
                </a:solidFill>
              </a:rPr>
              <a:t>A a F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É mais fácil expressar um valor como um único dígito hexadecimal do que como</a:t>
            </a:r>
            <a:r>
              <a:rPr lang="pt-BR" sz="1650" b="1">
                <a:solidFill>
                  <a:srgbClr val="000000"/>
                </a:solidFill>
              </a:rPr>
              <a:t> </a:t>
            </a:r>
            <a:r>
              <a:rPr lang="pt-BR" sz="1650" b="1">
                <a:solidFill>
                  <a:srgbClr val="FF0000"/>
                </a:solidFill>
              </a:rPr>
              <a:t>quatro bits binários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650">
                <a:solidFill>
                  <a:srgbClr val="000000"/>
                </a:solidFill>
              </a:rPr>
              <a:t>Hexadecimal é usado para representar </a:t>
            </a:r>
            <a:r>
              <a:rPr lang="pt-BR" sz="1650" b="1">
                <a:solidFill>
                  <a:srgbClr val="FF0000"/>
                </a:solidFill>
              </a:rPr>
              <a:t>endereços IPv6</a:t>
            </a:r>
            <a:r>
              <a:rPr lang="pt-BR" sz="1650">
                <a:solidFill>
                  <a:srgbClr val="FF0000"/>
                </a:solidFill>
              </a:rPr>
              <a:t> e </a:t>
            </a:r>
            <a:r>
              <a:rPr lang="pt-BR" sz="1650" b="1">
                <a:solidFill>
                  <a:srgbClr val="FF0000"/>
                </a:solidFill>
              </a:rPr>
              <a:t>endereços MAC</a:t>
            </a:r>
            <a:r>
              <a:rPr lang="pt-BR" sz="1650">
                <a:solidFill>
                  <a:srgbClr val="000000"/>
                </a:solidFill>
              </a:rPr>
              <a:t>.</a:t>
            </a:r>
            <a:endParaRPr lang="pt-BR" sz="165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</a:blip>
          <a:srcRect l="11542" t="38192" r="10646" b="14115"/>
          <a:stretch>
            <a:fillRect/>
          </a:stretch>
        </p:blipFill>
        <p:spPr>
          <a:xfrm>
            <a:off x="3428365" y="784860"/>
            <a:ext cx="5649595" cy="37515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Numérição Hexadecimal</a:t>
            </a:r>
            <a:br>
              <a:rPr lang="en-US" dirty="0"/>
            </a:br>
            <a:r>
              <a:rPr lang="pt-BR" sz="2400"/>
              <a:t>Endereços Hexadecimal e IPv6 (continuação)</a:t>
            </a:r>
            <a:endParaRPr lang="pt-BR" sz="240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18745" y="742315"/>
            <a:ext cx="3331845" cy="3890645"/>
          </a:xfrm>
        </p:spPr>
        <p:txBody>
          <a:bodyPr/>
          <a:lstStyle/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Endereços </a:t>
            </a:r>
            <a:r>
              <a:rPr lang="pt-BR" sz="1700" b="1">
                <a:solidFill>
                  <a:srgbClr val="FF0000"/>
                </a:solidFill>
              </a:rPr>
              <a:t>IPv6 têm 128 bits</a:t>
            </a:r>
            <a:r>
              <a:rPr lang="pt-BR" sz="1700">
                <a:solidFill>
                  <a:srgbClr val="000000"/>
                </a:solidFill>
              </a:rPr>
              <a:t> de comprimento. Cada </a:t>
            </a:r>
            <a:r>
              <a:rPr lang="pt-BR" sz="1700" b="1">
                <a:solidFill>
                  <a:srgbClr val="FF0000"/>
                </a:solidFill>
              </a:rPr>
              <a:t>4 bits</a:t>
            </a:r>
            <a:r>
              <a:rPr lang="pt-BR" sz="1700">
                <a:solidFill>
                  <a:srgbClr val="000000"/>
                </a:solidFill>
              </a:rPr>
              <a:t> é representado por um único </a:t>
            </a:r>
            <a:r>
              <a:rPr lang="pt-BR" sz="1700" b="1">
                <a:solidFill>
                  <a:srgbClr val="FF0000"/>
                </a:solidFill>
              </a:rPr>
              <a:t>dígito hexadecimal</a:t>
            </a:r>
            <a:r>
              <a:rPr lang="pt-BR" sz="1700">
                <a:solidFill>
                  <a:srgbClr val="000000"/>
                </a:solidFill>
              </a:rPr>
              <a:t> Isso torna o endereço </a:t>
            </a:r>
            <a:r>
              <a:rPr lang="pt-BR" sz="1700" b="1">
                <a:solidFill>
                  <a:srgbClr val="FF0000"/>
                </a:solidFill>
              </a:rPr>
              <a:t>IPv6 um total de 32 valores hexadecimais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A figura mostra o método preferido de escrever um endereço </a:t>
            </a:r>
            <a:r>
              <a:rPr lang="pt-BR" sz="1700" b="1">
                <a:solidFill>
                  <a:srgbClr val="FF0000"/>
                </a:solidFill>
              </a:rPr>
              <a:t>IPv6</a:t>
            </a:r>
            <a:r>
              <a:rPr lang="pt-BR" sz="1700">
                <a:solidFill>
                  <a:srgbClr val="000000"/>
                </a:solidFill>
              </a:rPr>
              <a:t>, com cada </a:t>
            </a:r>
            <a:r>
              <a:rPr lang="pt-BR" sz="1700" b="1">
                <a:solidFill>
                  <a:srgbClr val="000000"/>
                </a:solidFill>
              </a:rPr>
              <a:t>X </a:t>
            </a:r>
            <a:r>
              <a:rPr lang="pt-BR" sz="1700">
                <a:solidFill>
                  <a:srgbClr val="000000"/>
                </a:solidFill>
              </a:rPr>
              <a:t>representando </a:t>
            </a:r>
            <a:r>
              <a:rPr lang="pt-BR" sz="1700" b="1">
                <a:solidFill>
                  <a:srgbClr val="FF0000"/>
                </a:solidFill>
              </a:rPr>
              <a:t>quatro valores hexadecimais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  <a:p>
            <a:pPr marL="0" indent="0" algn="just" rtl="0">
              <a:buFont typeface="Arial" panose="020B0604020202020204" pitchFamily="34" charset="0"/>
            </a:pPr>
            <a:r>
              <a:rPr lang="pt-BR" sz="1700">
                <a:solidFill>
                  <a:srgbClr val="000000"/>
                </a:solidFill>
              </a:rPr>
              <a:t>Cada grupo de caracteres hexadecimais de quatro é referido como um </a:t>
            </a:r>
            <a:r>
              <a:rPr lang="pt-BR" sz="1700" b="1">
                <a:solidFill>
                  <a:srgbClr val="FF0000"/>
                </a:solidFill>
              </a:rPr>
              <a:t>hextet</a:t>
            </a:r>
            <a:r>
              <a:rPr lang="pt-BR" sz="1700">
                <a:solidFill>
                  <a:srgbClr val="000000"/>
                </a:solidFill>
              </a:rPr>
              <a:t>.</a:t>
            </a:r>
            <a:endParaRPr lang="pt-BR" sz="1700">
              <a:solidFill>
                <a:srgbClr val="000000"/>
              </a:solidFill>
            </a:endParaRPr>
          </a:p>
        </p:txBody>
      </p:sp>
      <p:pic>
        <p:nvPicPr>
          <p:cNvPr id="2" name="Imagem 1"/>
          <p:cNvPicPr>
            <a:picLocks noChangeAspect="1"/>
          </p:cNvPicPr>
          <p:nvPr/>
        </p:nvPicPr>
        <p:blipFill>
          <a:blip r:embed="rId1"/>
          <a:srcRect l="22188" t="45391" r="22486" b="23801"/>
          <a:stretch>
            <a:fillRect/>
          </a:stretch>
        </p:blipFill>
        <p:spPr>
          <a:xfrm>
            <a:off x="3450590" y="1017270"/>
            <a:ext cx="5467350" cy="32981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Conversões Decimal para Hexadecimal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86690" y="673100"/>
            <a:ext cx="8759190" cy="3571240"/>
          </a:xfrm>
        </p:spPr>
        <p:txBody>
          <a:bodyPr/>
          <a:lstStyle/>
          <a:p>
            <a:pPr algn="just" rtl="0"/>
            <a:r>
              <a:rPr lang="pt-BR" sz="1850">
                <a:solidFill>
                  <a:srgbClr val="000000"/>
                </a:solidFill>
              </a:rPr>
              <a:t>Siga as etapas listadas para converter números decimais em valores hexadecimais: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Converta o número decimal para strings binárias de 8 bits.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Divida as cadeias binárias em grupos de quatro a partir da posição mais à direita.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Converta cada quatro números binários em seu dígito hexadecimal equivalente.</a:t>
            </a:r>
            <a:endParaRPr lang="pt-BR" sz="1850">
              <a:solidFill>
                <a:srgbClr val="000000"/>
              </a:solidFill>
            </a:endParaRPr>
          </a:p>
          <a:p>
            <a:pPr algn="just"/>
            <a:endParaRPr lang="en-US" sz="1850" dirty="0">
              <a:solidFill>
                <a:srgbClr val="000000"/>
              </a:solidFill>
            </a:endParaRPr>
          </a:p>
          <a:p>
            <a:pPr algn="just" rtl="0"/>
            <a:r>
              <a:rPr lang="pt-BR" sz="1850">
                <a:solidFill>
                  <a:srgbClr val="000000"/>
                </a:solidFill>
              </a:rPr>
              <a:t>Por exemplo, 168 convertidos em hexadecimal usando o processo de três etapas.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168 em binário é 10101000.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10101000 em dois grupos de quatro dígitos binários é 1010 e 1000.</a:t>
            </a:r>
            <a:endParaRPr lang="pt-BR" sz="1850">
              <a:solidFill>
                <a:srgbClr val="000000"/>
              </a:solidFill>
            </a:endParaRPr>
          </a:p>
          <a:p>
            <a:pPr marL="285750" indent="-28575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1010 é hexadecimal e 1000 é hexadecimal 8, então 168 é A8 em hexadecimal.</a:t>
            </a:r>
            <a:endParaRPr lang="pt-BR" sz="1850">
              <a:solidFill>
                <a:srgbClr val="000000"/>
              </a:solidFill>
            </a:endParaRPr>
          </a:p>
          <a:p>
            <a:pPr algn="just"/>
            <a:endParaRPr lang="en-US" sz="185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1899"/>
            <a:ext cx="8345488" cy="731837"/>
          </a:xfrm>
        </p:spPr>
        <p:txBody>
          <a:bodyPr/>
          <a:lstStyle/>
          <a:p>
            <a:pPr rtl="0"/>
            <a:r>
              <a:rPr lang="pt-BR" sz="1600"/>
              <a:t>Sistema de Numeração Hexadecimal</a:t>
            </a:r>
            <a:br>
              <a:rPr lang="en-US" dirty="0"/>
            </a:br>
            <a:r>
              <a:rPr lang="pt-BR" sz="2400"/>
              <a:t>Conversões Hexadecimais em Decimais</a:t>
            </a:r>
            <a:endParaRPr lang="pt-BR" sz="240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59385" y="763905"/>
            <a:ext cx="8718550" cy="3571240"/>
          </a:xfrm>
        </p:spPr>
        <p:txBody>
          <a:bodyPr/>
          <a:lstStyle/>
          <a:p>
            <a:pPr algn="just" rtl="0"/>
            <a:r>
              <a:rPr lang="pt-BR" sz="1850">
                <a:solidFill>
                  <a:srgbClr val="000000"/>
                </a:solidFill>
              </a:rPr>
              <a:t>Siga as etapas listadas para converter números hexadecimais em valores decimais: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Converta o número hexadecimal em cadeias binárias de 4 bits.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Criar agrupamento binário de 8 bits a partir da posição mais à direita.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Converta cada agrupamento binário de 8 bits em seu dígito decimal equivalente.</a:t>
            </a:r>
            <a:endParaRPr lang="pt-BR" sz="1850">
              <a:solidFill>
                <a:srgbClr val="000000"/>
              </a:solidFill>
            </a:endParaRPr>
          </a:p>
          <a:p>
            <a:pPr algn="just"/>
            <a:endParaRPr lang="en-US" sz="1850" dirty="0">
              <a:solidFill>
                <a:srgbClr val="000000"/>
              </a:solidFill>
            </a:endParaRPr>
          </a:p>
          <a:p>
            <a:pPr algn="just" rtl="0"/>
            <a:r>
              <a:rPr lang="pt-BR" sz="1850">
                <a:solidFill>
                  <a:srgbClr val="000000"/>
                </a:solidFill>
              </a:rPr>
              <a:t>Por exemplo, D2 convertido em decimal usando o processo de três etapas: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D2 em cadeias binárias de 4 bits é 1110 e 0010.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1110 e 0010 é 11100010 em um agrupamento de 8 bits.</a:t>
            </a:r>
            <a:endParaRPr lang="pt-BR" sz="1850">
              <a:solidFill>
                <a:srgbClr val="000000"/>
              </a:solidFill>
            </a:endParaRPr>
          </a:p>
          <a:p>
            <a:pPr marL="342900" indent="-342900" algn="just" rtl="0">
              <a:buFont typeface="Arial" panose="020B0604020202020204" pitchFamily="34" charset="0"/>
              <a:buChar char="•"/>
            </a:pPr>
            <a:r>
              <a:rPr lang="pt-BR" sz="1850">
                <a:solidFill>
                  <a:srgbClr val="000000"/>
                </a:solidFill>
              </a:rPr>
              <a:t>11100010 em binário é equivalente a 210 em decimal, então D2 é 210 é decimal</a:t>
            </a:r>
            <a:endParaRPr lang="pt-BR" sz="1850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transition spd="slow">
    <p:wipe/>
  </p:transition>
</p:sld>
</file>

<file path=ppt/tags/tag1.xml><?xml version="1.0" encoding="utf-8"?>
<p:tagLst xmlns:p="http://schemas.openxmlformats.org/presentationml/2006/main">
  <p:tag name="ARTICULATE_SLIDE_THUMBNAIL_REFRESH" val="1"/>
</p:tagLst>
</file>

<file path=ppt/tags/tag2.xml><?xml version="1.0" encoding="utf-8"?>
<p:tagLst xmlns:p="http://schemas.openxmlformats.org/presentationml/2006/main">
  <p:tag name="ARTICULATE_SLIDE_THUMBNAIL_REFRESH" val="1"/>
</p:tagLst>
</file>

<file path=ppt/tags/tag3.xml><?xml version="1.0" encoding="utf-8"?>
<p:tagLst xmlns:p="http://schemas.openxmlformats.org/presentationml/2006/main">
  <p:tag name="ARTICULATE_SLIDE_THUMBNAIL_REFRESH" val="1"/>
</p:tagLst>
</file>

<file path=ppt/tags/tag4.xml><?xml version="1.0" encoding="utf-8"?>
<p:tagLst xmlns:p="http://schemas.openxmlformats.org/presentationml/2006/main">
  <p:tag name="ARTICULATE_SLIDE_THUMBNAIL_REFRESH" val="1"/>
</p:tagLst>
</file>

<file path=ppt/tags/tag5.xml><?xml version="1.0" encoding="utf-8"?>
<p:tagLst xmlns:p="http://schemas.openxmlformats.org/presentationml/2006/main">
  <p:tag name="ARTICULATE_SLIDE_COUNT" val="65"/>
  <p:tag name="ARTICULATE_PROJECT_OPEN" val="0"/>
</p:tagLst>
</file>

<file path=ppt/theme/theme1.xml><?xml version="1.0" encoding="utf-8"?>
<a:theme xmlns:a="http://schemas.openxmlformats.org/drawingml/2006/main" name="Default Theme">
  <a:themeElements>
    <a:clrScheme name="Custom 6">
      <a:dk1>
        <a:srgbClr val="58585B"/>
      </a:dk1>
      <a:lt1>
        <a:srgbClr val="FFFFFF"/>
      </a:lt1>
      <a:dk2>
        <a:srgbClr val="58585B"/>
      </a:dk2>
      <a:lt2>
        <a:srgbClr val="81C569"/>
      </a:lt2>
      <a:accent1>
        <a:srgbClr val="004C69"/>
      </a:accent1>
      <a:accent2>
        <a:srgbClr val="9E0B0F"/>
      </a:accent2>
      <a:accent3>
        <a:srgbClr val="FFFFFF"/>
      </a:accent3>
      <a:accent4>
        <a:srgbClr val="367187"/>
      </a:accent4>
      <a:accent5>
        <a:srgbClr val="38C6F4"/>
      </a:accent5>
      <a:accent6>
        <a:srgbClr val="FBAB18"/>
      </a:accent6>
      <a:hlink>
        <a:srgbClr val="38C6F4"/>
      </a:hlink>
      <a:folHlink>
        <a:srgbClr val="81C569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36A4D7"/>
        </a:solidFill>
        <a:ln>
          <a:noFill/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5171</Words>
  <Application>WPS Presentation</Application>
  <PresentationFormat>On-screen Show (16:9)</PresentationFormat>
  <Paragraphs>591</Paragraphs>
  <Slides>15</Slides>
  <Notes>26</Notes>
  <HiddenSlides>5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4" baseType="lpstr">
      <vt:lpstr>Arial</vt:lpstr>
      <vt:lpstr>SimSun</vt:lpstr>
      <vt:lpstr>Wingdings</vt:lpstr>
      <vt:lpstr>MS PGothic</vt:lpstr>
      <vt:lpstr>Droid Sans Fallback</vt:lpstr>
      <vt:lpstr>CiscoSans Thin</vt:lpstr>
      <vt:lpstr>Gubbi</vt:lpstr>
      <vt:lpstr>MS PGothic</vt:lpstr>
      <vt:lpstr>CiscoSans</vt:lpstr>
      <vt:lpstr>CiscoSans</vt:lpstr>
      <vt:lpstr>CiscoSans ExtraLight</vt:lpstr>
      <vt:lpstr>Arial</vt:lpstr>
      <vt:lpstr>CiscoSans ExtraLight</vt:lpstr>
      <vt:lpstr>OpenSymbol</vt:lpstr>
      <vt:lpstr>Microsoft YaHei</vt:lpstr>
      <vt:lpstr>Arial Unicode MS</vt:lpstr>
      <vt:lpstr>Calibri</vt:lpstr>
      <vt:lpstr>Trebuchet MS</vt:lpstr>
      <vt:lpstr>Default Theme</vt:lpstr>
      <vt:lpstr>Módulo 5: Sistemas numéricos</vt:lpstr>
      <vt:lpstr>5.1 - Sistema de Numeração Binário</vt:lpstr>
      <vt:lpstr>Sistema de Numeração Binário Endereços Binários e IPv4</vt:lpstr>
      <vt:lpstr>Sistema de Numeração Binário Notação Posicional Binária</vt:lpstr>
      <vt:lpstr>Sistema de Numeração Binário Notação Posicional Binária (Continuação)</vt:lpstr>
      <vt:lpstr>Sistema de Numeração Binário Converter Binário para Decimal</vt:lpstr>
      <vt:lpstr>Sistema de Numeração Binário Converter Binário para Decimal</vt:lpstr>
      <vt:lpstr>Sistema de Numeração Binário Exemplo de Conversão de Decimal para Binário</vt:lpstr>
      <vt:lpstr>Sistema Binário de Numeração  Enderecos IPv4</vt:lpstr>
      <vt:lpstr>5.2 - Sistema de Numeração Hexadecimal</vt:lpstr>
      <vt:lpstr>Sistema de numeração hexadecimal Endereços Hexadecimais e IPv6</vt:lpstr>
      <vt:lpstr>Sistema numérico hexadecimal  Endereços hexadecimal e IPv6 (cont.)</vt:lpstr>
      <vt:lpstr>Sistema de numeração hexadecimal Conversões decimal para hexadecimal</vt:lpstr>
      <vt:lpstr>Sistema de numeração hexadecimal Conversões hexadecimais em decimais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2: Basic Switch and End Device Configuration</dc:title>
  <dc:creator>Stephanie Harvey</dc:creator>
  <cp:lastModifiedBy>vaamonde</cp:lastModifiedBy>
  <cp:revision>214</cp:revision>
  <dcterms:created xsi:type="dcterms:W3CDTF">2026-03-18T00:17:58Z</dcterms:created>
  <dcterms:modified xsi:type="dcterms:W3CDTF">2026-03-18T00:17:58Z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ffisync_ProviderInitializationData">
    <vt:lpwstr>https://cisco.jiveon.com</vt:lpwstr>
  </property>
  <property fmtid="{D5CDD505-2E9C-101B-9397-08002B2CF9AE}" pid="3" name="Offisync_UpdateToken">
    <vt:lpwstr>1</vt:lpwstr>
  </property>
  <property fmtid="{D5CDD505-2E9C-101B-9397-08002B2CF9AE}" pid="4" name="Offisync_ServerID">
    <vt:lpwstr>07841bbc-cd3c-4a76-827f-75a2226890f4</vt:lpwstr>
  </property>
  <property fmtid="{D5CDD505-2E9C-101B-9397-08002B2CF9AE}" pid="5" name="Offisync_UniqueId">
    <vt:lpwstr>1702406</vt:lpwstr>
  </property>
  <property fmtid="{D5CDD505-2E9C-101B-9397-08002B2CF9AE}" pid="6" name="Jive_VersionGuid">
    <vt:lpwstr>fd96a0b3-f68d-4727-8e4f-2128d37ed30a</vt:lpwstr>
  </property>
  <property fmtid="{D5CDD505-2E9C-101B-9397-08002B2CF9AE}" pid="7" name="Jive_LatestUserAccountName">
    <vt:lpwstr>alljohns</vt:lpwstr>
  </property>
  <property fmtid="{D5CDD505-2E9C-101B-9397-08002B2CF9AE}" pid="8" name="ArticulateGUID">
    <vt:lpwstr>F9A496F7-57D7-4028-9572-D40DFDF3715A</vt:lpwstr>
  </property>
  <property fmtid="{D5CDD505-2E9C-101B-9397-08002B2CF9AE}" pid="9" name="ArticulatePath">
    <vt:lpwstr>ITE7_Chp9_by_jg</vt:lpwstr>
  </property>
  <property fmtid="{D5CDD505-2E9C-101B-9397-08002B2CF9AE}" pid="10" name="ICV">
    <vt:lpwstr/>
  </property>
  <property fmtid="{D5CDD505-2E9C-101B-9397-08002B2CF9AE}" pid="11" name="KSOProductBuildVer">
    <vt:lpwstr>1046-11.1.0.11723</vt:lpwstr>
  </property>
</Properties>
</file>