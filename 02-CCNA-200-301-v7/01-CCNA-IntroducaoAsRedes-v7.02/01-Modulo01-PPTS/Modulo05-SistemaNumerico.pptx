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876" r:id="rId3"/>
    <p:sldId id="759" r:id="rId5"/>
    <p:sldId id="1054" r:id="rId6"/>
    <p:sldId id="1091" r:id="rId7"/>
    <p:sldId id="1092" r:id="rId8"/>
    <p:sldId id="1093" r:id="rId9"/>
    <p:sldId id="1094" r:id="rId10"/>
    <p:sldId id="1095" r:id="rId11"/>
    <p:sldId id="1096" r:id="rId12"/>
    <p:sldId id="1056" r:id="rId13"/>
    <p:sldId id="1097" r:id="rId14"/>
    <p:sldId id="1098" r:id="rId15"/>
    <p:sldId id="1100" r:id="rId16"/>
    <p:sldId id="1101" r:id="rId17"/>
    <p:sldId id="291" r:id="rId18"/>
  </p:sldIdLst>
  <p:sldSz cx="9144000" cy="5143500" type="screen16x9"/>
  <p:notesSz cx="6858000" cy="9144000"/>
  <p:custDataLst>
    <p:tags r:id="rId23"/>
  </p:custDataLst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Barbara Reif" initials="BR" lastIdx="3" clrIdx="0"/>
  <p:cmAuthor id="1" name="Jane Gibbons -X (jagibbon - DEL ORO CONSULTING INC at Cisco)" initials="JG-(-DOCIaC" lastIdx="28" clrIdx="1"/>
  <p:cmAuthor id="2" name="Bob Vachon" initials="BV" lastIdx="24" clrIdx="2"/>
  <p:cmAuthor id="3" name="Sue Livingston -X (suliving - UNICON INC at Cisco)" initials="SL-(-UIaC" lastIdx="26" clrIdx="3"/>
  <p:cmAuthor id="4" name="jagibbon" initials="jmg" lastIdx="8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00CC"/>
    <a:srgbClr val="000099"/>
    <a:srgbClr val="CC99FF"/>
    <a:srgbClr val="CC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934" autoAdjust="0"/>
    <p:restoredTop sz="86438" autoAdjust="0"/>
  </p:normalViewPr>
  <p:slideViewPr>
    <p:cSldViewPr snapToGrid="0" showGuides="1">
      <p:cViewPr varScale="1">
        <p:scale>
          <a:sx n="77" d="100"/>
          <a:sy n="77" d="100"/>
        </p:scale>
        <p:origin x="1160" y="48"/>
      </p:cViewPr>
      <p:guideLst>
        <p:guide orient="horz" pos="1614"/>
        <p:guide pos="336"/>
      </p:guideLst>
    </p:cSldViewPr>
  </p:slideViewPr>
  <p:outlineViewPr>
    <p:cViewPr>
      <p:scale>
        <a:sx n="33" d="100"/>
        <a:sy n="33" d="100"/>
      </p:scale>
      <p:origin x="0" y="-22670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11" d="100"/>
        <a:sy n="111" d="100"/>
      </p:scale>
      <p:origin x="0" y="-512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3" Type="http://schemas.openxmlformats.org/officeDocument/2006/relationships/tags" Target="tags/tag5.xml"/><Relationship Id="rId22" Type="http://schemas.openxmlformats.org/officeDocument/2006/relationships/commentAuthors" Target="commentAuthors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6337D9-3022-3D41-8D8A-BDF2F3B0DD8E}" type="datetimeFigureOut">
              <a:rPr lang="en-US" smtClean="0"/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41018C-6CAF-B84E-B92C-ECB119457FBA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Programa da Cisco Networking Academy</a:t>
            </a:r>
            <a:endParaRPr lang="pt-BR"/>
          </a:p>
          <a:p>
            <a:pPr rtl="0"/>
            <a:r>
              <a:rPr lang="pt-BR"/>
              <a:t>Introdução às redes v7.0 (ITN)</a:t>
            </a:r>
            <a:endParaRPr lang="pt-BR"/>
          </a:p>
          <a:p>
            <a:pPr rtl="0"/>
            <a:r>
              <a:rPr lang="pt-BR"/>
              <a:t>Módulo 5: Sistemas numéricos</a:t>
            </a:r>
            <a:endParaRPr lang="pt-BR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5 - Sistemas Numéricos</a:t>
            </a:r>
            <a:endParaRPr lang="pt-BR"/>
          </a:p>
          <a:p>
            <a:pPr rtl="0"/>
            <a:r>
              <a:rPr lang="pt-BR"/>
              <a:t>5.1 Sistema Binário de Numeração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5 - Sistemas Numéricos</a:t>
            </a:r>
            <a:endParaRPr lang="pt-BR"/>
          </a:p>
          <a:p>
            <a:pPr rtl="0"/>
            <a:r>
              <a:rPr lang="pt-BR"/>
              <a:t>5.1 - Sistema Binário de Numeração</a:t>
            </a:r>
            <a:endParaRPr lang="pt-BR"/>
          </a:p>
          <a:p>
            <a:pPr rtl="0"/>
            <a:r>
              <a:rPr lang="pt-BR"/>
              <a:t>5.1.1 - Endereços Binários e IPv4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5 - Sistemas Numéricos</a:t>
            </a:r>
            <a:endParaRPr lang="pt-BR"/>
          </a:p>
          <a:p>
            <a:pPr rtl="0"/>
            <a:r>
              <a:rPr lang="pt-BR"/>
              <a:t>5.1 - Sistema Binário de Numeração</a:t>
            </a:r>
            <a:endParaRPr lang="pt-BR"/>
          </a:p>
          <a:p>
            <a:pPr rtl="0"/>
            <a:r>
              <a:rPr lang="pt-BR"/>
              <a:t>5.1.3 - Notação Posicional Binária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5 - Sistemas Numéricos</a:t>
            </a:r>
            <a:endParaRPr lang="pt-BR"/>
          </a:p>
          <a:p>
            <a:pPr rtl="0"/>
            <a:r>
              <a:rPr lang="pt-BR"/>
              <a:t>5.1 - Sistema Binário de Numeração</a:t>
            </a:r>
            <a:endParaRPr lang="pt-BR"/>
          </a:p>
          <a:p>
            <a:pPr rtl="0"/>
            <a:r>
              <a:rPr lang="pt-BR"/>
              <a:t>5.1.3 - Notação Posicional Binária</a:t>
            </a:r>
            <a:endParaRPr lang="pt-BR"/>
          </a:p>
          <a:p>
            <a:pPr rtl="0"/>
            <a:r>
              <a:rPr lang="pt-BR"/>
              <a:t>5.1.4 — Verifique o seu entendimento — Sistema Binário de Numeração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5 - Sistemas Numéricos</a:t>
            </a:r>
            <a:endParaRPr lang="pt-BR"/>
          </a:p>
          <a:p>
            <a:pPr rtl="0"/>
            <a:r>
              <a:rPr lang="pt-BR"/>
              <a:t>5.1 - Sistema Binário de Numeração</a:t>
            </a:r>
            <a:endParaRPr lang="pt-BR"/>
          </a:p>
          <a:p>
            <a:pPr rtl="0"/>
            <a:r>
              <a:rPr lang="pt-BR"/>
              <a:t>5.1.5 - Converter Binário para Decimal</a:t>
            </a:r>
            <a:endParaRPr lang="pt-BR"/>
          </a:p>
          <a:p>
            <a:pPr rtl="0"/>
            <a:r>
              <a:rPr lang="pt-BR"/>
              <a:t>5.1.6 - Atividade - conversões binárias em decimais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5 - Sistemas Numéricos</a:t>
            </a:r>
            <a:endParaRPr lang="pt-BR"/>
          </a:p>
          <a:p>
            <a:pPr rtl="0"/>
            <a:r>
              <a:rPr lang="pt-BR"/>
              <a:t>5.1 - Sistema de numeração binário</a:t>
            </a:r>
            <a:endParaRPr lang="pt-BR"/>
          </a:p>
          <a:p>
            <a:pPr rtl="0"/>
            <a:r>
              <a:rPr lang="pt-BR"/>
              <a:t>5.1.7 - Conversão de Decimal para Binário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5 - Sistemas Numéricos</a:t>
            </a:r>
            <a:endParaRPr lang="pt-BR"/>
          </a:p>
          <a:p>
            <a:pPr rtl="0"/>
            <a:r>
              <a:rPr lang="pt-BR"/>
              <a:t>5.1 - Sistema Binário de Numeração</a:t>
            </a:r>
            <a:endParaRPr lang="pt-BR"/>
          </a:p>
          <a:p>
            <a:pPr rtl="0"/>
            <a:r>
              <a:rPr lang="pt-BR"/>
              <a:t>5.1.8 - Exemplo de Conversão de Decimal para Binário</a:t>
            </a:r>
            <a:endParaRPr lang="pt-BR"/>
          </a:p>
          <a:p>
            <a:pPr rtl="0"/>
            <a:r>
              <a:rPr lang="pt-BR"/>
              <a:t>5.1.9 - Atividade - Conversões decimais em binárias</a:t>
            </a:r>
            <a:endParaRPr lang="pt-BR"/>
          </a:p>
          <a:p>
            <a:pPr rtl="0"/>
            <a:r>
              <a:rPr lang="pt-BR"/>
              <a:t>5.1.10 - Atividade - Jogo Binário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5 - Sistemas Numéricos</a:t>
            </a:r>
            <a:endParaRPr lang="pt-BR"/>
          </a:p>
          <a:p>
            <a:pPr rtl="0"/>
            <a:r>
              <a:rPr lang="pt-BR"/>
              <a:t>5.1 - Sistema Binário de Numeração</a:t>
            </a:r>
            <a:endParaRPr lang="pt-BR"/>
          </a:p>
          <a:p>
            <a:pPr rtl="0"/>
            <a:r>
              <a:rPr lang="pt-BR"/>
              <a:t>5.1.11 — Endereços IPv4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5 - Sistemas Numéricos</a:t>
            </a:r>
            <a:endParaRPr lang="pt-BR"/>
          </a:p>
          <a:p>
            <a:pPr rtl="0"/>
            <a:r>
              <a:rPr lang="pt-BR"/>
              <a:t>5.2 - Sistema de numeração hexadecimal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5 - Sistemas Numéricos</a:t>
            </a:r>
            <a:endParaRPr lang="pt-BR"/>
          </a:p>
          <a:p>
            <a:pPr rtl="0"/>
            <a:r>
              <a:rPr lang="pt-BR"/>
              <a:t>5.2 - Sistema de numeração hexadecimal</a:t>
            </a:r>
            <a:endParaRPr lang="pt-BR"/>
          </a:p>
          <a:p>
            <a:pPr rtl="0"/>
            <a:r>
              <a:rPr lang="pt-BR"/>
              <a:t>5.2.1 - Endereços hexadecimais e IPv6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5 - Sistemas Numéricos</a:t>
            </a:r>
            <a:endParaRPr lang="pt-BR"/>
          </a:p>
          <a:p>
            <a:pPr rtl="0"/>
            <a:r>
              <a:rPr lang="pt-BR"/>
              <a:t>5.2 - Sistema de numeração hexadecimal</a:t>
            </a:r>
            <a:endParaRPr lang="pt-BR"/>
          </a:p>
          <a:p>
            <a:pPr rtl="0"/>
            <a:r>
              <a:rPr lang="pt-BR"/>
              <a:t>5.2.1 - Endereços hexadecimais e IPv6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5 - Sistemas Numéricos</a:t>
            </a:r>
            <a:endParaRPr lang="pt-BR"/>
          </a:p>
          <a:p>
            <a:pPr rtl="0"/>
            <a:r>
              <a:rPr lang="pt-BR"/>
              <a:t>5.2 - Sistema de numeração hexadecimal</a:t>
            </a:r>
            <a:endParaRPr lang="pt-BR"/>
          </a:p>
          <a:p>
            <a:pPr rtl="0"/>
            <a:r>
              <a:rPr lang="pt-BR"/>
              <a:t>5.2.3 - </a:t>
            </a:r>
            <a:r>
              <a:rPr lang="pt-BR" sz="1200"/>
              <a:t>Conversões decimais em hexadecimais</a:t>
            </a:r>
            <a:endParaRPr lang="pt-BR" sz="12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5 - Sistemas Numéricos</a:t>
            </a:r>
            <a:endParaRPr lang="pt-BR"/>
          </a:p>
          <a:p>
            <a:pPr rtl="0"/>
            <a:r>
              <a:rPr lang="pt-BR"/>
              <a:t>5.2 - Sistema de numeração hexadecimal</a:t>
            </a:r>
            <a:endParaRPr lang="pt-BR"/>
          </a:p>
          <a:p>
            <a:pPr rtl="0"/>
            <a:r>
              <a:rPr lang="pt-BR"/>
              <a:t>5.2.4 - </a:t>
            </a:r>
            <a:r>
              <a:rPr lang="pt-BR" sz="1200"/>
              <a:t>Conversões decimais em hexadecimais</a:t>
            </a:r>
            <a:endParaRPr lang="pt-BR" sz="1200"/>
          </a:p>
          <a:p>
            <a:pPr rtl="0"/>
            <a:r>
              <a:rPr lang="pt-BR" sz="1200"/>
              <a:t>5.2.5 - Verifique o seu entendimento - Sistema de números hexadecimal</a:t>
            </a:r>
            <a:endParaRPr lang="pt-BR" sz="12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3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5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800" indent="0">
              <a:buNone/>
              <a:defRPr/>
            </a:lvl2pPr>
            <a:lvl3pPr marL="427355" indent="0">
              <a:buNone/>
              <a:defRPr/>
            </a:lvl3pPr>
            <a:lvl4pPr marL="516890" indent="0">
              <a:buNone/>
              <a:defRPr/>
            </a:lvl4pPr>
            <a:lvl5pPr marL="601345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38C6F4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chemeClr val="accent5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0" name="Freeform 6"/>
            <p:cNvSpPr/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2" name="Freeform 7"/>
            <p:cNvSpPr/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4" name="Freeform 9"/>
            <p:cNvSpPr/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5" name="Freeform 10"/>
            <p:cNvSpPr/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1" name="Freeform 11"/>
            <p:cNvSpPr/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2" name="Freeform 12"/>
            <p:cNvSpPr/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3" name="Freeform 13"/>
            <p:cNvSpPr/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4" name="Freeform 14"/>
            <p:cNvSpPr/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5" name="Freeform 15"/>
            <p:cNvSpPr/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6" name="Freeform 16"/>
            <p:cNvSpPr/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7" name="Freeform 17"/>
            <p:cNvSpPr/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8" name="Freeform 18"/>
            <p:cNvSpPr/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</p:spTree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5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1"/>
                </a:solidFill>
                <a:latin typeface="+mn-lt"/>
                <a:cs typeface="CiscoSans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5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1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1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rgbClr val="004C69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0" name="Freeform 6"/>
            <p:cNvSpPr/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2" name="Freeform 7"/>
            <p:cNvSpPr/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4" name="Freeform 9"/>
            <p:cNvSpPr/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5" name="Freeform 10"/>
            <p:cNvSpPr/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1" name="Freeform 11"/>
            <p:cNvSpPr/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2" name="Freeform 12"/>
            <p:cNvSpPr/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3" name="Freeform 13"/>
            <p:cNvSpPr/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4" name="Freeform 14"/>
            <p:cNvSpPr/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5" name="Freeform 15"/>
            <p:cNvSpPr/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6" name="Freeform 16"/>
            <p:cNvSpPr/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7" name="Freeform 17"/>
            <p:cNvSpPr/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8" name="Freeform 18"/>
            <p:cNvSpPr/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accent1"/>
                </a:solidFill>
                <a:latin typeface="+mj-lt"/>
              </a:defRPr>
            </a:lvl1pPr>
            <a:lvl2pPr marL="304800" indent="0">
              <a:buNone/>
              <a:defRPr/>
            </a:lvl2pPr>
            <a:lvl3pPr marL="427355" indent="0">
              <a:buNone/>
              <a:defRPr/>
            </a:lvl3pPr>
            <a:lvl4pPr marL="516890" indent="0">
              <a:buNone/>
              <a:defRPr/>
            </a:lvl4pPr>
            <a:lvl5pPr marL="601345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chemeClr val="accent1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6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5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chemeClr val="accent5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0" name="Freeform 6"/>
            <p:cNvSpPr/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2" name="Freeform 7"/>
            <p:cNvSpPr/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4" name="Freeform 9"/>
            <p:cNvSpPr/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5" name="Freeform 10"/>
            <p:cNvSpPr/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1" name="Freeform 11"/>
            <p:cNvSpPr/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2" name="Freeform 12"/>
            <p:cNvSpPr/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3" name="Freeform 13"/>
            <p:cNvSpPr/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4" name="Freeform 14"/>
            <p:cNvSpPr/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5" name="Freeform 15"/>
            <p:cNvSpPr/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6" name="Freeform 16"/>
            <p:cNvSpPr/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7" name="Freeform 17"/>
            <p:cNvSpPr/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8" name="Freeform 18"/>
            <p:cNvSpPr/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800" indent="0">
              <a:buNone/>
              <a:defRPr/>
            </a:lvl2pPr>
            <a:lvl3pPr marL="427355" indent="0">
              <a:buNone/>
              <a:defRPr/>
            </a:lvl3pPr>
            <a:lvl4pPr marL="516890" indent="0">
              <a:buNone/>
              <a:defRPr/>
            </a:lvl4pPr>
            <a:lvl5pPr marL="601345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38C6F4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3_Seg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39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7598042" cy="2569946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4600" b="0" i="0" spc="0" baseline="0">
                <a:solidFill>
                  <a:schemeClr val="accent5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ltGray">
          <a:xfrm>
            <a:off x="8515707" y="4742907"/>
            <a:ext cx="218414" cy="154518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 lIns="61586" tIns="30792" rIns="61586" bIns="30792" anchor="b">
            <a:spAutoFit/>
          </a:bodyPr>
          <a:lstStyle/>
          <a:p>
            <a:pPr algn="r" defTabSz="610870" rtl="0" fontAlgn="auto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sz="60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</a:fld>
            <a:endParaRPr sz="600">
              <a:solidFill>
                <a:schemeClr val="accent5">
                  <a:lumMod val="50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sp>
        <p:nvSpPr>
          <p:cNvPr id="9" name="Rectangle 4"/>
          <p:cNvSpPr>
            <a:spLocks noChangeArrowheads="1"/>
          </p:cNvSpPr>
          <p:nvPr userDrawn="1"/>
        </p:nvSpPr>
        <p:spPr bwMode="ltGray">
          <a:xfrm>
            <a:off x="5867508" y="4741653"/>
            <a:ext cx="2658018" cy="15451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61586" tIns="30792" rIns="61586" bIns="30792" anchor="b">
            <a:spAutoFit/>
          </a:bodyPr>
          <a:lstStyle/>
          <a:p>
            <a:pPr defTabSz="610870" rt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60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  <a:t>© 2016 Cisco e/ou suas afiliadas. Todos os direitos reservados.   Confidencial da Cisco</a:t>
            </a:r>
            <a:endParaRPr lang="pt-BR" sz="600">
              <a:solidFill>
                <a:schemeClr val="accent5">
                  <a:lumMod val="50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grpSp>
        <p:nvGrpSpPr>
          <p:cNvPr id="11" name="Group 4"/>
          <p:cNvGrpSpPr>
            <a:grpSpLocks noChangeAspect="1"/>
          </p:cNvGrpSpPr>
          <p:nvPr userDrawn="1"/>
        </p:nvGrpSpPr>
        <p:grpSpPr bwMode="auto">
          <a:xfrm>
            <a:off x="508039" y="4715197"/>
            <a:ext cx="340257" cy="180974"/>
            <a:chOff x="310" y="249"/>
            <a:chExt cx="502" cy="267"/>
          </a:xfrm>
          <a:solidFill>
            <a:srgbClr val="086D8E"/>
          </a:solidFill>
        </p:grpSpPr>
        <p:sp>
          <p:nvSpPr>
            <p:cNvPr id="12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3" name="Freeform 6"/>
            <p:cNvSpPr/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4" name="Freeform 7"/>
            <p:cNvSpPr/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5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6" name="Freeform 9"/>
            <p:cNvSpPr/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7" name="Freeform 10"/>
            <p:cNvSpPr/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8" name="Freeform 11"/>
            <p:cNvSpPr/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9" name="Freeform 12"/>
            <p:cNvSpPr/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0" name="Freeform 13"/>
            <p:cNvSpPr/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1" name="Freeform 14"/>
            <p:cNvSpPr/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2" name="Freeform 15"/>
            <p:cNvSpPr/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3" name="Freeform 16"/>
            <p:cNvSpPr/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4" name="Freeform 17"/>
            <p:cNvSpPr/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5" name="Freeform 18"/>
            <p:cNvSpPr/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</p:spTree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ulti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74662" y="1347788"/>
            <a:ext cx="8280057" cy="3073946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750" marR="0" indent="-28575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/>
              <a:buNone/>
              <a:defRPr sz="2000" b="0" i="0" baseline="0">
                <a:solidFill>
                  <a:schemeClr val="bg1"/>
                </a:solidFill>
                <a:latin typeface="+mn-lt"/>
                <a:cs typeface="CiscoSans ExtraLight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Title Placeholder 5"/>
          <p:cNvSpPr>
            <a:spLocks noGrp="1"/>
          </p:cNvSpPr>
          <p:nvPr>
            <p:ph type="title"/>
          </p:nvPr>
        </p:nvSpPr>
        <p:spPr bwMode="auto">
          <a:xfrm>
            <a:off x="437766" y="341313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575610" y="2552550"/>
            <a:ext cx="698624" cy="698624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solidFill>
                <a:srgbClr val="FFFFFF"/>
              </a:solidFill>
              <a:cs typeface="Arial" panose="020B0604020202020204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5610" y="1426607"/>
            <a:ext cx="698624" cy="698624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bg1"/>
              </a:solidFill>
              <a:cs typeface="Arial" panose="020B0604020202020204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5610" y="3653093"/>
            <a:ext cx="698624" cy="698624"/>
          </a:xfrm>
          <a:prstGeom prst="ellipse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solidFill>
                <a:srgbClr val="049FD9"/>
              </a:solidFill>
              <a:cs typeface="Arial" panose="020B0604020202020204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365250" y="1432522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365250" y="2557793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365250" y="3653093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0" y="2552550"/>
            <a:ext cx="698624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  <a:endParaRPr lang="en-US" dirty="0"/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1" y="3651140"/>
            <a:ext cx="698624" cy="693381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  <a:endParaRPr lang="en-US" dirty="0"/>
          </a:p>
        </p:txBody>
      </p:sp>
      <p:sp>
        <p:nvSpPr>
          <p:cNvPr id="13" name="Text Placeholder 17"/>
          <p:cNvSpPr>
            <a:spLocks noGrp="1"/>
          </p:cNvSpPr>
          <p:nvPr>
            <p:ph type="body" sz="quarter" idx="19" hasCustomPrompt="1"/>
          </p:nvPr>
        </p:nvSpPr>
        <p:spPr>
          <a:xfrm>
            <a:off x="575610" y="1427248"/>
            <a:ext cx="698624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 panose="020B0604020202020204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 panose="020B0604020202020204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 panose="020B0604020202020204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4" y="1334842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5" y="1984561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5" y="2627446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7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  <a:endParaRPr lang="en-US" dirty="0"/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  <a:endParaRPr lang="en-US" dirty="0"/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  <a:endParaRPr lang="en-US" dirty="0"/>
          </a:p>
        </p:txBody>
      </p:sp>
      <p:sp>
        <p:nvSpPr>
          <p:cNvPr id="13" name="Oval 12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 panose="020B0604020202020204"/>
            </a:endParaRPr>
          </a:p>
        </p:txBody>
      </p:sp>
      <p:sp>
        <p:nvSpPr>
          <p:cNvPr id="14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6" y="3274581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6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4</a:t>
            </a:r>
            <a:endParaRPr lang="en-US" dirty="0"/>
          </a:p>
        </p:txBody>
      </p:sp>
      <p:sp>
        <p:nvSpPr>
          <p:cNvPr id="17" name="Oval 16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 panose="020B0604020202020204"/>
            </a:endParaRP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7" y="3921716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9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5</a:t>
            </a:r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2" name="Oval 41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rgbClr val="FFFFFF"/>
              </a:solidFill>
              <a:cs typeface="Arial" panose="020B0604020202020204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45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4" y="133484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6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5" y="1984561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7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5" y="2627446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8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  <a:endParaRPr lang="en-US" dirty="0"/>
          </a:p>
        </p:txBody>
      </p:sp>
      <p:sp>
        <p:nvSpPr>
          <p:cNvPr id="49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  <a:endParaRPr lang="en-US" dirty="0"/>
          </a:p>
        </p:txBody>
      </p:sp>
      <p:sp>
        <p:nvSpPr>
          <p:cNvPr id="50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  <a:endParaRPr lang="en-US" dirty="0"/>
          </a:p>
        </p:txBody>
      </p:sp>
      <p:sp>
        <p:nvSpPr>
          <p:cNvPr id="51" name="Oval 50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52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6" y="3274581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3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4</a:t>
            </a:r>
            <a:endParaRPr lang="en-US" dirty="0"/>
          </a:p>
        </p:txBody>
      </p:sp>
      <p:sp>
        <p:nvSpPr>
          <p:cNvPr id="54" name="Oval 53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55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7" y="3921716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6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5</a:t>
            </a:r>
            <a:endParaRPr lang="en-US" dirty="0"/>
          </a:p>
        </p:txBody>
      </p:sp>
      <p:sp>
        <p:nvSpPr>
          <p:cNvPr id="57" name="Oval 56"/>
          <p:cNvSpPr/>
          <p:nvPr/>
        </p:nvSpPr>
        <p:spPr>
          <a:xfrm>
            <a:off x="4414576" y="1983084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58" name="Oval 57"/>
          <p:cNvSpPr/>
          <p:nvPr/>
        </p:nvSpPr>
        <p:spPr>
          <a:xfrm>
            <a:off x="4414575" y="1332693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59" name="Oval 58"/>
          <p:cNvSpPr/>
          <p:nvPr/>
        </p:nvSpPr>
        <p:spPr>
          <a:xfrm>
            <a:off x="4414576" y="2631212"/>
            <a:ext cx="464815" cy="464815"/>
          </a:xfrm>
          <a:prstGeom prst="ellipse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60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5011349" y="1338608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1" name="Text Placeholder 17"/>
          <p:cNvSpPr>
            <a:spLocks noGrp="1"/>
          </p:cNvSpPr>
          <p:nvPr>
            <p:ph type="body" sz="quarter" idx="24"/>
          </p:nvPr>
        </p:nvSpPr>
        <p:spPr>
          <a:xfrm>
            <a:off x="5011350" y="198832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2" name="Text Placeholder 17"/>
          <p:cNvSpPr>
            <a:spLocks noGrp="1"/>
          </p:cNvSpPr>
          <p:nvPr>
            <p:ph type="body" sz="quarter" idx="25"/>
          </p:nvPr>
        </p:nvSpPr>
        <p:spPr>
          <a:xfrm>
            <a:off x="5011350" y="263121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3" name="Text Placeholder 17"/>
          <p:cNvSpPr>
            <a:spLocks noGrp="1"/>
          </p:cNvSpPr>
          <p:nvPr>
            <p:ph type="body" sz="quarter" idx="26" hasCustomPrompt="1"/>
          </p:nvPr>
        </p:nvSpPr>
        <p:spPr>
          <a:xfrm>
            <a:off x="4414576" y="1331287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6</a:t>
            </a:r>
            <a:endParaRPr lang="en-US" dirty="0"/>
          </a:p>
        </p:txBody>
      </p:sp>
      <p:sp>
        <p:nvSpPr>
          <p:cNvPr id="64" name="Text Placeholder 17"/>
          <p:cNvSpPr>
            <a:spLocks noGrp="1"/>
          </p:cNvSpPr>
          <p:nvPr>
            <p:ph type="body" sz="quarter" idx="27" hasCustomPrompt="1"/>
          </p:nvPr>
        </p:nvSpPr>
        <p:spPr>
          <a:xfrm>
            <a:off x="4414576" y="198308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7</a:t>
            </a:r>
            <a:endParaRPr lang="en-US" dirty="0"/>
          </a:p>
        </p:txBody>
      </p:sp>
      <p:sp>
        <p:nvSpPr>
          <p:cNvPr id="65" name="Text Placeholder 17"/>
          <p:cNvSpPr>
            <a:spLocks noGrp="1"/>
          </p:cNvSpPr>
          <p:nvPr>
            <p:ph type="body" sz="quarter" idx="28" hasCustomPrompt="1"/>
          </p:nvPr>
        </p:nvSpPr>
        <p:spPr>
          <a:xfrm>
            <a:off x="4414577" y="262925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8</a:t>
            </a:r>
            <a:endParaRPr lang="en-US" dirty="0"/>
          </a:p>
        </p:txBody>
      </p:sp>
      <p:sp>
        <p:nvSpPr>
          <p:cNvPr id="66" name="Oval 65"/>
          <p:cNvSpPr/>
          <p:nvPr/>
        </p:nvSpPr>
        <p:spPr>
          <a:xfrm>
            <a:off x="4414577" y="3278347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67" name="Text Placeholder 17"/>
          <p:cNvSpPr>
            <a:spLocks noGrp="1"/>
          </p:cNvSpPr>
          <p:nvPr>
            <p:ph type="body" sz="quarter" idx="29"/>
          </p:nvPr>
        </p:nvSpPr>
        <p:spPr>
          <a:xfrm>
            <a:off x="5011351" y="327834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8" name="Text Placeholder 17"/>
          <p:cNvSpPr>
            <a:spLocks noGrp="1"/>
          </p:cNvSpPr>
          <p:nvPr>
            <p:ph type="body" sz="quarter" idx="30" hasCustomPrompt="1"/>
          </p:nvPr>
        </p:nvSpPr>
        <p:spPr>
          <a:xfrm>
            <a:off x="4414578" y="327639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9</a:t>
            </a:r>
            <a:endParaRPr lang="en-US" dirty="0"/>
          </a:p>
        </p:txBody>
      </p:sp>
      <p:sp>
        <p:nvSpPr>
          <p:cNvPr id="69" name="Oval 68"/>
          <p:cNvSpPr/>
          <p:nvPr/>
        </p:nvSpPr>
        <p:spPr>
          <a:xfrm>
            <a:off x="4414578" y="3925482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70" name="Text Placeholder 17"/>
          <p:cNvSpPr>
            <a:spLocks noGrp="1"/>
          </p:cNvSpPr>
          <p:nvPr>
            <p:ph type="body" sz="quarter" idx="31"/>
          </p:nvPr>
        </p:nvSpPr>
        <p:spPr>
          <a:xfrm>
            <a:off x="5011352" y="392548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71" name="Text Placeholder 17"/>
          <p:cNvSpPr>
            <a:spLocks noGrp="1"/>
          </p:cNvSpPr>
          <p:nvPr>
            <p:ph type="body" sz="quarter" idx="32" hasCustomPrompt="1"/>
          </p:nvPr>
        </p:nvSpPr>
        <p:spPr>
          <a:xfrm>
            <a:off x="4414579" y="392352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10</a:t>
            </a:r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1_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"/>
            <a:ext cx="9143999" cy="5165874"/>
          </a:xfrm>
          <a:prstGeom prst="rect">
            <a:avLst/>
          </a:prstGeom>
        </p:spPr>
      </p:pic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5"/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6" name="Freeform 6"/>
            <p:cNvSpPr/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7" name="Freeform 7"/>
            <p:cNvSpPr/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9" name="Freeform 9"/>
            <p:cNvSpPr/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0" name="Freeform 10"/>
            <p:cNvSpPr/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1" name="Freeform 11"/>
            <p:cNvSpPr/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2" name="Freeform 12"/>
            <p:cNvSpPr/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3" name="Freeform 13"/>
            <p:cNvSpPr/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4" name="Freeform 14"/>
            <p:cNvSpPr/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5" name="Freeform 15"/>
            <p:cNvSpPr/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6" name="Freeform 16"/>
            <p:cNvSpPr/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7" name="Freeform 17"/>
            <p:cNvSpPr/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8" name="Freeform 18"/>
            <p:cNvSpPr/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</p:spTree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39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5"/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6" name="Freeform 6"/>
            <p:cNvSpPr/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7" name="Freeform 7"/>
            <p:cNvSpPr/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9" name="Freeform 9"/>
            <p:cNvSpPr/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0" name="Freeform 10"/>
            <p:cNvSpPr/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1" name="Freeform 11"/>
            <p:cNvSpPr/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2" name="Freeform 12"/>
            <p:cNvSpPr/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3" name="Freeform 13"/>
            <p:cNvSpPr/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4" name="Freeform 14"/>
            <p:cNvSpPr/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5" name="Freeform 15"/>
            <p:cNvSpPr/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6" name="Freeform 16"/>
            <p:cNvSpPr/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7" name="Freeform 17"/>
            <p:cNvSpPr/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8" name="Freeform 18"/>
            <p:cNvSpPr/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</p:spTree>
  </p:cSld>
  <p:clrMapOvr>
    <a:masterClrMapping/>
  </p:clrMapOvr>
  <p:transition spd="slow">
    <p:wip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3_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1">
              <a:lumMod val="75000"/>
            </a:schemeClr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6" name="Freeform 6"/>
            <p:cNvSpPr/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7" name="Freeform 7"/>
            <p:cNvSpPr/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9" name="Freeform 9"/>
            <p:cNvSpPr/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0" name="Freeform 10"/>
            <p:cNvSpPr/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1" name="Freeform 11"/>
            <p:cNvSpPr/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2" name="Freeform 12"/>
            <p:cNvSpPr/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3" name="Freeform 13"/>
            <p:cNvSpPr/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4" name="Freeform 14"/>
            <p:cNvSpPr/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5" name="Freeform 15"/>
            <p:cNvSpPr/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6" name="Freeform 16"/>
            <p:cNvSpPr/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7" name="Freeform 17"/>
            <p:cNvSpPr/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8" name="Freeform 18"/>
            <p:cNvSpPr/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</p:spTree>
  </p:cSld>
  <p:clrMapOvr>
    <a:masterClrMapping/>
  </p:clrMapOvr>
  <p:transition spd="slow">
    <p:wip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8473441" y="4954263"/>
            <a:ext cx="676910" cy="1892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25">
                <a:solidFill>
                  <a:schemeClr val="tx2"/>
                </a:solidFill>
              </a:defRPr>
            </a:lvl1pPr>
          </a:lstStyle>
          <a:p>
            <a:pPr defTabSz="386080">
              <a:defRPr/>
            </a:pPr>
            <a:fld id="{2F5CCB13-0A32-4557-88E9-079F0C330695}" type="slidenum">
              <a:rPr lang="en-US" kern="0" smtClean="0">
                <a:solidFill>
                  <a:srgbClr val="595959"/>
                </a:solidFill>
              </a:rPr>
            </a:fld>
            <a:endParaRPr lang="en-US" kern="0" dirty="0">
              <a:solidFill>
                <a:srgbClr val="595959"/>
              </a:solidFill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44065" y="798944"/>
            <a:ext cx="8853286" cy="4155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182880" bIns="45720" numCol="1" anchor="t" anchorCtr="0" compatLnSpc="1"/>
          <a:lstStyle>
            <a:lvl1pPr marL="170180" indent="-17018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>
                <a:solidFill>
                  <a:srgbClr val="000000"/>
                </a:solidFill>
              </a:defRPr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3pPr>
            <a:lvl4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4pPr>
          </a:lstStyle>
          <a:p>
            <a:pPr lvl="0"/>
            <a:r>
              <a:rPr lang="en-US">
                <a:sym typeface="Arial" panose="020B0604020202020204" pitchFamily="34" charset="0"/>
              </a:rPr>
              <a:t>Click to edit Master text styles</a:t>
            </a:r>
            <a:endParaRPr lang="en-US">
              <a:sym typeface="Arial" panose="020B0604020202020204" pitchFamily="34" charset="0"/>
            </a:endParaRPr>
          </a:p>
          <a:p>
            <a:pPr lvl="1"/>
            <a:r>
              <a:rPr lang="en-US">
                <a:sym typeface="Arial" panose="020B0604020202020204" pitchFamily="34" charset="0"/>
              </a:rPr>
              <a:t>Second level</a:t>
            </a:r>
            <a:endParaRPr lang="en-US">
              <a:sym typeface="Arial" panose="020B0604020202020204" pitchFamily="34" charset="0"/>
            </a:endParaRPr>
          </a:p>
          <a:p>
            <a:pPr lvl="2"/>
            <a:r>
              <a:rPr lang="en-US">
                <a:sym typeface="Arial" panose="020B0604020202020204" pitchFamily="34" charset="0"/>
              </a:rPr>
              <a:t>Third level</a:t>
            </a:r>
            <a:endParaRPr lang="en-US">
              <a:sym typeface="Arial" panose="020B0604020202020204" pitchFamily="34" charset="0"/>
            </a:endParaRPr>
          </a:p>
          <a:p>
            <a:pPr lvl="3"/>
            <a:r>
              <a:rPr lang="en-US">
                <a:sym typeface="Arial" panose="020B0604020202020204" pitchFamily="34" charset="0"/>
              </a:rPr>
              <a:t>Fourth level</a:t>
            </a:r>
            <a:endParaRPr lang="en-US">
              <a:sym typeface="Arial" panose="020B0604020202020204" pitchFamily="34" charset="0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" y="41393"/>
            <a:ext cx="9144000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lnSpc>
                <a:spcPct val="100000"/>
              </a:lnSpc>
              <a:defRPr sz="2400"/>
            </a:lvl1pPr>
          </a:lstStyle>
          <a:p>
            <a:pPr lvl="0"/>
            <a:r>
              <a:rPr lang="en-US">
                <a:sym typeface="Arial" panose="020B0604020202020204" pitchFamily="34" charset="0"/>
              </a:rPr>
              <a:t>Click to edit Master title style</a:t>
            </a:r>
            <a:endParaRPr lang="en-US" dirty="0">
              <a:sym typeface="Arial" panose="020B0604020202020204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5"/>
          <p:cNvSpPr>
            <a:spLocks noGrp="1"/>
          </p:cNvSpPr>
          <p:nvPr>
            <p:ph type="title"/>
          </p:nvPr>
        </p:nvSpPr>
        <p:spPr bwMode="auto">
          <a:xfrm>
            <a:off x="438150" y="341313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4" tIns="45712" rIns="91424" bIns="45712" numCol="1" anchor="ctr" anchorCtr="0" compatLnSpc="1"/>
          <a:lstStyle/>
          <a:p>
            <a:pPr lvl="0"/>
            <a:r>
              <a:rPr lang="en-GB" altLang="en-US" dirty="0"/>
              <a:t>Title Goes Here</a:t>
            </a:r>
            <a:endParaRPr lang="en-GB" altLang="en-US" dirty="0"/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ltGray">
          <a:xfrm>
            <a:off x="8515707" y="4742907"/>
            <a:ext cx="218414" cy="154518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 lIns="61586" tIns="30792" rIns="61586" bIns="30792" anchor="b">
            <a:spAutoFit/>
          </a:bodyPr>
          <a:lstStyle/>
          <a:p>
            <a:pPr algn="r" defTabSz="610870" rtl="0" fontAlgn="auto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sz="600">
                <a:solidFill>
                  <a:schemeClr val="accent3">
                    <a:lumMod val="85000"/>
                  </a:schemeClr>
                </a:solidFill>
                <a:latin typeface="+mn-lt"/>
                <a:ea typeface="+mn-ea"/>
                <a:cs typeface="CiscoSans Thin"/>
              </a:rPr>
            </a:fld>
            <a:endParaRPr sz="600">
              <a:solidFill>
                <a:schemeClr val="accent3">
                  <a:lumMod val="85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ltGray">
          <a:xfrm>
            <a:off x="5867508" y="4741653"/>
            <a:ext cx="2658018" cy="15451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61586" tIns="30792" rIns="61586" bIns="30792" anchor="b">
            <a:spAutoFit/>
          </a:bodyPr>
          <a:lstStyle/>
          <a:p>
            <a:pPr defTabSz="610870" rt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600">
                <a:solidFill>
                  <a:schemeClr val="accent3">
                    <a:lumMod val="85000"/>
                  </a:schemeClr>
                </a:solidFill>
                <a:latin typeface="+mn-lt"/>
                <a:ea typeface="+mn-ea"/>
                <a:cs typeface="CiscoSans Thin"/>
              </a:rPr>
              <a:t>© 2016 Cisco e/ou suas afiliadas. Todos os direitos reservados.   Confidencial da Cisco</a:t>
            </a:r>
            <a:endParaRPr lang="pt-BR" sz="600">
              <a:solidFill>
                <a:schemeClr val="accent3">
                  <a:lumMod val="85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508039" y="4715197"/>
            <a:ext cx="340257" cy="180974"/>
            <a:chOff x="310" y="249"/>
            <a:chExt cx="502" cy="267"/>
          </a:xfrm>
          <a:solidFill>
            <a:schemeClr val="accent5"/>
          </a:solidFill>
        </p:grpSpPr>
        <p:sp>
          <p:nvSpPr>
            <p:cNvPr id="7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8" name="Freeform 6"/>
            <p:cNvSpPr/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9" name="Freeform 7"/>
            <p:cNvSpPr/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1" name="Freeform 9"/>
            <p:cNvSpPr/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4" name="Freeform 10"/>
            <p:cNvSpPr/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5" name="Freeform 11"/>
            <p:cNvSpPr/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6" name="Freeform 12"/>
            <p:cNvSpPr/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7" name="Freeform 13"/>
            <p:cNvSpPr/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8" name="Freeform 14"/>
            <p:cNvSpPr/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9" name="Freeform 15"/>
            <p:cNvSpPr/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0" name="Freeform 16"/>
            <p:cNvSpPr/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1" name="Freeform 17"/>
            <p:cNvSpPr/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2" name="Freeform 18"/>
            <p:cNvSpPr/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ransition spd="slow">
    <p:wipe/>
  </p:transition>
  <p:txStyles>
    <p:titleStyle>
      <a:lvl1pPr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lang="en-US" sz="3200" kern="1200" dirty="0">
          <a:solidFill>
            <a:schemeClr val="accent4"/>
          </a:solidFill>
          <a:latin typeface="+mj-lt"/>
          <a:ea typeface="MS PGothic" charset="0"/>
          <a:cs typeface="CiscoSans"/>
        </a:defRPr>
      </a:lvl1pPr>
      <a:lvl2pPr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panose="020B0604020202020204" pitchFamily="34" charset="0"/>
          <a:ea typeface="MS PGothic" charset="0"/>
          <a:cs typeface="CiscoSans" pitchFamily="34" charset="0"/>
        </a:defRPr>
      </a:lvl2pPr>
      <a:lvl3pPr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panose="020B0604020202020204" pitchFamily="34" charset="0"/>
          <a:ea typeface="MS PGothic" charset="0"/>
          <a:cs typeface="CiscoSans" pitchFamily="34" charset="0"/>
        </a:defRPr>
      </a:lvl3pPr>
      <a:lvl4pPr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panose="020B0604020202020204" pitchFamily="34" charset="0"/>
          <a:ea typeface="MS PGothic" charset="0"/>
          <a:cs typeface="CiscoSans" pitchFamily="34" charset="0"/>
        </a:defRPr>
      </a:lvl4pPr>
      <a:lvl5pPr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panose="020B0604020202020204" pitchFamily="34" charset="0"/>
          <a:ea typeface="MS PGothic" charset="0"/>
          <a:cs typeface="CiscoSans" pitchFamily="34" charset="0"/>
        </a:defRPr>
      </a:lvl5pPr>
      <a:lvl6pPr marL="457200"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panose="020B0604020202020204" pitchFamily="34" charset="0"/>
          <a:ea typeface="MS PGothic" charset="0"/>
        </a:defRPr>
      </a:lvl6pPr>
      <a:lvl7pPr marL="914400"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panose="020B0604020202020204" pitchFamily="34" charset="0"/>
          <a:ea typeface="MS PGothic" charset="0"/>
        </a:defRPr>
      </a:lvl7pPr>
      <a:lvl8pPr marL="1371600"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panose="020B0604020202020204" pitchFamily="34" charset="0"/>
          <a:ea typeface="MS PGothic" charset="0"/>
        </a:defRPr>
      </a:lvl8pPr>
      <a:lvl9pPr marL="1828800"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panose="020B0604020202020204" pitchFamily="34" charset="0"/>
          <a:ea typeface="MS PGothic" charset="0"/>
        </a:defRPr>
      </a:lvl9pPr>
    </p:titleStyle>
    <p:bodyStyle>
      <a:lvl1pPr marL="170180" indent="-170180" algn="l" defTabSz="684530" rtl="0" eaLnBrk="1" fontAlgn="base" hangingPunct="1">
        <a:lnSpc>
          <a:spcPct val="95000"/>
        </a:lnSpc>
        <a:spcBef>
          <a:spcPts val="1075"/>
        </a:spcBef>
        <a:spcAft>
          <a:spcPct val="0"/>
        </a:spcAft>
        <a:buClr>
          <a:schemeClr val="tx2"/>
        </a:buClr>
        <a:buSzPct val="90000"/>
        <a:buFont typeface="Arial" panose="020B0604020202020204" pitchFamily="34" charset="0"/>
        <a:buChar char="•"/>
        <a:defRPr lang="en-US" sz="1500" kern="1200" dirty="0">
          <a:solidFill>
            <a:schemeClr val="tx1"/>
          </a:solidFill>
          <a:latin typeface="+mn-lt"/>
          <a:ea typeface="MS PGothic" charset="0"/>
          <a:cs typeface="CiscoSans"/>
        </a:defRPr>
      </a:lvl1pPr>
      <a:lvl2pPr marL="358775" indent="-215900" algn="l" defTabSz="684530" rtl="0" eaLnBrk="1" fontAlgn="base" hangingPunct="1">
        <a:lnSpc>
          <a:spcPct val="95000"/>
        </a:lnSpc>
        <a:spcBef>
          <a:spcPts val="60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•"/>
        <a:defRPr lang="en-US" sz="1400" kern="1200" dirty="0">
          <a:solidFill>
            <a:schemeClr val="tx1"/>
          </a:solidFill>
          <a:latin typeface="+mn-lt"/>
          <a:ea typeface="MS PGothic" charset="0"/>
          <a:cs typeface="CiscoSans"/>
        </a:defRPr>
      </a:lvl2pPr>
      <a:lvl3pPr marL="431800" indent="-170180" algn="l" defTabSz="684530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MS PGothic" charset="0"/>
          <a:cs typeface="CiscoSans"/>
        </a:defRPr>
      </a:lvl3pPr>
      <a:lvl4pPr marL="503555" indent="-170180" algn="l" defTabSz="684530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panose="020B0604020202020204" pitchFamily="34" charset="0"/>
        <a:buChar char="•"/>
        <a:defRPr lang="en-US" sz="1100" kern="1200" dirty="0">
          <a:solidFill>
            <a:schemeClr val="tx1"/>
          </a:solidFill>
          <a:latin typeface="+mn-lt"/>
          <a:ea typeface="MS PGothic" charset="0"/>
          <a:cs typeface="CiscoSans"/>
        </a:defRPr>
      </a:lvl4pPr>
      <a:lvl5pPr marL="574675" indent="-170180" algn="l" defTabSz="684530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panose="020B0604020202020204" pitchFamily="34" charset="0"/>
        <a:buChar char="•"/>
        <a:defRPr lang="en-US" sz="1100" kern="1200" dirty="0">
          <a:solidFill>
            <a:schemeClr val="tx1"/>
          </a:solidFill>
          <a:latin typeface="+mn-lt"/>
          <a:ea typeface="MS PGothic" charset="0"/>
          <a:cs typeface="CiscoSans"/>
        </a:defRPr>
      </a:lvl5pPr>
      <a:lvl6pPr marL="863600" indent="-171450" algn="l" defTabSz="685800" rtl="0" eaLnBrk="1" latinLnBrk="0" hangingPunct="1">
        <a:spcBef>
          <a:spcPts val="600"/>
        </a:spcBef>
        <a:buFont typeface="Arial" panose="020B0604020202020204" pitchFamily="34" charset="0"/>
        <a:buChar char="•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935990" indent="-171450" algn="l" defTabSz="685800" rtl="0" eaLnBrk="1" latinLnBrk="0" hangingPunct="1">
        <a:spcBef>
          <a:spcPts val="600"/>
        </a:spcBef>
        <a:buFont typeface="Arial" panose="020B0604020202020204" pitchFamily="34" charset="0"/>
        <a:buChar char="•"/>
        <a:defRPr sz="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400300" indent="0" algn="l" defTabSz="685800" rtl="0" eaLnBrk="1" latinLnBrk="0" hangingPunct="1">
        <a:spcBef>
          <a:spcPct val="20000"/>
        </a:spcBef>
        <a:buFont typeface="Arial" panose="020B0604020202020204" pitchFamily="34" charset="0"/>
        <a:buNone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469265" y="1459230"/>
            <a:ext cx="6510655" cy="1080135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Módulo 5: Sistemas numéricos</a:t>
            </a:r>
            <a:endParaRPr lang="pt-BR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" name="Subtitle 6"/>
          <p:cNvSpPr txBox="1"/>
          <p:nvPr/>
        </p:nvSpPr>
        <p:spPr>
          <a:xfrm>
            <a:off x="469497" y="3646043"/>
            <a:ext cx="2368954" cy="902174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 defTabSz="684530" rtl="0" eaLnBrk="1" fontAlgn="base" hangingPunct="1">
              <a:lnSpc>
                <a:spcPct val="95000"/>
              </a:lnSpc>
              <a:spcBef>
                <a:spcPts val="1075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defRPr lang="en-US" sz="1200" b="0" i="0" kern="1200">
                <a:solidFill>
                  <a:schemeClr val="accent5"/>
                </a:solidFill>
                <a:latin typeface="+mn-lt"/>
                <a:ea typeface="MS PGothic" charset="0"/>
                <a:cs typeface="CiscoSans"/>
              </a:defRPr>
            </a:lvl1pPr>
            <a:lvl2pPr marL="342900" indent="0" algn="ctr" defTabSz="684530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None/>
              <a:defRPr lang="en-US" sz="1400" kern="1200">
                <a:solidFill>
                  <a:schemeClr val="tx1">
                    <a:tint val="75000"/>
                  </a:schemeClr>
                </a:solidFill>
                <a:latin typeface="+mn-lt"/>
                <a:ea typeface="MS PGothic" charset="0"/>
                <a:cs typeface="CiscoSans"/>
              </a:defRPr>
            </a:lvl2pPr>
            <a:lvl3pPr marL="685800" indent="0" algn="ctr" defTabSz="684530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panose="020B0604020202020204" pitchFamily="34" charset="0"/>
              <a:buNone/>
              <a:defRPr lang="en-US" sz="1200" kern="1200">
                <a:solidFill>
                  <a:schemeClr val="tx1">
                    <a:tint val="75000"/>
                  </a:schemeClr>
                </a:solidFill>
                <a:latin typeface="+mn-lt"/>
                <a:ea typeface="MS PGothic" charset="0"/>
                <a:cs typeface="CiscoSans"/>
              </a:defRPr>
            </a:lvl3pPr>
            <a:lvl4pPr marL="1028700" indent="0" algn="ctr" defTabSz="684530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panose="020B0604020202020204" pitchFamily="34" charset="0"/>
              <a:buNone/>
              <a:defRPr lang="en-US" sz="1100" kern="1200">
                <a:solidFill>
                  <a:schemeClr val="tx1">
                    <a:tint val="75000"/>
                  </a:schemeClr>
                </a:solidFill>
                <a:latin typeface="+mn-lt"/>
                <a:ea typeface="MS PGothic" charset="0"/>
                <a:cs typeface="CiscoSans"/>
              </a:defRPr>
            </a:lvl4pPr>
            <a:lvl5pPr marL="1371600" indent="0" algn="ctr" defTabSz="684530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panose="020B0604020202020204" pitchFamily="34" charset="0"/>
              <a:buNone/>
              <a:defRPr lang="en-US" sz="1100" kern="1200">
                <a:solidFill>
                  <a:schemeClr val="tx1">
                    <a:tint val="75000"/>
                  </a:schemeClr>
                </a:solidFill>
                <a:latin typeface="+mn-lt"/>
                <a:ea typeface="MS PGothic" charset="0"/>
                <a:cs typeface="CiscoSans"/>
              </a:defRPr>
            </a:lvl5pPr>
            <a:lvl6pPr marL="1714500" indent="0" algn="ctr" defTabSz="685800" rtl="0" eaLnBrk="1" latinLnBrk="0" hangingPunct="1">
              <a:spcBef>
                <a:spcPts val="600"/>
              </a:spcBef>
              <a:buFont typeface="Arial" panose="020B0604020202020204" pitchFamily="34" charset="0"/>
              <a:buNone/>
              <a:defRPr sz="9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spcBef>
                <a:spcPts val="600"/>
              </a:spcBef>
              <a:buFont typeface="Arial" panose="020B0604020202020204" pitchFamily="34" charset="0"/>
              <a:buNone/>
              <a:defRPr sz="8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2565" indent="0" algn="ctr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Introdução às redes v7.0 (ITN)</a:t>
            </a:r>
            <a:endParaRPr lang="pt-BR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  <a:sym typeface="+mn-ea"/>
              </a:rPr>
              <a:t>Versão: 1.0 - 01/03/2026</a:t>
            </a:r>
            <a:endParaRPr lang="en-US" dirty="0"/>
          </a:p>
        </p:txBody>
      </p:sp>
    </p:spTree>
    <p:custDataLst>
      <p:tags r:id="rId1"/>
    </p:custData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560" y="2169160"/>
            <a:ext cx="7847330" cy="929640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5.1 - Sistema de Numeração Binário</a:t>
            </a:r>
            <a:endParaRPr lang="pt-BR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</p:spTree>
    <p:custDataLst>
      <p:tags r:id="rId1"/>
    </p:custData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31520"/>
          </a:xfrm>
        </p:spPr>
        <p:txBody>
          <a:bodyPr/>
          <a:lstStyle/>
          <a:p>
            <a:pPr rtl="0"/>
            <a:r>
              <a:rPr lang="pt-BR" sz="1600">
                <a:sym typeface="+mn-ea"/>
              </a:rPr>
              <a:t>Sistema de Numeração Binário</a:t>
            </a:r>
            <a:br>
              <a:rPr lang="en-US" dirty="0"/>
            </a:br>
            <a:r>
              <a:rPr lang="pt-BR" sz="2400"/>
              <a:t>Endereços Binários e IPv4</a:t>
            </a:r>
            <a:endParaRPr lang="pt-BR" sz="240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04775" y="628015"/>
            <a:ext cx="8890000" cy="2136775"/>
          </a:xfrm>
        </p:spPr>
        <p:txBody>
          <a:bodyPr/>
          <a:lstStyle/>
          <a:p>
            <a:pPr marL="342900" indent="-342900" algn="just" rtl="0">
              <a:buFont typeface="Arial" panose="020B0604020202020204" pitchFamily="34" charset="0"/>
              <a:buChar char="•"/>
            </a:pPr>
            <a:r>
              <a:rPr lang="pt-BR" sz="1500">
                <a:solidFill>
                  <a:srgbClr val="000000"/>
                </a:solidFill>
              </a:rPr>
              <a:t>O </a:t>
            </a:r>
            <a:r>
              <a:rPr lang="pt-BR" sz="1500" b="1">
                <a:solidFill>
                  <a:srgbClr val="FF0000"/>
                </a:solidFill>
              </a:rPr>
              <a:t>Sistema de Numeração Binária</a:t>
            </a:r>
            <a:r>
              <a:rPr lang="pt-BR" sz="1500">
                <a:solidFill>
                  <a:srgbClr val="000000"/>
                </a:solidFill>
              </a:rPr>
              <a:t> consiste em </a:t>
            </a:r>
            <a:r>
              <a:rPr lang="pt-BR" sz="1500" b="1">
                <a:solidFill>
                  <a:srgbClr val="0070C0"/>
                </a:solidFill>
              </a:rPr>
              <a:t>1s e 0s</a:t>
            </a:r>
            <a:r>
              <a:rPr lang="pt-BR" sz="1500">
                <a:solidFill>
                  <a:srgbClr val="000000"/>
                </a:solidFill>
              </a:rPr>
              <a:t>, chamados </a:t>
            </a:r>
            <a:r>
              <a:rPr lang="pt-BR" sz="1500" b="1">
                <a:solidFill>
                  <a:srgbClr val="000000"/>
                </a:solidFill>
              </a:rPr>
              <a:t>bits</a:t>
            </a:r>
            <a:endParaRPr lang="pt-BR" sz="1500">
              <a:solidFill>
                <a:srgbClr val="000000"/>
              </a:solidFill>
            </a:endParaRPr>
          </a:p>
          <a:p>
            <a:pPr marL="342900" indent="-342900" algn="just" rtl="0">
              <a:buFont typeface="Arial" panose="020B0604020202020204" pitchFamily="34" charset="0"/>
              <a:buChar char="•"/>
            </a:pPr>
            <a:r>
              <a:rPr lang="pt-BR" sz="1500">
                <a:solidFill>
                  <a:srgbClr val="000000"/>
                </a:solidFill>
              </a:rPr>
              <a:t>O </a:t>
            </a:r>
            <a:r>
              <a:rPr lang="pt-BR" sz="1500" b="1">
                <a:solidFill>
                  <a:srgbClr val="FF0000"/>
                </a:solidFill>
              </a:rPr>
              <a:t>Sistema de Numeração Decimal</a:t>
            </a:r>
            <a:r>
              <a:rPr lang="pt-BR" sz="1500">
                <a:solidFill>
                  <a:srgbClr val="000000"/>
                </a:solidFill>
              </a:rPr>
              <a:t> consiste em dígitos </a:t>
            </a:r>
            <a:r>
              <a:rPr lang="pt-BR" sz="1500" b="1">
                <a:solidFill>
                  <a:srgbClr val="0070C0"/>
                </a:solidFill>
              </a:rPr>
              <a:t>0 a 9</a:t>
            </a:r>
            <a:endParaRPr lang="pt-BR" sz="1500">
              <a:solidFill>
                <a:srgbClr val="000000"/>
              </a:solidFill>
            </a:endParaRPr>
          </a:p>
          <a:p>
            <a:pPr marL="342900" indent="-342900" algn="just" rtl="0">
              <a:buFont typeface="Arial" panose="020B0604020202020204" pitchFamily="34" charset="0"/>
              <a:buChar char="•"/>
            </a:pPr>
            <a:r>
              <a:rPr lang="pt-BR" sz="1500">
                <a:solidFill>
                  <a:srgbClr val="000000"/>
                </a:solidFill>
              </a:rPr>
              <a:t>Hosts, servidores e equipamentos de rede usa </a:t>
            </a:r>
            <a:r>
              <a:rPr lang="pt-BR" sz="1500" b="1">
                <a:solidFill>
                  <a:srgbClr val="000000"/>
                </a:solidFill>
              </a:rPr>
              <a:t>endereçamento binário</a:t>
            </a:r>
            <a:r>
              <a:rPr lang="pt-BR" sz="1500">
                <a:solidFill>
                  <a:srgbClr val="000000"/>
                </a:solidFill>
              </a:rPr>
              <a:t> para identificar uns aos outros.</a:t>
            </a:r>
            <a:endParaRPr lang="pt-BR" sz="1500">
              <a:solidFill>
                <a:srgbClr val="000000"/>
              </a:solidFill>
            </a:endParaRPr>
          </a:p>
          <a:p>
            <a:pPr marL="342900" indent="-342900" algn="just" rtl="0">
              <a:buFont typeface="Arial" panose="020B0604020202020204" pitchFamily="34" charset="0"/>
              <a:buChar char="•"/>
            </a:pPr>
            <a:r>
              <a:rPr lang="pt-BR" sz="1500">
                <a:solidFill>
                  <a:srgbClr val="000000"/>
                </a:solidFill>
              </a:rPr>
              <a:t>Cada </a:t>
            </a:r>
            <a:r>
              <a:rPr lang="pt-BR" sz="1500" b="1">
                <a:solidFill>
                  <a:srgbClr val="FF0000"/>
                </a:solidFill>
              </a:rPr>
              <a:t>endereço é composto de uma sequência de 32 bits</a:t>
            </a:r>
            <a:r>
              <a:rPr lang="pt-BR" sz="1500">
                <a:solidFill>
                  <a:srgbClr val="000000"/>
                </a:solidFill>
              </a:rPr>
              <a:t>, dividida em quatro seções chamadas octetos.</a:t>
            </a:r>
            <a:endParaRPr lang="pt-BR" sz="1500">
              <a:solidFill>
                <a:srgbClr val="000000"/>
              </a:solidFill>
            </a:endParaRPr>
          </a:p>
          <a:p>
            <a:pPr marL="342900" indent="-342900" algn="just" rtl="0">
              <a:buFont typeface="Arial" panose="020B0604020202020204" pitchFamily="34" charset="0"/>
              <a:buChar char="•"/>
            </a:pPr>
            <a:r>
              <a:rPr lang="pt-BR" sz="1500">
                <a:solidFill>
                  <a:srgbClr val="000000"/>
                </a:solidFill>
              </a:rPr>
              <a:t>Cada </a:t>
            </a:r>
            <a:r>
              <a:rPr lang="pt-BR" sz="1500" b="1">
                <a:solidFill>
                  <a:srgbClr val="FF0000"/>
                </a:solidFill>
              </a:rPr>
              <a:t>octeto contém 8 bits (ou 1 byte)</a:t>
            </a:r>
            <a:r>
              <a:rPr lang="pt-BR" sz="1500">
                <a:solidFill>
                  <a:srgbClr val="000000"/>
                </a:solidFill>
              </a:rPr>
              <a:t> separados por um ponto.</a:t>
            </a:r>
            <a:endParaRPr lang="pt-BR" sz="1500">
              <a:solidFill>
                <a:srgbClr val="000000"/>
              </a:solidFill>
            </a:endParaRPr>
          </a:p>
          <a:p>
            <a:pPr marL="342900" indent="-342900" algn="just" rtl="0">
              <a:buFont typeface="Arial" panose="020B0604020202020204" pitchFamily="34" charset="0"/>
              <a:buChar char="•"/>
            </a:pPr>
            <a:r>
              <a:rPr lang="pt-BR" sz="1500">
                <a:solidFill>
                  <a:srgbClr val="000000"/>
                </a:solidFill>
              </a:rPr>
              <a:t>Para facilitar o uso por pessoas, esta</a:t>
            </a:r>
            <a:r>
              <a:rPr lang="pt-BR" sz="1500" b="1">
                <a:solidFill>
                  <a:srgbClr val="000000"/>
                </a:solidFill>
              </a:rPr>
              <a:t> notação pontilhada</a:t>
            </a:r>
            <a:r>
              <a:rPr lang="pt-BR" sz="1500">
                <a:solidFill>
                  <a:srgbClr val="000000"/>
                </a:solidFill>
              </a:rPr>
              <a:t> é convertida em </a:t>
            </a:r>
            <a:r>
              <a:rPr lang="pt-BR" sz="1500" b="1">
                <a:solidFill>
                  <a:srgbClr val="FF0000"/>
                </a:solidFill>
              </a:rPr>
              <a:t>decimal pontilhada</a:t>
            </a:r>
            <a:r>
              <a:rPr lang="pt-BR" sz="1500">
                <a:solidFill>
                  <a:srgbClr val="000000"/>
                </a:solidFill>
              </a:rPr>
              <a:t>.</a:t>
            </a:r>
            <a:endParaRPr lang="pt-BR" sz="1500">
              <a:solidFill>
                <a:srgbClr val="000000"/>
              </a:solidFill>
            </a:endParaRPr>
          </a:p>
          <a:p>
            <a:pPr marL="342900" indent="-342900" algn="just" rtl="0">
              <a:buFont typeface="Arial" panose="020B0604020202020204" pitchFamily="34" charset="0"/>
              <a:buChar char="•"/>
            </a:pPr>
            <a:endParaRPr lang="en-US" sz="1500" dirty="0">
              <a:solidFill>
                <a:srgbClr val="000000"/>
              </a:solidFill>
            </a:endParaRPr>
          </a:p>
        </p:txBody>
      </p:sp>
      <p:sp>
        <p:nvSpPr>
          <p:cNvPr id="7" name="Striped Right Arrow 6"/>
          <p:cNvSpPr/>
          <p:nvPr/>
        </p:nvSpPr>
        <p:spPr>
          <a:xfrm>
            <a:off x="4363757" y="3958407"/>
            <a:ext cx="520995" cy="239867"/>
          </a:xfrm>
          <a:prstGeom prst="stripedRightArrow">
            <a:avLst/>
          </a:prstGeom>
          <a:solidFill>
            <a:srgbClr val="36A4D7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25010" t="33944" r="25410" b="17821"/>
          <a:stretch>
            <a:fillRect/>
          </a:stretch>
        </p:blipFill>
        <p:spPr>
          <a:xfrm>
            <a:off x="511810" y="2722880"/>
            <a:ext cx="3747770" cy="1962150"/>
          </a:xfrm>
          <a:prstGeom prst="rect">
            <a:avLst/>
          </a:prstGeom>
        </p:spPr>
      </p:pic>
      <p:pic>
        <p:nvPicPr>
          <p:cNvPr id="8" name="Imagem 7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25010" t="30580" r="25410" b="21043"/>
          <a:stretch>
            <a:fillRect/>
          </a:stretch>
        </p:blipFill>
        <p:spPr>
          <a:xfrm>
            <a:off x="4954905" y="2718435"/>
            <a:ext cx="3582670" cy="19665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31750"/>
            <a:ext cx="9144000" cy="731520"/>
          </a:xfrm>
        </p:spPr>
        <p:txBody>
          <a:bodyPr/>
          <a:lstStyle/>
          <a:p>
            <a:pPr rtl="0"/>
            <a:r>
              <a:rPr lang="pt-BR" sz="1600"/>
              <a:t>Sistema de Numeração Binário</a:t>
            </a:r>
            <a:br>
              <a:rPr lang="en-US" dirty="0"/>
            </a:br>
            <a:r>
              <a:rPr lang="pt-BR" sz="2400"/>
              <a:t>Notação Posicional Binária</a:t>
            </a:r>
            <a:endParaRPr lang="pt-BR" sz="240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16205" y="763270"/>
            <a:ext cx="8921115" cy="1402715"/>
          </a:xfrm>
        </p:spPr>
        <p:txBody>
          <a:bodyPr/>
          <a:lstStyle/>
          <a:p>
            <a:pPr marL="285750" indent="-285750" algn="just" rtl="0">
              <a:buFont typeface="Arial" panose="020B0604020202020204" pitchFamily="34" charset="0"/>
              <a:buChar char="•"/>
            </a:pPr>
            <a:r>
              <a:rPr lang="pt-BR">
                <a:solidFill>
                  <a:srgbClr val="000000"/>
                </a:solidFill>
              </a:rPr>
              <a:t>A </a:t>
            </a:r>
            <a:r>
              <a:rPr lang="pt-BR" b="1">
                <a:solidFill>
                  <a:srgbClr val="FF0000"/>
                </a:solidFill>
              </a:rPr>
              <a:t>Notação Posicional</a:t>
            </a:r>
            <a:r>
              <a:rPr lang="pt-BR">
                <a:solidFill>
                  <a:srgbClr val="000000"/>
                </a:solidFill>
              </a:rPr>
              <a:t> significa que um </a:t>
            </a:r>
            <a:r>
              <a:rPr lang="pt-BR" b="1">
                <a:solidFill>
                  <a:srgbClr val="000000"/>
                </a:solidFill>
              </a:rPr>
              <a:t>dígito </a:t>
            </a:r>
            <a:r>
              <a:rPr lang="pt-BR">
                <a:solidFill>
                  <a:srgbClr val="000000"/>
                </a:solidFill>
              </a:rPr>
              <a:t>representa </a:t>
            </a:r>
            <a:r>
              <a:rPr lang="pt-BR" b="1">
                <a:solidFill>
                  <a:srgbClr val="0070C0"/>
                </a:solidFill>
              </a:rPr>
              <a:t>valores diferentes</a:t>
            </a:r>
            <a:r>
              <a:rPr lang="pt-BR">
                <a:solidFill>
                  <a:srgbClr val="000000"/>
                </a:solidFill>
              </a:rPr>
              <a:t>, dependendo da posição que ocupa na</a:t>
            </a:r>
            <a:r>
              <a:rPr lang="pt-BR">
                <a:solidFill>
                  <a:srgbClr val="000000"/>
                </a:solidFill>
              </a:rPr>
              <a:t> sequência de números.</a:t>
            </a:r>
            <a:endParaRPr lang="pt-BR">
              <a:solidFill>
                <a:srgbClr val="000000"/>
              </a:solidFill>
            </a:endParaRPr>
          </a:p>
          <a:p>
            <a:pPr marL="285750" indent="-285750" algn="just" rtl="0">
              <a:buFont typeface="Arial" panose="020B0604020202020204" pitchFamily="34" charset="0"/>
              <a:buChar char="•"/>
            </a:pPr>
            <a:r>
              <a:rPr lang="pt-BR">
                <a:solidFill>
                  <a:srgbClr val="000000"/>
                </a:solidFill>
              </a:rPr>
              <a:t>O </a:t>
            </a:r>
            <a:r>
              <a:rPr lang="pt-BR" b="1">
                <a:solidFill>
                  <a:srgbClr val="FF0000"/>
                </a:solidFill>
              </a:rPr>
              <a:t>Sistema de Notação Posicional Decimal</a:t>
            </a:r>
            <a:r>
              <a:rPr lang="pt-BR">
                <a:solidFill>
                  <a:srgbClr val="000000"/>
                </a:solidFill>
              </a:rPr>
              <a:t> opera como mostrado nas tabelas abaixo.</a:t>
            </a:r>
            <a:endParaRPr lang="pt-BR">
              <a:solidFill>
                <a:srgbClr val="000000"/>
              </a:solidFill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16205" y="2311400"/>
          <a:ext cx="3672205" cy="17246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2400"/>
                <a:gridCol w="611505"/>
                <a:gridCol w="563245"/>
                <a:gridCol w="532130"/>
                <a:gridCol w="542925"/>
              </a:tblGrid>
              <a:tr h="319405">
                <a:tc>
                  <a:txBody>
                    <a:bodyPr/>
                    <a:lstStyle/>
                    <a:p>
                      <a:pPr algn="ctr" rtl="0"/>
                      <a:r>
                        <a:rPr lang="pt-BR" sz="1400"/>
                        <a:t>Raiz</a:t>
                      </a:r>
                      <a:endParaRPr lang="pt-BR" sz="14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400"/>
                        <a:t>10</a:t>
                      </a:r>
                      <a:endParaRPr lang="pt-BR" sz="14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400"/>
                        <a:t>10</a:t>
                      </a:r>
                      <a:endParaRPr lang="pt-BR" sz="14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400"/>
                        <a:t>10</a:t>
                      </a:r>
                      <a:endParaRPr lang="pt-BR" sz="14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400"/>
                        <a:t>10</a:t>
                      </a:r>
                      <a:endParaRPr lang="pt-BR" sz="1400"/>
                    </a:p>
                  </a:txBody>
                  <a:tcPr anchor="ctr" anchorCtr="0"/>
                </a:tc>
              </a:tr>
              <a:tr h="542925">
                <a:tc>
                  <a:txBody>
                    <a:bodyPr/>
                    <a:lstStyle/>
                    <a:p>
                      <a:pPr algn="ctr" rtl="0"/>
                      <a:r>
                        <a:rPr lang="pt-BR" sz="1400"/>
                        <a:t>Posição no número</a:t>
                      </a:r>
                      <a:endParaRPr lang="pt-BR" sz="14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400"/>
                        <a:t>3</a:t>
                      </a:r>
                      <a:endParaRPr lang="pt-BR" sz="14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400"/>
                        <a:t>2</a:t>
                      </a:r>
                      <a:endParaRPr lang="pt-BR" sz="14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400"/>
                        <a:t>1</a:t>
                      </a:r>
                      <a:endParaRPr lang="pt-BR" sz="14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400"/>
                        <a:t>0</a:t>
                      </a:r>
                      <a:endParaRPr lang="pt-BR" sz="1400"/>
                    </a:p>
                  </a:txBody>
                  <a:tcPr anchor="ctr" anchorCtr="0"/>
                </a:tc>
              </a:tr>
              <a:tr h="319405">
                <a:tc>
                  <a:txBody>
                    <a:bodyPr/>
                    <a:lstStyle/>
                    <a:p>
                      <a:pPr algn="ctr" rtl="0"/>
                      <a:r>
                        <a:rPr lang="pt-BR" sz="1400"/>
                        <a:t>Cáculo</a:t>
                      </a:r>
                      <a:endParaRPr lang="pt-BR" sz="14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400"/>
                        <a:t>(10</a:t>
                      </a:r>
                      <a:r>
                        <a:rPr lang="pt-BR" sz="1400" baseline="30000"/>
                        <a:t>3</a:t>
                      </a:r>
                      <a:r>
                        <a:rPr lang="pt-BR" sz="1400"/>
                        <a:t>)</a:t>
                      </a:r>
                      <a:endParaRPr lang="pt-BR" sz="14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400"/>
                        <a:t>(10</a:t>
                      </a:r>
                      <a:r>
                        <a:rPr lang="pt-BR" sz="1400" baseline="30000"/>
                        <a:t>2</a:t>
                      </a:r>
                      <a:r>
                        <a:rPr lang="pt-BR" sz="1400"/>
                        <a:t>)</a:t>
                      </a:r>
                      <a:endParaRPr lang="pt-BR" sz="14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400"/>
                        <a:t>(10</a:t>
                      </a:r>
                      <a:r>
                        <a:rPr lang="pt-BR" sz="1400" baseline="30000"/>
                        <a:t>1</a:t>
                      </a:r>
                      <a:r>
                        <a:rPr lang="pt-BR" sz="1400"/>
                        <a:t>)</a:t>
                      </a:r>
                      <a:endParaRPr lang="pt-BR" sz="14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400"/>
                        <a:t>(10</a:t>
                      </a:r>
                      <a:r>
                        <a:rPr lang="pt-BR" sz="1400" baseline="30000"/>
                        <a:t>0</a:t>
                      </a:r>
                      <a:r>
                        <a:rPr lang="pt-BR" sz="1400"/>
                        <a:t>)</a:t>
                      </a:r>
                      <a:endParaRPr lang="pt-BR" sz="1400"/>
                    </a:p>
                  </a:txBody>
                  <a:tcPr anchor="ctr" anchorCtr="0"/>
                </a:tc>
              </a:tr>
              <a:tr h="542925">
                <a:tc>
                  <a:txBody>
                    <a:bodyPr/>
                    <a:lstStyle/>
                    <a:p>
                      <a:pPr algn="ctr" rtl="0"/>
                      <a:r>
                        <a:rPr lang="pt-BR" sz="1400"/>
                        <a:t>Valor da posição</a:t>
                      </a:r>
                      <a:endParaRPr lang="pt-BR" sz="14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400"/>
                        <a:t>1000</a:t>
                      </a:r>
                      <a:endParaRPr lang="pt-BR" sz="14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400"/>
                        <a:t>100</a:t>
                      </a:r>
                      <a:endParaRPr lang="pt-BR" sz="14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400"/>
                        <a:t>10</a:t>
                      </a:r>
                      <a:endParaRPr lang="pt-BR" sz="14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400"/>
                        <a:t>1</a:t>
                      </a:r>
                      <a:endParaRPr lang="pt-BR" sz="1400"/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7" name="Striped Right Arrow 6"/>
          <p:cNvSpPr/>
          <p:nvPr/>
        </p:nvSpPr>
        <p:spPr>
          <a:xfrm>
            <a:off x="3832174" y="3174543"/>
            <a:ext cx="381044" cy="192271"/>
          </a:xfrm>
          <a:prstGeom prst="stripedRightArrow">
            <a:avLst/>
          </a:prstGeom>
          <a:solidFill>
            <a:srgbClr val="36A4D7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257040" y="2311400"/>
          <a:ext cx="4707255" cy="195516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44320"/>
                <a:gridCol w="835025"/>
                <a:gridCol w="797560"/>
                <a:gridCol w="741680"/>
                <a:gridCol w="788670"/>
              </a:tblGrid>
              <a:tr h="400685"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200"/>
                        <a:t>Milhar</a:t>
                      </a:r>
                      <a:endParaRPr lang="pt-BR" sz="12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200"/>
                        <a:t>Centena</a:t>
                      </a:r>
                      <a:endParaRPr lang="pt-BR" sz="12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200"/>
                        <a:t>Dezena</a:t>
                      </a:r>
                      <a:endParaRPr lang="pt-BR" sz="12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200"/>
                        <a:t>Unidade</a:t>
                      </a:r>
                      <a:endParaRPr lang="pt-BR" sz="1200"/>
                    </a:p>
                  </a:txBody>
                  <a:tcPr anchor="ctr" anchorCtr="0"/>
                </a:tc>
              </a:tr>
              <a:tr h="264795">
                <a:tc>
                  <a:txBody>
                    <a:bodyPr/>
                    <a:lstStyle/>
                    <a:p>
                      <a:pPr algn="ctr" rtl="0"/>
                      <a:r>
                        <a:rPr lang="pt-BR" sz="1200"/>
                        <a:t>Valor Posicional</a:t>
                      </a:r>
                      <a:endParaRPr lang="pt-BR" sz="12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200"/>
                        <a:t>1000</a:t>
                      </a:r>
                      <a:endParaRPr lang="pt-BR" sz="12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200"/>
                        <a:t>100</a:t>
                      </a:r>
                      <a:endParaRPr lang="pt-BR" sz="12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200"/>
                        <a:t>10</a:t>
                      </a:r>
                      <a:endParaRPr lang="pt-BR" sz="12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200"/>
                        <a:t>1</a:t>
                      </a:r>
                      <a:endParaRPr lang="pt-BR" sz="1200"/>
                    </a:p>
                  </a:txBody>
                  <a:tcPr anchor="ctr" anchorCtr="0"/>
                </a:tc>
              </a:tr>
              <a:tr h="265430">
                <a:tc>
                  <a:txBody>
                    <a:bodyPr/>
                    <a:lstStyle/>
                    <a:p>
                      <a:pPr algn="ctr" rtl="0"/>
                      <a:r>
                        <a:rPr lang="pt-BR" sz="1200"/>
                        <a:t>Número decimal (1234)</a:t>
                      </a:r>
                      <a:endParaRPr lang="pt-BR" sz="12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200"/>
                        <a:t>1</a:t>
                      </a:r>
                      <a:endParaRPr lang="pt-BR" sz="12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200"/>
                        <a:t>2</a:t>
                      </a:r>
                      <a:endParaRPr lang="pt-BR" sz="12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200"/>
                        <a:t>3</a:t>
                      </a:r>
                      <a:endParaRPr lang="pt-BR" sz="12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200"/>
                        <a:t>4</a:t>
                      </a:r>
                      <a:endParaRPr lang="pt-BR" sz="1200"/>
                    </a:p>
                  </a:txBody>
                  <a:tcPr anchor="ctr" anchorCtr="0"/>
                </a:tc>
              </a:tr>
              <a:tr h="264160">
                <a:tc>
                  <a:txBody>
                    <a:bodyPr/>
                    <a:lstStyle/>
                    <a:p>
                      <a:pPr algn="ctr" rtl="0"/>
                      <a:r>
                        <a:rPr lang="pt-BR" sz="1200"/>
                        <a:t>Cálculo</a:t>
                      </a:r>
                      <a:endParaRPr lang="pt-BR" sz="12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200"/>
                        <a:t>1 x 1000</a:t>
                      </a:r>
                      <a:endParaRPr lang="pt-BR" sz="12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200"/>
                        <a:t>2 x 100</a:t>
                      </a:r>
                      <a:endParaRPr lang="pt-BR" sz="12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200"/>
                        <a:t>3 x 10</a:t>
                      </a:r>
                      <a:endParaRPr lang="pt-BR" sz="12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200"/>
                        <a:t>4 x 1</a:t>
                      </a:r>
                      <a:endParaRPr lang="pt-BR" sz="1200"/>
                    </a:p>
                  </a:txBody>
                  <a:tcPr anchor="ctr" anchorCtr="0"/>
                </a:tc>
              </a:tr>
              <a:tr h="264795">
                <a:tc>
                  <a:txBody>
                    <a:bodyPr/>
                    <a:lstStyle/>
                    <a:p>
                      <a:pPr algn="ctr" rtl="0"/>
                      <a:r>
                        <a:rPr lang="pt-BR" sz="1200"/>
                        <a:t>Adicionar…</a:t>
                      </a:r>
                      <a:endParaRPr lang="pt-BR" sz="12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200"/>
                        <a:t>1000</a:t>
                      </a:r>
                      <a:endParaRPr lang="pt-BR" sz="12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200"/>
                        <a:t>+ 200</a:t>
                      </a:r>
                      <a:endParaRPr lang="pt-BR" sz="12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200"/>
                        <a:t>+ 30</a:t>
                      </a:r>
                      <a:endParaRPr lang="pt-BR" sz="12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200"/>
                        <a:t>+ 4</a:t>
                      </a:r>
                      <a:endParaRPr lang="pt-BR" sz="1200"/>
                    </a:p>
                  </a:txBody>
                  <a:tcPr anchor="ctr" anchorCtr="0"/>
                </a:tc>
              </a:tr>
              <a:tr h="264795">
                <a:tc>
                  <a:txBody>
                    <a:bodyPr/>
                    <a:lstStyle/>
                    <a:p>
                      <a:pPr algn="ctr" rtl="0"/>
                      <a:r>
                        <a:rPr lang="pt-BR" sz="1200"/>
                        <a:t>Resultado</a:t>
                      </a:r>
                      <a:endParaRPr lang="pt-BR" sz="1200"/>
                    </a:p>
                  </a:txBody>
                  <a:tcPr anchor="ctr" anchorCtr="0"/>
                </a:tc>
                <a:tc gridSpan="4">
                  <a:txBody>
                    <a:bodyPr/>
                    <a:lstStyle/>
                    <a:p>
                      <a:pPr algn="ctr" rtl="0"/>
                      <a:r>
                        <a:rPr lang="pt-BR" sz="1200" b="1"/>
                        <a:t>1.234</a:t>
                      </a:r>
                      <a:endParaRPr lang="pt-BR" sz="1200" b="1"/>
                    </a:p>
                  </a:txBody>
                  <a:tcPr anchor="ctr" anchorCtr="0"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31899"/>
            <a:ext cx="8345488" cy="731837"/>
          </a:xfrm>
        </p:spPr>
        <p:txBody>
          <a:bodyPr/>
          <a:lstStyle/>
          <a:p>
            <a:pPr rtl="0"/>
            <a:r>
              <a:rPr lang="pt-BR" sz="1600">
                <a:sym typeface="+mn-ea"/>
              </a:rPr>
              <a:t>Sistema de Numeração Binário</a:t>
            </a:r>
            <a:br>
              <a:rPr sz="2400">
                <a:sym typeface="+mn-ea"/>
              </a:rPr>
            </a:br>
            <a:r>
              <a:rPr lang="pt-BR" sz="2400">
                <a:sym typeface="+mn-ea"/>
              </a:rPr>
              <a:t>Notação Posicional Binária (Continuação)</a:t>
            </a:r>
            <a:endParaRPr lang="pt-BR" sz="240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6040" y="692785"/>
            <a:ext cx="8975725" cy="334645"/>
          </a:xfrm>
        </p:spPr>
        <p:txBody>
          <a:bodyPr/>
          <a:lstStyle/>
          <a:p>
            <a:pPr marL="0" indent="0" algn="ctr" rtl="0"/>
            <a:r>
              <a:rPr lang="pt-BR" sz="1900">
                <a:solidFill>
                  <a:srgbClr val="000000"/>
                </a:solidFill>
              </a:rPr>
              <a:t>O sistema de notação posicional binária opera como mostrado nas tabelas abaixo.</a:t>
            </a:r>
            <a:endParaRPr lang="pt-BR" sz="1900">
              <a:solidFill>
                <a:srgbClr val="000000"/>
              </a:solidFill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39065" y="1097280"/>
          <a:ext cx="6193790" cy="1490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9315"/>
                <a:gridCol w="539750"/>
                <a:gridCol w="494030"/>
                <a:gridCol w="470535"/>
                <a:gridCol w="471170"/>
                <a:gridCol w="539750"/>
                <a:gridCol w="494030"/>
                <a:gridCol w="516255"/>
                <a:gridCol w="528955"/>
              </a:tblGrid>
              <a:tr h="372745">
                <a:tc>
                  <a:txBody>
                    <a:bodyPr/>
                    <a:lstStyle/>
                    <a:p>
                      <a:pPr algn="ctr" rtl="0"/>
                      <a:r>
                        <a:rPr lang="pt-BR" sz="1500"/>
                        <a:t>Raiz</a:t>
                      </a:r>
                      <a:endParaRPr lang="pt-BR" sz="15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500"/>
                        <a:t>2</a:t>
                      </a:r>
                      <a:endParaRPr lang="pt-BR" sz="15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500"/>
                        <a:t>2</a:t>
                      </a:r>
                      <a:endParaRPr lang="pt-BR" sz="15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500"/>
                        <a:t>2</a:t>
                      </a:r>
                      <a:endParaRPr lang="pt-BR" sz="15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500"/>
                        <a:t>2</a:t>
                      </a:r>
                      <a:endParaRPr lang="pt-BR" sz="15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500"/>
                        <a:t>2</a:t>
                      </a:r>
                      <a:endParaRPr lang="pt-BR" sz="15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500"/>
                        <a:t>2</a:t>
                      </a:r>
                      <a:endParaRPr lang="pt-BR" sz="15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500"/>
                        <a:t>2</a:t>
                      </a:r>
                      <a:endParaRPr lang="pt-BR" sz="15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500"/>
                        <a:t>2</a:t>
                      </a:r>
                      <a:endParaRPr lang="pt-BR" sz="1500"/>
                    </a:p>
                  </a:txBody>
                  <a:tcPr anchor="ctr" anchorCtr="0"/>
                </a:tc>
              </a:tr>
              <a:tr h="372745">
                <a:tc>
                  <a:txBody>
                    <a:bodyPr/>
                    <a:lstStyle/>
                    <a:p>
                      <a:pPr algn="ctr" rtl="0"/>
                      <a:r>
                        <a:rPr lang="pt-BR" sz="1500" b="1"/>
                        <a:t>Posição no número</a:t>
                      </a:r>
                      <a:endParaRPr lang="pt-BR" sz="1500" b="1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500"/>
                        <a:t>7</a:t>
                      </a:r>
                      <a:endParaRPr lang="pt-BR" sz="15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500"/>
                        <a:t>6</a:t>
                      </a:r>
                      <a:endParaRPr lang="pt-BR" sz="15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500"/>
                        <a:t>5</a:t>
                      </a:r>
                      <a:endParaRPr lang="pt-BR" sz="15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500"/>
                        <a:t>4</a:t>
                      </a:r>
                      <a:endParaRPr lang="pt-BR" sz="15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500"/>
                        <a:t>3</a:t>
                      </a:r>
                      <a:endParaRPr lang="pt-BR" sz="15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500"/>
                        <a:t>2</a:t>
                      </a:r>
                      <a:endParaRPr lang="pt-BR" sz="15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500"/>
                        <a:t>1</a:t>
                      </a:r>
                      <a:endParaRPr lang="pt-BR" sz="15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500"/>
                        <a:t>0</a:t>
                      </a:r>
                      <a:endParaRPr lang="pt-BR" sz="1500"/>
                    </a:p>
                  </a:txBody>
                  <a:tcPr anchor="ctr" anchorCtr="0"/>
                </a:tc>
              </a:tr>
              <a:tr h="372745">
                <a:tc>
                  <a:txBody>
                    <a:bodyPr/>
                    <a:lstStyle/>
                    <a:p>
                      <a:pPr algn="ctr" rtl="0"/>
                      <a:r>
                        <a:rPr lang="pt-BR" sz="1500" b="1"/>
                        <a:t>Cáculo</a:t>
                      </a:r>
                      <a:endParaRPr lang="pt-BR" sz="1500" b="1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500"/>
                        <a:t>(2</a:t>
                      </a:r>
                      <a:r>
                        <a:rPr lang="pt-BR" sz="1500" baseline="30000"/>
                        <a:t>7</a:t>
                      </a:r>
                      <a:r>
                        <a:rPr lang="pt-BR" sz="1500"/>
                        <a:t>)</a:t>
                      </a:r>
                      <a:endParaRPr lang="pt-BR" sz="15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500"/>
                        <a:t>(2</a:t>
                      </a:r>
                      <a:r>
                        <a:rPr lang="pt-BR" sz="1500" baseline="30000"/>
                        <a:t>6</a:t>
                      </a:r>
                      <a:r>
                        <a:rPr lang="pt-BR" sz="1500"/>
                        <a:t>)</a:t>
                      </a:r>
                      <a:endParaRPr lang="pt-BR" sz="15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500"/>
                        <a:t>(2</a:t>
                      </a:r>
                      <a:r>
                        <a:rPr lang="pt-BR" sz="1500" baseline="30000"/>
                        <a:t>5</a:t>
                      </a:r>
                      <a:r>
                        <a:rPr lang="pt-BR" sz="1500"/>
                        <a:t>)</a:t>
                      </a:r>
                      <a:endParaRPr lang="pt-BR" sz="15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500"/>
                        <a:t>(2</a:t>
                      </a:r>
                      <a:r>
                        <a:rPr lang="pt-BR" sz="1500" baseline="30000"/>
                        <a:t>4</a:t>
                      </a:r>
                      <a:r>
                        <a:rPr lang="pt-BR" sz="1500"/>
                        <a:t>)</a:t>
                      </a:r>
                      <a:endParaRPr lang="pt-BR" sz="15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500"/>
                        <a:t>(2</a:t>
                      </a:r>
                      <a:r>
                        <a:rPr lang="pt-BR" sz="1500" baseline="30000"/>
                        <a:t>3</a:t>
                      </a:r>
                      <a:r>
                        <a:rPr lang="pt-BR" sz="1500"/>
                        <a:t>)</a:t>
                      </a:r>
                      <a:endParaRPr lang="pt-BR" sz="15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500"/>
                        <a:t>(2</a:t>
                      </a:r>
                      <a:r>
                        <a:rPr lang="pt-BR" sz="1500" baseline="30000"/>
                        <a:t>2</a:t>
                      </a:r>
                      <a:r>
                        <a:rPr lang="pt-BR" sz="1500"/>
                        <a:t>)</a:t>
                      </a:r>
                      <a:endParaRPr lang="pt-BR" sz="15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500"/>
                        <a:t>(2</a:t>
                      </a:r>
                      <a:r>
                        <a:rPr lang="pt-BR" sz="1500" baseline="30000"/>
                        <a:t>1</a:t>
                      </a:r>
                      <a:r>
                        <a:rPr lang="pt-BR" sz="1500"/>
                        <a:t>)</a:t>
                      </a:r>
                      <a:endParaRPr lang="pt-BR" sz="15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500"/>
                        <a:t>(2</a:t>
                      </a:r>
                      <a:r>
                        <a:rPr lang="pt-BR" sz="1500" baseline="30000"/>
                        <a:t>0</a:t>
                      </a:r>
                      <a:r>
                        <a:rPr lang="pt-BR" sz="1500"/>
                        <a:t>)</a:t>
                      </a:r>
                      <a:endParaRPr lang="pt-BR" sz="1500"/>
                    </a:p>
                  </a:txBody>
                  <a:tcPr anchor="ctr" anchorCtr="0"/>
                </a:tc>
              </a:tr>
              <a:tr h="372745">
                <a:tc>
                  <a:txBody>
                    <a:bodyPr/>
                    <a:lstStyle/>
                    <a:p>
                      <a:pPr algn="ctr" rtl="0"/>
                      <a:r>
                        <a:rPr lang="pt-BR" sz="1500" b="1"/>
                        <a:t>Valor da posição</a:t>
                      </a:r>
                      <a:endParaRPr lang="pt-BR" sz="1500" b="1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500"/>
                        <a:t>128</a:t>
                      </a:r>
                      <a:endParaRPr lang="pt-BR" sz="15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500"/>
                        <a:t>64</a:t>
                      </a:r>
                      <a:endParaRPr lang="pt-BR" sz="15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500"/>
                        <a:t>32</a:t>
                      </a:r>
                      <a:endParaRPr lang="pt-BR" sz="15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500"/>
                        <a:t>16</a:t>
                      </a:r>
                      <a:endParaRPr lang="pt-BR" sz="15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500"/>
                        <a:t>8</a:t>
                      </a:r>
                      <a:endParaRPr lang="pt-BR" sz="15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500"/>
                        <a:t>4</a:t>
                      </a:r>
                      <a:endParaRPr lang="pt-BR" sz="15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500"/>
                        <a:t>2</a:t>
                      </a:r>
                      <a:endParaRPr lang="pt-BR" sz="15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500"/>
                        <a:t>1</a:t>
                      </a:r>
                      <a:endParaRPr lang="pt-BR" sz="1500"/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7" name="Striped Right Arrow 6"/>
          <p:cNvSpPr/>
          <p:nvPr/>
        </p:nvSpPr>
        <p:spPr>
          <a:xfrm rot="5400000">
            <a:off x="4384040" y="2662555"/>
            <a:ext cx="441960" cy="294005"/>
          </a:xfrm>
          <a:prstGeom prst="stripedRightArrow">
            <a:avLst/>
          </a:prstGeom>
          <a:solidFill>
            <a:srgbClr val="36A4D7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944370" y="3030855"/>
          <a:ext cx="7056755" cy="161925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041525"/>
                <a:gridCol w="748665"/>
                <a:gridCol w="649605"/>
                <a:gridCol w="643255"/>
                <a:gridCol w="659130"/>
                <a:gridCol w="561340"/>
                <a:gridCol w="562610"/>
                <a:gridCol w="588645"/>
                <a:gridCol w="601980"/>
              </a:tblGrid>
              <a:tr h="329565">
                <a:tc>
                  <a:txBody>
                    <a:bodyPr/>
                    <a:lstStyle/>
                    <a:p>
                      <a:pPr algn="ctr" rtl="0"/>
                      <a:r>
                        <a:rPr lang="pt-BR" sz="1500"/>
                        <a:t>Valor Posicional</a:t>
                      </a:r>
                      <a:endParaRPr lang="pt-BR" sz="15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500"/>
                        <a:t>128</a:t>
                      </a:r>
                      <a:endParaRPr lang="pt-BR" sz="15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500"/>
                        <a:t>64</a:t>
                      </a:r>
                      <a:endParaRPr lang="pt-BR" sz="15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500"/>
                        <a:t>32</a:t>
                      </a:r>
                      <a:endParaRPr lang="pt-BR" sz="15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500"/>
                        <a:t>16</a:t>
                      </a:r>
                      <a:endParaRPr lang="pt-BR" sz="15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500"/>
                        <a:t>8</a:t>
                      </a:r>
                      <a:endParaRPr lang="pt-BR" sz="15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500"/>
                        <a:t>4</a:t>
                      </a:r>
                      <a:endParaRPr lang="pt-BR" sz="15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500"/>
                        <a:t>2</a:t>
                      </a:r>
                      <a:endParaRPr lang="pt-BR" sz="15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500"/>
                        <a:t>1</a:t>
                      </a:r>
                      <a:endParaRPr lang="pt-BR" sz="1500"/>
                    </a:p>
                  </a:txBody>
                  <a:tcPr anchor="ctr" anchorCtr="0"/>
                </a:tc>
              </a:tr>
              <a:tr h="0">
                <a:tc>
                  <a:txBody>
                    <a:bodyPr/>
                    <a:lstStyle/>
                    <a:p>
                      <a:pPr algn="ctr" rtl="0"/>
                      <a:r>
                        <a:rPr lang="pt-BR" sz="1500" b="1"/>
                        <a:t>Número binário</a:t>
                      </a:r>
                      <a:endParaRPr lang="pt-BR" sz="1500" b="1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500"/>
                        <a:t>1</a:t>
                      </a:r>
                      <a:endParaRPr lang="pt-BR" sz="15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500"/>
                        <a:t>1</a:t>
                      </a:r>
                      <a:endParaRPr lang="pt-BR" sz="15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500"/>
                        <a:t>0</a:t>
                      </a:r>
                      <a:endParaRPr lang="pt-BR" sz="15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500"/>
                        <a:t>0</a:t>
                      </a:r>
                      <a:endParaRPr lang="pt-BR" sz="15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500"/>
                        <a:t>0</a:t>
                      </a:r>
                      <a:endParaRPr lang="pt-BR" sz="15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500"/>
                        <a:t>0</a:t>
                      </a:r>
                      <a:endParaRPr lang="pt-BR" sz="15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500"/>
                        <a:t>0</a:t>
                      </a:r>
                      <a:endParaRPr lang="pt-BR" sz="15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500"/>
                        <a:t>0</a:t>
                      </a:r>
                      <a:endParaRPr lang="pt-BR" sz="1500"/>
                    </a:p>
                  </a:txBody>
                  <a:tcPr anchor="ctr" anchorCtr="0"/>
                </a:tc>
              </a:tr>
              <a:tr h="0">
                <a:tc>
                  <a:txBody>
                    <a:bodyPr/>
                    <a:lstStyle/>
                    <a:p>
                      <a:pPr algn="ctr" rtl="0"/>
                      <a:r>
                        <a:rPr lang="pt-BR" sz="1500" b="1"/>
                        <a:t>Cáculo</a:t>
                      </a:r>
                      <a:endParaRPr lang="pt-BR" sz="1500" b="1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500"/>
                        <a:t>1x128</a:t>
                      </a:r>
                      <a:endParaRPr lang="pt-BR" sz="15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500"/>
                        <a:t>1x64</a:t>
                      </a:r>
                      <a:endParaRPr lang="pt-BR" sz="15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500"/>
                        <a:t>0x32</a:t>
                      </a:r>
                      <a:endParaRPr lang="pt-BR" sz="15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500"/>
                        <a:t>0x16</a:t>
                      </a:r>
                      <a:endParaRPr lang="pt-BR" sz="15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500"/>
                        <a:t>0x8</a:t>
                      </a:r>
                      <a:endParaRPr lang="pt-BR" sz="15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500"/>
                        <a:t>0x4</a:t>
                      </a:r>
                      <a:endParaRPr lang="pt-BR" sz="15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500"/>
                        <a:t>0x2</a:t>
                      </a:r>
                      <a:endParaRPr lang="pt-BR" sz="15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500"/>
                        <a:t>0x1</a:t>
                      </a:r>
                      <a:endParaRPr lang="pt-BR" sz="1500"/>
                    </a:p>
                  </a:txBody>
                  <a:tcPr anchor="ctr" anchorCtr="0"/>
                </a:tc>
              </a:tr>
              <a:tr h="0">
                <a:tc>
                  <a:txBody>
                    <a:bodyPr/>
                    <a:lstStyle/>
                    <a:p>
                      <a:pPr algn="ctr" rtl="0"/>
                      <a:r>
                        <a:rPr lang="pt-BR" sz="1500" b="1"/>
                        <a:t>Adicioná-los...</a:t>
                      </a:r>
                      <a:endParaRPr lang="pt-BR" sz="1500" b="1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500"/>
                        <a:t>128</a:t>
                      </a:r>
                      <a:endParaRPr lang="pt-BR" sz="15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500"/>
                        <a:t>+ 64</a:t>
                      </a:r>
                      <a:endParaRPr lang="pt-BR" sz="15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500"/>
                        <a:t>+ 0</a:t>
                      </a:r>
                      <a:endParaRPr lang="pt-BR" sz="15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500"/>
                        <a:t>+ 0</a:t>
                      </a:r>
                      <a:endParaRPr lang="pt-BR" sz="15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500"/>
                        <a:t>+ 0</a:t>
                      </a:r>
                      <a:endParaRPr lang="pt-BR" sz="15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500"/>
                        <a:t>+ 0</a:t>
                      </a:r>
                      <a:endParaRPr lang="pt-BR" sz="15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500"/>
                        <a:t>+ 0</a:t>
                      </a:r>
                      <a:endParaRPr lang="pt-BR" sz="15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500"/>
                        <a:t>+ 0</a:t>
                      </a:r>
                      <a:endParaRPr lang="pt-BR" sz="1500"/>
                    </a:p>
                  </a:txBody>
                  <a:tcPr anchor="ctr" anchorCtr="0"/>
                </a:tc>
              </a:tr>
              <a:tr h="329565">
                <a:tc>
                  <a:txBody>
                    <a:bodyPr/>
                    <a:lstStyle/>
                    <a:p>
                      <a:pPr algn="ctr" rtl="0"/>
                      <a:r>
                        <a:rPr lang="pt-BR" sz="1500" b="1"/>
                        <a:t>Resultado</a:t>
                      </a:r>
                      <a:endParaRPr lang="pt-BR" sz="1500" b="1"/>
                    </a:p>
                  </a:txBody>
                  <a:tcPr anchor="ctr" anchorCtr="0"/>
                </a:tc>
                <a:tc gridSpan="8">
                  <a:txBody>
                    <a:bodyPr/>
                    <a:lstStyle/>
                    <a:p>
                      <a:pPr algn="ctr" rtl="0"/>
                      <a:r>
                        <a:rPr lang="pt-BR" sz="1500" b="1"/>
                        <a:t>192</a:t>
                      </a:r>
                      <a:endParaRPr lang="pt-BR" sz="1500" b="1"/>
                    </a:p>
                  </a:txBody>
                  <a:tcPr anchor="ctr" anchorCtr="0"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31900"/>
            <a:ext cx="8345488" cy="642000"/>
          </a:xfrm>
        </p:spPr>
        <p:txBody>
          <a:bodyPr/>
          <a:lstStyle/>
          <a:p>
            <a:pPr rtl="0"/>
            <a:r>
              <a:rPr lang="pt-BR" sz="1600">
                <a:sym typeface="+mn-ea"/>
              </a:rPr>
              <a:t>Sistema de Numeração Binário</a:t>
            </a:r>
            <a:br>
              <a:rPr lang="en-US" dirty="0"/>
            </a:br>
            <a:r>
              <a:rPr lang="pt-BR" sz="2400"/>
              <a:t>Conterter Binário para Decimal</a:t>
            </a:r>
            <a:endParaRPr lang="pt-BR" sz="2400"/>
          </a:p>
        </p:txBody>
      </p:sp>
      <p:sp>
        <p:nvSpPr>
          <p:cNvPr id="9" name="TextBox 8"/>
          <p:cNvSpPr txBox="1"/>
          <p:nvPr/>
        </p:nvSpPr>
        <p:spPr>
          <a:xfrm>
            <a:off x="79375" y="635000"/>
            <a:ext cx="898588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/>
            <a:r>
              <a:rPr lang="pt-BR" sz="1400"/>
              <a:t>Converter: </a:t>
            </a:r>
            <a:r>
              <a:rPr lang="pt-BR" sz="1400" b="1"/>
              <a:t>11000000.10101000.00001011.00001010</a:t>
            </a:r>
            <a:r>
              <a:rPr lang="pt-BR" sz="1400"/>
              <a:t> para decimais.</a:t>
            </a:r>
            <a:endParaRPr lang="pt-BR" sz="1400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87325" y="941705"/>
          <a:ext cx="6325235" cy="3723005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999615"/>
                <a:gridCol w="643255"/>
                <a:gridCol w="537845"/>
                <a:gridCol w="550545"/>
                <a:gridCol w="525780"/>
                <a:gridCol w="502285"/>
                <a:gridCol w="501650"/>
                <a:gridCol w="526415"/>
                <a:gridCol w="537845"/>
              </a:tblGrid>
              <a:tr h="286385">
                <a:tc>
                  <a:txBody>
                    <a:bodyPr/>
                    <a:lstStyle/>
                    <a:p>
                      <a:pPr algn="ctr" rtl="0"/>
                      <a:r>
                        <a:rPr lang="pt-BR" sz="1100"/>
                        <a:t>Valor Posicional</a:t>
                      </a:r>
                      <a:endParaRPr lang="pt-BR" sz="11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/>
                        <a:t>128</a:t>
                      </a:r>
                      <a:endParaRPr lang="pt-BR" sz="11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/>
                        <a:t>64</a:t>
                      </a:r>
                      <a:endParaRPr lang="pt-BR" sz="11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/>
                        <a:t>32</a:t>
                      </a:r>
                      <a:endParaRPr lang="pt-BR" sz="11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/>
                        <a:t>16</a:t>
                      </a:r>
                      <a:endParaRPr lang="pt-BR" sz="11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/>
                        <a:t>8</a:t>
                      </a:r>
                      <a:endParaRPr lang="pt-BR" sz="11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/>
                        <a:t>4</a:t>
                      </a:r>
                      <a:endParaRPr lang="pt-BR" sz="11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/>
                        <a:t>2</a:t>
                      </a:r>
                      <a:endParaRPr lang="pt-BR" sz="11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/>
                        <a:t>1</a:t>
                      </a:r>
                      <a:endParaRPr lang="pt-BR" sz="1100"/>
                    </a:p>
                  </a:txBody>
                  <a:tcPr anchor="ctr" anchorCtr="0"/>
                </a:tc>
              </a:tr>
              <a:tr h="286385">
                <a:tc>
                  <a:txBody>
                    <a:bodyPr/>
                    <a:lstStyle/>
                    <a:p>
                      <a:pPr algn="ctr" rtl="0"/>
                      <a:r>
                        <a:rPr lang="pt-BR" sz="1100" b="1"/>
                        <a:t>Número binário (11000000)</a:t>
                      </a:r>
                      <a:endParaRPr lang="pt-BR" sz="1100" b="1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b="1"/>
                        <a:t>1</a:t>
                      </a:r>
                      <a:endParaRPr lang="pt-BR" sz="1100" b="1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b="1"/>
                        <a:t>1</a:t>
                      </a:r>
                      <a:endParaRPr lang="pt-BR" sz="1100" b="1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b="1"/>
                        <a:t>0</a:t>
                      </a:r>
                      <a:endParaRPr lang="pt-BR" sz="1100" b="1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b="1"/>
                        <a:t>0</a:t>
                      </a:r>
                      <a:endParaRPr lang="pt-BR" sz="1100" b="1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b="1"/>
                        <a:t>0</a:t>
                      </a:r>
                      <a:endParaRPr lang="pt-BR" sz="1100" b="1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b="1"/>
                        <a:t>0</a:t>
                      </a:r>
                      <a:endParaRPr lang="pt-BR" sz="1100" b="1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b="1"/>
                        <a:t>0</a:t>
                      </a:r>
                      <a:endParaRPr lang="pt-BR" sz="1100" b="1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b="1"/>
                        <a:t>0</a:t>
                      </a:r>
                      <a:endParaRPr lang="pt-BR" sz="1100" b="1"/>
                    </a:p>
                  </a:txBody>
                  <a:tcPr anchor="ctr" anchorCtr="0"/>
                </a:tc>
              </a:tr>
              <a:tr h="286385">
                <a:tc>
                  <a:txBody>
                    <a:bodyPr/>
                    <a:lstStyle/>
                    <a:p>
                      <a:pPr algn="ctr" rtl="0"/>
                      <a:r>
                        <a:rPr lang="pt-BR" sz="1100"/>
                        <a:t>Cáculo</a:t>
                      </a:r>
                      <a:endParaRPr lang="pt-BR" sz="11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/>
                        <a:t>1x128</a:t>
                      </a:r>
                      <a:endParaRPr lang="pt-BR" sz="11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/>
                        <a:t>1x64</a:t>
                      </a:r>
                      <a:endParaRPr lang="pt-BR" sz="11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/>
                        <a:t>0x32</a:t>
                      </a:r>
                      <a:endParaRPr lang="pt-BR" sz="11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/>
                        <a:t>0x16</a:t>
                      </a:r>
                      <a:endParaRPr lang="pt-BR" sz="11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/>
                        <a:t>0x8</a:t>
                      </a:r>
                      <a:endParaRPr lang="pt-BR" sz="11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/>
                        <a:t>0x4</a:t>
                      </a:r>
                      <a:endParaRPr lang="pt-BR" sz="11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/>
                        <a:t>0x2</a:t>
                      </a:r>
                      <a:endParaRPr lang="pt-BR" sz="11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/>
                        <a:t>0x1</a:t>
                      </a:r>
                      <a:endParaRPr lang="pt-BR" sz="1100"/>
                    </a:p>
                  </a:txBody>
                  <a:tcPr anchor="ctr" anchorCtr="0"/>
                </a:tc>
              </a:tr>
              <a:tr h="286385">
                <a:tc>
                  <a:txBody>
                    <a:bodyPr/>
                    <a:lstStyle/>
                    <a:p>
                      <a:pPr algn="ctr" rtl="0"/>
                      <a:r>
                        <a:rPr lang="pt-BR" sz="1100"/>
                        <a:t>Adicioná-los...</a:t>
                      </a:r>
                      <a:endParaRPr lang="pt-BR" sz="11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/>
                        <a:t>128</a:t>
                      </a:r>
                      <a:endParaRPr lang="pt-BR" sz="11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/>
                        <a:t>+ 64</a:t>
                      </a:r>
                      <a:endParaRPr lang="pt-BR" sz="11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/>
                        <a:t>+ 0</a:t>
                      </a:r>
                      <a:endParaRPr lang="pt-BR" sz="11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/>
                        <a:t>+ 0</a:t>
                      </a:r>
                      <a:endParaRPr lang="pt-BR" sz="11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/>
                        <a:t>+ 0</a:t>
                      </a:r>
                      <a:endParaRPr lang="pt-BR" sz="11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/>
                        <a:t>+ 0</a:t>
                      </a:r>
                      <a:endParaRPr lang="pt-BR" sz="11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/>
                        <a:t>+ 0</a:t>
                      </a:r>
                      <a:endParaRPr lang="pt-BR" sz="11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/>
                        <a:t>+ 0</a:t>
                      </a:r>
                      <a:endParaRPr lang="pt-BR" sz="1100"/>
                    </a:p>
                  </a:txBody>
                  <a:tcPr anchor="ctr" anchorCtr="0"/>
                </a:tc>
              </a:tr>
              <a:tr h="286385">
                <a:tc>
                  <a:txBody>
                    <a:bodyPr/>
                    <a:lstStyle/>
                    <a:p>
                      <a:pPr algn="ctr" rtl="0"/>
                      <a:r>
                        <a:rPr lang="pt-BR" sz="1100" b="1"/>
                        <a:t>Número binário (10101000)</a:t>
                      </a:r>
                      <a:endParaRPr lang="pt-BR" sz="1100" b="1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b="1"/>
                        <a:t>1</a:t>
                      </a:r>
                      <a:endParaRPr lang="pt-BR" sz="1100" b="1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b="1"/>
                        <a:t>0</a:t>
                      </a:r>
                      <a:endParaRPr lang="pt-BR" sz="1100" b="1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b="1"/>
                        <a:t>1</a:t>
                      </a:r>
                      <a:endParaRPr lang="pt-BR" sz="1100" b="1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b="1"/>
                        <a:t>0</a:t>
                      </a:r>
                      <a:endParaRPr lang="pt-BR" sz="1100" b="1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b="1"/>
                        <a:t>1</a:t>
                      </a:r>
                      <a:endParaRPr lang="pt-BR" sz="1100" b="1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b="1"/>
                        <a:t>0</a:t>
                      </a:r>
                      <a:endParaRPr lang="pt-BR" sz="1100" b="1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b="1"/>
                        <a:t>0</a:t>
                      </a:r>
                      <a:endParaRPr lang="pt-BR" sz="1100" b="1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b="1"/>
                        <a:t>0</a:t>
                      </a:r>
                      <a:endParaRPr lang="pt-BR" sz="1100" b="1"/>
                    </a:p>
                  </a:txBody>
                  <a:tcPr anchor="ctr" anchorCtr="0"/>
                </a:tc>
              </a:tr>
              <a:tr h="286385">
                <a:tc>
                  <a:txBody>
                    <a:bodyPr/>
                    <a:lstStyle/>
                    <a:p>
                      <a:pPr algn="ctr" rtl="0"/>
                      <a:r>
                        <a:rPr lang="pt-BR" sz="1100"/>
                        <a:t>Cáculo</a:t>
                      </a:r>
                      <a:endParaRPr lang="pt-BR" sz="11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/>
                        <a:t>1x128</a:t>
                      </a:r>
                      <a:endParaRPr lang="pt-BR" sz="11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/>
                        <a:t>0x64</a:t>
                      </a:r>
                      <a:endParaRPr lang="pt-BR" sz="11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/>
                        <a:t>1x32</a:t>
                      </a:r>
                      <a:endParaRPr lang="pt-BR" sz="11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/>
                        <a:t>0x16</a:t>
                      </a:r>
                      <a:endParaRPr lang="pt-BR" sz="11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/>
                        <a:t>1x8</a:t>
                      </a:r>
                      <a:endParaRPr lang="pt-BR" sz="11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/>
                        <a:t>0x4</a:t>
                      </a:r>
                      <a:endParaRPr lang="pt-BR" sz="11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/>
                        <a:t>0x2</a:t>
                      </a:r>
                      <a:endParaRPr lang="pt-BR" sz="11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/>
                        <a:t>0x1</a:t>
                      </a:r>
                      <a:endParaRPr lang="pt-BR" sz="1100"/>
                    </a:p>
                  </a:txBody>
                  <a:tcPr anchor="ctr" anchorCtr="0"/>
                </a:tc>
              </a:tr>
              <a:tr h="286385">
                <a:tc>
                  <a:txBody>
                    <a:bodyPr/>
                    <a:lstStyle/>
                    <a:p>
                      <a:pPr algn="ctr" rtl="0"/>
                      <a:r>
                        <a:rPr lang="pt-BR" sz="1100"/>
                        <a:t>Adicioná-los...</a:t>
                      </a:r>
                      <a:endParaRPr lang="pt-BR" sz="11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/>
                        <a:t>128</a:t>
                      </a:r>
                      <a:endParaRPr lang="pt-BR" sz="11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/>
                        <a:t>+ 0</a:t>
                      </a:r>
                      <a:endParaRPr lang="pt-BR" sz="11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/>
                        <a:t>+ 32</a:t>
                      </a:r>
                      <a:endParaRPr lang="pt-BR" sz="11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/>
                        <a:t>+ 0</a:t>
                      </a:r>
                      <a:endParaRPr lang="pt-BR" sz="11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/>
                        <a:t>+ 8</a:t>
                      </a:r>
                      <a:endParaRPr lang="pt-BR" sz="11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/>
                        <a:t>+ 0</a:t>
                      </a:r>
                      <a:endParaRPr lang="pt-BR" sz="11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/>
                        <a:t>+ 0</a:t>
                      </a:r>
                      <a:endParaRPr lang="pt-BR" sz="11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/>
                        <a:t>+ 0</a:t>
                      </a:r>
                      <a:endParaRPr lang="pt-BR" sz="1100"/>
                    </a:p>
                  </a:txBody>
                  <a:tcPr anchor="ctr" anchorCtr="0"/>
                </a:tc>
              </a:tr>
              <a:tr h="286385">
                <a:tc>
                  <a:txBody>
                    <a:bodyPr/>
                    <a:lstStyle/>
                    <a:p>
                      <a:pPr algn="ctr" rtl="0"/>
                      <a:r>
                        <a:rPr lang="pt-BR" sz="1100" b="1"/>
                        <a:t>Número Binário (00001011)</a:t>
                      </a:r>
                      <a:endParaRPr lang="pt-BR" sz="1100" b="1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b="1"/>
                        <a:t>0</a:t>
                      </a:r>
                      <a:endParaRPr lang="pt-BR" sz="1100" b="1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b="1"/>
                        <a:t>0</a:t>
                      </a:r>
                      <a:endParaRPr lang="pt-BR" sz="1100" b="1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b="1"/>
                        <a:t>0</a:t>
                      </a:r>
                      <a:endParaRPr lang="pt-BR" sz="1100" b="1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b="1"/>
                        <a:t>0</a:t>
                      </a:r>
                      <a:endParaRPr lang="pt-BR" sz="1100" b="1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b="1"/>
                        <a:t>1</a:t>
                      </a:r>
                      <a:endParaRPr lang="pt-BR" sz="1100" b="1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b="1"/>
                        <a:t>0</a:t>
                      </a:r>
                      <a:endParaRPr lang="pt-BR" sz="1100" b="1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b="1"/>
                        <a:t>1</a:t>
                      </a:r>
                      <a:endParaRPr lang="pt-BR" sz="1100" b="1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b="1"/>
                        <a:t>1</a:t>
                      </a:r>
                      <a:endParaRPr lang="pt-BR" sz="1100" b="1"/>
                    </a:p>
                  </a:txBody>
                  <a:tcPr anchor="ctr" anchorCtr="0"/>
                </a:tc>
              </a:tr>
              <a:tr h="286385">
                <a:tc>
                  <a:txBody>
                    <a:bodyPr/>
                    <a:lstStyle/>
                    <a:p>
                      <a:pPr algn="ctr" rtl="0"/>
                      <a:r>
                        <a:rPr lang="pt-BR" sz="1100"/>
                        <a:t>Cálculo</a:t>
                      </a:r>
                      <a:endParaRPr lang="pt-BR" sz="11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/>
                        <a:t>0x128</a:t>
                      </a:r>
                      <a:endParaRPr lang="pt-BR" sz="11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/>
                        <a:t>0x64</a:t>
                      </a:r>
                      <a:endParaRPr lang="pt-BR" sz="11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/>
                        <a:t>0x32</a:t>
                      </a:r>
                      <a:endParaRPr lang="pt-BR" sz="11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/>
                        <a:t>0x16</a:t>
                      </a:r>
                      <a:endParaRPr lang="pt-BR" sz="11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/>
                        <a:t>1x8</a:t>
                      </a:r>
                      <a:endParaRPr lang="pt-BR" sz="11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/>
                        <a:t>0x4</a:t>
                      </a:r>
                      <a:endParaRPr lang="pt-BR" sz="11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/>
                        <a:t>1x2</a:t>
                      </a:r>
                      <a:endParaRPr lang="pt-BR" sz="11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/>
                        <a:t>1x1</a:t>
                      </a:r>
                      <a:endParaRPr lang="pt-BR" sz="1100"/>
                    </a:p>
                  </a:txBody>
                  <a:tcPr anchor="ctr" anchorCtr="0"/>
                </a:tc>
              </a:tr>
              <a:tr h="286385">
                <a:tc>
                  <a:txBody>
                    <a:bodyPr/>
                    <a:lstStyle/>
                    <a:p>
                      <a:pPr algn="ctr" rtl="0"/>
                      <a:r>
                        <a:rPr lang="pt-BR" sz="1100"/>
                        <a:t>Adicioná-los...</a:t>
                      </a:r>
                      <a:endParaRPr lang="pt-BR" sz="11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/>
                        <a:t>0</a:t>
                      </a:r>
                      <a:endParaRPr lang="pt-BR" sz="11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/>
                        <a:t>+ 0</a:t>
                      </a:r>
                      <a:endParaRPr lang="pt-BR" sz="11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/>
                        <a:t>+ 0</a:t>
                      </a:r>
                      <a:endParaRPr lang="pt-BR" sz="11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/>
                        <a:t>+ 0</a:t>
                      </a:r>
                      <a:endParaRPr lang="pt-BR" sz="11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/>
                        <a:t>+ 8</a:t>
                      </a:r>
                      <a:endParaRPr lang="pt-BR" sz="11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/>
                        <a:t>+ 0</a:t>
                      </a:r>
                      <a:endParaRPr lang="pt-BR" sz="11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/>
                        <a:t>+ 2</a:t>
                      </a:r>
                      <a:endParaRPr lang="pt-BR" sz="11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/>
                        <a:t>+ 1</a:t>
                      </a:r>
                      <a:endParaRPr lang="pt-BR" sz="1100"/>
                    </a:p>
                  </a:txBody>
                  <a:tcPr anchor="ctr" anchorCtr="0"/>
                </a:tc>
              </a:tr>
              <a:tr h="286385">
                <a:tc>
                  <a:txBody>
                    <a:bodyPr/>
                    <a:lstStyle/>
                    <a:p>
                      <a:pPr algn="ctr" rtl="0"/>
                      <a:r>
                        <a:rPr lang="pt-BR" sz="1100" b="1"/>
                        <a:t>Número Binário (00001010)</a:t>
                      </a:r>
                      <a:endParaRPr lang="pt-BR" sz="1100" b="1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b="1"/>
                        <a:t>0</a:t>
                      </a:r>
                      <a:endParaRPr lang="pt-BR" sz="1100" b="1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b="1"/>
                        <a:t>0</a:t>
                      </a:r>
                      <a:endParaRPr lang="pt-BR" sz="1100" b="1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b="1"/>
                        <a:t>0</a:t>
                      </a:r>
                      <a:endParaRPr lang="pt-BR" sz="1100" b="1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b="1"/>
                        <a:t>0</a:t>
                      </a:r>
                      <a:endParaRPr lang="pt-BR" sz="1100" b="1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b="1"/>
                        <a:t>1</a:t>
                      </a:r>
                      <a:endParaRPr lang="pt-BR" sz="1100" b="1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b="1"/>
                        <a:t>0</a:t>
                      </a:r>
                      <a:endParaRPr lang="pt-BR" sz="1100" b="1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b="1"/>
                        <a:t>1</a:t>
                      </a:r>
                      <a:endParaRPr lang="pt-BR" sz="1100" b="1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 b="1"/>
                        <a:t>0</a:t>
                      </a:r>
                      <a:endParaRPr lang="pt-BR" sz="1100" b="1"/>
                    </a:p>
                  </a:txBody>
                  <a:tcPr anchor="ctr" anchorCtr="0"/>
                </a:tc>
              </a:tr>
              <a:tr h="286385">
                <a:tc>
                  <a:txBody>
                    <a:bodyPr/>
                    <a:lstStyle/>
                    <a:p>
                      <a:pPr algn="ctr" rtl="0"/>
                      <a:r>
                        <a:rPr lang="pt-BR" sz="1100"/>
                        <a:t>Cáculo</a:t>
                      </a:r>
                      <a:endParaRPr lang="pt-BR" sz="11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/>
                        <a:t>0x128</a:t>
                      </a:r>
                      <a:endParaRPr lang="pt-BR" sz="11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/>
                        <a:t>0x64</a:t>
                      </a:r>
                      <a:endParaRPr lang="pt-BR" sz="11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/>
                        <a:t>0x32</a:t>
                      </a:r>
                      <a:endParaRPr lang="pt-BR" sz="11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/>
                        <a:t>0x16</a:t>
                      </a:r>
                      <a:endParaRPr lang="pt-BR" sz="11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/>
                        <a:t>1x8</a:t>
                      </a:r>
                      <a:endParaRPr lang="pt-BR" sz="11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/>
                        <a:t>0x4</a:t>
                      </a:r>
                      <a:endParaRPr lang="pt-BR" sz="11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/>
                        <a:t>1x2</a:t>
                      </a:r>
                      <a:endParaRPr lang="pt-BR" sz="11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/>
                        <a:t>0x1</a:t>
                      </a:r>
                      <a:endParaRPr lang="pt-BR" sz="1100"/>
                    </a:p>
                  </a:txBody>
                  <a:tcPr anchor="ctr" anchorCtr="0"/>
                </a:tc>
              </a:tr>
              <a:tr h="286385">
                <a:tc>
                  <a:txBody>
                    <a:bodyPr/>
                    <a:lstStyle/>
                    <a:p>
                      <a:pPr algn="ctr" rtl="0"/>
                      <a:r>
                        <a:rPr lang="pt-BR" sz="1100"/>
                        <a:t>Adicioná-los...</a:t>
                      </a:r>
                      <a:endParaRPr lang="pt-BR" sz="11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/>
                        <a:t>0</a:t>
                      </a:r>
                      <a:endParaRPr lang="pt-BR" sz="11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/>
                        <a:t>+ 0</a:t>
                      </a:r>
                      <a:endParaRPr lang="pt-BR" sz="11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/>
                        <a:t>+ 0</a:t>
                      </a:r>
                      <a:endParaRPr lang="pt-BR" sz="11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/>
                        <a:t>+ 0</a:t>
                      </a:r>
                      <a:endParaRPr lang="pt-BR" sz="11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/>
                        <a:t>+ 8</a:t>
                      </a:r>
                      <a:endParaRPr lang="pt-BR" sz="11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/>
                        <a:t>+ 0</a:t>
                      </a:r>
                      <a:endParaRPr lang="pt-BR" sz="11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/>
                        <a:t>+ 2</a:t>
                      </a:r>
                      <a:endParaRPr lang="pt-BR" sz="11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100"/>
                        <a:t>+ 0</a:t>
                      </a:r>
                      <a:endParaRPr lang="pt-BR" sz="1100"/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10" name="Striped Right Arrow 9"/>
          <p:cNvSpPr/>
          <p:nvPr/>
        </p:nvSpPr>
        <p:spPr>
          <a:xfrm>
            <a:off x="6547405" y="1774309"/>
            <a:ext cx="381044" cy="192271"/>
          </a:xfrm>
          <a:prstGeom prst="stripedRightArrow">
            <a:avLst/>
          </a:prstGeom>
          <a:solidFill>
            <a:srgbClr val="36A4D7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6928449" y="1668465"/>
            <a:ext cx="5261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r>
              <a:rPr lang="pt-BR" sz="1600"/>
              <a:t>192</a:t>
            </a:r>
            <a:endParaRPr lang="pt-BR" sz="1600"/>
          </a:p>
        </p:txBody>
      </p:sp>
      <p:sp>
        <p:nvSpPr>
          <p:cNvPr id="11" name="Striped Right Arrow 10"/>
          <p:cNvSpPr/>
          <p:nvPr/>
        </p:nvSpPr>
        <p:spPr>
          <a:xfrm>
            <a:off x="6547405" y="2630210"/>
            <a:ext cx="381044" cy="192271"/>
          </a:xfrm>
          <a:prstGeom prst="stripedRightArrow">
            <a:avLst/>
          </a:prstGeom>
          <a:solidFill>
            <a:srgbClr val="36A4D7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6928449" y="2562677"/>
            <a:ext cx="5261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r>
              <a:rPr lang="pt-BR" sz="1600"/>
              <a:t>168</a:t>
            </a:r>
            <a:endParaRPr lang="pt-BR" sz="1600"/>
          </a:p>
        </p:txBody>
      </p:sp>
      <p:sp>
        <p:nvSpPr>
          <p:cNvPr id="12" name="Striped Right Arrow 11"/>
          <p:cNvSpPr/>
          <p:nvPr/>
        </p:nvSpPr>
        <p:spPr>
          <a:xfrm>
            <a:off x="6547405" y="3453770"/>
            <a:ext cx="381044" cy="192271"/>
          </a:xfrm>
          <a:prstGeom prst="stripedRightArrow">
            <a:avLst/>
          </a:prstGeom>
          <a:solidFill>
            <a:srgbClr val="36A4D7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6928449" y="3380628"/>
            <a:ext cx="3970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r>
              <a:rPr lang="pt-BR" sz="1600"/>
              <a:t>11</a:t>
            </a:r>
            <a:endParaRPr lang="pt-BR" sz="1600"/>
          </a:p>
        </p:txBody>
      </p:sp>
      <p:sp>
        <p:nvSpPr>
          <p:cNvPr id="13" name="Striped Right Arrow 12"/>
          <p:cNvSpPr/>
          <p:nvPr/>
        </p:nvSpPr>
        <p:spPr>
          <a:xfrm>
            <a:off x="6547405" y="4277330"/>
            <a:ext cx="381044" cy="192271"/>
          </a:xfrm>
          <a:prstGeom prst="stripedRightArrow">
            <a:avLst/>
          </a:prstGeom>
          <a:solidFill>
            <a:srgbClr val="36A4D7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6925776" y="4215204"/>
            <a:ext cx="4122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r>
              <a:rPr lang="pt-BR" sz="1600"/>
              <a:t>10</a:t>
            </a:r>
            <a:endParaRPr lang="pt-BR" sz="1600"/>
          </a:p>
        </p:txBody>
      </p:sp>
      <p:sp>
        <p:nvSpPr>
          <p:cNvPr id="18" name="TextBox 17"/>
          <p:cNvSpPr txBox="1"/>
          <p:nvPr/>
        </p:nvSpPr>
        <p:spPr>
          <a:xfrm>
            <a:off x="7549849" y="2571031"/>
            <a:ext cx="14806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r>
              <a:rPr lang="pt-BR" sz="1600"/>
              <a:t>192.168.11.10</a:t>
            </a:r>
            <a:endParaRPr lang="pt-BR" sz="16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31750"/>
            <a:ext cx="9096375" cy="731520"/>
          </a:xfrm>
        </p:spPr>
        <p:txBody>
          <a:bodyPr/>
          <a:lstStyle/>
          <a:p>
            <a:pPr rtl="0"/>
            <a:r>
              <a:rPr lang="pt-BR" sz="1600">
                <a:sym typeface="+mn-ea"/>
              </a:rPr>
              <a:t>Sistema de Numeração Binário</a:t>
            </a:r>
            <a:br>
              <a:rPr lang="en-US" dirty="0"/>
            </a:br>
            <a:r>
              <a:rPr lang="pt-BR" sz="2400"/>
              <a:t>Conterter Binário para Decimal</a:t>
            </a:r>
            <a:endParaRPr lang="pt-BR" sz="240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358285" y="753957"/>
            <a:ext cx="8169608" cy="613657"/>
          </a:xfrm>
        </p:spPr>
        <p:txBody>
          <a:bodyPr/>
          <a:lstStyle/>
          <a:p>
            <a:pPr marL="0" indent="0" algn="l" rtl="0"/>
            <a:r>
              <a:rPr lang="pt-BR" sz="1600">
                <a:solidFill>
                  <a:srgbClr val="000000"/>
                </a:solidFill>
              </a:rPr>
              <a:t>A tabela de valores posicionais binários é útil na conversão de um endereço IPv4 decimal pontilhado em binário.</a:t>
            </a:r>
            <a:endParaRPr lang="pt-BR" sz="1600">
              <a:solidFill>
                <a:srgbClr val="00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99729" y="1453629"/>
            <a:ext cx="3831202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31800" lvl="2" indent="-285750" rtl="0">
              <a:buFont typeface="Arial" panose="020B0604020202020204" pitchFamily="34" charset="0"/>
              <a:buChar char="•"/>
            </a:pPr>
            <a:r>
              <a:rPr lang="pt-BR" sz="1400">
                <a:solidFill>
                  <a:srgbClr val="000000"/>
                </a:solidFill>
              </a:rPr>
              <a:t>Comece na posição 128 (o bit mais significativo). O número decimal do octeto (n) é igual ou superior a 128?</a:t>
            </a:r>
            <a:endParaRPr lang="pt-BR" sz="1400">
              <a:solidFill>
                <a:srgbClr val="000000"/>
              </a:solidFill>
            </a:endParaRPr>
          </a:p>
          <a:p>
            <a:pPr marL="431800" lvl="2" indent="-285750" rtl="0">
              <a:buFont typeface="Arial" panose="020B0604020202020204" pitchFamily="34" charset="0"/>
              <a:buChar char="•"/>
            </a:pPr>
            <a:r>
              <a:rPr lang="pt-BR" sz="1400">
                <a:solidFill>
                  <a:srgbClr val="000000"/>
                </a:solidFill>
              </a:rPr>
              <a:t>Se não, registre um binário 0 no valor posicional 128 e mova para o valor posicional 64.</a:t>
            </a:r>
            <a:endParaRPr lang="pt-BR" sz="1400">
              <a:solidFill>
                <a:srgbClr val="000000"/>
              </a:solidFill>
            </a:endParaRPr>
          </a:p>
          <a:p>
            <a:pPr marL="431800" lvl="2" indent="-285750" rtl="0">
              <a:buFont typeface="Arial" panose="020B0604020202020204" pitchFamily="34" charset="0"/>
              <a:buChar char="•"/>
            </a:pPr>
            <a:r>
              <a:rPr lang="pt-BR" sz="1400">
                <a:solidFill>
                  <a:srgbClr val="000000"/>
                </a:solidFill>
              </a:rPr>
              <a:t>Se sim, registre um 1 binário no valor posicional 128, subtraia 128 do número decimal e vá para o valor posicional 64.</a:t>
            </a:r>
            <a:endParaRPr lang="pt-BR" sz="1400">
              <a:solidFill>
                <a:srgbClr val="000000"/>
              </a:solidFill>
            </a:endParaRPr>
          </a:p>
          <a:p>
            <a:pPr marL="431800" lvl="2" indent="-285750" rtl="0">
              <a:buFont typeface="Arial" panose="020B0604020202020204" pitchFamily="34" charset="0"/>
              <a:buChar char="•"/>
            </a:pPr>
            <a:r>
              <a:rPr lang="pt-BR" sz="1400">
                <a:solidFill>
                  <a:srgbClr val="000000"/>
                </a:solidFill>
              </a:rPr>
              <a:t>Repita estas etapas através do valor posicional 1.</a:t>
            </a:r>
            <a:endParaRPr lang="pt-BR" sz="1400">
              <a:solidFill>
                <a:srgbClr val="000000"/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30930" y="1383647"/>
            <a:ext cx="4680513" cy="28067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31899"/>
            <a:ext cx="8345488" cy="731837"/>
          </a:xfrm>
        </p:spPr>
        <p:txBody>
          <a:bodyPr/>
          <a:lstStyle/>
          <a:p>
            <a:pPr rtl="0"/>
            <a:r>
              <a:rPr lang="pt-BR" sz="1600">
                <a:sym typeface="+mn-ea"/>
              </a:rPr>
              <a:t>Sistema de Numeração Binário</a:t>
            </a:r>
            <a:br>
              <a:rPr lang="en-US" dirty="0"/>
            </a:br>
            <a:r>
              <a:rPr lang="pt-BR" sz="2400"/>
              <a:t>Exemplo de Conversão de Decimal para Binário</a:t>
            </a:r>
            <a:endParaRPr lang="pt-BR" sz="240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74661" y="786907"/>
            <a:ext cx="8280057" cy="448354"/>
          </a:xfrm>
        </p:spPr>
        <p:txBody>
          <a:bodyPr/>
          <a:lstStyle/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>
                <a:solidFill>
                  <a:srgbClr val="000000"/>
                </a:solidFill>
              </a:rPr>
              <a:t>Converter decimal 168 em binário</a:t>
            </a:r>
            <a:endParaRPr lang="pt-BR">
              <a:solidFill>
                <a:srgbClr val="00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720182" y="1235260"/>
            <a:ext cx="5134291" cy="24622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r>
              <a:rPr lang="pt-BR" sz="1400">
                <a:solidFill>
                  <a:srgbClr val="000000"/>
                </a:solidFill>
              </a:rPr>
              <a:t>168 é &gt; 128?</a:t>
            </a:r>
            <a:endParaRPr lang="pt-BR" sz="1400">
              <a:solidFill>
                <a:srgbClr val="000000"/>
              </a:solidFill>
            </a:endParaRPr>
          </a:p>
          <a:p>
            <a:pPr marL="285750" indent="-285750" rtl="0">
              <a:buFontTx/>
              <a:buChar char="-"/>
            </a:pPr>
            <a:r>
              <a:rPr lang="pt-BR" sz="1400">
                <a:solidFill>
                  <a:srgbClr val="000000"/>
                </a:solidFill>
              </a:rPr>
              <a:t>Sim, digite 1 na posição 128 e subtraia 128 (168-128=40)</a:t>
            </a:r>
            <a:endParaRPr lang="pt-BR" sz="1400">
              <a:solidFill>
                <a:srgbClr val="000000"/>
              </a:solidFill>
            </a:endParaRPr>
          </a:p>
          <a:p>
            <a:pPr rtl="0"/>
            <a:r>
              <a:rPr lang="pt-BR" sz="1400">
                <a:solidFill>
                  <a:srgbClr val="000000"/>
                </a:solidFill>
              </a:rPr>
              <a:t>40 é &gt;= 64?</a:t>
            </a:r>
            <a:endParaRPr lang="pt-BR" sz="1400">
              <a:solidFill>
                <a:srgbClr val="000000"/>
              </a:solidFill>
            </a:endParaRPr>
          </a:p>
          <a:p>
            <a:pPr marL="285750" indent="-285750" rtl="0">
              <a:buFontTx/>
              <a:buChar char="-"/>
            </a:pPr>
            <a:r>
              <a:rPr lang="pt-BR" sz="1400">
                <a:solidFill>
                  <a:srgbClr val="000000"/>
                </a:solidFill>
              </a:rPr>
              <a:t>Não, digite 0 na posição 64 e siga em frente</a:t>
            </a:r>
            <a:endParaRPr lang="pt-BR" sz="1400">
              <a:solidFill>
                <a:srgbClr val="000000"/>
              </a:solidFill>
            </a:endParaRPr>
          </a:p>
          <a:p>
            <a:pPr rtl="0"/>
            <a:r>
              <a:rPr lang="pt-BR" sz="1400">
                <a:solidFill>
                  <a:srgbClr val="000000"/>
                </a:solidFill>
              </a:rPr>
              <a:t>É 40 &gt; 32?</a:t>
            </a:r>
            <a:endParaRPr lang="pt-BR" sz="1400">
              <a:solidFill>
                <a:srgbClr val="000000"/>
              </a:solidFill>
            </a:endParaRPr>
          </a:p>
          <a:p>
            <a:pPr marL="285750" indent="-285750" rtl="0">
              <a:buFontTx/>
              <a:buChar char="-"/>
            </a:pPr>
            <a:r>
              <a:rPr lang="pt-BR" sz="1400">
                <a:solidFill>
                  <a:srgbClr val="000000"/>
                </a:solidFill>
              </a:rPr>
              <a:t>Sim, digite 1 na posição 32 e subtraia 32 (40-32=8)</a:t>
            </a:r>
            <a:endParaRPr lang="pt-BR" sz="1400">
              <a:solidFill>
                <a:srgbClr val="000000"/>
              </a:solidFill>
            </a:endParaRPr>
          </a:p>
          <a:p>
            <a:pPr rtl="0"/>
            <a:r>
              <a:rPr lang="pt-BR" sz="1400">
                <a:solidFill>
                  <a:srgbClr val="000000"/>
                </a:solidFill>
              </a:rPr>
              <a:t>É 8 &gt; 16?</a:t>
            </a:r>
            <a:endParaRPr lang="pt-BR" sz="1400">
              <a:solidFill>
                <a:srgbClr val="000000"/>
              </a:solidFill>
            </a:endParaRPr>
          </a:p>
          <a:p>
            <a:pPr marL="285750" indent="-285750" rtl="0">
              <a:buFontTx/>
              <a:buChar char="-"/>
            </a:pPr>
            <a:r>
              <a:rPr lang="pt-BR" sz="1400">
                <a:solidFill>
                  <a:srgbClr val="000000"/>
                </a:solidFill>
              </a:rPr>
              <a:t>Não, digite 0 na posição 16 e siga em frente</a:t>
            </a:r>
            <a:endParaRPr lang="pt-BR" sz="1400">
              <a:solidFill>
                <a:srgbClr val="000000"/>
              </a:solidFill>
            </a:endParaRPr>
          </a:p>
          <a:p>
            <a:pPr rtl="0"/>
            <a:r>
              <a:rPr lang="pt-BR" sz="1400">
                <a:solidFill>
                  <a:srgbClr val="000000"/>
                </a:solidFill>
              </a:rPr>
              <a:t>8 é &gt; 8?</a:t>
            </a:r>
            <a:endParaRPr lang="pt-BR" sz="1400">
              <a:solidFill>
                <a:srgbClr val="000000"/>
              </a:solidFill>
            </a:endParaRPr>
          </a:p>
          <a:p>
            <a:pPr marL="285750" indent="-285750" rtl="0">
              <a:buFontTx/>
              <a:buChar char="-"/>
            </a:pPr>
            <a:r>
              <a:rPr lang="pt-BR" sz="1400">
                <a:solidFill>
                  <a:srgbClr val="000000"/>
                </a:solidFill>
              </a:rPr>
              <a:t>Igual Digite 1 na posição 8 e subtraia 8 (8-8=0)</a:t>
            </a:r>
            <a:endParaRPr lang="pt-BR" sz="1400">
              <a:solidFill>
                <a:srgbClr val="000000"/>
              </a:solidFill>
            </a:endParaRPr>
          </a:p>
          <a:p>
            <a:pPr rtl="0"/>
            <a:r>
              <a:rPr lang="pt-BR" sz="1400">
                <a:solidFill>
                  <a:srgbClr val="000000"/>
                </a:solidFill>
              </a:rPr>
              <a:t>Nenhum valor restante. Insira 0 nas posições binárias restantes</a:t>
            </a:r>
            <a:endParaRPr lang="pt-BR" sz="1400">
              <a:solidFill>
                <a:srgbClr val="000000"/>
              </a:solidFill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524000" y="3720643"/>
          <a:ext cx="6096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0"/>
                <a:gridCol w="762000"/>
                <a:gridCol w="762000"/>
                <a:gridCol w="762000"/>
                <a:gridCol w="762000"/>
                <a:gridCol w="762000"/>
                <a:gridCol w="762000"/>
                <a:gridCol w="762000"/>
              </a:tblGrid>
              <a:tr h="370840">
                <a:tc>
                  <a:txBody>
                    <a:bodyPr/>
                    <a:lstStyle/>
                    <a:p>
                      <a:pPr algn="ctr" rtl="0"/>
                      <a:r>
                        <a:rPr lang="pt-BR"/>
                        <a:t>128</a:t>
                      </a:r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/>
                        <a:t>64</a:t>
                      </a:r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/>
                        <a:t>32</a:t>
                      </a:r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/>
                        <a:t>16</a:t>
                      </a:r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/>
                        <a:t>8</a:t>
                      </a:r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/>
                        <a:t>4</a:t>
                      </a:r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/>
                        <a:t>2</a:t>
                      </a:r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/>
                        <a:t>1</a:t>
                      </a:r>
                      <a:endParaRPr lang="pt-BR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 rtl="0"/>
                      <a:r>
                        <a:rPr lang="pt-BR"/>
                        <a:t>1</a:t>
                      </a:r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/>
                        <a:t>0</a:t>
                      </a:r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/>
                        <a:t>1</a:t>
                      </a:r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/>
                        <a:t>0</a:t>
                      </a:r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/>
                        <a:t>1</a:t>
                      </a:r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/>
                        <a:t>0</a:t>
                      </a:r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/>
                        <a:t>0</a:t>
                      </a:r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/>
                        <a:t>0</a:t>
                      </a:r>
                      <a:endParaRPr lang="pt-BR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2741421" y="4462323"/>
            <a:ext cx="37465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r>
              <a:rPr lang="pt-BR" sz="1400"/>
              <a:t>Decimal 168 é escrito como 10101000 em binário</a:t>
            </a:r>
            <a:endParaRPr lang="pt-BR" sz="1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31899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Sistema Binário de Numeração </a:t>
            </a:r>
            <a:br>
              <a:rPr lang="en-US" dirty="0"/>
            </a:br>
            <a:r>
              <a:rPr lang="pt-BR" sz="2400"/>
              <a:t> Enderecos IPv4</a:t>
            </a:r>
            <a:endParaRPr lang="pt-BR" sz="240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74662" y="861238"/>
            <a:ext cx="8280057" cy="1069162"/>
          </a:xfrm>
        </p:spPr>
        <p:txBody>
          <a:bodyPr/>
          <a:lstStyle/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800">
                <a:solidFill>
                  <a:srgbClr val="000000"/>
                </a:solidFill>
              </a:rPr>
              <a:t>Roteadores e computadores só entendem binários, enquanto humanos trabalham em decimal. É importante que você obtenha uma compreensão completa desses dois sistemas de numeração e como eles são usados na rede.</a:t>
            </a:r>
            <a:endParaRPr lang="pt-BR" sz="1800">
              <a:solidFill>
                <a:srgbClr val="000000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368" y="2027902"/>
            <a:ext cx="7803263" cy="19952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88160"/>
            <a:ext cx="7848344" cy="929640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5.2 - Sistema de numeração hexadecimal</a:t>
            </a:r>
            <a:endParaRPr lang="pt-BR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</p:spTree>
    <p:custDataLst>
      <p:tags r:id="rId1"/>
    </p:custData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31899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Sistema de numeração hexadecimal</a:t>
            </a:r>
            <a:br>
              <a:rPr lang="en-US" dirty="0"/>
            </a:br>
            <a:r>
              <a:rPr lang="pt-BR" sz="2400"/>
              <a:t>Endereços hexadecimais e IPv6</a:t>
            </a:r>
            <a:endParaRPr lang="pt-BR" sz="240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74663" y="763736"/>
            <a:ext cx="3331794" cy="3657998"/>
          </a:xfrm>
        </p:spPr>
        <p:txBody>
          <a:bodyPr/>
          <a:lstStyle/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Para entender endereços IPv6, você deve ser capaz de converter hexadecimal para decimal e vice-versa.</a:t>
            </a:r>
            <a:endParaRPr lang="pt-BR" sz="1600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Hexadecimal é um sistema de numeração de base dezesseis, usando os dígitos de 0 a 9 e as letras de A a F.</a:t>
            </a:r>
            <a:endParaRPr lang="pt-BR" sz="1600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É mais fácil expressar um valor como um único dígito hexadecimal do que como quatro bits binários.</a:t>
            </a:r>
            <a:endParaRPr lang="pt-BR" sz="1600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Hexadecimal é usado para representar endereços IPv6 e endereços MAC.</a:t>
            </a:r>
            <a:endParaRPr lang="pt-BR" sz="1600">
              <a:solidFill>
                <a:srgbClr val="000000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0337" y="763736"/>
            <a:ext cx="4699000" cy="31369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31899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Sistema numérico hexadecimal</a:t>
            </a:r>
            <a:br>
              <a:rPr lang="en-US" dirty="0"/>
            </a:br>
            <a:r>
              <a:rPr lang="pt-BR" sz="2400"/>
              <a:t> Endereços hexadecimal e IPv6 (cont.)</a:t>
            </a:r>
            <a:endParaRPr lang="pt-BR" sz="240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74663" y="763736"/>
            <a:ext cx="3331794" cy="3657998"/>
          </a:xfrm>
        </p:spPr>
        <p:txBody>
          <a:bodyPr/>
          <a:lstStyle/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Endereços IPv6 têm 128 bits de comprimento. Cada 4 bits é representado por um único dígito hexadecimal Isso torna o endereço IPv6 um total de 32 valores hexadecimais.</a:t>
            </a:r>
            <a:endParaRPr lang="pt-BR" sz="1600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A figura mostra o método preferido de escrever um endereço IPv6, com cada X representando quatro valores hexadecimais.</a:t>
            </a:r>
            <a:endParaRPr lang="pt-BR" sz="1600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Cada grupo de caracteres hexadecimais de quatro é referido como um hextet.</a:t>
            </a:r>
            <a:endParaRPr lang="pt-BR" sz="1600">
              <a:solidFill>
                <a:srgbClr val="00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88422" y="949381"/>
            <a:ext cx="4859344" cy="32447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31899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Sistema de numeração hexadecimal</a:t>
            </a:r>
            <a:br>
              <a:rPr lang="en-US" dirty="0"/>
            </a:br>
            <a:r>
              <a:rPr lang="pt-BR" sz="2400"/>
              <a:t>Conversões decimal para hexadecimal</a:t>
            </a:r>
            <a:endParaRPr lang="pt-BR" sz="240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74662" y="850605"/>
            <a:ext cx="8280057" cy="3571129"/>
          </a:xfrm>
        </p:spPr>
        <p:txBody>
          <a:bodyPr/>
          <a:lstStyle/>
          <a:p>
            <a:pPr algn="l" rtl="0"/>
            <a:r>
              <a:rPr lang="pt-BR" sz="1600">
                <a:solidFill>
                  <a:srgbClr val="000000"/>
                </a:solidFill>
              </a:rPr>
              <a:t>Siga as etapas listadas para converter números decimais em valores hexadecimais:</a:t>
            </a:r>
            <a:endParaRPr lang="pt-BR" sz="1600">
              <a:solidFill>
                <a:srgbClr val="000000"/>
              </a:solidFill>
            </a:endParaRPr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Converta o número decimal para strings binárias de 8 bits.</a:t>
            </a:r>
            <a:endParaRPr lang="pt-BR" sz="1600">
              <a:solidFill>
                <a:srgbClr val="000000"/>
              </a:solidFill>
            </a:endParaRPr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Divida as cadeias binárias em grupos de quatro a partir da posição mais à direita.</a:t>
            </a:r>
            <a:endParaRPr lang="pt-BR" sz="1600">
              <a:solidFill>
                <a:srgbClr val="000000"/>
              </a:solidFill>
            </a:endParaRPr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Converta cada quatro números binários em seu dígito hexadecimal equivalente.</a:t>
            </a:r>
            <a:endParaRPr lang="pt-BR" sz="1600">
              <a:solidFill>
                <a:srgbClr val="000000"/>
              </a:solidFill>
            </a:endParaRPr>
          </a:p>
          <a:p>
            <a:pPr algn="l"/>
            <a:endParaRPr lang="en-US" sz="1600" dirty="0">
              <a:solidFill>
                <a:srgbClr val="000000"/>
              </a:solidFill>
            </a:endParaRPr>
          </a:p>
          <a:p>
            <a:pPr algn="l" rtl="0"/>
            <a:r>
              <a:rPr lang="pt-BR" sz="1600">
                <a:solidFill>
                  <a:srgbClr val="000000"/>
                </a:solidFill>
              </a:rPr>
              <a:t>Por exemplo, 168 convertidos em hexadecimal usando o processo de três etapas.</a:t>
            </a:r>
            <a:endParaRPr lang="pt-BR" sz="1600">
              <a:solidFill>
                <a:srgbClr val="000000"/>
              </a:solidFill>
            </a:endParaRPr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168 em binário é 10101000.</a:t>
            </a:r>
            <a:endParaRPr lang="pt-BR" sz="1600">
              <a:solidFill>
                <a:srgbClr val="000000"/>
              </a:solidFill>
            </a:endParaRPr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10101000 em dois grupos de quatro dígitos binários é 1010 e 1000.</a:t>
            </a:r>
            <a:endParaRPr lang="pt-BR" sz="1600">
              <a:solidFill>
                <a:srgbClr val="000000"/>
              </a:solidFill>
            </a:endParaRPr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1010 é hexadecimal e 1000 é hexadecimal 8, então 168 é A8 em hexadecimal.</a:t>
            </a:r>
            <a:endParaRPr lang="pt-BR" sz="1600">
              <a:solidFill>
                <a:srgbClr val="000000"/>
              </a:solidFill>
            </a:endParaRPr>
          </a:p>
          <a:p>
            <a:pPr algn="l"/>
            <a:endParaRPr lang="en-US" sz="16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31899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Sistema de numeração hexadecimal</a:t>
            </a:r>
            <a:br>
              <a:rPr lang="en-US" dirty="0"/>
            </a:br>
            <a:r>
              <a:rPr lang="pt-BR" sz="2400"/>
              <a:t>Conversões hexadecimais em decimais</a:t>
            </a:r>
            <a:endParaRPr lang="pt-BR" sz="240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74662" y="850605"/>
            <a:ext cx="8280057" cy="3571129"/>
          </a:xfrm>
        </p:spPr>
        <p:txBody>
          <a:bodyPr/>
          <a:lstStyle/>
          <a:p>
            <a:pPr algn="l" rtl="0"/>
            <a:r>
              <a:rPr lang="pt-BR" sz="1600">
                <a:solidFill>
                  <a:srgbClr val="000000"/>
                </a:solidFill>
              </a:rPr>
              <a:t>Siga as etapas listadas para converter números hexadecimais em valores decimais:</a:t>
            </a:r>
            <a:endParaRPr lang="pt-BR" sz="1600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Converta o número hexadecimal em cadeias binárias de 4 bits.</a:t>
            </a:r>
            <a:endParaRPr lang="pt-BR" sz="1600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Criar agrupamento binário de 8 bits a partir da posição mais à direita.</a:t>
            </a:r>
            <a:endParaRPr lang="pt-BR" sz="1600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Converta cada agrupamento binário de 8 bits em seu dígito decimal equivalente.</a:t>
            </a:r>
            <a:endParaRPr lang="pt-BR" sz="1600">
              <a:solidFill>
                <a:srgbClr val="000000"/>
              </a:solidFill>
            </a:endParaRPr>
          </a:p>
          <a:p>
            <a:pPr algn="l"/>
            <a:endParaRPr lang="en-US" sz="1600" dirty="0">
              <a:solidFill>
                <a:srgbClr val="000000"/>
              </a:solidFill>
            </a:endParaRPr>
          </a:p>
          <a:p>
            <a:pPr algn="l" rtl="0"/>
            <a:r>
              <a:rPr lang="pt-BR" sz="1600">
                <a:solidFill>
                  <a:srgbClr val="000000"/>
                </a:solidFill>
              </a:rPr>
              <a:t>Por exemplo, D2 convertido em decimal usando o processo de três etapas:</a:t>
            </a:r>
            <a:endParaRPr lang="pt-BR" sz="1600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D2 em cadeias binárias de 4 bits é 1110 e 0010.</a:t>
            </a:r>
            <a:endParaRPr lang="pt-BR" sz="1600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1110 e 0010 é 11100010 em um agrupamento de 8 bits.</a:t>
            </a:r>
            <a:endParaRPr lang="pt-BR" sz="1600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11100010 em binário é equivalente a 210 em decimal, então D2 é 210 é decimal</a:t>
            </a:r>
            <a:endParaRPr lang="pt-BR" sz="1600">
              <a:solidFill>
                <a:srgbClr val="00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  <p:transition spd="slow">
    <p:wipe/>
  </p:transition>
</p:sld>
</file>

<file path=ppt/tags/tag1.xml><?xml version="1.0" encoding="utf-8"?>
<p:tagLst xmlns:p="http://schemas.openxmlformats.org/presentationml/2006/main">
  <p:tag name="ARTICULATE_SLIDE_THUMBNAIL_REFRESH" val="1"/>
</p:tagLst>
</file>

<file path=ppt/tags/tag2.xml><?xml version="1.0" encoding="utf-8"?>
<p:tagLst xmlns:p="http://schemas.openxmlformats.org/presentationml/2006/main">
  <p:tag name="ARTICULATE_SLIDE_THUMBNAIL_REFRESH" val="1"/>
</p:tagLst>
</file>

<file path=ppt/tags/tag3.xml><?xml version="1.0" encoding="utf-8"?>
<p:tagLst xmlns:p="http://schemas.openxmlformats.org/presentationml/2006/main">
  <p:tag name="ARTICULATE_SLIDE_THUMBNAIL_REFRESH" val="1"/>
</p:tagLst>
</file>

<file path=ppt/tags/tag4.xml><?xml version="1.0" encoding="utf-8"?>
<p:tagLst xmlns:p="http://schemas.openxmlformats.org/presentationml/2006/main">
  <p:tag name="ARTICULATE_SLIDE_THUMBNAIL_REFRESH" val="1"/>
</p:tagLst>
</file>

<file path=ppt/tags/tag5.xml><?xml version="1.0" encoding="utf-8"?>
<p:tagLst xmlns:p="http://schemas.openxmlformats.org/presentationml/2006/main">
  <p:tag name="ARTICULATE_SLIDE_COUNT" val="65"/>
  <p:tag name="ARTICULATE_PROJECT_OPEN" val="0"/>
</p:tagLst>
</file>

<file path=ppt/theme/theme1.xml><?xml version="1.0" encoding="utf-8"?>
<a:theme xmlns:a="http://schemas.openxmlformats.org/drawingml/2006/main" name="Default Theme">
  <a:themeElements>
    <a:clrScheme name="Custom 6">
      <a:dk1>
        <a:srgbClr val="58585B"/>
      </a:dk1>
      <a:lt1>
        <a:srgbClr val="FFFFFF"/>
      </a:lt1>
      <a:dk2>
        <a:srgbClr val="58585B"/>
      </a:dk2>
      <a:lt2>
        <a:srgbClr val="81C569"/>
      </a:lt2>
      <a:accent1>
        <a:srgbClr val="004C69"/>
      </a:accent1>
      <a:accent2>
        <a:srgbClr val="9E0B0F"/>
      </a:accent2>
      <a:accent3>
        <a:srgbClr val="FFFFFF"/>
      </a:accent3>
      <a:accent4>
        <a:srgbClr val="367187"/>
      </a:accent4>
      <a:accent5>
        <a:srgbClr val="38C6F4"/>
      </a:accent5>
      <a:accent6>
        <a:srgbClr val="FBAB18"/>
      </a:accent6>
      <a:hlink>
        <a:srgbClr val="38C6F4"/>
      </a:hlink>
      <a:folHlink>
        <a:srgbClr val="81C569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36A4D7"/>
        </a:solidFill>
        <a:ln>
          <a:noFill/>
        </a:ln>
      </a:spPr>
      <a:bodyPr rtlCol="0" anchor="ctr"/>
      <a:lstStyle>
        <a:defPPr algn="ctr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0</TotalTime>
  <Words>5583</Words>
  <Application>WPS Presentation</Application>
  <PresentationFormat>On-screen Show (16:9)</PresentationFormat>
  <Paragraphs>637</Paragraphs>
  <Slides>15</Slides>
  <Notes>26</Notes>
  <HiddenSlides>5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34" baseType="lpstr">
      <vt:lpstr>Arial</vt:lpstr>
      <vt:lpstr>SimSun</vt:lpstr>
      <vt:lpstr>Wingdings</vt:lpstr>
      <vt:lpstr>MS PGothic</vt:lpstr>
      <vt:lpstr>Droid Sans Fallback</vt:lpstr>
      <vt:lpstr>CiscoSans Thin</vt:lpstr>
      <vt:lpstr>Gubbi</vt:lpstr>
      <vt:lpstr>MS PGothic</vt:lpstr>
      <vt:lpstr>CiscoSans</vt:lpstr>
      <vt:lpstr>CiscoSans</vt:lpstr>
      <vt:lpstr>CiscoSans ExtraLight</vt:lpstr>
      <vt:lpstr>Arial</vt:lpstr>
      <vt:lpstr>CiscoSans ExtraLight</vt:lpstr>
      <vt:lpstr>OpenSymbol</vt:lpstr>
      <vt:lpstr>Microsoft YaHei</vt:lpstr>
      <vt:lpstr>Arial Unicode MS</vt:lpstr>
      <vt:lpstr>Calibri</vt:lpstr>
      <vt:lpstr>Trebuchet MS</vt:lpstr>
      <vt:lpstr>Default Theme</vt:lpstr>
      <vt:lpstr>Módulo 5: Sistemas numéricos</vt:lpstr>
      <vt:lpstr>5.1 Sistema de numeração binário</vt:lpstr>
      <vt:lpstr>Sistema Binário de Numeração Endereços binários e IPv4</vt:lpstr>
      <vt:lpstr>Sistema Binário de Numeração Notação posicional binária</vt:lpstr>
      <vt:lpstr>Notação de posiçãobinária do sistema de números binários (cont.) </vt:lpstr>
      <vt:lpstr>Sistema Binário de Numeração Conterter Binário para Decimal</vt:lpstr>
      <vt:lpstr>Sistema Binário de Numeração Conterter Binário para Decimal</vt:lpstr>
      <vt:lpstr>Sistema Binário de Numeração  Exemplo de Conversão de Decimal para Binário</vt:lpstr>
      <vt:lpstr>Sistema Binário de Numeração   Enderecos IPv4</vt:lpstr>
      <vt:lpstr>5.2 - Sistema de numeração hexadecimal</vt:lpstr>
      <vt:lpstr>Sistema de numeração hexadecimal Endereços hexadecimais e IPv6</vt:lpstr>
      <vt:lpstr>Sistema numérico hexadecimal  Endereços hexadecimal e IPv6 (cont.)</vt:lpstr>
      <vt:lpstr>Sistema de numeração hexadecimal Conversões decimal para hexadecimal</vt:lpstr>
      <vt:lpstr>Sistema de numeração hexadecimal Conversões hexadecimais em decimais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2: Basic Switch and End Device Configuration</dc:title>
  <dc:creator>Stephanie Harvey</dc:creator>
  <cp:lastModifiedBy>vaamonde</cp:lastModifiedBy>
  <cp:revision>211</cp:revision>
  <dcterms:created xsi:type="dcterms:W3CDTF">2026-03-09T13:23:02Z</dcterms:created>
  <dcterms:modified xsi:type="dcterms:W3CDTF">2026-03-09T13:23:02Z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ffisync_ProviderInitializationData">
    <vt:lpwstr>https://cisco.jiveon.com</vt:lpwstr>
  </property>
  <property fmtid="{D5CDD505-2E9C-101B-9397-08002B2CF9AE}" pid="3" name="Offisync_UpdateToken">
    <vt:lpwstr>1</vt:lpwstr>
  </property>
  <property fmtid="{D5CDD505-2E9C-101B-9397-08002B2CF9AE}" pid="4" name="Offisync_ServerID">
    <vt:lpwstr>07841bbc-cd3c-4a76-827f-75a2226890f4</vt:lpwstr>
  </property>
  <property fmtid="{D5CDD505-2E9C-101B-9397-08002B2CF9AE}" pid="5" name="Offisync_UniqueId">
    <vt:lpwstr>1702406</vt:lpwstr>
  </property>
  <property fmtid="{D5CDD505-2E9C-101B-9397-08002B2CF9AE}" pid="6" name="Jive_VersionGuid">
    <vt:lpwstr>fd96a0b3-f68d-4727-8e4f-2128d37ed30a</vt:lpwstr>
  </property>
  <property fmtid="{D5CDD505-2E9C-101B-9397-08002B2CF9AE}" pid="7" name="Jive_LatestUserAccountName">
    <vt:lpwstr>alljohns</vt:lpwstr>
  </property>
  <property fmtid="{D5CDD505-2E9C-101B-9397-08002B2CF9AE}" pid="8" name="ArticulateGUID">
    <vt:lpwstr>F9A496F7-57D7-4028-9572-D40DFDF3715A</vt:lpwstr>
  </property>
  <property fmtid="{D5CDD505-2E9C-101B-9397-08002B2CF9AE}" pid="9" name="ArticulatePath">
    <vt:lpwstr>ITE7_Chp9_by_jg</vt:lpwstr>
  </property>
  <property fmtid="{D5CDD505-2E9C-101B-9397-08002B2CF9AE}" pid="10" name="ICV">
    <vt:lpwstr/>
  </property>
  <property fmtid="{D5CDD505-2E9C-101B-9397-08002B2CF9AE}" pid="11" name="KSOProductBuildVer">
    <vt:lpwstr>1046-11.1.0.11723</vt:lpwstr>
  </property>
</Properties>
</file>