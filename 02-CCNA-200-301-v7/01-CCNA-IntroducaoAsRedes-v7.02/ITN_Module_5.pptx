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3.xml" ContentType="application/vnd.openxmlformats-officedocument.presentationml.tags+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0"/>
  </p:notesMasterIdLst>
  <p:sldIdLst>
    <p:sldId id="513" r:id="rId2"/>
    <p:sldId id="1102" r:id="rId3"/>
    <p:sldId id="1070" r:id="rId4"/>
    <p:sldId id="1071" r:id="rId5"/>
    <p:sldId id="1103" r:id="rId6"/>
    <p:sldId id="763" r:id="rId7"/>
    <p:sldId id="1052" r:id="rId8"/>
    <p:sldId id="876" r:id="rId9"/>
    <p:sldId id="860" r:id="rId10"/>
    <p:sldId id="759" r:id="rId11"/>
    <p:sldId id="1054" r:id="rId12"/>
    <p:sldId id="1090" r:id="rId13"/>
    <p:sldId id="1091" r:id="rId14"/>
    <p:sldId id="1092" r:id="rId15"/>
    <p:sldId id="1093" r:id="rId16"/>
    <p:sldId id="1094" r:id="rId17"/>
    <p:sldId id="1095" r:id="rId18"/>
    <p:sldId id="1096" r:id="rId19"/>
    <p:sldId id="1056" r:id="rId20"/>
    <p:sldId id="1097" r:id="rId21"/>
    <p:sldId id="1098" r:id="rId22"/>
    <p:sldId id="1099" r:id="rId23"/>
    <p:sldId id="1100" r:id="rId24"/>
    <p:sldId id="1101" r:id="rId25"/>
    <p:sldId id="957" r:id="rId26"/>
    <p:sldId id="958" r:id="rId27"/>
    <p:sldId id="874" r:id="rId28"/>
    <p:sldId id="291" r:id="rId29"/>
  </p:sldIdLst>
  <p:sldSz cx="9144000" cy="5143500" type="screen16x9"/>
  <p:notesSz cx="6858000" cy="9144000"/>
  <p:custDataLst>
    <p:tags r:id="rId3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6"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E87D13-FA5A-51CF-368D-17743DB395FC}" v="3" dt="2020-06-28T23:36:21.8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34" autoAdjust="0"/>
    <p:restoredTop sz="86438" autoAdjust="0"/>
  </p:normalViewPr>
  <p:slideViewPr>
    <p:cSldViewPr snapToGrid="0" showGuides="1">
      <p:cViewPr varScale="1">
        <p:scale>
          <a:sx n="77" d="100"/>
          <a:sy n="77" d="100"/>
        </p:scale>
        <p:origin x="1160" y="4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B7E87D13-FA5A-51CF-368D-17743DB395FC}"/>
    <pc:docChg chg="modSld">
      <pc:chgData name="Gilberto Neves Sudre Filho" userId="S::gilberto.neves@faesa.br::d3375f58-c24b-48d7-baef-871d87266953" providerId="AD" clId="Web-{B7E87D13-FA5A-51CF-368D-17743DB395FC}" dt="2020-06-28T23:36:21.812" v="2" actId="1076"/>
      <pc:docMkLst>
        <pc:docMk/>
      </pc:docMkLst>
      <pc:sldChg chg="modSp">
        <pc:chgData name="Gilberto Neves Sudre Filho" userId="S::gilberto.neves@faesa.br::d3375f58-c24b-48d7-baef-871d87266953" providerId="AD" clId="Web-{B7E87D13-FA5A-51CF-368D-17743DB395FC}" dt="2020-06-28T23:36:21.812" v="2" actId="1076"/>
        <pc:sldMkLst>
          <pc:docMk/>
          <pc:sldMk cId="1671064827" sldId="1054"/>
        </pc:sldMkLst>
        <pc:spChg chg="mod">
          <ac:chgData name="Gilberto Neves Sudre Filho" userId="S::gilberto.neves@faesa.br::d3375f58-c24b-48d7-baef-871d87266953" providerId="AD" clId="Web-{B7E87D13-FA5A-51CF-368D-17743DB395FC}" dt="2020-06-28T23:36:21.812" v="2" actId="1076"/>
          <ac:spMkLst>
            <pc:docMk/>
            <pc:sldMk cId="1671064827" sldId="1054"/>
            <ac:spMk id="7" creationId="{71668B65-DD31-5646-8CF8-039199DDBBA7}"/>
          </ac:spMkLst>
        </pc:spChg>
        <pc:picChg chg="mod">
          <ac:chgData name="Gilberto Neves Sudre Filho" userId="S::gilberto.neves@faesa.br::d3375f58-c24b-48d7-baef-871d87266953" providerId="AD" clId="Web-{B7E87D13-FA5A-51CF-368D-17743DB395FC}" dt="2020-06-28T23:36:09.171" v="0" actId="1076"/>
          <ac:picMkLst>
            <pc:docMk/>
            <pc:sldMk cId="1671064827" sldId="1054"/>
            <ac:picMk id="5" creationId="{DCD0F2E4-E369-A548-A618-9BAB0C0C57E4}"/>
          </ac:picMkLst>
        </pc:picChg>
        <pc:picChg chg="mod">
          <ac:chgData name="Gilberto Neves Sudre Filho" userId="S::gilberto.neves@faesa.br::d3375f58-c24b-48d7-baef-871d87266953" providerId="AD" clId="Web-{B7E87D13-FA5A-51CF-368D-17743DB395FC}" dt="2020-06-28T23:36:11.452" v="1" actId="1076"/>
          <ac:picMkLst>
            <pc:docMk/>
            <pc:sldMk cId="1671064827" sldId="1054"/>
            <ac:picMk id="6" creationId="{3E5F7270-39AA-FE40-92FD-F80B1DD9081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p>
          <a:p>
            <a:pPr rtl="0"/>
            <a:r>
              <a:rPr lang="pt-BR"/>
              <a:t>Introdução às redes v7.0 (ITN)</a:t>
            </a:r>
          </a:p>
          <a:p>
            <a:pPr rtl="0"/>
            <a:r>
              <a:rPr lang="pt-BR"/>
              <a:t>Módulo Quiz - Sistemas numéricos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p>
          <a:p>
            <a:pPr rtl="0"/>
            <a:r>
              <a:rPr lang="pt-BR"/>
              <a:t>Introdução às redes v7.0 (ITN)</a:t>
            </a:r>
          </a:p>
          <a:p>
            <a:pPr rtl="0"/>
            <a:r>
              <a:rPr lang="pt-BR"/>
              <a:t>Módulo 5: Sistemas numéricos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508118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9</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5.0 Introdução</a:t>
            </a:r>
          </a:p>
          <a:p>
            <a:pPr rtl="0">
              <a:buFontTx/>
              <a:buNone/>
            </a:pPr>
            <a:r>
              <a:rPr lang="pt-BR"/>
              <a:t>5.0.2 - O que vou aprender neste módulo?</a:t>
            </a:r>
          </a:p>
        </p:txBody>
      </p:sp>
    </p:spTree>
    <p:extLst>
      <p:ext uri="{BB962C8B-B14F-4D97-AF65-F5344CB8AC3E}">
        <p14:creationId xmlns:p14="http://schemas.microsoft.com/office/powerpoint/2010/main" val="1734445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Sistema Binário de Numeração</a:t>
            </a:r>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625529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Binário de Numeração</a:t>
            </a:r>
          </a:p>
          <a:p>
            <a:pPr rtl="0"/>
            <a:r>
              <a:rPr lang="pt-BR"/>
              <a:t>5.1.1 - Endereços Binários e IPv4</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Binário de Numeração</a:t>
            </a:r>
          </a:p>
          <a:p>
            <a:pPr rtl="0"/>
            <a:r>
              <a:rPr lang="pt-BR"/>
              <a:t>5.1.2 - Vídeo - Converter entre sistemas de numeração binária e decimal</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2577542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Binário de Numeração</a:t>
            </a:r>
          </a:p>
          <a:p>
            <a:pPr rtl="0"/>
            <a:r>
              <a:rPr lang="pt-BR"/>
              <a:t>5.1.3 - Notação Posicional Binária</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3157881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Binário de Numeração</a:t>
            </a:r>
          </a:p>
          <a:p>
            <a:pPr rtl="0"/>
            <a:r>
              <a:rPr lang="pt-BR"/>
              <a:t>5.1.3 - Notação Posicional Binária</a:t>
            </a:r>
          </a:p>
          <a:p>
            <a:pPr rtl="0"/>
            <a:r>
              <a:rPr lang="pt-BR"/>
              <a:t>5.1.4 — Verifique o seu entendimento — Sistema Binário de Numeração</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1141978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Binário de Numeração</a:t>
            </a:r>
          </a:p>
          <a:p>
            <a:pPr rtl="0"/>
            <a:r>
              <a:rPr lang="pt-BR"/>
              <a:t>5.1.5 - Converter Binário para Decimal</a:t>
            </a:r>
          </a:p>
          <a:p>
            <a:pPr rtl="0"/>
            <a:r>
              <a:rPr lang="pt-BR"/>
              <a:t>5.1.6 - Atividade - conversões binárias em decimais</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363677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de numeração binário</a:t>
            </a:r>
          </a:p>
          <a:p>
            <a:pPr rtl="0"/>
            <a:r>
              <a:rPr lang="pt-BR"/>
              <a:t>5.1.7 - Conversão de Decimal para Binário</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503153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Binário de Numeração</a:t>
            </a:r>
          </a:p>
          <a:p>
            <a:pPr rtl="0"/>
            <a:r>
              <a:rPr lang="pt-BR"/>
              <a:t>5.1.8 - Exemplo de Conversão de Decimal para Binário</a:t>
            </a:r>
          </a:p>
          <a:p>
            <a:pPr rtl="0"/>
            <a:r>
              <a:rPr lang="pt-BR"/>
              <a:t>5.1.9 - Atividade - Conversões decimais em binárias</a:t>
            </a:r>
          </a:p>
          <a:p>
            <a:pPr rtl="0"/>
            <a:r>
              <a:rPr lang="pt-BR"/>
              <a:t>5.1.10 - Atividade - Jogo Binário</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2541694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5.1 - Sistema Binário de Numeração</a:t>
            </a:r>
          </a:p>
          <a:p>
            <a:pPr rtl="0"/>
            <a:r>
              <a:rPr lang="pt-BR"/>
              <a:t>5.1.11 — Endereços IPv4</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814798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5.2 - Sistema de numeração hexadecimal</a:t>
            </a:r>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5.2 - Sistema de numeração hexadecimal</a:t>
            </a:r>
          </a:p>
          <a:p>
            <a:pPr rtl="0"/>
            <a:r>
              <a:rPr lang="pt-BR"/>
              <a:t>5.2.1 - Endereços hexadecimais e IPv6</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033836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5.2 - Sistema de numeração hexadecimal</a:t>
            </a:r>
          </a:p>
          <a:p>
            <a:pPr rtl="0"/>
            <a:r>
              <a:rPr lang="pt-BR"/>
              <a:t>5.2.1 - Endereços hexadecimais e IPv6</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4087875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5.2 - Sistema de numeração hexadecimal</a:t>
            </a:r>
          </a:p>
          <a:p>
            <a:pPr rtl="0"/>
            <a:r>
              <a:rPr lang="pt-BR"/>
              <a:t>5.2.2 — Vídeo — Conversão entre sistemas de numeração hexadecimal e decimal</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9364433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5.2 - Sistema de numeração hexadecimal</a:t>
            </a:r>
          </a:p>
          <a:p>
            <a:pPr rtl="0"/>
            <a:r>
              <a:rPr lang="pt-BR"/>
              <a:t>5.2.3 - </a:t>
            </a:r>
            <a:r>
              <a:rPr lang="pt-BR" sz="1200"/>
              <a:t>Conversões decimais em hexadecimais</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1961279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5 - Sistemas Numéricos</a:t>
            </a:r>
          </a:p>
          <a:p>
            <a:pPr rtl="0"/>
            <a:r>
              <a:rPr lang="pt-BR"/>
              <a:t>5.2 - Sistema de numeração hexadecimal</a:t>
            </a:r>
          </a:p>
          <a:p>
            <a:pPr rtl="0"/>
            <a:r>
              <a:rPr lang="pt-BR"/>
              <a:t>5.2.4 - </a:t>
            </a:r>
            <a:r>
              <a:rPr lang="pt-BR" sz="1200"/>
              <a:t>Conversões decimais em hexadecimais</a:t>
            </a:r>
          </a:p>
          <a:p>
            <a:pPr rtl="0"/>
            <a:r>
              <a:rPr lang="pt-BR" sz="1200"/>
              <a:t>5.2.5 - Verifique o seu entendimento - Sistema de números hexadecimal</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36747155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a:t>5 - Sistemas Numéricos</a:t>
            </a:r>
          </a:p>
          <a:p>
            <a:pPr rtl="0">
              <a:buFontTx/>
              <a:buNone/>
            </a:pPr>
            <a:r>
              <a:rPr lang="pt-BR"/>
              <a:t>5.3 - Módulo Prática e Quiz</a:t>
            </a:r>
          </a:p>
        </p:txBody>
      </p:sp>
      <p:sp>
        <p:nvSpPr>
          <p:cNvPr id="4" name="Slide Number Placeholder 3"/>
          <p:cNvSpPr>
            <a:spLocks noGrp="1"/>
          </p:cNvSpPr>
          <p:nvPr>
            <p:ph type="sldNum" sz="quarter" idx="10"/>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26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5 - Sistemas Numéricos</a:t>
            </a:r>
          </a:p>
          <a:p>
            <a:pPr rtl="0"/>
            <a:r>
              <a:rPr lang="pt-BR"/>
              <a:t>5.3 - Módulo Prática e Quiz</a:t>
            </a:r>
          </a:p>
          <a:p>
            <a:pPr rtl="0"/>
            <a:r>
              <a:rPr lang="pt-BR"/>
              <a:t>5.3.1 - O que eu aprendi neste módulo?</a:t>
            </a:r>
          </a:p>
          <a:p>
            <a:pPr rtl="0"/>
            <a:r>
              <a:rPr lang="pt-BR" sz="1200"/>
              <a:t>5.3.2 - Questionário do Módulo</a:t>
            </a:r>
          </a:p>
        </p:txBody>
      </p:sp>
    </p:spTree>
    <p:extLst>
      <p:ext uri="{BB962C8B-B14F-4D97-AF65-F5344CB8AC3E}">
        <p14:creationId xmlns:p14="http://schemas.microsoft.com/office/powerpoint/2010/main" val="1476824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27</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5: Sistemas numéricos</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Instructor Materials – Module 5 Planning Guide</a:t>
            </a:r>
          </a:p>
        </p:txBody>
      </p:sp>
      <p:sp>
        <p:nvSpPr>
          <p:cNvPr id="4099" name="Rectangle 34"/>
          <p:cNvSpPr>
            <a:spLocks noGrp="1" noChangeArrowheads="1"/>
          </p:cNvSpPr>
          <p:nvPr>
            <p:ph idx="1"/>
          </p:nvPr>
        </p:nvSpPr>
        <p:spPr>
          <a:xfrm>
            <a:off x="145357" y="808179"/>
            <a:ext cx="8433035" cy="3780445"/>
          </a:xfrm>
        </p:spPr>
        <p:txBody>
          <a:bodyPr/>
          <a:lstStyle/>
          <a:p>
            <a:pPr marL="0" indent="0" rtl="0">
              <a:buNone/>
            </a:pPr>
            <a:r>
              <a:rPr lang="pt-BR"/>
              <a:t>This PowerPoint deck is divided in two parts:</a:t>
            </a:r>
          </a:p>
          <a:p>
            <a:pPr rtl="0">
              <a:buFont typeface="Arial" panose="020B0604020202020204" pitchFamily="34" charset="0"/>
              <a:buChar char="•"/>
            </a:pPr>
            <a:r>
              <a:rPr lang="pt-BR"/>
              <a:t>Instructor Planning Guide</a:t>
            </a:r>
          </a:p>
          <a:p>
            <a:pPr lvl="1" rtl="0">
              <a:buFont typeface="Arial" panose="020B0604020202020204" pitchFamily="34" charset="0"/>
              <a:buChar char="•"/>
            </a:pPr>
            <a:r>
              <a:rPr lang="pt-BR"/>
              <a:t>Information to help you become familiar with the module</a:t>
            </a:r>
          </a:p>
          <a:p>
            <a:pPr lvl="1" rtl="0">
              <a:buFont typeface="Arial" panose="020B0604020202020204" pitchFamily="34" charset="0"/>
              <a:buChar char="•"/>
            </a:pPr>
            <a:r>
              <a:rPr lang="pt-BR"/>
              <a:t>Teaching aids</a:t>
            </a:r>
          </a:p>
          <a:p>
            <a:pPr rtl="0">
              <a:buFont typeface="Arial" panose="020B0604020202020204" pitchFamily="34" charset="0"/>
              <a:buChar char="•"/>
            </a:pPr>
            <a:r>
              <a:rPr lang="pt-BR"/>
              <a:t>Instructor Class Presentation</a:t>
            </a:r>
          </a:p>
          <a:p>
            <a:pPr lvl="1" rtl="0">
              <a:buFont typeface="Arial" panose="020B0604020202020204" pitchFamily="34" charset="0"/>
              <a:buChar char="•"/>
            </a:pPr>
            <a:r>
              <a:rPr lang="pt-BR"/>
              <a:t>Optional slides that you can use in the classroom</a:t>
            </a:r>
          </a:p>
          <a:p>
            <a:pPr lvl="1" rtl="0"/>
            <a:r>
              <a:rPr lang="pt-BR"/>
              <a:t>Begins on slide # 8</a:t>
            </a:r>
          </a:p>
          <a:p>
            <a:pPr marL="142875" lvl="1" indent="0" algn="ctr" rtl="0">
              <a:buNone/>
            </a:pPr>
            <a:r>
              <a:rPr lang="pt-BR" sz="1600" b="1"/>
              <a:t>Note</a:t>
            </a:r>
            <a:r>
              <a:rPr lang="pt-BR" sz="1600"/>
              <a:t>: Remove the Planning Guide from this presentation before sharing with anyone.</a:t>
            </a:r>
          </a:p>
          <a:p>
            <a:pPr marL="0" indent="0" rtl="0">
              <a:buNone/>
            </a:pPr>
            <a:r>
              <a:rPr lang="pt-B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919514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pt-BR"/>
              <a:t>Para facilitar o aprendizado, os seguintes recursos da GUI podem ser incluídos neste módulo:</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rtl="0" fontAlgn="b"/>
                      <a:r>
                        <a:rPr lang="pt-BR" sz="1400" b="0" i="0" u="none" strike="noStrike">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Verifique sua compreensão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rtl="0" fontAlgn="b"/>
                      <a:r>
                        <a:rPr lang="pt-BR" sz="1400" b="0" i="0" u="none" strike="noStrike">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rtl="0" fontAlgn="b"/>
                      <a:r>
                        <a:rPr lang="pt-BR" sz="1400" b="0" i="0" u="none" strike="noStrike">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pt-BR" sz="1400" b="1" i="0" u="none" strike="noStrike">
                          <a:solidFill>
                            <a:schemeClr val="bg1"/>
                          </a:solidFill>
                          <a:effectLst/>
                          <a:latin typeface="+mn-lt"/>
                        </a:rPr>
                        <a:t>Recurso</a:t>
                      </a:r>
                    </a:p>
                  </a:txBody>
                  <a:tcPr marL="9525" marR="9525" marT="9525" marB="0" anchor="b"/>
                </a:tc>
                <a:tc>
                  <a:txBody>
                    <a:bodyPr/>
                    <a:lstStyle/>
                    <a:p>
                      <a:pPr rtl="0"/>
                      <a:r>
                        <a:rPr lang="pt-BR"/>
                        <a:t>Descrição</a:t>
                      </a:r>
                    </a:p>
                  </a:txBody>
                  <a:tcPr/>
                </a:tc>
                <a:extLst>
                  <a:ext uri="{0D108BD9-81ED-4DB2-BD59-A6C34878D82A}">
                    <a16:rowId xmlns:a16="http://schemas.microsoft.com/office/drawing/2014/main" val="3768427975"/>
                  </a:ext>
                </a:extLst>
              </a:tr>
              <a:tr h="265091">
                <a:tc>
                  <a:txBody>
                    <a:bodyPr/>
                    <a:lstStyle/>
                    <a:p>
                      <a:pPr algn="l" rtl="0" fontAlgn="b"/>
                      <a:r>
                        <a:rPr lang="pt-BR" sz="1400" b="0" i="0" u="none" strike="noStrike">
                          <a:solidFill>
                            <a:srgbClr val="000000"/>
                          </a:solidFill>
                          <a:effectLst/>
                          <a:latin typeface="+mn-lt"/>
                        </a:rPr>
                        <a:t>Laboratórios práticos</a:t>
                      </a:r>
                    </a:p>
                  </a:txBody>
                  <a:tcPr marL="9525" marR="9525" marT="9525" marB="0" anchor="b"/>
                </a:tc>
                <a:tc>
                  <a:txBody>
                    <a:bodyPr/>
                    <a:lstStyle/>
                    <a:p>
                      <a:pPr rtl="0"/>
                      <a:r>
                        <a:rPr lang="pt-BR"/>
                        <a:t>Laboratórios projetados para trabalhar com equipamentos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em sala de aula</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Estes são encontrados na página Recursos do instrutor. As atividades em classe são projetadas para facilitar o aprendizado, a discussão em classe e a colaboração.</a:t>
                      </a:r>
                    </a:p>
                  </a:txBody>
                  <a:tcPr/>
                </a:tc>
                <a:extLst>
                  <a:ext uri="{0D108BD9-81ED-4DB2-BD59-A6C34878D82A}">
                    <a16:rowId xmlns:a16="http://schemas.microsoft.com/office/drawing/2014/main" val="1125566603"/>
                  </a:ext>
                </a:extLst>
              </a:tr>
              <a:tr h="265091">
                <a:tc>
                  <a:txBody>
                    <a:bodyPr/>
                    <a:lstStyle/>
                    <a:p>
                      <a:pPr algn="l" rtl="0" fontAlgn="b"/>
                      <a:r>
                        <a:rPr lang="pt-BR" sz="1400" b="0" i="0" u="none" strike="noStrike">
                          <a:solidFill>
                            <a:srgbClr val="000000"/>
                          </a:solidFill>
                          <a:effectLst/>
                          <a:latin typeface="+mn-lt"/>
                        </a:rPr>
                        <a:t>Testes de módulo</a:t>
                      </a:r>
                    </a:p>
                  </a:txBody>
                  <a:tcPr marL="9525" marR="9525" marT="9525" marB="0" anchor="b"/>
                </a:tc>
                <a:tc>
                  <a:txBody>
                    <a:bodyPr/>
                    <a:lstStyle/>
                    <a:p>
                      <a:pPr rtl="0"/>
                      <a:r>
                        <a:rPr lang="pt-BR"/>
                        <a:t>Autoavaliações que integram conceitos e habilidades aprendidas ao longo da série de tópicos apresentados no módulo.</a:t>
                      </a:r>
                    </a:p>
                  </a:txBody>
                  <a:tcPr/>
                </a:tc>
                <a:extLst>
                  <a:ext uri="{0D108BD9-81ED-4DB2-BD59-A6C34878D82A}">
                    <a16:rowId xmlns:a16="http://schemas.microsoft.com/office/drawing/2014/main" val="831502776"/>
                  </a:ext>
                </a:extLst>
              </a:tr>
              <a:tr h="265091">
                <a:tc>
                  <a:txBody>
                    <a:bodyPr/>
                    <a:lstStyle/>
                    <a:p>
                      <a:pPr algn="l" rtl="0" fontAlgn="b"/>
                      <a:r>
                        <a:rPr lang="pt-BR" sz="1400" b="0" i="0" u="none" strike="noStrike">
                          <a:solidFill>
                            <a:srgbClr val="000000"/>
                          </a:solidFill>
                          <a:effectLst/>
                          <a:latin typeface="+mn-lt"/>
                        </a:rPr>
                        <a:t>Resumo do módulo</a:t>
                      </a:r>
                    </a:p>
                  </a:txBody>
                  <a:tcPr marL="9525" marR="9525" marT="9525" marB="0" anchor="b"/>
                </a:tc>
                <a:tc>
                  <a:txBody>
                    <a:bodyPr/>
                    <a:lstStyle/>
                    <a:p>
                      <a:pPr rtl="0"/>
                      <a:r>
                        <a:rPr lang="pt-BR"/>
                        <a:t>Recapitule brevemente o conteúdo do módulo.</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deste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pt-BR"/>
              <a:t>Para facilitar o aprendizado,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pt-B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a:t>Check Your Understanding activities </a:t>
            </a:r>
            <a:r>
              <a:rPr lang="pt-BR" b="1" i="1"/>
              <a:t>do not </a:t>
            </a:r>
            <a:r>
              <a:rPr lang="pt-BR"/>
              <a:t>affect student grades.</a:t>
            </a:r>
          </a:p>
          <a:p>
            <a:pPr rtl="0">
              <a:spcBef>
                <a:spcPct val="30000"/>
              </a:spcBef>
              <a:buFont typeface="Arial" panose="020B0604020202020204" pitchFamily="34" charset="0"/>
              <a:buChar char="•"/>
            </a:pPr>
            <a:r>
              <a:rPr lang="pt-BR"/>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71498483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pt-BR"/>
              <a:t>Module 5: Activities</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lang="pt-B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65637920"/>
              </p:ext>
            </p:extLst>
          </p:nvPr>
        </p:nvGraphicFramePr>
        <p:xfrm>
          <a:off x="455999" y="1147358"/>
          <a:ext cx="8229418" cy="2809998"/>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pt-B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200"/>
                        <a:t>Activity Type</a:t>
                      </a:r>
                    </a:p>
                  </a:txBody>
                  <a:tcPr marL="68580" marR="68580" marT="34290" marB="34290" anchor="ctr"/>
                </a:tc>
                <a:tc>
                  <a:txBody>
                    <a:bodyPr/>
                    <a:lstStyle/>
                    <a:p>
                      <a:pPr rtl="0"/>
                      <a:r>
                        <a:rPr lang="pt-BR" sz="1200"/>
                        <a:t>Activity Name</a:t>
                      </a:r>
                    </a:p>
                  </a:txBody>
                  <a:tcPr marL="68580" marR="68580" marT="34290" marB="34290" anchor="ctr"/>
                </a:tc>
                <a:tc>
                  <a:txBody>
                    <a:bodyPr/>
                    <a:lstStyle/>
                    <a:p>
                      <a:pPr rtl="0"/>
                      <a:r>
                        <a:rPr lang="pt-B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pt-BR" sz="1100">
                          <a:solidFill>
                            <a:srgbClr val="000000"/>
                          </a:solidFill>
                        </a:rPr>
                        <a:t>5.1.2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Video</a:t>
                      </a:r>
                    </a:p>
                  </a:txBody>
                  <a:tcPr marL="68580" marR="68580" marT="34290" marB="34290" anchor="ctr"/>
                </a:tc>
                <a:tc>
                  <a:txBody>
                    <a:bodyPr/>
                    <a:lstStyle/>
                    <a:p>
                      <a:pPr rtl="0"/>
                      <a:r>
                        <a:rPr lang="pt-BR" sz="1100">
                          <a:solidFill>
                            <a:srgbClr val="000000"/>
                          </a:solidFill>
                        </a:rPr>
                        <a:t>Converting Between Binary and Decimal Numbering Systems</a:t>
                      </a:r>
                    </a:p>
                  </a:txBody>
                  <a:tcPr marL="68580" marR="68580" marT="34290" marB="34290" anchor="ctr"/>
                </a:tc>
                <a:tc>
                  <a:txBody>
                    <a:bodyPr/>
                    <a:lstStyle/>
                    <a:p>
                      <a:pPr rtl="0"/>
                      <a:r>
                        <a:rPr lang="pt-BR"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pt-BR" sz="1100">
                          <a:solidFill>
                            <a:srgbClr val="000000"/>
                          </a:solidFill>
                        </a:rPr>
                        <a:t>5.1.4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Check Your Understanding</a:t>
                      </a:r>
                    </a:p>
                  </a:txBody>
                  <a:tcPr marL="68580" marR="68580" marT="34290" marB="34290" anchor="ctr"/>
                </a:tc>
                <a:tc>
                  <a:txBody>
                    <a:bodyPr/>
                    <a:lstStyle/>
                    <a:p>
                      <a:pPr rtl="0"/>
                      <a:r>
                        <a:rPr lang="pt-BR" sz="1100">
                          <a:solidFill>
                            <a:srgbClr val="000000"/>
                          </a:solidFill>
                        </a:rPr>
                        <a:t>Binary Number System</a:t>
                      </a:r>
                    </a:p>
                  </a:txBody>
                  <a:tcPr marL="68580" marR="68580" marT="34290" marB="34290" anchor="ctr"/>
                </a:tc>
                <a:tc>
                  <a:txBody>
                    <a:bodyPr/>
                    <a:lstStyle/>
                    <a:p>
                      <a:pPr rtl="0"/>
                      <a:r>
                        <a:rPr lang="pt-BR" sz="110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pt-BR" sz="1100">
                          <a:solidFill>
                            <a:srgbClr val="000000"/>
                          </a:solidFill>
                        </a:rPr>
                        <a:t>5.1.6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Binary to Decimal Conversions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pt-BR" sz="1100">
                          <a:solidFill>
                            <a:srgbClr val="000000"/>
                          </a:solidFill>
                        </a:rPr>
                        <a:t>5.1.9</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Decimal to Binary Conversions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pt-BR" sz="1100">
                          <a:solidFill>
                            <a:srgbClr val="000000"/>
                          </a:solidFill>
                        </a:rPr>
                        <a:t>5.1.10</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Binary Game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pt-BR" sz="1100">
                          <a:solidFill>
                            <a:srgbClr val="000000"/>
                          </a:solidFill>
                        </a:rPr>
                        <a:t>5.2.2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Converting Between Hexadecimal and Decimal Numbering Systems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pt-BR" sz="1100">
                          <a:solidFill>
                            <a:srgbClr val="000000"/>
                          </a:solidFill>
                        </a:rPr>
                        <a:t>5.2.5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Hexadecimal Numbering System</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5: Best Practices</a:t>
            </a:r>
          </a:p>
        </p:txBody>
      </p:sp>
      <p:sp>
        <p:nvSpPr>
          <p:cNvPr id="11266" name="Rectangle 34"/>
          <p:cNvSpPr>
            <a:spLocks noGrp="1" noChangeArrowheads="1"/>
          </p:cNvSpPr>
          <p:nvPr>
            <p:ph idx="1"/>
          </p:nvPr>
        </p:nvSpPr>
        <p:spPr>
          <a:xfrm>
            <a:off x="145357" y="798944"/>
            <a:ext cx="8853286" cy="4041019"/>
          </a:xfrm>
        </p:spPr>
        <p:txBody>
          <a:bodyPr/>
          <a:lstStyle/>
          <a:p>
            <a:pPr marL="0" indent="0" rtl="0">
              <a:lnSpc>
                <a:spcPct val="85000"/>
              </a:lnSpc>
              <a:spcBef>
                <a:spcPct val="30000"/>
              </a:spcBef>
              <a:buNone/>
            </a:pPr>
            <a:r>
              <a:rPr lang="pt-BR"/>
              <a:t>Prior to teaching Module 5, the instructor should:</a:t>
            </a:r>
          </a:p>
          <a:p>
            <a:pPr rtl="0">
              <a:lnSpc>
                <a:spcPct val="85000"/>
              </a:lnSpc>
              <a:spcBef>
                <a:spcPct val="30000"/>
              </a:spcBef>
              <a:buFont typeface="Arial" panose="020B0604020202020204" pitchFamily="34" charset="0"/>
              <a:buChar char="•"/>
            </a:pPr>
            <a:r>
              <a:rPr lang="pt-BR"/>
              <a:t>Review the activities and assessments for this module.</a:t>
            </a:r>
          </a:p>
          <a:p>
            <a:pPr rtl="0">
              <a:lnSpc>
                <a:spcPct val="85000"/>
              </a:lnSpc>
              <a:spcBef>
                <a:spcPct val="30000"/>
              </a:spcBef>
              <a:buFont typeface="Arial" panose="020B0604020202020204" pitchFamily="34" charset="0"/>
              <a:buChar char="•"/>
            </a:pPr>
            <a:r>
              <a:rPr lang="pt-BR"/>
              <a:t>Try to include as many questions as possible to keep students engaged during classroom presentation.</a:t>
            </a:r>
          </a:p>
          <a:p>
            <a:pPr marL="0" indent="0" rtl="0">
              <a:lnSpc>
                <a:spcPct val="85000"/>
              </a:lnSpc>
              <a:spcBef>
                <a:spcPct val="30000"/>
              </a:spcBef>
              <a:buNone/>
            </a:pPr>
            <a:r>
              <a:rPr lang="pt-BR"/>
              <a:t>Topic</a:t>
            </a:r>
            <a:r>
              <a:rPr lang="pt-BR" sz="1400"/>
              <a:t> 5.1</a:t>
            </a:r>
          </a:p>
          <a:p>
            <a:pPr lvl="1" rtl="0">
              <a:lnSpc>
                <a:spcPct val="85000"/>
              </a:lnSpc>
              <a:spcBef>
                <a:spcPct val="30000"/>
              </a:spcBef>
            </a:pPr>
            <a:r>
              <a:rPr lang="pt-BR" sz="1200"/>
              <a:t>Give your students plenty of practice and additional exercises until they have mastered the binary numbering system.</a:t>
            </a:r>
          </a:p>
          <a:p>
            <a:pPr lvl="1" rtl="0">
              <a:lnSpc>
                <a:spcPct val="85000"/>
              </a:lnSpc>
              <a:spcBef>
                <a:spcPct val="30000"/>
              </a:spcBef>
            </a:pPr>
            <a:r>
              <a:rPr lang="pt-BR" sz="1200"/>
              <a:t>Ask the students or have a class discussion</a:t>
            </a:r>
          </a:p>
          <a:p>
            <a:pPr lvl="2" rtl="0">
              <a:lnSpc>
                <a:spcPct val="85000"/>
              </a:lnSpc>
              <a:spcBef>
                <a:spcPct val="30000"/>
              </a:spcBef>
            </a:pPr>
            <a:r>
              <a:rPr lang="pt-BR" sz="1100"/>
              <a:t>What kinds of tips or tricks have you learned to help remember the conversion process between binary and decimal?</a:t>
            </a:r>
          </a:p>
          <a:p>
            <a:pPr marL="0" indent="0" rtl="0">
              <a:lnSpc>
                <a:spcPct val="85000"/>
              </a:lnSpc>
              <a:spcBef>
                <a:spcPct val="30000"/>
              </a:spcBef>
              <a:buNone/>
            </a:pPr>
            <a:r>
              <a:rPr lang="pt-BR" sz="1400"/>
              <a:t>Topic 5.2</a:t>
            </a:r>
          </a:p>
          <a:p>
            <a:pPr lvl="1" rtl="0">
              <a:lnSpc>
                <a:spcPct val="85000"/>
              </a:lnSpc>
              <a:spcBef>
                <a:spcPct val="30000"/>
              </a:spcBef>
            </a:pPr>
            <a:r>
              <a:rPr lang="pt-BR" sz="1200"/>
              <a:t>Give your students plenty of practice and additional exercises until they have mastered the hexadecimal numbering system.</a:t>
            </a:r>
          </a:p>
          <a:p>
            <a:pPr lvl="1" rtl="0">
              <a:lnSpc>
                <a:spcPct val="85000"/>
              </a:lnSpc>
              <a:spcBef>
                <a:spcPct val="30000"/>
              </a:spcBef>
            </a:pPr>
            <a:r>
              <a:rPr lang="pt-BR" sz="1200"/>
              <a:t>Ask the students or have a class discussion</a:t>
            </a:r>
          </a:p>
          <a:p>
            <a:pPr lvl="2" rtl="0">
              <a:lnSpc>
                <a:spcPct val="85000"/>
              </a:lnSpc>
              <a:spcBef>
                <a:spcPct val="30000"/>
              </a:spcBef>
            </a:pPr>
            <a:r>
              <a:rPr lang="pt-BR" sz="1100"/>
              <a:t>What kinds of tips or tricks have you learned to help remember the conversion process between hexadecimal and decimal?</a:t>
            </a:r>
          </a:p>
          <a:p>
            <a:pPr marL="0" indent="0">
              <a:lnSpc>
                <a:spcPct val="85000"/>
              </a:lnSpc>
              <a:spcBef>
                <a:spcPct val="30000"/>
              </a:spcBef>
              <a:buNone/>
            </a:pPr>
            <a:endParaRPr lang="en-US" dirty="0"/>
          </a:p>
          <a:p>
            <a:pPr marL="142875" lvl="1" indent="0">
              <a:lnSpc>
                <a:spcPct val="85000"/>
              </a:lnSpc>
              <a:spcBef>
                <a:spcPct val="30000"/>
              </a:spcBef>
              <a:buNone/>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5: Sistemas numéricos</a:t>
            </a:r>
          </a:p>
        </p:txBody>
      </p:sp>
      <p:sp>
        <p:nvSpPr>
          <p:cNvPr id="4" name="Subtitle 6">
            <a:extLst>
              <a:ext uri="{FF2B5EF4-FFF2-40B4-BE49-F238E27FC236}">
                <a16:creationId xmlns:a16="http://schemas.microsoft.com/office/drawing/2014/main" id="{8DD39E36-01CA-477F-AEAE-748C42C8B4E2}"/>
              </a:ext>
            </a:extLst>
          </p:cNvPr>
          <p:cNvSpPr txBox="1">
            <a:spLocks/>
          </p:cNvSpPr>
          <p:nvPr/>
        </p:nvSpPr>
        <p:spPr>
          <a:xfrm>
            <a:off x="469497" y="3646043"/>
            <a:ext cx="2368954" cy="902174"/>
          </a:xfrm>
          <a:prstGeom prst="rect">
            <a:avLst/>
          </a:prstGeom>
        </p:spPr>
        <p:txBody>
          <a:bodyPr lIns="91420" tIns="45710" rIns="91420" bIns="45710" anchor="b" anchorCtr="0">
            <a:noAutofit/>
          </a:bodyPr>
          <a:lstStyle>
            <a:lvl1pPr marL="0" indent="0" algn="l" defTabSz="684213" rtl="0" eaLnBrk="1" fontAlgn="base" hangingPunct="1">
              <a:lnSpc>
                <a:spcPct val="95000"/>
              </a:lnSpc>
              <a:spcBef>
                <a:spcPts val="1075"/>
              </a:spcBef>
              <a:spcAft>
                <a:spcPct val="0"/>
              </a:spcAft>
              <a:buClr>
                <a:schemeClr val="tx2"/>
              </a:buClr>
              <a:buSzPct val="90000"/>
              <a:buFont typeface="Arial" charset="0"/>
              <a:buNone/>
              <a:defRPr lang="en-US" sz="1200" b="0" i="0" kern="1200">
                <a:solidFill>
                  <a:schemeClr val="accent5"/>
                </a:solidFill>
                <a:latin typeface="+mn-lt"/>
                <a:ea typeface="ＭＳ Ｐゴシック" charset="0"/>
                <a:cs typeface="CiscoSans"/>
              </a:defRPr>
            </a:lvl1pPr>
            <a:lvl2pPr marL="342856" indent="0" algn="ctr"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tint val="75000"/>
                  </a:schemeClr>
                </a:solidFill>
                <a:latin typeface="+mn-lt"/>
                <a:ea typeface="ＭＳ Ｐゴシック" charset="0"/>
                <a:cs typeface="CiscoSans"/>
              </a:defRPr>
            </a:lvl2pPr>
            <a:lvl3pPr marL="685720" indent="0" algn="ctr" defTabSz="684213" rtl="0" eaLnBrk="1" fontAlgn="base" hangingPunct="1">
              <a:lnSpc>
                <a:spcPct val="95000"/>
              </a:lnSpc>
              <a:spcBef>
                <a:spcPts val="625"/>
              </a:spcBef>
              <a:spcAft>
                <a:spcPct val="0"/>
              </a:spcAft>
              <a:buFont typeface="Arial" charset="0"/>
              <a:buNone/>
              <a:defRPr lang="en-US" sz="1200" kern="1200">
                <a:solidFill>
                  <a:schemeClr val="tx1">
                    <a:tint val="75000"/>
                  </a:schemeClr>
                </a:solidFill>
                <a:latin typeface="+mn-lt"/>
                <a:ea typeface="ＭＳ Ｐゴシック" charset="0"/>
                <a:cs typeface="CiscoSans"/>
              </a:defRPr>
            </a:lvl3pPr>
            <a:lvl4pPr marL="1028579"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4pPr>
            <a:lvl5pPr marL="1371441"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5pPr>
            <a:lvl6pPr marL="1714297" indent="0" algn="ctr" defTabSz="685777" rtl="0" eaLnBrk="1" latinLnBrk="0" hangingPunct="1">
              <a:spcBef>
                <a:spcPts val="600"/>
              </a:spcBef>
              <a:buFont typeface="Arial" pitchFamily="34" charset="0"/>
              <a:buNone/>
              <a:defRPr sz="900" kern="1200" baseline="0">
                <a:solidFill>
                  <a:schemeClr val="tx1">
                    <a:tint val="75000"/>
                  </a:schemeClr>
                </a:solidFill>
                <a:latin typeface="+mn-lt"/>
                <a:ea typeface="+mn-ea"/>
                <a:cs typeface="+mn-cs"/>
              </a:defRPr>
            </a:lvl6pPr>
            <a:lvl7pPr marL="2057161" indent="0" algn="ctr" defTabSz="685777" rtl="0" eaLnBrk="1" latinLnBrk="0" hangingPunct="1">
              <a:spcBef>
                <a:spcPts val="600"/>
              </a:spcBef>
              <a:buFont typeface="Arial" pitchFamily="34" charset="0"/>
              <a:buNone/>
              <a:defRPr sz="800" kern="1200" baseline="0">
                <a:solidFill>
                  <a:schemeClr val="tx1">
                    <a:tint val="75000"/>
                  </a:schemeClr>
                </a:solidFill>
                <a:latin typeface="+mn-lt"/>
                <a:ea typeface="+mn-ea"/>
                <a:cs typeface="+mn-cs"/>
              </a:defRPr>
            </a:lvl7pPr>
            <a:lvl8pPr marL="2400020"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2882"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pt-BR"/>
              <a:t>Objetivos do módulo</a:t>
            </a:r>
          </a:p>
        </p:txBody>
      </p:sp>
      <p:sp>
        <p:nvSpPr>
          <p:cNvPr id="14" name="Rectangle 1">
            <a:extLst>
              <a:ext uri="{FF2B5EF4-FFF2-40B4-BE49-F238E27FC236}">
                <a16:creationId xmlns:a16="http://schemas.microsoft.com/office/drawing/2014/main" id="{1BC18D5F-2DAE-4928-9876-7F81DBAC95D3}"/>
              </a:ext>
            </a:extLst>
          </p:cNvPr>
          <p:cNvSpPr>
            <a:spLocks noGrp="1" noChangeArrowheads="1"/>
          </p:cNvSpPr>
          <p:nvPr>
            <p:ph idx="1"/>
          </p:nvPr>
        </p:nvSpPr>
        <p:spPr bwMode="auto">
          <a:xfrm>
            <a:off x="144462" y="798944"/>
            <a:ext cx="88534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Título do módulo: </a:t>
            </a:r>
            <a:r>
              <a:rPr lang="pt-BR" sz="1600">
                <a:solidFill>
                  <a:schemeClr val="tx1"/>
                </a:solidFill>
                <a:ea typeface="Calibri" panose="020F0502020204030204" pitchFamily="34" charset="0"/>
                <a:cs typeface="Calibri" panose="020F0502020204030204" pitchFamily="34" charset="0"/>
              </a:rPr>
              <a:t>Sistemas Numéricos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Objetivo do módulo</a:t>
            </a:r>
            <a:r>
              <a:rPr kumimoji="0" lang="pt-B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 </a:t>
            </a:r>
            <a:r>
              <a:rPr lang="pt-BR" sz="1600">
                <a:solidFill>
                  <a:schemeClr val="tx1"/>
                </a:solidFill>
                <a:ea typeface="Calibri" panose="020F0502020204030204" pitchFamily="34" charset="0"/>
                <a:cs typeface="Calibri" panose="020F0502020204030204" pitchFamily="34" charset="0"/>
              </a:rPr>
              <a:t>Calcular números entre sistemas decimais, binários e hexadecimais.</a:t>
            </a:r>
          </a:p>
        </p:txBody>
      </p:sp>
      <p:graphicFrame>
        <p:nvGraphicFramePr>
          <p:cNvPr id="11" name="Table 10">
            <a:extLst>
              <a:ext uri="{FF2B5EF4-FFF2-40B4-BE49-F238E27FC236}">
                <a16:creationId xmlns:a16="http://schemas.microsoft.com/office/drawing/2014/main" id="{CA1CF45F-6FFF-4E7B-A283-AF4D9C8D6D27}"/>
              </a:ext>
            </a:extLst>
          </p:cNvPr>
          <p:cNvGraphicFramePr>
            <a:graphicFrameLocks noGrp="1"/>
          </p:cNvGraphicFramePr>
          <p:nvPr>
            <p:extLst>
              <p:ext uri="{D42A27DB-BD31-4B8C-83A1-F6EECF244321}">
                <p14:modId xmlns:p14="http://schemas.microsoft.com/office/powerpoint/2010/main" val="1146683985"/>
              </p:ext>
            </p:extLst>
          </p:nvPr>
        </p:nvGraphicFramePr>
        <p:xfrm>
          <a:off x="1080754" y="2050715"/>
          <a:ext cx="6980904" cy="1037752"/>
        </p:xfrm>
        <a:graphic>
          <a:graphicData uri="http://schemas.openxmlformats.org/drawingml/2006/table">
            <a:tbl>
              <a:tblPr firstRow="1" firstCol="1" bandRow="1">
                <a:tableStyleId>{5C22544A-7EE6-4342-B048-85BDC9FD1C3A}</a:tableStyleId>
              </a:tblPr>
              <a:tblGrid>
                <a:gridCol w="3490452">
                  <a:extLst>
                    <a:ext uri="{9D8B030D-6E8A-4147-A177-3AD203B41FA5}">
                      <a16:colId xmlns:a16="http://schemas.microsoft.com/office/drawing/2014/main" val="1523797708"/>
                    </a:ext>
                  </a:extLst>
                </a:gridCol>
                <a:gridCol w="3490452">
                  <a:extLst>
                    <a:ext uri="{9D8B030D-6E8A-4147-A177-3AD203B41FA5}">
                      <a16:colId xmlns:a16="http://schemas.microsoft.com/office/drawing/2014/main" val="2750207184"/>
                    </a:ext>
                  </a:extLst>
                </a:gridCol>
              </a:tblGrid>
              <a:tr h="216347">
                <a:tc>
                  <a:txBody>
                    <a:bodyPr/>
                    <a:lstStyle/>
                    <a:p>
                      <a:pPr marL="0" marR="0" rtl="0">
                        <a:lnSpc>
                          <a:spcPct val="107000"/>
                        </a:lnSpc>
                        <a:spcBef>
                          <a:spcPts val="0"/>
                        </a:spcBef>
                        <a:spcAft>
                          <a:spcPts val="0"/>
                        </a:spcAft>
                      </a:pPr>
                      <a:r>
                        <a:rPr lang="pt-BR" sz="1200">
                          <a:effectLst/>
                        </a:rPr>
                        <a:t>Título do Tópico</a:t>
                      </a:r>
                    </a:p>
                  </a:txBody>
                  <a:tcPr marL="68580" marR="68580" marT="0" marB="0"/>
                </a:tc>
                <a:tc>
                  <a:txBody>
                    <a:bodyPr/>
                    <a:lstStyle/>
                    <a:p>
                      <a:pPr marL="0" marR="0" rtl="0">
                        <a:lnSpc>
                          <a:spcPct val="107000"/>
                        </a:lnSpc>
                        <a:spcBef>
                          <a:spcPts val="0"/>
                        </a:spcBef>
                        <a:spcAft>
                          <a:spcPts val="0"/>
                        </a:spcAft>
                      </a:pPr>
                      <a:r>
                        <a:rPr lang="pt-BR" sz="1200">
                          <a:effectLst/>
                        </a:rPr>
                        <a:t>Objetivo do Tópico</a:t>
                      </a:r>
                    </a:p>
                  </a:txBody>
                  <a:tcPr marL="68580" marR="68580" marT="0" marB="0"/>
                </a:tc>
                <a:extLst>
                  <a:ext uri="{0D108BD9-81ED-4DB2-BD59-A6C34878D82A}">
                    <a16:rowId xmlns:a16="http://schemas.microsoft.com/office/drawing/2014/main" val="1874061904"/>
                  </a:ext>
                </a:extLst>
              </a:tr>
              <a:tr h="444151">
                <a:tc>
                  <a:txBody>
                    <a:bodyPr/>
                    <a:lstStyle/>
                    <a:p>
                      <a:pPr marL="0" marR="0" rtl="0">
                        <a:lnSpc>
                          <a:spcPct val="107000"/>
                        </a:lnSpc>
                        <a:spcBef>
                          <a:spcPts val="0"/>
                        </a:spcBef>
                        <a:spcAft>
                          <a:spcPts val="0"/>
                        </a:spcAft>
                      </a:pPr>
                      <a:r>
                        <a:rPr lang="pt-BR" sz="1200">
                          <a:effectLst/>
                        </a:rPr>
                        <a:t>Sistema Binário de Numeração</a:t>
                      </a:r>
                    </a:p>
                  </a:txBody>
                  <a:tcPr marL="68580" marR="68580" marT="0" marB="0"/>
                </a:tc>
                <a:tc>
                  <a:txBody>
                    <a:bodyPr/>
                    <a:lstStyle/>
                    <a:p>
                      <a:pPr marL="0" marR="0" rtl="0">
                        <a:lnSpc>
                          <a:spcPct val="107000"/>
                        </a:lnSpc>
                        <a:spcBef>
                          <a:spcPts val="0"/>
                        </a:spcBef>
                        <a:spcAft>
                          <a:spcPts val="0"/>
                        </a:spcAft>
                      </a:pPr>
                      <a:r>
                        <a:rPr lang="pt-BR" sz="1200">
                          <a:solidFill>
                            <a:srgbClr val="000000"/>
                          </a:solidFill>
                          <a:effectLst/>
                        </a:rPr>
                        <a:t>Calcular números entre sistemas decimal e binário.</a:t>
                      </a:r>
                    </a:p>
                  </a:txBody>
                  <a:tcPr marL="68580" marR="68580" marT="0" marB="0"/>
                </a:tc>
                <a:extLst>
                  <a:ext uri="{0D108BD9-81ED-4DB2-BD59-A6C34878D82A}">
                    <a16:rowId xmlns:a16="http://schemas.microsoft.com/office/drawing/2014/main" val="1646858405"/>
                  </a:ext>
                </a:extLst>
              </a:tr>
              <a:tr h="315930">
                <a:tc>
                  <a:txBody>
                    <a:bodyPr/>
                    <a:lstStyle/>
                    <a:p>
                      <a:pPr marL="0" marR="0" rtl="0">
                        <a:lnSpc>
                          <a:spcPct val="107000"/>
                        </a:lnSpc>
                        <a:spcBef>
                          <a:spcPts val="0"/>
                        </a:spcBef>
                        <a:spcAft>
                          <a:spcPts val="0"/>
                        </a:spcAft>
                      </a:pPr>
                      <a:r>
                        <a:rPr lang="pt-BR" sz="1200">
                          <a:effectLst/>
                        </a:rPr>
                        <a:t>Sistema de numeração hexadecimal</a:t>
                      </a:r>
                    </a:p>
                  </a:txBody>
                  <a:tcPr marL="68580" marR="68580" marT="0" marB="0"/>
                </a:tc>
                <a:tc>
                  <a:txBody>
                    <a:bodyPr/>
                    <a:lstStyle/>
                    <a:p>
                      <a:pPr marL="0" marR="0" rtl="0">
                        <a:lnSpc>
                          <a:spcPct val="107000"/>
                        </a:lnSpc>
                        <a:spcBef>
                          <a:spcPts val="0"/>
                        </a:spcBef>
                        <a:spcAft>
                          <a:spcPts val="0"/>
                        </a:spcAft>
                      </a:pPr>
                      <a:r>
                        <a:rPr lang="pt-BR" sz="1200">
                          <a:solidFill>
                            <a:srgbClr val="000000"/>
                          </a:solidFill>
                          <a:effectLst/>
                        </a:rPr>
                        <a:t>Calcular números entre sistemas decimal e hexadecimal.</a:t>
                      </a:r>
                    </a:p>
                  </a:txBody>
                  <a:tcPr marL="68580" marR="68580" marT="0" marB="0"/>
                </a:tc>
                <a:extLst>
                  <a:ext uri="{0D108BD9-81ED-4DB2-BD59-A6C34878D82A}">
                    <a16:rowId xmlns:a16="http://schemas.microsoft.com/office/drawing/2014/main" val="1435904258"/>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5.1 Sistema de numeração binário</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Sistema Binário de Numeração</a:t>
            </a:r>
            <a:br>
              <a:rPr lang="en-US" dirty="0"/>
            </a:br>
            <a:r>
              <a:rPr lang="pt-BR" sz="2400"/>
              <a:t>Endereços binários e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531276" cy="1745526"/>
          </a:xfrm>
        </p:spPr>
        <p:txBody>
          <a:bodyPr/>
          <a:lstStyle/>
          <a:p>
            <a:pPr marL="342900" indent="-342900" algn="l" rtl="0">
              <a:buFont typeface="Arial" panose="020B0604020202020204" pitchFamily="34" charset="0"/>
              <a:buChar char="•"/>
            </a:pPr>
            <a:r>
              <a:rPr lang="pt-BR" sz="1600">
                <a:solidFill>
                  <a:srgbClr val="000000"/>
                </a:solidFill>
              </a:rPr>
              <a:t>O sistema de numeração binária consiste em 1s e 0s, chamados bits</a:t>
            </a:r>
          </a:p>
          <a:p>
            <a:pPr marL="342900" indent="-342900" algn="l" rtl="0">
              <a:buFont typeface="Arial" panose="020B0604020202020204" pitchFamily="34" charset="0"/>
              <a:buChar char="•"/>
            </a:pPr>
            <a:r>
              <a:rPr lang="pt-BR" sz="1600">
                <a:solidFill>
                  <a:srgbClr val="000000"/>
                </a:solidFill>
              </a:rPr>
              <a:t>Sistema de numeração decimal consiste em dígitos 0 a 9</a:t>
            </a:r>
          </a:p>
          <a:p>
            <a:pPr marL="342900" indent="-342900" algn="l" rtl="0">
              <a:buFont typeface="Arial" panose="020B0604020202020204" pitchFamily="34" charset="0"/>
              <a:buChar char="•"/>
            </a:pPr>
            <a:r>
              <a:rPr lang="pt-BR" sz="1600">
                <a:solidFill>
                  <a:srgbClr val="000000"/>
                </a:solidFill>
              </a:rPr>
              <a:t>Hosts, servidores e equipamentos de rede usando endereçamento binário para identificar uns aos outros.</a:t>
            </a:r>
          </a:p>
          <a:p>
            <a:pPr marL="342900" indent="-342900" algn="l" rtl="0">
              <a:buFont typeface="Arial" panose="020B0604020202020204" pitchFamily="34" charset="0"/>
              <a:buChar char="•"/>
            </a:pPr>
            <a:r>
              <a:rPr lang="pt-BR" sz="1600">
                <a:solidFill>
                  <a:srgbClr val="000000"/>
                </a:solidFill>
              </a:rPr>
              <a:t>Cada endereço é composto de uma sequência de 32 bits, dividida em quatro seções chamadas octetos.</a:t>
            </a:r>
          </a:p>
          <a:p>
            <a:pPr marL="342900" indent="-342900" algn="l" rtl="0">
              <a:buFont typeface="Arial" panose="020B0604020202020204" pitchFamily="34" charset="0"/>
              <a:buChar char="•"/>
            </a:pPr>
            <a:r>
              <a:rPr lang="pt-BR" sz="1600">
                <a:solidFill>
                  <a:srgbClr val="000000"/>
                </a:solidFill>
              </a:rPr>
              <a:t>Cada octeto contém 8 bits (ou 1 byte) separados por um ponto.</a:t>
            </a:r>
          </a:p>
          <a:p>
            <a:pPr marL="342900" indent="-342900" algn="l" rtl="0">
              <a:buFont typeface="Arial" panose="020B0604020202020204" pitchFamily="34" charset="0"/>
              <a:buChar char="•"/>
            </a:pPr>
            <a:r>
              <a:rPr lang="pt-BR" sz="1600">
                <a:solidFill>
                  <a:srgbClr val="000000"/>
                </a:solidFill>
              </a:rPr>
              <a:t>Para facilitar o uso por pessoas, esta notação pontilhada é convertida em decimal pontilhada.</a:t>
            </a: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DCD0F2E4-E369-A548-A618-9BAB0C0C57E4}"/>
              </a:ext>
            </a:extLst>
          </p:cNvPr>
          <p:cNvPicPr>
            <a:picLocks noChangeAspect="1"/>
          </p:cNvPicPr>
          <p:nvPr/>
        </p:nvPicPr>
        <p:blipFill>
          <a:blip r:embed="rId3"/>
          <a:stretch>
            <a:fillRect/>
          </a:stretch>
        </p:blipFill>
        <p:spPr>
          <a:xfrm>
            <a:off x="606716" y="3330136"/>
            <a:ext cx="3473597" cy="1745526"/>
          </a:xfrm>
          <a:prstGeom prst="rect">
            <a:avLst/>
          </a:prstGeom>
        </p:spPr>
      </p:pic>
      <p:sp>
        <p:nvSpPr>
          <p:cNvPr id="7" name="Striped Right Arrow 6">
            <a:extLst>
              <a:ext uri="{FF2B5EF4-FFF2-40B4-BE49-F238E27FC236}">
                <a16:creationId xmlns:a16="http://schemas.microsoft.com/office/drawing/2014/main" id="{71668B65-DD31-5646-8CF8-039199DDBBA7}"/>
              </a:ext>
            </a:extLst>
          </p:cNvPr>
          <p:cNvSpPr/>
          <p:nvPr/>
        </p:nvSpPr>
        <p:spPr>
          <a:xfrm>
            <a:off x="4109757" y="3958407"/>
            <a:ext cx="520995" cy="239867"/>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E5F7270-39AA-FE40-92FD-F80B1DD90812}"/>
              </a:ext>
            </a:extLst>
          </p:cNvPr>
          <p:cNvPicPr>
            <a:picLocks noChangeAspect="1"/>
          </p:cNvPicPr>
          <p:nvPr/>
        </p:nvPicPr>
        <p:blipFill>
          <a:blip r:embed="rId4"/>
          <a:stretch>
            <a:fillRect/>
          </a:stretch>
        </p:blipFill>
        <p:spPr>
          <a:xfrm>
            <a:off x="4734244" y="3330136"/>
            <a:ext cx="3227909" cy="1745527"/>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Binário de Numeração</a:t>
            </a:r>
            <a:br>
              <a:rPr lang="en-US" dirty="0"/>
            </a:br>
            <a:r>
              <a:rPr lang="pt-BR" sz="2400"/>
              <a:t>Vídeo - Converter entre sistemas de numeração binária e decimal</a:t>
            </a:r>
          </a:p>
        </p:txBody>
      </p:sp>
      <p:sp>
        <p:nvSpPr>
          <p:cNvPr id="7" name="Rectangle 6">
            <a:extLst>
              <a:ext uri="{FF2B5EF4-FFF2-40B4-BE49-F238E27FC236}">
                <a16:creationId xmlns:a16="http://schemas.microsoft.com/office/drawing/2014/main" id="{056AB3A8-AF6D-4821-B196-F1B8058BD7B6}"/>
              </a:ext>
            </a:extLst>
          </p:cNvPr>
          <p:cNvSpPr/>
          <p:nvPr/>
        </p:nvSpPr>
        <p:spPr>
          <a:xfrm>
            <a:off x="332509" y="1138843"/>
            <a:ext cx="8345488" cy="1877437"/>
          </a:xfrm>
          <a:prstGeom prst="rect">
            <a:avLst/>
          </a:prstGeom>
        </p:spPr>
        <p:txBody>
          <a:bodyPr wrap="square">
            <a:spAutoFit/>
          </a:bodyPr>
          <a:lstStyle/>
          <a:p>
            <a:pPr marL="57150" indent="0" rtl="0">
              <a:buNone/>
            </a:pPr>
            <a:r>
              <a:rPr lang="pt-BR"/>
              <a:t>Este vídeo aborda o seguinte:</a:t>
            </a:r>
          </a:p>
          <a:p>
            <a:pPr marL="57150" indent="0">
              <a:buNone/>
            </a:pPr>
            <a:endParaRPr lang="en-US" dirty="0"/>
          </a:p>
          <a:p>
            <a:pPr marL="285750" indent="-285750" rtl="0">
              <a:buFont typeface="Arial" panose="020B0604020202020204" pitchFamily="34" charset="0"/>
              <a:buChar char="•"/>
            </a:pPr>
            <a:r>
              <a:rPr lang="pt-BR" sz="1600"/>
              <a:t>Revisão da notação posicional</a:t>
            </a:r>
          </a:p>
          <a:p>
            <a:pPr marL="285750" indent="-285750" rtl="0">
              <a:buFont typeface="Arial" panose="020B0604020202020204" pitchFamily="34" charset="0"/>
              <a:buChar char="•"/>
            </a:pPr>
            <a:r>
              <a:rPr lang="pt-BR" sz="1600"/>
              <a:t>Revisão de Potências de 10</a:t>
            </a:r>
          </a:p>
          <a:p>
            <a:pPr marL="285750" indent="-285750" rtl="0">
              <a:buFont typeface="Arial" panose="020B0604020202020204" pitchFamily="34" charset="0"/>
              <a:buChar char="•"/>
            </a:pPr>
            <a:r>
              <a:rPr lang="pt-BR" sz="1600"/>
              <a:t>Decimal — revisão da numeração da base 10</a:t>
            </a:r>
          </a:p>
          <a:p>
            <a:pPr marL="285750" indent="-285750" rtl="0">
              <a:buFont typeface="Arial" panose="020B0604020202020204" pitchFamily="34" charset="0"/>
              <a:buChar char="•"/>
            </a:pPr>
            <a:r>
              <a:rPr lang="pt-BR" sz="1600"/>
              <a:t>Binário — revisão de numeração de base 2</a:t>
            </a:r>
          </a:p>
          <a:p>
            <a:pPr marL="285750" indent="-285750" rtl="0">
              <a:buFont typeface="Arial" panose="020B0604020202020204" pitchFamily="34" charset="0"/>
              <a:buChar char="•"/>
            </a:pPr>
            <a:r>
              <a:rPr lang="pt-BR" sz="1600"/>
              <a:t>Converter um endereço IP em numeração binária para decimal</a:t>
            </a:r>
          </a:p>
        </p:txBody>
      </p:sp>
    </p:spTree>
    <p:extLst>
      <p:ext uri="{BB962C8B-B14F-4D97-AF65-F5344CB8AC3E}">
        <p14:creationId xmlns:p14="http://schemas.microsoft.com/office/powerpoint/2010/main" val="385041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Binário de Numeração</a:t>
            </a:r>
            <a:br>
              <a:rPr lang="en-US" dirty="0"/>
            </a:br>
            <a:r>
              <a:rPr lang="pt-BR" sz="2400"/>
              <a:t>Notação posicional binária</a:t>
            </a:r>
          </a:p>
        </p:txBody>
      </p:sp>
      <p:sp>
        <p:nvSpPr>
          <p:cNvPr id="4" name="Content Placeholder 3">
            <a:extLst>
              <a:ext uri="{FF2B5EF4-FFF2-40B4-BE49-F238E27FC236}">
                <a16:creationId xmlns:a16="http://schemas.microsoft.com/office/drawing/2014/main" id="{71329901-EBC7-0747-A1C2-F937CA26E4B5}"/>
              </a:ext>
            </a:extLst>
          </p:cNvPr>
          <p:cNvSpPr>
            <a:spLocks noGrp="1"/>
          </p:cNvSpPr>
          <p:nvPr>
            <p:ph idx="1"/>
          </p:nvPr>
        </p:nvSpPr>
        <p:spPr>
          <a:xfrm>
            <a:off x="474662" y="839972"/>
            <a:ext cx="8280057" cy="1005453"/>
          </a:xfrm>
        </p:spPr>
        <p:txBody>
          <a:bodyPr/>
          <a:lstStyle/>
          <a:p>
            <a:pPr marL="285750" indent="-285750" algn="l" rtl="0">
              <a:buFont typeface="Arial" panose="020B0604020202020204" pitchFamily="34" charset="0"/>
              <a:buChar char="•"/>
            </a:pPr>
            <a:r>
              <a:rPr lang="pt-BR" sz="1600">
                <a:solidFill>
                  <a:srgbClr val="000000"/>
                </a:solidFill>
              </a:rPr>
              <a:t>Notação posicional significa que um dígito representa valores diferentes, dependendo da posição que ocupa na sequência de números.</a:t>
            </a:r>
          </a:p>
          <a:p>
            <a:pPr marL="285750" indent="-285750" algn="l" rtl="0">
              <a:buFont typeface="Arial" panose="020B0604020202020204" pitchFamily="34" charset="0"/>
              <a:buChar char="•"/>
            </a:pPr>
            <a:r>
              <a:rPr lang="pt-BR" sz="1600">
                <a:solidFill>
                  <a:srgbClr val="000000"/>
                </a:solidFill>
              </a:rPr>
              <a:t>O sistema de notação posicional decimal opera como mostrado nas tabelas abaixo.</a:t>
            </a:r>
          </a:p>
        </p:txBody>
      </p:sp>
      <p:graphicFrame>
        <p:nvGraphicFramePr>
          <p:cNvPr id="5" name="Table 4">
            <a:extLst>
              <a:ext uri="{FF2B5EF4-FFF2-40B4-BE49-F238E27FC236}">
                <a16:creationId xmlns:a16="http://schemas.microsoft.com/office/drawing/2014/main" id="{559CEC86-4057-DA4B-98C8-93666AE4B10C}"/>
              </a:ext>
            </a:extLst>
          </p:cNvPr>
          <p:cNvGraphicFramePr>
            <a:graphicFrameLocks noGrp="1"/>
          </p:cNvGraphicFramePr>
          <p:nvPr>
            <p:extLst>
              <p:ext uri="{D42A27DB-BD31-4B8C-83A1-F6EECF244321}">
                <p14:modId xmlns:p14="http://schemas.microsoft.com/office/powerpoint/2010/main" val="2022672850"/>
              </p:ext>
            </p:extLst>
          </p:nvPr>
        </p:nvGraphicFramePr>
        <p:xfrm>
          <a:off x="389281" y="2464614"/>
          <a:ext cx="3402419" cy="1214620"/>
        </p:xfrm>
        <a:graphic>
          <a:graphicData uri="http://schemas.openxmlformats.org/drawingml/2006/table">
            <a:tbl>
              <a:tblPr firstRow="1" bandRow="1">
                <a:tableStyleId>{5C22544A-7EE6-4342-B048-85BDC9FD1C3A}</a:tableStyleId>
              </a:tblPr>
              <a:tblGrid>
                <a:gridCol w="1318437">
                  <a:extLst>
                    <a:ext uri="{9D8B030D-6E8A-4147-A177-3AD203B41FA5}">
                      <a16:colId xmlns:a16="http://schemas.microsoft.com/office/drawing/2014/main" val="3837822917"/>
                    </a:ext>
                  </a:extLst>
                </a:gridCol>
                <a:gridCol w="465690">
                  <a:extLst>
                    <a:ext uri="{9D8B030D-6E8A-4147-A177-3AD203B41FA5}">
                      <a16:colId xmlns:a16="http://schemas.microsoft.com/office/drawing/2014/main" val="2257126818"/>
                    </a:ext>
                  </a:extLst>
                </a:gridCol>
                <a:gridCol w="490708">
                  <a:extLst>
                    <a:ext uri="{9D8B030D-6E8A-4147-A177-3AD203B41FA5}">
                      <a16:colId xmlns:a16="http://schemas.microsoft.com/office/drawing/2014/main" val="733968975"/>
                    </a:ext>
                  </a:extLst>
                </a:gridCol>
                <a:gridCol w="480266">
                  <a:extLst>
                    <a:ext uri="{9D8B030D-6E8A-4147-A177-3AD203B41FA5}">
                      <a16:colId xmlns:a16="http://schemas.microsoft.com/office/drawing/2014/main" val="2184405947"/>
                    </a:ext>
                  </a:extLst>
                </a:gridCol>
                <a:gridCol w="647318">
                  <a:extLst>
                    <a:ext uri="{9D8B030D-6E8A-4147-A177-3AD203B41FA5}">
                      <a16:colId xmlns:a16="http://schemas.microsoft.com/office/drawing/2014/main" val="326059745"/>
                    </a:ext>
                  </a:extLst>
                </a:gridCol>
              </a:tblGrid>
              <a:tr h="303655">
                <a:tc>
                  <a:txBody>
                    <a:bodyPr/>
                    <a:lstStyle/>
                    <a:p>
                      <a:pPr rtl="0"/>
                      <a:r>
                        <a:rPr lang="pt-BR" sz="1000"/>
                        <a:t>Raiz</a:t>
                      </a:r>
                    </a:p>
                  </a:txBody>
                  <a:tcPr/>
                </a:tc>
                <a:tc>
                  <a:txBody>
                    <a:bodyPr/>
                    <a:lstStyle/>
                    <a:p>
                      <a:pPr rtl="0"/>
                      <a:r>
                        <a:rPr lang="pt-BR" sz="1000"/>
                        <a:t>10</a:t>
                      </a:r>
                    </a:p>
                  </a:txBody>
                  <a:tcPr/>
                </a:tc>
                <a:tc>
                  <a:txBody>
                    <a:bodyPr/>
                    <a:lstStyle/>
                    <a:p>
                      <a:pPr rtl="0"/>
                      <a:r>
                        <a:rPr lang="pt-BR" sz="1000"/>
                        <a:t>10</a:t>
                      </a:r>
                    </a:p>
                  </a:txBody>
                  <a:tcPr/>
                </a:tc>
                <a:tc>
                  <a:txBody>
                    <a:bodyPr/>
                    <a:lstStyle/>
                    <a:p>
                      <a:pPr rtl="0"/>
                      <a:r>
                        <a:rPr lang="pt-BR" sz="1000"/>
                        <a:t>10</a:t>
                      </a:r>
                    </a:p>
                  </a:txBody>
                  <a:tcPr/>
                </a:tc>
                <a:tc>
                  <a:txBody>
                    <a:bodyPr/>
                    <a:lstStyle/>
                    <a:p>
                      <a:pPr rtl="0"/>
                      <a:r>
                        <a:rPr lang="pt-BR" sz="1000"/>
                        <a:t>10</a:t>
                      </a:r>
                    </a:p>
                  </a:txBody>
                  <a:tcPr/>
                </a:tc>
                <a:extLst>
                  <a:ext uri="{0D108BD9-81ED-4DB2-BD59-A6C34878D82A}">
                    <a16:rowId xmlns:a16="http://schemas.microsoft.com/office/drawing/2014/main" val="1798718847"/>
                  </a:ext>
                </a:extLst>
              </a:tr>
              <a:tr h="303655">
                <a:tc>
                  <a:txBody>
                    <a:bodyPr/>
                    <a:lstStyle/>
                    <a:p>
                      <a:pPr rtl="0"/>
                      <a:r>
                        <a:rPr lang="pt-BR" sz="1000"/>
                        <a:t>Posição no número</a:t>
                      </a:r>
                    </a:p>
                  </a:txBody>
                  <a:tcPr/>
                </a:tc>
                <a:tc>
                  <a:txBody>
                    <a:bodyPr/>
                    <a:lstStyle/>
                    <a:p>
                      <a:pPr rtl="0"/>
                      <a:r>
                        <a:rPr lang="pt-BR" sz="1000"/>
                        <a:t>3</a:t>
                      </a:r>
                    </a:p>
                  </a:txBody>
                  <a:tcPr/>
                </a:tc>
                <a:tc>
                  <a:txBody>
                    <a:bodyPr/>
                    <a:lstStyle/>
                    <a:p>
                      <a:pPr rtl="0"/>
                      <a:r>
                        <a:rPr lang="pt-BR" sz="1000"/>
                        <a:t>2</a:t>
                      </a:r>
                    </a:p>
                  </a:txBody>
                  <a:tcPr/>
                </a:tc>
                <a:tc>
                  <a:txBody>
                    <a:bodyPr/>
                    <a:lstStyle/>
                    <a:p>
                      <a:pPr rtl="0"/>
                      <a:r>
                        <a:rPr lang="pt-BR" sz="1000"/>
                        <a:t>1</a:t>
                      </a:r>
                    </a:p>
                  </a:txBody>
                  <a:tcPr/>
                </a:tc>
                <a:tc>
                  <a:txBody>
                    <a:bodyPr/>
                    <a:lstStyle/>
                    <a:p>
                      <a:pPr rtl="0"/>
                      <a:r>
                        <a:rPr lang="pt-BR" sz="1000"/>
                        <a:t>0</a:t>
                      </a:r>
                    </a:p>
                  </a:txBody>
                  <a:tcPr/>
                </a:tc>
                <a:extLst>
                  <a:ext uri="{0D108BD9-81ED-4DB2-BD59-A6C34878D82A}">
                    <a16:rowId xmlns:a16="http://schemas.microsoft.com/office/drawing/2014/main" val="3580694335"/>
                  </a:ext>
                </a:extLst>
              </a:tr>
              <a:tr h="303655">
                <a:tc>
                  <a:txBody>
                    <a:bodyPr/>
                    <a:lstStyle/>
                    <a:p>
                      <a:pPr rtl="0"/>
                      <a:r>
                        <a:rPr lang="pt-BR" sz="1000"/>
                        <a:t>Cáculo</a:t>
                      </a:r>
                    </a:p>
                  </a:txBody>
                  <a:tcPr/>
                </a:tc>
                <a:tc>
                  <a:txBody>
                    <a:bodyPr/>
                    <a:lstStyle/>
                    <a:p>
                      <a:pPr rtl="0"/>
                      <a:r>
                        <a:rPr lang="pt-BR" sz="1000"/>
                        <a:t>(10</a:t>
                      </a:r>
                      <a:r>
                        <a:rPr lang="pt-BR" sz="1000" baseline="30000"/>
                        <a:t>3</a:t>
                      </a:r>
                      <a:r>
                        <a:rPr lang="pt-BR" sz="1000"/>
                        <a:t>)</a:t>
                      </a:r>
                    </a:p>
                  </a:txBody>
                  <a:tcPr/>
                </a:tc>
                <a:tc>
                  <a:txBody>
                    <a:bodyPr/>
                    <a:lstStyle/>
                    <a:p>
                      <a:pPr rtl="0"/>
                      <a:r>
                        <a:rPr lang="pt-BR" sz="1000"/>
                        <a:t>(10</a:t>
                      </a:r>
                      <a:r>
                        <a:rPr lang="pt-BR" sz="1000" baseline="30000"/>
                        <a:t>2</a:t>
                      </a:r>
                      <a:r>
                        <a:rPr lang="pt-BR" sz="1000"/>
                        <a:t>)</a:t>
                      </a:r>
                    </a:p>
                  </a:txBody>
                  <a:tcPr/>
                </a:tc>
                <a:tc>
                  <a:txBody>
                    <a:bodyPr/>
                    <a:lstStyle/>
                    <a:p>
                      <a:pPr rtl="0"/>
                      <a:r>
                        <a:rPr lang="pt-BR" sz="1000"/>
                        <a:t>(10</a:t>
                      </a:r>
                      <a:r>
                        <a:rPr lang="pt-BR" sz="1000" baseline="30000"/>
                        <a:t>1</a:t>
                      </a:r>
                      <a:r>
                        <a:rPr lang="pt-BR" sz="1000"/>
                        <a:t>)</a:t>
                      </a:r>
                    </a:p>
                  </a:txBody>
                  <a:tcPr/>
                </a:tc>
                <a:tc>
                  <a:txBody>
                    <a:bodyPr/>
                    <a:lstStyle/>
                    <a:p>
                      <a:pPr rtl="0"/>
                      <a:r>
                        <a:rPr lang="pt-BR" sz="1000"/>
                        <a:t>(10</a:t>
                      </a:r>
                      <a:r>
                        <a:rPr lang="pt-BR" sz="1000" baseline="30000"/>
                        <a:t>0</a:t>
                      </a:r>
                      <a:r>
                        <a:rPr lang="pt-BR" sz="1000"/>
                        <a:t>)</a:t>
                      </a:r>
                    </a:p>
                  </a:txBody>
                  <a:tcPr/>
                </a:tc>
                <a:extLst>
                  <a:ext uri="{0D108BD9-81ED-4DB2-BD59-A6C34878D82A}">
                    <a16:rowId xmlns:a16="http://schemas.microsoft.com/office/drawing/2014/main" val="3026254151"/>
                  </a:ext>
                </a:extLst>
              </a:tr>
              <a:tr h="303655">
                <a:tc>
                  <a:txBody>
                    <a:bodyPr/>
                    <a:lstStyle/>
                    <a:p>
                      <a:pPr rtl="0"/>
                      <a:r>
                        <a:rPr lang="pt-BR" sz="1000"/>
                        <a:t>Valor da posição</a:t>
                      </a:r>
                    </a:p>
                  </a:txBody>
                  <a:tcPr/>
                </a:tc>
                <a:tc>
                  <a:txBody>
                    <a:bodyPr/>
                    <a:lstStyle/>
                    <a:p>
                      <a:pPr rtl="0"/>
                      <a:r>
                        <a:rPr lang="pt-BR" sz="1000"/>
                        <a:t>1000</a:t>
                      </a:r>
                    </a:p>
                  </a:txBody>
                  <a:tcPr/>
                </a:tc>
                <a:tc>
                  <a:txBody>
                    <a:bodyPr/>
                    <a:lstStyle/>
                    <a:p>
                      <a:pPr rtl="0"/>
                      <a:r>
                        <a:rPr lang="pt-BR" sz="1000"/>
                        <a:t>100</a:t>
                      </a:r>
                    </a:p>
                  </a:txBody>
                  <a:tcPr/>
                </a:tc>
                <a:tc>
                  <a:txBody>
                    <a:bodyPr/>
                    <a:lstStyle/>
                    <a:p>
                      <a:pPr rtl="0"/>
                      <a:r>
                        <a:rPr lang="pt-BR" sz="1000"/>
                        <a:t>10</a:t>
                      </a:r>
                    </a:p>
                  </a:txBody>
                  <a:tcPr/>
                </a:tc>
                <a:tc>
                  <a:txBody>
                    <a:bodyPr/>
                    <a:lstStyle/>
                    <a:p>
                      <a:pPr rtl="0"/>
                      <a:r>
                        <a:rPr lang="pt-BR" sz="1000"/>
                        <a:t>1</a:t>
                      </a:r>
                    </a:p>
                  </a:txBody>
                  <a:tcPr/>
                </a:tc>
                <a:extLst>
                  <a:ext uri="{0D108BD9-81ED-4DB2-BD59-A6C34878D82A}">
                    <a16:rowId xmlns:a16="http://schemas.microsoft.com/office/drawing/2014/main" val="4226814726"/>
                  </a:ext>
                </a:extLst>
              </a:tr>
            </a:tbl>
          </a:graphicData>
        </a:graphic>
      </p:graphicFrame>
      <p:sp>
        <p:nvSpPr>
          <p:cNvPr id="7" name="Striped Right Arrow 6">
            <a:extLst>
              <a:ext uri="{FF2B5EF4-FFF2-40B4-BE49-F238E27FC236}">
                <a16:creationId xmlns:a16="http://schemas.microsoft.com/office/drawing/2014/main" id="{42020144-2692-E747-88CD-CE940510F874}"/>
              </a:ext>
            </a:extLst>
          </p:cNvPr>
          <p:cNvSpPr/>
          <p:nvPr/>
        </p:nvSpPr>
        <p:spPr>
          <a:xfrm>
            <a:off x="3846144" y="2975788"/>
            <a:ext cx="381044" cy="192271"/>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ED3027A9-4D3C-0E45-A334-44753559F448}"/>
              </a:ext>
            </a:extLst>
          </p:cNvPr>
          <p:cNvGraphicFramePr>
            <a:graphicFrameLocks noGrp="1"/>
          </p:cNvGraphicFramePr>
          <p:nvPr>
            <p:extLst>
              <p:ext uri="{D42A27DB-BD31-4B8C-83A1-F6EECF244321}">
                <p14:modId xmlns:p14="http://schemas.microsoft.com/office/powerpoint/2010/main" val="3954983596"/>
              </p:ext>
            </p:extLst>
          </p:nvPr>
        </p:nvGraphicFramePr>
        <p:xfrm>
          <a:off x="4285498" y="2286740"/>
          <a:ext cx="4469221" cy="1704880"/>
        </p:xfrm>
        <a:graphic>
          <a:graphicData uri="http://schemas.openxmlformats.org/drawingml/2006/table">
            <a:tbl>
              <a:tblPr firstRow="1" bandRow="1">
                <a:tableStyleId>{21E4AEA4-8DFA-4A89-87EB-49C32662AFE0}</a:tableStyleId>
              </a:tblPr>
              <a:tblGrid>
                <a:gridCol w="1562986">
                  <a:extLst>
                    <a:ext uri="{9D8B030D-6E8A-4147-A177-3AD203B41FA5}">
                      <a16:colId xmlns:a16="http://schemas.microsoft.com/office/drawing/2014/main" val="825449862"/>
                    </a:ext>
                  </a:extLst>
                </a:gridCol>
                <a:gridCol w="914400">
                  <a:extLst>
                    <a:ext uri="{9D8B030D-6E8A-4147-A177-3AD203B41FA5}">
                      <a16:colId xmlns:a16="http://schemas.microsoft.com/office/drawing/2014/main" val="400489453"/>
                    </a:ext>
                  </a:extLst>
                </a:gridCol>
                <a:gridCol w="776177">
                  <a:extLst>
                    <a:ext uri="{9D8B030D-6E8A-4147-A177-3AD203B41FA5}">
                      <a16:colId xmlns:a16="http://schemas.microsoft.com/office/drawing/2014/main" val="2753584476"/>
                    </a:ext>
                  </a:extLst>
                </a:gridCol>
                <a:gridCol w="659218">
                  <a:extLst>
                    <a:ext uri="{9D8B030D-6E8A-4147-A177-3AD203B41FA5}">
                      <a16:colId xmlns:a16="http://schemas.microsoft.com/office/drawing/2014/main" val="589627143"/>
                    </a:ext>
                  </a:extLst>
                </a:gridCol>
                <a:gridCol w="556440">
                  <a:extLst>
                    <a:ext uri="{9D8B030D-6E8A-4147-A177-3AD203B41FA5}">
                      <a16:colId xmlns:a16="http://schemas.microsoft.com/office/drawing/2014/main" val="281118420"/>
                    </a:ext>
                  </a:extLst>
                </a:gridCol>
              </a:tblGrid>
              <a:tr h="261728">
                <a:tc>
                  <a:txBody>
                    <a:bodyPr/>
                    <a:lstStyle/>
                    <a:p>
                      <a:endParaRPr lang="en-US" sz="1000" dirty="0"/>
                    </a:p>
                  </a:txBody>
                  <a:tcPr/>
                </a:tc>
                <a:tc>
                  <a:txBody>
                    <a:bodyPr/>
                    <a:lstStyle/>
                    <a:p>
                      <a:pPr rtl="0"/>
                      <a:r>
                        <a:rPr lang="pt-BR" sz="1000"/>
                        <a:t>Milhar</a:t>
                      </a:r>
                    </a:p>
                  </a:txBody>
                  <a:tcPr/>
                </a:tc>
                <a:tc>
                  <a:txBody>
                    <a:bodyPr/>
                    <a:lstStyle/>
                    <a:p>
                      <a:pPr rtl="0"/>
                      <a:r>
                        <a:rPr lang="pt-BR" sz="1000"/>
                        <a:t>Centena</a:t>
                      </a:r>
                    </a:p>
                  </a:txBody>
                  <a:tcPr/>
                </a:tc>
                <a:tc>
                  <a:txBody>
                    <a:bodyPr/>
                    <a:lstStyle/>
                    <a:p>
                      <a:pPr rtl="0"/>
                      <a:r>
                        <a:rPr lang="pt-BR" sz="1000"/>
                        <a:t>Dezena</a:t>
                      </a:r>
                    </a:p>
                  </a:txBody>
                  <a:tcPr/>
                </a:tc>
                <a:tc>
                  <a:txBody>
                    <a:bodyPr/>
                    <a:lstStyle/>
                    <a:p>
                      <a:pPr rtl="0"/>
                      <a:r>
                        <a:rPr lang="pt-BR" sz="1000"/>
                        <a:t>Unidade</a:t>
                      </a:r>
                    </a:p>
                  </a:txBody>
                  <a:tcPr/>
                </a:tc>
                <a:extLst>
                  <a:ext uri="{0D108BD9-81ED-4DB2-BD59-A6C34878D82A}">
                    <a16:rowId xmlns:a16="http://schemas.microsoft.com/office/drawing/2014/main" val="1562842908"/>
                  </a:ext>
                </a:extLst>
              </a:tr>
              <a:tr h="261728">
                <a:tc>
                  <a:txBody>
                    <a:bodyPr/>
                    <a:lstStyle/>
                    <a:p>
                      <a:pPr rtl="0"/>
                      <a:r>
                        <a:rPr lang="pt-BR" sz="1000"/>
                        <a:t>Valor Posicional</a:t>
                      </a:r>
                    </a:p>
                  </a:txBody>
                  <a:tcPr/>
                </a:tc>
                <a:tc>
                  <a:txBody>
                    <a:bodyPr/>
                    <a:lstStyle/>
                    <a:p>
                      <a:pPr rtl="0"/>
                      <a:r>
                        <a:rPr lang="pt-BR" sz="1000"/>
                        <a:t>1000</a:t>
                      </a:r>
                    </a:p>
                  </a:txBody>
                  <a:tcPr/>
                </a:tc>
                <a:tc>
                  <a:txBody>
                    <a:bodyPr/>
                    <a:lstStyle/>
                    <a:p>
                      <a:pPr rtl="0"/>
                      <a:r>
                        <a:rPr lang="pt-BR" sz="1000"/>
                        <a:t>100</a:t>
                      </a:r>
                    </a:p>
                  </a:txBody>
                  <a:tcPr/>
                </a:tc>
                <a:tc>
                  <a:txBody>
                    <a:bodyPr/>
                    <a:lstStyle/>
                    <a:p>
                      <a:pPr rtl="0"/>
                      <a:r>
                        <a:rPr lang="pt-BR" sz="1000"/>
                        <a:t>10</a:t>
                      </a:r>
                    </a:p>
                  </a:txBody>
                  <a:tcPr/>
                </a:tc>
                <a:tc>
                  <a:txBody>
                    <a:bodyPr/>
                    <a:lstStyle/>
                    <a:p>
                      <a:pPr rtl="0"/>
                      <a:r>
                        <a:rPr lang="pt-BR" sz="1000"/>
                        <a:t>1</a:t>
                      </a:r>
                    </a:p>
                  </a:txBody>
                  <a:tcPr/>
                </a:tc>
                <a:extLst>
                  <a:ext uri="{0D108BD9-81ED-4DB2-BD59-A6C34878D82A}">
                    <a16:rowId xmlns:a16="http://schemas.microsoft.com/office/drawing/2014/main" val="1689960212"/>
                  </a:ext>
                </a:extLst>
              </a:tr>
              <a:tr h="261728">
                <a:tc>
                  <a:txBody>
                    <a:bodyPr/>
                    <a:lstStyle/>
                    <a:p>
                      <a:pPr rtl="0"/>
                      <a:r>
                        <a:rPr lang="pt-BR" sz="1000"/>
                        <a:t>Número decimal (1234)</a:t>
                      </a:r>
                    </a:p>
                  </a:txBody>
                  <a:tcPr/>
                </a:tc>
                <a:tc>
                  <a:txBody>
                    <a:bodyPr/>
                    <a:lstStyle/>
                    <a:p>
                      <a:pPr rtl="0"/>
                      <a:r>
                        <a:rPr lang="pt-BR" sz="1000"/>
                        <a:t>1</a:t>
                      </a:r>
                    </a:p>
                  </a:txBody>
                  <a:tcPr/>
                </a:tc>
                <a:tc>
                  <a:txBody>
                    <a:bodyPr/>
                    <a:lstStyle/>
                    <a:p>
                      <a:pPr rtl="0"/>
                      <a:r>
                        <a:rPr lang="pt-BR" sz="1000"/>
                        <a:t>2</a:t>
                      </a:r>
                    </a:p>
                  </a:txBody>
                  <a:tcPr/>
                </a:tc>
                <a:tc>
                  <a:txBody>
                    <a:bodyPr/>
                    <a:lstStyle/>
                    <a:p>
                      <a:pPr rtl="0"/>
                      <a:r>
                        <a:rPr lang="pt-BR" sz="1000"/>
                        <a:t>3</a:t>
                      </a:r>
                    </a:p>
                  </a:txBody>
                  <a:tcPr/>
                </a:tc>
                <a:tc>
                  <a:txBody>
                    <a:bodyPr/>
                    <a:lstStyle/>
                    <a:p>
                      <a:pPr rtl="0"/>
                      <a:r>
                        <a:rPr lang="pt-BR" sz="1000"/>
                        <a:t>4</a:t>
                      </a:r>
                    </a:p>
                  </a:txBody>
                  <a:tcPr/>
                </a:tc>
                <a:extLst>
                  <a:ext uri="{0D108BD9-81ED-4DB2-BD59-A6C34878D82A}">
                    <a16:rowId xmlns:a16="http://schemas.microsoft.com/office/drawing/2014/main" val="1018247003"/>
                  </a:ext>
                </a:extLst>
              </a:tr>
              <a:tr h="261728">
                <a:tc>
                  <a:txBody>
                    <a:bodyPr/>
                    <a:lstStyle/>
                    <a:p>
                      <a:pPr rtl="0"/>
                      <a:r>
                        <a:rPr lang="pt-BR" sz="1000"/>
                        <a:t>Cálculo</a:t>
                      </a:r>
                    </a:p>
                  </a:txBody>
                  <a:tcPr/>
                </a:tc>
                <a:tc>
                  <a:txBody>
                    <a:bodyPr/>
                    <a:lstStyle/>
                    <a:p>
                      <a:pPr rtl="0"/>
                      <a:r>
                        <a:rPr lang="pt-BR" sz="1000"/>
                        <a:t>1 x 1000</a:t>
                      </a:r>
                    </a:p>
                  </a:txBody>
                  <a:tcPr/>
                </a:tc>
                <a:tc>
                  <a:txBody>
                    <a:bodyPr/>
                    <a:lstStyle/>
                    <a:p>
                      <a:pPr rtl="0"/>
                      <a:r>
                        <a:rPr lang="pt-BR" sz="1000"/>
                        <a:t>2 x 100</a:t>
                      </a:r>
                    </a:p>
                  </a:txBody>
                  <a:tcPr/>
                </a:tc>
                <a:tc>
                  <a:txBody>
                    <a:bodyPr/>
                    <a:lstStyle/>
                    <a:p>
                      <a:pPr rtl="0"/>
                      <a:r>
                        <a:rPr lang="pt-BR" sz="1000"/>
                        <a:t>3 x 10</a:t>
                      </a:r>
                    </a:p>
                  </a:txBody>
                  <a:tcPr/>
                </a:tc>
                <a:tc>
                  <a:txBody>
                    <a:bodyPr/>
                    <a:lstStyle/>
                    <a:p>
                      <a:pPr rtl="0"/>
                      <a:r>
                        <a:rPr lang="pt-BR" sz="1000"/>
                        <a:t>4 x 1</a:t>
                      </a:r>
                    </a:p>
                  </a:txBody>
                  <a:tcPr/>
                </a:tc>
                <a:extLst>
                  <a:ext uri="{0D108BD9-81ED-4DB2-BD59-A6C34878D82A}">
                    <a16:rowId xmlns:a16="http://schemas.microsoft.com/office/drawing/2014/main" val="4206830395"/>
                  </a:ext>
                </a:extLst>
              </a:tr>
              <a:tr h="261728">
                <a:tc>
                  <a:txBody>
                    <a:bodyPr/>
                    <a:lstStyle/>
                    <a:p>
                      <a:pPr rtl="0"/>
                      <a:r>
                        <a:rPr lang="pt-BR" sz="1000"/>
                        <a:t>Adicionar…</a:t>
                      </a:r>
                    </a:p>
                  </a:txBody>
                  <a:tcPr/>
                </a:tc>
                <a:tc>
                  <a:txBody>
                    <a:bodyPr/>
                    <a:lstStyle/>
                    <a:p>
                      <a:pPr rtl="0"/>
                      <a:r>
                        <a:rPr lang="pt-BR" sz="1000"/>
                        <a:t>1000</a:t>
                      </a:r>
                    </a:p>
                  </a:txBody>
                  <a:tcPr/>
                </a:tc>
                <a:tc>
                  <a:txBody>
                    <a:bodyPr/>
                    <a:lstStyle/>
                    <a:p>
                      <a:pPr rtl="0"/>
                      <a:r>
                        <a:rPr lang="pt-BR" sz="1000"/>
                        <a:t>+ 200</a:t>
                      </a:r>
                    </a:p>
                  </a:txBody>
                  <a:tcPr/>
                </a:tc>
                <a:tc>
                  <a:txBody>
                    <a:bodyPr/>
                    <a:lstStyle/>
                    <a:p>
                      <a:pPr rtl="0"/>
                      <a:r>
                        <a:rPr lang="pt-BR" sz="1000"/>
                        <a:t>+ 30</a:t>
                      </a:r>
                    </a:p>
                  </a:txBody>
                  <a:tcPr/>
                </a:tc>
                <a:tc>
                  <a:txBody>
                    <a:bodyPr/>
                    <a:lstStyle/>
                    <a:p>
                      <a:pPr rtl="0"/>
                      <a:r>
                        <a:rPr lang="pt-BR" sz="1000"/>
                        <a:t>+ 4</a:t>
                      </a:r>
                    </a:p>
                  </a:txBody>
                  <a:tcPr/>
                </a:tc>
                <a:extLst>
                  <a:ext uri="{0D108BD9-81ED-4DB2-BD59-A6C34878D82A}">
                    <a16:rowId xmlns:a16="http://schemas.microsoft.com/office/drawing/2014/main" val="2822523445"/>
                  </a:ext>
                </a:extLst>
              </a:tr>
              <a:tr h="261728">
                <a:tc>
                  <a:txBody>
                    <a:bodyPr/>
                    <a:lstStyle/>
                    <a:p>
                      <a:pPr rtl="0"/>
                      <a:r>
                        <a:rPr lang="pt-BR" sz="1000"/>
                        <a:t>Resultado</a:t>
                      </a:r>
                    </a:p>
                  </a:txBody>
                  <a:tcPr/>
                </a:tc>
                <a:tc gridSpan="4">
                  <a:txBody>
                    <a:bodyPr/>
                    <a:lstStyle/>
                    <a:p>
                      <a:pPr algn="ctr" rtl="0"/>
                      <a:r>
                        <a:rPr lang="pt-BR" sz="1000" b="1"/>
                        <a:t>1.234</a:t>
                      </a:r>
                    </a:p>
                  </a:txBody>
                  <a:tcPr/>
                </a:tc>
                <a:tc hMerge="1">
                  <a:txBody>
                    <a:bodyPr/>
                    <a:lstStyle/>
                    <a:p>
                      <a:endParaRPr lang="en-US" sz="1000"/>
                    </a:p>
                  </a:txBody>
                  <a:tcPr/>
                </a:tc>
                <a:tc hMerge="1">
                  <a:txBody>
                    <a:bodyPr/>
                    <a:lstStyle/>
                    <a:p>
                      <a:endParaRPr lang="en-US" sz="1000"/>
                    </a:p>
                  </a:txBody>
                  <a:tcPr/>
                </a:tc>
                <a:tc hMerge="1">
                  <a:txBody>
                    <a:bodyPr/>
                    <a:lstStyle/>
                    <a:p>
                      <a:endParaRPr lang="en-US" sz="1000" dirty="0"/>
                    </a:p>
                  </a:txBody>
                  <a:tcPr/>
                </a:tc>
                <a:extLst>
                  <a:ext uri="{0D108BD9-81ED-4DB2-BD59-A6C34878D82A}">
                    <a16:rowId xmlns:a16="http://schemas.microsoft.com/office/drawing/2014/main" val="419144150"/>
                  </a:ext>
                </a:extLst>
              </a:tr>
            </a:tbl>
          </a:graphicData>
        </a:graphic>
      </p:graphicFrame>
    </p:spTree>
    <p:extLst>
      <p:ext uri="{BB962C8B-B14F-4D97-AF65-F5344CB8AC3E}">
        <p14:creationId xmlns:p14="http://schemas.microsoft.com/office/powerpoint/2010/main" val="196362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2400"/>
              <a:t>Notação de posiçãobinária do sistema de números binários (cont.) </a:t>
            </a:r>
          </a:p>
        </p:txBody>
      </p:sp>
      <p:sp>
        <p:nvSpPr>
          <p:cNvPr id="4" name="Content Placeholder 3">
            <a:extLst>
              <a:ext uri="{FF2B5EF4-FFF2-40B4-BE49-F238E27FC236}">
                <a16:creationId xmlns:a16="http://schemas.microsoft.com/office/drawing/2014/main" id="{71329901-EBC7-0747-A1C2-F937CA26E4B5}"/>
              </a:ext>
            </a:extLst>
          </p:cNvPr>
          <p:cNvSpPr>
            <a:spLocks noGrp="1"/>
          </p:cNvSpPr>
          <p:nvPr>
            <p:ph idx="1"/>
          </p:nvPr>
        </p:nvSpPr>
        <p:spPr>
          <a:xfrm>
            <a:off x="474662" y="839972"/>
            <a:ext cx="8280057" cy="334762"/>
          </a:xfrm>
        </p:spPr>
        <p:txBody>
          <a:bodyPr/>
          <a:lstStyle/>
          <a:p>
            <a:pPr marL="0" indent="0" algn="l" rtl="0"/>
            <a:r>
              <a:rPr lang="pt-BR" sz="1600">
                <a:solidFill>
                  <a:srgbClr val="000000"/>
                </a:solidFill>
              </a:rPr>
              <a:t>O sistema de notação posicional binária opera como mostrado nas tabelas abaixo.</a:t>
            </a:r>
          </a:p>
        </p:txBody>
      </p:sp>
      <p:graphicFrame>
        <p:nvGraphicFramePr>
          <p:cNvPr id="5" name="Table 4">
            <a:extLst>
              <a:ext uri="{FF2B5EF4-FFF2-40B4-BE49-F238E27FC236}">
                <a16:creationId xmlns:a16="http://schemas.microsoft.com/office/drawing/2014/main" id="{559CEC86-4057-DA4B-98C8-93666AE4B10C}"/>
              </a:ext>
            </a:extLst>
          </p:cNvPr>
          <p:cNvGraphicFramePr>
            <a:graphicFrameLocks noGrp="1"/>
          </p:cNvGraphicFramePr>
          <p:nvPr>
            <p:extLst>
              <p:ext uri="{D42A27DB-BD31-4B8C-83A1-F6EECF244321}">
                <p14:modId xmlns:p14="http://schemas.microsoft.com/office/powerpoint/2010/main" val="1339030563"/>
              </p:ext>
            </p:extLst>
          </p:nvPr>
        </p:nvGraphicFramePr>
        <p:xfrm>
          <a:off x="389281" y="1265932"/>
          <a:ext cx="5733792" cy="1214620"/>
        </p:xfrm>
        <a:graphic>
          <a:graphicData uri="http://schemas.openxmlformats.org/drawingml/2006/table">
            <a:tbl>
              <a:tblPr firstRow="1" bandRow="1">
                <a:tableStyleId>{5C22544A-7EE6-4342-B048-85BDC9FD1C3A}</a:tableStyleId>
              </a:tblPr>
              <a:tblGrid>
                <a:gridCol w="1980498">
                  <a:extLst>
                    <a:ext uri="{9D8B030D-6E8A-4147-A177-3AD203B41FA5}">
                      <a16:colId xmlns:a16="http://schemas.microsoft.com/office/drawing/2014/main" val="3837822917"/>
                    </a:ext>
                  </a:extLst>
                </a:gridCol>
                <a:gridCol w="499730">
                  <a:extLst>
                    <a:ext uri="{9D8B030D-6E8A-4147-A177-3AD203B41FA5}">
                      <a16:colId xmlns:a16="http://schemas.microsoft.com/office/drawing/2014/main" val="2257126818"/>
                    </a:ext>
                  </a:extLst>
                </a:gridCol>
                <a:gridCol w="457200">
                  <a:extLst>
                    <a:ext uri="{9D8B030D-6E8A-4147-A177-3AD203B41FA5}">
                      <a16:colId xmlns:a16="http://schemas.microsoft.com/office/drawing/2014/main" val="733968975"/>
                    </a:ext>
                  </a:extLst>
                </a:gridCol>
                <a:gridCol w="435935">
                  <a:extLst>
                    <a:ext uri="{9D8B030D-6E8A-4147-A177-3AD203B41FA5}">
                      <a16:colId xmlns:a16="http://schemas.microsoft.com/office/drawing/2014/main" val="2184405947"/>
                    </a:ext>
                  </a:extLst>
                </a:gridCol>
                <a:gridCol w="435935">
                  <a:extLst>
                    <a:ext uri="{9D8B030D-6E8A-4147-A177-3AD203B41FA5}">
                      <a16:colId xmlns:a16="http://schemas.microsoft.com/office/drawing/2014/main" val="2878814134"/>
                    </a:ext>
                  </a:extLst>
                </a:gridCol>
                <a:gridCol w="499730">
                  <a:extLst>
                    <a:ext uri="{9D8B030D-6E8A-4147-A177-3AD203B41FA5}">
                      <a16:colId xmlns:a16="http://schemas.microsoft.com/office/drawing/2014/main" val="326059745"/>
                    </a:ext>
                  </a:extLst>
                </a:gridCol>
                <a:gridCol w="457200">
                  <a:extLst>
                    <a:ext uri="{9D8B030D-6E8A-4147-A177-3AD203B41FA5}">
                      <a16:colId xmlns:a16="http://schemas.microsoft.com/office/drawing/2014/main" val="1053828557"/>
                    </a:ext>
                  </a:extLst>
                </a:gridCol>
                <a:gridCol w="478466">
                  <a:extLst>
                    <a:ext uri="{9D8B030D-6E8A-4147-A177-3AD203B41FA5}">
                      <a16:colId xmlns:a16="http://schemas.microsoft.com/office/drawing/2014/main" val="830387269"/>
                    </a:ext>
                  </a:extLst>
                </a:gridCol>
                <a:gridCol w="489098">
                  <a:extLst>
                    <a:ext uri="{9D8B030D-6E8A-4147-A177-3AD203B41FA5}">
                      <a16:colId xmlns:a16="http://schemas.microsoft.com/office/drawing/2014/main" val="3034883102"/>
                    </a:ext>
                  </a:extLst>
                </a:gridCol>
              </a:tblGrid>
              <a:tr h="303655">
                <a:tc>
                  <a:txBody>
                    <a:bodyPr/>
                    <a:lstStyle/>
                    <a:p>
                      <a:pPr rtl="0"/>
                      <a:r>
                        <a:rPr lang="pt-BR" sz="1000"/>
                        <a:t>Raiz</a:t>
                      </a:r>
                    </a:p>
                  </a:txBody>
                  <a:tcPr/>
                </a:tc>
                <a:tc>
                  <a:txBody>
                    <a:bodyPr/>
                    <a:lstStyle/>
                    <a:p>
                      <a:pPr rtl="0"/>
                      <a:r>
                        <a:rPr lang="pt-BR" sz="1000"/>
                        <a:t>2</a:t>
                      </a:r>
                    </a:p>
                  </a:txBody>
                  <a:tcPr/>
                </a:tc>
                <a:tc>
                  <a:txBody>
                    <a:bodyPr/>
                    <a:lstStyle/>
                    <a:p>
                      <a:pPr rtl="0"/>
                      <a:r>
                        <a:rPr lang="pt-BR" sz="1000"/>
                        <a:t>2</a:t>
                      </a:r>
                    </a:p>
                  </a:txBody>
                  <a:tcPr/>
                </a:tc>
                <a:tc>
                  <a:txBody>
                    <a:bodyPr/>
                    <a:lstStyle/>
                    <a:p>
                      <a:pPr rtl="0"/>
                      <a:r>
                        <a:rPr lang="pt-BR" sz="1000"/>
                        <a:t>2</a:t>
                      </a:r>
                    </a:p>
                  </a:txBody>
                  <a:tcPr/>
                </a:tc>
                <a:tc>
                  <a:txBody>
                    <a:bodyPr/>
                    <a:lstStyle/>
                    <a:p>
                      <a:pPr rtl="0"/>
                      <a:r>
                        <a:rPr lang="pt-BR" sz="1000"/>
                        <a:t>2</a:t>
                      </a:r>
                    </a:p>
                  </a:txBody>
                  <a:tcPr/>
                </a:tc>
                <a:tc>
                  <a:txBody>
                    <a:bodyPr/>
                    <a:lstStyle/>
                    <a:p>
                      <a:pPr rtl="0"/>
                      <a:r>
                        <a:rPr lang="pt-BR" sz="1000"/>
                        <a:t>2</a:t>
                      </a:r>
                    </a:p>
                  </a:txBody>
                  <a:tcPr/>
                </a:tc>
                <a:tc>
                  <a:txBody>
                    <a:bodyPr/>
                    <a:lstStyle/>
                    <a:p>
                      <a:pPr rtl="0"/>
                      <a:r>
                        <a:rPr lang="pt-BR" sz="1000"/>
                        <a:t>2</a:t>
                      </a:r>
                    </a:p>
                  </a:txBody>
                  <a:tcPr/>
                </a:tc>
                <a:tc>
                  <a:txBody>
                    <a:bodyPr/>
                    <a:lstStyle/>
                    <a:p>
                      <a:pPr rtl="0"/>
                      <a:r>
                        <a:rPr lang="pt-BR" sz="1000"/>
                        <a:t>2</a:t>
                      </a:r>
                    </a:p>
                  </a:txBody>
                  <a:tcPr/>
                </a:tc>
                <a:tc>
                  <a:txBody>
                    <a:bodyPr/>
                    <a:lstStyle/>
                    <a:p>
                      <a:pPr rtl="0"/>
                      <a:r>
                        <a:rPr lang="pt-BR" sz="1000"/>
                        <a:t>2</a:t>
                      </a:r>
                    </a:p>
                  </a:txBody>
                  <a:tcPr/>
                </a:tc>
                <a:extLst>
                  <a:ext uri="{0D108BD9-81ED-4DB2-BD59-A6C34878D82A}">
                    <a16:rowId xmlns:a16="http://schemas.microsoft.com/office/drawing/2014/main" val="1798718847"/>
                  </a:ext>
                </a:extLst>
              </a:tr>
              <a:tr h="303655">
                <a:tc>
                  <a:txBody>
                    <a:bodyPr/>
                    <a:lstStyle/>
                    <a:p>
                      <a:pPr rtl="0"/>
                      <a:r>
                        <a:rPr lang="pt-BR" sz="1000"/>
                        <a:t>Posição no número</a:t>
                      </a:r>
                    </a:p>
                  </a:txBody>
                  <a:tcPr/>
                </a:tc>
                <a:tc>
                  <a:txBody>
                    <a:bodyPr/>
                    <a:lstStyle/>
                    <a:p>
                      <a:pPr rtl="0"/>
                      <a:r>
                        <a:rPr lang="pt-BR" sz="1000"/>
                        <a:t>7</a:t>
                      </a:r>
                    </a:p>
                  </a:txBody>
                  <a:tcPr/>
                </a:tc>
                <a:tc>
                  <a:txBody>
                    <a:bodyPr/>
                    <a:lstStyle/>
                    <a:p>
                      <a:pPr rtl="0"/>
                      <a:r>
                        <a:rPr lang="pt-BR" sz="1000"/>
                        <a:t>6</a:t>
                      </a:r>
                    </a:p>
                  </a:txBody>
                  <a:tcPr/>
                </a:tc>
                <a:tc>
                  <a:txBody>
                    <a:bodyPr/>
                    <a:lstStyle/>
                    <a:p>
                      <a:pPr rtl="0"/>
                      <a:r>
                        <a:rPr lang="pt-BR" sz="1000"/>
                        <a:t>5</a:t>
                      </a:r>
                    </a:p>
                  </a:txBody>
                  <a:tcPr/>
                </a:tc>
                <a:tc>
                  <a:txBody>
                    <a:bodyPr/>
                    <a:lstStyle/>
                    <a:p>
                      <a:pPr rtl="0"/>
                      <a:r>
                        <a:rPr lang="pt-BR" sz="1000"/>
                        <a:t>4</a:t>
                      </a:r>
                    </a:p>
                  </a:txBody>
                  <a:tcPr/>
                </a:tc>
                <a:tc>
                  <a:txBody>
                    <a:bodyPr/>
                    <a:lstStyle/>
                    <a:p>
                      <a:pPr rtl="0"/>
                      <a:r>
                        <a:rPr lang="pt-BR" sz="1000"/>
                        <a:t>3</a:t>
                      </a:r>
                    </a:p>
                  </a:txBody>
                  <a:tcPr/>
                </a:tc>
                <a:tc>
                  <a:txBody>
                    <a:bodyPr/>
                    <a:lstStyle/>
                    <a:p>
                      <a:pPr rtl="0"/>
                      <a:r>
                        <a:rPr lang="pt-BR" sz="1000"/>
                        <a:t>2</a:t>
                      </a:r>
                    </a:p>
                  </a:txBody>
                  <a:tcPr/>
                </a:tc>
                <a:tc>
                  <a:txBody>
                    <a:bodyPr/>
                    <a:lstStyle/>
                    <a:p>
                      <a:pPr rtl="0"/>
                      <a:r>
                        <a:rPr lang="pt-BR" sz="1000"/>
                        <a:t>1</a:t>
                      </a:r>
                    </a:p>
                  </a:txBody>
                  <a:tcPr/>
                </a:tc>
                <a:tc>
                  <a:txBody>
                    <a:bodyPr/>
                    <a:lstStyle/>
                    <a:p>
                      <a:pPr rtl="0"/>
                      <a:r>
                        <a:rPr lang="pt-BR" sz="1000"/>
                        <a:t>0</a:t>
                      </a:r>
                    </a:p>
                  </a:txBody>
                  <a:tcPr/>
                </a:tc>
                <a:extLst>
                  <a:ext uri="{0D108BD9-81ED-4DB2-BD59-A6C34878D82A}">
                    <a16:rowId xmlns:a16="http://schemas.microsoft.com/office/drawing/2014/main" val="3580694335"/>
                  </a:ext>
                </a:extLst>
              </a:tr>
              <a:tr h="303655">
                <a:tc>
                  <a:txBody>
                    <a:bodyPr/>
                    <a:lstStyle/>
                    <a:p>
                      <a:pPr rtl="0"/>
                      <a:r>
                        <a:rPr lang="pt-BR" sz="1000"/>
                        <a:t>Cáculo</a:t>
                      </a:r>
                    </a:p>
                  </a:txBody>
                  <a:tcPr/>
                </a:tc>
                <a:tc>
                  <a:txBody>
                    <a:bodyPr/>
                    <a:lstStyle/>
                    <a:p>
                      <a:pPr rtl="0"/>
                      <a:r>
                        <a:rPr lang="pt-BR" sz="1000"/>
                        <a:t>(2</a:t>
                      </a:r>
                      <a:r>
                        <a:rPr lang="pt-BR" sz="1000" baseline="30000"/>
                        <a:t>7</a:t>
                      </a:r>
                      <a:r>
                        <a:rPr lang="pt-BR" sz="1000"/>
                        <a:t>)</a:t>
                      </a:r>
                    </a:p>
                  </a:txBody>
                  <a:tcPr/>
                </a:tc>
                <a:tc>
                  <a:txBody>
                    <a:bodyPr/>
                    <a:lstStyle/>
                    <a:p>
                      <a:pPr rtl="0"/>
                      <a:r>
                        <a:rPr lang="pt-BR" sz="1000"/>
                        <a:t>(2</a:t>
                      </a:r>
                      <a:r>
                        <a:rPr lang="pt-BR" sz="1000" baseline="30000"/>
                        <a:t>6</a:t>
                      </a:r>
                      <a:r>
                        <a:rPr lang="pt-BR" sz="1000"/>
                        <a:t>)</a:t>
                      </a:r>
                    </a:p>
                  </a:txBody>
                  <a:tcPr/>
                </a:tc>
                <a:tc>
                  <a:txBody>
                    <a:bodyPr/>
                    <a:lstStyle/>
                    <a:p>
                      <a:pPr rtl="0"/>
                      <a:r>
                        <a:rPr lang="pt-BR" sz="1000"/>
                        <a:t>(2</a:t>
                      </a:r>
                      <a:r>
                        <a:rPr lang="pt-BR" sz="1000" baseline="30000"/>
                        <a:t>5</a:t>
                      </a:r>
                      <a:r>
                        <a:rPr lang="pt-BR" sz="1000"/>
                        <a:t>)</a:t>
                      </a:r>
                    </a:p>
                  </a:txBody>
                  <a:tcPr/>
                </a:tc>
                <a:tc>
                  <a:txBody>
                    <a:bodyPr/>
                    <a:lstStyle/>
                    <a:p>
                      <a:pPr rtl="0"/>
                      <a:r>
                        <a:rPr lang="pt-BR" sz="1000"/>
                        <a:t>(2</a:t>
                      </a:r>
                      <a:r>
                        <a:rPr lang="pt-BR" sz="1000" baseline="30000"/>
                        <a:t>4</a:t>
                      </a:r>
                      <a:r>
                        <a:rPr lang="pt-BR" sz="1000"/>
                        <a:t>)</a:t>
                      </a:r>
                    </a:p>
                  </a:txBody>
                  <a:tcPr/>
                </a:tc>
                <a:tc>
                  <a:txBody>
                    <a:bodyPr/>
                    <a:lstStyle/>
                    <a:p>
                      <a:pPr rtl="0"/>
                      <a:r>
                        <a:rPr lang="pt-BR" sz="1000"/>
                        <a:t>(2</a:t>
                      </a:r>
                      <a:r>
                        <a:rPr lang="pt-BR" sz="1000" baseline="30000"/>
                        <a:t>3</a:t>
                      </a:r>
                      <a:r>
                        <a:rPr lang="pt-BR" sz="1000"/>
                        <a:t>)</a:t>
                      </a:r>
                    </a:p>
                  </a:txBody>
                  <a:tcPr/>
                </a:tc>
                <a:tc>
                  <a:txBody>
                    <a:bodyPr/>
                    <a:lstStyle/>
                    <a:p>
                      <a:pPr rtl="0"/>
                      <a:r>
                        <a:rPr lang="pt-BR" sz="1000"/>
                        <a:t>(2</a:t>
                      </a:r>
                      <a:r>
                        <a:rPr lang="pt-BR" sz="1000" baseline="30000"/>
                        <a:t>2</a:t>
                      </a:r>
                      <a:r>
                        <a:rPr lang="pt-BR" sz="1000"/>
                        <a:t>)</a:t>
                      </a:r>
                    </a:p>
                  </a:txBody>
                  <a:tcPr/>
                </a:tc>
                <a:tc>
                  <a:txBody>
                    <a:bodyPr/>
                    <a:lstStyle/>
                    <a:p>
                      <a:pPr rtl="0"/>
                      <a:r>
                        <a:rPr lang="pt-BR" sz="1000"/>
                        <a:t>(2</a:t>
                      </a:r>
                      <a:r>
                        <a:rPr lang="pt-BR" sz="1000" baseline="30000"/>
                        <a:t>1</a:t>
                      </a:r>
                      <a:r>
                        <a:rPr lang="pt-BR" sz="1000"/>
                        <a:t>)</a:t>
                      </a:r>
                    </a:p>
                  </a:txBody>
                  <a:tcPr/>
                </a:tc>
                <a:tc>
                  <a:txBody>
                    <a:bodyPr/>
                    <a:lstStyle/>
                    <a:p>
                      <a:pPr rtl="0"/>
                      <a:r>
                        <a:rPr lang="pt-BR" sz="1000"/>
                        <a:t>(2</a:t>
                      </a:r>
                      <a:r>
                        <a:rPr lang="pt-BR" sz="1000" baseline="30000"/>
                        <a:t>0</a:t>
                      </a:r>
                      <a:r>
                        <a:rPr lang="pt-BR" sz="1000"/>
                        <a:t>)</a:t>
                      </a:r>
                    </a:p>
                  </a:txBody>
                  <a:tcPr/>
                </a:tc>
                <a:extLst>
                  <a:ext uri="{0D108BD9-81ED-4DB2-BD59-A6C34878D82A}">
                    <a16:rowId xmlns:a16="http://schemas.microsoft.com/office/drawing/2014/main" val="3026254151"/>
                  </a:ext>
                </a:extLst>
              </a:tr>
              <a:tr h="303655">
                <a:tc>
                  <a:txBody>
                    <a:bodyPr/>
                    <a:lstStyle/>
                    <a:p>
                      <a:pPr rtl="0"/>
                      <a:r>
                        <a:rPr lang="pt-BR" sz="1000"/>
                        <a:t>Valor da posição</a:t>
                      </a:r>
                    </a:p>
                  </a:txBody>
                  <a:tcPr/>
                </a:tc>
                <a:tc>
                  <a:txBody>
                    <a:bodyPr/>
                    <a:lstStyle/>
                    <a:p>
                      <a:pPr rtl="0"/>
                      <a:r>
                        <a:rPr lang="pt-BR" sz="1000"/>
                        <a:t>128</a:t>
                      </a:r>
                    </a:p>
                  </a:txBody>
                  <a:tcPr/>
                </a:tc>
                <a:tc>
                  <a:txBody>
                    <a:bodyPr/>
                    <a:lstStyle/>
                    <a:p>
                      <a:pPr rtl="0"/>
                      <a:r>
                        <a:rPr lang="pt-BR" sz="1000"/>
                        <a:t>64</a:t>
                      </a:r>
                    </a:p>
                  </a:txBody>
                  <a:tcPr/>
                </a:tc>
                <a:tc>
                  <a:txBody>
                    <a:bodyPr/>
                    <a:lstStyle/>
                    <a:p>
                      <a:pPr rtl="0"/>
                      <a:r>
                        <a:rPr lang="pt-BR" sz="1000"/>
                        <a:t>32</a:t>
                      </a:r>
                    </a:p>
                  </a:txBody>
                  <a:tcPr/>
                </a:tc>
                <a:tc>
                  <a:txBody>
                    <a:bodyPr/>
                    <a:lstStyle/>
                    <a:p>
                      <a:pPr rtl="0"/>
                      <a:r>
                        <a:rPr lang="pt-BR" sz="1000"/>
                        <a:t>16</a:t>
                      </a:r>
                    </a:p>
                  </a:txBody>
                  <a:tcPr/>
                </a:tc>
                <a:tc>
                  <a:txBody>
                    <a:bodyPr/>
                    <a:lstStyle/>
                    <a:p>
                      <a:pPr rtl="0"/>
                      <a:r>
                        <a:rPr lang="pt-BR" sz="1000"/>
                        <a:t>8</a:t>
                      </a:r>
                    </a:p>
                  </a:txBody>
                  <a:tcPr/>
                </a:tc>
                <a:tc>
                  <a:txBody>
                    <a:bodyPr/>
                    <a:lstStyle/>
                    <a:p>
                      <a:pPr rtl="0"/>
                      <a:r>
                        <a:rPr lang="pt-BR" sz="1000"/>
                        <a:t>4</a:t>
                      </a:r>
                    </a:p>
                  </a:txBody>
                  <a:tcPr/>
                </a:tc>
                <a:tc>
                  <a:txBody>
                    <a:bodyPr/>
                    <a:lstStyle/>
                    <a:p>
                      <a:pPr rtl="0"/>
                      <a:r>
                        <a:rPr lang="pt-BR" sz="1000"/>
                        <a:t>2</a:t>
                      </a:r>
                    </a:p>
                  </a:txBody>
                  <a:tcPr/>
                </a:tc>
                <a:tc>
                  <a:txBody>
                    <a:bodyPr/>
                    <a:lstStyle/>
                    <a:p>
                      <a:pPr rtl="0"/>
                      <a:r>
                        <a:rPr lang="pt-BR" sz="1000"/>
                        <a:t>1</a:t>
                      </a:r>
                    </a:p>
                  </a:txBody>
                  <a:tcPr/>
                </a:tc>
                <a:extLst>
                  <a:ext uri="{0D108BD9-81ED-4DB2-BD59-A6C34878D82A}">
                    <a16:rowId xmlns:a16="http://schemas.microsoft.com/office/drawing/2014/main" val="4226814726"/>
                  </a:ext>
                </a:extLst>
              </a:tr>
            </a:tbl>
          </a:graphicData>
        </a:graphic>
      </p:graphicFrame>
      <p:sp>
        <p:nvSpPr>
          <p:cNvPr id="7" name="Striped Right Arrow 6">
            <a:extLst>
              <a:ext uri="{FF2B5EF4-FFF2-40B4-BE49-F238E27FC236}">
                <a16:creationId xmlns:a16="http://schemas.microsoft.com/office/drawing/2014/main" id="{42020144-2692-E747-88CD-CE940510F874}"/>
              </a:ext>
            </a:extLst>
          </p:cNvPr>
          <p:cNvSpPr/>
          <p:nvPr/>
        </p:nvSpPr>
        <p:spPr>
          <a:xfrm rot="5400000">
            <a:off x="3753951" y="2666137"/>
            <a:ext cx="381044" cy="192271"/>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8" name="Table 7">
            <a:extLst>
              <a:ext uri="{FF2B5EF4-FFF2-40B4-BE49-F238E27FC236}">
                <a16:creationId xmlns:a16="http://schemas.microsoft.com/office/drawing/2014/main" id="{5AF9CA21-1491-D046-A16A-EF95E9FFD0F7}"/>
              </a:ext>
            </a:extLst>
          </p:cNvPr>
          <p:cNvGraphicFramePr>
            <a:graphicFrameLocks noGrp="1"/>
          </p:cNvGraphicFramePr>
          <p:nvPr>
            <p:extLst>
              <p:ext uri="{D42A27DB-BD31-4B8C-83A1-F6EECF244321}">
                <p14:modId xmlns:p14="http://schemas.microsoft.com/office/powerpoint/2010/main" val="729745532"/>
              </p:ext>
            </p:extLst>
          </p:nvPr>
        </p:nvGraphicFramePr>
        <p:xfrm>
          <a:off x="2611696" y="3037184"/>
          <a:ext cx="5733792" cy="1518275"/>
        </p:xfrm>
        <a:graphic>
          <a:graphicData uri="http://schemas.openxmlformats.org/drawingml/2006/table">
            <a:tbl>
              <a:tblPr firstRow="1" bandRow="1">
                <a:tableStyleId>{21E4AEA4-8DFA-4A89-87EB-49C32662AFE0}</a:tableStyleId>
              </a:tblPr>
              <a:tblGrid>
                <a:gridCol w="1800816">
                  <a:extLst>
                    <a:ext uri="{9D8B030D-6E8A-4147-A177-3AD203B41FA5}">
                      <a16:colId xmlns:a16="http://schemas.microsoft.com/office/drawing/2014/main" val="3837822917"/>
                    </a:ext>
                  </a:extLst>
                </a:gridCol>
                <a:gridCol w="584790">
                  <a:extLst>
                    <a:ext uri="{9D8B030D-6E8A-4147-A177-3AD203B41FA5}">
                      <a16:colId xmlns:a16="http://schemas.microsoft.com/office/drawing/2014/main" val="2257126818"/>
                    </a:ext>
                  </a:extLst>
                </a:gridCol>
                <a:gridCol w="489098">
                  <a:extLst>
                    <a:ext uri="{9D8B030D-6E8A-4147-A177-3AD203B41FA5}">
                      <a16:colId xmlns:a16="http://schemas.microsoft.com/office/drawing/2014/main" val="733968975"/>
                    </a:ext>
                  </a:extLst>
                </a:gridCol>
                <a:gridCol w="499730">
                  <a:extLst>
                    <a:ext uri="{9D8B030D-6E8A-4147-A177-3AD203B41FA5}">
                      <a16:colId xmlns:a16="http://schemas.microsoft.com/office/drawing/2014/main" val="2184405947"/>
                    </a:ext>
                  </a:extLst>
                </a:gridCol>
                <a:gridCol w="478465">
                  <a:extLst>
                    <a:ext uri="{9D8B030D-6E8A-4147-A177-3AD203B41FA5}">
                      <a16:colId xmlns:a16="http://schemas.microsoft.com/office/drawing/2014/main" val="2878814134"/>
                    </a:ext>
                  </a:extLst>
                </a:gridCol>
                <a:gridCol w="456129">
                  <a:extLst>
                    <a:ext uri="{9D8B030D-6E8A-4147-A177-3AD203B41FA5}">
                      <a16:colId xmlns:a16="http://schemas.microsoft.com/office/drawing/2014/main" val="326059745"/>
                    </a:ext>
                  </a:extLst>
                </a:gridCol>
                <a:gridCol w="457200">
                  <a:extLst>
                    <a:ext uri="{9D8B030D-6E8A-4147-A177-3AD203B41FA5}">
                      <a16:colId xmlns:a16="http://schemas.microsoft.com/office/drawing/2014/main" val="1053828557"/>
                    </a:ext>
                  </a:extLst>
                </a:gridCol>
                <a:gridCol w="478466">
                  <a:extLst>
                    <a:ext uri="{9D8B030D-6E8A-4147-A177-3AD203B41FA5}">
                      <a16:colId xmlns:a16="http://schemas.microsoft.com/office/drawing/2014/main" val="830387269"/>
                    </a:ext>
                  </a:extLst>
                </a:gridCol>
                <a:gridCol w="489098">
                  <a:extLst>
                    <a:ext uri="{9D8B030D-6E8A-4147-A177-3AD203B41FA5}">
                      <a16:colId xmlns:a16="http://schemas.microsoft.com/office/drawing/2014/main" val="3034883102"/>
                    </a:ext>
                  </a:extLst>
                </a:gridCol>
              </a:tblGrid>
              <a:tr h="303655">
                <a:tc>
                  <a:txBody>
                    <a:bodyPr/>
                    <a:lstStyle/>
                    <a:p>
                      <a:pPr rtl="0"/>
                      <a:r>
                        <a:rPr lang="pt-BR" sz="1000"/>
                        <a:t>Valor Posicional</a:t>
                      </a:r>
                    </a:p>
                  </a:txBody>
                  <a:tcPr/>
                </a:tc>
                <a:tc>
                  <a:txBody>
                    <a:bodyPr/>
                    <a:lstStyle/>
                    <a:p>
                      <a:pPr rtl="0"/>
                      <a:r>
                        <a:rPr lang="pt-BR" sz="1000"/>
                        <a:t>128</a:t>
                      </a:r>
                    </a:p>
                  </a:txBody>
                  <a:tcPr/>
                </a:tc>
                <a:tc>
                  <a:txBody>
                    <a:bodyPr/>
                    <a:lstStyle/>
                    <a:p>
                      <a:pPr rtl="0"/>
                      <a:r>
                        <a:rPr lang="pt-BR" sz="1000"/>
                        <a:t>64</a:t>
                      </a:r>
                    </a:p>
                  </a:txBody>
                  <a:tcPr/>
                </a:tc>
                <a:tc>
                  <a:txBody>
                    <a:bodyPr/>
                    <a:lstStyle/>
                    <a:p>
                      <a:pPr rtl="0"/>
                      <a:r>
                        <a:rPr lang="pt-BR" sz="1000"/>
                        <a:t>32</a:t>
                      </a:r>
                    </a:p>
                  </a:txBody>
                  <a:tcPr/>
                </a:tc>
                <a:tc>
                  <a:txBody>
                    <a:bodyPr/>
                    <a:lstStyle/>
                    <a:p>
                      <a:pPr rtl="0"/>
                      <a:r>
                        <a:rPr lang="pt-BR" sz="1000"/>
                        <a:t>16</a:t>
                      </a:r>
                    </a:p>
                  </a:txBody>
                  <a:tcPr/>
                </a:tc>
                <a:tc>
                  <a:txBody>
                    <a:bodyPr/>
                    <a:lstStyle/>
                    <a:p>
                      <a:pPr rtl="0"/>
                      <a:r>
                        <a:rPr lang="pt-BR" sz="1000"/>
                        <a:t>8</a:t>
                      </a:r>
                    </a:p>
                  </a:txBody>
                  <a:tcPr/>
                </a:tc>
                <a:tc>
                  <a:txBody>
                    <a:bodyPr/>
                    <a:lstStyle/>
                    <a:p>
                      <a:pPr rtl="0"/>
                      <a:r>
                        <a:rPr lang="pt-BR" sz="1000"/>
                        <a:t>4</a:t>
                      </a:r>
                    </a:p>
                  </a:txBody>
                  <a:tcPr/>
                </a:tc>
                <a:tc>
                  <a:txBody>
                    <a:bodyPr/>
                    <a:lstStyle/>
                    <a:p>
                      <a:pPr rtl="0"/>
                      <a:r>
                        <a:rPr lang="pt-BR" sz="1000"/>
                        <a:t>2</a:t>
                      </a:r>
                    </a:p>
                  </a:txBody>
                  <a:tcPr/>
                </a:tc>
                <a:tc>
                  <a:txBody>
                    <a:bodyPr/>
                    <a:lstStyle/>
                    <a:p>
                      <a:pPr rtl="0"/>
                      <a:r>
                        <a:rPr lang="pt-BR" sz="1000"/>
                        <a:t>1</a:t>
                      </a:r>
                    </a:p>
                  </a:txBody>
                  <a:tcPr/>
                </a:tc>
                <a:extLst>
                  <a:ext uri="{0D108BD9-81ED-4DB2-BD59-A6C34878D82A}">
                    <a16:rowId xmlns:a16="http://schemas.microsoft.com/office/drawing/2014/main" val="1798718847"/>
                  </a:ext>
                </a:extLst>
              </a:tr>
              <a:tr h="303655">
                <a:tc>
                  <a:txBody>
                    <a:bodyPr/>
                    <a:lstStyle/>
                    <a:p>
                      <a:pPr rtl="0"/>
                      <a:r>
                        <a:rPr lang="pt-BR" sz="1000"/>
                        <a:t>Número binário (11000000)</a:t>
                      </a:r>
                    </a:p>
                  </a:txBody>
                  <a:tcPr/>
                </a:tc>
                <a:tc>
                  <a:txBody>
                    <a:bodyPr/>
                    <a:lstStyle/>
                    <a:p>
                      <a:pPr rtl="0"/>
                      <a:r>
                        <a:rPr lang="pt-BR" sz="1000"/>
                        <a:t>1</a:t>
                      </a:r>
                    </a:p>
                  </a:txBody>
                  <a:tcPr/>
                </a:tc>
                <a:tc>
                  <a:txBody>
                    <a:bodyPr/>
                    <a:lstStyle/>
                    <a:p>
                      <a:pPr rtl="0"/>
                      <a:r>
                        <a:rPr lang="pt-BR" sz="1000"/>
                        <a:t>1</a:t>
                      </a:r>
                    </a:p>
                  </a:txBody>
                  <a:tcPr/>
                </a:tc>
                <a:tc>
                  <a:txBody>
                    <a:bodyPr/>
                    <a:lstStyle/>
                    <a:p>
                      <a:pPr rtl="0"/>
                      <a:r>
                        <a:rPr lang="pt-BR" sz="1000"/>
                        <a:t>0</a:t>
                      </a:r>
                    </a:p>
                  </a:txBody>
                  <a:tcPr/>
                </a:tc>
                <a:tc>
                  <a:txBody>
                    <a:bodyPr/>
                    <a:lstStyle/>
                    <a:p>
                      <a:pPr rtl="0"/>
                      <a:r>
                        <a:rPr lang="pt-BR" sz="1000"/>
                        <a:t>0</a:t>
                      </a:r>
                    </a:p>
                  </a:txBody>
                  <a:tcPr/>
                </a:tc>
                <a:tc>
                  <a:txBody>
                    <a:bodyPr/>
                    <a:lstStyle/>
                    <a:p>
                      <a:pPr rtl="0"/>
                      <a:r>
                        <a:rPr lang="pt-BR" sz="1000"/>
                        <a:t>0</a:t>
                      </a:r>
                    </a:p>
                  </a:txBody>
                  <a:tcPr/>
                </a:tc>
                <a:tc>
                  <a:txBody>
                    <a:bodyPr/>
                    <a:lstStyle/>
                    <a:p>
                      <a:pPr rtl="0"/>
                      <a:r>
                        <a:rPr lang="pt-BR" sz="1000"/>
                        <a:t>0</a:t>
                      </a:r>
                    </a:p>
                  </a:txBody>
                  <a:tcPr/>
                </a:tc>
                <a:tc>
                  <a:txBody>
                    <a:bodyPr/>
                    <a:lstStyle/>
                    <a:p>
                      <a:pPr rtl="0"/>
                      <a:r>
                        <a:rPr lang="pt-BR" sz="1000"/>
                        <a:t>0</a:t>
                      </a:r>
                    </a:p>
                  </a:txBody>
                  <a:tcPr/>
                </a:tc>
                <a:tc>
                  <a:txBody>
                    <a:bodyPr/>
                    <a:lstStyle/>
                    <a:p>
                      <a:pPr rtl="0"/>
                      <a:r>
                        <a:rPr lang="pt-BR" sz="1000"/>
                        <a:t>0</a:t>
                      </a:r>
                    </a:p>
                  </a:txBody>
                  <a:tcPr/>
                </a:tc>
                <a:extLst>
                  <a:ext uri="{0D108BD9-81ED-4DB2-BD59-A6C34878D82A}">
                    <a16:rowId xmlns:a16="http://schemas.microsoft.com/office/drawing/2014/main" val="3580694335"/>
                  </a:ext>
                </a:extLst>
              </a:tr>
              <a:tr h="303655">
                <a:tc>
                  <a:txBody>
                    <a:bodyPr/>
                    <a:lstStyle/>
                    <a:p>
                      <a:pPr rtl="0"/>
                      <a:r>
                        <a:rPr lang="pt-BR" sz="1000"/>
                        <a:t>Cáculo</a:t>
                      </a:r>
                    </a:p>
                  </a:txBody>
                  <a:tcPr/>
                </a:tc>
                <a:tc>
                  <a:txBody>
                    <a:bodyPr/>
                    <a:lstStyle/>
                    <a:p>
                      <a:pPr rtl="0"/>
                      <a:r>
                        <a:rPr lang="pt-BR" sz="1000"/>
                        <a:t>1x128</a:t>
                      </a:r>
                    </a:p>
                  </a:txBody>
                  <a:tcPr/>
                </a:tc>
                <a:tc>
                  <a:txBody>
                    <a:bodyPr/>
                    <a:lstStyle/>
                    <a:p>
                      <a:pPr rtl="0"/>
                      <a:r>
                        <a:rPr lang="pt-BR" sz="1000"/>
                        <a:t>1x64</a:t>
                      </a:r>
                    </a:p>
                  </a:txBody>
                  <a:tcPr/>
                </a:tc>
                <a:tc>
                  <a:txBody>
                    <a:bodyPr/>
                    <a:lstStyle/>
                    <a:p>
                      <a:pPr rtl="0"/>
                      <a:r>
                        <a:rPr lang="pt-BR" sz="1000"/>
                        <a:t>0x32</a:t>
                      </a:r>
                    </a:p>
                  </a:txBody>
                  <a:tcPr/>
                </a:tc>
                <a:tc>
                  <a:txBody>
                    <a:bodyPr/>
                    <a:lstStyle/>
                    <a:p>
                      <a:pPr rtl="0"/>
                      <a:r>
                        <a:rPr lang="pt-BR" sz="1000"/>
                        <a:t>0x16</a:t>
                      </a:r>
                    </a:p>
                  </a:txBody>
                  <a:tcPr/>
                </a:tc>
                <a:tc>
                  <a:txBody>
                    <a:bodyPr/>
                    <a:lstStyle/>
                    <a:p>
                      <a:pPr rtl="0"/>
                      <a:r>
                        <a:rPr lang="pt-BR" sz="1000"/>
                        <a:t>0x8</a:t>
                      </a:r>
                    </a:p>
                  </a:txBody>
                  <a:tcPr/>
                </a:tc>
                <a:tc>
                  <a:txBody>
                    <a:bodyPr/>
                    <a:lstStyle/>
                    <a:p>
                      <a:pPr rtl="0"/>
                      <a:r>
                        <a:rPr lang="pt-BR" sz="1000"/>
                        <a:t>0x4</a:t>
                      </a:r>
                    </a:p>
                  </a:txBody>
                  <a:tcPr/>
                </a:tc>
                <a:tc>
                  <a:txBody>
                    <a:bodyPr/>
                    <a:lstStyle/>
                    <a:p>
                      <a:pPr rtl="0"/>
                      <a:r>
                        <a:rPr lang="pt-BR" sz="1000"/>
                        <a:t>0x2</a:t>
                      </a:r>
                    </a:p>
                  </a:txBody>
                  <a:tcPr/>
                </a:tc>
                <a:tc>
                  <a:txBody>
                    <a:bodyPr/>
                    <a:lstStyle/>
                    <a:p>
                      <a:pPr rtl="0"/>
                      <a:r>
                        <a:rPr lang="pt-BR" sz="1000"/>
                        <a:t>0x1</a:t>
                      </a:r>
                    </a:p>
                  </a:txBody>
                  <a:tcPr/>
                </a:tc>
                <a:extLst>
                  <a:ext uri="{0D108BD9-81ED-4DB2-BD59-A6C34878D82A}">
                    <a16:rowId xmlns:a16="http://schemas.microsoft.com/office/drawing/2014/main" val="3026254151"/>
                  </a:ext>
                </a:extLst>
              </a:tr>
              <a:tr h="303655">
                <a:tc>
                  <a:txBody>
                    <a:bodyPr/>
                    <a:lstStyle/>
                    <a:p>
                      <a:pPr rtl="0"/>
                      <a:r>
                        <a:rPr lang="pt-BR" sz="1000"/>
                        <a:t>Adicioná-los...</a:t>
                      </a:r>
                    </a:p>
                  </a:txBody>
                  <a:tcPr/>
                </a:tc>
                <a:tc>
                  <a:txBody>
                    <a:bodyPr/>
                    <a:lstStyle/>
                    <a:p>
                      <a:pPr rtl="0"/>
                      <a:r>
                        <a:rPr lang="pt-BR" sz="1000"/>
                        <a:t>128</a:t>
                      </a:r>
                    </a:p>
                  </a:txBody>
                  <a:tcPr/>
                </a:tc>
                <a:tc>
                  <a:txBody>
                    <a:bodyPr/>
                    <a:lstStyle/>
                    <a:p>
                      <a:pPr rtl="0"/>
                      <a:r>
                        <a:rPr lang="pt-BR" sz="1000"/>
                        <a:t>+ 64</a:t>
                      </a:r>
                    </a:p>
                  </a:txBody>
                  <a:tcPr/>
                </a:tc>
                <a:tc>
                  <a:txBody>
                    <a:bodyPr/>
                    <a:lstStyle/>
                    <a:p>
                      <a:pPr rtl="0"/>
                      <a:r>
                        <a:rPr lang="pt-BR" sz="1000"/>
                        <a:t>+ 0</a:t>
                      </a:r>
                    </a:p>
                  </a:txBody>
                  <a:tcPr/>
                </a:tc>
                <a:tc>
                  <a:txBody>
                    <a:bodyPr/>
                    <a:lstStyle/>
                    <a:p>
                      <a:pPr rtl="0"/>
                      <a:r>
                        <a:rPr lang="pt-BR" sz="1000"/>
                        <a:t>+ 0</a:t>
                      </a:r>
                    </a:p>
                  </a:txBody>
                  <a:tcPr/>
                </a:tc>
                <a:tc>
                  <a:txBody>
                    <a:bodyPr/>
                    <a:lstStyle/>
                    <a:p>
                      <a:pPr rtl="0"/>
                      <a:r>
                        <a:rPr lang="pt-BR" sz="1000"/>
                        <a:t>+ 0</a:t>
                      </a:r>
                    </a:p>
                  </a:txBody>
                  <a:tcPr/>
                </a:tc>
                <a:tc>
                  <a:txBody>
                    <a:bodyPr/>
                    <a:lstStyle/>
                    <a:p>
                      <a:pPr rtl="0"/>
                      <a:r>
                        <a:rPr lang="pt-BR" sz="1000"/>
                        <a:t>+ 0</a:t>
                      </a:r>
                    </a:p>
                  </a:txBody>
                  <a:tcPr/>
                </a:tc>
                <a:tc>
                  <a:txBody>
                    <a:bodyPr/>
                    <a:lstStyle/>
                    <a:p>
                      <a:pPr rtl="0"/>
                      <a:r>
                        <a:rPr lang="pt-BR" sz="1000"/>
                        <a:t>+ 0</a:t>
                      </a:r>
                    </a:p>
                  </a:txBody>
                  <a:tcPr/>
                </a:tc>
                <a:tc>
                  <a:txBody>
                    <a:bodyPr/>
                    <a:lstStyle/>
                    <a:p>
                      <a:pPr rtl="0"/>
                      <a:r>
                        <a:rPr lang="pt-BR" sz="1000"/>
                        <a:t>+ 0</a:t>
                      </a:r>
                    </a:p>
                  </a:txBody>
                  <a:tcPr/>
                </a:tc>
                <a:extLst>
                  <a:ext uri="{0D108BD9-81ED-4DB2-BD59-A6C34878D82A}">
                    <a16:rowId xmlns:a16="http://schemas.microsoft.com/office/drawing/2014/main" val="4226814726"/>
                  </a:ext>
                </a:extLst>
              </a:tr>
              <a:tr h="303655">
                <a:tc>
                  <a:txBody>
                    <a:bodyPr/>
                    <a:lstStyle/>
                    <a:p>
                      <a:pPr rtl="0"/>
                      <a:r>
                        <a:rPr lang="pt-BR" sz="1000"/>
                        <a:t>Resultado</a:t>
                      </a:r>
                    </a:p>
                  </a:txBody>
                  <a:tcPr/>
                </a:tc>
                <a:tc gridSpan="8">
                  <a:txBody>
                    <a:bodyPr/>
                    <a:lstStyle/>
                    <a:p>
                      <a:pPr algn="ctr" rtl="0"/>
                      <a:r>
                        <a:rPr lang="pt-BR" sz="1000" b="1"/>
                        <a:t>192</a:t>
                      </a:r>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extLst>
                  <a:ext uri="{0D108BD9-81ED-4DB2-BD59-A6C34878D82A}">
                    <a16:rowId xmlns:a16="http://schemas.microsoft.com/office/drawing/2014/main" val="4253779375"/>
                  </a:ext>
                </a:extLst>
              </a:tr>
            </a:tbl>
          </a:graphicData>
        </a:graphic>
      </p:graphicFrame>
    </p:spTree>
    <p:extLst>
      <p:ext uri="{BB962C8B-B14F-4D97-AF65-F5344CB8AC3E}">
        <p14:creationId xmlns:p14="http://schemas.microsoft.com/office/powerpoint/2010/main" val="57923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900"/>
            <a:ext cx="8345488" cy="642000"/>
          </a:xfrm>
        </p:spPr>
        <p:txBody>
          <a:bodyPr/>
          <a:lstStyle/>
          <a:p>
            <a:pPr rtl="0"/>
            <a:r>
              <a:rPr lang="pt-BR" sz="1600"/>
              <a:t>Sistema Binário de Numeração</a:t>
            </a:r>
            <a:br>
              <a:rPr lang="en-US" dirty="0"/>
            </a:br>
            <a:r>
              <a:rPr lang="pt-BR" sz="2400"/>
              <a:t>Conterter Binário para Decimal</a:t>
            </a:r>
          </a:p>
        </p:txBody>
      </p:sp>
      <p:sp>
        <p:nvSpPr>
          <p:cNvPr id="9" name="TextBox 8">
            <a:extLst>
              <a:ext uri="{FF2B5EF4-FFF2-40B4-BE49-F238E27FC236}">
                <a16:creationId xmlns:a16="http://schemas.microsoft.com/office/drawing/2014/main" id="{AE33637D-1648-514C-8643-E324E7FBCF34}"/>
              </a:ext>
            </a:extLst>
          </p:cNvPr>
          <p:cNvSpPr txBox="1"/>
          <p:nvPr/>
        </p:nvSpPr>
        <p:spPr>
          <a:xfrm>
            <a:off x="457201" y="609847"/>
            <a:ext cx="5079211" cy="307777"/>
          </a:xfrm>
          <a:prstGeom prst="rect">
            <a:avLst/>
          </a:prstGeom>
          <a:noFill/>
        </p:spPr>
        <p:txBody>
          <a:bodyPr wrap="none" rtlCol="0">
            <a:spAutoFit/>
          </a:bodyPr>
          <a:lstStyle/>
          <a:p>
            <a:pPr rtl="0"/>
            <a:r>
              <a:rPr lang="pt-BR" sz="1400"/>
              <a:t>Converter 11000000.10101000.00001011.00001010 para decimais.</a:t>
            </a:r>
          </a:p>
        </p:txBody>
      </p:sp>
      <p:graphicFrame>
        <p:nvGraphicFramePr>
          <p:cNvPr id="8" name="Table 7">
            <a:extLst>
              <a:ext uri="{FF2B5EF4-FFF2-40B4-BE49-F238E27FC236}">
                <a16:creationId xmlns:a16="http://schemas.microsoft.com/office/drawing/2014/main" id="{5AF9CA21-1491-D046-A16A-EF95E9FFD0F7}"/>
              </a:ext>
            </a:extLst>
          </p:cNvPr>
          <p:cNvGraphicFramePr>
            <a:graphicFrameLocks noGrp="1"/>
          </p:cNvGraphicFramePr>
          <p:nvPr>
            <p:extLst>
              <p:ext uri="{D42A27DB-BD31-4B8C-83A1-F6EECF244321}">
                <p14:modId xmlns:p14="http://schemas.microsoft.com/office/powerpoint/2010/main" val="1680375451"/>
              </p:ext>
            </p:extLst>
          </p:nvPr>
        </p:nvGraphicFramePr>
        <p:xfrm>
          <a:off x="457201" y="870063"/>
          <a:ext cx="5220587" cy="3872922"/>
        </p:xfrm>
        <a:graphic>
          <a:graphicData uri="http://schemas.openxmlformats.org/drawingml/2006/table">
            <a:tbl>
              <a:tblPr firstRow="1" bandRow="1">
                <a:tableStyleId>{00A15C55-8517-42AA-B614-E9B94910E393}</a:tableStyleId>
              </a:tblPr>
              <a:tblGrid>
                <a:gridCol w="1650437">
                  <a:extLst>
                    <a:ext uri="{9D8B030D-6E8A-4147-A177-3AD203B41FA5}">
                      <a16:colId xmlns:a16="http://schemas.microsoft.com/office/drawing/2014/main" val="3837822917"/>
                    </a:ext>
                  </a:extLst>
                </a:gridCol>
                <a:gridCol w="530842">
                  <a:extLst>
                    <a:ext uri="{9D8B030D-6E8A-4147-A177-3AD203B41FA5}">
                      <a16:colId xmlns:a16="http://schemas.microsoft.com/office/drawing/2014/main" val="2257126818"/>
                    </a:ext>
                  </a:extLst>
                </a:gridCol>
                <a:gridCol w="443978">
                  <a:extLst>
                    <a:ext uri="{9D8B030D-6E8A-4147-A177-3AD203B41FA5}">
                      <a16:colId xmlns:a16="http://schemas.microsoft.com/office/drawing/2014/main" val="733968975"/>
                    </a:ext>
                  </a:extLst>
                </a:gridCol>
                <a:gridCol w="453629">
                  <a:extLst>
                    <a:ext uri="{9D8B030D-6E8A-4147-A177-3AD203B41FA5}">
                      <a16:colId xmlns:a16="http://schemas.microsoft.com/office/drawing/2014/main" val="2184405947"/>
                    </a:ext>
                  </a:extLst>
                </a:gridCol>
                <a:gridCol w="434325">
                  <a:extLst>
                    <a:ext uri="{9D8B030D-6E8A-4147-A177-3AD203B41FA5}">
                      <a16:colId xmlns:a16="http://schemas.microsoft.com/office/drawing/2014/main" val="2878814134"/>
                    </a:ext>
                  </a:extLst>
                </a:gridCol>
                <a:gridCol w="414050">
                  <a:extLst>
                    <a:ext uri="{9D8B030D-6E8A-4147-A177-3AD203B41FA5}">
                      <a16:colId xmlns:a16="http://schemas.microsoft.com/office/drawing/2014/main" val="326059745"/>
                    </a:ext>
                  </a:extLst>
                </a:gridCol>
                <a:gridCol w="415022">
                  <a:extLst>
                    <a:ext uri="{9D8B030D-6E8A-4147-A177-3AD203B41FA5}">
                      <a16:colId xmlns:a16="http://schemas.microsoft.com/office/drawing/2014/main" val="1053828557"/>
                    </a:ext>
                  </a:extLst>
                </a:gridCol>
                <a:gridCol w="434326">
                  <a:extLst>
                    <a:ext uri="{9D8B030D-6E8A-4147-A177-3AD203B41FA5}">
                      <a16:colId xmlns:a16="http://schemas.microsoft.com/office/drawing/2014/main" val="830387269"/>
                    </a:ext>
                  </a:extLst>
                </a:gridCol>
                <a:gridCol w="443978">
                  <a:extLst>
                    <a:ext uri="{9D8B030D-6E8A-4147-A177-3AD203B41FA5}">
                      <a16:colId xmlns:a16="http://schemas.microsoft.com/office/drawing/2014/main" val="3034883102"/>
                    </a:ext>
                  </a:extLst>
                </a:gridCol>
              </a:tblGrid>
              <a:tr h="285582">
                <a:tc>
                  <a:txBody>
                    <a:bodyPr/>
                    <a:lstStyle/>
                    <a:p>
                      <a:pPr rtl="0"/>
                      <a:r>
                        <a:rPr lang="pt-BR" sz="900"/>
                        <a:t>Valor Posicional</a:t>
                      </a:r>
                    </a:p>
                  </a:txBody>
                  <a:tcPr/>
                </a:tc>
                <a:tc>
                  <a:txBody>
                    <a:bodyPr/>
                    <a:lstStyle/>
                    <a:p>
                      <a:pPr rtl="0"/>
                      <a:r>
                        <a:rPr lang="pt-BR" sz="900"/>
                        <a:t>128</a:t>
                      </a:r>
                    </a:p>
                  </a:txBody>
                  <a:tcPr/>
                </a:tc>
                <a:tc>
                  <a:txBody>
                    <a:bodyPr/>
                    <a:lstStyle/>
                    <a:p>
                      <a:pPr rtl="0"/>
                      <a:r>
                        <a:rPr lang="pt-BR" sz="900"/>
                        <a:t>64</a:t>
                      </a:r>
                    </a:p>
                  </a:txBody>
                  <a:tcPr/>
                </a:tc>
                <a:tc>
                  <a:txBody>
                    <a:bodyPr/>
                    <a:lstStyle/>
                    <a:p>
                      <a:pPr rtl="0"/>
                      <a:r>
                        <a:rPr lang="pt-BR" sz="900"/>
                        <a:t>32</a:t>
                      </a:r>
                    </a:p>
                  </a:txBody>
                  <a:tcPr/>
                </a:tc>
                <a:tc>
                  <a:txBody>
                    <a:bodyPr/>
                    <a:lstStyle/>
                    <a:p>
                      <a:pPr rtl="0"/>
                      <a:r>
                        <a:rPr lang="pt-BR" sz="900"/>
                        <a:t>16</a:t>
                      </a:r>
                    </a:p>
                  </a:txBody>
                  <a:tcPr/>
                </a:tc>
                <a:tc>
                  <a:txBody>
                    <a:bodyPr/>
                    <a:lstStyle/>
                    <a:p>
                      <a:pPr rtl="0"/>
                      <a:r>
                        <a:rPr lang="pt-BR" sz="900"/>
                        <a:t>8</a:t>
                      </a:r>
                    </a:p>
                  </a:txBody>
                  <a:tcPr/>
                </a:tc>
                <a:tc>
                  <a:txBody>
                    <a:bodyPr/>
                    <a:lstStyle/>
                    <a:p>
                      <a:pPr rtl="0"/>
                      <a:r>
                        <a:rPr lang="pt-BR" sz="900"/>
                        <a:t>4</a:t>
                      </a:r>
                    </a:p>
                  </a:txBody>
                  <a:tcPr/>
                </a:tc>
                <a:tc>
                  <a:txBody>
                    <a:bodyPr/>
                    <a:lstStyle/>
                    <a:p>
                      <a:pPr rtl="0"/>
                      <a:r>
                        <a:rPr lang="pt-BR" sz="900"/>
                        <a:t>2</a:t>
                      </a:r>
                    </a:p>
                  </a:txBody>
                  <a:tcPr/>
                </a:tc>
                <a:tc>
                  <a:txBody>
                    <a:bodyPr/>
                    <a:lstStyle/>
                    <a:p>
                      <a:pPr rtl="0"/>
                      <a:r>
                        <a:rPr lang="pt-BR" sz="900"/>
                        <a:t>1</a:t>
                      </a:r>
                    </a:p>
                  </a:txBody>
                  <a:tcPr/>
                </a:tc>
                <a:extLst>
                  <a:ext uri="{0D108BD9-81ED-4DB2-BD59-A6C34878D82A}">
                    <a16:rowId xmlns:a16="http://schemas.microsoft.com/office/drawing/2014/main" val="1798718847"/>
                  </a:ext>
                </a:extLst>
              </a:tr>
              <a:tr h="285582">
                <a:tc>
                  <a:txBody>
                    <a:bodyPr/>
                    <a:lstStyle/>
                    <a:p>
                      <a:pPr rtl="0"/>
                      <a:r>
                        <a:rPr lang="pt-BR" sz="900" b="1"/>
                        <a:t>Número binário (11000000)</a:t>
                      </a:r>
                    </a:p>
                  </a:txBody>
                  <a:tcPr/>
                </a:tc>
                <a:tc>
                  <a:txBody>
                    <a:bodyPr/>
                    <a:lstStyle/>
                    <a:p>
                      <a:pPr rtl="0"/>
                      <a:r>
                        <a:rPr lang="pt-BR" sz="900" b="1"/>
                        <a:t>1</a:t>
                      </a:r>
                    </a:p>
                  </a:txBody>
                  <a:tcPr/>
                </a:tc>
                <a:tc>
                  <a:txBody>
                    <a:bodyPr/>
                    <a:lstStyle/>
                    <a:p>
                      <a:pPr rtl="0"/>
                      <a:r>
                        <a:rPr lang="pt-BR" sz="900" b="1"/>
                        <a:t>1</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extLst>
                  <a:ext uri="{0D108BD9-81ED-4DB2-BD59-A6C34878D82A}">
                    <a16:rowId xmlns:a16="http://schemas.microsoft.com/office/drawing/2014/main" val="3580694335"/>
                  </a:ext>
                </a:extLst>
              </a:tr>
              <a:tr h="285582">
                <a:tc>
                  <a:txBody>
                    <a:bodyPr/>
                    <a:lstStyle/>
                    <a:p>
                      <a:pPr rtl="0"/>
                      <a:r>
                        <a:rPr lang="pt-BR" sz="900"/>
                        <a:t>Cáculo</a:t>
                      </a:r>
                    </a:p>
                  </a:txBody>
                  <a:tcPr/>
                </a:tc>
                <a:tc>
                  <a:txBody>
                    <a:bodyPr/>
                    <a:lstStyle/>
                    <a:p>
                      <a:pPr rtl="0"/>
                      <a:r>
                        <a:rPr lang="pt-BR" sz="900"/>
                        <a:t>1x128</a:t>
                      </a:r>
                    </a:p>
                  </a:txBody>
                  <a:tcPr/>
                </a:tc>
                <a:tc>
                  <a:txBody>
                    <a:bodyPr/>
                    <a:lstStyle/>
                    <a:p>
                      <a:pPr rtl="0"/>
                      <a:r>
                        <a:rPr lang="pt-BR" sz="900"/>
                        <a:t>1x64</a:t>
                      </a:r>
                    </a:p>
                  </a:txBody>
                  <a:tcPr/>
                </a:tc>
                <a:tc>
                  <a:txBody>
                    <a:bodyPr/>
                    <a:lstStyle/>
                    <a:p>
                      <a:pPr rtl="0"/>
                      <a:r>
                        <a:rPr lang="pt-BR" sz="900"/>
                        <a:t>0x32</a:t>
                      </a:r>
                    </a:p>
                  </a:txBody>
                  <a:tcPr/>
                </a:tc>
                <a:tc>
                  <a:txBody>
                    <a:bodyPr/>
                    <a:lstStyle/>
                    <a:p>
                      <a:pPr rtl="0"/>
                      <a:r>
                        <a:rPr lang="pt-BR" sz="900"/>
                        <a:t>0x16</a:t>
                      </a:r>
                    </a:p>
                  </a:txBody>
                  <a:tcPr/>
                </a:tc>
                <a:tc>
                  <a:txBody>
                    <a:bodyPr/>
                    <a:lstStyle/>
                    <a:p>
                      <a:pPr rtl="0"/>
                      <a:r>
                        <a:rPr lang="pt-BR" sz="900"/>
                        <a:t>0x8</a:t>
                      </a:r>
                    </a:p>
                  </a:txBody>
                  <a:tcPr/>
                </a:tc>
                <a:tc>
                  <a:txBody>
                    <a:bodyPr/>
                    <a:lstStyle/>
                    <a:p>
                      <a:pPr rtl="0"/>
                      <a:r>
                        <a:rPr lang="pt-BR" sz="900"/>
                        <a:t>0x4</a:t>
                      </a:r>
                    </a:p>
                  </a:txBody>
                  <a:tcPr/>
                </a:tc>
                <a:tc>
                  <a:txBody>
                    <a:bodyPr/>
                    <a:lstStyle/>
                    <a:p>
                      <a:pPr rtl="0"/>
                      <a:r>
                        <a:rPr lang="pt-BR" sz="900"/>
                        <a:t>0x2</a:t>
                      </a:r>
                    </a:p>
                  </a:txBody>
                  <a:tcPr/>
                </a:tc>
                <a:tc>
                  <a:txBody>
                    <a:bodyPr/>
                    <a:lstStyle/>
                    <a:p>
                      <a:pPr rtl="0"/>
                      <a:r>
                        <a:rPr lang="pt-BR" sz="900"/>
                        <a:t>0x1</a:t>
                      </a:r>
                    </a:p>
                  </a:txBody>
                  <a:tcPr/>
                </a:tc>
                <a:extLst>
                  <a:ext uri="{0D108BD9-81ED-4DB2-BD59-A6C34878D82A}">
                    <a16:rowId xmlns:a16="http://schemas.microsoft.com/office/drawing/2014/main" val="3026254151"/>
                  </a:ext>
                </a:extLst>
              </a:tr>
              <a:tr h="285582">
                <a:tc>
                  <a:txBody>
                    <a:bodyPr/>
                    <a:lstStyle/>
                    <a:p>
                      <a:pPr rtl="0"/>
                      <a:r>
                        <a:rPr lang="pt-BR" sz="900"/>
                        <a:t>Adicioná-los...</a:t>
                      </a:r>
                    </a:p>
                  </a:txBody>
                  <a:tcPr/>
                </a:tc>
                <a:tc>
                  <a:txBody>
                    <a:bodyPr/>
                    <a:lstStyle/>
                    <a:p>
                      <a:pPr rtl="0"/>
                      <a:r>
                        <a:rPr lang="pt-BR" sz="900"/>
                        <a:t>128</a:t>
                      </a:r>
                    </a:p>
                  </a:txBody>
                  <a:tcPr/>
                </a:tc>
                <a:tc>
                  <a:txBody>
                    <a:bodyPr/>
                    <a:lstStyle/>
                    <a:p>
                      <a:pPr rtl="0"/>
                      <a:r>
                        <a:rPr lang="pt-BR" sz="900"/>
                        <a:t>+ 64</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+ 0</a:t>
                      </a:r>
                    </a:p>
                  </a:txBody>
                  <a:tcPr/>
                </a:tc>
                <a:extLst>
                  <a:ext uri="{0D108BD9-81ED-4DB2-BD59-A6C34878D82A}">
                    <a16:rowId xmlns:a16="http://schemas.microsoft.com/office/drawing/2014/main" val="4226814726"/>
                  </a:ext>
                </a:extLst>
              </a:tr>
              <a:tr h="285582">
                <a:tc>
                  <a:txBody>
                    <a:bodyPr/>
                    <a:lstStyle/>
                    <a:p>
                      <a:pPr rtl="0"/>
                      <a:r>
                        <a:rPr lang="pt-BR" sz="900" b="1"/>
                        <a:t>Número binário (10101000)</a:t>
                      </a:r>
                    </a:p>
                  </a:txBody>
                  <a:tcPr/>
                </a:tc>
                <a:tc>
                  <a:txBody>
                    <a:bodyPr/>
                    <a:lstStyle/>
                    <a:p>
                      <a:pPr rtl="0"/>
                      <a:r>
                        <a:rPr lang="pt-BR" sz="900" b="1"/>
                        <a:t>1</a:t>
                      </a:r>
                    </a:p>
                  </a:txBody>
                  <a:tcPr/>
                </a:tc>
                <a:tc>
                  <a:txBody>
                    <a:bodyPr/>
                    <a:lstStyle/>
                    <a:p>
                      <a:pPr rtl="0"/>
                      <a:r>
                        <a:rPr lang="pt-BR" sz="900" b="1"/>
                        <a:t>0</a:t>
                      </a:r>
                    </a:p>
                  </a:txBody>
                  <a:tcPr/>
                </a:tc>
                <a:tc>
                  <a:txBody>
                    <a:bodyPr/>
                    <a:lstStyle/>
                    <a:p>
                      <a:pPr rtl="0"/>
                      <a:r>
                        <a:rPr lang="pt-BR" sz="900" b="1"/>
                        <a:t>1</a:t>
                      </a:r>
                    </a:p>
                  </a:txBody>
                  <a:tcPr/>
                </a:tc>
                <a:tc>
                  <a:txBody>
                    <a:bodyPr/>
                    <a:lstStyle/>
                    <a:p>
                      <a:pPr rtl="0"/>
                      <a:r>
                        <a:rPr lang="pt-BR" sz="900" b="1"/>
                        <a:t>0</a:t>
                      </a:r>
                    </a:p>
                  </a:txBody>
                  <a:tcPr/>
                </a:tc>
                <a:tc>
                  <a:txBody>
                    <a:bodyPr/>
                    <a:lstStyle/>
                    <a:p>
                      <a:pPr rtl="0"/>
                      <a:r>
                        <a:rPr lang="pt-BR" sz="900" b="1"/>
                        <a:t>1</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extLst>
                  <a:ext uri="{0D108BD9-81ED-4DB2-BD59-A6C34878D82A}">
                    <a16:rowId xmlns:a16="http://schemas.microsoft.com/office/drawing/2014/main" val="2135192349"/>
                  </a:ext>
                </a:extLst>
              </a:tr>
              <a:tr h="285582">
                <a:tc>
                  <a:txBody>
                    <a:bodyPr/>
                    <a:lstStyle/>
                    <a:p>
                      <a:pPr rtl="0"/>
                      <a:r>
                        <a:rPr lang="pt-BR" sz="900"/>
                        <a:t>Cáculo</a:t>
                      </a:r>
                    </a:p>
                  </a:txBody>
                  <a:tcPr/>
                </a:tc>
                <a:tc>
                  <a:txBody>
                    <a:bodyPr/>
                    <a:lstStyle/>
                    <a:p>
                      <a:pPr rtl="0"/>
                      <a:r>
                        <a:rPr lang="pt-BR" sz="900"/>
                        <a:t>1x128</a:t>
                      </a:r>
                    </a:p>
                  </a:txBody>
                  <a:tcPr/>
                </a:tc>
                <a:tc>
                  <a:txBody>
                    <a:bodyPr/>
                    <a:lstStyle/>
                    <a:p>
                      <a:pPr rtl="0"/>
                      <a:r>
                        <a:rPr lang="pt-BR" sz="900"/>
                        <a:t>0x64</a:t>
                      </a:r>
                    </a:p>
                  </a:txBody>
                  <a:tcPr/>
                </a:tc>
                <a:tc>
                  <a:txBody>
                    <a:bodyPr/>
                    <a:lstStyle/>
                    <a:p>
                      <a:pPr rtl="0"/>
                      <a:r>
                        <a:rPr lang="pt-BR" sz="900"/>
                        <a:t>1x32</a:t>
                      </a:r>
                    </a:p>
                  </a:txBody>
                  <a:tcPr/>
                </a:tc>
                <a:tc>
                  <a:txBody>
                    <a:bodyPr/>
                    <a:lstStyle/>
                    <a:p>
                      <a:pPr rtl="0"/>
                      <a:r>
                        <a:rPr lang="pt-BR" sz="900"/>
                        <a:t>0x16</a:t>
                      </a:r>
                    </a:p>
                  </a:txBody>
                  <a:tcPr/>
                </a:tc>
                <a:tc>
                  <a:txBody>
                    <a:bodyPr/>
                    <a:lstStyle/>
                    <a:p>
                      <a:pPr rtl="0"/>
                      <a:r>
                        <a:rPr lang="pt-BR" sz="900"/>
                        <a:t>1x8</a:t>
                      </a:r>
                    </a:p>
                  </a:txBody>
                  <a:tcPr/>
                </a:tc>
                <a:tc>
                  <a:txBody>
                    <a:bodyPr/>
                    <a:lstStyle/>
                    <a:p>
                      <a:pPr rtl="0"/>
                      <a:r>
                        <a:rPr lang="pt-BR" sz="900"/>
                        <a:t>0x4</a:t>
                      </a:r>
                    </a:p>
                  </a:txBody>
                  <a:tcPr/>
                </a:tc>
                <a:tc>
                  <a:txBody>
                    <a:bodyPr/>
                    <a:lstStyle/>
                    <a:p>
                      <a:pPr rtl="0"/>
                      <a:r>
                        <a:rPr lang="pt-BR" sz="900"/>
                        <a:t>0x2</a:t>
                      </a:r>
                    </a:p>
                  </a:txBody>
                  <a:tcPr/>
                </a:tc>
                <a:tc>
                  <a:txBody>
                    <a:bodyPr/>
                    <a:lstStyle/>
                    <a:p>
                      <a:pPr rtl="0"/>
                      <a:r>
                        <a:rPr lang="pt-BR" sz="900"/>
                        <a:t>0x1</a:t>
                      </a:r>
                    </a:p>
                  </a:txBody>
                  <a:tcPr/>
                </a:tc>
                <a:extLst>
                  <a:ext uri="{0D108BD9-81ED-4DB2-BD59-A6C34878D82A}">
                    <a16:rowId xmlns:a16="http://schemas.microsoft.com/office/drawing/2014/main" val="1705965177"/>
                  </a:ext>
                </a:extLst>
              </a:tr>
              <a:tr h="285582">
                <a:tc>
                  <a:txBody>
                    <a:bodyPr/>
                    <a:lstStyle/>
                    <a:p>
                      <a:pPr rtl="0"/>
                      <a:r>
                        <a:rPr lang="pt-BR" sz="900"/>
                        <a:t>Adicioná-los...</a:t>
                      </a:r>
                    </a:p>
                  </a:txBody>
                  <a:tcPr/>
                </a:tc>
                <a:tc>
                  <a:txBody>
                    <a:bodyPr/>
                    <a:lstStyle/>
                    <a:p>
                      <a:pPr rtl="0"/>
                      <a:r>
                        <a:rPr lang="pt-BR" sz="900"/>
                        <a:t>128</a:t>
                      </a:r>
                    </a:p>
                  </a:txBody>
                  <a:tcPr/>
                </a:tc>
                <a:tc>
                  <a:txBody>
                    <a:bodyPr/>
                    <a:lstStyle/>
                    <a:p>
                      <a:pPr rtl="0"/>
                      <a:r>
                        <a:rPr lang="pt-BR" sz="900"/>
                        <a:t>+ 0</a:t>
                      </a:r>
                    </a:p>
                  </a:txBody>
                  <a:tcPr/>
                </a:tc>
                <a:tc>
                  <a:txBody>
                    <a:bodyPr/>
                    <a:lstStyle/>
                    <a:p>
                      <a:pPr rtl="0"/>
                      <a:r>
                        <a:rPr lang="pt-BR" sz="900"/>
                        <a:t>+ 32</a:t>
                      </a:r>
                    </a:p>
                  </a:txBody>
                  <a:tcPr/>
                </a:tc>
                <a:tc>
                  <a:txBody>
                    <a:bodyPr/>
                    <a:lstStyle/>
                    <a:p>
                      <a:pPr rtl="0"/>
                      <a:r>
                        <a:rPr lang="pt-BR" sz="900"/>
                        <a:t>+ 0</a:t>
                      </a:r>
                    </a:p>
                  </a:txBody>
                  <a:tcPr/>
                </a:tc>
                <a:tc>
                  <a:txBody>
                    <a:bodyPr/>
                    <a:lstStyle/>
                    <a:p>
                      <a:pPr rtl="0"/>
                      <a:r>
                        <a:rPr lang="pt-BR" sz="900"/>
                        <a:t>+ 8</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+ 0</a:t>
                      </a:r>
                    </a:p>
                  </a:txBody>
                  <a:tcPr/>
                </a:tc>
                <a:extLst>
                  <a:ext uri="{0D108BD9-81ED-4DB2-BD59-A6C34878D82A}">
                    <a16:rowId xmlns:a16="http://schemas.microsoft.com/office/drawing/2014/main" val="663785248"/>
                  </a:ext>
                </a:extLst>
              </a:tr>
              <a:tr h="285582">
                <a:tc>
                  <a:txBody>
                    <a:bodyPr/>
                    <a:lstStyle/>
                    <a:p>
                      <a:pPr rtl="0"/>
                      <a:r>
                        <a:rPr lang="pt-BR" sz="900" b="1"/>
                        <a:t>Número Binário (00001011)</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1</a:t>
                      </a:r>
                    </a:p>
                  </a:txBody>
                  <a:tcPr/>
                </a:tc>
                <a:tc>
                  <a:txBody>
                    <a:bodyPr/>
                    <a:lstStyle/>
                    <a:p>
                      <a:pPr rtl="0"/>
                      <a:r>
                        <a:rPr lang="pt-BR" sz="900" b="1"/>
                        <a:t>0</a:t>
                      </a:r>
                    </a:p>
                  </a:txBody>
                  <a:tcPr/>
                </a:tc>
                <a:tc>
                  <a:txBody>
                    <a:bodyPr/>
                    <a:lstStyle/>
                    <a:p>
                      <a:pPr rtl="0"/>
                      <a:r>
                        <a:rPr lang="pt-BR" sz="900" b="1"/>
                        <a:t>1</a:t>
                      </a:r>
                    </a:p>
                  </a:txBody>
                  <a:tcPr/>
                </a:tc>
                <a:tc>
                  <a:txBody>
                    <a:bodyPr/>
                    <a:lstStyle/>
                    <a:p>
                      <a:pPr rtl="0"/>
                      <a:r>
                        <a:rPr lang="pt-BR" sz="900" b="1"/>
                        <a:t>1</a:t>
                      </a:r>
                    </a:p>
                  </a:txBody>
                  <a:tcPr/>
                </a:tc>
                <a:extLst>
                  <a:ext uri="{0D108BD9-81ED-4DB2-BD59-A6C34878D82A}">
                    <a16:rowId xmlns:a16="http://schemas.microsoft.com/office/drawing/2014/main" val="811484521"/>
                  </a:ext>
                </a:extLst>
              </a:tr>
              <a:tr h="285582">
                <a:tc>
                  <a:txBody>
                    <a:bodyPr/>
                    <a:lstStyle/>
                    <a:p>
                      <a:pPr rtl="0"/>
                      <a:r>
                        <a:rPr lang="pt-BR" sz="900"/>
                        <a:t>Cálculo</a:t>
                      </a:r>
                    </a:p>
                  </a:txBody>
                  <a:tcPr/>
                </a:tc>
                <a:tc>
                  <a:txBody>
                    <a:bodyPr/>
                    <a:lstStyle/>
                    <a:p>
                      <a:pPr rtl="0"/>
                      <a:r>
                        <a:rPr lang="pt-BR" sz="900"/>
                        <a:t>0x128</a:t>
                      </a:r>
                    </a:p>
                  </a:txBody>
                  <a:tcPr/>
                </a:tc>
                <a:tc>
                  <a:txBody>
                    <a:bodyPr/>
                    <a:lstStyle/>
                    <a:p>
                      <a:pPr rtl="0"/>
                      <a:r>
                        <a:rPr lang="pt-BR" sz="900"/>
                        <a:t>0x64</a:t>
                      </a:r>
                    </a:p>
                  </a:txBody>
                  <a:tcPr/>
                </a:tc>
                <a:tc>
                  <a:txBody>
                    <a:bodyPr/>
                    <a:lstStyle/>
                    <a:p>
                      <a:pPr rtl="0"/>
                      <a:r>
                        <a:rPr lang="pt-BR" sz="900"/>
                        <a:t>0x32</a:t>
                      </a:r>
                    </a:p>
                  </a:txBody>
                  <a:tcPr/>
                </a:tc>
                <a:tc>
                  <a:txBody>
                    <a:bodyPr/>
                    <a:lstStyle/>
                    <a:p>
                      <a:pPr rtl="0"/>
                      <a:r>
                        <a:rPr lang="pt-BR" sz="900"/>
                        <a:t>0x16</a:t>
                      </a:r>
                    </a:p>
                  </a:txBody>
                  <a:tcPr/>
                </a:tc>
                <a:tc>
                  <a:txBody>
                    <a:bodyPr/>
                    <a:lstStyle/>
                    <a:p>
                      <a:pPr rtl="0"/>
                      <a:r>
                        <a:rPr lang="pt-BR" sz="900"/>
                        <a:t>1x8</a:t>
                      </a:r>
                    </a:p>
                  </a:txBody>
                  <a:tcPr/>
                </a:tc>
                <a:tc>
                  <a:txBody>
                    <a:bodyPr/>
                    <a:lstStyle/>
                    <a:p>
                      <a:pPr rtl="0"/>
                      <a:r>
                        <a:rPr lang="pt-BR" sz="900"/>
                        <a:t>0x4</a:t>
                      </a:r>
                    </a:p>
                  </a:txBody>
                  <a:tcPr/>
                </a:tc>
                <a:tc>
                  <a:txBody>
                    <a:bodyPr/>
                    <a:lstStyle/>
                    <a:p>
                      <a:pPr rtl="0"/>
                      <a:r>
                        <a:rPr lang="pt-BR" sz="900"/>
                        <a:t>1x2</a:t>
                      </a:r>
                    </a:p>
                  </a:txBody>
                  <a:tcPr/>
                </a:tc>
                <a:tc>
                  <a:txBody>
                    <a:bodyPr/>
                    <a:lstStyle/>
                    <a:p>
                      <a:pPr rtl="0"/>
                      <a:r>
                        <a:rPr lang="pt-BR" sz="900"/>
                        <a:t>1x1</a:t>
                      </a:r>
                    </a:p>
                  </a:txBody>
                  <a:tcPr/>
                </a:tc>
                <a:extLst>
                  <a:ext uri="{0D108BD9-81ED-4DB2-BD59-A6C34878D82A}">
                    <a16:rowId xmlns:a16="http://schemas.microsoft.com/office/drawing/2014/main" val="480687189"/>
                  </a:ext>
                </a:extLst>
              </a:tr>
              <a:tr h="285582">
                <a:tc>
                  <a:txBody>
                    <a:bodyPr/>
                    <a:lstStyle/>
                    <a:p>
                      <a:pPr rtl="0"/>
                      <a:r>
                        <a:rPr lang="pt-BR" sz="900"/>
                        <a:t>Adicioná-los...</a:t>
                      </a:r>
                    </a:p>
                  </a:txBody>
                  <a:tcPr/>
                </a:tc>
                <a:tc>
                  <a:txBody>
                    <a:bodyPr/>
                    <a:lstStyle/>
                    <a:p>
                      <a:pPr rtl="0"/>
                      <a:r>
                        <a:rPr lang="pt-BR" sz="900"/>
                        <a:t>0</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+ 8</a:t>
                      </a:r>
                    </a:p>
                  </a:txBody>
                  <a:tcPr/>
                </a:tc>
                <a:tc>
                  <a:txBody>
                    <a:bodyPr/>
                    <a:lstStyle/>
                    <a:p>
                      <a:pPr rtl="0"/>
                      <a:r>
                        <a:rPr lang="pt-BR" sz="900"/>
                        <a:t>+ 0</a:t>
                      </a:r>
                    </a:p>
                  </a:txBody>
                  <a:tcPr/>
                </a:tc>
                <a:tc>
                  <a:txBody>
                    <a:bodyPr/>
                    <a:lstStyle/>
                    <a:p>
                      <a:pPr rtl="0"/>
                      <a:r>
                        <a:rPr lang="pt-BR" sz="900"/>
                        <a:t>+ 2</a:t>
                      </a:r>
                    </a:p>
                  </a:txBody>
                  <a:tcPr/>
                </a:tc>
                <a:tc>
                  <a:txBody>
                    <a:bodyPr/>
                    <a:lstStyle/>
                    <a:p>
                      <a:pPr rtl="0"/>
                      <a:r>
                        <a:rPr lang="pt-BR" sz="900"/>
                        <a:t>+ 1</a:t>
                      </a:r>
                    </a:p>
                  </a:txBody>
                  <a:tcPr/>
                </a:tc>
                <a:extLst>
                  <a:ext uri="{0D108BD9-81ED-4DB2-BD59-A6C34878D82A}">
                    <a16:rowId xmlns:a16="http://schemas.microsoft.com/office/drawing/2014/main" val="191276895"/>
                  </a:ext>
                </a:extLst>
              </a:tr>
              <a:tr h="285582">
                <a:tc>
                  <a:txBody>
                    <a:bodyPr/>
                    <a:lstStyle/>
                    <a:p>
                      <a:pPr rtl="0"/>
                      <a:r>
                        <a:rPr lang="pt-BR" sz="900" b="1"/>
                        <a:t>Número Binário (00001010)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0</a:t>
                      </a:r>
                    </a:p>
                  </a:txBody>
                  <a:tcPr/>
                </a:tc>
                <a:tc>
                  <a:txBody>
                    <a:bodyPr/>
                    <a:lstStyle/>
                    <a:p>
                      <a:pPr rtl="0"/>
                      <a:r>
                        <a:rPr lang="pt-BR" sz="900" b="1"/>
                        <a:t>1</a:t>
                      </a:r>
                    </a:p>
                  </a:txBody>
                  <a:tcPr/>
                </a:tc>
                <a:tc>
                  <a:txBody>
                    <a:bodyPr/>
                    <a:lstStyle/>
                    <a:p>
                      <a:pPr rtl="0"/>
                      <a:r>
                        <a:rPr lang="pt-BR" sz="900" b="1"/>
                        <a:t>0</a:t>
                      </a:r>
                    </a:p>
                  </a:txBody>
                  <a:tcPr/>
                </a:tc>
                <a:tc>
                  <a:txBody>
                    <a:bodyPr/>
                    <a:lstStyle/>
                    <a:p>
                      <a:pPr rtl="0"/>
                      <a:r>
                        <a:rPr lang="pt-BR" sz="900" b="1"/>
                        <a:t>1</a:t>
                      </a:r>
                    </a:p>
                  </a:txBody>
                  <a:tcPr/>
                </a:tc>
                <a:tc>
                  <a:txBody>
                    <a:bodyPr/>
                    <a:lstStyle/>
                    <a:p>
                      <a:pPr rtl="0"/>
                      <a:r>
                        <a:rPr lang="pt-BR" sz="900" b="1"/>
                        <a:t>0</a:t>
                      </a:r>
                    </a:p>
                  </a:txBody>
                  <a:tcPr/>
                </a:tc>
                <a:extLst>
                  <a:ext uri="{0D108BD9-81ED-4DB2-BD59-A6C34878D82A}">
                    <a16:rowId xmlns:a16="http://schemas.microsoft.com/office/drawing/2014/main" val="2114818952"/>
                  </a:ext>
                </a:extLst>
              </a:tr>
              <a:tr h="285582">
                <a:tc>
                  <a:txBody>
                    <a:bodyPr/>
                    <a:lstStyle/>
                    <a:p>
                      <a:pPr rtl="0"/>
                      <a:r>
                        <a:rPr lang="pt-BR" sz="900"/>
                        <a:t>Cáculo</a:t>
                      </a:r>
                    </a:p>
                  </a:txBody>
                  <a:tcPr/>
                </a:tc>
                <a:tc>
                  <a:txBody>
                    <a:bodyPr/>
                    <a:lstStyle/>
                    <a:p>
                      <a:pPr rtl="0"/>
                      <a:r>
                        <a:rPr lang="pt-BR" sz="900"/>
                        <a:t>0x128</a:t>
                      </a:r>
                    </a:p>
                  </a:txBody>
                  <a:tcPr/>
                </a:tc>
                <a:tc>
                  <a:txBody>
                    <a:bodyPr/>
                    <a:lstStyle/>
                    <a:p>
                      <a:pPr rtl="0"/>
                      <a:r>
                        <a:rPr lang="pt-BR" sz="900"/>
                        <a:t>0x64</a:t>
                      </a:r>
                    </a:p>
                  </a:txBody>
                  <a:tcPr/>
                </a:tc>
                <a:tc>
                  <a:txBody>
                    <a:bodyPr/>
                    <a:lstStyle/>
                    <a:p>
                      <a:pPr rtl="0"/>
                      <a:r>
                        <a:rPr lang="pt-BR" sz="900"/>
                        <a:t>0x32</a:t>
                      </a:r>
                    </a:p>
                  </a:txBody>
                  <a:tcPr/>
                </a:tc>
                <a:tc>
                  <a:txBody>
                    <a:bodyPr/>
                    <a:lstStyle/>
                    <a:p>
                      <a:pPr rtl="0"/>
                      <a:r>
                        <a:rPr lang="pt-BR" sz="900"/>
                        <a:t>0x16</a:t>
                      </a:r>
                    </a:p>
                  </a:txBody>
                  <a:tcPr/>
                </a:tc>
                <a:tc>
                  <a:txBody>
                    <a:bodyPr/>
                    <a:lstStyle/>
                    <a:p>
                      <a:pPr rtl="0"/>
                      <a:r>
                        <a:rPr lang="pt-BR" sz="900"/>
                        <a:t>1x8</a:t>
                      </a:r>
                    </a:p>
                  </a:txBody>
                  <a:tcPr/>
                </a:tc>
                <a:tc>
                  <a:txBody>
                    <a:bodyPr/>
                    <a:lstStyle/>
                    <a:p>
                      <a:pPr rtl="0"/>
                      <a:r>
                        <a:rPr lang="pt-BR" sz="900"/>
                        <a:t>0x4</a:t>
                      </a:r>
                    </a:p>
                  </a:txBody>
                  <a:tcPr/>
                </a:tc>
                <a:tc>
                  <a:txBody>
                    <a:bodyPr/>
                    <a:lstStyle/>
                    <a:p>
                      <a:pPr rtl="0"/>
                      <a:r>
                        <a:rPr lang="pt-BR" sz="900"/>
                        <a:t>1x2</a:t>
                      </a:r>
                    </a:p>
                  </a:txBody>
                  <a:tcPr/>
                </a:tc>
                <a:tc>
                  <a:txBody>
                    <a:bodyPr/>
                    <a:lstStyle/>
                    <a:p>
                      <a:pPr rtl="0"/>
                      <a:r>
                        <a:rPr lang="pt-BR" sz="900"/>
                        <a:t>0x1</a:t>
                      </a:r>
                    </a:p>
                  </a:txBody>
                  <a:tcPr/>
                </a:tc>
                <a:extLst>
                  <a:ext uri="{0D108BD9-81ED-4DB2-BD59-A6C34878D82A}">
                    <a16:rowId xmlns:a16="http://schemas.microsoft.com/office/drawing/2014/main" val="2987708464"/>
                  </a:ext>
                </a:extLst>
              </a:tr>
              <a:tr h="285582">
                <a:tc>
                  <a:txBody>
                    <a:bodyPr/>
                    <a:lstStyle/>
                    <a:p>
                      <a:pPr rtl="0"/>
                      <a:r>
                        <a:rPr lang="pt-BR" sz="900"/>
                        <a:t>Adicioná-los...</a:t>
                      </a:r>
                    </a:p>
                  </a:txBody>
                  <a:tcPr/>
                </a:tc>
                <a:tc>
                  <a:txBody>
                    <a:bodyPr/>
                    <a:lstStyle/>
                    <a:p>
                      <a:pPr rtl="0"/>
                      <a:r>
                        <a:rPr lang="pt-BR" sz="900"/>
                        <a:t>0</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+ 0</a:t>
                      </a:r>
                    </a:p>
                  </a:txBody>
                  <a:tcPr/>
                </a:tc>
                <a:tc>
                  <a:txBody>
                    <a:bodyPr/>
                    <a:lstStyle/>
                    <a:p>
                      <a:pPr rtl="0"/>
                      <a:r>
                        <a:rPr lang="pt-BR" sz="900"/>
                        <a:t>+ 8</a:t>
                      </a:r>
                    </a:p>
                  </a:txBody>
                  <a:tcPr/>
                </a:tc>
                <a:tc>
                  <a:txBody>
                    <a:bodyPr/>
                    <a:lstStyle/>
                    <a:p>
                      <a:pPr rtl="0"/>
                      <a:r>
                        <a:rPr lang="pt-BR" sz="900"/>
                        <a:t>+ 0</a:t>
                      </a:r>
                    </a:p>
                  </a:txBody>
                  <a:tcPr/>
                </a:tc>
                <a:tc>
                  <a:txBody>
                    <a:bodyPr/>
                    <a:lstStyle/>
                    <a:p>
                      <a:pPr rtl="0"/>
                      <a:r>
                        <a:rPr lang="pt-BR" sz="900"/>
                        <a:t>+ 2</a:t>
                      </a:r>
                    </a:p>
                  </a:txBody>
                  <a:tcPr/>
                </a:tc>
                <a:tc>
                  <a:txBody>
                    <a:bodyPr/>
                    <a:lstStyle/>
                    <a:p>
                      <a:pPr rtl="0"/>
                      <a:r>
                        <a:rPr lang="pt-BR" sz="900"/>
                        <a:t>+ 0</a:t>
                      </a:r>
                    </a:p>
                  </a:txBody>
                  <a:tcPr/>
                </a:tc>
                <a:extLst>
                  <a:ext uri="{0D108BD9-81ED-4DB2-BD59-A6C34878D82A}">
                    <a16:rowId xmlns:a16="http://schemas.microsoft.com/office/drawing/2014/main" val="1243732414"/>
                  </a:ext>
                </a:extLst>
              </a:tr>
            </a:tbl>
          </a:graphicData>
        </a:graphic>
      </p:graphicFrame>
      <p:sp>
        <p:nvSpPr>
          <p:cNvPr id="10" name="Striped Right Arrow 9">
            <a:extLst>
              <a:ext uri="{FF2B5EF4-FFF2-40B4-BE49-F238E27FC236}">
                <a16:creationId xmlns:a16="http://schemas.microsoft.com/office/drawing/2014/main" id="{D49ED2DC-1A84-EF4D-A815-27AB78E5A890}"/>
              </a:ext>
            </a:extLst>
          </p:cNvPr>
          <p:cNvSpPr/>
          <p:nvPr/>
        </p:nvSpPr>
        <p:spPr>
          <a:xfrm>
            <a:off x="5760005" y="1774309"/>
            <a:ext cx="381044" cy="192271"/>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4DF44BE1-E74E-B943-ACAF-701CDE5A5AB1}"/>
              </a:ext>
            </a:extLst>
          </p:cNvPr>
          <p:cNvSpPr txBox="1"/>
          <p:nvPr/>
        </p:nvSpPr>
        <p:spPr>
          <a:xfrm>
            <a:off x="6141049" y="1668465"/>
            <a:ext cx="526106" cy="338554"/>
          </a:xfrm>
          <a:prstGeom prst="rect">
            <a:avLst/>
          </a:prstGeom>
          <a:noFill/>
        </p:spPr>
        <p:txBody>
          <a:bodyPr wrap="none" rtlCol="0">
            <a:spAutoFit/>
          </a:bodyPr>
          <a:lstStyle/>
          <a:p>
            <a:pPr rtl="0"/>
            <a:r>
              <a:rPr lang="pt-BR" sz="1600"/>
              <a:t>192</a:t>
            </a:r>
          </a:p>
        </p:txBody>
      </p:sp>
      <p:sp>
        <p:nvSpPr>
          <p:cNvPr id="11" name="Striped Right Arrow 10">
            <a:extLst>
              <a:ext uri="{FF2B5EF4-FFF2-40B4-BE49-F238E27FC236}">
                <a16:creationId xmlns:a16="http://schemas.microsoft.com/office/drawing/2014/main" id="{E2DD788D-C7C9-8F41-9780-6C918558245C}"/>
              </a:ext>
            </a:extLst>
          </p:cNvPr>
          <p:cNvSpPr/>
          <p:nvPr/>
        </p:nvSpPr>
        <p:spPr>
          <a:xfrm>
            <a:off x="5760005" y="2630210"/>
            <a:ext cx="381044" cy="192271"/>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23DAB09D-5C2D-3F4E-8845-7623CD741BA3}"/>
              </a:ext>
            </a:extLst>
          </p:cNvPr>
          <p:cNvSpPr txBox="1"/>
          <p:nvPr/>
        </p:nvSpPr>
        <p:spPr>
          <a:xfrm>
            <a:off x="6141049" y="2562677"/>
            <a:ext cx="526106" cy="338554"/>
          </a:xfrm>
          <a:prstGeom prst="rect">
            <a:avLst/>
          </a:prstGeom>
          <a:noFill/>
        </p:spPr>
        <p:txBody>
          <a:bodyPr wrap="none" rtlCol="0">
            <a:spAutoFit/>
          </a:bodyPr>
          <a:lstStyle/>
          <a:p>
            <a:pPr rtl="0"/>
            <a:r>
              <a:rPr lang="pt-BR" sz="1600"/>
              <a:t>168</a:t>
            </a:r>
          </a:p>
        </p:txBody>
      </p:sp>
      <p:sp>
        <p:nvSpPr>
          <p:cNvPr id="12" name="Striped Right Arrow 11">
            <a:extLst>
              <a:ext uri="{FF2B5EF4-FFF2-40B4-BE49-F238E27FC236}">
                <a16:creationId xmlns:a16="http://schemas.microsoft.com/office/drawing/2014/main" id="{141871DF-706B-6245-89ED-0FF3A3547950}"/>
              </a:ext>
            </a:extLst>
          </p:cNvPr>
          <p:cNvSpPr/>
          <p:nvPr/>
        </p:nvSpPr>
        <p:spPr>
          <a:xfrm>
            <a:off x="5760005" y="3453770"/>
            <a:ext cx="381044" cy="192271"/>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E3F7ACE9-16B2-3749-863C-F4F3A589F177}"/>
              </a:ext>
            </a:extLst>
          </p:cNvPr>
          <p:cNvSpPr txBox="1"/>
          <p:nvPr/>
        </p:nvSpPr>
        <p:spPr>
          <a:xfrm>
            <a:off x="6141049" y="3380628"/>
            <a:ext cx="397032" cy="338554"/>
          </a:xfrm>
          <a:prstGeom prst="rect">
            <a:avLst/>
          </a:prstGeom>
          <a:noFill/>
        </p:spPr>
        <p:txBody>
          <a:bodyPr wrap="none" rtlCol="0">
            <a:spAutoFit/>
          </a:bodyPr>
          <a:lstStyle/>
          <a:p>
            <a:pPr rtl="0"/>
            <a:r>
              <a:rPr lang="pt-BR" sz="1600"/>
              <a:t>11</a:t>
            </a:r>
          </a:p>
        </p:txBody>
      </p:sp>
      <p:sp>
        <p:nvSpPr>
          <p:cNvPr id="13" name="Striped Right Arrow 12">
            <a:extLst>
              <a:ext uri="{FF2B5EF4-FFF2-40B4-BE49-F238E27FC236}">
                <a16:creationId xmlns:a16="http://schemas.microsoft.com/office/drawing/2014/main" id="{0C9E7D89-0647-014E-B2C5-64798F2B969B}"/>
              </a:ext>
            </a:extLst>
          </p:cNvPr>
          <p:cNvSpPr/>
          <p:nvPr/>
        </p:nvSpPr>
        <p:spPr>
          <a:xfrm>
            <a:off x="5760005" y="4277330"/>
            <a:ext cx="381044" cy="192271"/>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50657E43-4134-CF48-A3F5-8683E2255920}"/>
              </a:ext>
            </a:extLst>
          </p:cNvPr>
          <p:cNvSpPr txBox="1"/>
          <p:nvPr/>
        </p:nvSpPr>
        <p:spPr>
          <a:xfrm>
            <a:off x="6176476" y="4215204"/>
            <a:ext cx="412292" cy="338554"/>
          </a:xfrm>
          <a:prstGeom prst="rect">
            <a:avLst/>
          </a:prstGeom>
          <a:noFill/>
        </p:spPr>
        <p:txBody>
          <a:bodyPr wrap="none" rtlCol="0">
            <a:spAutoFit/>
          </a:bodyPr>
          <a:lstStyle/>
          <a:p>
            <a:pPr rtl="0"/>
            <a:r>
              <a:rPr lang="pt-BR" sz="1600"/>
              <a:t>10</a:t>
            </a:r>
          </a:p>
        </p:txBody>
      </p:sp>
      <p:sp>
        <p:nvSpPr>
          <p:cNvPr id="18" name="TextBox 17">
            <a:extLst>
              <a:ext uri="{FF2B5EF4-FFF2-40B4-BE49-F238E27FC236}">
                <a16:creationId xmlns:a16="http://schemas.microsoft.com/office/drawing/2014/main" id="{C7CEEC7A-5727-4044-985E-A3720E5F431A}"/>
              </a:ext>
            </a:extLst>
          </p:cNvPr>
          <p:cNvSpPr txBox="1"/>
          <p:nvPr/>
        </p:nvSpPr>
        <p:spPr>
          <a:xfrm>
            <a:off x="7048199" y="2901231"/>
            <a:ext cx="1480662" cy="338554"/>
          </a:xfrm>
          <a:prstGeom prst="rect">
            <a:avLst/>
          </a:prstGeom>
          <a:noFill/>
        </p:spPr>
        <p:txBody>
          <a:bodyPr wrap="none" rtlCol="0">
            <a:spAutoFit/>
          </a:bodyPr>
          <a:lstStyle/>
          <a:p>
            <a:pPr rtl="0"/>
            <a:r>
              <a:rPr lang="pt-BR" sz="1600"/>
              <a:t>192.168.11.10</a:t>
            </a:r>
          </a:p>
        </p:txBody>
      </p:sp>
    </p:spTree>
    <p:extLst>
      <p:ext uri="{BB962C8B-B14F-4D97-AF65-F5344CB8AC3E}">
        <p14:creationId xmlns:p14="http://schemas.microsoft.com/office/powerpoint/2010/main" val="413044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Binário de Numeração</a:t>
            </a:r>
            <a:br>
              <a:rPr lang="en-US" dirty="0"/>
            </a:br>
            <a:r>
              <a:rPr lang="pt-BR" sz="2400"/>
              <a:t>Conterter Binário para Decimal</a:t>
            </a:r>
          </a:p>
        </p:txBody>
      </p:sp>
      <p:sp>
        <p:nvSpPr>
          <p:cNvPr id="4" name="Content Placeholder 3">
            <a:extLst>
              <a:ext uri="{FF2B5EF4-FFF2-40B4-BE49-F238E27FC236}">
                <a16:creationId xmlns:a16="http://schemas.microsoft.com/office/drawing/2014/main" id="{71329901-EBC7-0747-A1C2-F937CA26E4B5}"/>
              </a:ext>
            </a:extLst>
          </p:cNvPr>
          <p:cNvSpPr>
            <a:spLocks noGrp="1"/>
          </p:cNvSpPr>
          <p:nvPr>
            <p:ph idx="1"/>
          </p:nvPr>
        </p:nvSpPr>
        <p:spPr>
          <a:xfrm>
            <a:off x="358285" y="753957"/>
            <a:ext cx="8169608" cy="613657"/>
          </a:xfrm>
        </p:spPr>
        <p:txBody>
          <a:bodyPr/>
          <a:lstStyle/>
          <a:p>
            <a:pPr marL="0" indent="0" algn="l" rtl="0"/>
            <a:r>
              <a:rPr lang="pt-BR" sz="1600">
                <a:solidFill>
                  <a:srgbClr val="000000"/>
                </a:solidFill>
              </a:rPr>
              <a:t>A tabela de valores posicionais binários é útil na conversão de um endereço IPv4 decimal pontilhado em binário.</a:t>
            </a:r>
          </a:p>
        </p:txBody>
      </p:sp>
      <p:sp>
        <p:nvSpPr>
          <p:cNvPr id="11" name="TextBox 10">
            <a:extLst>
              <a:ext uri="{FF2B5EF4-FFF2-40B4-BE49-F238E27FC236}">
                <a16:creationId xmlns:a16="http://schemas.microsoft.com/office/drawing/2014/main" id="{FCD84704-3B8B-8A4B-8934-63877DA7F66D}"/>
              </a:ext>
            </a:extLst>
          </p:cNvPr>
          <p:cNvSpPr txBox="1"/>
          <p:nvPr/>
        </p:nvSpPr>
        <p:spPr>
          <a:xfrm>
            <a:off x="499729" y="1453629"/>
            <a:ext cx="3831202" cy="2893100"/>
          </a:xfrm>
          <a:prstGeom prst="rect">
            <a:avLst/>
          </a:prstGeom>
          <a:noFill/>
        </p:spPr>
        <p:txBody>
          <a:bodyPr wrap="square" rtlCol="0">
            <a:spAutoFit/>
          </a:bodyPr>
          <a:lstStyle/>
          <a:p>
            <a:pPr marL="431860" lvl="2" indent="-285750" rtl="0">
              <a:buFont typeface="Arial" panose="020B0604020202020204" pitchFamily="34" charset="0"/>
              <a:buChar char="•"/>
            </a:pPr>
            <a:r>
              <a:rPr lang="pt-BR" sz="1400">
                <a:solidFill>
                  <a:srgbClr val="000000"/>
                </a:solidFill>
              </a:rPr>
              <a:t>Comece na posição 128 (o bit mais significativo). O número decimal do octeto (n) é igual ou superior a 128?</a:t>
            </a:r>
          </a:p>
          <a:p>
            <a:pPr marL="431860" lvl="2" indent="-285750" rtl="0">
              <a:buFont typeface="Arial" panose="020B0604020202020204" pitchFamily="34" charset="0"/>
              <a:buChar char="•"/>
            </a:pPr>
            <a:r>
              <a:rPr lang="pt-BR" sz="1400">
                <a:solidFill>
                  <a:srgbClr val="000000"/>
                </a:solidFill>
              </a:rPr>
              <a:t>Se não, registre um binário 0 no valor posicional 128 e mova para o valor posicional 64.</a:t>
            </a:r>
          </a:p>
          <a:p>
            <a:pPr marL="431860" lvl="2" indent="-285750" rtl="0">
              <a:buFont typeface="Arial" panose="020B0604020202020204" pitchFamily="34" charset="0"/>
              <a:buChar char="•"/>
            </a:pPr>
            <a:r>
              <a:rPr lang="pt-BR" sz="1400">
                <a:solidFill>
                  <a:srgbClr val="000000"/>
                </a:solidFill>
              </a:rPr>
              <a:t>Se sim, registre um 1 binário no valor posicional 128, subtraia 128 do número decimal e vá para o valor posicional 64.</a:t>
            </a:r>
          </a:p>
          <a:p>
            <a:pPr marL="431860" lvl="2" indent="-285750" rtl="0">
              <a:buFont typeface="Arial" panose="020B0604020202020204" pitchFamily="34" charset="0"/>
              <a:buChar char="•"/>
            </a:pPr>
            <a:r>
              <a:rPr lang="pt-BR" sz="1400">
                <a:solidFill>
                  <a:srgbClr val="000000"/>
                </a:solidFill>
              </a:rPr>
              <a:t>Repita estas etapas através do valor posicional 1.</a:t>
            </a:r>
          </a:p>
        </p:txBody>
      </p:sp>
      <p:pic>
        <p:nvPicPr>
          <p:cNvPr id="10" name="Picture 9">
            <a:extLst>
              <a:ext uri="{FF2B5EF4-FFF2-40B4-BE49-F238E27FC236}">
                <a16:creationId xmlns:a16="http://schemas.microsoft.com/office/drawing/2014/main" id="{A5B9CF60-26BD-2A4F-84D1-1606E7654894}"/>
              </a:ext>
            </a:extLst>
          </p:cNvPr>
          <p:cNvPicPr>
            <a:picLocks noChangeAspect="1"/>
          </p:cNvPicPr>
          <p:nvPr/>
        </p:nvPicPr>
        <p:blipFill>
          <a:blip r:embed="rId3"/>
          <a:stretch>
            <a:fillRect/>
          </a:stretch>
        </p:blipFill>
        <p:spPr>
          <a:xfrm>
            <a:off x="4330930" y="1383647"/>
            <a:ext cx="4680513" cy="2806700"/>
          </a:xfrm>
          <a:prstGeom prst="rect">
            <a:avLst/>
          </a:prstGeom>
        </p:spPr>
      </p:pic>
    </p:spTree>
    <p:extLst>
      <p:ext uri="{BB962C8B-B14F-4D97-AF65-F5344CB8AC3E}">
        <p14:creationId xmlns:p14="http://schemas.microsoft.com/office/powerpoint/2010/main" val="1321546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Binário de Numeração</a:t>
            </a:r>
            <a:br>
              <a:rPr lang="en-US" dirty="0"/>
            </a:br>
            <a:r>
              <a:rPr lang="pt-BR" sz="2400"/>
              <a:t> Exemplo de Conversão de Decimal para Binário</a:t>
            </a:r>
          </a:p>
        </p:txBody>
      </p:sp>
      <p:sp>
        <p:nvSpPr>
          <p:cNvPr id="5" name="Content Placeholder 4">
            <a:extLst>
              <a:ext uri="{FF2B5EF4-FFF2-40B4-BE49-F238E27FC236}">
                <a16:creationId xmlns:a16="http://schemas.microsoft.com/office/drawing/2014/main" id="{D0E0F311-4D33-514A-9143-27C3742AEF4A}"/>
              </a:ext>
            </a:extLst>
          </p:cNvPr>
          <p:cNvSpPr>
            <a:spLocks noGrp="1"/>
          </p:cNvSpPr>
          <p:nvPr>
            <p:ph idx="1"/>
          </p:nvPr>
        </p:nvSpPr>
        <p:spPr>
          <a:xfrm>
            <a:off x="474661" y="786907"/>
            <a:ext cx="8280057" cy="448354"/>
          </a:xfrm>
        </p:spPr>
        <p:txBody>
          <a:bodyPr/>
          <a:lstStyle/>
          <a:p>
            <a:pPr marL="342900" indent="-342900" algn="l" rtl="0">
              <a:buFont typeface="Arial" panose="020B0604020202020204" pitchFamily="34" charset="0"/>
              <a:buChar char="•"/>
            </a:pPr>
            <a:r>
              <a:rPr lang="pt-BR">
                <a:solidFill>
                  <a:srgbClr val="000000"/>
                </a:solidFill>
              </a:rPr>
              <a:t>Converter decimal 168 em binário</a:t>
            </a:r>
          </a:p>
        </p:txBody>
      </p:sp>
      <p:sp>
        <p:nvSpPr>
          <p:cNvPr id="7" name="TextBox 6">
            <a:extLst>
              <a:ext uri="{FF2B5EF4-FFF2-40B4-BE49-F238E27FC236}">
                <a16:creationId xmlns:a16="http://schemas.microsoft.com/office/drawing/2014/main" id="{584FBDCB-1E6D-BB46-BF05-F3AEE9F9019F}"/>
              </a:ext>
            </a:extLst>
          </p:cNvPr>
          <p:cNvSpPr txBox="1"/>
          <p:nvPr/>
        </p:nvSpPr>
        <p:spPr>
          <a:xfrm>
            <a:off x="1720182" y="1235260"/>
            <a:ext cx="5134291" cy="2462213"/>
          </a:xfrm>
          <a:prstGeom prst="rect">
            <a:avLst/>
          </a:prstGeom>
          <a:noFill/>
        </p:spPr>
        <p:txBody>
          <a:bodyPr wrap="none" rtlCol="0">
            <a:spAutoFit/>
          </a:bodyPr>
          <a:lstStyle/>
          <a:p>
            <a:pPr rtl="0"/>
            <a:r>
              <a:rPr lang="pt-BR" sz="1400">
                <a:solidFill>
                  <a:srgbClr val="000000"/>
                </a:solidFill>
              </a:rPr>
              <a:t>168 é &gt; 128?</a:t>
            </a:r>
          </a:p>
          <a:p>
            <a:pPr marL="285750" indent="-285750" rtl="0">
              <a:buFontTx/>
              <a:buChar char="-"/>
            </a:pPr>
            <a:r>
              <a:rPr lang="pt-BR" sz="1400">
                <a:solidFill>
                  <a:srgbClr val="000000"/>
                </a:solidFill>
              </a:rPr>
              <a:t>Sim, digite 1 na posição 128 e subtraia 128 (168-128=40)</a:t>
            </a:r>
          </a:p>
          <a:p>
            <a:pPr rtl="0"/>
            <a:r>
              <a:rPr lang="pt-BR" sz="1400">
                <a:solidFill>
                  <a:srgbClr val="000000"/>
                </a:solidFill>
              </a:rPr>
              <a:t>40 é &gt;= 64?</a:t>
            </a:r>
          </a:p>
          <a:p>
            <a:pPr marL="285750" indent="-285750" rtl="0">
              <a:buFontTx/>
              <a:buChar char="-"/>
            </a:pPr>
            <a:r>
              <a:rPr lang="pt-BR" sz="1400">
                <a:solidFill>
                  <a:srgbClr val="000000"/>
                </a:solidFill>
              </a:rPr>
              <a:t>Não, digite 0 na posição 64 e siga em frente</a:t>
            </a:r>
          </a:p>
          <a:p>
            <a:pPr rtl="0"/>
            <a:r>
              <a:rPr lang="pt-BR" sz="1400">
                <a:solidFill>
                  <a:srgbClr val="000000"/>
                </a:solidFill>
              </a:rPr>
              <a:t>É 40 &gt; 32?</a:t>
            </a:r>
          </a:p>
          <a:p>
            <a:pPr marL="285750" indent="-285750" rtl="0">
              <a:buFontTx/>
              <a:buChar char="-"/>
            </a:pPr>
            <a:r>
              <a:rPr lang="pt-BR" sz="1400">
                <a:solidFill>
                  <a:srgbClr val="000000"/>
                </a:solidFill>
              </a:rPr>
              <a:t>Sim, digite 1 na posição 32 e subtraia 32 (40-32=8)</a:t>
            </a:r>
          </a:p>
          <a:p>
            <a:pPr rtl="0"/>
            <a:r>
              <a:rPr lang="pt-BR" sz="1400">
                <a:solidFill>
                  <a:srgbClr val="000000"/>
                </a:solidFill>
              </a:rPr>
              <a:t>É 8 &gt; 16?</a:t>
            </a:r>
          </a:p>
          <a:p>
            <a:pPr marL="285750" indent="-285750" rtl="0">
              <a:buFontTx/>
              <a:buChar char="-"/>
            </a:pPr>
            <a:r>
              <a:rPr lang="pt-BR" sz="1400">
                <a:solidFill>
                  <a:srgbClr val="000000"/>
                </a:solidFill>
              </a:rPr>
              <a:t>Não, digite 0 na posição 16 e siga em frente</a:t>
            </a:r>
          </a:p>
          <a:p>
            <a:pPr rtl="0"/>
            <a:r>
              <a:rPr lang="pt-BR" sz="1400">
                <a:solidFill>
                  <a:srgbClr val="000000"/>
                </a:solidFill>
              </a:rPr>
              <a:t>8 é &gt; 8?</a:t>
            </a:r>
          </a:p>
          <a:p>
            <a:pPr marL="285750" indent="-285750" rtl="0">
              <a:buFontTx/>
              <a:buChar char="-"/>
            </a:pPr>
            <a:r>
              <a:rPr lang="pt-BR" sz="1400">
                <a:solidFill>
                  <a:srgbClr val="000000"/>
                </a:solidFill>
              </a:rPr>
              <a:t>Igual Digite 1 na posição 8 e subtraia 8 (8-8=0)</a:t>
            </a:r>
          </a:p>
          <a:p>
            <a:pPr rtl="0"/>
            <a:r>
              <a:rPr lang="pt-BR" sz="1400">
                <a:solidFill>
                  <a:srgbClr val="000000"/>
                </a:solidFill>
              </a:rPr>
              <a:t>Nenhum valor restante. Insira 0 nas posições binárias restantes</a:t>
            </a:r>
          </a:p>
        </p:txBody>
      </p:sp>
      <p:graphicFrame>
        <p:nvGraphicFramePr>
          <p:cNvPr id="6" name="Table 5">
            <a:extLst>
              <a:ext uri="{FF2B5EF4-FFF2-40B4-BE49-F238E27FC236}">
                <a16:creationId xmlns:a16="http://schemas.microsoft.com/office/drawing/2014/main" id="{ECE0BC4F-4A15-D942-ABB8-2C9AD7326B62}"/>
              </a:ext>
            </a:extLst>
          </p:cNvPr>
          <p:cNvGraphicFramePr>
            <a:graphicFrameLocks noGrp="1"/>
          </p:cNvGraphicFramePr>
          <p:nvPr>
            <p:extLst>
              <p:ext uri="{D42A27DB-BD31-4B8C-83A1-F6EECF244321}">
                <p14:modId xmlns:p14="http://schemas.microsoft.com/office/powerpoint/2010/main" val="1398376779"/>
              </p:ext>
            </p:extLst>
          </p:nvPr>
        </p:nvGraphicFramePr>
        <p:xfrm>
          <a:off x="1524000" y="3720643"/>
          <a:ext cx="6096000" cy="7416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45306684"/>
                    </a:ext>
                  </a:extLst>
                </a:gridCol>
                <a:gridCol w="762000">
                  <a:extLst>
                    <a:ext uri="{9D8B030D-6E8A-4147-A177-3AD203B41FA5}">
                      <a16:colId xmlns:a16="http://schemas.microsoft.com/office/drawing/2014/main" val="3779260512"/>
                    </a:ext>
                  </a:extLst>
                </a:gridCol>
                <a:gridCol w="762000">
                  <a:extLst>
                    <a:ext uri="{9D8B030D-6E8A-4147-A177-3AD203B41FA5}">
                      <a16:colId xmlns:a16="http://schemas.microsoft.com/office/drawing/2014/main" val="1425796907"/>
                    </a:ext>
                  </a:extLst>
                </a:gridCol>
                <a:gridCol w="762000">
                  <a:extLst>
                    <a:ext uri="{9D8B030D-6E8A-4147-A177-3AD203B41FA5}">
                      <a16:colId xmlns:a16="http://schemas.microsoft.com/office/drawing/2014/main" val="939593505"/>
                    </a:ext>
                  </a:extLst>
                </a:gridCol>
                <a:gridCol w="762000">
                  <a:extLst>
                    <a:ext uri="{9D8B030D-6E8A-4147-A177-3AD203B41FA5}">
                      <a16:colId xmlns:a16="http://schemas.microsoft.com/office/drawing/2014/main" val="2624654651"/>
                    </a:ext>
                  </a:extLst>
                </a:gridCol>
                <a:gridCol w="762000">
                  <a:extLst>
                    <a:ext uri="{9D8B030D-6E8A-4147-A177-3AD203B41FA5}">
                      <a16:colId xmlns:a16="http://schemas.microsoft.com/office/drawing/2014/main" val="683541400"/>
                    </a:ext>
                  </a:extLst>
                </a:gridCol>
                <a:gridCol w="762000">
                  <a:extLst>
                    <a:ext uri="{9D8B030D-6E8A-4147-A177-3AD203B41FA5}">
                      <a16:colId xmlns:a16="http://schemas.microsoft.com/office/drawing/2014/main" val="1298863818"/>
                    </a:ext>
                  </a:extLst>
                </a:gridCol>
                <a:gridCol w="762000">
                  <a:extLst>
                    <a:ext uri="{9D8B030D-6E8A-4147-A177-3AD203B41FA5}">
                      <a16:colId xmlns:a16="http://schemas.microsoft.com/office/drawing/2014/main" val="799469862"/>
                    </a:ext>
                  </a:extLst>
                </a:gridCol>
              </a:tblGrid>
              <a:tr h="370840">
                <a:tc>
                  <a:txBody>
                    <a:bodyPr/>
                    <a:lstStyle/>
                    <a:p>
                      <a:pPr algn="ctr" rtl="0"/>
                      <a:r>
                        <a:rPr lang="pt-BR"/>
                        <a:t>128</a:t>
                      </a:r>
                    </a:p>
                  </a:txBody>
                  <a:tcPr/>
                </a:tc>
                <a:tc>
                  <a:txBody>
                    <a:bodyPr/>
                    <a:lstStyle/>
                    <a:p>
                      <a:pPr algn="ctr" rtl="0"/>
                      <a:r>
                        <a:rPr lang="pt-BR"/>
                        <a:t>64</a:t>
                      </a:r>
                    </a:p>
                  </a:txBody>
                  <a:tcPr/>
                </a:tc>
                <a:tc>
                  <a:txBody>
                    <a:bodyPr/>
                    <a:lstStyle/>
                    <a:p>
                      <a:pPr algn="ctr" rtl="0"/>
                      <a:r>
                        <a:rPr lang="pt-BR"/>
                        <a:t>32</a:t>
                      </a:r>
                    </a:p>
                  </a:txBody>
                  <a:tcPr/>
                </a:tc>
                <a:tc>
                  <a:txBody>
                    <a:bodyPr/>
                    <a:lstStyle/>
                    <a:p>
                      <a:pPr algn="ctr" rtl="0"/>
                      <a:r>
                        <a:rPr lang="pt-BR"/>
                        <a:t>16</a:t>
                      </a:r>
                    </a:p>
                  </a:txBody>
                  <a:tcPr/>
                </a:tc>
                <a:tc>
                  <a:txBody>
                    <a:bodyPr/>
                    <a:lstStyle/>
                    <a:p>
                      <a:pPr algn="ctr" rtl="0"/>
                      <a:r>
                        <a:rPr lang="pt-BR"/>
                        <a:t>8</a:t>
                      </a:r>
                    </a:p>
                  </a:txBody>
                  <a:tcPr/>
                </a:tc>
                <a:tc>
                  <a:txBody>
                    <a:bodyPr/>
                    <a:lstStyle/>
                    <a:p>
                      <a:pPr algn="ctr" rtl="0"/>
                      <a:r>
                        <a:rPr lang="pt-BR"/>
                        <a:t>4</a:t>
                      </a:r>
                    </a:p>
                  </a:txBody>
                  <a:tcPr/>
                </a:tc>
                <a:tc>
                  <a:txBody>
                    <a:bodyPr/>
                    <a:lstStyle/>
                    <a:p>
                      <a:pPr algn="ctr" rtl="0"/>
                      <a:r>
                        <a:rPr lang="pt-BR"/>
                        <a:t>2</a:t>
                      </a:r>
                    </a:p>
                  </a:txBody>
                  <a:tcPr/>
                </a:tc>
                <a:tc>
                  <a:txBody>
                    <a:bodyPr/>
                    <a:lstStyle/>
                    <a:p>
                      <a:pPr algn="ctr" rtl="0"/>
                      <a:r>
                        <a:rPr lang="pt-BR"/>
                        <a:t>1</a:t>
                      </a:r>
                    </a:p>
                  </a:txBody>
                  <a:tcPr/>
                </a:tc>
                <a:extLst>
                  <a:ext uri="{0D108BD9-81ED-4DB2-BD59-A6C34878D82A}">
                    <a16:rowId xmlns:a16="http://schemas.microsoft.com/office/drawing/2014/main" val="2022020841"/>
                  </a:ext>
                </a:extLst>
              </a:tr>
              <a:tr h="370840">
                <a:tc>
                  <a:txBody>
                    <a:bodyPr/>
                    <a:lstStyle/>
                    <a:p>
                      <a:pPr algn="ctr" rtl="0"/>
                      <a:r>
                        <a:rPr lang="pt-BR"/>
                        <a:t>1</a:t>
                      </a:r>
                    </a:p>
                  </a:txBody>
                  <a:tcPr/>
                </a:tc>
                <a:tc>
                  <a:txBody>
                    <a:bodyPr/>
                    <a:lstStyle/>
                    <a:p>
                      <a:pPr algn="ctr" rtl="0"/>
                      <a:r>
                        <a:rPr lang="pt-BR"/>
                        <a:t>0</a:t>
                      </a:r>
                    </a:p>
                  </a:txBody>
                  <a:tcPr/>
                </a:tc>
                <a:tc>
                  <a:txBody>
                    <a:bodyPr/>
                    <a:lstStyle/>
                    <a:p>
                      <a:pPr algn="ctr" rtl="0"/>
                      <a:r>
                        <a:rPr lang="pt-BR"/>
                        <a:t>1</a:t>
                      </a:r>
                    </a:p>
                  </a:txBody>
                  <a:tcPr/>
                </a:tc>
                <a:tc>
                  <a:txBody>
                    <a:bodyPr/>
                    <a:lstStyle/>
                    <a:p>
                      <a:pPr algn="ctr" rtl="0"/>
                      <a:r>
                        <a:rPr lang="pt-BR"/>
                        <a:t>0</a:t>
                      </a:r>
                    </a:p>
                  </a:txBody>
                  <a:tcPr/>
                </a:tc>
                <a:tc>
                  <a:txBody>
                    <a:bodyPr/>
                    <a:lstStyle/>
                    <a:p>
                      <a:pPr algn="ctr" rtl="0"/>
                      <a:r>
                        <a:rPr lang="pt-BR"/>
                        <a:t>1</a:t>
                      </a:r>
                    </a:p>
                  </a:txBody>
                  <a:tcPr/>
                </a:tc>
                <a:tc>
                  <a:txBody>
                    <a:bodyPr/>
                    <a:lstStyle/>
                    <a:p>
                      <a:pPr algn="ctr" rtl="0"/>
                      <a:r>
                        <a:rPr lang="pt-BR"/>
                        <a:t>0</a:t>
                      </a:r>
                    </a:p>
                  </a:txBody>
                  <a:tcPr/>
                </a:tc>
                <a:tc>
                  <a:txBody>
                    <a:bodyPr/>
                    <a:lstStyle/>
                    <a:p>
                      <a:pPr algn="ctr" rtl="0"/>
                      <a:r>
                        <a:rPr lang="pt-BR"/>
                        <a:t>0</a:t>
                      </a:r>
                    </a:p>
                  </a:txBody>
                  <a:tcPr/>
                </a:tc>
                <a:tc>
                  <a:txBody>
                    <a:bodyPr/>
                    <a:lstStyle/>
                    <a:p>
                      <a:pPr algn="ctr" rtl="0"/>
                      <a:r>
                        <a:rPr lang="pt-BR"/>
                        <a:t>0</a:t>
                      </a:r>
                    </a:p>
                  </a:txBody>
                  <a:tcPr/>
                </a:tc>
                <a:extLst>
                  <a:ext uri="{0D108BD9-81ED-4DB2-BD59-A6C34878D82A}">
                    <a16:rowId xmlns:a16="http://schemas.microsoft.com/office/drawing/2014/main" val="2810646200"/>
                  </a:ext>
                </a:extLst>
              </a:tr>
            </a:tbl>
          </a:graphicData>
        </a:graphic>
      </p:graphicFrame>
      <p:sp>
        <p:nvSpPr>
          <p:cNvPr id="12" name="TextBox 11">
            <a:extLst>
              <a:ext uri="{FF2B5EF4-FFF2-40B4-BE49-F238E27FC236}">
                <a16:creationId xmlns:a16="http://schemas.microsoft.com/office/drawing/2014/main" id="{CF774CF2-89D3-0F49-8952-FA53BF5E2107}"/>
              </a:ext>
            </a:extLst>
          </p:cNvPr>
          <p:cNvSpPr txBox="1"/>
          <p:nvPr/>
        </p:nvSpPr>
        <p:spPr>
          <a:xfrm>
            <a:off x="2741421" y="4462323"/>
            <a:ext cx="3746538" cy="307777"/>
          </a:xfrm>
          <a:prstGeom prst="rect">
            <a:avLst/>
          </a:prstGeom>
          <a:noFill/>
        </p:spPr>
        <p:txBody>
          <a:bodyPr wrap="none" rtlCol="0">
            <a:spAutoFit/>
          </a:bodyPr>
          <a:lstStyle/>
          <a:p>
            <a:pPr rtl="0"/>
            <a:r>
              <a:rPr lang="pt-BR" sz="1400"/>
              <a:t>Decimal 168 é escrito como 10101000 em binário</a:t>
            </a:r>
          </a:p>
        </p:txBody>
      </p:sp>
    </p:spTree>
    <p:extLst>
      <p:ext uri="{BB962C8B-B14F-4D97-AF65-F5344CB8AC3E}">
        <p14:creationId xmlns:p14="http://schemas.microsoft.com/office/powerpoint/2010/main" val="1580804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Binário de Numeração </a:t>
            </a:r>
            <a:br>
              <a:rPr lang="en-US" dirty="0"/>
            </a:br>
            <a:r>
              <a:rPr lang="pt-BR" sz="2400"/>
              <a:t> Enderecos IPv4</a:t>
            </a:r>
          </a:p>
        </p:txBody>
      </p:sp>
      <p:sp>
        <p:nvSpPr>
          <p:cNvPr id="5" name="Content Placeholder 4">
            <a:extLst>
              <a:ext uri="{FF2B5EF4-FFF2-40B4-BE49-F238E27FC236}">
                <a16:creationId xmlns:a16="http://schemas.microsoft.com/office/drawing/2014/main" id="{656F18A1-5638-1542-BEEF-C029A45183CB}"/>
              </a:ext>
            </a:extLst>
          </p:cNvPr>
          <p:cNvSpPr>
            <a:spLocks noGrp="1"/>
          </p:cNvSpPr>
          <p:nvPr>
            <p:ph idx="1"/>
          </p:nvPr>
        </p:nvSpPr>
        <p:spPr>
          <a:xfrm>
            <a:off x="474662" y="861238"/>
            <a:ext cx="8280057" cy="1069162"/>
          </a:xfrm>
        </p:spPr>
        <p:txBody>
          <a:bodyPr/>
          <a:lstStyle/>
          <a:p>
            <a:pPr marL="342900" indent="-342900" algn="l" rtl="0">
              <a:buFont typeface="Arial" panose="020B0604020202020204" pitchFamily="34" charset="0"/>
              <a:buChar char="•"/>
            </a:pPr>
            <a:r>
              <a:rPr lang="pt-BR" sz="1800">
                <a:solidFill>
                  <a:srgbClr val="000000"/>
                </a:solidFill>
              </a:rPr>
              <a:t>Roteadores e computadores só entendem binários, enquanto humanos trabalham em decimal. É importante que você obtenha uma compreensão completa desses dois sistemas de numeração e como eles são usados na rede.</a:t>
            </a:r>
          </a:p>
        </p:txBody>
      </p:sp>
      <p:pic>
        <p:nvPicPr>
          <p:cNvPr id="7" name="Picture 6">
            <a:extLst>
              <a:ext uri="{FF2B5EF4-FFF2-40B4-BE49-F238E27FC236}">
                <a16:creationId xmlns:a16="http://schemas.microsoft.com/office/drawing/2014/main" id="{E20D8357-5E16-E046-963D-9D92DCC36BBF}"/>
              </a:ext>
            </a:extLst>
          </p:cNvPr>
          <p:cNvPicPr>
            <a:picLocks noChangeAspect="1"/>
          </p:cNvPicPr>
          <p:nvPr/>
        </p:nvPicPr>
        <p:blipFill>
          <a:blip r:embed="rId3"/>
          <a:stretch>
            <a:fillRect/>
          </a:stretch>
        </p:blipFill>
        <p:spPr>
          <a:xfrm>
            <a:off x="670368" y="2027902"/>
            <a:ext cx="7803263" cy="1995265"/>
          </a:xfrm>
          <a:prstGeom prst="rect">
            <a:avLst/>
          </a:prstGeom>
        </p:spPr>
      </p:pic>
    </p:spTree>
    <p:extLst>
      <p:ext uri="{BB962C8B-B14F-4D97-AF65-F5344CB8AC3E}">
        <p14:creationId xmlns:p14="http://schemas.microsoft.com/office/powerpoint/2010/main" val="204822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5.2 - Sistema de numeração hexadecimal</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de numeração hexadecimal</a:t>
            </a:r>
            <a:br>
              <a:rPr lang="en-US" dirty="0"/>
            </a:br>
            <a:r>
              <a:rPr lang="pt-BR" sz="2400"/>
              <a:t>Endereços hexadecimais e IPv6</a:t>
            </a:r>
          </a:p>
        </p:txBody>
      </p:sp>
      <p:sp>
        <p:nvSpPr>
          <p:cNvPr id="5" name="Content Placeholder 4">
            <a:extLst>
              <a:ext uri="{FF2B5EF4-FFF2-40B4-BE49-F238E27FC236}">
                <a16:creationId xmlns:a16="http://schemas.microsoft.com/office/drawing/2014/main" id="{45B2D937-4573-8C4B-B077-4E01156C5276}"/>
              </a:ext>
            </a:extLst>
          </p:cNvPr>
          <p:cNvSpPr>
            <a:spLocks noGrp="1"/>
          </p:cNvSpPr>
          <p:nvPr>
            <p:ph idx="1"/>
          </p:nvPr>
        </p:nvSpPr>
        <p:spPr>
          <a:xfrm>
            <a:off x="474663" y="763736"/>
            <a:ext cx="3331794" cy="3657998"/>
          </a:xfrm>
        </p:spPr>
        <p:txBody>
          <a:bodyPr/>
          <a:lstStyle/>
          <a:p>
            <a:pPr marL="342900" indent="-342900" algn="l" rtl="0">
              <a:buFont typeface="Arial" panose="020B0604020202020204" pitchFamily="34" charset="0"/>
              <a:buChar char="•"/>
            </a:pPr>
            <a:r>
              <a:rPr lang="pt-BR" sz="1600">
                <a:solidFill>
                  <a:srgbClr val="000000"/>
                </a:solidFill>
              </a:rPr>
              <a:t>Para entender endereços IPv6, você deve ser capaz de converter hexadecimal para decimal e vice-versa.</a:t>
            </a:r>
          </a:p>
          <a:p>
            <a:pPr marL="342900" indent="-342900" algn="l" rtl="0">
              <a:buFont typeface="Arial" panose="020B0604020202020204" pitchFamily="34" charset="0"/>
              <a:buChar char="•"/>
            </a:pPr>
            <a:r>
              <a:rPr lang="pt-BR" sz="1600">
                <a:solidFill>
                  <a:srgbClr val="000000"/>
                </a:solidFill>
              </a:rPr>
              <a:t>Hexadecimal é um sistema de numeração de base dezesseis, usando os dígitos de 0 a 9 e as letras de A a F.</a:t>
            </a:r>
          </a:p>
          <a:p>
            <a:pPr marL="342900" indent="-342900" algn="l" rtl="0">
              <a:buFont typeface="Arial" panose="020B0604020202020204" pitchFamily="34" charset="0"/>
              <a:buChar char="•"/>
            </a:pPr>
            <a:r>
              <a:rPr lang="pt-BR" sz="1600">
                <a:solidFill>
                  <a:srgbClr val="000000"/>
                </a:solidFill>
              </a:rPr>
              <a:t>É mais fácil expressar um valor como um único dígito hexadecimal do que como quatro bits binários.</a:t>
            </a:r>
          </a:p>
          <a:p>
            <a:pPr marL="342900" indent="-342900" algn="l" rtl="0">
              <a:buFont typeface="Arial" panose="020B0604020202020204" pitchFamily="34" charset="0"/>
              <a:buChar char="•"/>
            </a:pPr>
            <a:r>
              <a:rPr lang="pt-BR" sz="1600">
                <a:solidFill>
                  <a:srgbClr val="000000"/>
                </a:solidFill>
              </a:rPr>
              <a:t>Hexadecimal é usado para representar endereços IPv6 e endereços MAC.</a:t>
            </a:r>
          </a:p>
        </p:txBody>
      </p:sp>
      <p:pic>
        <p:nvPicPr>
          <p:cNvPr id="7" name="Picture 6">
            <a:extLst>
              <a:ext uri="{FF2B5EF4-FFF2-40B4-BE49-F238E27FC236}">
                <a16:creationId xmlns:a16="http://schemas.microsoft.com/office/drawing/2014/main" id="{91843AE3-D03A-144A-9406-49FB46A73BD2}"/>
              </a:ext>
            </a:extLst>
          </p:cNvPr>
          <p:cNvPicPr>
            <a:picLocks noChangeAspect="1"/>
          </p:cNvPicPr>
          <p:nvPr/>
        </p:nvPicPr>
        <p:blipFill>
          <a:blip r:embed="rId3"/>
          <a:stretch>
            <a:fillRect/>
          </a:stretch>
        </p:blipFill>
        <p:spPr>
          <a:xfrm>
            <a:off x="3970337" y="763736"/>
            <a:ext cx="4699000" cy="3136900"/>
          </a:xfrm>
          <a:prstGeom prst="rect">
            <a:avLst/>
          </a:prstGeom>
        </p:spPr>
      </p:pic>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numérico hexadecimal</a:t>
            </a:r>
            <a:br>
              <a:rPr lang="en-US" dirty="0"/>
            </a:br>
            <a:r>
              <a:rPr lang="pt-BR" sz="2400"/>
              <a:t> Endereços hexadecimal e IPv6 (cont.)</a:t>
            </a:r>
          </a:p>
        </p:txBody>
      </p:sp>
      <p:sp>
        <p:nvSpPr>
          <p:cNvPr id="5" name="Content Placeholder 4">
            <a:extLst>
              <a:ext uri="{FF2B5EF4-FFF2-40B4-BE49-F238E27FC236}">
                <a16:creationId xmlns:a16="http://schemas.microsoft.com/office/drawing/2014/main" id="{45B2D937-4573-8C4B-B077-4E01156C5276}"/>
              </a:ext>
            </a:extLst>
          </p:cNvPr>
          <p:cNvSpPr>
            <a:spLocks noGrp="1"/>
          </p:cNvSpPr>
          <p:nvPr>
            <p:ph idx="1"/>
          </p:nvPr>
        </p:nvSpPr>
        <p:spPr>
          <a:xfrm>
            <a:off x="474663" y="763736"/>
            <a:ext cx="3331794" cy="3657998"/>
          </a:xfrm>
        </p:spPr>
        <p:txBody>
          <a:bodyPr/>
          <a:lstStyle/>
          <a:p>
            <a:pPr marL="342900" indent="-342900" algn="l" rtl="0">
              <a:buFont typeface="Arial" panose="020B0604020202020204" pitchFamily="34" charset="0"/>
              <a:buChar char="•"/>
            </a:pPr>
            <a:r>
              <a:rPr lang="pt-BR" sz="1600">
                <a:solidFill>
                  <a:srgbClr val="000000"/>
                </a:solidFill>
              </a:rPr>
              <a:t>Endereços IPv6 têm 128 bits de comprimento. Cada 4 bits é representado por um único dígito hexadecimal Isso torna o endereço IPv6 um total de 32 valores hexadecimais.</a:t>
            </a:r>
          </a:p>
          <a:p>
            <a:pPr marL="342900" indent="-342900" algn="l" rtl="0">
              <a:buFont typeface="Arial" panose="020B0604020202020204" pitchFamily="34" charset="0"/>
              <a:buChar char="•"/>
            </a:pPr>
            <a:r>
              <a:rPr lang="pt-BR" sz="1600">
                <a:solidFill>
                  <a:srgbClr val="000000"/>
                </a:solidFill>
              </a:rPr>
              <a:t>A figura mostra o método preferido de escrever um endereço IPv6, com cada X representando quatro valores hexadecimais.</a:t>
            </a:r>
          </a:p>
          <a:p>
            <a:pPr marL="342900" indent="-342900" algn="l" rtl="0">
              <a:buFont typeface="Arial" panose="020B0604020202020204" pitchFamily="34" charset="0"/>
              <a:buChar char="•"/>
            </a:pPr>
            <a:r>
              <a:rPr lang="pt-BR" sz="1600">
                <a:solidFill>
                  <a:srgbClr val="000000"/>
                </a:solidFill>
              </a:rPr>
              <a:t>Cada grupo de caracteres hexadecimais de quatro é referido como um hextet.</a:t>
            </a:r>
          </a:p>
        </p:txBody>
      </p:sp>
      <p:pic>
        <p:nvPicPr>
          <p:cNvPr id="4" name="Picture 3">
            <a:extLst>
              <a:ext uri="{FF2B5EF4-FFF2-40B4-BE49-F238E27FC236}">
                <a16:creationId xmlns:a16="http://schemas.microsoft.com/office/drawing/2014/main" id="{8F7C18F6-5C91-FD4A-8ADF-670AFB37CB33}"/>
              </a:ext>
            </a:extLst>
          </p:cNvPr>
          <p:cNvPicPr>
            <a:picLocks noChangeAspect="1"/>
          </p:cNvPicPr>
          <p:nvPr/>
        </p:nvPicPr>
        <p:blipFill>
          <a:blip r:embed="rId3"/>
          <a:stretch>
            <a:fillRect/>
          </a:stretch>
        </p:blipFill>
        <p:spPr>
          <a:xfrm>
            <a:off x="4088422" y="949381"/>
            <a:ext cx="4859344" cy="3244738"/>
          </a:xfrm>
          <a:prstGeom prst="rect">
            <a:avLst/>
          </a:prstGeom>
        </p:spPr>
      </p:pic>
    </p:spTree>
    <p:extLst>
      <p:ext uri="{BB962C8B-B14F-4D97-AF65-F5344CB8AC3E}">
        <p14:creationId xmlns:p14="http://schemas.microsoft.com/office/powerpoint/2010/main" val="209382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de numeração hexadecimal</a:t>
            </a:r>
            <a:br>
              <a:rPr lang="en-US" dirty="0"/>
            </a:br>
            <a:r>
              <a:rPr lang="pt-BR" sz="2400"/>
              <a:t>Vídeo - Convertendo entre sistemas de numeração hexadecimal e decimal</a:t>
            </a:r>
          </a:p>
        </p:txBody>
      </p:sp>
      <p:sp>
        <p:nvSpPr>
          <p:cNvPr id="7" name="Rectangle 6">
            <a:extLst>
              <a:ext uri="{FF2B5EF4-FFF2-40B4-BE49-F238E27FC236}">
                <a16:creationId xmlns:a16="http://schemas.microsoft.com/office/drawing/2014/main" id="{D483787F-4E15-4F85-A3D6-7443E22566A5}"/>
              </a:ext>
            </a:extLst>
          </p:cNvPr>
          <p:cNvSpPr/>
          <p:nvPr/>
        </p:nvSpPr>
        <p:spPr>
          <a:xfrm>
            <a:off x="182390" y="1094422"/>
            <a:ext cx="8163098" cy="1477328"/>
          </a:xfrm>
          <a:prstGeom prst="rect">
            <a:avLst/>
          </a:prstGeom>
        </p:spPr>
        <p:txBody>
          <a:bodyPr wrap="square">
            <a:spAutoFit/>
          </a:bodyPr>
          <a:lstStyle/>
          <a:p>
            <a:pPr marL="57150" indent="0" rtl="0">
              <a:buNone/>
            </a:pPr>
            <a:r>
              <a:rPr lang="pt-BR"/>
              <a:t>Este vídeo aborda o seguinte:</a:t>
            </a:r>
          </a:p>
          <a:p>
            <a:pPr marL="57150" indent="0">
              <a:buNone/>
            </a:pPr>
            <a:endParaRPr lang="en-US" dirty="0"/>
          </a:p>
          <a:p>
            <a:pPr marL="285750" indent="-285750" rtl="0">
              <a:buFont typeface="Arial" panose="020B0604020202020204" pitchFamily="34" charset="0"/>
              <a:buChar char="•"/>
            </a:pPr>
            <a:r>
              <a:rPr lang="pt-BR"/>
              <a:t>Características do Sistema Hexadecimal</a:t>
            </a:r>
          </a:p>
          <a:p>
            <a:pPr marL="285750" indent="-285750" rtl="0">
              <a:buFont typeface="Arial" panose="020B0604020202020204" pitchFamily="34" charset="0"/>
              <a:buChar char="•"/>
            </a:pPr>
            <a:r>
              <a:rPr lang="pt-BR"/>
              <a:t>Converso de Hexadecimal para Decimal</a:t>
            </a:r>
          </a:p>
          <a:p>
            <a:pPr marL="285750" indent="-285750" rtl="0">
              <a:buFont typeface="Arial" panose="020B0604020202020204" pitchFamily="34" charset="0"/>
              <a:buChar char="•"/>
            </a:pPr>
            <a:r>
              <a:rPr lang="pt-BR"/>
              <a:t>Converso de Decimal para Hexadecimal</a:t>
            </a:r>
          </a:p>
        </p:txBody>
      </p:sp>
    </p:spTree>
    <p:extLst>
      <p:ext uri="{BB962C8B-B14F-4D97-AF65-F5344CB8AC3E}">
        <p14:creationId xmlns:p14="http://schemas.microsoft.com/office/powerpoint/2010/main" val="351970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de numeração hexadecimal</a:t>
            </a:r>
            <a:br>
              <a:rPr lang="en-US" dirty="0"/>
            </a:br>
            <a:r>
              <a:rPr lang="pt-BR" sz="2400"/>
              <a:t>Conversões decimal para hexadecimal</a:t>
            </a:r>
          </a:p>
        </p:txBody>
      </p:sp>
      <p:sp>
        <p:nvSpPr>
          <p:cNvPr id="4" name="Content Placeholder 3">
            <a:extLst>
              <a:ext uri="{FF2B5EF4-FFF2-40B4-BE49-F238E27FC236}">
                <a16:creationId xmlns:a16="http://schemas.microsoft.com/office/drawing/2014/main" id="{5B6BDE01-7B44-5940-8AE9-3A778D310F09}"/>
              </a:ext>
            </a:extLst>
          </p:cNvPr>
          <p:cNvSpPr>
            <a:spLocks noGrp="1"/>
          </p:cNvSpPr>
          <p:nvPr>
            <p:ph idx="1"/>
          </p:nvPr>
        </p:nvSpPr>
        <p:spPr>
          <a:xfrm>
            <a:off x="474662" y="850605"/>
            <a:ext cx="8280057" cy="3571129"/>
          </a:xfrm>
        </p:spPr>
        <p:txBody>
          <a:bodyPr/>
          <a:lstStyle/>
          <a:p>
            <a:pPr algn="l" rtl="0"/>
            <a:r>
              <a:rPr lang="pt-BR" sz="1600">
                <a:solidFill>
                  <a:srgbClr val="000000"/>
                </a:solidFill>
              </a:rPr>
              <a:t>Siga as etapas listadas para converter números decimais em valores hexadecimais:</a:t>
            </a:r>
          </a:p>
          <a:p>
            <a:pPr marL="285750" indent="-285750" algn="l" rtl="0">
              <a:buFont typeface="Arial" panose="020B0604020202020204" pitchFamily="34" charset="0"/>
              <a:buChar char="•"/>
            </a:pPr>
            <a:r>
              <a:rPr lang="pt-BR" sz="1600">
                <a:solidFill>
                  <a:srgbClr val="000000"/>
                </a:solidFill>
              </a:rPr>
              <a:t>Converta o número decimal para strings binárias de 8 bits.</a:t>
            </a:r>
          </a:p>
          <a:p>
            <a:pPr marL="285750" indent="-285750" algn="l" rtl="0">
              <a:buFont typeface="Arial" panose="020B0604020202020204" pitchFamily="34" charset="0"/>
              <a:buChar char="•"/>
            </a:pPr>
            <a:r>
              <a:rPr lang="pt-BR" sz="1600">
                <a:solidFill>
                  <a:srgbClr val="000000"/>
                </a:solidFill>
              </a:rPr>
              <a:t>Divida as cadeias binárias em grupos de quatro a partir da posição mais à direita.</a:t>
            </a:r>
          </a:p>
          <a:p>
            <a:pPr marL="285750" indent="-285750" algn="l" rtl="0">
              <a:buFont typeface="Arial" panose="020B0604020202020204" pitchFamily="34" charset="0"/>
              <a:buChar char="•"/>
            </a:pPr>
            <a:r>
              <a:rPr lang="pt-BR" sz="1600">
                <a:solidFill>
                  <a:srgbClr val="000000"/>
                </a:solidFill>
              </a:rPr>
              <a:t>Converta cada quatro números binários em seu dígito hexadecimal equivalente.</a:t>
            </a:r>
          </a:p>
          <a:p>
            <a:pPr algn="l"/>
            <a:endParaRPr lang="en-US" sz="1600" dirty="0">
              <a:solidFill>
                <a:srgbClr val="000000"/>
              </a:solidFill>
            </a:endParaRPr>
          </a:p>
          <a:p>
            <a:pPr algn="l" rtl="0"/>
            <a:r>
              <a:rPr lang="pt-BR" sz="1600">
                <a:solidFill>
                  <a:srgbClr val="000000"/>
                </a:solidFill>
              </a:rPr>
              <a:t>Por exemplo, 168 convertidos em hexadecimal usando o processo de três etapas.</a:t>
            </a:r>
          </a:p>
          <a:p>
            <a:pPr marL="285750" indent="-285750" algn="l" rtl="0">
              <a:buFont typeface="Arial" panose="020B0604020202020204" pitchFamily="34" charset="0"/>
              <a:buChar char="•"/>
            </a:pPr>
            <a:r>
              <a:rPr lang="pt-BR" sz="1600">
                <a:solidFill>
                  <a:srgbClr val="000000"/>
                </a:solidFill>
              </a:rPr>
              <a:t>168 em binário é 10101000.</a:t>
            </a:r>
          </a:p>
          <a:p>
            <a:pPr marL="285750" indent="-285750" algn="l" rtl="0">
              <a:buFont typeface="Arial" panose="020B0604020202020204" pitchFamily="34" charset="0"/>
              <a:buChar char="•"/>
            </a:pPr>
            <a:r>
              <a:rPr lang="pt-BR" sz="1600">
                <a:solidFill>
                  <a:srgbClr val="000000"/>
                </a:solidFill>
              </a:rPr>
              <a:t>10101000 em dois grupos de quatro dígitos binários é 1010 e 1000.</a:t>
            </a:r>
          </a:p>
          <a:p>
            <a:pPr marL="285750" indent="-285750" algn="l" rtl="0">
              <a:buFont typeface="Arial" panose="020B0604020202020204" pitchFamily="34" charset="0"/>
              <a:buChar char="•"/>
            </a:pPr>
            <a:r>
              <a:rPr lang="pt-BR" sz="1600">
                <a:solidFill>
                  <a:srgbClr val="000000"/>
                </a:solidFill>
              </a:rPr>
              <a:t>1010 é hexadecimal e 1000 é hexadecimal 8, então 168 é A8 em hexadecimal.</a:t>
            </a:r>
          </a:p>
          <a:p>
            <a:pPr algn="l"/>
            <a:endParaRPr lang="en-US" sz="1600" dirty="0">
              <a:solidFill>
                <a:srgbClr val="000000"/>
              </a:solidFill>
            </a:endParaRPr>
          </a:p>
        </p:txBody>
      </p:sp>
    </p:spTree>
    <p:extLst>
      <p:ext uri="{BB962C8B-B14F-4D97-AF65-F5344CB8AC3E}">
        <p14:creationId xmlns:p14="http://schemas.microsoft.com/office/powerpoint/2010/main" val="75309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Sistema de numeração hexadecimal</a:t>
            </a:r>
            <a:br>
              <a:rPr lang="en-US" dirty="0"/>
            </a:br>
            <a:r>
              <a:rPr lang="pt-BR" sz="2400"/>
              <a:t>Conversões hexadecimais em decimais</a:t>
            </a:r>
          </a:p>
        </p:txBody>
      </p:sp>
      <p:sp>
        <p:nvSpPr>
          <p:cNvPr id="4" name="Content Placeholder 3">
            <a:extLst>
              <a:ext uri="{FF2B5EF4-FFF2-40B4-BE49-F238E27FC236}">
                <a16:creationId xmlns:a16="http://schemas.microsoft.com/office/drawing/2014/main" id="{5B6BDE01-7B44-5940-8AE9-3A778D310F09}"/>
              </a:ext>
            </a:extLst>
          </p:cNvPr>
          <p:cNvSpPr>
            <a:spLocks noGrp="1"/>
          </p:cNvSpPr>
          <p:nvPr>
            <p:ph idx="1"/>
          </p:nvPr>
        </p:nvSpPr>
        <p:spPr>
          <a:xfrm>
            <a:off x="474662" y="850605"/>
            <a:ext cx="8280057" cy="3571129"/>
          </a:xfrm>
        </p:spPr>
        <p:txBody>
          <a:bodyPr/>
          <a:lstStyle/>
          <a:p>
            <a:pPr algn="l" rtl="0"/>
            <a:r>
              <a:rPr lang="pt-BR" sz="1600">
                <a:solidFill>
                  <a:srgbClr val="000000"/>
                </a:solidFill>
              </a:rPr>
              <a:t>Siga as etapas listadas para converter números hexadecimais em valores decimais:</a:t>
            </a:r>
          </a:p>
          <a:p>
            <a:pPr marL="342900" indent="-342900" algn="l" rtl="0">
              <a:buFont typeface="Arial" panose="020B0604020202020204" pitchFamily="34" charset="0"/>
              <a:buChar char="•"/>
            </a:pPr>
            <a:r>
              <a:rPr lang="pt-BR" sz="1600">
                <a:solidFill>
                  <a:srgbClr val="000000"/>
                </a:solidFill>
              </a:rPr>
              <a:t>Converta o número hexadecimal em cadeias binárias de 4 bits.</a:t>
            </a:r>
          </a:p>
          <a:p>
            <a:pPr marL="342900" indent="-342900" algn="l" rtl="0">
              <a:buFont typeface="Arial" panose="020B0604020202020204" pitchFamily="34" charset="0"/>
              <a:buChar char="•"/>
            </a:pPr>
            <a:r>
              <a:rPr lang="pt-BR" sz="1600">
                <a:solidFill>
                  <a:srgbClr val="000000"/>
                </a:solidFill>
              </a:rPr>
              <a:t>Criar agrupamento binário de 8 bits a partir da posição mais à direita.</a:t>
            </a:r>
          </a:p>
          <a:p>
            <a:pPr marL="342900" indent="-342900" algn="l" rtl="0">
              <a:buFont typeface="Arial" panose="020B0604020202020204" pitchFamily="34" charset="0"/>
              <a:buChar char="•"/>
            </a:pPr>
            <a:r>
              <a:rPr lang="pt-BR" sz="1600">
                <a:solidFill>
                  <a:srgbClr val="000000"/>
                </a:solidFill>
              </a:rPr>
              <a:t>Converta cada agrupamento binário de 8 bits em seu dígito decimal equivalente.</a:t>
            </a:r>
          </a:p>
          <a:p>
            <a:pPr algn="l"/>
            <a:endParaRPr lang="en-US" sz="1600" dirty="0">
              <a:solidFill>
                <a:srgbClr val="000000"/>
              </a:solidFill>
            </a:endParaRPr>
          </a:p>
          <a:p>
            <a:pPr algn="l" rtl="0"/>
            <a:r>
              <a:rPr lang="pt-BR" sz="1600">
                <a:solidFill>
                  <a:srgbClr val="000000"/>
                </a:solidFill>
              </a:rPr>
              <a:t>Por exemplo, D2 convertido em decimal usando o processo de três etapas:</a:t>
            </a:r>
          </a:p>
          <a:p>
            <a:pPr marL="342900" indent="-342900" algn="l" rtl="0">
              <a:buFont typeface="Arial" panose="020B0604020202020204" pitchFamily="34" charset="0"/>
              <a:buChar char="•"/>
            </a:pPr>
            <a:r>
              <a:rPr lang="pt-BR" sz="1600">
                <a:solidFill>
                  <a:srgbClr val="000000"/>
                </a:solidFill>
              </a:rPr>
              <a:t>D2 em cadeias binárias de 4 bits é 1110 e 0010.</a:t>
            </a:r>
          </a:p>
          <a:p>
            <a:pPr marL="342900" indent="-342900" algn="l" rtl="0">
              <a:buFont typeface="Arial" panose="020B0604020202020204" pitchFamily="34" charset="0"/>
              <a:buChar char="•"/>
            </a:pPr>
            <a:r>
              <a:rPr lang="pt-BR" sz="1600">
                <a:solidFill>
                  <a:srgbClr val="000000"/>
                </a:solidFill>
              </a:rPr>
              <a:t>1110 e 0010 é 11100010 em um agrupamento de 8 bits.</a:t>
            </a:r>
          </a:p>
          <a:p>
            <a:pPr marL="342900" indent="-342900" algn="l" rtl="0">
              <a:buFont typeface="Arial" panose="020B0604020202020204" pitchFamily="34" charset="0"/>
              <a:buChar char="•"/>
            </a:pPr>
            <a:r>
              <a:rPr lang="pt-BR" sz="1600">
                <a:solidFill>
                  <a:srgbClr val="000000"/>
                </a:solidFill>
              </a:rPr>
              <a:t>11100010 em binário é equivalente a 210 em decimal, então D2 é 210 é decimal</a:t>
            </a:r>
          </a:p>
        </p:txBody>
      </p:sp>
    </p:spTree>
    <p:extLst>
      <p:ext uri="{BB962C8B-B14F-4D97-AF65-F5344CB8AC3E}">
        <p14:creationId xmlns:p14="http://schemas.microsoft.com/office/powerpoint/2010/main" val="2836564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5.3 -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aprendi neste módulo?</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15887" indent="-285750" rtl="0">
              <a:spcBef>
                <a:spcPts val="0"/>
              </a:spcBef>
              <a:spcAft>
                <a:spcPts val="0"/>
              </a:spcAft>
              <a:buFont typeface="Arial" panose="020B0604020202020204" pitchFamily="34" charset="0"/>
              <a:buChar char="•"/>
            </a:pPr>
            <a:r>
              <a:rPr lang="pt-BR"/>
              <a:t>Binário é um sistema de numeração de base dois que consiste nos números 0 e 1, chamados bits.</a:t>
            </a:r>
          </a:p>
          <a:p>
            <a:pPr marL="115887" indent="-285750" rtl="0">
              <a:spcBef>
                <a:spcPts val="0"/>
              </a:spcBef>
              <a:spcAft>
                <a:spcPts val="0"/>
              </a:spcAft>
              <a:buFont typeface="Arial" panose="020B0604020202020204" pitchFamily="34" charset="0"/>
              <a:buChar char="•"/>
            </a:pPr>
            <a:r>
              <a:rPr lang="pt-BR"/>
              <a:t>Decimal é um sistema de numeração base dez que consiste nos números de 0 a 9.</a:t>
            </a:r>
          </a:p>
          <a:p>
            <a:pPr marL="115887" indent="-285750" rtl="0">
              <a:spcBef>
                <a:spcPts val="0"/>
              </a:spcBef>
              <a:spcAft>
                <a:spcPts val="0"/>
              </a:spcAft>
              <a:buFont typeface="Arial" panose="020B0604020202020204" pitchFamily="34" charset="0"/>
              <a:buChar char="•"/>
            </a:pPr>
            <a:r>
              <a:rPr lang="pt-BR"/>
              <a:t>Binário é o que hosts, servidores e equipamentos de rede usam para se identificar.</a:t>
            </a:r>
          </a:p>
          <a:p>
            <a:pPr marL="115887" indent="-285750" rtl="0">
              <a:spcBef>
                <a:spcPts val="0"/>
              </a:spcBef>
              <a:spcAft>
                <a:spcPts val="0"/>
              </a:spcAft>
              <a:buFont typeface="Arial" panose="020B0604020202020204" pitchFamily="34" charset="0"/>
              <a:buChar char="•"/>
            </a:pPr>
            <a:r>
              <a:rPr lang="pt-BR"/>
              <a:t>Hexadecimal é um sistema de numeração de base dezesseis que consiste nos números de 0 a 9 e nas letras A a F.</a:t>
            </a:r>
          </a:p>
          <a:p>
            <a:pPr marL="115887" indent="-285750" rtl="0">
              <a:spcBef>
                <a:spcPts val="0"/>
              </a:spcBef>
              <a:spcAft>
                <a:spcPts val="0"/>
              </a:spcAft>
              <a:buFont typeface="Arial" panose="020B0604020202020204" pitchFamily="34" charset="0"/>
              <a:buChar char="•"/>
            </a:pPr>
            <a:r>
              <a:rPr lang="pt-BR"/>
              <a:t>Hexadecimal é usado para representar endereços IPv6 e endereços MAC.</a:t>
            </a:r>
          </a:p>
          <a:p>
            <a:pPr marL="115887" indent="-285750" rtl="0">
              <a:spcBef>
                <a:spcPts val="0"/>
              </a:spcBef>
              <a:spcAft>
                <a:spcPts val="0"/>
              </a:spcAft>
              <a:buFont typeface="Arial" panose="020B0604020202020204" pitchFamily="34" charset="0"/>
              <a:buChar char="•"/>
            </a:pPr>
            <a:r>
              <a:rPr lang="pt-BR"/>
              <a:t>Os endereços IPv6 têm 128 bits e a cada 4 bits é representado por um dígito hexadecimal para um total de 32 dígitos hexadecimais.</a:t>
            </a:r>
          </a:p>
          <a:p>
            <a:pPr marL="115887" indent="-285750" rtl="0">
              <a:spcBef>
                <a:spcPts val="0"/>
              </a:spcBef>
              <a:spcAft>
                <a:spcPts val="0"/>
              </a:spcAft>
              <a:buFont typeface="Arial" panose="020B0604020202020204" pitchFamily="34" charset="0"/>
              <a:buChar char="•"/>
            </a:pPr>
            <a:r>
              <a:rPr lang="pt-BR"/>
              <a:t>Para converter hexadecimal para decimal, você deve primeiro converter o hexadecimal para binário, depois converter o binário para decimal.</a:t>
            </a:r>
          </a:p>
          <a:p>
            <a:pPr marL="115887" indent="-285750" rtl="0">
              <a:spcBef>
                <a:spcPts val="0"/>
              </a:spcBef>
              <a:spcAft>
                <a:spcPts val="0"/>
              </a:spcAft>
              <a:buFont typeface="Arial" panose="020B0604020202020204" pitchFamily="34" charset="0"/>
              <a:buChar char="•"/>
            </a:pPr>
            <a:r>
              <a:rPr lang="pt-BR"/>
              <a:t>Para converter decimal em hexadecimal, você deve primeiro converter o decimal em binário e depois o binário em hexadecimal.</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pt-BR" sz="1400">
                <a:latin typeface="Arial" charset="0"/>
              </a:rPr>
              <a:t>Module 5: Number Systems</a:t>
            </a:r>
            <a:br>
              <a:rPr lang="en-US" dirty="0">
                <a:latin typeface="Arial" charset="0"/>
              </a:rPr>
            </a:br>
            <a:r>
              <a:rPr lang="pt-BR">
                <a:latin typeface="Arial" charset="0"/>
              </a:rPr>
              <a:t>New Terms and Commands</a:t>
            </a:r>
          </a:p>
        </p:txBody>
      </p:sp>
      <p:sp>
        <p:nvSpPr>
          <p:cNvPr id="4" name="Content Placeholder 3">
            <a:extLst>
              <a:ext uri="{FF2B5EF4-FFF2-40B4-BE49-F238E27FC236}">
                <a16:creationId xmlns:a16="http://schemas.microsoft.com/office/drawing/2014/main" id="{3A54BBD4-F89B-694E-BFD7-7FDA836EE2DA}"/>
              </a:ext>
            </a:extLst>
          </p:cNvPr>
          <p:cNvSpPr>
            <a:spLocks noGrp="1"/>
          </p:cNvSpPr>
          <p:nvPr>
            <p:ph idx="1"/>
          </p:nvPr>
        </p:nvSpPr>
        <p:spPr/>
        <p:txBody>
          <a:bodyPr/>
          <a:lstStyle/>
          <a:p>
            <a:pPr rtl="0">
              <a:buFont typeface="Arial" panose="020B0604020202020204" pitchFamily="34" charset="0"/>
              <a:buChar char="•"/>
            </a:pPr>
            <a:r>
              <a:rPr lang="pt-BR"/>
              <a:t>dotted decimal notation</a:t>
            </a:r>
          </a:p>
          <a:p>
            <a:pPr rtl="0">
              <a:buFont typeface="Arial" panose="020B0604020202020204" pitchFamily="34" charset="0"/>
              <a:buChar char="•"/>
            </a:pPr>
            <a:r>
              <a:rPr lang="pt-BR"/>
              <a:t>positional notation</a:t>
            </a:r>
          </a:p>
          <a:p>
            <a:pPr rtl="0">
              <a:buFont typeface="Arial" panose="020B0604020202020204" pitchFamily="34" charset="0"/>
              <a:buChar char="•"/>
            </a:pPr>
            <a:r>
              <a:rPr lang="pt-BR"/>
              <a:t>base 10</a:t>
            </a:r>
          </a:p>
          <a:p>
            <a:pPr rtl="0">
              <a:buFont typeface="Arial" panose="020B0604020202020204" pitchFamily="34" charset="0"/>
              <a:buChar char="•"/>
            </a:pPr>
            <a:r>
              <a:rPr lang="pt-BR"/>
              <a:t>base 16</a:t>
            </a:r>
          </a:p>
          <a:p>
            <a:pPr rtl="0">
              <a:buFont typeface="Arial" panose="020B0604020202020204" pitchFamily="34" charset="0"/>
              <a:buChar char="•"/>
            </a:pPr>
            <a:r>
              <a:rPr lang="pt-BR"/>
              <a:t>radix</a:t>
            </a:r>
          </a:p>
          <a:p>
            <a:pPr rtl="0">
              <a:buFont typeface="Arial" panose="020B0604020202020204" pitchFamily="34" charset="0"/>
              <a:buChar char="•"/>
            </a:pPr>
            <a:r>
              <a:rPr lang="pt-BR"/>
              <a:t>octet</a:t>
            </a:r>
          </a:p>
          <a:p>
            <a:pPr rtl="0">
              <a:buFont typeface="Arial" panose="020B0604020202020204" pitchFamily="34" charset="0"/>
              <a:buChar char="•"/>
            </a:pPr>
            <a:r>
              <a:rPr lang="pt-BR"/>
              <a:t>hextet</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3804</TotalTime>
  <Words>2209</Words>
  <Application>Microsoft Office PowerPoint</Application>
  <PresentationFormat>On-screen Show (16:9)</PresentationFormat>
  <Paragraphs>557</Paragraphs>
  <Slides>28</Slides>
  <Notes>26</Notes>
  <HiddenSlides>5</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Default Theme</vt:lpstr>
      <vt:lpstr>Módulo 5: Sistemas numéricos</vt:lpstr>
      <vt:lpstr>Instructor Materials – Module 5 Planning Guide</vt:lpstr>
      <vt:lpstr>O que esperar neste módulo</vt:lpstr>
      <vt:lpstr>O que esperar deste módulo (cont.)</vt:lpstr>
      <vt:lpstr>Check Your Understanding</vt:lpstr>
      <vt:lpstr>Module 5: Activities</vt:lpstr>
      <vt:lpstr>Module 5: Best Practices</vt:lpstr>
      <vt:lpstr>Módulo 5: Sistemas numéricos</vt:lpstr>
      <vt:lpstr>Objetivos do módulo</vt:lpstr>
      <vt:lpstr>5.1 Sistema de numeração binário</vt:lpstr>
      <vt:lpstr>Sistema Binário de Numeração Endereços binários e IPv4</vt:lpstr>
      <vt:lpstr>Sistema Binário de Numeração Vídeo - Converter entre sistemas de numeração binária e decimal</vt:lpstr>
      <vt:lpstr>Sistema Binário de Numeração Notação posicional binária</vt:lpstr>
      <vt:lpstr>Notação de posiçãobinária do sistema de números binários (cont.) </vt:lpstr>
      <vt:lpstr>Sistema Binário de Numeração Conterter Binário para Decimal</vt:lpstr>
      <vt:lpstr>Sistema Binário de Numeração Conterter Binário para Decimal</vt:lpstr>
      <vt:lpstr>Sistema Binário de Numeração  Exemplo de Conversão de Decimal para Binário</vt:lpstr>
      <vt:lpstr>Sistema Binário de Numeração   Enderecos IPv4</vt:lpstr>
      <vt:lpstr>5.2 - Sistema de numeração hexadecimal</vt:lpstr>
      <vt:lpstr>Sistema de numeração hexadecimal Endereços hexadecimais e IPv6</vt:lpstr>
      <vt:lpstr>Sistema numérico hexadecimal  Endereços hexadecimal e IPv6 (cont.)</vt:lpstr>
      <vt:lpstr>Sistema de numeração hexadecimal Vídeo - Convertendo entre sistemas de numeração hexadecimal e decimal</vt:lpstr>
      <vt:lpstr>Sistema de numeração hexadecimal Conversões decimal para hexadecimal</vt:lpstr>
      <vt:lpstr>Sistema de numeração hexadecimal Conversões hexadecimais em decimais</vt:lpstr>
      <vt:lpstr>5.3 - Módulo Prática e Quiz</vt:lpstr>
      <vt:lpstr>Módulo Prática e Quiz O que aprendi neste módulo?</vt:lpstr>
      <vt:lpstr>Module 5: Number Systems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208</cp:revision>
  <dcterms:created xsi:type="dcterms:W3CDTF">2019-10-18T06:21:22Z</dcterms:created>
  <dcterms:modified xsi:type="dcterms:W3CDTF">2020-06-28T23:36:22Z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