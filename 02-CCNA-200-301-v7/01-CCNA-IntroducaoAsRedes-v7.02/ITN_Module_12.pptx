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20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21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22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23.xml" ContentType="application/vnd.openxmlformats-officedocument.presentationml.tags+xml"/>
  <Override PartName="/ppt/notesSlides/notesSlide46.xml" ContentType="application/vnd.openxmlformats-officedocument.presentationml.notesSlide+xml"/>
  <Override PartName="/ppt/tags/tag24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25.xml" ContentType="application/vnd.openxmlformats-officedocument.presentationml.tags+xml"/>
  <Override PartName="/ppt/notesSlides/notesSlide51.xml" ContentType="application/vnd.openxmlformats-officedocument.presentationml.notesSlide+xml"/>
  <Override PartName="/ppt/tags/tag26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tags/tag27.xml" ContentType="application/vnd.openxmlformats-officedocument.presentationml.tags+xml"/>
  <Override PartName="/ppt/notesSlides/notesSlide57.xml" ContentType="application/vnd.openxmlformats-officedocument.presentationml.notesSlide+xml"/>
  <Override PartName="/ppt/tags/tag28.xml" ContentType="application/vnd.openxmlformats-officedocument.presentationml.tags+xml"/>
  <Override PartName="/ppt/notesSlides/notesSlide58.xml" ContentType="application/vnd.openxmlformats-officedocument.presentationml.notesSlide+xml"/>
  <Override PartName="/ppt/tags/tag29.xml" ContentType="application/vnd.openxmlformats-officedocument.presentationml.tags+xml"/>
  <Override PartName="/ppt/notesSlides/notesSlide59.xml" ContentType="application/vnd.openxmlformats-officedocument.presentationml.notesSlide+xml"/>
  <Override PartName="/ppt/tags/tag30.xml" ContentType="application/vnd.openxmlformats-officedocument.presentationml.tags+xml"/>
  <Override PartName="/ppt/notesSlides/notesSlide60.xml" ContentType="application/vnd.openxmlformats-officedocument.presentationml.notesSlide+xml"/>
  <Override PartName="/ppt/tags/tag31.xml" ContentType="application/vnd.openxmlformats-officedocument.presentationml.tags+xml"/>
  <Override PartName="/ppt/notesSlides/notesSlide61.xml" ContentType="application/vnd.openxmlformats-officedocument.presentationml.notesSlide+xml"/>
  <Override PartName="/ppt/tags/tag32.xml" ContentType="application/vnd.openxmlformats-officedocument.presentationml.tags+xml"/>
  <Override PartName="/ppt/notesSlides/notesSlide62.xml" ContentType="application/vnd.openxmlformats-officedocument.presentationml.notesSlide+xml"/>
  <Override PartName="/ppt/tags/tag33.xml" ContentType="application/vnd.openxmlformats-officedocument.presentationml.tags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67"/>
  </p:notesMasterIdLst>
  <p:sldIdLst>
    <p:sldId id="513" r:id="rId2"/>
    <p:sldId id="730" r:id="rId3"/>
    <p:sldId id="1070" r:id="rId4"/>
    <p:sldId id="1071" r:id="rId5"/>
    <p:sldId id="1053" r:id="rId6"/>
    <p:sldId id="1072" r:id="rId7"/>
    <p:sldId id="763" r:id="rId8"/>
    <p:sldId id="1186" r:id="rId9"/>
    <p:sldId id="1052" r:id="rId10"/>
    <p:sldId id="1069" r:id="rId11"/>
    <p:sldId id="1148" r:id="rId12"/>
    <p:sldId id="1149" r:id="rId13"/>
    <p:sldId id="876" r:id="rId14"/>
    <p:sldId id="860" r:id="rId15"/>
    <p:sldId id="1150" r:id="rId16"/>
    <p:sldId id="759" r:id="rId17"/>
    <p:sldId id="1054" r:id="rId18"/>
    <p:sldId id="1151" r:id="rId19"/>
    <p:sldId id="1056" r:id="rId20"/>
    <p:sldId id="1152" r:id="rId21"/>
    <p:sldId id="1153" r:id="rId22"/>
    <p:sldId id="1154" r:id="rId23"/>
    <p:sldId id="1063" r:id="rId24"/>
    <p:sldId id="1119" r:id="rId25"/>
    <p:sldId id="1155" r:id="rId26"/>
    <p:sldId id="1156" r:id="rId27"/>
    <p:sldId id="1157" r:id="rId28"/>
    <p:sldId id="1158" r:id="rId29"/>
    <p:sldId id="1159" r:id="rId30"/>
    <p:sldId id="1160" r:id="rId31"/>
    <p:sldId id="957" r:id="rId32"/>
    <p:sldId id="1161" r:id="rId33"/>
    <p:sldId id="1162" r:id="rId34"/>
    <p:sldId id="1163" r:id="rId35"/>
    <p:sldId id="1105" r:id="rId36"/>
    <p:sldId id="1164" r:id="rId37"/>
    <p:sldId id="1165" r:id="rId38"/>
    <p:sldId id="1166" r:id="rId39"/>
    <p:sldId id="1167" r:id="rId40"/>
    <p:sldId id="1168" r:id="rId41"/>
    <p:sldId id="1169" r:id="rId42"/>
    <p:sldId id="1170" r:id="rId43"/>
    <p:sldId id="1106" r:id="rId44"/>
    <p:sldId id="1171" r:id="rId45"/>
    <p:sldId id="1172" r:id="rId46"/>
    <p:sldId id="1174" r:id="rId47"/>
    <p:sldId id="1173" r:id="rId48"/>
    <p:sldId id="1184" r:id="rId49"/>
    <p:sldId id="1107" r:id="rId50"/>
    <p:sldId id="1175" r:id="rId51"/>
    <p:sldId id="1176" r:id="rId52"/>
    <p:sldId id="1177" r:id="rId53"/>
    <p:sldId id="1185" r:id="rId54"/>
    <p:sldId id="1104" r:id="rId55"/>
    <p:sldId id="1178" r:id="rId56"/>
    <p:sldId id="1179" r:id="rId57"/>
    <p:sldId id="1180" r:id="rId58"/>
    <p:sldId id="1181" r:id="rId59"/>
    <p:sldId id="1182" r:id="rId60"/>
    <p:sldId id="1064" r:id="rId61"/>
    <p:sldId id="1065" r:id="rId62"/>
    <p:sldId id="958" r:id="rId63"/>
    <p:sldId id="1183" r:id="rId64"/>
    <p:sldId id="874" r:id="rId65"/>
    <p:sldId id="291" r:id="rId66"/>
  </p:sldIdLst>
  <p:sldSz cx="9144000" cy="5143500" type="screen16x9"/>
  <p:notesSz cx="6858000" cy="9144000"/>
  <p:custDataLst>
    <p:tags r:id="rId6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32" y="48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2/3/2021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?>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?>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?>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?>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?>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?>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?>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?>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?>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?>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?>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?>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?>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</a:p>
          <a:p>
            <a:pPr rtl="0"/>
            <a:r>
              <a:rPr lang="pt-BR"/>
              <a:t>Introdução às redes v7.0 (ITN)</a:t>
            </a:r>
          </a:p>
          <a:p>
            <a:pPr rtl="0"/>
            <a:r>
              <a:rPr lang="pt-BR"/>
              <a:t>Módulo 12: Endereçamento IPv6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/>
              <a:pPr algn="r"/>
              <a:t>2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5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6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717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7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8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549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9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600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10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929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11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8236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12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0040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</a:p>
          <a:p>
            <a:pPr rtl="0"/>
            <a:r>
              <a:rPr lang="pt-BR"/>
              <a:t>Introdução às redes v7.0 (ITN)</a:t>
            </a:r>
          </a:p>
          <a:p>
            <a:pPr rtl="0"/>
            <a:r>
              <a:rPr lang="pt-BR"/>
              <a:t>Módulo 12: Endereçamento IPv6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>
                <a:solidFill>
                  <a:prstClr val="black"/>
                </a:solidFill>
              </a:rPr>
              <a:pPr algn="r"/>
              <a:t>14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/>
              <a:t>Módulo 12: Endereçamento IPv6</a:t>
            </a:r>
          </a:p>
          <a:p>
            <a:pPr rtl="0">
              <a:buFontTx/>
              <a:buNone/>
            </a:pPr>
            <a:r>
              <a:rPr lang="pt-BR"/>
              <a:t>12.0.2- O que aprenderei a fazer neste módulo.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>
                <a:solidFill>
                  <a:prstClr val="black"/>
                </a:solidFill>
              </a:rPr>
              <a:pPr algn="r"/>
              <a:t>15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/>
              <a:t>Módulo 12: Endereçamento IPv6</a:t>
            </a:r>
          </a:p>
          <a:p>
            <a:pPr rtl="0">
              <a:buFontTx/>
              <a:buNone/>
            </a:pPr>
            <a:r>
              <a:rPr lang="pt-BR"/>
              <a:t>12.0.2- O que aprenderei a fazer neste módulo.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436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12.1 Problemas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Módulo 12: Endereçamento IPv6</a:t>
            </a:r>
          </a:p>
          <a:p>
            <a:pPr rtl="0"/>
            <a:r>
              <a:rPr lang="pt-BR"/>
              <a:t>12.1 — Problemas IPv4</a:t>
            </a:r>
          </a:p>
          <a:p>
            <a:pPr rtl="0"/>
            <a:r>
              <a:rPr lang="pt-BR"/>
              <a:t>12.1.1 — Necessidade de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Módulo 12: Endereçamento IPv6</a:t>
            </a:r>
          </a:p>
          <a:p>
            <a:pPr rtl="0"/>
            <a:r>
              <a:rPr lang="pt-BR"/>
              <a:t>12.1 — Problemas IPv4</a:t>
            </a:r>
          </a:p>
          <a:p>
            <a:pPr rtl="0"/>
            <a:r>
              <a:rPr lang="pt-BR"/>
              <a:t>12.1.2 — Coexistência IPv4 e IPv6</a:t>
            </a:r>
          </a:p>
          <a:p>
            <a:pPr rtl="0"/>
            <a:r>
              <a:rPr lang="pt-BR"/>
              <a:t>12.1.3 — Verifique o seu entendimento — Problemas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3715658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12.2 Representação do Endereço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12.2 - Representação do Endereço IPv6</a:t>
            </a:r>
          </a:p>
          <a:p>
            <a:pPr rtl="0"/>
            <a:r>
              <a:rPr lang="pt-BR"/>
              <a:t>12.2.1 — Formatos de endereçamento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4242759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12.2 - Representação do Endereço IPv6</a:t>
            </a:r>
          </a:p>
          <a:p>
            <a:pPr rtl="0"/>
            <a:r>
              <a:rPr lang="pt-BR"/>
              <a:t>12.2.2 — Omitir zero à esquerda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20349840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12.2 - Representação do Endereço IPv6</a:t>
            </a:r>
          </a:p>
          <a:p>
            <a:pPr rtl="0"/>
            <a:r>
              <a:rPr lang="pt-BR"/>
              <a:t>12.2.2 — Regra 2 — Dois-pontos duplos</a:t>
            </a:r>
          </a:p>
          <a:p>
            <a:pPr rtl="0"/>
            <a:r>
              <a:rPr lang="pt-BR"/>
              <a:t>12.2.4 - Atividade - Representação do Endereço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586646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12.2 Tipos de endereço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12.3.1 — Unicast, Multicast, Anycast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24</a:t>
            </a:fld>
          </a:p>
        </p:txBody>
      </p:sp>
    </p:spTree>
    <p:extLst>
      <p:ext uri="{BB962C8B-B14F-4D97-AF65-F5344CB8AC3E}">
        <p14:creationId xmlns:p14="http://schemas.microsoft.com/office/powerpoint/2010/main" val="28440815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Tamanho do prefixo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29230026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12.3.3 - Outros Tipos de Endereços IPv6 Unicast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22839377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12.3.4 — Uma nota sobre o endereço local exclusivo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22884096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12.3.5 — GUA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18509466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12.3.5 — Estrutura IPv6 GUA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1920390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12.3 — Tipos de endereço IPv6</a:t>
            </a:r>
          </a:p>
          <a:p>
            <a:pPr rtl="0"/>
            <a:r>
              <a:rPr lang="pt-BR"/>
              <a:t>12.3.6 — IPv6 LLA</a:t>
            </a:r>
          </a:p>
          <a:p>
            <a:pPr rtl="0"/>
            <a:r>
              <a:rPr lang="pt-BR"/>
              <a:t>12.3.7 — Verifique seu entendimento — Tipos de endereço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26617694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12.4- Configuração estática GUA e 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12.4 — Configuração estática GUA e LLA</a:t>
            </a:r>
          </a:p>
          <a:p>
            <a:pPr rtl="0"/>
            <a:r>
              <a:rPr lang="pt-BR"/>
              <a:t>12.4.1 — Configuração de GUA Estática em um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12875671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12.4 — Configuração estática GUA e LLA</a:t>
            </a:r>
          </a:p>
          <a:p>
            <a:pPr rtl="0"/>
            <a:r>
              <a:rPr lang="pt-BR"/>
              <a:t>12.4.2 — Configuração de GUA Estática em um Host 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902344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12.4 — Configuração estática GUA e LLA</a:t>
            </a:r>
          </a:p>
          <a:p>
            <a:pPr rtl="0"/>
            <a:r>
              <a:rPr lang="pt-BR"/>
              <a:t>12.4.3 — Configuração de GUA estática de um endereço unicast local de link</a:t>
            </a:r>
          </a:p>
          <a:p>
            <a:pPr rtl="0"/>
            <a:r>
              <a:rPr lang="pt-BR"/>
              <a:t>12.4.4 — Verificador de sintaxe — Configuração Estática GUA e 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34</a:t>
            </a:fld>
          </a:p>
        </p:txBody>
      </p:sp>
    </p:spTree>
    <p:extLst>
      <p:ext uri="{BB962C8B-B14F-4D97-AF65-F5344CB8AC3E}">
        <p14:creationId xmlns:p14="http://schemas.microsoft.com/office/powerpoint/2010/main" val="18422878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12.5 Endereçamento Dinâmico IPv4 para GUAs IPv6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8879527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12.5.1 — Mensagens RS e 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9995909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12.5.2 — Método 1: SLAAC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37</a:t>
            </a:fld>
          </a:p>
        </p:txBody>
      </p:sp>
    </p:spTree>
    <p:extLst>
      <p:ext uri="{BB962C8B-B14F-4D97-AF65-F5344CB8AC3E}">
        <p14:creationId xmlns:p14="http://schemas.microsoft.com/office/powerpoint/2010/main" val="20257767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12.5.3 — Método 2: SLAAC e DHCP sem estado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15810016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12.5.4 — Método 3: DHCPv6 com estado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42183672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12.5.5 - Processo EUI-64 ou Gerado Aleatoriamente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5928384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12.5.6 — Processo EUI-64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41330758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12.5 — Endereçamento dinâmico para GUAs IPv6</a:t>
            </a:r>
          </a:p>
          <a:p>
            <a:pPr rtl="0"/>
            <a:r>
              <a:rPr lang="pt-BR"/>
              <a:t>12.5.7 - IDs da Interface Geradas Aleatoriamente</a:t>
            </a:r>
          </a:p>
          <a:p>
            <a:pPr rtl="0"/>
            <a:r>
              <a:rPr lang="pt-BR"/>
              <a:t>12.5.8 — Verifique seu entendimento — Endereço dinâmico para GUAs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42</a:t>
            </a:fld>
          </a:p>
        </p:txBody>
      </p:sp>
    </p:spTree>
    <p:extLst>
      <p:ext uri="{BB962C8B-B14F-4D97-AF65-F5344CB8AC3E}">
        <p14:creationId xmlns:p14="http://schemas.microsoft.com/office/powerpoint/2010/main" val="27227017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12.6 Endereçamento dinâmico IPv4 para LLAs IPv6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43</a:t>
            </a:fld>
          </a:p>
        </p:txBody>
      </p:sp>
    </p:spTree>
    <p:extLst>
      <p:ext uri="{BB962C8B-B14F-4D97-AF65-F5344CB8AC3E}">
        <p14:creationId xmlns:p14="http://schemas.microsoft.com/office/powerpoint/2010/main" val="4874804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12.6.1 — LLAs dinâmicos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44</a:t>
            </a:fld>
          </a:p>
        </p:txBody>
      </p:sp>
    </p:spTree>
    <p:extLst>
      <p:ext uri="{BB962C8B-B14F-4D97-AF65-F5344CB8AC3E}">
        <p14:creationId xmlns:p14="http://schemas.microsoft.com/office/powerpoint/2010/main" val="20952604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12.6.2 — LLAs dinâmicos no 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45</a:t>
            </a:fld>
          </a:p>
        </p:txBody>
      </p:sp>
    </p:spTree>
    <p:extLst>
      <p:ext uri="{BB962C8B-B14F-4D97-AF65-F5344CB8AC3E}">
        <p14:creationId xmlns:p14="http://schemas.microsoft.com/office/powerpoint/2010/main" val="37059238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12.6.3 — LLAs dinâmicos em Cisco Routers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46</a:t>
            </a:fld>
          </a:p>
        </p:txBody>
      </p:sp>
    </p:spTree>
    <p:extLst>
      <p:ext uri="{BB962C8B-B14F-4D97-AF65-F5344CB8AC3E}">
        <p14:creationId xmlns:p14="http://schemas.microsoft.com/office/powerpoint/2010/main" val="14044222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12.6.4 - Verificar a Configuração de Endereço IPv6</a:t>
            </a:r>
          </a:p>
          <a:p>
            <a:pPr rtl="0"/>
            <a:r>
              <a:rPr lang="pt-BR"/>
              <a:t>12.6.5 - Verificador de sintaxe - Verifique a configuração do endereço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4415534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48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12.6 — Endereçamento dinâmico para LLAs IPv6</a:t>
            </a:r>
          </a:p>
          <a:p>
            <a:pPr rtl="0"/>
            <a:r>
              <a:rPr lang="pt-BR"/>
              <a:t>12.6.6 - Packet Tracer – Configurando Endereçamento IPv6</a:t>
            </a:r>
          </a:p>
        </p:txBody>
      </p:sp>
    </p:spTree>
    <p:extLst>
      <p:ext uri="{BB962C8B-B14F-4D97-AF65-F5344CB8AC3E}">
        <p14:creationId xmlns:p14="http://schemas.microsoft.com/office/powerpoint/2010/main" val="41331227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12.7 Endereços de multicast IPv4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49</a:t>
            </a:fld>
          </a:p>
        </p:txBody>
      </p:sp>
    </p:spTree>
    <p:extLst>
      <p:ext uri="{BB962C8B-B14F-4D97-AF65-F5344CB8AC3E}">
        <p14:creationId xmlns:p14="http://schemas.microsoft.com/office/powerpoint/2010/main" val="37638601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12.7 — Endereços Multicast IPv6</a:t>
            </a:r>
          </a:p>
          <a:p>
            <a:pPr rtl="0"/>
            <a:r>
              <a:rPr lang="pt-BR"/>
              <a:t>12.7.1 - Endereços IPv6 Multicast Atribuídos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50</a:t>
            </a:fld>
          </a:p>
        </p:txBody>
      </p:sp>
    </p:spTree>
    <p:extLst>
      <p:ext uri="{BB962C8B-B14F-4D97-AF65-F5344CB8AC3E}">
        <p14:creationId xmlns:p14="http://schemas.microsoft.com/office/powerpoint/2010/main" val="41221853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12.7 — Endereços Multicast IPv6</a:t>
            </a:r>
          </a:p>
          <a:p>
            <a:pPr rtl="0"/>
            <a:r>
              <a:rPr lang="pt-BR"/>
              <a:t>12.7.2 — Endereços Multicast IPv6 bem conhecidos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51</a:t>
            </a:fld>
          </a:p>
        </p:txBody>
      </p:sp>
    </p:spTree>
    <p:extLst>
      <p:ext uri="{BB962C8B-B14F-4D97-AF65-F5344CB8AC3E}">
        <p14:creationId xmlns:p14="http://schemas.microsoft.com/office/powerpoint/2010/main" val="31160398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12.7 — Endereços Multicast IPv6</a:t>
            </a:r>
          </a:p>
          <a:p>
            <a:pPr rtl="0"/>
            <a:r>
              <a:rPr lang="pt-BR"/>
              <a:t>12.7.3 - Endereços IPv6 Multicast Solicited-Node</a:t>
            </a:r>
          </a:p>
          <a:p>
            <a:pPr rtl="0"/>
            <a:r>
              <a:rPr lang="pt-BR"/>
              <a:t>12.7.4 - Laboratório – Identificando Endereços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52</a:t>
            </a:fld>
          </a:p>
        </p:txBody>
      </p:sp>
    </p:spTree>
    <p:extLst>
      <p:ext uri="{BB962C8B-B14F-4D97-AF65-F5344CB8AC3E}">
        <p14:creationId xmlns:p14="http://schemas.microsoft.com/office/powerpoint/2010/main" val="13909375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53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12.7 — Endereços Multicast IPv6</a:t>
            </a:r>
          </a:p>
          <a:p>
            <a:pPr rtl="0"/>
            <a:r>
              <a:rPr lang="pt-BR"/>
              <a:t>12.7.4 - Laboratório – Identificando Endereços IPv6</a:t>
            </a:r>
          </a:p>
        </p:txBody>
      </p:sp>
    </p:spTree>
    <p:extLst>
      <p:ext uri="{BB962C8B-B14F-4D97-AF65-F5344CB8AC3E}">
        <p14:creationId xmlns:p14="http://schemas.microsoft.com/office/powerpoint/2010/main" val="18846970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12- Endereçamento IPv6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12.8 Sub-rede uma rede IPv6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54</a:t>
            </a:fld>
          </a:p>
        </p:txBody>
      </p:sp>
    </p:spTree>
    <p:extLst>
      <p:ext uri="{BB962C8B-B14F-4D97-AF65-F5344CB8AC3E}">
        <p14:creationId xmlns:p14="http://schemas.microsoft.com/office/powerpoint/2010/main" val="18922665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12.8 Sub-rede uma rede IPv6</a:t>
            </a:r>
          </a:p>
          <a:p>
            <a:pPr rtl="0"/>
            <a:r>
              <a:rPr lang="pt-BR"/>
              <a:t>12.8.1 - Sub-rede usando o ID de sub-rede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55</a:t>
            </a:fld>
          </a:p>
        </p:txBody>
      </p:sp>
    </p:spTree>
    <p:extLst>
      <p:ext uri="{BB962C8B-B14F-4D97-AF65-F5344CB8AC3E}">
        <p14:creationId xmlns:p14="http://schemas.microsoft.com/office/powerpoint/2010/main" val="33243683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12.8 Sub-rede uma rede IPv6</a:t>
            </a:r>
          </a:p>
          <a:p>
            <a:pPr rtl="0"/>
            <a:r>
              <a:rPr lang="pt-BR"/>
              <a:t>12.8.2 — Exemplo de sub-redes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56</a:t>
            </a:fld>
          </a:p>
        </p:txBody>
      </p:sp>
    </p:spTree>
    <p:extLst>
      <p:ext uri="{BB962C8B-B14F-4D97-AF65-F5344CB8AC3E}">
        <p14:creationId xmlns:p14="http://schemas.microsoft.com/office/powerpoint/2010/main" val="21886132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12.8 Sub-rede uma rede IPv6</a:t>
            </a:r>
          </a:p>
          <a:p>
            <a:pPr rtl="0"/>
            <a:r>
              <a:rPr lang="pt-BR"/>
              <a:t>12.8.3 – Alocação de sub-redes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57</a:t>
            </a:fld>
          </a:p>
        </p:txBody>
      </p:sp>
    </p:spTree>
    <p:extLst>
      <p:ext uri="{BB962C8B-B14F-4D97-AF65-F5344CB8AC3E}">
        <p14:creationId xmlns:p14="http://schemas.microsoft.com/office/powerpoint/2010/main" val="654208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</a:p>
          <a:p>
            <a:pPr rtl="0"/>
            <a:r>
              <a:rPr lang="pt-BR"/>
              <a:t>12.8 Sub-rede uma rede IPv6</a:t>
            </a:r>
          </a:p>
          <a:p>
            <a:pPr rtl="0"/>
            <a:r>
              <a:rPr lang="pt-BR"/>
              <a:t>12.8.4 — Roteador configurado com sub-redes IPv6</a:t>
            </a:r>
          </a:p>
          <a:p>
            <a:pPr rtl="0"/>
            <a:r>
              <a:rPr lang="pt-BR"/>
              <a:t>12.8.5 — Verifique seu entendimento — Sub-rede uma rede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58</a:t>
            </a:fld>
          </a:p>
        </p:txBody>
      </p:sp>
    </p:spTree>
    <p:extLst>
      <p:ext uri="{BB962C8B-B14F-4D97-AF65-F5344CB8AC3E}">
        <p14:creationId xmlns:p14="http://schemas.microsoft.com/office/powerpoint/2010/main" val="21848710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12 - Endereçamento IPv6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12.9 - Módulo Prática e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59</a:t>
            </a:fld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60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12 - Endereçamento IPv6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12.9 -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12.9.1 - Packet Tracer – Implementando um Esquema de Endereçamento IPv6 com Sub-Redes</a:t>
            </a:r>
          </a:p>
        </p:txBody>
      </p:sp>
    </p:spTree>
    <p:extLst>
      <p:ext uri="{BB962C8B-B14F-4D97-AF65-F5344CB8AC3E}">
        <p14:creationId xmlns:p14="http://schemas.microsoft.com/office/powerpoint/2010/main" val="365203947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61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12 - Endereçamento IPv6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12.9 -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12.9.2 – PTPM e Laboratório – Configurar Endereços IPv6 em Dispositivos de Rede</a:t>
            </a:r>
          </a:p>
        </p:txBody>
      </p:sp>
    </p:spTree>
    <p:extLst>
      <p:ext uri="{BB962C8B-B14F-4D97-AF65-F5344CB8AC3E}">
        <p14:creationId xmlns:p14="http://schemas.microsoft.com/office/powerpoint/2010/main" val="16816433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62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Conceitos de WLAN</a:t>
            </a:r>
          </a:p>
          <a:p>
            <a:pPr rtl="0"/>
            <a:r>
              <a:rPr lang="pt-BR"/>
              <a:t>12.8 - Módulo Prática e Quiz</a:t>
            </a:r>
          </a:p>
          <a:p>
            <a:pPr rtl="0"/>
            <a:r>
              <a:rPr lang="pt-BR"/>
              <a:t>12.9.3 - O que eu aprendi neste módulo?</a:t>
            </a:r>
          </a:p>
          <a:p>
            <a:pPr rtl="0"/>
            <a:r>
              <a:rPr lang="pt-BR"/>
              <a:t>12.9.4 — Teste de Módulo — Endereçamento IPv6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63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Conceitos de WLAN</a:t>
            </a:r>
          </a:p>
          <a:p>
            <a:pPr rtl="0"/>
            <a:r>
              <a:rPr lang="pt-BR"/>
              <a:t>12.8 - Módulo Prática e Quiz</a:t>
            </a:r>
          </a:p>
          <a:p>
            <a:pPr rtl="0"/>
            <a:r>
              <a:rPr lang="pt-BR"/>
              <a:t>12.9.3 - O que eu aprendi neste módulo?</a:t>
            </a:r>
          </a:p>
          <a:p>
            <a:pPr rtl="0"/>
            <a:r>
              <a:rPr lang="pt-BR"/>
              <a:t>12.9.4 — Teste de Módulo — Endereçamento IPv6</a:t>
            </a:r>
          </a:p>
        </p:txBody>
      </p:sp>
    </p:spTree>
    <p:extLst>
      <p:ext uri="{BB962C8B-B14F-4D97-AF65-F5344CB8AC3E}">
        <p14:creationId xmlns:p14="http://schemas.microsoft.com/office/powerpoint/2010/main" val="16667587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/>
              <a:t>64</a:t>
            </a:fld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65</a:t>
            </a:fld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543048" y="4741653"/>
            <a:ext cx="298247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?>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6.xml.rels><?xml version="1.0" encoding="utf-8"?>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9.xml.rels><?xml version="1.0" encoding="utf-8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0.xml.rels><?xml version="1.0" encoding="utf-8"?>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1.xml.rels><?xml version="1.0" encoding="utf-8"?>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2.xml.rels><?xml version="1.0" encoding="utf-8"?>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3.xml.rels><?xml version="1.0" encoding="utf-8"?>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4.xml.rels><?xml version="1.0" encoding="utf-8"?>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5.xml.rels><?xml version="1.0" encoding="utf-8"?>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6.xml.rels><?xml version="1.0" encoding="utf-8"?>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7.xml.rels><?xml version="1.0" encoding="utf-8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?>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20.xml.rels><?xml version="1.0" encoding="utf-8"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?>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24.xml.rels><?xml version="1.0" encoding="utf-8"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?>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?>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?>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32.xml.rels><?xml version="1.0" encoding="utf-8"?>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?>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?>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36.xml.rels><?xml version="1.0" encoding="utf-8"?>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7.xml.rels><?xml version="1.0" encoding="utf-8"?>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8.xml.rels><?xml version="1.0" encoding="utf-8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9.xml.rels><?xml version="1.0" encoding="utf-8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0.xml.rels><?xml version="1.0" encoding="utf-8"?>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1.xml.rels><?xml version="1.0" encoding="utf-8"?>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2.xml.rels><?xml version="1.0" encoding="utf-8"?>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?>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44.xml.rels><?xml version="1.0" encoding="utf-8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5.xml.rels><?xml version="1.0" encoding="utf-8"?>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6.xml.rels><?xml version="1.0" encoding="utf-8"?>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7.xml.rels><?xml version="1.0" encoding="utf-8"?>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8.xml.rels><?xml version="1.0" encoding="utf-8"?>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49.xml.rels><?xml version="1.0" encoding="utf-8"?>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50.xml.rels><?xml version="1.0" encoding="utf-8"?>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1.xml.rels><?xml version="1.0" encoding="utf-8"?>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2.xml.rels><?xml version="1.0" encoding="utf-8"?>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3.xml.rels><?xml version="1.0" encoding="utf-8"?>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54.xml.rels><?xml version="1.0" encoding="utf-8"?>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55.xml.rels><?xml version="1.0" encoding="utf-8"?>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6.xml.rels><?xml version="1.0" encoding="utf-8"?>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7.xml.rels><?xml version="1.0" encoding="utf-8"?>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58.xml.rels><?xml version="1.0" encoding="utf-8"?>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9.xml.rels><?xml version="1.0" encoding="utf-8"?>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/Relationships>
</file>

<file path=ppt/slides/_rels/slide60.xml.rels><?xml version="1.0" encoding="utf-8"?>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61.xml.rels><?xml version="1.0" encoding="utf-8"?>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62.xml.rels><?xml version="1.0" encoding="utf-8"?>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63.xml.rels><?xml version="1.0" encoding="utf-8"?>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64.xml.rels><?xml version="1.0" encoding="utf-8"?>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/Relationships>
</file>

<file path=ppt/slides/_rels/slide65.xml.rels><?xml version="1.0" encoding="utf-8"?>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12: Endereçamento IPv6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50629"/>
            <a:ext cx="9144000" cy="757551"/>
          </a:xfrm>
        </p:spPr>
        <p:txBody>
          <a:bodyPr/>
          <a:lstStyle/>
          <a:p>
            <a:pPr rtl="0"/>
            <a:r>
              <a:rPr lang="pt-BR"/>
              <a:t>Materiais do instrutor - Guia de planejamento do módulo 12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808180"/>
            <a:ext cx="8461315" cy="3818904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Esta apresentação de PowerPoint é dividida em duas partes: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Guia de planejamento do Instrutor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Informações para ajudá-lo a se familiarizar com o módulo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Material didático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Apresentação para aulas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Slides opcionais que você pode usar em sala de aula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Começa no slide 13</a:t>
            </a:r>
          </a:p>
          <a:p>
            <a:pPr marL="142875" lvl="1" indent="0" algn="ctr" rtl="0">
              <a:buNone/>
            </a:pPr>
            <a:r>
              <a:rPr sz="1600" b="true" lang="pt-BR"/>
              <a:t>      Observação</a:t>
            </a:r>
            <a:r>
              <a:rPr sz="1600" lang="pt-BR"/>
              <a:t>: Remova o Guia de planejamento desta apresentação antes de compartilhar com outra pessoa.</a:t>
            </a:r>
          </a:p>
          <a:p>
            <a:pPr marL="0" indent="0" rtl="0">
              <a:buNone/>
            </a:pPr>
            <a:r>
              <a:rPr sz="1600" b="true" lang="pt-BR">
                <a:solidFill>
                  <a:schemeClr val="accent4"/>
                </a:solidFill>
              </a:rPr>
              <a:t>Para obter ajuda e recursos adicionais,  vá para a página inicial do instrutor e os recursos do curso para este curso. Você também pode visitar o site de desenvolvimento profissional na NetAcad.com, a página oficial do Facebook da Academia de Networking da Cisco ou instrutor apenas FB Group.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EDE137-350D-6D47-BD51-750CD198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46366"/>
          </a:xfrm>
        </p:spPr>
        <p:txBody>
          <a:bodyPr/>
          <a:lstStyle/>
          <a:p>
            <a:pPr rtl="0"/>
            <a:r>
              <a:rPr lang="pt-BR"/>
              <a:t>Para facilitar a aprendizagem, os seguintes recursos dentro da GUI podem ser incluídos neste módulo: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DBD329-AB20-664C-9697-486FE5CE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238"/>
            <a:ext cx="9144000" cy="609708"/>
          </a:xfrm>
        </p:spPr>
        <p:txBody>
          <a:bodyPr/>
          <a:lstStyle/>
          <a:p>
            <a:pPr rtl="0"/>
            <a:r>
              <a:rPr lang="pt-BR"/>
              <a:t>O que esperar neste módulo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E699F-A87C-2246-9235-C1DFDF6B2651}"/>
              </a:ext>
            </a:extLst>
          </p:cNvPr>
          <p:cNvGraphicFramePr>
            <a:graphicFrameLocks noGrp="1"/>
          </p:cNvGraphicFramePr>
          <p:nvPr/>
        </p:nvGraphicFramePr>
        <p:xfrm>
          <a:off x="301658" y="1145310"/>
          <a:ext cx="8557528" cy="300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58">
                  <a:extLst>
                    <a:ext uri="{9D8B030D-6E8A-4147-A177-3AD203B41FA5}">
                      <a16:colId xmlns:a16="http://schemas.microsoft.com/office/drawing/2014/main" val="200107645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648404099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0602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Animations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Expor os alunos a novas competências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35149"/>
                  </a:ext>
                </a:extLst>
              </a:tr>
              <a:tr h="37941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Vídeos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Exponha os alunos a novas habilidades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57650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Verifique seu entendimento (CYU)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Questionário online por tópico para ajudar os alunos a avaliar a compreensão do conteúdo.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586054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Interativas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Uma variedade de formatos para ajudar os alunos a avaliar a compreensão do conteúdo.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03549"/>
                  </a:ext>
                </a:extLst>
              </a:tr>
              <a:tr h="215293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Verificador de Sintaxe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Pequenas simulações que expõem os alunos à linha de comando da Cisco para praticar habilidades de configuração.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31658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 do PT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Atividades de simulação e modelagem projetadas para explorar, adquirir, reforçar e expandir habilidades.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315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153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D10C50B-ED86-4E5D-BD0F-658911DF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85"/>
            <a:ext cx="9144000" cy="757238"/>
          </a:xfrm>
        </p:spPr>
        <p:txBody>
          <a:bodyPr/>
          <a:lstStyle/>
          <a:p>
            <a:pPr rtl="0"/>
            <a:r>
              <a:rPr lang="pt-BR"/>
              <a:t>O que esperar neste módulo (Cont.)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31D3D35-BC84-421A-A5F0-48081A310F8E}"/>
              </a:ext>
            </a:extLst>
          </p:cNvPr>
          <p:cNvSpPr txBox="1">
            <a:spLocks/>
          </p:cNvSpPr>
          <p:nvPr/>
        </p:nvSpPr>
        <p:spPr bwMode="auto">
          <a:xfrm>
            <a:off x="106756" y="668963"/>
            <a:ext cx="8853286" cy="34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/>
              <a:t>Para facilitar a aprendizagem, os seguintes recursos podem ser incluídos neste módulo: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429A6A-E9FA-4BD7-9587-6737F16E9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658" y="1426201"/>
            <a:ext cx="8632684" cy="25056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60580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Verifique seu entendimento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965201"/>
            <a:ext cx="8878570" cy="3643747"/>
          </a:xfrm>
        </p:spPr>
        <p:txBody>
          <a:bodyPr/>
          <a:lstStyle/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atividades "Verifique sua compreensão" são projetadas para permitir que os alunos determinem rapidamente se entendem o conteúdo e podem prosseguir ou se precisam revisar.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Verifique se suas atividades de compreensão </a:t>
            </a:r>
            <a:r>
              <a:rPr b="true" i="true" lang="pt-BR"/>
              <a:t>não </a:t>
            </a:r>
            <a:r>
              <a:rPr lang="pt-BR"/>
              <a:t>afetam as notas do aluno.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Não há slides separados para essas atividades no PPT. Elas estão listadas na área de anotações do slide que aparece antes dessas atividades.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0" indent="0" eaLnBrk="1" hangingPunct="1">
              <a:spcBef>
                <a:spcPct val="30000"/>
              </a:spcBef>
              <a:buNone/>
            </a:pPr>
            <a:endParaRPr lang="en-US" dirty="0"/>
          </a:p>
          <a:p>
            <a:pPr eaLnBrk="1" hangingPunct="1"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727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Packet Tracer - Atividades do Modo Físico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Estas atividades são concluídas usando o Packet Tracer no Modo Físico.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são projetados para emular os laboratórios correspondentes.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podem ser usados em vez do laboratório quando o acesso ao equipamento físico não é possível.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atividades do modo físico do Packet Tracer podem não ter tanta andaimes quanto as atividades do PT que imediatamente os precedem.</a:t>
            </a:r>
          </a:p>
          <a:p>
            <a:pPr marL="0" indent="0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dirty="0"/>
          </a:p>
          <a:p>
            <a:pPr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88667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12: Atividades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35598" y="624737"/>
            <a:ext cx="8695135" cy="348414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sz="1600"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sz="1600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0915839"/>
              </p:ext>
            </p:extLst>
          </p:nvPr>
        </p:nvGraphicFramePr>
        <p:xfrm>
          <a:off x="427595" y="973151"/>
          <a:ext cx="8288809" cy="3631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143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109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509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12.1.3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Problemas do IPv4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12.2.4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Representação do Endereço IPv6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12.3.8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Tipos de Endereço IPv6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12.4.4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Verificador de Sintaxe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Configuração Estática do GUA e do LLA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177432351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12.5.8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Endereçamento dinâmico para GUAs IPv6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30792547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12.6.5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Verificador de Sintaxe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Verificar a Configuração de Endereço IPv6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373583044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12.6.6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Configure o Endereçamento IPv6.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49783946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12.7.4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Identificar Endereços IPv6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02784487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12.8.5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Sub-rede de uma rede IPv6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85113646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52737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12: Atividades (Cont.)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35598" y="624737"/>
            <a:ext cx="8695135" cy="348414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sz="1600"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sz="1600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72025"/>
              </p:ext>
            </p:extLst>
          </p:nvPr>
        </p:nvGraphicFramePr>
        <p:xfrm>
          <a:off x="427595" y="973151"/>
          <a:ext cx="8288809" cy="1825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143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109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509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12.9.1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Implementar um Esquema de Endereçamento IPv6 Sub-Rede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12.9.2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Packet Tracer - Configurar Endereços IPv6 em Dispositivos de Rede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chemeClr val="tx1"/>
                          </a:solidFill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41598208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12.9.2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Configurar Endereços IPv6 em Dispositivos de 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27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12.9.4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Teste do Módulo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Endereçamento IPv6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chemeClr val="tx1"/>
                          </a:solidFill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981187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1714185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12: Práticas recomendadas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798944"/>
            <a:ext cx="8853286" cy="4041019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Antes de ensinar o Módulo 12, o instrutor deve: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Revise as atividades e avaliações para este módulo.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Tente incluir o máximo de perguntas possível para manter os alunos envolvidos durante a apresentação em sala de aula.</a:t>
            </a:r>
          </a:p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12.1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Quais são os impulsionadores do esgotamento do endereço IPv4?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Discuta os três tipos de técnicas de migração IPv6.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12.2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No trabalho, trabalhe através de vários exemplos de compressão de endereço IPv6.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Explique por que pode haver apenas uma instância de um cólon duplo "::" em um endereço IPv6.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931760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12: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946788"/>
            <a:ext cx="8853286" cy="4155319"/>
          </a:xfrm>
        </p:spPr>
        <p:txBody>
          <a:bodyPr/>
          <a:lstStyle/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400" lang="pt-BR"/>
              <a:t> </a:t>
            </a:r>
            <a:r>
              <a:rPr sz="1600" lang="pt-BR"/>
              <a:t>Tópico 12.3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Dê um cenário de quando Ulas seria usado.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No conselho quebrar as três partes de um endereço IPv6: prefixo de roteamento global, ID da sub-rede e ID de interface.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12.4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Se possível, exibir como configurar um GUA no Cisco IOS.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Se possível, exibir como configurar um GUA na GUI do Windows.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4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957605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12: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946788"/>
            <a:ext cx="8853286" cy="4155319"/>
          </a:xfrm>
        </p:spPr>
        <p:txBody>
          <a:bodyPr/>
          <a:lstStyle/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12.5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Trabalhe no quadro Como converter um Mac de 48 bits para um ID de interface EUI-64.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Discuta os cenários quando o Slaac, o DHCP sem estado ou o DHCP com estado seriam apropriados.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12.6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Se possível, exiba uma ID de interface gerada dinamicamente no Windows.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Se possível, exiba uma ID de interface gerada dinamicamente em um roteador Cisco.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4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989233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12: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946788"/>
            <a:ext cx="8853286" cy="4155319"/>
          </a:xfrm>
        </p:spPr>
        <p:txBody>
          <a:bodyPr/>
          <a:lstStyle/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12.7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Como o IPv6 usa multicast para executar as funções que o IPv4 realizou com transmissões?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12.8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Trabalhe através de problemas de sub-redes no quadro. Mostrar exemplos em diferentes hixtets.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4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301753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12: endereçamento IPv6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Objetivos do módulo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Endereçamento IPv6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Implementar um esquema de endereçamento IPv6</a:t>
            </a: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5F2CA0-8AB1-46F5-A42B-3D4DECC8A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590912"/>
              </p:ext>
            </p:extLst>
          </p:nvPr>
        </p:nvGraphicFramePr>
        <p:xfrm>
          <a:off x="642616" y="1952562"/>
          <a:ext cx="7456362" cy="2349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8181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728181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72935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lang="pt-BR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lang="pt-BR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Problemas do IPv4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lang="pt-BR"/>
                        <a:t>Explicar a necessidade do endereçamento IPv6.</a:t>
                      </a:r>
                    </a:p>
                    <a:p>
                      <a:pPr fontAlgn="ctr"/>
                      <a:endParaRPr lang="en-US" sz="1050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/>
                        <a:t>Representação do Endereço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lang="pt-BR"/>
                        <a:t>Explicar como os endereços IPv6 são representados.</a:t>
                      </a:r>
                    </a:p>
                    <a:p>
                      <a:pPr fontAlgn="ctr"/>
                      <a:endParaRPr lang="en-US" sz="1050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216917477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/>
                        <a:t>Tipos de Endereço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lang="pt-BR"/>
                        <a:t>Comparar os tipos de endereços de rede IPv6.</a:t>
                      </a:r>
                    </a:p>
                    <a:p>
                      <a:pPr fontAlgn="ctr"/>
                      <a:endParaRPr lang="en-US" sz="1050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23668542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/>
                        <a:t>Configuração Estática do GUA e do LLA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lang="pt-BR"/>
                        <a:t>Explique como configurar endereços de rede IPv6 globais estáticos e unicast.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/>
                        <a:t>Endereçamento dinâmico para GUAs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lang="pt-BR"/>
                        <a:t>Explicar como configurar endereços unicast globais de forma dinâmica.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Objetivos do módulo (Cont.)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3ABF05-935F-4C72-8377-C67A9CC04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Endereçamento IPv6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Implementar um esquema de endereçamento IPv6</a:t>
            </a: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5F2CA0-8AB1-46F5-A42B-3D4DECC8A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775158"/>
              </p:ext>
            </p:extLst>
          </p:nvPr>
        </p:nvGraphicFramePr>
        <p:xfrm>
          <a:off x="642616" y="2013235"/>
          <a:ext cx="7456362" cy="11170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1184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365178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72935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lang="pt-BR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lang="pt-BR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/>
                        <a:t>Endereçamento dinâmico para LLAsIPv6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lang="pt-BR"/>
                        <a:t>Configurar endereços link-local dinamicamente.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818444524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/>
                        <a:t>Endereços multicast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lang="pt-BR"/>
                        <a:t>Identificando Endereços IPv6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46877670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/>
                        <a:t>Sub-rede de uma rede IPv6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lang="pt-BR"/>
                        <a:t>Implementando um Esquema de Endereçamento IPv6 com Sub-Redes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70258444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2058468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244338"/>
            <a:ext cx="7598042" cy="1473462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12.1 Problemas IPv4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Problemas IPv4</a:t>
            </a:r>
            <a:br>
              <a:rPr lang="en-US" dirty="0"/>
            </a:br>
            <a:r>
              <a:rPr sz="2400" lang="pt-BR"/>
              <a:t>Necessidade de IPv6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140028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O IPv4 está ficando sem endereços. O IPv6 é o sucessor do IPv4. Tem um maior espaço de endereço de 128 bits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O desenvolvimento do IPv6 também incluiu correções para limitações de IPv4 e outros aprimoramentos.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Com uma população cada vez maior na Internet, espaço de endereços IPv4 limitado, problemas com NAT e uma Internet das Coisas, chegou o momento de iniciar a transição para o IPv6.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1C0E8-9A48-4776-9AE6-431C4EFF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275" y="855419"/>
            <a:ext cx="3478852" cy="206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Problemas do IPv4 </a:t>
            </a:r>
            <a:br>
              <a:rPr lang="en-US" dirty="0"/>
            </a:br>
            <a:r>
              <a:rPr sz="2400" lang="pt-BR"/>
              <a:t>A coexistência do IPv4 e do IPv6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7913517" cy="3073946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chemeClr val="tx1"/>
                </a:solidFill>
              </a:rPr>
              <a:t>Tanto o IPv4 como o IPv6 coexistirão no futuro próximo e a transição levará vários anos.</a:t>
            </a:r>
          </a:p>
          <a:p>
            <a:pPr marL="0" indent="0" algn="l" rtl="0"/>
            <a:r>
              <a:rPr sz="1600" lang="pt-BR">
                <a:solidFill>
                  <a:schemeClr val="tx1"/>
                </a:solidFill>
              </a:rPr>
              <a:t>A IETF criou vários protocolos e ferramentas para ajudar os administradores de rede a migrarem as redes para IPv6. As técnicas de migração podem ser divididas em três categorias: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Pilha dupla - Os dispositivos de pilha dupla executam os protocolos IPv4 e IPv6 simultaneamente.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b="true" lang="pt-BR"/>
              <a:t>Tunelamento</a:t>
            </a:r>
            <a:r>
              <a:rPr lang="pt-BR"/>
              <a:t> -  Um método de transporte de pacotes IPv6 através de uma rede IPv4. O pacote IPv6 é encapsulado dentro de um pacote IPv4.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b="true" lang="pt-BR">
                <a:solidFill>
                  <a:schemeClr val="tx1"/>
                </a:solidFill>
              </a:rPr>
              <a:t>Tradução</a:t>
            </a:r>
            <a:r>
              <a:rPr lang="pt-BR">
                <a:solidFill>
                  <a:schemeClr val="tx1"/>
                </a:solidFill>
              </a:rPr>
              <a:t>: </a:t>
            </a:r>
            <a:r>
              <a:rPr b="true" lang="pt-BR">
                <a:solidFill>
                  <a:schemeClr val="tx1"/>
                </a:solidFill>
              </a:rPr>
              <a:t>a </a:t>
            </a:r>
            <a:r>
              <a:rPr lang="pt-BR"/>
              <a:t>NAT64 (Network Address Translation 64) permite que os dispositivos habilitados para IPv6 se comuniquem com os dispositivos habilitados para IPv4 usando uma técnica de tradução semelhante à NAT IPv4.</a:t>
            </a:r>
            <a:r>
              <a:rPr b="true" lang="pt-BR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35741-D333-4DBC-B285-F99CC22F97CD}"/>
              </a:ext>
            </a:extLst>
          </p:cNvPr>
          <p:cNvSpPr txBox="1"/>
          <p:nvPr/>
        </p:nvSpPr>
        <p:spPr>
          <a:xfrm>
            <a:off x="431971" y="3918749"/>
            <a:ext cx="7913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b="true" lang="pt-BR"/>
              <a:t>Observação: O</a:t>
            </a:r>
            <a:r>
              <a:rPr sz="1400" lang="pt-BR"/>
              <a:t> tunelamento e a tradução são para transição para IPv6 nativo e só devem ser usados quando necessário. O objetivo deve ser as comunicações IPv6 nativas da origem até o destino.</a:t>
            </a:r>
          </a:p>
        </p:txBody>
      </p:sp>
    </p:spTree>
    <p:extLst>
      <p:ext uri="{BB962C8B-B14F-4D97-AF65-F5344CB8AC3E}">
        <p14:creationId xmlns:p14="http://schemas.microsoft.com/office/powerpoint/2010/main" val="3543553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Representação do Endereço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Representação deendereço IPv6 Formatos deendereçamentoIPv6 </a:t>
            </a:r>
            <a:br>
              <a:rPr lang="en-US" dirty="0"/>
            </a:b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400318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Os endereços IPv6 têm 128 bits e são gravados em hexadecimal.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Os endereços IPv6 não diferenciam maiúsculas e minúsculas e podem ser escritos tanto em minúsculas como em maiúsculas.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Como mostrado na Figura 1, o formato preferencial para escrever um endereço IPv6 é x: x: x: x: x: x: x: x, com cada “x” consistindo de quatro valores hexadecimais.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No IPv6, um hexteto é o termo não oficial usado para se referir a um segmento de 16 bits ou quatro valores hexadecimais.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Exemplos de endereços IPv6 no formato preferido:</a:t>
            </a:r>
          </a:p>
          <a:p>
            <a:pPr marL="358775" lvl="4" indent="0" rtl="0">
              <a:buNone/>
            </a:pPr>
            <a:r>
              <a:rPr sz="1600" lang="pt-BR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2001:0db8:0000:1111:0000:0000:0000:0200 </a:t>
            </a:r>
          </a:p>
          <a:p>
            <a:pPr marL="358775" lvl="4" indent="0" rtl="0">
              <a:buNone/>
            </a:pPr>
            <a:r>
              <a:rPr sz="1600" lang="pt-BR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2001:0db8:0000:00 a3:abcd:</a:t>
            </a:r>
            <a:r>
              <a:rPr sz="1600" lang="pt-BR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sz="1600" lang="pt-BR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000:0000:1234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655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Regra 1 de representação de endereço IPv6 — Omitir zero à esquerda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598726"/>
            <a:ext cx="7913516" cy="2895245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chemeClr val="tx1"/>
                </a:solidFill>
              </a:rPr>
              <a:t>A primeira regra para ajudar a reduzir a notação de endereços IPv6 é omitir quaisquer 0s (zeros) iniciais.</a:t>
            </a:r>
          </a:p>
          <a:p>
            <a:pPr marL="73085" lvl="1" indent="0" rtl="0">
              <a:buNone/>
            </a:pPr>
            <a:r>
              <a:rPr sz="1600" b="true" lang="pt-BR"/>
              <a:t>Exemplos: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01AB pode ser representado como 1AB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09f0 pode ser representado como 9f0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0a00 pode ser representado como a00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00ab pode ser representado como ab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sz="1600" b="true" lang="pt-BR">
                <a:solidFill>
                  <a:schemeClr val="tx1"/>
                </a:solidFill>
              </a:rPr>
              <a:t>Observação</a:t>
            </a:r>
            <a:r>
              <a:rPr sz="1600" lang="pt-BR">
                <a:solidFill>
                  <a:schemeClr val="tx1"/>
                </a:solidFill>
              </a:rPr>
              <a:t>:</a:t>
            </a:r>
            <a:r>
              <a:rPr sz="1600" lang="pt-BR">
                <a:solidFill>
                  <a:schemeClr val="tx1"/>
                </a:solidFill>
              </a:rPr>
              <a:t>Essa regra se aplica somente aos 0s à esquerda, e NÃO aos 0s à direita. Caso contrário, o endereço ficaria ambíguo.</a:t>
            </a:r>
            <a:r>
              <a:rPr sz="1600" b="true" lang="pt-BR">
                <a:solidFill>
                  <a:schemeClr val="tx1"/>
                </a:solidFill>
              </a:rPr>
              <a:t>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8D418206-3EDF-4754-9AFB-FFEB63859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0276989"/>
              </p:ext>
            </p:extLst>
          </p:nvPr>
        </p:nvGraphicFramePr>
        <p:xfrm>
          <a:off x="750745" y="3767534"/>
          <a:ext cx="661709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2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653970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Formato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Preferencial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2001: </a:t>
                      </a:r>
                      <a:r>
                        <a:rPr sz="1100" b="true" lang="pt-BR"/>
                        <a:t>0</a:t>
                      </a:r>
                      <a:r>
                        <a:rPr sz="1100" lang="pt-BR"/>
                        <a:t>db8: </a:t>
                      </a:r>
                      <a:r>
                        <a:rPr sz="1100" b="true" lang="pt-BR"/>
                        <a:t>000</a:t>
                      </a:r>
                      <a:r>
                        <a:rPr sz="1100" lang="pt-BR"/>
                        <a:t>0:1111: </a:t>
                      </a:r>
                      <a:r>
                        <a:rPr sz="1100" b="true" lang="pt-BR"/>
                        <a:t>000</a:t>
                      </a:r>
                      <a:r>
                        <a:rPr sz="1100" lang="pt-BR"/>
                        <a:t>0: </a:t>
                      </a:r>
                      <a:r>
                        <a:rPr sz="1100" b="true" lang="pt-BR"/>
                        <a:t>000</a:t>
                      </a:r>
                      <a:r>
                        <a:rPr sz="1100" lang="pt-BR"/>
                        <a:t>0: </a:t>
                      </a:r>
                      <a:r>
                        <a:rPr sz="1100" b="true" lang="pt-BR"/>
                        <a:t>000</a:t>
                      </a:r>
                      <a:r>
                        <a:rPr sz="1100" lang="pt-BR"/>
                        <a:t>0: </a:t>
                      </a:r>
                      <a:r>
                        <a:rPr sz="1100" b="true" lang="pt-BR"/>
                        <a:t>0</a:t>
                      </a:r>
                      <a:r>
                        <a:rPr sz="1100" lang="pt-BR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Sem zeros à esquerda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2001: db8:0: 1111:0: 0:0: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638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Regra 2 de Representação de Endereço IPv6 — Dois-pontos duplos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2399913"/>
          </a:xfrm>
        </p:spPr>
        <p:txBody>
          <a:bodyPr/>
          <a:lstStyle/>
          <a:p>
            <a:pPr marL="0" indent="0" algn="l" rtl="0"/>
            <a:r>
              <a:rPr sz="1800" lang="pt-BR">
                <a:solidFill>
                  <a:schemeClr val="tx1"/>
                </a:solidFill>
              </a:rPr>
              <a:t>Dois pontos-e-vírgula (: :) podem substituir qualquer sequência única e contígua de um ou mais hextets de 16 bits que consistem em todos os zeros. </a:t>
            </a:r>
          </a:p>
          <a:p>
            <a:pPr marL="0" indent="0" algn="l" rtl="0"/>
            <a:r>
              <a:rPr sz="1600" b="true" lang="pt-BR">
                <a:solidFill>
                  <a:schemeClr val="tx1"/>
                </a:solidFill>
              </a:rPr>
              <a:t>Exemplo: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chemeClr val="tx1"/>
                </a:solidFill>
              </a:rPr>
              <a:t>2001:db8:cafe: 1:0:0:0:1 (0s principais omitidos) poderia ser representado como 2001:db8:cafe:1: :1</a:t>
            </a: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sz="1600" b="true" lang="pt-BR">
                <a:solidFill>
                  <a:schemeClr val="tx1"/>
                </a:solidFill>
              </a:rPr>
              <a:t>Observação</a:t>
            </a:r>
            <a:r>
              <a:rPr sz="1600" lang="pt-BR">
                <a:solidFill>
                  <a:schemeClr val="tx1"/>
                </a:solidFill>
              </a:rPr>
              <a:t>:</a:t>
            </a:r>
            <a:r>
              <a:rPr sz="1400" lang="pt-BR">
                <a:solidFill>
                  <a:schemeClr val="tx1"/>
                </a:solidFill>
              </a:rPr>
              <a:t>Os dois-pontos em dobro (::) só podem ser usados uma vez em um endereço; caso contrário, haveria mais de um endereço resultante possível.</a:t>
            </a: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8D418206-3EDF-4754-9AFB-FFEB63859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957027"/>
              </p:ext>
            </p:extLst>
          </p:nvPr>
        </p:nvGraphicFramePr>
        <p:xfrm>
          <a:off x="668858" y="3255332"/>
          <a:ext cx="661709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2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653970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Formato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Preferencial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2001: </a:t>
                      </a:r>
                      <a:r>
                        <a:rPr sz="1100" b="true" lang="pt-BR"/>
                        <a:t>0</a:t>
                      </a:r>
                      <a:r>
                        <a:rPr sz="1100" lang="pt-BR"/>
                        <a:t>db8: </a:t>
                      </a:r>
                      <a:r>
                        <a:rPr sz="1100" b="true" lang="pt-BR"/>
                        <a:t>000</a:t>
                      </a:r>
                      <a:r>
                        <a:rPr sz="1100" lang="pt-BR"/>
                        <a:t>0:1111: </a:t>
                      </a:r>
                      <a:r>
                        <a:rPr sz="1100" b="true" lang="pt-BR"/>
                        <a:t>0000</a:t>
                      </a:r>
                      <a:r>
                        <a:rPr sz="1100" lang="pt-BR"/>
                        <a:t>: </a:t>
                      </a:r>
                      <a:r>
                        <a:rPr sz="1100" b="true" lang="pt-BR"/>
                        <a:t>0000</a:t>
                      </a:r>
                      <a:r>
                        <a:rPr sz="1100" lang="pt-BR"/>
                        <a:t>: </a:t>
                      </a:r>
                      <a:r>
                        <a:rPr sz="1100" b="true" lang="pt-BR"/>
                        <a:t>0000</a:t>
                      </a:r>
                      <a:r>
                        <a:rPr sz="1100" lang="pt-BR"/>
                        <a:t>: </a:t>
                      </a:r>
                      <a:r>
                        <a:rPr sz="1100" b="true" lang="pt-BR"/>
                        <a:t>0</a:t>
                      </a:r>
                      <a:r>
                        <a:rPr sz="1100" lang="pt-BR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Compactado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2001:db8:0:1111::200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54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12.3 Tipos de endereço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 de Endereçamento IPv6 </a:t>
            </a:r>
            <a:br>
              <a:rPr lang="en-US" dirty="0"/>
            </a:br>
            <a:r>
              <a:rPr sz="2400" lang="pt-BR"/>
              <a:t>unicast, multicast, anycast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chemeClr val="tx1"/>
                </a:solidFill>
              </a:rPr>
              <a:t>Existem três grandes categorias de endereços IPv6: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Unicast </a:t>
            </a:r>
            <a:r>
              <a:rPr sz="1600" b="true" lang="pt-BR">
                <a:solidFill>
                  <a:schemeClr val="tx1"/>
                </a:solidFill>
              </a:rPr>
              <a:t>– Um endereço IPv6 unicast identifica exclusivamente uma interface em um dispositivo habilitado para IPv6.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Multicast </a:t>
            </a:r>
            <a:r>
              <a:rPr sz="1600" b="true" lang="pt-BR">
                <a:solidFill>
                  <a:schemeClr val="tx1"/>
                </a:solidFill>
              </a:rPr>
              <a:t>– Um endereço IPv6 multicast é usado para enviar um único pacote IPv6 para vários destinos.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b="true" lang="pt-BR">
                <a:solidFill>
                  <a:schemeClr val="tx1"/>
                </a:solidFill>
              </a:rPr>
              <a:t>Anycast </a:t>
            </a:r>
            <a:r>
              <a:rPr sz="1600" lang="pt-BR">
                <a:solidFill>
                  <a:schemeClr val="tx1"/>
                </a:solidFill>
              </a:rPr>
              <a:t>– Um endereço IPv6 anycast é qualquer endereço IPv6 unicast que possa ser atribuído a vários dispositivos. Um pacote enviado a um endereço de anycast é roteado para o dispositivo mais próximo que tenha esse endereço.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sz="1600" b="true" lang="pt-BR">
                <a:solidFill>
                  <a:schemeClr val="tx1"/>
                </a:solidFill>
              </a:rPr>
              <a:t>Observação</a:t>
            </a:r>
            <a:r>
              <a:rPr sz="1600" lang="pt-BR">
                <a:solidFill>
                  <a:schemeClr val="tx1"/>
                </a:solidFill>
              </a:rPr>
              <a:t>: Ao contrário do IPv4, o IPv6 não possui um endereço de broadcast. No entanto, há um endereço multicast para todos os nós IPv6 que fornece basicamente o mesmo resultado.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960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Tipos de endereços IPv6 </a:t>
            </a:r>
            <a:r>
              <a:rPr sz="1600" lang="pt-BR"/>
              <a:t>Comprimento do prefixo 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1312365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chemeClr val="tx1"/>
                </a:solidFill>
              </a:rPr>
              <a:t>O comprimento do prefixo é representado na notação de barra e é usado para indicar a parte da rede de um endereço IPv6.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chemeClr val="tx1"/>
                </a:solidFill>
              </a:rPr>
              <a:t>O comprimento do prefixo pode variar de 0 a 128. O comprimento recomendado do prefixo IPv6 para LANs e a maioria dos outros tipos de redes é / 64.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711CFE-EFE8-4AEF-8D4D-DB7AA12D8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923" y="2190466"/>
            <a:ext cx="4469641" cy="17276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51A667-EF42-442E-A708-9DFBA630D846}"/>
              </a:ext>
            </a:extLst>
          </p:cNvPr>
          <p:cNvSpPr txBox="1"/>
          <p:nvPr/>
        </p:nvSpPr>
        <p:spPr>
          <a:xfrm>
            <a:off x="431799" y="3952755"/>
            <a:ext cx="79903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b="true" lang="pt-BR"/>
              <a:t>Observação</a:t>
            </a:r>
            <a:r>
              <a:rPr sz="1400" lang="pt-BR"/>
              <a:t>: É altamente recomendável usar um ID de interface de 64 bits para a maioria das redes. Isso ocorre porque a configuração automática de endereço sem estado (SLAAC) usa 64 bits para o ID de interface. Também facilita a criação e o gerenciamento de sub-redes</a:t>
            </a:r>
            <a:r>
              <a:rPr sz="1200" lang="pt-B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0096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Tipos de endereços IPv6 </a:t>
            </a:r>
            <a:r>
              <a:rPr sz="1600" lang="pt-BR"/>
              <a:t>Endereços IPv6 unicast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4741333" cy="3550598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chemeClr val="tx1"/>
                </a:solidFill>
              </a:rPr>
              <a:t>Ao contrário dos dispositivos IPv4 que têm apenas um único endereço, os endereços IPv6 normalmente têm dois endereços unicast: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Um endereço unicast global(GUA) é semelhante a um endereço IPv4 público. São endereços de Internet roteáveis e globalmente exclusivos.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b="true" lang="pt-BR">
                <a:solidFill>
                  <a:schemeClr val="tx1"/>
                </a:solidFill>
              </a:rPr>
              <a:t>Endereço local do link (LLA) - </a:t>
            </a:r>
            <a:r>
              <a:rPr sz="1600" lang="pt-BR">
                <a:solidFill>
                  <a:schemeClr val="tx1"/>
                </a:solidFill>
              </a:rPr>
              <a:t>obrigatório para todos os dispositivos habilitados para IPv6 e usado para se comunicar com outros dispositivos no mesmo link local. Os LLAs não são roteáveis e estão confinados a um único link.</a:t>
            </a:r>
            <a:r>
              <a:rPr sz="1600" b="true" lang="pt-BR">
                <a:solidFill>
                  <a:schemeClr val="tx1"/>
                </a:solidFill>
              </a:rPr>
              <a:t> </a:t>
            </a: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BE6E4-8308-4A7B-92AC-81146B461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666" y="675564"/>
            <a:ext cx="3528847" cy="298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84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 endereço IPv6</a:t>
            </a:r>
            <a:br>
              <a:rPr lang="en-US" dirty="0"/>
            </a:br>
            <a:r>
              <a:rPr sz="2400" lang="pt-BR"/>
              <a:t>Uma observação sobre o endereço local exclusivo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857250"/>
            <a:ext cx="7913688" cy="2690789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800" lang="pt-BR">
                <a:solidFill>
                  <a:schemeClr val="tx1"/>
                </a:solidFill>
              </a:rPr>
              <a:t>Os endereços locais exclusivos do IPv6 (intervalo fc00 :: / 7 a fdff :: / 7) têm alguma semelhança com os endereços privados do RFC 1918 para o IPv4, mas existem diferenças significativas: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Os endereços unique local são utilizados para endereçamento local dentro de um site ou entre um número limitado de sites.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Os endereços unique local podem ser usados para dispositivos que nunca precisarão ou terão acesso por outra rede.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chemeClr val="tx1"/>
                </a:solidFill>
              </a:rPr>
              <a:t>Endereços locais exclusivos não são globalmente roteados ou traduzidos para um endereço IPv6 global.</a:t>
            </a:r>
          </a:p>
          <a:p>
            <a:pPr marL="0" indent="0" algn="l"/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31FF7-40C5-41A9-B1B2-B932B5944E05}"/>
              </a:ext>
            </a:extLst>
          </p:cNvPr>
          <p:cNvSpPr txBox="1"/>
          <p:nvPr/>
        </p:nvSpPr>
        <p:spPr>
          <a:xfrm>
            <a:off x="566383" y="3673452"/>
            <a:ext cx="7779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b="true" lang="pt-BR"/>
              <a:t>Nota</a:t>
            </a:r>
            <a:r>
              <a:rPr sz="1600" lang="pt-BR"/>
              <a:t>: Muitos sites usam a natureza privada dos endereços RFC 1918 para tentar proteger ou ocultar sua rede de possíveis riscos à segurança. Este nunca foi o uso pretendido de ULA. </a:t>
            </a:r>
            <a:r>
              <a:rPr sz="1600" b="true"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200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deendereço </a:t>
            </a:r>
            <a:br>
              <a:rPr lang="en-US" dirty="0"/>
            </a:br>
            <a:r>
              <a:rPr sz="2400" lang="pt-BR"/>
              <a:t>IPv6 GUAIPv6 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7913688" cy="1653559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chemeClr val="tx1"/>
                </a:solidFill>
              </a:rPr>
              <a:t>O endereço IPv6 unicast global (GUA) é globalmente exclusivo e roteável na Internet IPv6.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400" lang="pt-BR">
                <a:solidFill>
                  <a:schemeClr val="tx1"/>
                </a:solidFill>
              </a:rPr>
              <a:t>Atualmente, apenas GUAs com os três primeiros bits de 001 ou 2000 :: / 3 estão sendo atribuídos.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400" lang="pt-BR">
                <a:solidFill>
                  <a:schemeClr val="tx1"/>
                </a:solidFill>
              </a:rPr>
              <a:t>GUAs atualmente disponíveis começam com um decimal 2 ou um 3 (Isso é apenas 1/8 do espaço total de endereços IPv6 disponível).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2C171-6C4F-462E-8801-77898CB37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67" y="2756848"/>
            <a:ext cx="5097321" cy="179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50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 endereço IPv6</a:t>
            </a:r>
            <a:r>
              <a:rPr sz="2400" lang="pt-BR"/>
              <a:t>Estrutura GUAIPv6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33" y="555789"/>
            <a:ext cx="7913688" cy="3066433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b="true" lang="pt-BR">
                <a:solidFill>
                  <a:srgbClr val="000000"/>
                </a:solidFill>
              </a:rPr>
              <a:t>prefixo de roteamento global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O prefixo global de roteamento é o prefixo (parte de rede) do endereço que é atribuído pelo provedor (como um ISP) a um cliente ou um site. O prefixo de roteamento global varia dependendo das políticas do ISP.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b="true" lang="pt-BR">
                <a:solidFill>
                  <a:srgbClr val="000000"/>
                </a:solidFill>
              </a:rPr>
              <a:t>ID da sub-rede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O campo ID de sub-rede é a área entre o Prefixo de roteamento global e o ID da interface. A ID da sub-rede é usada por uma empresa para identificar sub-redes localmente.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b="true" lang="pt-BR">
                <a:solidFill>
                  <a:srgbClr val="000000"/>
                </a:solidFill>
              </a:rPr>
              <a:t>ID da interface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A ID da interface IPv6 equivale à parte de host de um endereço IPv4. É altamente recomendável que as sub-redes /64 sejam usadas na maioria dos casos. 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8A82F-60E8-4147-8B2F-E378272C665E}"/>
              </a:ext>
            </a:extLst>
          </p:cNvPr>
          <p:cNvSpPr txBox="1"/>
          <p:nvPr/>
        </p:nvSpPr>
        <p:spPr>
          <a:xfrm>
            <a:off x="431799" y="4178011"/>
            <a:ext cx="7815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200" b="true" lang="pt-BR"/>
              <a:t>Nota</a:t>
            </a:r>
            <a:r>
              <a:rPr sz="1200" lang="pt-BR"/>
              <a:t>: O IPv6 permite que os endereços de host todos os 0 e todos os 1s possam ser atribuídos a um dispositivo. O endereço all-0s é reservado como endereço anycast do Subnet-Router e deve ser atribuído apenas aos roteadores.</a:t>
            </a:r>
          </a:p>
        </p:txBody>
      </p:sp>
    </p:spTree>
    <p:extLst>
      <p:ext uri="{BB962C8B-B14F-4D97-AF65-F5344CB8AC3E}">
        <p14:creationId xmlns:p14="http://schemas.microsoft.com/office/powerpoint/2010/main" val="3392640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 endereço IPv6 </a:t>
            </a:r>
            <a:br>
              <a:rPr lang="en-US" dirty="0"/>
            </a:br>
            <a:r>
              <a:rPr sz="2400" lang="pt-BR"/>
              <a:t>IPv6 LLA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24" y="819502"/>
            <a:ext cx="8135151" cy="2214177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Um endereço IPv6 de link-local permite que um dispositivo se comunique com outros dispositivos habilitados para IPv6 no mesmo link e somente nesse link (sub-rede).</a:t>
            </a:r>
          </a:p>
          <a:p>
            <a:pPr marL="169863" indent="-169863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Pacotes com um LLA de origem ou destino não podem ser roteados.</a:t>
            </a:r>
          </a:p>
          <a:p>
            <a:pPr marL="169863" indent="-169863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Toda interface de rede habilitada para IPv6 deve ter um LLA.</a:t>
            </a:r>
          </a:p>
          <a:p>
            <a:pPr marL="169863" indent="-169863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Se um LLA não estiver configurado manualmente em uma interface, o dispositivo criará automaticamente um.</a:t>
            </a:r>
          </a:p>
          <a:p>
            <a:pPr marL="169863" indent="-169863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Os LLAs IPv6 estão no intervalo fe80: :/10.</a:t>
            </a: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BF2F6-9976-4706-A856-94F952BD6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289" y="3121345"/>
            <a:ext cx="4838608" cy="158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21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12.4 Configuração estática GUA e LLA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Configuração estática GUA e LLA Configuração</a:t>
            </a:r>
            <a:br>
              <a:rPr lang="en-US" dirty="0"/>
            </a:br>
            <a:r>
              <a:rPr sz="2400" lang="pt-BR"/>
              <a:t>Estática de GUA em um Roteador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135151" cy="2064285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A maioria dos comandos de configuração e verificação do IPv6 no Cisco IOS são semelhantes aos seus equivalentes no IPv4. Em muitos casos, a única diferença é o uso de </a:t>
            </a:r>
            <a:r>
              <a:rPr sz="1600" b="true" lang="pt-BR">
                <a:solidFill>
                  <a:srgbClr val="000000"/>
                </a:solidFill>
              </a:rPr>
              <a:t>ipv6 </a:t>
            </a:r>
            <a:r>
              <a:rPr sz="1600" lang="pt-BR">
                <a:solidFill>
                  <a:srgbClr val="000000"/>
                </a:solidFill>
              </a:rPr>
              <a:t>em vez de </a:t>
            </a:r>
            <a:r>
              <a:rPr sz="1600" b="true" lang="pt-BR">
                <a:solidFill>
                  <a:srgbClr val="000000"/>
                </a:solidFill>
              </a:rPr>
              <a:t>ip </a:t>
            </a:r>
            <a:r>
              <a:rPr sz="1600" lang="pt-BR">
                <a:solidFill>
                  <a:srgbClr val="000000"/>
                </a:solidFill>
              </a:rPr>
              <a:t>nos comandos.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comando para configurar um GUA IPv6 em uma interface é: </a:t>
            </a:r>
            <a:r>
              <a:rPr sz="1600" b="true" lang="pt-BR">
                <a:solidFill>
                  <a:srgbClr val="000000"/>
                </a:solidFill>
              </a:rPr>
              <a:t>ipv6 address</a:t>
            </a:r>
            <a:r>
              <a:rPr sz="1600" lang="pt-BR">
                <a:solidFill>
                  <a:srgbClr val="000000"/>
                </a:solidFill>
              </a:rPr>
              <a:t> </a:t>
            </a:r>
            <a:r>
              <a:rPr sz="1600" i="true" lang="pt-BR">
                <a:solidFill>
                  <a:srgbClr val="000000"/>
                </a:solidFill>
              </a:rPr>
              <a:t>ipv6-address/prefix-length. 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exemplo mostra comandos para configurar um GUA na interface G0/0/0 em R1:</a:t>
            </a: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855BE97-77D7-4D00-9761-F371C2A24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864" y="3249227"/>
            <a:ext cx="4747759" cy="70788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2001:db8:acad:1::1/64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0190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Configuração estática da GUA e do LLA </a:t>
            </a:r>
            <a:r>
              <a:rPr sz="1600" lang="pt-BR"/>
              <a:t>Configuração estática da GUA em um host do Windows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1"/>
            <a:ext cx="3474375" cy="2256790"/>
          </a:xfrm>
        </p:spPr>
        <p:txBody>
          <a:bodyPr/>
          <a:lstStyle/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Configurar manualmente o endereço IPv6 em um host é semelhante a configurar um endereço IPv4.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GUA ou LLA da interface do roteador podem ser usados como gateway padrão. A melhor prática é usar o LLA.</a:t>
            </a: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28590-4F2F-4C75-AAF1-01FE9ADDA800}"/>
              </a:ext>
            </a:extLst>
          </p:cNvPr>
          <p:cNvSpPr txBox="1"/>
          <p:nvPr/>
        </p:nvSpPr>
        <p:spPr>
          <a:xfrm>
            <a:off x="431799" y="3595055"/>
            <a:ext cx="3474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b="true" lang="pt-BR">
                <a:solidFill>
                  <a:srgbClr val="000000"/>
                </a:solidFill>
              </a:rPr>
              <a:t>Nota</a:t>
            </a:r>
            <a:r>
              <a:rPr sz="1400" lang="pt-BR">
                <a:solidFill>
                  <a:srgbClr val="000000"/>
                </a:solidFill>
              </a:rPr>
              <a:t>: Quando DHCPv6 ou SLAAC é usado, o LLA do roteador será especificado automaticamente como o endereço de gateway padrão.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FFDA62-B00A-4541-A999-09D57E536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172" y="922607"/>
            <a:ext cx="4151513" cy="350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41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Configuração estática de GUA e LLA </a:t>
            </a:r>
            <a:br>
              <a:rPr lang="en-US" dirty="0"/>
            </a:br>
            <a:r>
              <a:rPr sz="2400" lang="pt-BR"/>
              <a:t>Configuração de GUA estática de um endereço Unicast local de link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1"/>
            <a:ext cx="7753412" cy="1841314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A configuração manual do LLA permite criar um endereço reconhecível e fácil de lembrar. 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Os LLAS podem ser configurados manualmente usando o comando </a:t>
            </a:r>
            <a:r>
              <a:rPr sz="1600" b="true" lang="pt-BR">
                <a:solidFill>
                  <a:srgbClr val="000000"/>
                </a:solidFill>
              </a:rPr>
              <a:t>ipv6 address</a:t>
            </a:r>
            <a:r>
              <a:rPr sz="1600" lang="pt-BR">
                <a:solidFill>
                  <a:srgbClr val="000000"/>
                </a:solidFill>
              </a:rPr>
              <a:t> </a:t>
            </a:r>
            <a:r>
              <a:rPr sz="1600" i="true" lang="pt-BR">
                <a:solidFill>
                  <a:srgbClr val="000000"/>
                </a:solidFill>
              </a:rPr>
              <a:t>ipv6-link-local-address</a:t>
            </a:r>
            <a:r>
              <a:rPr sz="1600" lang="pt-BR">
                <a:solidFill>
                  <a:srgbClr val="000000"/>
                </a:solidFill>
              </a:rPr>
              <a:t> </a:t>
            </a:r>
            <a:r>
              <a:rPr sz="1600" b="true" lang="pt-BR">
                <a:solidFill>
                  <a:srgbClr val="000000"/>
                </a:solidFill>
              </a:rPr>
              <a:t>link-local</a:t>
            </a:r>
            <a:r>
              <a:rPr sz="1600" lang="pt-BR">
                <a:solidFill>
                  <a:srgbClr val="000000"/>
                </a:solidFill>
              </a:rPr>
              <a:t> 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exemplo mostra comandos para configurar um LLA na interface G0/0/0 em R1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5222D8-7C54-4682-A886-0C1FFB40F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00" y="2876365"/>
            <a:ext cx="4747759" cy="70788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 (config-if) 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endereço fe80:: 1:1 link-local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60E2F-2940-40F7-A61E-96AFF1D091E3}"/>
              </a:ext>
            </a:extLst>
          </p:cNvPr>
          <p:cNvSpPr txBox="1"/>
          <p:nvPr/>
        </p:nvSpPr>
        <p:spPr>
          <a:xfrm>
            <a:off x="794790" y="3838049"/>
            <a:ext cx="6755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b="true" lang="pt-BR">
                <a:solidFill>
                  <a:srgbClr val="000000"/>
                </a:solidFill>
              </a:rPr>
              <a:t>Observação</a:t>
            </a:r>
            <a:r>
              <a:rPr sz="1400" lang="pt-BR">
                <a:solidFill>
                  <a:srgbClr val="000000"/>
                </a:solidFill>
              </a:rPr>
              <a:t>: O mesmo LLA pode ser configurado em cada link, desde que seja exclusivo nesse link. A prática comum é criar um LLA diferente em cada interface do roteador para facilitar a identificação do roteador e da interface específica. </a:t>
            </a:r>
          </a:p>
        </p:txBody>
      </p:sp>
    </p:spTree>
    <p:extLst>
      <p:ext uri="{BB962C8B-B14F-4D97-AF65-F5344CB8AC3E}">
        <p14:creationId xmlns:p14="http://schemas.microsoft.com/office/powerpoint/2010/main" val="626028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12.5 Endereçamento dinâmico para GUAs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8077811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</a:t>
            </a:r>
            <a:r>
              <a:rPr sz="2400" lang="pt-BR"/>
              <a:t>mensagens IPv6 GUASRS e RA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731837"/>
            <a:ext cx="8135151" cy="3561030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Os dispositivos obtêm endereços GUA dinamicamente através de mensagens ICMPv6 (Internet Control Message Protocol versão 6).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As mensagens de solicitação de roteador (RS) são enviadas por dispositivos host para descobrir roteadores IPv6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As mensagens de anúncio de roteador (RA) são enviadas por roteadores para informar os hosts sobre como obter um GUA IPv6 e fornecer informações úteis de rede, como: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Prefixo de rede e comprimento do prefixo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Endereço de gateway padrão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Endereços DNS e nome de domínio</a:t>
            </a: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O RA pode fornecer três métodos para configurar um GUA IPv6: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SLAAC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SLAAC com servidor DHCPv6 stateless</a:t>
            </a: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sz="1600" lang="pt-BR">
                <a:solidFill>
                  <a:srgbClr val="000000"/>
                </a:solidFill>
              </a:rPr>
              <a:t>DHCPv6 stateful (sem SLAAC)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endParaRPr lang="en-US" dirty="0">
              <a:solidFill>
                <a:srgbClr val="000000"/>
              </a:solidFill>
            </a:endParaRP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770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GUAS IPv6</a:t>
            </a:r>
            <a:br>
              <a:rPr lang="en-US" dirty="0"/>
            </a:br>
            <a:r>
              <a:rPr sz="2400" lang="pt-BR"/>
              <a:t>Método 1: SLAAC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1"/>
            <a:ext cx="8135151" cy="1654884"/>
          </a:xfrm>
        </p:spPr>
        <p:txBody>
          <a:bodyPr/>
          <a:lstStyle/>
          <a:p>
            <a:pPr marL="169863" indent="-169863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SLAAC permite que um dispositivo configure um GUA sem os serviços do DHCPv6. </a:t>
            </a:r>
          </a:p>
          <a:p>
            <a:pPr marL="169863" indent="-169863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Os dispositivos obtêm as informações necessárias para configurar um GUA a partir das mensagens de RA ICMPv6 do roteador local.</a:t>
            </a:r>
          </a:p>
          <a:p>
            <a:pPr marL="169863" indent="-169863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prefixo é fornecido pelo RA e o dispositivo usa o EUI-64 ou método de geração aleatória para criar um ID de interface.</a:t>
            </a:r>
          </a:p>
          <a:p>
            <a:pPr marL="169863" indent="-169863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A69E3-A7F8-4358-A22F-56AA5CCA3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24" y="2849792"/>
            <a:ext cx="5061211" cy="1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88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IPv6 GUAs</a:t>
            </a:r>
            <a:br>
              <a:rPr lang="en-US" dirty="0"/>
            </a:br>
            <a:r>
              <a:rPr sz="2400" lang="pt-BR"/>
              <a:t>Método 2: SLAAC e DHCP sem estado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1"/>
            <a:ext cx="8135151" cy="2403472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Um RA pode instruir um dispositivo a usar o SLAAC e o DHCPv6 sem estado. 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A mensagem RA sugere que os dispositivos usam o seguinte: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SLAAC para criar seu próprio IPv6 GUA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LLA do roteador, que é o endereço IPv6 de origem RA, como o endereço de gateway padrão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servidor DHCPv6 stateless para obter outras informações como o endereço de um servidor DNS e um nome de domínio.</a:t>
            </a:r>
          </a:p>
          <a:p>
            <a:pPr marL="242948" lvl="1" indent="-169863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endParaRPr lang="en-US" sz="800" b="1" dirty="0">
              <a:solidFill>
                <a:srgbClr val="000000"/>
              </a:solidFill>
            </a:endParaRP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473035-7613-4908-A09B-92FC6C06B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068" y="3438523"/>
            <a:ext cx="3613209" cy="15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94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GUAs IPv6</a:t>
            </a:r>
            <a:br>
              <a:rPr lang="en-US" dirty="0"/>
            </a:br>
            <a:r>
              <a:rPr sz="2400" lang="pt-BR"/>
              <a:t>Método 3: DHCPv6 com estado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620784"/>
            <a:ext cx="8135151" cy="2630416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Um RA pode instruir um dispositivo a usar apenas DHCPv6 com estado.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O DHCPv6 stateful é semelhante ao DHCP para IPv4. Um dispositivo pode receber automaticamente um GUA, comprimento de prefixo e os endereços de servidores DNS de um servidor DHCPv6 com estado.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A mensagem RA sugere que os dispositivos usam o seguinte: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LLA do roteador, que é o endereço IPv6 de origem RA, como o endereço de gateway padrão</a:t>
            </a:r>
          </a:p>
          <a:p>
            <a:pPr marL="315973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servidor DHCPv6 stateful para obter o endereço unicast global, o endereço do servidor DNS, o nome do domínio e todas as demais informações.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30BE2A-E711-4139-BAE5-9E0C4198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135" y="3404657"/>
            <a:ext cx="3613209" cy="15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79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IPv6 GUAS</a:t>
            </a:r>
            <a:br>
              <a:rPr lang="en-US" dirty="0"/>
            </a:br>
            <a:r>
              <a:rPr sz="2400" lang="pt-BR"/>
              <a:t>EUI-64 processo vs. gerado aleatoriamente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3465497" cy="3332764"/>
          </a:xfrm>
        </p:spPr>
        <p:txBody>
          <a:bodyPr/>
          <a:lstStyle/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Quando a mensagem de RA é SLAAC ou SLAAC com DHCPv6 stateless, o cliente deve gerar sua própria ID da interface.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ID da interface pode ser criada por meio do processo EUI-64 ou de um número de 64 bits gerado aleatoriamente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493C9A-465A-442D-B022-1193868DE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383" y="950785"/>
            <a:ext cx="4429956" cy="34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81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IPv6 GUAS</a:t>
            </a:r>
            <a:br>
              <a:rPr lang="en-US" dirty="0"/>
            </a:br>
            <a:r>
              <a:rPr sz="2400" lang="pt-BR"/>
              <a:t>EUI-64 processo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2012950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O IEEE definiu o processo de identificador exclusivo estendido (EUI) ou EUI-64 modificado, que executa o seguinte: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valor de 16 bits de fffe (em hexadecimal) é inserido no meio do endereço MAC Ethernet de 48 bits do cliente.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7</a:t>
            </a:r>
            <a:r>
              <a:rPr sz="1600" baseline="30000" lang="pt-BR">
                <a:solidFill>
                  <a:srgbClr val="000000"/>
                </a:solidFill>
              </a:rPr>
              <a:t>º</a:t>
            </a:r>
            <a:r>
              <a:rPr sz="1600" lang="pt-BR">
                <a:solidFill>
                  <a:srgbClr val="000000"/>
                </a:solidFill>
              </a:rPr>
              <a:t> bit do endereço MAC do cliente é revertido do binário 0 para 1.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Exemplo: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AD66462-6C30-4680-B48A-2A6E24F71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6222963"/>
              </p:ext>
            </p:extLst>
          </p:nvPr>
        </p:nvGraphicFramePr>
        <p:xfrm>
          <a:off x="798511" y="3180385"/>
          <a:ext cx="3198941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083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1606858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sz="1100" b="false" lang="pt-BR">
                          <a:solidFill>
                            <a:srgbClr val="000000"/>
                          </a:solidFill>
                        </a:rPr>
                        <a:t>MAC de 48 bits</a:t>
                      </a:r>
                    </a:p>
                  </a:txBody>
                  <a:tcPr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sz="1100" b="false" lang="pt-BR">
                          <a:solidFill>
                            <a:srgbClr val="000000"/>
                          </a:solidFill>
                        </a:rPr>
                        <a:t>fc: 99:47:75:ce:e0</a:t>
                      </a:r>
                    </a:p>
                  </a:txBody>
                  <a:tcPr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ID da interface EUI-64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100" lang="pt-BR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: 99:47:</a:t>
                      </a:r>
                      <a:r>
                        <a:rPr sz="1100" lang="pt-BR">
                          <a:solidFill>
                            <a:srgbClr val="FF0000"/>
                          </a:solidFill>
                        </a:rPr>
                        <a:t>ff:fe:75:ce:e0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718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GUAs IPv6</a:t>
            </a:r>
            <a:r>
              <a:rPr sz="2400" lang="pt-BR"/>
              <a:t>geradosaleatoriamente IDs de interface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731837"/>
            <a:ext cx="7913688" cy="1141849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Dependendo do sistema operacional, um dispositivo pode usar uma ID da interface gerada de forma aleatória em vez de usar o endereço MAC e o processo EUI-64.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Por exemplo, do Windows Vista em diante, o Windows usa uma ID da interface gerada de forma aleatória em vez de uma criada com o EUI-64.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198DBB-B1C5-4711-B1B9-13D7E8D0E3A0}"/>
              </a:ext>
            </a:extLst>
          </p:cNvPr>
          <p:cNvSpPr txBox="1"/>
          <p:nvPr/>
        </p:nvSpPr>
        <p:spPr>
          <a:xfrm>
            <a:off x="1948293" y="5884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E99E91-0264-4741-9661-10088E9F0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0422" y="2086947"/>
            <a:ext cx="5724644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C:\&gt;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ipconfig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Connection-specific DNS Suffix .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Address. . . . . . . . . . . :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 1:50 um 5:8 a35:a5bb:66e1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Link-local IPv6 Address . . . . .: fe80: :50a 5:8 a35:a5bb:66e1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Gateway Padrão . . . . . . . . . : fe80::1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 &gt;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8CD9D-A7A3-4436-AF67-F3D2FAC9DD8C}"/>
              </a:ext>
            </a:extLst>
          </p:cNvPr>
          <p:cNvSpPr txBox="1"/>
          <p:nvPr/>
        </p:nvSpPr>
        <p:spPr>
          <a:xfrm>
            <a:off x="524934" y="3623647"/>
            <a:ext cx="7913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lang="pt-BR"/>
              <a:t>Observação: para garantir a exclusividade de qualquer endereço IPv6 unicast, o cliente pode usar um processo conhecido como detecção de endereço duplicado (DAD). Isso equivale a uma solicitação ARP para seu próprio endereço. Se não houver resposta, significa que o endereço é exclusivo.</a:t>
            </a:r>
          </a:p>
        </p:txBody>
      </p:sp>
    </p:spTree>
    <p:extLst>
      <p:ext uri="{BB962C8B-B14F-4D97-AF65-F5344CB8AC3E}">
        <p14:creationId xmlns:p14="http://schemas.microsoft.com/office/powerpoint/2010/main" val="3963689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12.6 Endereçamento dinâmico para LLAs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5935831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LLAs</a:t>
            </a:r>
            <a:br>
              <a:rPr lang="en-US" dirty="0"/>
            </a:br>
            <a:r>
              <a:rPr sz="2400" lang="pt-BR"/>
              <a:t>dinâmicos IPv6 LLAs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Todas as interfaces IPv6 devem ter um IPv6 LLA.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Como GUAs IPv6, os LLAs podem ser configurados dinamicamente.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Figura 1 mostra que o endereço de link local é criado dinamicamente com o prefixo FE80::/10 e que a ID da interface é criada por meio do processo EUI-64 ou por um número de 64 bits gerado aleatoriamente.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E663BE-9DCB-44E6-9EF5-385C2DF61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88" y="2451757"/>
            <a:ext cx="6212312" cy="177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2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LLAs</a:t>
            </a:r>
            <a:br>
              <a:rPr lang="en-US" dirty="0"/>
            </a:br>
            <a:r>
              <a:rPr sz="2400" lang="pt-BR"/>
              <a:t>dinâmicos IPv6 LLAs no Windows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854198"/>
            <a:ext cx="7913688" cy="570410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Sistemas operacionais, como o Windows, normalmente usarão o mesmo método para um GUA criado pelo SLAAC e um LLA atribuído dinamicamente.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198DBB-B1C5-4711-B1B9-13D7E8D0E3A0}"/>
              </a:ext>
            </a:extLst>
          </p:cNvPr>
          <p:cNvSpPr txBox="1"/>
          <p:nvPr/>
        </p:nvSpPr>
        <p:spPr>
          <a:xfrm>
            <a:off x="1948293" y="5884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4AD4F-4BAF-4EB5-8715-B490FBDACAF0}"/>
              </a:ext>
            </a:extLst>
          </p:cNvPr>
          <p:cNvSpPr txBox="1"/>
          <p:nvPr/>
        </p:nvSpPr>
        <p:spPr>
          <a:xfrm>
            <a:off x="709731" y="1424608"/>
            <a:ext cx="2396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200" b="true" lang="pt-BR">
                <a:solidFill>
                  <a:srgbClr val="000000"/>
                </a:solidFill>
              </a:rPr>
              <a:t>ID da interface gerada com EUI-64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C10CD7-64FE-452E-A9FF-E0D054AA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658" y="1714714"/>
            <a:ext cx="5878531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C:\&gt; ipconfig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Connection-specific DNS Suffix . :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Address. . . . . . . . . . . : 2001:db8:acad:1:</a:t>
            </a:r>
            <a:r>
              <a:rPr sz="1000" lang="pt-BR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99:47</a:t>
            </a:r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sz="1000" lang="pt-BR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75:cee0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Link-local IPv6 Address . . . . .: fe80::</a:t>
            </a:r>
            <a:r>
              <a:rPr sz="1000" lang="pt-BR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99:47</a:t>
            </a:r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sz="1000" lang="pt-BR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75:cee0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Padrão . . . . . . . . . : fe80::1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 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A36AD-E5C7-4064-B7CB-7A9689FEF970}"/>
              </a:ext>
            </a:extLst>
          </p:cNvPr>
          <p:cNvSpPr txBox="1"/>
          <p:nvPr/>
        </p:nvSpPr>
        <p:spPr>
          <a:xfrm>
            <a:off x="753473" y="3102431"/>
            <a:ext cx="29883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200" b="true" lang="pt-BR">
                <a:solidFill>
                  <a:srgbClr val="000000"/>
                </a:solidFill>
              </a:rPr>
              <a:t>ID da interface gerada aleatoriamente com 64 bits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1D3F26D-DE37-49E2-BA8B-7ACBF74D3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657" y="337943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C:\&gt; ipconfig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Connection-specific DNS Suffix . :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IPv6 Address. . . . . . . . . . . : 2001:db8:acad:1:</a:t>
            </a:r>
            <a:r>
              <a:rPr sz="1000" lang="pt-BR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50a 5:8 a35:a5bb:66e1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Link-local IPv6 Address . . . . .: fe80::</a:t>
            </a:r>
            <a:r>
              <a:rPr sz="1000" lang="pt-BR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50a 5:8 a35:a5bb:66e1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Gateway Padrão . . . . . . . . . : fe80::1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 &gt;</a:t>
            </a:r>
          </a:p>
        </p:txBody>
      </p:sp>
    </p:spTree>
    <p:extLst>
      <p:ext uri="{BB962C8B-B14F-4D97-AF65-F5344CB8AC3E}">
        <p14:creationId xmlns:p14="http://schemas.microsoft.com/office/powerpoint/2010/main" val="2443479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LLAs</a:t>
            </a:r>
            <a:br>
              <a:rPr lang="en-US" dirty="0"/>
            </a:br>
            <a:r>
              <a:rPr sz="2400" lang="pt-BR"/>
              <a:t>dinâmicos IPv6 LLAs em Cisco Routers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Os roteadores Cisco criam automaticamente um endereço IPv6 de link local sempre que um endereço unicast global é atribuído à interface. Por padrão, os roteadores Cisco IOS usam o EUI-64 para gerar a ID da interface de todos os endereços de link local em interfaces IPv6.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Aqui está um exemplo de um LLA configurado dinamicamente na interface G0/0/0 de R1: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C10CD7-64FE-452E-A9FF-E0D054AA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734" y="257175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interface gigabitEthernet 0/0/0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 hardware é ISR4221-2x1GE, o endereço é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7079.b392.3640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(bia 7079.b392.3640)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(Saída omitida)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FE80::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7279:B3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92:3640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2001:DB8:ACAD:1::1 </a:t>
            </a:r>
          </a:p>
        </p:txBody>
      </p:sp>
    </p:spTree>
    <p:extLst>
      <p:ext uri="{BB962C8B-B14F-4D97-AF65-F5344CB8AC3E}">
        <p14:creationId xmlns:p14="http://schemas.microsoft.com/office/powerpoint/2010/main" val="2686635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Endereçamento dinâmico para IPv6 LLAs</a:t>
            </a:r>
            <a:br>
              <a:rPr lang="en-US" dirty="0"/>
            </a:br>
            <a:r>
              <a:rPr sz="2400" lang="pt-BR"/>
              <a:t>Verificar a configuração do endereço 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866138"/>
            <a:ext cx="7913688" cy="1536700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Os roteadores Cisco criam automaticamente um endereço IPv6 de link local sempre que um endereço unicast global é atribuído à interface. Por padrão, os roteadores Cisco IOS usam o EUI-64 para gerar a ID da interface de todos os endereços de link local em interfaces IPv6.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Aqui está um exemplo de um LLA configurado dinamicamente na interface G0/0/0 de R1:</a:t>
            </a: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C10CD7-64FE-452E-A9FF-E0D054AA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78" y="257175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interface gigabitEthernet 0/0/0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 hardware é ISR4221-2x1GE, o endereço é 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7079.b392.3640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(bia 7079.b392.3640)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(Saída omitida)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FE80::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7279:B3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kumimoji="false" sz="1000" b="true" i="false" u="none" strike="noStrike" cap="none" normalizeH="false" baseline="0" lang="pt-BR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92:3640</a:t>
            </a: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0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2001:DB8:ACAD:1::1 </a:t>
            </a:r>
          </a:p>
        </p:txBody>
      </p:sp>
    </p:spTree>
    <p:extLst>
      <p:ext uri="{BB962C8B-B14F-4D97-AF65-F5344CB8AC3E}">
        <p14:creationId xmlns:p14="http://schemas.microsoft.com/office/powerpoint/2010/main" val="73415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86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Módulo Prática e Quiz</a:t>
            </a:r>
            <a:br>
              <a:rPr lang="en-US" altLang="en-US" sz="1600" dirty="0"/>
            </a:br>
            <a:r>
              <a:rPr lang="pt-BR"/>
              <a:t>Packet Tracer - Configurações Endereçamento IPv6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sz="1800" lang="pt-BR"/>
              <a:t>Neste Packet Tracer, você fará o seguinte:</a:t>
            </a:r>
          </a:p>
          <a:p>
            <a:pPr rtl="0"/>
            <a:r>
              <a:rPr sz="1800" lang="pt-BR"/>
              <a:t>Configurar o Endereçamento IPv6 no Roteador</a:t>
            </a:r>
          </a:p>
          <a:p>
            <a:pPr rtl="0"/>
            <a:r>
              <a:rPr sz="1800" lang="pt-BR"/>
              <a:t>Configurar o Endereçamento IPv6 em Servidores</a:t>
            </a:r>
          </a:p>
          <a:p>
            <a:pPr rtl="0"/>
            <a:r>
              <a:rPr sz="1800" lang="pt-BR"/>
              <a:t>Configurar o Endereçamento IPv6 em Clientes</a:t>
            </a:r>
          </a:p>
          <a:p>
            <a:pPr rtl="0"/>
            <a:r>
              <a:rPr sz="1800" lang="pt-BR"/>
              <a:t>Testar e Verificar a Conectividade da Rede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1760496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12.7 Endereços de multicast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3848410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Endereços IPv6 multicast </a:t>
            </a:r>
            <a:br>
              <a:rPr lang="en-US" dirty="0"/>
            </a:br>
            <a:r>
              <a:rPr sz="2400" lang="pt-BR"/>
              <a:t>Endereços IPv6 multicast atribuídos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Os endereços multicast IPv6 têm o prefixo ff00::/8. Há dois tipos de endereços IPv6 multicast:</a:t>
            </a:r>
          </a:p>
          <a:p>
            <a:pPr marL="35883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Endereços multicast bem conhecidos.</a:t>
            </a:r>
          </a:p>
          <a:p>
            <a:pPr marL="35883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Endereços de difusão seletiva solicitados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89D51-B9C4-47DE-895E-0D438682D1AC}"/>
              </a:ext>
            </a:extLst>
          </p:cNvPr>
          <p:cNvSpPr txBox="1"/>
          <p:nvPr/>
        </p:nvSpPr>
        <p:spPr>
          <a:xfrm>
            <a:off x="347473" y="2874963"/>
            <a:ext cx="83454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b="true" lang="pt-BR">
                <a:solidFill>
                  <a:srgbClr val="000000"/>
                </a:solidFill>
              </a:rPr>
              <a:t>Observação</a:t>
            </a:r>
            <a:r>
              <a:rPr sz="1600" lang="pt-BR">
                <a:solidFill>
                  <a:srgbClr val="000000"/>
                </a:solidFill>
              </a:rPr>
              <a:t>: os endereços multicast só podem ser endereços destino, e não endereços origem</a:t>
            </a:r>
            <a:r>
              <a:rPr sz="1400" lang="pt-BR">
                <a:solidFill>
                  <a:srgbClr val="000000"/>
                </a:solidFill>
              </a:rPr>
              <a:t>.</a:t>
            </a: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223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Endereços multicast IPv6 Endereços de</a:t>
            </a:r>
            <a:r>
              <a:rPr sz="2400" lang="pt-BR"/>
              <a:t>multicast IPv6bem conhecidos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49"/>
            <a:ext cx="7913688" cy="2329587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Endereços multicast IPv6 conhecidos são atribuídos e reservados para grupos de dispositivos predefinidos.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Estes são dois grupos multicast atribuídos ao IPv6 comuns:</a:t>
            </a:r>
          </a:p>
          <a:p>
            <a:pPr marL="35883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b="true" lang="pt-BR">
                <a:solidFill>
                  <a:srgbClr val="000000"/>
                </a:solidFill>
              </a:rPr>
              <a:t>ff02 :: 1 Grupo</a:t>
            </a:r>
            <a:r>
              <a:rPr lang="pt-BR">
                <a:solidFill>
                  <a:srgbClr val="000000"/>
                </a:solidFill>
              </a:rPr>
              <a:t> multicast de todos os nós - este é um grupo multicast ao qual todos os dispositivos habilitados para IPv6 se juntam. Um pacote enviado para esse grupo é recebido e processado por todas as interfaces IPv6 no link ou rede.</a:t>
            </a:r>
            <a:r>
              <a:rPr b="true" lang="pt-BR">
                <a:solidFill>
                  <a:srgbClr val="000000"/>
                </a:solidFill>
              </a:rPr>
              <a:t> </a:t>
            </a:r>
          </a:p>
          <a:p>
            <a:pPr marL="35883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b="true" lang="pt-BR">
                <a:solidFill>
                  <a:srgbClr val="000000"/>
                </a:solidFill>
              </a:rPr>
              <a:t>ff02 :: 1 Grupo</a:t>
            </a:r>
            <a:r>
              <a:rPr lang="pt-BR">
                <a:solidFill>
                  <a:srgbClr val="000000"/>
                </a:solidFill>
              </a:rPr>
              <a:t> multicast de todos os nós - este é um grupo multicast ao qual todos os dispositivos habilitados para IPv6 se juntam. Um roteador se torna membro desse grupo quando é ativado como roteador IPv6 com o comando de configuração </a:t>
            </a:r>
            <a:r>
              <a:rPr b="true" lang="pt-BR">
                <a:solidFill>
                  <a:srgbClr val="000000"/>
                </a:solidFill>
              </a:rPr>
              <a:t>global </a:t>
            </a:r>
            <a:r>
              <a:rPr lang="pt-BR">
                <a:solidFill>
                  <a:srgbClr val="000000"/>
                </a:solidFill>
              </a:rPr>
              <a:t>ipv6 unicast-routing</a:t>
            </a:r>
            <a:r>
              <a:rPr b="true" lang="pt-BR">
                <a:solidFill>
                  <a:srgbClr val="000000"/>
                </a:solidFill>
              </a:rPr>
              <a:t>. </a:t>
            </a:r>
          </a:p>
          <a:p>
            <a:pPr marL="358835" lvl="1" indent="-28575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55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Endereços IPv6 multicast </a:t>
            </a:r>
            <a:br>
              <a:rPr lang="en-US" dirty="0"/>
            </a:br>
            <a:r>
              <a:rPr sz="2400" lang="pt-BR"/>
              <a:t>Endereços IPv6 multicast do nó solicitado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49"/>
            <a:ext cx="3651927" cy="3350520"/>
          </a:xfrm>
        </p:spPr>
        <p:txBody>
          <a:bodyPr/>
          <a:lstStyle/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endereço multicast solicited-node é semelhante ao endereço multicast all-nodes.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endereço multicast de nó solicitado é mapeado para um endereço multicast Ethernet especial.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NIC Ethernet pode filtrar o quadro examinando o endereço MAC de destino sem enviá-lo ao processo IPv6 para verificar se o dispositivo é o destino pretendido do pacote IPv6.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A181D-36C7-4DAF-9B3B-E20C6358C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32" y="967665"/>
            <a:ext cx="4301867" cy="308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69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519"/>
          </a:xfrm>
        </p:spPr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Laboratório de Prática de Módulos e Questionários — Identificar Endereços IPv6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sz="1800" lang="pt-BR"/>
              <a:t>Neste laboratório, você completa os seguintes objetivos: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Identificar os Diferentes Tipos de Endereços IPv6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Examinar o Endereço e a Interface de Rede de um Host IPv6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Praticar a Abreviação de Endereços IPv6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66857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12.8 Sub-rede uma rede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2704818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Divisão de uma rede IPv6 em sub-redes </a:t>
            </a:r>
            <a:r>
              <a:rPr sz="1600" lang="pt-BR"/>
              <a:t>Divisão em sub-redes usando a ID da sub-rede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49"/>
            <a:ext cx="7984230" cy="1598084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800" lang="pt-BR">
                <a:solidFill>
                  <a:srgbClr val="000000"/>
                </a:solidFill>
              </a:rPr>
              <a:t>O IPv6 foi projetado com a sub-rede em mente. 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campo de ID de sub-rede separado no GUA IPv6 é usado para criar sub-redes. 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campo ID da sub-rede é a área entre o Prefixo de Roteamento Global e o ID da interface.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8DB5A-76F0-4B47-AE58-0F512B58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25" y="2571750"/>
            <a:ext cx="6805582" cy="150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72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2400" lang="pt-BR"/>
              <a:t>Exemplo de sub-redeIPv6 de rede</a:t>
            </a:r>
            <a:r>
              <a:rPr sz="1600" lang="pt-BR"/>
              <a:t>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035049"/>
            <a:ext cx="3731826" cy="2863358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Dado o prefixo de roteamento global 2001:db8:acad: :/48 com um ID de sub-rede de 16 bits.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Permite 65.536/64 sub-redes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prefixo de roteamento global é o mesmo para todas as sub-redes.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Somente</a:t>
            </a:r>
            <a:r>
              <a:rPr sz="1400" lang="pt-BR">
                <a:solidFill>
                  <a:srgbClr val="000000"/>
                </a:solidFill>
              </a:rPr>
              <a:t> o hexteto da ID da sub-rede é incrementado em hexadecimal para cada sub-rede.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8BF49-5FD4-4309-80FA-F52A67C7D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263" y="1035049"/>
            <a:ext cx="4446225" cy="307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81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Divisão de uma rede IPv6 em sub-redes </a:t>
            </a:r>
            <a:r>
              <a:rPr sz="1600" lang="pt-BR"/>
              <a:t>Alocação de sub-rede 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86659"/>
            <a:ext cx="7380549" cy="1392523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400" lang="pt-BR">
                <a:solidFill>
                  <a:srgbClr val="000000"/>
                </a:solidFill>
              </a:rPr>
              <a:t>A topologia de exemplo requer cinco sub-redes, uma para cada LAN e também para o link serial entre R1 e R2.</a:t>
            </a:r>
          </a:p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400" lang="pt-BR">
                <a:solidFill>
                  <a:srgbClr val="000000"/>
                </a:solidFill>
              </a:rPr>
              <a:t>As cinco sub-redes IPv6 foram alocadas, com o campo ID de sub-rede 0001 a 0005. Cada sub-rede /64 fornecerá mais endereços que o necessário.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4560F-645D-4891-932C-5DFEA2110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98" y="2295062"/>
            <a:ext cx="3127775" cy="2099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A817A-D8FB-45B9-BB3D-6E5C7DC6B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07" y="2427572"/>
            <a:ext cx="3392842" cy="196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73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um</a:t>
            </a:r>
            <a:br>
              <a:rPr lang="en-US" dirty="0"/>
            </a:br>
            <a:r>
              <a:rPr sz="2400" lang="pt-BR"/>
              <a:t>roteador de rede IPv6 configurado com sub-redes</a:t>
            </a:r>
            <a:r>
              <a:rPr sz="1600" lang="pt-BR"/>
              <a:t>IPv6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86660"/>
            <a:ext cx="7380549" cy="731838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600" lang="pt-BR">
                <a:solidFill>
                  <a:srgbClr val="000000"/>
                </a:solidFill>
              </a:rPr>
              <a:t>O exemplo mostra que cada uma das interfaces do roteador no R1 foi configurada para estar em uma sub-rede IPv6 diferente.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34DE4A8-80F8-41EF-8BA3-2E8FBDCC8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65" y="1871767"/>
            <a:ext cx="5398141" cy="17851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gigabitEthernet 0/0/0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ipv6 address 2001:db8:acad:1::1/64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exit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gigabitEthernet 0/0/1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(config-if) # ipv6 endereço 2001:db8:acad:2: :1/64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exit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serial0/1/0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(config-if) # ipv6 address 2001:db8:acad:3::1/64</a:t>
            </a:r>
          </a:p>
          <a:p>
            <a:pPr lvl="0" defTabSz="914400" eaLnBrk="0" hangingPunct="0"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</a:p>
        </p:txBody>
      </p:sp>
    </p:spTree>
    <p:extLst>
      <p:ext uri="{BB962C8B-B14F-4D97-AF65-F5344CB8AC3E}">
        <p14:creationId xmlns:p14="http://schemas.microsoft.com/office/powerpoint/2010/main" val="2881749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2.9 -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5672151"/>
      </p:ext>
    </p:extLst>
  </p:cSld>
  <p:clrMapOvr>
    <a:masterClrMapping/>
  </p:clrMapOvr>
  <p:transition spd="slow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86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Prática do módulo e rastreador do QuizPacket - </a:t>
            </a:r>
            <a:br>
              <a:rPr lang="en-US" altLang="en-US" sz="1600" dirty="0"/>
            </a:br>
            <a:r>
              <a:rPr lang="pt-BR"/>
              <a:t>implemente um esquema de endereçamento de sub-rede IPv6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sz="1800" lang="pt-BR"/>
              <a:t>Neste Packet Tracer, você fará o seguinte:</a:t>
            </a:r>
          </a:p>
          <a:p>
            <a:pPr rtl="0"/>
            <a:r>
              <a:rPr sz="1800" lang="pt-BR"/>
              <a:t>Determinar sub-redes IPv6 e esquema de endereçamento</a:t>
            </a:r>
          </a:p>
          <a:p>
            <a:pPr rtl="0"/>
            <a:r>
              <a:rPr sz="1800" lang="pt-BR"/>
              <a:t>Configurar o endereçamento IPv6 em roteadores e PCs.</a:t>
            </a:r>
          </a:p>
          <a:p>
            <a:pPr rtl="0"/>
            <a:r>
              <a:rPr sz="1800" lang="pt-BR"/>
              <a:t>Verificar a conectividade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7446697"/>
      </p:ext>
    </p:extLst>
  </p:cSld>
  <p:clrMapOvr>
    <a:masterClrMapping/>
  </p:clrMapOvr>
  <p:transition spd="slow">
    <p:wip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519"/>
          </a:xfrm>
        </p:spPr>
        <p:txBody>
          <a:bodyPr/>
          <a:lstStyle/>
          <a:p>
            <a:pPr rtl="0"/>
            <a:r>
              <a:rPr sz="1600" lang="pt-BR"/>
              <a:t>Módulo Prático e Quiz</a:t>
            </a:r>
            <a:br>
              <a:rPr lang="en-US" altLang="en-US" dirty="0"/>
            </a:br>
            <a:r>
              <a:rPr lang="pt-BR"/>
              <a:t>Packet Tracer - Configurar Endereços IPv6 em Dispositivos de Rede - Modo Físico</a:t>
            </a:r>
            <a:br>
              <a:rPr lang="en-US" altLang="en-US" dirty="0"/>
            </a:br>
            <a:r>
              <a:rPr lang="pt-BR"/>
              <a:t>Laboratório – Configurar Enderços IPv6 em Dispositivos de Rede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9942" y="1292740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sz="1800" lang="pt-BR"/>
              <a:t>Nesta atividade do Packet Tracer, você atingirá os seguintes objetivos: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Configurar a topologia de rede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Configurar os hosts PC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Configurar e verificar configurações básicas do switch</a:t>
            </a:r>
          </a:p>
          <a:p>
            <a:pPr marL="0" indent="0" rtl="0">
              <a:buNone/>
            </a:pPr>
            <a:r>
              <a:rPr sz="1800" lang="pt-BR"/>
              <a:t>Neste laboratório, você completa os seguintes objetivos: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Configure a topologia e defina as configurações básicas do roteador e do switch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Configurar endereços IPv6 manualmente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Verificar a conectividade fim-a-fim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6380527"/>
      </p:ext>
    </p:extLst>
  </p:cSld>
  <p:clrMapOvr>
    <a:masterClrMapping/>
  </p:clrMapOvr>
  <p:transition spd="slow">
    <p:wip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57" y="739677"/>
            <a:ext cx="8853286" cy="4155319"/>
          </a:xfrm>
        </p:spPr>
        <p:txBody>
          <a:bodyPr/>
          <a:lstStyle/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O IPv4 tem um máximo teórico de 4,3 bilhões de endereços.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A IETF criou vários protocolos e ferramentas para ajudar os administradores de rede a migrarem as redes para IPv6. As técnicas de migração podem ser divididas em três categorias: pilha dupla, encapsulamento e tradução.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Os endereços IPv6 têm 128 bits e são escritos como uma sequência de valores hexadecimais.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Como mostrado na Figura 1, o formato preferencial para escrever um endereço IPv6 é x: x: x: x: x: x: x: x, com cada “x” consistindo de quatro valores hexadecimais.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Há três tipos de endereços IPv6: unicast, multicast e anycast.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Um endereço IPv6 unicast identifica exclusivamente uma interface em um dispositivo habilitado para IPv6.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O endereço IPv6 unicast global (GUA) é globalmente exclusivo e roteável na Internet IPv6.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Um endereço IPv6 de link-local permite que um dispositivo se comunique com outros dispositivos habilitados para IPv6 no mesmo link e somente nesse link (sub-rede).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O comando para configurar um GUA IPv6 em uma interface é </a:t>
            </a:r>
            <a:r>
              <a:rPr sz="1550" b="true" lang="pt-BR"/>
              <a:t>ipv6 address</a:t>
            </a:r>
            <a:r>
              <a:rPr sz="1550" lang="pt-BR"/>
              <a:t> </a:t>
            </a:r>
            <a:r>
              <a:rPr sz="1550" i="true" lang="pt-BR"/>
              <a:t>ipv6-address/prefix-length</a:t>
            </a:r>
            <a:r>
              <a:rPr sz="1550" lang="pt-BR"/>
              <a:t> 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50" lang="pt-BR"/>
              <a:t>Um dispositivo obtém um GUA dinamicamente através de mensagens ICMPv6. Os roteadores IPv6 enviam mensagens ICMPv6 de RA a cada 200 segundos para todos os dispositivos habilitados para IPv6 na rede.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57" y="722744"/>
            <a:ext cx="8853286" cy="4155319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As mensagens de RA têm três métodos: SLAAC, SLAAC com um servidor DHCPv6 sem estado e DHCPv6 com estado (sem SLAAC).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A ID da interface pode ser criada por meio do processo EUI-64 ou de um número de 64 bits gerado aleatoriamente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Esse processo usa o endereço MAC Ethernet de 48 bits de um cliente e insere outros 16 bits no meio do endereço MAC de 48 bits para criar uma ID da interface de 64 bits.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Depending upon the operating system, a device may use a randomly generated interface ID.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Todos os dispositivos IPv6 devem ter um IPv6 LLA. Um LLA pode ser configurado manualmente ou criado dinamicamente.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Os roteadores Cisco criam automaticamente um endereço IPv6 de link local sempre que um endereço unicast global é atribuído à interface.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Existem dois tipos de endereços multicast IPv6: endereços multicast conhecidos e endereços multicast de nós solicitados. 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Dois grupos de multicast atribuídos ao CommonIPv6 são: ff02: :1 Grupo de multicast de todos os nós e ff02: :2 Grupo de multicast de todos os roteadores.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Um endereço multicast solicited-node é semelhante ao endereço multicast all-nodes. A vantagem do endereço multicast solicited-node é que ele é mapeado para um endereço multicast Ethernet especial.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 IPv6 foi projetado com a sub-rede em mente. Um campo de ID de sub-rede separado no GUA IPv6 é usado para criar sub-redes.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0074777"/>
      </p:ext>
    </p:extLst>
  </p:cSld>
  <p:clrMapOvr>
    <a:masterClrMapping/>
  </p:clrMapOvr>
  <p:transition spd="slow">
    <p:wip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 rtl="0"/>
            <a:r>
              <a:rPr sz="1400" lang="pt-BR">
                <a:latin typeface="Arial" charset="0"/>
              </a:rPr>
              <a:t>Módulo 12: Conceitos de WLAN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762915"/>
              </p:ext>
            </p:extLst>
          </p:nvPr>
        </p:nvGraphicFramePr>
        <p:xfrm>
          <a:off x="99152" y="798513"/>
          <a:ext cx="3425283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2528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Hextet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Link-local address (LLA)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ipv6 address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SLAAC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Router advertisement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Router solicitation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EUI-64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sz="1600" b="false" lang="pt-BR">
                          <a:solidFill>
                            <a:srgbClr val="000000"/>
                          </a:solidFill>
                        </a:rPr>
                        <a:t>Multicast solicited-node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12244</TotalTime>
  <Words>6001</Words>
  <Application>Microsoft Office PowerPoint</Application>
  <PresentationFormat>On-screen Show (16:9)</PresentationFormat>
  <Paragraphs>747</Paragraphs>
  <Slides>65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CiscoSans ExtraLight</vt:lpstr>
      <vt:lpstr>Arial</vt:lpstr>
      <vt:lpstr>Calibri</vt:lpstr>
      <vt:lpstr>Courier New</vt:lpstr>
      <vt:lpstr>Wingdings</vt:lpstr>
      <vt:lpstr>Default Theme</vt:lpstr>
      <vt:lpstr>Module 12: IPv6 Addressing</vt:lpstr>
      <vt:lpstr>Instructor Materials – Module 12 Planning Guide</vt:lpstr>
      <vt:lpstr>What to Expect in this Module</vt:lpstr>
      <vt:lpstr>What to Expect in this Module (Cont.)</vt:lpstr>
      <vt:lpstr>Check Your Understanding</vt:lpstr>
      <vt:lpstr>Packet Tracer Physical Mode Activities</vt:lpstr>
      <vt:lpstr>Module 12: Activities</vt:lpstr>
      <vt:lpstr>Module 12: Activities (Cont.)</vt:lpstr>
      <vt:lpstr>Module 12: Best Practices</vt:lpstr>
      <vt:lpstr>Module 12: Best Practices (Cont.)</vt:lpstr>
      <vt:lpstr>Module 12: Best Practices (Cont.)</vt:lpstr>
      <vt:lpstr>Module 12: Best Practices (Cont.)</vt:lpstr>
      <vt:lpstr>Module 12: IPv6 Addressing</vt:lpstr>
      <vt:lpstr>Module Objectives</vt:lpstr>
      <vt:lpstr>Module Objectives (Cont.)</vt:lpstr>
      <vt:lpstr>12.1 IPv4 Issues</vt:lpstr>
      <vt:lpstr>IPv4 Issues Need for IPv6</vt:lpstr>
      <vt:lpstr>IPv4 Issues IPv4 and IPv6 Coexistence</vt:lpstr>
      <vt:lpstr>12.2 IPv6 Address Representation</vt:lpstr>
      <vt:lpstr>IPv6 Address Representation IPv6 Addressing Formats</vt:lpstr>
      <vt:lpstr>IPv6 Address Representation Rule 1 – Omit Leading Zero</vt:lpstr>
      <vt:lpstr>IPv6 Address Representation Rule 2 – Double Colon</vt:lpstr>
      <vt:lpstr>12.3 IPv6 Address Types</vt:lpstr>
      <vt:lpstr>IPv6 Address Types Unicast, Multicast, Anycast</vt:lpstr>
      <vt:lpstr>IPv6 Address Types IPv6 Prefix Length</vt:lpstr>
      <vt:lpstr>IPv6 Address Types Types of IPv6 Unicast Addresses</vt:lpstr>
      <vt:lpstr>IPv6 Address Types A Note About the Unique Local Address</vt:lpstr>
      <vt:lpstr>IPv6 Address Types IPv6 GUA</vt:lpstr>
      <vt:lpstr>IPv6 Address Types IPv6 GUA Structure</vt:lpstr>
      <vt:lpstr>IPv6 Address Types IPv6 LLA</vt:lpstr>
      <vt:lpstr>12.4 GUA and LLA Static Configuration</vt:lpstr>
      <vt:lpstr>GUA and LLA Static Configuration Static GUA Configuration on a Router</vt:lpstr>
      <vt:lpstr>GUA and LLA Static Configuration Static GUA Configuration on a Windows Host</vt:lpstr>
      <vt:lpstr>GUA and LLA Static Configuration Static GUA Configuration of a Link-Local Unicast Address</vt:lpstr>
      <vt:lpstr>12.5 Dynamic Addressing for IPv6 GUAs</vt:lpstr>
      <vt:lpstr>Dynamic Addressing for IPv6 GUAs RS and RA Messages</vt:lpstr>
      <vt:lpstr>Dynamic Addressing for IPv6 GUAs Method 1: SLAAC</vt:lpstr>
      <vt:lpstr>Dynamic Addressing for IPv6 GUAs Method 2: SLAAC and Stateless DHCP</vt:lpstr>
      <vt:lpstr>Dynamic Addressing for IPv6 GUAs Method 3: Stateful DHCPv6</vt:lpstr>
      <vt:lpstr>Dynamic Addressing for IPv6 GUAs EUI-64 Process vs. Randomly Generated</vt:lpstr>
      <vt:lpstr>Dynamic Addressing for IPv6 GUAs EUI-64 Process</vt:lpstr>
      <vt:lpstr>Dynamic Addressing for IPv6 GUAs Randomly Generated Interface IDs</vt:lpstr>
      <vt:lpstr>12.6 Dynamic Addressing for IPv6 LLAs</vt:lpstr>
      <vt:lpstr>Dynamic Addressing for IPv6 LLAs Dynamic LLAs</vt:lpstr>
      <vt:lpstr>Dynamic Addressing for IPv6 LLAs Dynamic LLAs on Windows</vt:lpstr>
      <vt:lpstr>Dynamic Addressing for IPv6 LLAs Dynamic LLAs on Cisco Routers</vt:lpstr>
      <vt:lpstr>Dynamic Addressing for IPv6 LLAs Verify IPv6 Address Configuration</vt:lpstr>
      <vt:lpstr>Module Practice and Quiz Packet Tracer – Configure IPv6 Addressing</vt:lpstr>
      <vt:lpstr>12.7 IPv6 Multicast Addresses</vt:lpstr>
      <vt:lpstr>IPv6 Multicast Addresses Assigned IPv6 Multicast Addresses</vt:lpstr>
      <vt:lpstr>IPv6 Multicast Addresses Well-Known IPv6 Multicast Addresses</vt:lpstr>
      <vt:lpstr>IPv6 Multicast Addresses Solicited-Node IPv6 Multicast</vt:lpstr>
      <vt:lpstr>Module Practice and Quiz Lab – Identify IPv6 Addresses</vt:lpstr>
      <vt:lpstr>12.8 Subnet an IPv6 Network</vt:lpstr>
      <vt:lpstr>Subnet an IPv6 Network Subnet Using the Subnet ID</vt:lpstr>
      <vt:lpstr>Subnet an IPv6 Network IPv6 Subnetting Example</vt:lpstr>
      <vt:lpstr>Subnet an IPv6 Network IPv6 Subnet Allocation</vt:lpstr>
      <vt:lpstr>Subnet an IPv6 Network Router Configured with IPv6 Subnets</vt:lpstr>
      <vt:lpstr>2.9 Module Practice and Quiz</vt:lpstr>
      <vt:lpstr>Module Practice and Quiz Packet Tracer – Implement a Subnetted IPv6 Addressing Scheme</vt:lpstr>
      <vt:lpstr>Module Practice and Quiz Packet Tracer - Configure IPv6 Addresses on Network Devices - Physical Mode Lab – Configure IPv6 Addresses on Network Devices</vt:lpstr>
      <vt:lpstr>Module Practice and Quiz What did I learn in this module?</vt:lpstr>
      <vt:lpstr>Module Practice and Quiz What did I learn in this module? (Cont.)</vt:lpstr>
      <vt:lpstr>Module 12: WLAN Concepts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Jeff Luman -X (jluman - UNICON INC at Cisco)</cp:lastModifiedBy>
  <cp:revision>396</cp:revision>
  <dcterms:created xsi:type="dcterms:W3CDTF">2019-10-18T06:21:22Z</dcterms:created>
  <dcterms:modified xsi:type="dcterms:W3CDTF">2021-02-03T18:28:44Z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