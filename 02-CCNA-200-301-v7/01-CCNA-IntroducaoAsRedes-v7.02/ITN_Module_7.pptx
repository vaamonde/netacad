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ppt/tags/tag17.xml" ContentType="application/vnd.openxmlformats-officedocument.presentationml.tags+xml"/>
  <Override PartName="/ppt/notesSlides/notesSlide40.xml" ContentType="application/vnd.openxmlformats-officedocument.presentationml.notesSlide+xml"/>
  <Override PartName="/ppt/tags/tag18.xml" ContentType="application/vnd.openxmlformats-officedocument.presentationml.tags+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tags/tag20.xml" ContentType="application/vnd.openxmlformats-officedocument.presentationml.tags+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7"/>
  </p:notesMasterIdLst>
  <p:sldIdLst>
    <p:sldId id="513" r:id="rId2"/>
    <p:sldId id="730" r:id="rId3"/>
    <p:sldId id="1070" r:id="rId4"/>
    <p:sldId id="1071" r:id="rId5"/>
    <p:sldId id="1053" r:id="rId6"/>
    <p:sldId id="763" r:id="rId7"/>
    <p:sldId id="1052" r:id="rId8"/>
    <p:sldId id="1069" r:id="rId9"/>
    <p:sldId id="876" r:id="rId10"/>
    <p:sldId id="860" r:id="rId11"/>
    <p:sldId id="759" r:id="rId12"/>
    <p:sldId id="1054" r:id="rId13"/>
    <p:sldId id="1107" r:id="rId14"/>
    <p:sldId id="1108" r:id="rId15"/>
    <p:sldId id="1128" r:id="rId16"/>
    <p:sldId id="1109" r:id="rId17"/>
    <p:sldId id="1123" r:id="rId18"/>
    <p:sldId id="1056" r:id="rId19"/>
    <p:sldId id="1097" r:id="rId20"/>
    <p:sldId id="1110" r:id="rId21"/>
    <p:sldId id="1111" r:id="rId22"/>
    <p:sldId id="1112" r:id="rId23"/>
    <p:sldId id="1113" r:id="rId24"/>
    <p:sldId id="1114" r:id="rId25"/>
    <p:sldId id="1124" r:id="rId26"/>
    <p:sldId id="1103" r:id="rId27"/>
    <p:sldId id="1115" r:id="rId28"/>
    <p:sldId id="1116" r:id="rId29"/>
    <p:sldId id="1130" r:id="rId30"/>
    <p:sldId id="1117" r:id="rId31"/>
    <p:sldId id="1126" r:id="rId32"/>
    <p:sldId id="1127" r:id="rId33"/>
    <p:sldId id="1125" r:id="rId34"/>
    <p:sldId id="1104" r:id="rId35"/>
    <p:sldId id="1118" r:id="rId36"/>
    <p:sldId id="1119" r:id="rId37"/>
    <p:sldId id="1120" r:id="rId38"/>
    <p:sldId id="1121" r:id="rId39"/>
    <p:sldId id="1129" r:id="rId40"/>
    <p:sldId id="1122" r:id="rId41"/>
    <p:sldId id="957" r:id="rId42"/>
    <p:sldId id="958" r:id="rId43"/>
    <p:sldId id="1131" r:id="rId44"/>
    <p:sldId id="874" r:id="rId45"/>
    <p:sldId id="291" r:id="rId46"/>
  </p:sldIdLst>
  <p:sldSz cx="9144000" cy="5143500" type="screen16x9"/>
  <p:notesSz cx="6858000" cy="9144000"/>
  <p:custDataLst>
    <p:tags r:id="rId4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AB8AA-0ED9-3869-BE5E-94286732D1D9}" v="15" dt="2020-06-28T23:39:56.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81" autoAdjust="0"/>
    <p:restoredTop sz="75109" autoAdjust="0"/>
  </p:normalViewPr>
  <p:slideViewPr>
    <p:cSldViewPr snapToGrid="0" showGuides="1">
      <p:cViewPr varScale="1">
        <p:scale>
          <a:sx n="67" d="100"/>
          <a:sy n="67" d="100"/>
        </p:scale>
        <p:origin x="556"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880AB8AA-0ED9-3869-BE5E-94286732D1D9}"/>
    <pc:docChg chg="modSld">
      <pc:chgData name="Gilberto Neves Sudre Filho" userId="S::gilberto.neves@faesa.br::d3375f58-c24b-48d7-baef-871d87266953" providerId="AD" clId="Web-{880AB8AA-0ED9-3869-BE5E-94286732D1D9}" dt="2020-06-28T23:39:56.632" v="14" actId="1076"/>
      <pc:docMkLst>
        <pc:docMk/>
      </pc:docMkLst>
      <pc:sldChg chg="modSp">
        <pc:chgData name="Gilberto Neves Sudre Filho" userId="S::gilberto.neves@faesa.br::d3375f58-c24b-48d7-baef-871d87266953" providerId="AD" clId="Web-{880AB8AA-0ED9-3869-BE5E-94286732D1D9}" dt="2020-06-28T23:38:32.081" v="1" actId="1076"/>
        <pc:sldMkLst>
          <pc:docMk/>
          <pc:sldMk cId="3113925212" sldId="1109"/>
        </pc:sldMkLst>
        <pc:picChg chg="mod">
          <ac:chgData name="Gilberto Neves Sudre Filho" userId="S::gilberto.neves@faesa.br::d3375f58-c24b-48d7-baef-871d87266953" providerId="AD" clId="Web-{880AB8AA-0ED9-3869-BE5E-94286732D1D9}" dt="2020-06-28T23:38:32.081" v="1" actId="1076"/>
          <ac:picMkLst>
            <pc:docMk/>
            <pc:sldMk cId="3113925212" sldId="1109"/>
            <ac:picMk id="4" creationId="{48E17D93-6D91-9A41-B7B0-366DE18C84BA}"/>
          </ac:picMkLst>
        </pc:picChg>
      </pc:sldChg>
      <pc:sldChg chg="modSp">
        <pc:chgData name="Gilberto Neves Sudre Filho" userId="S::gilberto.neves@faesa.br::d3375f58-c24b-48d7-baef-871d87266953" providerId="AD" clId="Web-{880AB8AA-0ED9-3869-BE5E-94286732D1D9}" dt="2020-06-28T23:38:40.097" v="2" actId="1076"/>
        <pc:sldMkLst>
          <pc:docMk/>
          <pc:sldMk cId="2307608851" sldId="1110"/>
        </pc:sldMkLst>
        <pc:picChg chg="mod">
          <ac:chgData name="Gilberto Neves Sudre Filho" userId="S::gilberto.neves@faesa.br::d3375f58-c24b-48d7-baef-871d87266953" providerId="AD" clId="Web-{880AB8AA-0ED9-3869-BE5E-94286732D1D9}" dt="2020-06-28T23:38:40.097" v="2" actId="1076"/>
          <ac:picMkLst>
            <pc:docMk/>
            <pc:sldMk cId="2307608851" sldId="1110"/>
            <ac:picMk id="5" creationId="{E3B936E3-E1CB-5C42-9445-442FA726A951}"/>
          </ac:picMkLst>
        </pc:picChg>
      </pc:sldChg>
      <pc:sldChg chg="modSp">
        <pc:chgData name="Gilberto Neves Sudre Filho" userId="S::gilberto.neves@faesa.br::d3375f58-c24b-48d7-baef-871d87266953" providerId="AD" clId="Web-{880AB8AA-0ED9-3869-BE5E-94286732D1D9}" dt="2020-06-28T23:38:57.473" v="3" actId="20577"/>
        <pc:sldMkLst>
          <pc:docMk/>
          <pc:sldMk cId="3931059535" sldId="1112"/>
        </pc:sldMkLst>
        <pc:spChg chg="mod">
          <ac:chgData name="Gilberto Neves Sudre Filho" userId="S::gilberto.neves@faesa.br::d3375f58-c24b-48d7-baef-871d87266953" providerId="AD" clId="Web-{880AB8AA-0ED9-3869-BE5E-94286732D1D9}" dt="2020-06-28T23:38:57.473" v="3" actId="20577"/>
          <ac:spMkLst>
            <pc:docMk/>
            <pc:sldMk cId="3931059535" sldId="1112"/>
            <ac:spMk id="4" creationId="{1F3CA7BB-7E7C-7149-9859-4AA0DDEC8CC4}"/>
          </ac:spMkLst>
        </pc:spChg>
      </pc:sldChg>
      <pc:sldChg chg="modSp">
        <pc:chgData name="Gilberto Neves Sudre Filho" userId="S::gilberto.neves@faesa.br::d3375f58-c24b-48d7-baef-871d87266953" providerId="AD" clId="Web-{880AB8AA-0ED9-3869-BE5E-94286732D1D9}" dt="2020-06-28T23:39:48.538" v="13"/>
        <pc:sldMkLst>
          <pc:docMk/>
          <pc:sldMk cId="2988965420" sldId="1120"/>
        </pc:sldMkLst>
        <pc:graphicFrameChg chg="mod modGraphic">
          <ac:chgData name="Gilberto Neves Sudre Filho" userId="S::gilberto.neves@faesa.br::d3375f58-c24b-48d7-baef-871d87266953" providerId="AD" clId="Web-{880AB8AA-0ED9-3869-BE5E-94286732D1D9}" dt="2020-06-28T23:39:48.538" v="13"/>
          <ac:graphicFrameMkLst>
            <pc:docMk/>
            <pc:sldMk cId="2988965420" sldId="1120"/>
            <ac:graphicFrameMk id="2" creationId="{0138F2A8-C500-184D-877E-6BADCD4F07C5}"/>
          </ac:graphicFrameMkLst>
        </pc:graphicFrameChg>
      </pc:sldChg>
      <pc:sldChg chg="modSp">
        <pc:chgData name="Gilberto Neves Sudre Filho" userId="S::gilberto.neves@faesa.br::d3375f58-c24b-48d7-baef-871d87266953" providerId="AD" clId="Web-{880AB8AA-0ED9-3869-BE5E-94286732D1D9}" dt="2020-06-28T23:39:08.396" v="4" actId="1076"/>
        <pc:sldMkLst>
          <pc:docMk/>
          <pc:sldMk cId="3858872646" sldId="1124"/>
        </pc:sldMkLst>
        <pc:spChg chg="mod">
          <ac:chgData name="Gilberto Neves Sudre Filho" userId="S::gilberto.neves@faesa.br::d3375f58-c24b-48d7-baef-871d87266953" providerId="AD" clId="Web-{880AB8AA-0ED9-3869-BE5E-94286732D1D9}" dt="2020-06-28T23:39:08.396" v="4" actId="1076"/>
          <ac:spMkLst>
            <pc:docMk/>
            <pc:sldMk cId="3858872646" sldId="1124"/>
            <ac:spMk id="3" creationId="{C02AA8F8-1E43-384B-8982-C0BB94049B5C}"/>
          </ac:spMkLst>
        </pc:spChg>
      </pc:sldChg>
      <pc:sldChg chg="modSp">
        <pc:chgData name="Gilberto Neves Sudre Filho" userId="S::gilberto.neves@faesa.br::d3375f58-c24b-48d7-baef-871d87266953" providerId="AD" clId="Web-{880AB8AA-0ED9-3869-BE5E-94286732D1D9}" dt="2020-06-28T23:39:17.833" v="5" actId="1076"/>
        <pc:sldMkLst>
          <pc:docMk/>
          <pc:sldMk cId="1047099895" sldId="1126"/>
        </pc:sldMkLst>
        <pc:spChg chg="mod">
          <ac:chgData name="Gilberto Neves Sudre Filho" userId="S::gilberto.neves@faesa.br::d3375f58-c24b-48d7-baef-871d87266953" providerId="AD" clId="Web-{880AB8AA-0ED9-3869-BE5E-94286732D1D9}" dt="2020-06-28T23:39:17.833" v="5" actId="1076"/>
          <ac:spMkLst>
            <pc:docMk/>
            <pc:sldMk cId="1047099895" sldId="1126"/>
            <ac:spMk id="3" creationId="{C02AA8F8-1E43-384B-8982-C0BB94049B5C}"/>
          </ac:spMkLst>
        </pc:spChg>
      </pc:sldChg>
      <pc:sldChg chg="modSp">
        <pc:chgData name="Gilberto Neves Sudre Filho" userId="S::gilberto.neves@faesa.br::d3375f58-c24b-48d7-baef-871d87266953" providerId="AD" clId="Web-{880AB8AA-0ED9-3869-BE5E-94286732D1D9}" dt="2020-06-28T23:39:56.632" v="14" actId="1076"/>
        <pc:sldMkLst>
          <pc:docMk/>
          <pc:sldMk cId="3833202971" sldId="1129"/>
        </pc:sldMkLst>
        <pc:picChg chg="mod">
          <ac:chgData name="Gilberto Neves Sudre Filho" userId="S::gilberto.neves@faesa.br::d3375f58-c24b-48d7-baef-871d87266953" providerId="AD" clId="Web-{880AB8AA-0ED9-3869-BE5E-94286732D1D9}" dt="2020-06-28T23:39:56.632" v="14" actId="1076"/>
          <ac:picMkLst>
            <pc:docMk/>
            <pc:sldMk cId="3833202971" sldId="1129"/>
            <ac:picMk id="7" creationId="{E391F5F5-84B2-074A-ADD6-27895E0506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2: Configuração Básica do Switch e do Dispositivo Final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7: Comutação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7- Comutação Ethernet</a:t>
            </a:r>
          </a:p>
          <a:p>
            <a:pPr rtl="0">
              <a:buFontTx/>
              <a:buNone/>
            </a:pPr>
            <a:r>
              <a:rPr lang="pt-BR"/>
              <a:t>7.0.2 - O que aprenderei a fazer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7.1 quadros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7.1.1 – Encapsulamento Ethernet</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7.1.2 - Subcamadas de link de dados</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712768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7.1.3 - Subcamada MAC</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7.1.3 - Subcamada MAC</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369957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7.1.4 – Campos do quadro Ethernet</a:t>
            </a:r>
          </a:p>
          <a:p>
            <a:pPr rtl="0"/>
            <a:r>
              <a:rPr lang="pt-BR"/>
              <a:t>7.1.5 — Verifique o seu entendimento — Comutação Ethernet</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244073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7.1.6 - Laboratório - Use o Wireshark para examinar os quadros Ethernet</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106080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7.2 - Endereço MAC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7.2.1 - Endereço MAC e hexadecimal</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7.2.2 - Endereço MAC Ethernet</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409915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7.2.3 – Processamento de quadros</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2117020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7.2.4 – Endereço MAC unicast</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527404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7.2.5 - Endereço MAC de broadcast</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577119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7.2.6 - Endereço MAC Multicast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9141865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7.2.7 - Laboratório - Exibir endereços MAC do dispositivo de rede</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178587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7.3 - A tabela de endereços MAC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7.3.1 - Fundamentos da chave</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4225716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7.3.2 - Aprendizagem e Encaminhamento de Mudança</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583934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7.3.2 - Aprendizagem e Encaminhamento de Mudança</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00580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7.3.3 - Molduras de filtragem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605110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7.3.4 - Vídeo - tabelas de endereços MAC em switches conectados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3070880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7.3.5 - Vídeo - Enviando o quadro para o gateway padrão</a:t>
            </a:r>
          </a:p>
          <a:p>
            <a:pPr rtl="0"/>
            <a:r>
              <a:rPr lang="pt-BR"/>
              <a:t>7.3.6 - Atividade - Troque!</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667847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7.3.7 - Laboratório - Exibir a tabela de endereços MAC do switch</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450690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7.4 - Velocidades de comutação e métodos de encaminhamento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7.4.1 Métodos de encaminhamento de quadros nos switches da Cisco</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21015713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7.4.2 – Switching Cut-Through</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1301104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7.4.3 – Buffers de memória nos switches</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3119728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7.4.4 - Configurações de velocidade e duplex</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13043286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7.4.4 – Configurações de velocidade e duplex</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1952612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7.4.5 — MDIX automático</a:t>
            </a:r>
          </a:p>
          <a:p>
            <a:pPr rtl="0"/>
            <a:r>
              <a:rPr lang="pt-BR"/>
              <a:t>7.4.6 — Verifique seu entendimento — Velocidades de comutação e métodos de encaminhamento</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32687462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7.5 -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p>
          <a:p>
            <a:pPr rtl="0"/>
            <a:r>
              <a:rPr lang="pt-BR" sz="1200"/>
              <a:t>7.5 - Módulo Prática e Quiz</a:t>
            </a:r>
          </a:p>
          <a:p>
            <a:pPr rtl="0"/>
            <a:r>
              <a:rPr lang="pt-BR" sz="1200"/>
              <a:t>7.5.1 - O que aprendi neste módulo?</a:t>
            </a:r>
          </a:p>
          <a:p>
            <a:pPr rtl="0"/>
            <a:r>
              <a:rPr lang="pt-BR" sz="1200"/>
              <a:t>7.5.2 — Teste de Módulo — Switchig Ethernet</a:t>
            </a:r>
          </a:p>
        </p:txBody>
      </p:sp>
    </p:spTree>
    <p:extLst>
      <p:ext uri="{BB962C8B-B14F-4D97-AF65-F5344CB8AC3E}">
        <p14:creationId xmlns:p14="http://schemas.microsoft.com/office/powerpoint/2010/main" val="1476824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p>
          <a:p>
            <a:pPr rtl="0"/>
            <a:r>
              <a:rPr lang="pt-BR" sz="1200"/>
              <a:t>7.5 - Módulo Prática e Quiz</a:t>
            </a:r>
          </a:p>
          <a:p>
            <a:pPr rtl="0"/>
            <a:r>
              <a:rPr lang="pt-BR" sz="1200"/>
              <a:t>7.5.1 - O que aprendi neste módulo?</a:t>
            </a:r>
          </a:p>
          <a:p>
            <a:pPr rtl="0"/>
            <a:r>
              <a:rPr lang="pt-BR" sz="1200"/>
              <a:t>7.5.2 — Teste de Módulo — Comutação Ethernet</a:t>
            </a:r>
          </a:p>
        </p:txBody>
      </p:sp>
    </p:spTree>
    <p:extLst>
      <p:ext uri="{BB962C8B-B14F-4D97-AF65-F5344CB8AC3E}">
        <p14:creationId xmlns:p14="http://schemas.microsoft.com/office/powerpoint/2010/main" val="32582575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44</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pt-BR">
                <a:solidFill>
                  <a:schemeClr val="accent5">
                    <a:lumMod val="40000"/>
                    <a:lumOff val="60000"/>
                  </a:schemeClr>
                </a:solidFill>
              </a:rPr>
              <a:t>Módulo 7: Comutação Ethernet</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104"/>
            <a:ext cx="9144000" cy="757551"/>
          </a:xfrm>
        </p:spPr>
        <p:txBody>
          <a:bodyPr/>
          <a:lstStyle/>
          <a:p>
            <a:pPr rtl="0"/>
            <a:r>
              <a:rPr lang="pt-BR"/>
              <a:t>Instructor Materials – Module 7 Planning Guide</a:t>
            </a:r>
          </a:p>
        </p:txBody>
      </p:sp>
      <p:sp>
        <p:nvSpPr>
          <p:cNvPr id="6" name="Rectangle 34">
            <a:extLst>
              <a:ext uri="{FF2B5EF4-FFF2-40B4-BE49-F238E27FC236}">
                <a16:creationId xmlns:a16="http://schemas.microsoft.com/office/drawing/2014/main" id="{ED01EBD2-7B35-475F-8F1C-CCFCB8302F93}"/>
              </a:ext>
            </a:extLst>
          </p:cNvPr>
          <p:cNvSpPr>
            <a:spLocks noGrp="1" noChangeArrowheads="1"/>
          </p:cNvSpPr>
          <p:nvPr>
            <p:ph idx="1"/>
          </p:nvPr>
        </p:nvSpPr>
        <p:spPr>
          <a:xfrm>
            <a:off x="145357" y="808180"/>
            <a:ext cx="8433035" cy="3885006"/>
          </a:xfrm>
        </p:spPr>
        <p:txBody>
          <a:bodyPr/>
          <a:lstStyle/>
          <a:p>
            <a:pPr marL="0" indent="0" rtl="0">
              <a:buNone/>
            </a:pPr>
            <a:r>
              <a:rPr lang="pt-BR" sz="1600"/>
              <a:t>This PowerPoint deck is divided in two parts:</a:t>
            </a:r>
          </a:p>
          <a:p>
            <a:pPr rtl="0">
              <a:buFont typeface="Arial" panose="020B0604020202020204" pitchFamily="34" charset="0"/>
              <a:buChar char="•"/>
            </a:pPr>
            <a:r>
              <a:rPr lang="pt-BR" sz="1600"/>
              <a:t>Instructor Planning Guide</a:t>
            </a:r>
          </a:p>
          <a:p>
            <a:pPr lvl="1" rtl="0">
              <a:buFont typeface="Arial" panose="020B0604020202020204" pitchFamily="34" charset="0"/>
              <a:buChar char="•"/>
            </a:pPr>
            <a:r>
              <a:rPr lang="pt-BR" sz="1600"/>
              <a:t>Information to help you become familiar with the module</a:t>
            </a:r>
          </a:p>
          <a:p>
            <a:pPr lvl="1" rtl="0">
              <a:buFont typeface="Arial" panose="020B0604020202020204" pitchFamily="34" charset="0"/>
              <a:buChar char="•"/>
            </a:pPr>
            <a:r>
              <a:rPr lang="pt-BR" sz="1600"/>
              <a:t>Teaching aids</a:t>
            </a:r>
          </a:p>
          <a:p>
            <a:pPr rtl="0">
              <a:buFont typeface="Arial" panose="020B0604020202020204" pitchFamily="34" charset="0"/>
              <a:buChar char="•"/>
            </a:pPr>
            <a:r>
              <a:rPr lang="pt-BR" sz="1600"/>
              <a:t>Instructor Class Presentation</a:t>
            </a:r>
          </a:p>
          <a:p>
            <a:pPr lvl="1" rtl="0">
              <a:buFont typeface="Arial" panose="020B0604020202020204" pitchFamily="34" charset="0"/>
              <a:buChar char="•"/>
            </a:pPr>
            <a:r>
              <a:rPr lang="pt-BR" sz="1600"/>
              <a:t>Optional slides that you can use in the classroom</a:t>
            </a:r>
          </a:p>
          <a:p>
            <a:pPr lvl="1" rtl="0">
              <a:buFont typeface="Arial" panose="020B0604020202020204" pitchFamily="34" charset="0"/>
              <a:buChar char="•"/>
            </a:pPr>
            <a:r>
              <a:rPr lang="pt-BR" sz="1600"/>
              <a:t>Begins on slide # 9</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Para facilitar o aprendizado, os seguintes recursos da GUI podem ser incluídos neste módulo:</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O que esperar neste módulo</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Recurso</a:t>
                      </a:r>
                    </a:p>
                  </a:txBody>
                  <a:tcPr/>
                </a:tc>
                <a:tc>
                  <a:txBody>
                    <a:bodyPr/>
                    <a:lstStyle/>
                    <a:p>
                      <a:pPr rtl="0"/>
                      <a:r>
                        <a:rPr lang="pt-BR"/>
                        <a:t>Descrição</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Animações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Vídeos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Exponha os alunos a novas habilidades e conceitos.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Verifique sua compreensão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Questionário on-line por tópico para ajudar os alunos a avaliar a compreensão do conteúdo.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Interativas</a:t>
                      </a:r>
                    </a:p>
                  </a:txBody>
                  <a:tcPr marL="9525" marR="9525" marT="9525" marB="0" anchor="b"/>
                </a:tc>
                <a:tc>
                  <a:txBody>
                    <a:bodyPr/>
                    <a:lstStyle/>
                    <a:p>
                      <a:pPr rtl="0"/>
                      <a:r>
                        <a:rPr lang="pt-BR"/>
                        <a:t>Uma variedade de formatos para ajudar os alunos a avaliar a compreensão do conteúdo.</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Verificador de sintaxe</a:t>
                      </a:r>
                    </a:p>
                  </a:txBody>
                  <a:tcPr marL="9525" marR="9525" marT="9525" marB="0" anchor="b"/>
                </a:tc>
                <a:tc>
                  <a:txBody>
                    <a:bodyPr/>
                    <a:lstStyle/>
                    <a:p>
                      <a:pPr rtl="0"/>
                      <a:r>
                        <a:rPr lang="pt-BR"/>
                        <a:t>Pequenas simulações que expõem os alunos à linha de comando da Cisco para praticar habilidades de configuração.</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Atividade do PT</a:t>
                      </a:r>
                    </a:p>
                  </a:txBody>
                  <a:tcPr marL="9525" marR="9525" marT="9525" marB="0" anchor="b"/>
                </a:tc>
                <a:tc>
                  <a:txBody>
                    <a:bodyPr/>
                    <a:lstStyle/>
                    <a:p>
                      <a:pPr rtl="0"/>
                      <a:r>
                        <a:rPr lang="pt-BR"/>
                        <a:t>Atividades de simulação e modelagem projetadas para explorar, adquirir, reforçar e expandir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Recurso</a:t>
                      </a:r>
                    </a:p>
                  </a:txBody>
                  <a:tcPr marL="9525" marR="9525" marT="9525" marB="0" anchor="b"/>
                </a:tc>
                <a:tc>
                  <a:txBody>
                    <a:bodyPr/>
                    <a:lstStyle/>
                    <a:p>
                      <a:pPr rtl="0"/>
                      <a:r>
                        <a:rPr lang="pt-BR"/>
                        <a:t>Descrição</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Laboratórios práticos</a:t>
                      </a:r>
                    </a:p>
                  </a:txBody>
                  <a:tcPr marL="9525" marR="9525" marT="9525" marB="0" anchor="b"/>
                </a:tc>
                <a:tc>
                  <a:txBody>
                    <a:bodyPr/>
                    <a:lstStyle/>
                    <a:p>
                      <a:pPr rtl="0"/>
                      <a:r>
                        <a:rPr lang="pt-BR"/>
                        <a:t>Laboratórios projetados para trabalhar com equipamentos físicos.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Atividades em sala de aula</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Estes são encontrados na página Recursos do instrutor. As atividades em classe são projetadas para facilitar o aprendizado, a discussão em classe e a colaboração.</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Testes de módulo</a:t>
                      </a:r>
                    </a:p>
                  </a:txBody>
                  <a:tcPr marL="9525" marR="9525" marT="9525" marB="0" anchor="b"/>
                </a:tc>
                <a:tc>
                  <a:txBody>
                    <a:bodyPr/>
                    <a:lstStyle/>
                    <a:p>
                      <a:pPr rtl="0"/>
                      <a:r>
                        <a:rPr lang="pt-BR"/>
                        <a:t>Autoavaliações que integram conceitos e habilidades aprendidas ao longo da série de tópicos apresentados no módulo.</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Resumo do módulo</a:t>
                      </a:r>
                    </a:p>
                  </a:txBody>
                  <a:tcPr marL="9525" marR="9525" marT="9525" marB="0" anchor="b"/>
                </a:tc>
                <a:tc>
                  <a:txBody>
                    <a:bodyPr/>
                    <a:lstStyle/>
                    <a:p>
                      <a:pPr rtl="0"/>
                      <a:r>
                        <a:rPr lang="pt-BR"/>
                        <a:t>Recapitule brevemente o conteúdo do módulo.</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O que esperar deste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Para facilitar o aprendizado, os seguintes recursos podem ser incluídos neste módulo:</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sz="1600"/>
              <a:t>Check Your Understanding activities </a:t>
            </a:r>
            <a:r>
              <a:rPr lang="pt-BR" sz="1600" b="1" i="1"/>
              <a:t>do not </a:t>
            </a:r>
            <a:r>
              <a:rPr lang="pt-BR" sz="1600"/>
              <a:t>affect student grades.</a:t>
            </a:r>
          </a:p>
          <a:p>
            <a:pPr rtl="0">
              <a:spcBef>
                <a:spcPct val="30000"/>
              </a:spcBef>
              <a:buFont typeface="Arial" panose="020B0604020202020204" pitchFamily="34" charset="0"/>
              <a:buChar char="•"/>
            </a:pPr>
            <a:r>
              <a:rPr lang="pt-BR"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pt-BR"/>
              <a:t>Module 7: Activities</a:t>
            </a:r>
          </a:p>
        </p:txBody>
      </p:sp>
      <p:sp>
        <p:nvSpPr>
          <p:cNvPr id="6147" name="Rectangle 34"/>
          <p:cNvSpPr>
            <a:spLocks noGrp="1" noChangeArrowheads="1"/>
          </p:cNvSpPr>
          <p:nvPr>
            <p:ph idx="1"/>
          </p:nvPr>
        </p:nvSpPr>
        <p:spPr>
          <a:xfrm>
            <a:off x="144065" y="733629"/>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824183368"/>
              </p:ext>
            </p:extLst>
          </p:nvPr>
        </p:nvGraphicFramePr>
        <p:xfrm>
          <a:off x="455999" y="1082042"/>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pt-BR" sz="1100">
                          <a:solidFill>
                            <a:srgbClr val="000000"/>
                          </a:solidFill>
                        </a:rPr>
                        <a:t>7.1.5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rtl="0"/>
                      <a:r>
                        <a:rPr lang="pt-BR" sz="1100">
                          <a:solidFill>
                            <a:srgbClr val="000000"/>
                          </a:solidFill>
                        </a:rPr>
                        <a:t>Ethernet Switching</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pt-BR" sz="1100">
                          <a:solidFill>
                            <a:srgbClr val="000000"/>
                          </a:solidFill>
                        </a:rPr>
                        <a:t>7.1.6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rtl="0"/>
                      <a:r>
                        <a:rPr lang="pt-BR" sz="1100">
                          <a:solidFill>
                            <a:srgbClr val="000000"/>
                          </a:solidFill>
                        </a:rPr>
                        <a:t>Use Wireshark to Examine Ethernet Frames</a:t>
                      </a:r>
                    </a:p>
                  </a:txBody>
                  <a:tcPr marL="68580" marR="68580" marT="34290" marB="34290" anchor="ctr"/>
                </a:tc>
                <a:tc>
                  <a:txBody>
                    <a:bodyPr/>
                    <a:lstStyle/>
                    <a:p>
                      <a:pPr rtl="0"/>
                      <a:r>
                        <a:rPr lang="pt-BR"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pt-BR" sz="1100">
                          <a:solidFill>
                            <a:srgbClr val="000000"/>
                          </a:solidFill>
                        </a:rPr>
                        <a:t>7.2.7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View Network Device MAC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pt-BR" sz="1100">
                          <a:solidFill>
                            <a:srgbClr val="000000"/>
                          </a:solidFill>
                        </a:rPr>
                        <a:t>7.3.4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MAC Address Tables on Connected Switches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pt-BR" sz="1100">
                          <a:solidFill>
                            <a:srgbClr val="000000"/>
                          </a:solidFill>
                        </a:rPr>
                        <a:t>7.3.5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Sending the Frame to the Default Gateway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pt-BR" sz="1100">
                          <a:solidFill>
                            <a:srgbClr val="000000"/>
                          </a:solidFill>
                        </a:rPr>
                        <a:t>7.3.6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Switch It!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pt-BR" sz="1100">
                          <a:solidFill>
                            <a:srgbClr val="000000"/>
                          </a:solidFill>
                        </a:rPr>
                        <a:t>7.3.7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View the Switch MAC Address Table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pt-BR" sz="1100">
                          <a:solidFill>
                            <a:srgbClr val="000000"/>
                          </a:solidFill>
                        </a:rPr>
                        <a:t>7.4.6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solidFill>
                            <a:srgbClr val="000000"/>
                          </a:solidFill>
                        </a:rPr>
                        <a:t>Switch Speeds and Forwarding Methods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7: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pt-BR" sz="1600"/>
              <a:t>Prior to teaching Module 7, the instructor should:</a:t>
            </a:r>
          </a:p>
          <a:p>
            <a:pPr rtl="0">
              <a:lnSpc>
                <a:spcPct val="85000"/>
              </a:lnSpc>
              <a:spcBef>
                <a:spcPct val="30000"/>
              </a:spcBef>
              <a:buFont typeface="Arial" panose="020B0604020202020204" pitchFamily="34" charset="0"/>
              <a:buChar char="•"/>
            </a:pPr>
            <a:r>
              <a:rPr lang="pt-BR" sz="1600"/>
              <a:t>Review the activities and assessments for this module.</a:t>
            </a:r>
          </a:p>
          <a:p>
            <a:pPr rtl="0">
              <a:lnSpc>
                <a:spcPct val="85000"/>
              </a:lnSpc>
              <a:spcBef>
                <a:spcPct val="30000"/>
              </a:spcBef>
              <a:buFont typeface="Arial" panose="020B0604020202020204" pitchFamily="34" charset="0"/>
              <a:buChar char="•"/>
            </a:pPr>
            <a:r>
              <a:rPr lang="pt-BR" sz="1600"/>
              <a:t>Try to include as many questions as possible to keep students engaged during classroom presentation.</a:t>
            </a:r>
          </a:p>
          <a:p>
            <a:pPr rtl="0">
              <a:lnSpc>
                <a:spcPct val="85000"/>
              </a:lnSpc>
              <a:spcBef>
                <a:spcPct val="30000"/>
              </a:spcBef>
              <a:buFont typeface="Arial" panose="020B0604020202020204" pitchFamily="34" charset="0"/>
              <a:buChar char="•"/>
            </a:pPr>
            <a:r>
              <a:rPr lang="pt-BR" sz="1600"/>
              <a:t>After this Module, the Ethernet Concepts Exam is available, covering Modules 4-7.</a:t>
            </a:r>
          </a:p>
          <a:p>
            <a:pPr marL="0" indent="0" rtl="0">
              <a:lnSpc>
                <a:spcPct val="85000"/>
              </a:lnSpc>
              <a:spcBef>
                <a:spcPct val="30000"/>
              </a:spcBef>
              <a:buNone/>
            </a:pPr>
            <a:r>
              <a:rPr lang="pt-BR" sz="1600"/>
              <a:t>Topic 7.1</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do you think the effect would be if Ethernet did not use framing?</a:t>
            </a:r>
          </a:p>
          <a:p>
            <a:pPr marL="0" indent="0" rtl="0">
              <a:lnSpc>
                <a:spcPct val="85000"/>
              </a:lnSpc>
              <a:spcBef>
                <a:spcPct val="30000"/>
              </a:spcBef>
              <a:buNone/>
            </a:pPr>
            <a:r>
              <a:rPr lang="pt-BR" sz="1600"/>
              <a:t>Topic 7.2</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How do layer 2 communications modes emulate human communication in groups?</a:t>
            </a:r>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7: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pt-BR" sz="1600"/>
              <a:t>Topic 7.1</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What do you think the effect would be if Ethernet did not use framing?</a:t>
            </a:r>
          </a:p>
          <a:p>
            <a:pPr marL="0" indent="0" rtl="0">
              <a:lnSpc>
                <a:spcPct val="85000"/>
              </a:lnSpc>
              <a:spcBef>
                <a:spcPct val="30000"/>
              </a:spcBef>
              <a:buNone/>
            </a:pPr>
            <a:r>
              <a:rPr lang="pt-BR" sz="1600"/>
              <a:t>Topic 7.2</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How do layer 2 communications modes emulate human communication in groups?</a:t>
            </a:r>
          </a:p>
          <a:p>
            <a:pPr marL="0" indent="0" rtl="0">
              <a:lnSpc>
                <a:spcPct val="85000"/>
              </a:lnSpc>
              <a:spcBef>
                <a:spcPct val="30000"/>
              </a:spcBef>
              <a:buNone/>
            </a:pPr>
            <a:r>
              <a:rPr lang="pt-BR" sz="1600"/>
              <a:t>Topic 7.3</a:t>
            </a:r>
          </a:p>
          <a:p>
            <a:pPr lvl="1" rtl="0">
              <a:lnSpc>
                <a:spcPct val="85000"/>
              </a:lnSpc>
              <a:spcBef>
                <a:spcPct val="30000"/>
              </a:spcBef>
            </a:pPr>
            <a:r>
              <a:rPr lang="pt-BR" sz="1600"/>
              <a:t>Ask the students or have a class discussion</a:t>
            </a:r>
          </a:p>
          <a:p>
            <a:pPr lvl="2" rtl="0">
              <a:lnSpc>
                <a:spcPct val="85000"/>
              </a:lnSpc>
              <a:spcBef>
                <a:spcPct val="30000"/>
              </a:spcBef>
            </a:pPr>
            <a:r>
              <a:rPr lang="pt-BR" sz="1600"/>
              <a:t>Why do switches flood frames addressed to unknown destinations?</a:t>
            </a:r>
          </a:p>
          <a:p>
            <a:pPr marL="0" indent="0" rtl="0">
              <a:lnSpc>
                <a:spcPct val="85000"/>
              </a:lnSpc>
              <a:spcBef>
                <a:spcPct val="30000"/>
              </a:spcBef>
              <a:buNone/>
            </a:pPr>
            <a:r>
              <a:rPr lang="pt-BR" sz="1600"/>
              <a:t>Topic 7.4</a:t>
            </a:r>
          </a:p>
          <a:p>
            <a:pPr lvl="1" rtl="0">
              <a:lnSpc>
                <a:spcPct val="85000"/>
              </a:lnSpc>
              <a:spcBef>
                <a:spcPct val="30000"/>
              </a:spcBef>
            </a:pPr>
            <a:r>
              <a:rPr lang="pt-BR" sz="1600"/>
              <a:t>Ask the students or have a class discussion</a:t>
            </a:r>
          </a:p>
          <a:p>
            <a:pPr lvl="1" rtl="0">
              <a:lnSpc>
                <a:spcPct val="85000"/>
              </a:lnSpc>
              <a:spcBef>
                <a:spcPct val="30000"/>
              </a:spcBef>
            </a:pPr>
            <a:r>
              <a:rPr lang="pt-BR" sz="1600"/>
              <a:t>What kind of indication do you get that points to a duplex-mismatch on a circuit?</a:t>
            </a:r>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7: Comutação Ethernet</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pt-BR" sz="1600" b="1">
                <a:solidFill>
                  <a:schemeClr val="tx1"/>
                </a:solidFill>
                <a:ea typeface="Calibri" panose="020F0502020204030204" pitchFamily="34" charset="0"/>
                <a:cs typeface="Calibri" panose="020F0502020204030204" pitchFamily="34" charset="0"/>
              </a:rPr>
              <a:t>Título do módulo: </a:t>
            </a:r>
            <a:r>
              <a:rPr lang="pt-BR" sz="1600">
                <a:solidFill>
                  <a:schemeClr val="tx1"/>
                </a:solidFill>
                <a:ea typeface="Calibri" panose="020F0502020204030204" pitchFamily="34" charset="0"/>
                <a:cs typeface="Calibri" panose="020F0502020204030204" pitchFamily="34" charset="0"/>
              </a:rPr>
              <a:t>comutação Ethernet</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rtl="0" eaLnBrk="0" hangingPunct="0">
              <a:spcBef>
                <a:spcPct val="0"/>
              </a:spcBef>
              <a:spcAft>
                <a:spcPct val="0"/>
              </a:spcAft>
              <a:buClrTx/>
              <a:buSzTx/>
              <a:buNone/>
            </a:pPr>
            <a:r>
              <a:rPr lang="pt-BR" sz="1600" b="1">
                <a:solidFill>
                  <a:schemeClr val="tx1"/>
                </a:solidFill>
                <a:ea typeface="Calibri" panose="020F0502020204030204" pitchFamily="34" charset="0"/>
                <a:cs typeface="Calibri" panose="020F0502020204030204" pitchFamily="34" charset="0"/>
              </a:rPr>
              <a:t>Objetivo do módulo</a:t>
            </a:r>
            <a:r>
              <a:rPr lang="pt-BR" sz="1600">
                <a:solidFill>
                  <a:schemeClr val="tx1"/>
                </a:solidFill>
                <a:ea typeface="Calibri" panose="020F0502020204030204" pitchFamily="34" charset="0"/>
                <a:cs typeface="Calibri" panose="020F0502020204030204" pitchFamily="34" charset="0"/>
              </a:rPr>
              <a:t>: Explique como a Ethernet funciona em uma rede comutada</a:t>
            </a:r>
            <a:r>
              <a:rPr lang="pt-BR" sz="1600">
                <a:solidFill>
                  <a:schemeClr val="tx1"/>
                </a:solidFill>
                <a:latin typeface="Calibri" panose="020F0502020204030204" pitchFamily="34" charset="0"/>
                <a:ea typeface="Calibri" panose="020F0502020204030204" pitchFamily="34" charset="0"/>
                <a:cs typeface="Calibri" panose="020F0502020204030204" pitchFamily="34" charset="0"/>
              </a:rPr>
              <a:t>. </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676814"/>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val="2579019526"/>
                    </a:ext>
                  </a:extLst>
                </a:gridCol>
                <a:gridCol w="4780544">
                  <a:extLst>
                    <a:ext uri="{9D8B030D-6E8A-4147-A177-3AD203B41FA5}">
                      <a16:colId xmlns:a16="http://schemas.microsoft.com/office/drawing/2014/main" val="1764220437"/>
                    </a:ext>
                  </a:extLst>
                </a:gridCol>
              </a:tblGrid>
              <a:tr h="403210">
                <a:tc>
                  <a:txBody>
                    <a:bodyPr/>
                    <a:lstStyle/>
                    <a:p>
                      <a:pPr algn="l" rtl="0" fontAlgn="ctr"/>
                      <a:r>
                        <a:rPr lang="pt-BR" b="1">
                          <a:effectLst/>
                        </a:rPr>
                        <a:t>Título do Tópico</a:t>
                      </a:r>
                    </a:p>
                  </a:txBody>
                  <a:tcPr marL="47625" marR="47625" marT="47625" marB="47625" anchor="ctr"/>
                </a:tc>
                <a:tc>
                  <a:txBody>
                    <a:bodyPr/>
                    <a:lstStyle/>
                    <a:p>
                      <a:pPr algn="l" rtl="0" fontAlgn="ctr"/>
                      <a:r>
                        <a:rPr lang="pt-BR" b="1">
                          <a:effectLst/>
                        </a:rPr>
                        <a:t>Objetivo do Tópico</a:t>
                      </a:r>
                    </a:p>
                  </a:txBody>
                  <a:tcPr marL="47625" marR="47625" marT="47625" marB="47625" anchor="ctr"/>
                </a:tc>
                <a:extLst>
                  <a:ext uri="{0D108BD9-81ED-4DB2-BD59-A6C34878D82A}">
                    <a16:rowId xmlns:a16="http://schemas.microsoft.com/office/drawing/2014/main" val="742401779"/>
                  </a:ext>
                </a:extLst>
              </a:tr>
              <a:tr h="567532">
                <a:tc>
                  <a:txBody>
                    <a:bodyPr/>
                    <a:lstStyle/>
                    <a:p>
                      <a:pPr rtl="0" fontAlgn="ctr"/>
                      <a:r>
                        <a:rPr lang="pt-BR" b="1">
                          <a:solidFill>
                            <a:schemeClr val="bg1"/>
                          </a:solidFill>
                          <a:effectLst/>
                        </a:rPr>
                        <a:t>Quadro Ethernet</a:t>
                      </a:r>
                    </a:p>
                  </a:txBody>
                  <a:tcPr marL="47625" marR="47625" marT="47625" marB="47625" anchor="ctr">
                    <a:solidFill>
                      <a:schemeClr val="accent1"/>
                    </a:solidFill>
                  </a:tcPr>
                </a:tc>
                <a:tc>
                  <a:txBody>
                    <a:bodyPr/>
                    <a:lstStyle/>
                    <a:p>
                      <a:pPr rtl="0" fontAlgn="ctr"/>
                      <a:r>
                        <a:rPr lang="pt-BR" b="0">
                          <a:effectLst/>
                        </a:rPr>
                        <a:t>Explicar como as subcamadas da Ethernet se relacionam com os campos do quadro.</a:t>
                      </a:r>
                    </a:p>
                  </a:txBody>
                  <a:tcPr marL="47625" marR="47625" marT="47625" marB="47625" anchor="ctr"/>
                </a:tc>
                <a:extLst>
                  <a:ext uri="{0D108BD9-81ED-4DB2-BD59-A6C34878D82A}">
                    <a16:rowId xmlns:a16="http://schemas.microsoft.com/office/drawing/2014/main" val="3228802595"/>
                  </a:ext>
                </a:extLst>
              </a:tr>
              <a:tr h="403210">
                <a:tc>
                  <a:txBody>
                    <a:bodyPr/>
                    <a:lstStyle/>
                    <a:p>
                      <a:pPr rtl="0" fontAlgn="ctr"/>
                      <a:r>
                        <a:rPr lang="pt-BR" b="1">
                          <a:solidFill>
                            <a:schemeClr val="bg1"/>
                          </a:solidFill>
                          <a:effectLst/>
                        </a:rPr>
                        <a:t>Endereços MAC Ethernet</a:t>
                      </a:r>
                    </a:p>
                  </a:txBody>
                  <a:tcPr marL="47625" marR="47625" marT="47625" marB="47625" anchor="ctr">
                    <a:solidFill>
                      <a:schemeClr val="accent1"/>
                    </a:solidFill>
                  </a:tcPr>
                </a:tc>
                <a:tc>
                  <a:txBody>
                    <a:bodyPr/>
                    <a:lstStyle/>
                    <a:p>
                      <a:pPr rtl="0" fontAlgn="ctr"/>
                      <a:r>
                        <a:rPr lang="pt-BR" b="0">
                          <a:effectLst/>
                        </a:rPr>
                        <a:t>Descrever o endereço MAC da Ethernet.</a:t>
                      </a:r>
                    </a:p>
                  </a:txBody>
                  <a:tcPr marL="47625" marR="47625" marT="47625" marB="47625" anchor="ctr"/>
                </a:tc>
                <a:extLst>
                  <a:ext uri="{0D108BD9-81ED-4DB2-BD59-A6C34878D82A}">
                    <a16:rowId xmlns:a16="http://schemas.microsoft.com/office/drawing/2014/main" val="3134809945"/>
                  </a:ext>
                </a:extLst>
              </a:tr>
              <a:tr h="567532">
                <a:tc>
                  <a:txBody>
                    <a:bodyPr/>
                    <a:lstStyle/>
                    <a:p>
                      <a:pPr rtl="0" fontAlgn="ctr"/>
                      <a:r>
                        <a:rPr lang="pt-BR" b="1">
                          <a:solidFill>
                            <a:schemeClr val="bg1"/>
                          </a:solidFill>
                          <a:effectLst/>
                        </a:rPr>
                        <a:t>A tabela de endereços MAC</a:t>
                      </a:r>
                    </a:p>
                  </a:txBody>
                  <a:tcPr marL="47625" marR="47625" marT="47625" marB="47625" anchor="ctr">
                    <a:solidFill>
                      <a:schemeClr val="accent1"/>
                    </a:solidFill>
                  </a:tcPr>
                </a:tc>
                <a:tc>
                  <a:txBody>
                    <a:bodyPr/>
                    <a:lstStyle/>
                    <a:p>
                      <a:pPr rtl="0" fontAlgn="ctr"/>
                      <a:r>
                        <a:rPr lang="pt-BR" b="0">
                          <a:effectLst/>
                        </a:rPr>
                        <a:t>Explicar como um switch cria sua tabela de endereços MAC e encaminha os quadros.</a:t>
                      </a:r>
                    </a:p>
                  </a:txBody>
                  <a:tcPr marL="47625" marR="47625" marT="47625" marB="47625" anchor="ctr"/>
                </a:tc>
                <a:extLst>
                  <a:ext uri="{0D108BD9-81ED-4DB2-BD59-A6C34878D82A}">
                    <a16:rowId xmlns:a16="http://schemas.microsoft.com/office/drawing/2014/main" val="1935925893"/>
                  </a:ext>
                </a:extLst>
              </a:tr>
              <a:tr h="567532">
                <a:tc>
                  <a:txBody>
                    <a:bodyPr/>
                    <a:lstStyle/>
                    <a:p>
                      <a:pPr rtl="0" fontAlgn="ctr"/>
                      <a:r>
                        <a:rPr lang="pt-BR" b="1">
                          <a:solidFill>
                            <a:schemeClr val="bg1"/>
                          </a:solidFill>
                          <a:effectLst/>
                        </a:rPr>
                        <a:t>Métodos de encaminhamento e velocidades de switches</a:t>
                      </a:r>
                    </a:p>
                  </a:txBody>
                  <a:tcPr marL="47625" marR="47625" marT="47625" marB="47625" anchor="ctr">
                    <a:solidFill>
                      <a:schemeClr val="accent1"/>
                    </a:solidFill>
                  </a:tcPr>
                </a:tc>
                <a:tc>
                  <a:txBody>
                    <a:bodyPr/>
                    <a:lstStyle/>
                    <a:p>
                      <a:pPr rtl="0" fontAlgn="ctr"/>
                      <a:r>
                        <a:rPr lang="pt-BR" b="0">
                          <a:effectLst/>
                        </a:rPr>
                        <a:t>Descrever os métodos de encaminhamento de switch e as configurações da porta disponíveis nas portas de switch de camada 2.</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7.1 Quadros Ethernet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Encapsulamento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rtl="0">
              <a:buFont typeface="Arial" panose="020B0604020202020204" pitchFamily="34" charset="0"/>
              <a:buChar char="•"/>
            </a:pPr>
            <a:r>
              <a:rPr lang="pt-BR">
                <a:solidFill>
                  <a:srgbClr val="000000"/>
                </a:solidFill>
              </a:rPr>
              <a:t>Ela opera na camada de enlace de dados e na camada física.</a:t>
            </a:r>
          </a:p>
          <a:p>
            <a:pPr marL="342900" indent="-342900" algn="l" rtl="0">
              <a:buFont typeface="Arial" panose="020B0604020202020204" pitchFamily="34" charset="0"/>
              <a:buChar char="•"/>
            </a:pPr>
            <a:r>
              <a:rPr lang="pt-BR">
                <a:solidFill>
                  <a:srgbClr val="000000"/>
                </a:solidFill>
              </a:rPr>
              <a:t>É uma família de tecnologias de rede definidas nos padrões IEEE 802.2 e 802.3.</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2400"/>
              <a:t>Sublcamadasde link de dados</a:t>
            </a:r>
            <a:r>
              <a:rPr lang="pt-BR" sz="1600"/>
              <a:t>de quadros Ethernet</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pPr rtl="0"/>
            <a:r>
              <a:rPr lang="pt-BR">
                <a:solidFill>
                  <a:srgbClr val="000000"/>
                </a:solidFill>
              </a:rPr>
              <a:t>Os padrões LAN/MAN 802, incluindo Ethernet, usam duas subcamadas separadas da camada de link de dados para operar:</a:t>
            </a:r>
          </a:p>
          <a:p>
            <a:pPr marL="285750" indent="-285750" rtl="0">
              <a:buFont typeface="Arial" panose="020B0604020202020204" pitchFamily="34" charset="0"/>
              <a:buChar char="•"/>
            </a:pPr>
            <a:r>
              <a:rPr lang="pt-BR" sz="1600" b="1">
                <a:solidFill>
                  <a:srgbClr val="000000"/>
                </a:solidFill>
              </a:rPr>
              <a:t>Subcamada LLC</a:t>
            </a:r>
            <a:r>
              <a:rPr lang="pt-BR" sz="1600">
                <a:solidFill>
                  <a:srgbClr val="000000"/>
                </a:solidFill>
              </a:rPr>
              <a:t>: (IEEE 802.2) Coloca informações no quadro para identificar qual protocolo de camada de rede é usado para o quadro.</a:t>
            </a:r>
          </a:p>
          <a:p>
            <a:pPr marL="285750" indent="-285750" rtl="0">
              <a:buFont typeface="Arial" panose="020B0604020202020204" pitchFamily="34" charset="0"/>
              <a:buChar char="•"/>
            </a:pPr>
            <a:r>
              <a:rPr lang="pt-BR" sz="1600" b="1">
                <a:solidFill>
                  <a:srgbClr val="000000"/>
                </a:solidFill>
              </a:rPr>
              <a:t>Sublayer MAC</a:t>
            </a:r>
            <a:r>
              <a:rPr lang="pt-BR" sz="1600">
                <a:solidFill>
                  <a:srgbClr val="000000"/>
                </a:solidFill>
              </a:rPr>
              <a:t>: (IEEE 802.3, 802.11 ou 802.15) Responsável pelo encapsulamento de dados e controle de acesso a mídia e fornece endereçamento de camada de link de dados. </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rtl="0"/>
            <a:r>
              <a:rPr lang="pt-BR" sz="1600">
                <a:solidFill>
                  <a:srgbClr val="000000"/>
                </a:solidFill>
              </a:rPr>
              <a:t>A subcamada MAC é responsável pelo encapsulamento de dados e acesso à mídia.</a:t>
            </a:r>
          </a:p>
          <a:p>
            <a:pPr algn="l"/>
            <a:endParaRPr lang="en-US" sz="1600" b="1" dirty="0">
              <a:solidFill>
                <a:srgbClr val="000000"/>
              </a:solidFill>
            </a:endParaRPr>
          </a:p>
          <a:p>
            <a:pPr algn="l" rtl="0"/>
            <a:r>
              <a:rPr lang="pt-BR" sz="1600" b="1">
                <a:solidFill>
                  <a:srgbClr val="000000"/>
                </a:solidFill>
              </a:rPr>
              <a:t>Encapsulamento de dados</a:t>
            </a:r>
          </a:p>
          <a:p>
            <a:pPr algn="l" rtl="0"/>
            <a:r>
              <a:rPr lang="pt-BR" sz="1600">
                <a:solidFill>
                  <a:srgbClr val="000000"/>
                </a:solidFill>
              </a:rPr>
              <a:t>O encapsulamento de dados IEEE 802.3 inclui o seguinte:</a:t>
            </a:r>
          </a:p>
          <a:p>
            <a:pPr marL="457200" indent="-457200" algn="l" rtl="0">
              <a:buFont typeface="+mj-lt"/>
              <a:buAutoNum type="arabicPeriod"/>
            </a:pPr>
            <a:r>
              <a:rPr lang="pt-BR" sz="1400" b="1">
                <a:solidFill>
                  <a:srgbClr val="000000"/>
                </a:solidFill>
              </a:rPr>
              <a:t>Quadro Ethernet</a:t>
            </a:r>
            <a:r>
              <a:rPr lang="pt-BR" sz="1400">
                <a:solidFill>
                  <a:srgbClr val="000000"/>
                </a:solidFill>
              </a:rPr>
              <a:t> - Esta é a estrutura interna do quadro Ethernet. </a:t>
            </a:r>
          </a:p>
          <a:p>
            <a:pPr marL="457200" indent="-457200" algn="l" rtl="0">
              <a:buFont typeface="+mj-lt"/>
              <a:buAutoNum type="arabicPeriod"/>
            </a:pPr>
            <a:r>
              <a:rPr lang="pt-BR" sz="1400" b="1">
                <a:solidFill>
                  <a:srgbClr val="000000"/>
                </a:solidFill>
              </a:rPr>
              <a:t>Endereçamento</a:t>
            </a:r>
            <a:r>
              <a:rPr lang="pt-BR" sz="1400">
                <a:solidFill>
                  <a:srgbClr val="000000"/>
                </a:solidFill>
              </a:rPr>
              <a:t> Ethernet - O quadro Ethernet inclui um endereço MAC de origem e de destino para fornecer o quadro Ethernet da NIC Ethernet para a NIC Ethernet na mesma LAN. </a:t>
            </a:r>
          </a:p>
          <a:p>
            <a:pPr marL="457200" indent="-457200" algn="l" rtl="0">
              <a:buFont typeface="+mj-lt"/>
              <a:buAutoNum type="arabicPeriod"/>
            </a:pPr>
            <a:r>
              <a:rPr lang="pt-BR" sz="1400" b="1">
                <a:solidFill>
                  <a:srgbClr val="000000"/>
                </a:solidFill>
              </a:rPr>
              <a:t>Detecção de erro Ethernet</a:t>
            </a:r>
            <a:r>
              <a:rPr lang="pt-BR" sz="1400">
                <a:solidFill>
                  <a:srgbClr val="000000"/>
                </a:solidFill>
              </a:rPr>
              <a:t> - O quadro Ethernet inclui um trailer de sequência de verificação de quadros (FCS) usado para detecção de erros. </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rtl="0"/>
            <a:r>
              <a:rPr lang="pt-BR" sz="1400" b="1">
                <a:solidFill>
                  <a:srgbClr val="000000"/>
                </a:solidFill>
              </a:rPr>
              <a:t>Acesso à mídia</a:t>
            </a:r>
          </a:p>
          <a:p>
            <a:pPr marL="285750" indent="-285750" algn="l" rtl="0">
              <a:buFont typeface="Arial" panose="020B0604020202020204" pitchFamily="34" charset="0"/>
              <a:buChar char="•"/>
            </a:pPr>
            <a:r>
              <a:rPr lang="pt-BR" sz="1600">
                <a:solidFill>
                  <a:srgbClr val="000000"/>
                </a:solidFill>
              </a:rPr>
              <a:t>A subcamada MAC IEEE 802.3 inclui as especificações para diferentes padrões de comunicação Ethernet em vários tipos de mídia, incluindo cobre e fibra.</a:t>
            </a:r>
          </a:p>
          <a:p>
            <a:pPr marL="285750" indent="-285750" algn="l" rtl="0">
              <a:buFont typeface="Arial" panose="020B0604020202020204" pitchFamily="34" charset="0"/>
              <a:buChar char="•"/>
            </a:pPr>
            <a:r>
              <a:rPr lang="pt-BR" sz="1600">
                <a:solidFill>
                  <a:srgbClr val="000000"/>
                </a:solidFill>
              </a:rPr>
              <a:t>Ethernet herdada usando uma topologia de barramento ou hubs, é um meio compartilhado, semi-duplex. Ethernet sobre um meio half-duplex usa um método de acesso baseado em contenção, detecção de múltiplos acessos/colisões (CSMA/CD). </a:t>
            </a:r>
          </a:p>
          <a:p>
            <a:pPr marL="285750" indent="-285750" algn="l" rtl="0">
              <a:buFont typeface="Arial" panose="020B0604020202020204" pitchFamily="34" charset="0"/>
              <a:buChar char="•"/>
            </a:pPr>
            <a:r>
              <a:rPr lang="pt-BR" sz="1600">
                <a:solidFill>
                  <a:srgbClr val="000000"/>
                </a:solidFill>
              </a:rPr>
              <a:t>As LANs Ethernet de hoje usam switches que operam em full-duplex. As comunicações full-duplex com switches Ethernet não exigem controle de acesso através do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Campos do quadro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rtl="0">
              <a:buFont typeface="Arial" panose="020B0604020202020204" pitchFamily="34" charset="0"/>
              <a:buChar char="•"/>
            </a:pPr>
            <a:r>
              <a:rPr lang="pt-BR" sz="1600">
                <a:solidFill>
                  <a:srgbClr val="000000"/>
                </a:solidFill>
              </a:rPr>
              <a:t>O tamanho mínimo de quadro Ethernet é 64 bytes e o máximo é 1518 bytes. O campo de preâmbulo não é incluído ao descrever o tamanho do quadro.</a:t>
            </a:r>
          </a:p>
          <a:p>
            <a:pPr marL="342900" indent="-342900" algn="l" rtl="0">
              <a:buFont typeface="Arial" panose="020B0604020202020204" pitchFamily="34" charset="0"/>
              <a:buChar char="•"/>
            </a:pPr>
            <a:r>
              <a:rPr lang="pt-BR" sz="1600">
                <a:solidFill>
                  <a:srgbClr val="000000"/>
                </a:solidFill>
              </a:rPr>
              <a:t>Qualquer quadro com menos de 64 bytes de comprimento é considerado um "fragmento de colisão" ou "quadro de execução" e é automaticamente descartado. Quadros com mais de 1.500 bytes de dados são considerados “jumbo” ou “baby giant”.</a:t>
            </a:r>
          </a:p>
          <a:p>
            <a:pPr marL="342900" indent="-342900" algn="l" rtl="0">
              <a:buFont typeface="Arial" panose="020B0604020202020204" pitchFamily="34" charset="0"/>
              <a:buChar char="•"/>
            </a:pPr>
            <a:r>
              <a:rPr lang="pt-BR" sz="1600">
                <a:solidFill>
                  <a:srgbClr val="000000"/>
                </a:solidFill>
              </a:rPr>
              <a:t>Se o tamanho de um quadro transmitido for menor que o mínimo ou maior que o máximo, o dispositivo receptor descarta o quadro. É provável que quadros perdidos sejam resultado de colisões ou outros sinais indesejados. Eles são considerados inválidos. Os quadros jumbo geralmente são suportados pela maioria dos switches e NICs Fast Ethernet e Gigabit Ethernet.</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418742"/>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Ethernet Frames</a:t>
            </a:r>
            <a:br>
              <a:rPr lang="en-US" dirty="0"/>
            </a:br>
            <a:r>
              <a:rPr lang="pt-BR" sz="2400"/>
              <a:t>Lab - Use o Wireshark para examinar os quadros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8280057" cy="3689897"/>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Examinar os campos do cabeçalho de um quadro Ethernet II</a:t>
            </a:r>
          </a:p>
          <a:p>
            <a:pPr marL="342900" indent="-342900" algn="l" rtl="0">
              <a:buFont typeface="Arial" panose="020B0604020202020204" pitchFamily="34" charset="0"/>
              <a:buChar char="•"/>
            </a:pPr>
            <a:r>
              <a:rPr lang="pt-BR">
                <a:solidFill>
                  <a:srgbClr val="000000"/>
                </a:solidFill>
              </a:rPr>
              <a:t>Parte 2: Usar o Wireshark para capturar e analisar quadros Ethernet</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7.2 Endereço MAC Ethernet</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e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rtl="0">
              <a:buFont typeface="Arial" panose="020B0604020202020204" pitchFamily="34" charset="0"/>
              <a:buChar char="•"/>
            </a:pPr>
            <a:r>
              <a:rPr lang="pt-BR" sz="1600">
                <a:solidFill>
                  <a:srgbClr val="000000"/>
                </a:solidFill>
              </a:rPr>
              <a:t>Um endereço MAC Ethernet consiste em um valor binário de 48 bits, expresso usando 12 valores hexadecimais.</a:t>
            </a:r>
          </a:p>
          <a:p>
            <a:pPr marL="285750" indent="-285750" algn="l" rtl="0">
              <a:buFont typeface="Arial" panose="020B0604020202020204" pitchFamily="34" charset="0"/>
              <a:buChar char="•"/>
            </a:pPr>
            <a:r>
              <a:rPr lang="pt-BR" sz="1600">
                <a:solidFill>
                  <a:srgbClr val="000000"/>
                </a:solidFill>
              </a:rPr>
              <a:t>Dado que 8 bits (um byte) é um agrupamento binário comum, os binários 00000000 a 11111111 podem ser representados em hexadecimal como o intervalo de 00 a FF,</a:t>
            </a:r>
          </a:p>
          <a:p>
            <a:pPr marL="285750" indent="-285750" algn="l" rtl="0">
              <a:buFont typeface="Arial" panose="020B0604020202020204" pitchFamily="34" charset="0"/>
              <a:buChar char="•"/>
            </a:pPr>
            <a:r>
              <a:rPr lang="pt-BR" sz="1600">
                <a:solidFill>
                  <a:srgbClr val="000000"/>
                </a:solidFill>
              </a:rPr>
              <a:t>Ao usar hexadecimal, os zeros à esquerda são sempre exibidos para concluir a representação de 8 bits. Por exemplo, o valor binário 0000 1010 é representado em hexadecimal como 0A.</a:t>
            </a:r>
          </a:p>
          <a:p>
            <a:pPr marL="285750" indent="-285750" algn="l" rtl="0">
              <a:buFont typeface="Arial" panose="020B0604020202020204" pitchFamily="34" charset="0"/>
              <a:buChar char="•"/>
            </a:pPr>
            <a:r>
              <a:rPr lang="pt-BR" sz="1600">
                <a:solidFill>
                  <a:srgbClr val="000000"/>
                </a:solidFill>
              </a:rPr>
              <a:t>Números hexadecimais são frequentemente representados pelo valor precedido por </a:t>
            </a:r>
            <a:r>
              <a:rPr lang="pt-BR" sz="1600" b="1">
                <a:solidFill>
                  <a:srgbClr val="000000"/>
                </a:solidFill>
              </a:rPr>
              <a:t>0x</a:t>
            </a:r>
            <a:r>
              <a:rPr lang="pt-BR" sz="1600">
                <a:solidFill>
                  <a:srgbClr val="000000"/>
                </a:solidFill>
              </a:rPr>
              <a:t> (por exemplo, 0x73) para distinguir entre valores decimal e hexadecimais na documentação.</a:t>
            </a:r>
          </a:p>
          <a:p>
            <a:pPr marL="285750" indent="-285750" algn="l" rtl="0">
              <a:buFont typeface="Arial" panose="020B0604020202020204" pitchFamily="34" charset="0"/>
              <a:buChar char="•"/>
            </a:pPr>
            <a:r>
              <a:rPr lang="pt-BR" sz="1600">
                <a:solidFill>
                  <a:srgbClr val="000000"/>
                </a:solidFill>
              </a:rPr>
              <a:t>O hexadecimal também pode ser representado por um subscript 16, ou o número hexadecimal seguido por um H (por exemplo,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da Ethernet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rtl="0">
              <a:buFont typeface="Arial" panose="020B0604020202020204" pitchFamily="34" charset="0"/>
              <a:buChar char="•"/>
            </a:pPr>
            <a:r>
              <a:rPr lang="pt-BR" sz="1500">
                <a:solidFill>
                  <a:srgbClr val="000000"/>
                </a:solidFill>
              </a:rPr>
              <a:t>Em uma LAN Ethernet, todos os dispositivos de rede estão conectados à mesma mídia compartilhada. O MAC endereçável selecionou um método para identificar o dispositivo na camada de dados de dados do modelo OSI.</a:t>
            </a:r>
          </a:p>
          <a:p>
            <a:pPr marL="285750" indent="-285750" algn="l" rtl="0">
              <a:buFont typeface="Arial" panose="020B0604020202020204" pitchFamily="34" charset="0"/>
              <a:buChar char="•"/>
            </a:pPr>
            <a:r>
              <a:rPr lang="pt-BR" sz="1500">
                <a:solidFill>
                  <a:srgbClr val="000000"/>
                </a:solidFill>
              </a:rPr>
              <a:t>Um endereço MAC Ethernet é um endereço de 48 bits expresso usando 12 dígitos hexadecimais. Como um byte é igual a 8 bits, também podemos dizer que um endereço MAC tem 6 bytes de comprimento.</a:t>
            </a:r>
          </a:p>
          <a:p>
            <a:pPr marL="285750" indent="-285750" algn="l" rtl="0">
              <a:buFont typeface="Arial" panose="020B0604020202020204" pitchFamily="34" charset="0"/>
              <a:buChar char="•"/>
            </a:pPr>
            <a:r>
              <a:rPr lang="pt-BR" sz="1500">
                <a:solidFill>
                  <a:srgbClr val="000000"/>
                </a:solidFill>
              </a:rPr>
              <a:t>Todos os endereços MAC devem ser exclusivos do dispositivo Ethernet ou da interface Ethernet. Para garantir isso, todos os fornecedores que vendem dispositivos Ethernet devem se registrar no IEEE para obter um código hexadecimal exclusivo de 6 (ou seja, 24 bits ou 3 bytes) chamado identificador exclusivo organizacionalmente (OUI).</a:t>
            </a:r>
          </a:p>
          <a:p>
            <a:pPr marL="285750" indent="-285750" algn="l" rtl="0">
              <a:buFont typeface="Arial" panose="020B0604020202020204" pitchFamily="34" charset="0"/>
              <a:buChar char="•"/>
            </a:pPr>
            <a:r>
              <a:rPr lang="pt-BR" sz="1500">
                <a:solidFill>
                  <a:srgbClr val="000000"/>
                </a:solidFill>
              </a:rPr>
              <a:t>Um endereço MAC Ethernet consiste em um código OUI de 6 fornecedor hexadecimal seguido de um 6 valor hexadecimal atribuído ao fornecedor.</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192720" y="3538884"/>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Processamento de Quadros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rtl="0">
              <a:buFont typeface="Arial" panose="020B0604020202020204" pitchFamily="34" charset="0"/>
              <a:buChar char="•"/>
            </a:pPr>
            <a:r>
              <a:rPr lang="pt-BR" sz="1400">
                <a:solidFill>
                  <a:srgbClr val="000000"/>
                </a:solidFill>
              </a:rPr>
              <a:t>Quando um dispositivo está encaminhando uma mensagem para uma rede Ethernet, o cabeçalho Ethernet inclui um endereço MAC de origem e um endereço MAC de destino.</a:t>
            </a:r>
          </a:p>
          <a:p>
            <a:pPr marL="285750" indent="-285750" algn="l" rtl="0">
              <a:buFont typeface="Arial" panose="020B0604020202020204" pitchFamily="34" charset="0"/>
              <a:buChar char="•"/>
            </a:pPr>
            <a:r>
              <a:rPr lang="pt-BR" sz="1400">
                <a:solidFill>
                  <a:srgbClr val="000000"/>
                </a:solidFill>
              </a:rPr>
              <a:t>Quando uma NIC recebe um quadro Ethernet, examina o endereço MAC de destino para verificar se corresponde ao endereço MAC físico armazenado na RAM. Se não houver correspondência, o dispositivo descartará o quadro. Caso haja, ele passará o quadro para cima nas camadas OSI, onde o processo de desencapsulamento ocorre.</a:t>
            </a:r>
          </a:p>
          <a:p>
            <a:pPr marL="73085" lvl="1" indent="0" rtl="0">
              <a:buNone/>
            </a:pPr>
            <a:r>
              <a:rPr lang="pt-BR" sz="1200" b="1">
                <a:solidFill>
                  <a:srgbClr val="000000"/>
                </a:solidFill>
              </a:rPr>
              <a:t>Nota</a:t>
            </a:r>
            <a:r>
              <a:rPr lang="pt-BR" sz="1200">
                <a:solidFill>
                  <a:srgbClr val="000000"/>
                </a:solidFill>
              </a:rPr>
              <a:t>: As NICs Ethernet também aceitarão quadros se o endereço MAC de destino for uma transmissão ou um grupo multicast do qual o host seja membro.</a:t>
            </a:r>
          </a:p>
          <a:p>
            <a:pPr marL="285750" indent="-285750" algn="l" rtl="0">
              <a:buFont typeface="Arial" panose="020B0604020202020204" pitchFamily="34" charset="0"/>
              <a:buChar char="•"/>
            </a:pPr>
            <a:r>
              <a:rPr lang="pt-BR" sz="1400">
                <a:solidFill>
                  <a:srgbClr val="000000"/>
                </a:solidFill>
              </a:rPr>
              <a:t>Qualquer dispositivo que seja a origem ou o destino de um quadro Ethernet terá uma NIC Ethernet e, portanto, um endereço MAC. Isso inclui estações de trabalho, servidores, impressoras, dispositivos móveis e roteadores.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unicast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lIns="91420" tIns="45710" rIns="91420" bIns="45710" anchor="t">
            <a:noAutofit/>
          </a:bodyPr>
          <a:lstStyle/>
          <a:p>
            <a:pPr marL="0" indent="0" algn="l" rtl="0"/>
            <a:r>
              <a:rPr lang="pt-BR" sz="1200">
                <a:solidFill>
                  <a:srgbClr val="000000"/>
                </a:solidFill>
                <a:ea typeface="ＭＳ Ｐゴシック"/>
              </a:rPr>
              <a:t>Na Ethernet, são utilizados diferentes endereços MAC para comunicação unicast, broadcast e multicast da Camada 2.</a:t>
            </a:r>
          </a:p>
          <a:p>
            <a:pPr marL="342900" indent="-342900" algn="l" rtl="0">
              <a:buFont typeface="Arial" panose="020B0604020202020204" pitchFamily="34" charset="0"/>
              <a:buChar char="•"/>
            </a:pPr>
            <a:r>
              <a:rPr lang="pt-BR" sz="1200">
                <a:solidFill>
                  <a:srgbClr val="000000"/>
                </a:solidFill>
                <a:ea typeface="ＭＳ Ｐゴシック"/>
              </a:rPr>
              <a:t>Um endereço MAC de unicast é o endereço exclusivo usado quando um quadro é enviado de um único dispositivo de transmissão para um único dispositivo de destino.</a:t>
            </a:r>
          </a:p>
          <a:p>
            <a:pPr marL="342900" indent="-342900" algn="l" rtl="0">
              <a:buFont typeface="Arial" panose="020B0604020202020204" pitchFamily="34" charset="0"/>
              <a:buChar char="•"/>
            </a:pPr>
            <a:r>
              <a:rPr lang="pt-BR" sz="1200">
                <a:solidFill>
                  <a:srgbClr val="000000"/>
                </a:solidFill>
                <a:ea typeface="ＭＳ Ｐゴシック"/>
              </a:rPr>
              <a:t>O processo que um host de origem usa para determinar o endereço MAC de destino associado a um endereço IPv4 é conhecido como ARP (Address Resolution Protocol). O processo que um host de origem usa para determinar o endereço MAC de destino associado a um endereço IPv6 é conhecido como ND (Neighbour Discovery Discovery).</a:t>
            </a:r>
          </a:p>
          <a:p>
            <a:pPr marL="0" indent="0" algn="l" rtl="0"/>
            <a:r>
              <a:rPr lang="pt-BR" sz="1200" b="1">
                <a:solidFill>
                  <a:srgbClr val="000000"/>
                </a:solidFill>
                <a:ea typeface="ＭＳ Ｐゴシック"/>
              </a:rPr>
              <a:t>Nota</a:t>
            </a:r>
            <a:r>
              <a:rPr lang="pt-BR" sz="1200">
                <a:solidFill>
                  <a:srgbClr val="000000"/>
                </a:solidFill>
                <a:ea typeface="ＭＳ Ｐゴシック"/>
              </a:rPr>
              <a:t>: O endereço MAC de origem deve sempre ser um unicast.</a:t>
            </a:r>
          </a:p>
          <a:p>
            <a:pPr marL="0" indent="0" algn="l"/>
            <a:endParaRPr lang="en-US" sz="12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broadcast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rtl="0"/>
            <a:r>
              <a:rPr lang="pt-BR" sz="1500">
                <a:solidFill>
                  <a:srgbClr val="000000"/>
                </a:solidFill>
              </a:rPr>
              <a:t>Um quadro de transmissão Ethernet é recebido e processado por cada dispositivo na LAN Ethernet. Os recursos de uma transmissão Ethernet são os seguintes:</a:t>
            </a:r>
          </a:p>
          <a:p>
            <a:pPr marL="285750" indent="-285750" algn="l" rtl="0">
              <a:buFont typeface="Arial" panose="020B0604020202020204" pitchFamily="34" charset="0"/>
              <a:buChar char="•"/>
            </a:pPr>
            <a:r>
              <a:rPr lang="pt-BR" sz="1500">
                <a:solidFill>
                  <a:srgbClr val="000000"/>
                </a:solidFill>
              </a:rPr>
              <a:t>Possui um endereço MAC de destino de FF-FF-FF-FF-FF-FF em hexadecimal (48 endereços em binário).</a:t>
            </a:r>
          </a:p>
          <a:p>
            <a:pPr marL="285750" indent="-285750" algn="l" rtl="0">
              <a:buFont typeface="Arial" panose="020B0604020202020204" pitchFamily="34" charset="0"/>
              <a:buChar char="•"/>
            </a:pPr>
            <a:r>
              <a:rPr lang="pt-BR" sz="1500">
                <a:solidFill>
                  <a:srgbClr val="000000"/>
                </a:solidFill>
              </a:rPr>
              <a:t>É inundada todas as portas de switch Ethernet, exceto a porta de entrada. Ele não é encaminhado por um roteador.</a:t>
            </a:r>
          </a:p>
          <a:p>
            <a:pPr marL="285750" indent="-285750" algn="l" rtl="0">
              <a:buFont typeface="Arial" panose="020B0604020202020204" pitchFamily="34" charset="0"/>
              <a:buChar char="•"/>
            </a:pPr>
            <a:r>
              <a:rPr lang="pt-BR" sz="1500">
                <a:solidFill>
                  <a:srgbClr val="000000"/>
                </a:solidFill>
              </a:rPr>
              <a:t>Se os dados encapsulados forem um pacote de transmissão IPv4, isso significa que o pacote contém um endereço IPv4 de destino que possui todos os 1s na parte do host. Essa numeração no endereço significa que todos os hosts naquela rede local (domínio de broadcast) receberão e processarão o pacote.</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Multicast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rtl="0"/>
            <a:r>
              <a:rPr lang="pt-BR" sz="1200">
                <a:solidFill>
                  <a:srgbClr val="000000"/>
                </a:solidFill>
              </a:rPr>
              <a:t>Um quadro de multicast Ethernet é recebido e processado por um grupo de dispositivos que pertencem ao mesmo grupo de multicast. </a:t>
            </a:r>
          </a:p>
          <a:p>
            <a:pPr marL="285750" indent="-285750" algn="l" rtl="0">
              <a:buFont typeface="Arial" panose="020B0604020202020204" pitchFamily="34" charset="0"/>
              <a:buChar char="•"/>
            </a:pPr>
            <a:r>
              <a:rPr lang="pt-BR" sz="1300">
                <a:solidFill>
                  <a:srgbClr val="000000"/>
                </a:solidFill>
              </a:rPr>
              <a:t>Há um endereço MAC de destino 01-00-5E quando os dados encapsulados são um pacote multicast IPv4 e um endereço MAC de destino de 33-33 quando os dados encapsulados são um pacote multicast IPv6.</a:t>
            </a:r>
          </a:p>
          <a:p>
            <a:pPr marL="285750" indent="-285750" algn="l" rtl="0">
              <a:buFont typeface="Arial" panose="020B0604020202020204" pitchFamily="34" charset="0"/>
              <a:buChar char="•"/>
            </a:pPr>
            <a:r>
              <a:rPr lang="pt-BR" sz="1300">
                <a:solidFill>
                  <a:srgbClr val="000000"/>
                </a:solidFill>
              </a:rPr>
              <a:t>Há outros endereços MAC de destino multicast reservados para quando os dados encapsulados não são IP, como Spanning Tree Protocol (STP).</a:t>
            </a:r>
          </a:p>
          <a:p>
            <a:pPr marL="285750" indent="-285750" algn="l" rtl="0">
              <a:buFont typeface="Arial" panose="020B0604020202020204" pitchFamily="34" charset="0"/>
              <a:buChar char="•"/>
            </a:pPr>
            <a:r>
              <a:rPr lang="pt-BR" sz="1300">
                <a:solidFill>
                  <a:srgbClr val="000000"/>
                </a:solidFill>
              </a:rPr>
              <a:t>É inundada todas as portas de switch Ethernet, exceto a porta de entrada, a menos que o switch esteja configurado para espionagem multicast. Ele não é encaminhado por um roteador, a menos que o roteador esteja configurado para rotear pacotes multicast.</a:t>
            </a:r>
          </a:p>
          <a:p>
            <a:pPr marL="285750" indent="-285750" algn="l" rtl="0">
              <a:buFont typeface="Arial" panose="020B0604020202020204" pitchFamily="34" charset="0"/>
              <a:buChar char="•"/>
            </a:pPr>
            <a:r>
              <a:rPr lang="pt-BR" sz="1300">
                <a:solidFill>
                  <a:srgbClr val="000000"/>
                </a:solidFill>
              </a:rPr>
              <a:t>Como os endereços multicast representam um grupo de endereços (às vezes chamado de grupo de hosts), eles só podem ser utilizados como destino de um pacote. A origem sempre será um endereço unicast.</a:t>
            </a:r>
          </a:p>
          <a:p>
            <a:pPr marL="285750" indent="-285750" algn="l" rtl="0">
              <a:buFont typeface="Arial" panose="020B0604020202020204" pitchFamily="34" charset="0"/>
              <a:buChar char="•"/>
            </a:pPr>
            <a:r>
              <a:rPr lang="pt-BR" sz="1300">
                <a:solidFill>
                  <a:srgbClr val="000000"/>
                </a:solidFill>
              </a:rPr>
              <a:t>Assim como nos endereços unicast e broadcast, o endereço IP multicast requer um endereço MAC multicast correspondente.</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5168"/>
            <a:ext cx="8345488" cy="731837"/>
          </a:xfrm>
        </p:spPr>
        <p:txBody>
          <a:bodyPr/>
          <a:lstStyle/>
          <a:p>
            <a:pPr rtl="0"/>
            <a:r>
              <a:rPr lang="pt-BR" sz="1600"/>
              <a:t>Endereços Ethernet MAC </a:t>
            </a:r>
            <a:br>
              <a:rPr lang="en-US" dirty="0"/>
            </a:br>
            <a:r>
              <a:rPr lang="pt-BR" sz="2400"/>
              <a:t>Laboratório – Exibição de endereços MAC de dispositivos de rede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837649"/>
            <a:ext cx="8280057" cy="3073946"/>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Configurar a Topologia e Inicializar os Dispositivos</a:t>
            </a:r>
          </a:p>
          <a:p>
            <a:pPr marL="342900" indent="-342900" algn="l" rtl="0">
              <a:buFont typeface="Arial" panose="020B0604020202020204" pitchFamily="34" charset="0"/>
              <a:buChar char="•"/>
            </a:pPr>
            <a:r>
              <a:rPr lang="pt-BR">
                <a:solidFill>
                  <a:srgbClr val="000000"/>
                </a:solidFill>
              </a:rPr>
              <a:t>Parte 2: Configurar dispositivos e verificar a conectividade</a:t>
            </a:r>
          </a:p>
          <a:p>
            <a:pPr marL="342900" indent="-342900" algn="l" rtl="0">
              <a:buFont typeface="Arial" panose="020B0604020202020204" pitchFamily="34" charset="0"/>
              <a:buChar char="•"/>
            </a:pPr>
            <a:r>
              <a:rPr lang="pt-BR">
                <a:solidFill>
                  <a:srgbClr val="000000"/>
                </a:solidFill>
              </a:rPr>
              <a:t>Parte 3: Exibir, descrever e analisar endereços MAC Ethernet</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7.3 A tabela de endereços MAC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Fundamentos do switch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rtl="0">
              <a:buFont typeface="Arial" panose="020B0604020202020204" pitchFamily="34" charset="0"/>
              <a:buChar char="•"/>
            </a:pPr>
            <a:r>
              <a:rPr lang="pt-BR" sz="1600">
                <a:solidFill>
                  <a:srgbClr val="000000"/>
                </a:solidFill>
              </a:rPr>
              <a:t>Um switch Ethernet da camada 2 usa endereços MAC da camada 2 para tomar decisões de encaminhamento. Desconhece completamente os dados (protocolo) que estão sendo transportados na parte de dados do quadro, como um pacote IPv4, uma mensagem ARP ou um pacote ND IPv6. O switch toma decisões de encaminhamento com base apenas nos endereços MAC Ethernet da camada 2.</a:t>
            </a:r>
          </a:p>
          <a:p>
            <a:pPr marL="342900" indent="-342900" algn="l" rtl="0">
              <a:buFont typeface="Arial" panose="020B0604020202020204" pitchFamily="34" charset="0"/>
              <a:buChar char="•"/>
            </a:pPr>
            <a:r>
              <a:rPr lang="pt-BR" sz="1600">
                <a:solidFill>
                  <a:srgbClr val="000000"/>
                </a:solidFill>
              </a:rPr>
              <a:t>Um switch Ethernet examina sua tabela de endereços MAC para tomar uma decisão de encaminhamento para cada quadro, ao contrário dos hubs Ethernet herdados que repetem bits em todas as portas, exceto a porta de entrada. </a:t>
            </a:r>
          </a:p>
          <a:p>
            <a:pPr marL="342900" indent="-342900" algn="l" rtl="0">
              <a:buFont typeface="Arial" panose="020B0604020202020204" pitchFamily="34" charset="0"/>
              <a:buChar char="•"/>
            </a:pPr>
            <a:r>
              <a:rPr lang="pt-BR" sz="1600">
                <a:solidFill>
                  <a:srgbClr val="000000"/>
                </a:solidFill>
              </a:rPr>
              <a:t>Quando um switch é ativado, a tabela de endereços MAC fica vazia</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 tabela de endereços MAC às vezes é chamada de tabela de memória endereçável de conteúdo (CAM).</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2400"/>
              <a:t>Aprendizagem e encaminhamento docomutador</a:t>
            </a:r>
            <a:r>
              <a:rPr lang="pt-BR" sz="1600"/>
              <a:t>de endereços MAC</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b="1">
                <a:solidFill>
                  <a:srgbClr val="000000"/>
                </a:solidFill>
              </a:rPr>
              <a:t>Examine o endereço MAC de origem (Aprenda)</a:t>
            </a:r>
          </a:p>
          <a:p>
            <a:pPr marL="0" indent="0" algn="l" rtl="0"/>
            <a:r>
              <a:rPr lang="pt-BR" sz="1600">
                <a:solidFill>
                  <a:srgbClr val="000000"/>
                </a:solidFill>
              </a:rPr>
              <a:t>Todo quadro que entra em um switch é verificado quanto ao aprendizado de novas informações. Isso é feito examinando o endereço MAC de origem do quadro e o número da porta em que o quadro entrou no comutador. Se o endereço MAC de origem não existe, é adicionado à tabela juntamente com o número da porta de entrada. Se o endereço MAC de origem existe, o switch atualiza o timer de atualização dessa entrada. Por padrão, a maioria dos switches Ethernet mantém uma entrada na tabela por 5 minutos.</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origem existir na tabela, mas em uma porta diferente, o switch tratará isso como uma nova entrada. A entrada é substituída usando o mesmo endereço MAC, mas com o número de porta mais atual.</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2400"/>
              <a:t>Aprendizagem e encaminhamento da tabelade endereços MAC (Contd.) </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b="1">
                <a:solidFill>
                  <a:srgbClr val="000000"/>
                </a:solidFill>
              </a:rPr>
              <a:t>Localizar o endereço MAC de destino (Encaminhar)</a:t>
            </a:r>
          </a:p>
          <a:p>
            <a:pPr marL="0" indent="0" algn="l" rtl="0"/>
            <a:r>
              <a:rPr lang="pt-BR" sz="1600">
                <a:solidFill>
                  <a:srgbClr val="000000"/>
                </a:solidFill>
              </a:rPr>
              <a:t>Se o endereço MAC de destino for um endereço unicast, o comutador procurará uma correspondência entre o endereço MAC de destino do quadro e uma entrada em sua tabela de endereços MAC. Se o endereço MAC de destino estiver na tabela, ele encaminhará o quadro pela porta especificada. Se o endereço MAC de destino não estiver na tabela, o switch encaminhará o quadro por todas as portas, exceto a de entrada. Isso é chamado de unicast desconhecido.</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destino for uma transmissão ou multicast, o quadro também será inundado em todas as portas, exceto a porta de entrada.</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Filtragem de quadros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rtl="0"/>
            <a:r>
              <a:rPr lang="pt-BR" sz="1600">
                <a:solidFill>
                  <a:srgbClr val="000000"/>
                </a:solidFill>
              </a:rPr>
              <a:t>A medida que um switch recebe quadros de dispositivos diferentes, ele é capaz de preencher sua tabela de endereços MAC examinando o endereço MAC de origem de cada quadro. Quando a tabela de endereços MAC do switch contém o endereço MAC de destino, ele pode filtrar o quadro e encaminhar uma única porta.</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0514"/>
            <a:ext cx="8345488" cy="731837"/>
          </a:xfrm>
        </p:spPr>
        <p:txBody>
          <a:bodyPr/>
          <a:lstStyle/>
          <a:p>
            <a:pPr rtl="0"/>
            <a:r>
              <a:rPr lang="pt-BR" sz="1600"/>
              <a:t>A tabela de endereços MAC </a:t>
            </a:r>
            <a:br>
              <a:rPr lang="en-US" dirty="0"/>
            </a:br>
            <a:r>
              <a:rPr lang="pt-BR" sz="2400"/>
              <a:t>Demonstração em vídeo - Tabelas de endereço MAC em switches conectados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14651"/>
            <a:ext cx="8280057" cy="3073946"/>
          </a:xfrm>
        </p:spPr>
        <p:txBody>
          <a:bodyPr/>
          <a:lstStyle/>
          <a:p>
            <a:pPr algn="l" rtl="0"/>
            <a:r>
              <a:rPr lang="pt-BR">
                <a:solidFill>
                  <a:srgbClr val="000000"/>
                </a:solidFill>
              </a:rPr>
              <a:t>Este vídeo aborda o seguinte:</a:t>
            </a:r>
          </a:p>
          <a:p>
            <a:pPr marL="342900" indent="-342900" algn="l" rtl="0">
              <a:buFont typeface="Arial" panose="020B0604020202020204" pitchFamily="34" charset="0"/>
              <a:buChar char="•"/>
            </a:pPr>
            <a:r>
              <a:rPr lang="pt-BR">
                <a:solidFill>
                  <a:srgbClr val="000000"/>
                </a:solidFill>
              </a:rPr>
              <a:t>Como os switches criam tabelas de endereços MAC</a:t>
            </a:r>
          </a:p>
          <a:p>
            <a:pPr marL="342900" indent="-342900" algn="l" rtl="0">
              <a:buFont typeface="Arial" panose="020B0604020202020204" pitchFamily="34" charset="0"/>
              <a:buChar char="•"/>
            </a:pPr>
            <a:r>
              <a:rPr lang="pt-BR">
                <a:solidFill>
                  <a:srgbClr val="000000"/>
                </a:solidFill>
              </a:rPr>
              <a:t>Como os quadros de encaminhamento são baseados no conteúdo de suas tabelas de endereços MAC</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 MAC </a:t>
            </a:r>
            <a:br>
              <a:rPr lang="en-US" dirty="0"/>
            </a:br>
            <a:r>
              <a:rPr lang="pt-BR" sz="2400"/>
              <a:t>Demonstração em vídeo - Envio de um quadro para o gateway padrão</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rtl="0"/>
            <a:r>
              <a:rPr lang="pt-BR">
                <a:solidFill>
                  <a:srgbClr val="000000"/>
                </a:solidFill>
              </a:rPr>
              <a:t>Este vídeo aborda o seguinte:</a:t>
            </a:r>
          </a:p>
          <a:p>
            <a:pPr marL="342900" indent="-342900" algn="l" rtl="0">
              <a:buFont typeface="Arial" panose="020B0604020202020204" pitchFamily="34" charset="0"/>
              <a:buChar char="•"/>
            </a:pPr>
            <a:r>
              <a:rPr lang="pt-BR">
                <a:solidFill>
                  <a:srgbClr val="000000"/>
                </a:solidFill>
              </a:rPr>
              <a:t>O que um switch faz quando o endereço AMC de destino não está listado na tabela de endereços MAC do switch.</a:t>
            </a:r>
          </a:p>
          <a:p>
            <a:pPr marL="342900" indent="-342900" algn="l" rtl="0">
              <a:buFont typeface="Arial" panose="020B0604020202020204" pitchFamily="34" charset="0"/>
              <a:buChar char="•"/>
            </a:pPr>
            <a:r>
              <a:rPr lang="pt-BR">
                <a:solidFill>
                  <a:srgbClr val="000000"/>
                </a:solidFill>
              </a:rPr>
              <a:t>O que um switch faz quando o endereço AMC de origem não está listado na tabela de endereços MAC do switch</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Laboratório – Exibição de endereços MAC do switch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53152"/>
            <a:ext cx="8280057" cy="3073946"/>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Criar e Configurar a Rede</a:t>
            </a:r>
          </a:p>
          <a:p>
            <a:pPr marL="342900" indent="-342900" algn="l" rtl="0">
              <a:buFont typeface="Arial" panose="020B0604020202020204" pitchFamily="34" charset="0"/>
              <a:buChar char="•"/>
            </a:pPr>
            <a:r>
              <a:rPr lang="pt-BR">
                <a:solidFill>
                  <a:srgbClr val="000000"/>
                </a:solidFill>
              </a:rPr>
              <a:t>Parte 2: Examinar a Tabela de Endereços MAC do Switch</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7.4 Velocidades do comutador e métodos de encaminhamento</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Métodos de encaminhamento de quadros nos switches da Cisco</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rtl="0"/>
            <a:r>
              <a:rPr lang="pt-BR" sz="1500">
                <a:solidFill>
                  <a:srgbClr val="000000"/>
                </a:solidFill>
              </a:rPr>
              <a:t>Os switches usam um dos seguintes métodos de encaminhamento para o switching (comutação) de dados entre suas interfaces de rede:</a:t>
            </a:r>
          </a:p>
          <a:p>
            <a:pPr marL="285750" indent="-285750" algn="l" rtl="0">
              <a:buFont typeface="Arial" panose="020B0604020202020204" pitchFamily="34" charset="0"/>
              <a:buChar char="•"/>
            </a:pPr>
            <a:r>
              <a:rPr lang="pt-BR" sz="1500" b="1">
                <a:solidFill>
                  <a:srgbClr val="000000"/>
                </a:solidFill>
              </a:rPr>
              <a:t>Comutação de armazenamento e encaminhamento</a:t>
            </a:r>
            <a:r>
              <a:rPr lang="pt-BR" sz="1500">
                <a:solidFill>
                  <a:srgbClr val="000000"/>
                </a:solidFill>
              </a:rPr>
              <a:t> - Este método de encaminhamento de quadros recebe o quadro inteiro e calcula o CRC. Se o CRC é válido, o switch procura o endereço de destino, que determina a interface de saída. Em seguida, o quadro é encaminhado para fora da porta correta.</a:t>
            </a:r>
          </a:p>
          <a:p>
            <a:pPr marL="285750" indent="-285750" algn="l" rtl="0">
              <a:buFont typeface="Arial" panose="020B0604020202020204" pitchFamily="34" charset="0"/>
              <a:buChar char="•"/>
            </a:pPr>
            <a:r>
              <a:rPr lang="pt-BR" sz="1500" b="1">
                <a:solidFill>
                  <a:srgbClr val="000000"/>
                </a:solidFill>
              </a:rPr>
              <a:t>Comutação de corte</a:t>
            </a:r>
            <a:r>
              <a:rPr lang="pt-BR" sz="1500">
                <a:solidFill>
                  <a:srgbClr val="000000"/>
                </a:solidFill>
              </a:rPr>
              <a:t> - Esse método de encaminhamento de quadros encaminha o quadro antes de ser totalmente recebido. Pelo menos o endereço de destino do quadro deve ser lido para que o quadro possa ser encaminhado.</a:t>
            </a:r>
          </a:p>
          <a:p>
            <a:pPr marL="0" indent="0" algn="l"/>
            <a:endParaRPr lang="en-US" sz="1500" dirty="0">
              <a:solidFill>
                <a:srgbClr val="000000"/>
              </a:solidFill>
            </a:endParaRPr>
          </a:p>
          <a:p>
            <a:pPr marL="285750" indent="-285750" algn="l" rtl="0">
              <a:buFont typeface="Arial" panose="020B0604020202020204" pitchFamily="34" charset="0"/>
              <a:buChar char="•"/>
            </a:pPr>
            <a:r>
              <a:rPr lang="pt-BR" sz="1500">
                <a:solidFill>
                  <a:srgbClr val="000000"/>
                </a:solidFill>
              </a:rPr>
              <a:t>Uma grande vantagem da troca de armazenamento e encaminhamento é que ele determina se um quadro tem erros antes de propagar o quadro. Quando um erro é detectado em um quadro, o switch o descarta. O descarte de quadros com erros reduz o consumo de largura de banda por dados corrompidos. </a:t>
            </a:r>
          </a:p>
          <a:p>
            <a:pPr marL="285750" indent="-285750" algn="l" rtl="0">
              <a:buFont typeface="Arial" panose="020B0604020202020204" pitchFamily="34" charset="0"/>
              <a:buChar char="•"/>
            </a:pPr>
            <a:r>
              <a:rPr lang="pt-BR" sz="1500">
                <a:solidFill>
                  <a:srgbClr val="000000"/>
                </a:solidFill>
              </a:rPr>
              <a:t>A comutação de armazenamento e encaminhamento é necessária para a análise de qualidade de serviço (QoS) em redes convergentes onde a classificação de quadros para priorização de tráfego é necessária. Por exemplo, os fluxos de dados de voz sobre IP (VoIP) precisam ter prioridade sobre o tráfego de navegação na web.</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Switches cut-through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No switching cut-through, o switch atua nos dados assim que eles são recebidos, mesmo que a transmissão não tenha sido concluída. O switch armazena em buffer apenas o quadro suficiente para ler o endereço MAC de destino, para que possa determinar para qual porta deve encaminhar os dados. O switch não realiza nenhuma verificação de erros no quadro.</a:t>
            </a:r>
          </a:p>
          <a:p>
            <a:pPr marL="0" indent="0" algn="l" rtl="0"/>
            <a:r>
              <a:rPr lang="pt-BR" sz="1600">
                <a:solidFill>
                  <a:srgbClr val="000000"/>
                </a:solidFill>
              </a:rPr>
              <a:t>Há duas formas de switching cut-through:</a:t>
            </a:r>
          </a:p>
          <a:p>
            <a:pPr lvl="1" rtl="0">
              <a:buFont typeface="Arial" panose="020B0604020202020204" pitchFamily="34" charset="0"/>
              <a:buChar char="•"/>
            </a:pPr>
            <a:r>
              <a:rPr lang="pt-BR" sz="1500" b="1">
                <a:solidFill>
                  <a:srgbClr val="000000"/>
                </a:solidFill>
              </a:rPr>
              <a:t>Comutação de avanço rápido - </a:t>
            </a:r>
            <a:r>
              <a:rPr lang="pt-BR" sz="1500">
                <a:solidFill>
                  <a:srgbClr val="000000"/>
                </a:solidFill>
              </a:rPr>
              <a:t>Oferece o menor nível de latência encaminhando imediatamente um pacote após a leitura do endereço de destino. Como o switching fast-forward começa o encaminhamento antes de receber todo o pacote, alguns pacotes podem ser retransmitidos com erros. A NIC de destino descarta o pacote defeituoso após o recebimento. Switching fast-forward é o método cut-through típico de switching.</a:t>
            </a:r>
          </a:p>
          <a:p>
            <a:pPr lvl="1" rtl="0">
              <a:buFont typeface="Arial" panose="020B0604020202020204" pitchFamily="34" charset="0"/>
              <a:buChar char="•"/>
            </a:pPr>
            <a:r>
              <a:rPr lang="pt-BR" sz="1500" b="1">
                <a:solidFill>
                  <a:srgbClr val="000000"/>
                </a:solidFill>
              </a:rPr>
              <a:t>Comutação sem fragmentos - </a:t>
            </a:r>
            <a:r>
              <a:rPr lang="pt-BR" sz="1500">
                <a:solidFill>
                  <a:srgbClr val="000000"/>
                </a:solidFill>
              </a:rPr>
              <a:t>Um compromisso entre a alta latência e a alta integridade da comutação de armazenamento e encaminhamento e a baixa latência e a integridade reduzida da comutação de avanço rápido, o comutador armazena e executa uma verificação de erro nos primeiros 64 bytes do quadro antes de encaminhar. Como a maioria dos erros de rede e colisões ocorrem durante os primeiros 64 bytes, isso garante que uma colisão não ocorreu antes de encaminhar o quadro. </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Velocidades do Switch e métodos de encaminhamento </a:t>
            </a:r>
            <a:br>
              <a:rPr lang="en-US" dirty="0"/>
            </a:br>
            <a:r>
              <a:rPr lang="pt-BR" sz="2400"/>
              <a:t>Buffer de memória em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rtl="0"/>
            <a:r>
              <a:rPr lang="pt-BR" sz="1400">
                <a:solidFill>
                  <a:srgbClr val="000000"/>
                </a:solidFill>
              </a:rPr>
              <a:t>Um comutador Ethernet pode usar uma técnica de buffer para armazenar quadros antes de encaminhá-los ou quando a porta de destino estiver ocupada devido ao congestionamento.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lang="pt-BR" sz="1400">
                <a:solidFill>
                  <a:srgbClr val="000000"/>
                </a:solidFill>
              </a:rPr>
              <a:t>O buffer de memória compartilhada também resulta em quadros maiores que podem ser transmitidos com menos quadros descartados. Isso é importante com a comutação assimétrica, que permite taxas de dados diferentes em portas diferentes. Portanto, mais largura de banda pode ser dedicada a determinadas portas (por exemplo, porta do servidor).</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109386398"/>
              </p:ext>
            </p:extLst>
          </p:nvPr>
        </p:nvGraphicFramePr>
        <p:xfrm>
          <a:off x="754114" y="1262263"/>
          <a:ext cx="7706498" cy="223774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rtl="0" fontAlgn="ctr"/>
                      <a:r>
                        <a:rPr lang="pt-BR" sz="1000">
                          <a:effectLst/>
                        </a:rPr>
                        <a:t>Método</a:t>
                      </a:r>
                    </a:p>
                  </a:txBody>
                  <a:tcPr marL="47625" marR="47625" marT="47625" marB="47625" anchor="ctr"/>
                </a:tc>
                <a:tc>
                  <a:txBody>
                    <a:bodyPr/>
                    <a:lstStyle/>
                    <a:p>
                      <a:pPr algn="l" rtl="0" fontAlgn="ctr"/>
                      <a:r>
                        <a:rPr lang="pt-BR" sz="1000">
                          <a:effectLst/>
                        </a:rPr>
                        <a:t>Descrição</a:t>
                      </a:r>
                    </a:p>
                  </a:txBody>
                  <a:tcPr marL="47625" marR="47625" marT="47625" marB="47625" anchor="ctr"/>
                </a:tc>
                <a:extLst>
                  <a:ext uri="{0D108BD9-81ED-4DB2-BD59-A6C34878D82A}">
                    <a16:rowId xmlns:a16="http://schemas.microsoft.com/office/drawing/2014/main" val="902563454"/>
                  </a:ext>
                </a:extLst>
              </a:tr>
              <a:tr h="370840">
                <a:tc>
                  <a:txBody>
                    <a:bodyPr/>
                    <a:lstStyle/>
                    <a:p>
                      <a:pPr rtl="0" fontAlgn="ctr"/>
                      <a:r>
                        <a:rPr lang="pt-BR" sz="1000" b="1">
                          <a:effectLst/>
                        </a:rPr>
                        <a:t>Memória por porta</a:t>
                      </a:r>
                    </a:p>
                  </a:txBody>
                  <a:tcPr marL="47625" marR="47625" marT="47625" marB="47625" anchor="ctr"/>
                </a:tc>
                <a:tc>
                  <a:txBody>
                    <a:bodyPr/>
                    <a:lstStyle/>
                    <a:p>
                      <a:pPr rtl="0" fontAlgn="ctr">
                        <a:buFont typeface="Arial" panose="020B0604020202020204" pitchFamily="34" charset="0"/>
                        <a:buChar char="•"/>
                      </a:pPr>
                      <a:r>
                        <a:rPr lang="pt-BR" sz="1000" b="0">
                          <a:effectLst/>
                        </a:rPr>
                        <a:t>Os quadros são armazenados em filas vinculadas a portas específicas de entrada e saída.</a:t>
                      </a:r>
                    </a:p>
                    <a:p>
                      <a:pPr rtl="0" fontAlgn="ctr">
                        <a:buFont typeface="Arial" panose="020B0604020202020204" pitchFamily="34" charset="0"/>
                        <a:buChar char="•"/>
                      </a:pPr>
                      <a:r>
                        <a:rPr lang="pt-BR" sz="1000" b="0">
                          <a:effectLst/>
                        </a:rPr>
                        <a:t>Um quadro é transmitido para a porta de saída somente quando todos os quadros à frente na fila foram transmitidos com êxito.</a:t>
                      </a:r>
                    </a:p>
                    <a:p>
                      <a:pPr rtl="0" fontAlgn="ctr">
                        <a:buFont typeface="Arial" panose="020B0604020202020204" pitchFamily="34" charset="0"/>
                        <a:buChar char="•"/>
                      </a:pPr>
                      <a:r>
                        <a:rPr lang="pt-BR" sz="1000" b="0">
                          <a:effectLst/>
                        </a:rPr>
                        <a:t>É possível que um único quadro atrase a transmissão de todos os quadros na memória caso uma porta de destino esteja ocupada.</a:t>
                      </a:r>
                    </a:p>
                    <a:p>
                      <a:pPr rtl="0" fontAlgn="ctr">
                        <a:buFont typeface="Arial" panose="020B0604020202020204" pitchFamily="34" charset="0"/>
                        <a:buChar char="•"/>
                      </a:pPr>
                      <a:r>
                        <a:rPr lang="pt-BR" sz="1000" b="0">
                          <a:effectLst/>
                        </a:rPr>
                        <a:t>Esse atraso ocorre mesmo se os outros quadros puderem ser transmitidos para portas de destino que estejam livres.</a:t>
                      </a:r>
                    </a:p>
                  </a:txBody>
                  <a:tcPr marL="47625" marR="47625" marT="47625" marB="47625" anchor="ctr"/>
                </a:tc>
                <a:extLst>
                  <a:ext uri="{0D108BD9-81ED-4DB2-BD59-A6C34878D82A}">
                    <a16:rowId xmlns:a16="http://schemas.microsoft.com/office/drawing/2014/main" val="4000291324"/>
                  </a:ext>
                </a:extLst>
              </a:tr>
              <a:tr h="370840">
                <a:tc>
                  <a:txBody>
                    <a:bodyPr/>
                    <a:lstStyle/>
                    <a:p>
                      <a:pPr rtl="0" fontAlgn="ctr"/>
                      <a:r>
                        <a:rPr lang="pt-BR" sz="1000" b="1">
                          <a:effectLst/>
                        </a:rPr>
                        <a:t>Memória compartilhada</a:t>
                      </a:r>
                    </a:p>
                  </a:txBody>
                  <a:tcPr marL="47625" marR="47625" marT="47625" marB="47625" anchor="ctr"/>
                </a:tc>
                <a:tc>
                  <a:txBody>
                    <a:bodyPr/>
                    <a:lstStyle/>
                    <a:p>
                      <a:pPr rtl="0" fontAlgn="ctr">
                        <a:buFont typeface="Arial" panose="020B0604020202020204" pitchFamily="34" charset="0"/>
                        <a:buChar char="•"/>
                      </a:pPr>
                      <a:r>
                        <a:rPr lang="pt-BR" sz="1000" b="0">
                          <a:effectLst/>
                        </a:rPr>
                        <a:t>Deposita todos os quadros em um buffer de memória comum compartilhado por todas as portas do switch e a quantidade de memória buffer necessária por uma porta é alocada dinamicamente.</a:t>
                      </a:r>
                    </a:p>
                    <a:p>
                      <a:pPr rtl="0" fontAlgn="ctr">
                        <a:buFont typeface="Arial" panose="020B0604020202020204" pitchFamily="34" charset="0"/>
                        <a:buChar char="•"/>
                      </a:pPr>
                      <a:r>
                        <a:rPr lang="pt-BR" sz="1000" b="0">
                          <a:effectLst/>
                        </a:rPr>
                        <a:t>Os quadros no buffer são dinamicamente vinculados à porta de destino, permitindo que um pacote seja recebido em uma porta e depois transmitido em outra porta, sem movê-lo para uma fila diferente.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Duas das configurações mais básicas de um switch são as configurações de largura de banda ("velocidade") e duplex para cada porta de switch individual. É fundamental que as configurações de duplex e largura de banda correspondam entre a porta do switch e os dispositivos conectados.</a:t>
            </a:r>
          </a:p>
          <a:p>
            <a:pPr marL="0" indent="0" algn="l"/>
            <a:endParaRPr lang="en-US" sz="1600" dirty="0">
              <a:solidFill>
                <a:srgbClr val="000000"/>
              </a:solidFill>
            </a:endParaRPr>
          </a:p>
          <a:p>
            <a:pPr marL="0" indent="0" algn="l" rtl="0"/>
            <a:r>
              <a:rPr lang="pt-BR" sz="1600">
                <a:solidFill>
                  <a:srgbClr val="000000"/>
                </a:solidFill>
              </a:rPr>
              <a:t>Há dois tipos de configurações duplex usadas para comunicação em uma rede Ethernet:</a:t>
            </a:r>
          </a:p>
          <a:p>
            <a:pPr marL="358835" lvl="1" indent="-285750" rtl="0">
              <a:buFont typeface="Arial" panose="020B0604020202020204" pitchFamily="34" charset="0"/>
              <a:buChar char="•"/>
            </a:pPr>
            <a:r>
              <a:rPr lang="pt-BR" sz="1600" b="1">
                <a:solidFill>
                  <a:srgbClr val="000000"/>
                </a:solidFill>
              </a:rPr>
              <a:t>Full-duplex</a:t>
            </a:r>
            <a:r>
              <a:rPr lang="pt-BR" sz="1600">
                <a:solidFill>
                  <a:srgbClr val="000000"/>
                </a:solidFill>
              </a:rPr>
              <a:t> - As duas extremidades da conexão podem enviar e receber simultaneamente.</a:t>
            </a:r>
          </a:p>
          <a:p>
            <a:pPr marL="358835" lvl="1" indent="-285750" rtl="0">
              <a:buFont typeface="Arial" panose="020B0604020202020204" pitchFamily="34" charset="0"/>
              <a:buChar char="•"/>
            </a:pPr>
            <a:r>
              <a:rPr lang="pt-BR" sz="1600" b="1">
                <a:solidFill>
                  <a:srgbClr val="000000"/>
                </a:solidFill>
              </a:rPr>
              <a:t>Half-duplex</a:t>
            </a:r>
            <a:r>
              <a:rPr lang="pt-BR" sz="1600">
                <a:solidFill>
                  <a:srgbClr val="000000"/>
                </a:solidFill>
              </a:rPr>
              <a:t> - Somente uma extremidade da conexão pode enviar por vez.</a:t>
            </a:r>
          </a:p>
          <a:p>
            <a:pPr marL="0" indent="0" algn="l"/>
            <a:endParaRPr lang="en-US" sz="1600" dirty="0">
              <a:solidFill>
                <a:srgbClr val="000000"/>
              </a:solidFill>
            </a:endParaRPr>
          </a:p>
          <a:p>
            <a:pPr marL="0" indent="0" algn="l" rtl="0"/>
            <a:r>
              <a:rPr lang="pt-BR" sz="1600">
                <a:solidFill>
                  <a:srgbClr val="000000"/>
                </a:solidFill>
              </a:rPr>
              <a:t>A negociação automática é uma função opcional encontrada na maioria dos switches Ethernet e das placas de interface de rede (NICs). Ele permite que dois dispositivos negociem automaticamente as melhores capacidades de velocidade e duplex.</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As portas Gigabit Ethernet operam apenas em full-duplex.</a:t>
            </a:r>
            <a:r>
              <a:rPr lang="pt-BR" sz="1600" b="1">
                <a:solidFill>
                  <a:srgbClr val="000000"/>
                </a:solidFill>
              </a:rPr>
              <a:t>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rtl="0">
              <a:buFont typeface="Arial" panose="020B0604020202020204" pitchFamily="34" charset="0"/>
              <a:buChar char="•"/>
            </a:pPr>
            <a:r>
              <a:rPr lang="pt-BR" sz="1600">
                <a:solidFill>
                  <a:srgbClr val="000000"/>
                </a:solidFill>
              </a:rPr>
              <a:t>A incompatibilidade duplex é uma das causas mais comuns de problemas de desempenho nos links Ethernet 10/100 Mbps. Ela ocorre quando uma porta no link opera em half-duplex, enquanto a outra porta opera em full-duplex.</a:t>
            </a:r>
          </a:p>
          <a:p>
            <a:pPr marL="342900" indent="-342900" algn="l" rtl="0">
              <a:buFont typeface="Arial" panose="020B0604020202020204" pitchFamily="34" charset="0"/>
              <a:buChar char="•"/>
            </a:pPr>
            <a:r>
              <a:rPr lang="pt-BR" sz="1600">
                <a:solidFill>
                  <a:srgbClr val="000000"/>
                </a:solidFill>
              </a:rPr>
              <a:t>Isso pode ocorrer quando uma ou ambas as portas em um link são redefinidas e o processo de negociação automática não resulta nos dois parceiros de link com a mesma configuração. </a:t>
            </a:r>
          </a:p>
          <a:p>
            <a:pPr marL="342900" indent="-342900" algn="l" rtl="0">
              <a:buFont typeface="Arial" panose="020B0604020202020204" pitchFamily="34" charset="0"/>
              <a:buChar char="•"/>
            </a:pPr>
            <a:r>
              <a:rPr lang="pt-BR" sz="1600">
                <a:solidFill>
                  <a:srgbClr val="000000"/>
                </a:solidFill>
              </a:rPr>
              <a:t>Também pode ocorrer quando os usuários reconfiguram um lado de um link e esquecem de reconfigurar o outro. Os dois lados de um link devem estar ambos com a negociação automática ligada ou desligada. A prática recomendada é configurar ambas as portas de switch Ethernet como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3319431"/>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velocidades e métodos de encaminhamento</a:t>
            </a:r>
            <a:br>
              <a:rPr lang="en-US" dirty="0"/>
            </a:br>
            <a:r>
              <a:rPr lang="pt-BR" sz="240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As conexões entre dispositivos exigiram uma vez o uso de um cabo cruzado ou direto. O tipo de cabo necessário dependia do tipo de dispositivos de interconexão.</a:t>
            </a:r>
          </a:p>
          <a:p>
            <a:pPr marL="0" indent="0" algn="l" rtl="0"/>
            <a:r>
              <a:rPr lang="pt-BR" sz="1600" b="1">
                <a:solidFill>
                  <a:srgbClr val="000000"/>
                </a:solidFill>
              </a:rPr>
              <a:t>Observação</a:t>
            </a:r>
            <a:r>
              <a:rPr lang="pt-BR" sz="1600">
                <a:solidFill>
                  <a:srgbClr val="000000"/>
                </a:solidFill>
              </a:rPr>
              <a:t>: Uma conexão direta entre um roteador e um host requer uma conexão cruzada. </a:t>
            </a:r>
          </a:p>
          <a:p>
            <a:pPr marL="0" indent="0" algn="l"/>
            <a:endParaRPr lang="en-US" sz="1600" dirty="0">
              <a:solidFill>
                <a:srgbClr val="000000"/>
              </a:solidFill>
            </a:endParaRPr>
          </a:p>
          <a:p>
            <a:pPr marL="285750" indent="-285750" algn="l" rtl="0">
              <a:buFont typeface="Arial" panose="020B0604020202020204" pitchFamily="34" charset="0"/>
              <a:buChar char="•"/>
            </a:pPr>
            <a:r>
              <a:rPr lang="pt-BR" sz="1600">
                <a:solidFill>
                  <a:srgbClr val="000000"/>
                </a:solidFill>
              </a:rPr>
              <a:t>A maioria dos dispositivos de switch agora suporta o recurso de (Auto-MDIX) interface dependente automática. Quando ativado, o switch detecta automaticamente o tipo de cabo conectado à porta e configura as interfaces de acordo. </a:t>
            </a:r>
          </a:p>
          <a:p>
            <a:pPr marL="285750" indent="-285750" algn="l" rtl="0">
              <a:buFont typeface="Arial" panose="020B0604020202020204" pitchFamily="34" charset="0"/>
              <a:buChar char="•"/>
            </a:pPr>
            <a:r>
              <a:rPr lang="pt-BR" sz="1600">
                <a:solidFill>
                  <a:srgbClr val="000000"/>
                </a:solidFill>
              </a:rPr>
              <a:t>O recurso auto-MDIX é ativado por padrão em switches que executam o Cisco IOS Release 12.2 (18) SE ou posterior. No entanto, o recurso pode ser desativado. Por esse motivo, você sempre deve usar o tipo de cabo correto e não confiar no recurso Auto-MDIX. </a:t>
            </a:r>
          </a:p>
          <a:p>
            <a:pPr marL="285750" indent="-285750" algn="l" rtl="0">
              <a:buFont typeface="Arial" panose="020B0604020202020204" pitchFamily="34" charset="0"/>
              <a:buChar char="•"/>
            </a:pPr>
            <a:r>
              <a:rPr lang="pt-BR" sz="1600">
                <a:solidFill>
                  <a:srgbClr val="000000"/>
                </a:solidFill>
              </a:rPr>
              <a:t>O Auto-MDIX pode ser reativado usando o comando </a:t>
            </a:r>
            <a:r>
              <a:rPr lang="pt-BR" sz="1600" b="1">
                <a:solidFill>
                  <a:srgbClr val="000000"/>
                </a:solidFill>
              </a:rPr>
              <a:t>mdix auto</a:t>
            </a:r>
            <a:r>
              <a:rPr lang="pt-BR" sz="1600">
                <a:solidFill>
                  <a:srgbClr val="000000"/>
                </a:solidFill>
              </a:rPr>
              <a:t> interface configuration.</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7.5 -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charset="0"/>
              </a:rPr>
              <a:t>Módulo Prática e Quiz</a:t>
            </a:r>
            <a:br>
              <a:rPr lang="en-US" dirty="0">
                <a:latin typeface="Arial" charset="0"/>
              </a:rPr>
            </a:br>
            <a:r>
              <a:rPr lang="pt-BR">
                <a:latin typeface="Arial" charset="0"/>
              </a:rPr>
              <a:t>O que aprendi neste módulo?</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Ela opera na camada de enlace de dados e na camada física. Os padrões Ethernet definem os protocolos da Camada 2 e as tecnologias da Camada 1. </a:t>
            </a:r>
          </a:p>
          <a:p>
            <a:pPr rtl="0">
              <a:spcBef>
                <a:spcPts val="0"/>
              </a:spcBef>
              <a:spcAft>
                <a:spcPts val="0"/>
              </a:spcAft>
              <a:buFont typeface="Arial" panose="020B0604020202020204" pitchFamily="34" charset="0"/>
              <a:buChar char="•"/>
            </a:pPr>
            <a:r>
              <a:rPr lang="pt-BR" sz="1600"/>
              <a:t>Ethernet usa as subcamadas LLC e MAC da camada de link de dados para operar. </a:t>
            </a:r>
          </a:p>
          <a:p>
            <a:pPr rtl="0">
              <a:spcBef>
                <a:spcPts val="0"/>
              </a:spcBef>
              <a:spcAft>
                <a:spcPts val="0"/>
              </a:spcAft>
              <a:buFont typeface="Arial" panose="020B0604020202020204" pitchFamily="34" charset="0"/>
              <a:buChar char="•"/>
            </a:pPr>
            <a:r>
              <a:rPr lang="pt-BR" sz="1600"/>
              <a:t>Os campos de quadro Ethernet são: preâmbulo e delimitador de quadro inicial, endereço MAC de destino, endereço MAC de origem, EtherType, dados e FCS.</a:t>
            </a:r>
          </a:p>
          <a:p>
            <a:pPr rtl="0">
              <a:spcBef>
                <a:spcPts val="0"/>
              </a:spcBef>
              <a:spcAft>
                <a:spcPts val="0"/>
              </a:spcAft>
              <a:buFont typeface="Arial" panose="020B0604020202020204" pitchFamily="34" charset="0"/>
              <a:buChar char="•"/>
            </a:pPr>
            <a:r>
              <a:rPr lang="pt-BR" sz="1600"/>
              <a:t>O endereçamento MAC fornece um método para identificação de dispositivo na camada de enlace de dados do modelo OSI. </a:t>
            </a:r>
          </a:p>
          <a:p>
            <a:pPr rtl="0">
              <a:spcBef>
                <a:spcPts val="0"/>
              </a:spcBef>
              <a:spcAft>
                <a:spcPts val="0"/>
              </a:spcAft>
              <a:buFont typeface="Arial" panose="020B0604020202020204" pitchFamily="34" charset="0"/>
              <a:buChar char="•"/>
            </a:pPr>
            <a:r>
              <a:rPr lang="pt-BR" sz="1600"/>
              <a:t>Um endereço MAC Ethernet é um endereço de 48 bits expresso usando 12 dígitos hexadecimais ou 6 bytes. </a:t>
            </a:r>
          </a:p>
          <a:p>
            <a:pPr rtl="0">
              <a:spcBef>
                <a:spcPts val="0"/>
              </a:spcBef>
              <a:spcAft>
                <a:spcPts val="0"/>
              </a:spcAft>
              <a:buFont typeface="Arial" panose="020B0604020202020204" pitchFamily="34" charset="0"/>
              <a:buChar char="•"/>
            </a:pPr>
            <a:r>
              <a:rPr lang="pt-BR" sz="1600"/>
              <a:t>Quando um dispositivo está encaminhando uma mensagem para uma rede Ethernet, o cabeçalho Ethernet inclui os endereços MAC de origem e de destino. Na Ethernet, são utilizados diferentes endereços MAC para comunicação unicast, broadcast e multicast da Camada 2.</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Um switch Ethernet da camada 2 toma suas decisões de encaminhamento com base apenas nos endereços MAC da camada 2 Ethernet. </a:t>
            </a:r>
          </a:p>
          <a:p>
            <a:pPr rtl="0">
              <a:spcBef>
                <a:spcPts val="0"/>
              </a:spcBef>
              <a:spcAft>
                <a:spcPts val="0"/>
              </a:spcAft>
              <a:buFont typeface="Arial" panose="020B0604020202020204" pitchFamily="34" charset="0"/>
              <a:buChar char="•"/>
            </a:pPr>
            <a:r>
              <a:rPr lang="pt-BR" sz="1600"/>
              <a:t>O switch cria a tabela de endereços MAC dinamicamente examinando o endereço MAC de origem dos quadros recebidos em uma porta. </a:t>
            </a:r>
          </a:p>
          <a:p>
            <a:pPr rtl="0">
              <a:spcBef>
                <a:spcPts val="0"/>
              </a:spcBef>
              <a:spcAft>
                <a:spcPts val="0"/>
              </a:spcAft>
              <a:buFont typeface="Arial" panose="020B0604020202020204" pitchFamily="34" charset="0"/>
              <a:buChar char="•"/>
            </a:pPr>
            <a:r>
              <a:rPr lang="pt-BR" sz="1600"/>
              <a:t>O switch encaminha quadros procurando uma correspondência entre o endereço MAC de destino no quadro e uma entrada na tabela de endereços MAC. </a:t>
            </a:r>
          </a:p>
          <a:p>
            <a:pPr rtl="0">
              <a:spcBef>
                <a:spcPts val="0"/>
              </a:spcBef>
              <a:spcAft>
                <a:spcPts val="0"/>
              </a:spcAft>
              <a:buFont typeface="Arial" panose="020B0604020202020204" pitchFamily="34" charset="0"/>
              <a:buChar char="•"/>
            </a:pPr>
            <a:r>
              <a:rPr lang="pt-BR" sz="1600"/>
              <a:t>Os switches usam um dos seguintes métodos de encaminhamento para alternar dados entre portas de rede: comutação de armazenamento e encaminhamento ou comutação de corte. Duas variantes de troca de corte são avanço rápido e sem fragmentos. </a:t>
            </a:r>
          </a:p>
          <a:p>
            <a:pPr rtl="0">
              <a:spcBef>
                <a:spcPts val="0"/>
              </a:spcBef>
              <a:spcAft>
                <a:spcPts val="0"/>
              </a:spcAft>
              <a:buFont typeface="Arial" panose="020B0604020202020204" pitchFamily="34" charset="0"/>
              <a:buChar char="•"/>
            </a:pPr>
            <a:r>
              <a:rPr lang="pt-BR" sz="1600"/>
              <a:t>Dois métodos de armazenamento em buffer de memória são memória baseada em porta e memória compartilhada. </a:t>
            </a:r>
          </a:p>
          <a:p>
            <a:pPr rtl="0">
              <a:spcBef>
                <a:spcPts val="0"/>
              </a:spcBef>
              <a:spcAft>
                <a:spcPts val="0"/>
              </a:spcAft>
              <a:buFont typeface="Arial" panose="020B0604020202020204" pitchFamily="34" charset="0"/>
              <a:buChar char="•"/>
            </a:pPr>
            <a:r>
              <a:rPr lang="pt-BR" sz="1600"/>
              <a:t>Existem dois tipos de configurações duplex usadas para comunicações em uma rede Ethernet: full-duplex e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600">
                <a:latin typeface="Arial" charset="0"/>
              </a:rPr>
              <a:t>Module 7: Ethernet Switching</a:t>
            </a:r>
            <a:br>
              <a:rPr lang="en-US" dirty="0">
                <a:latin typeface="Arial" charset="0"/>
              </a:rPr>
            </a:br>
            <a:r>
              <a:rPr lang="pt-BR">
                <a:latin typeface="Arial" charset="0"/>
              </a:rPr>
              <a:t>New Terms and Commands</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rtl="0">
              <a:buFont typeface="Arial" panose="020B0604020202020204" pitchFamily="34" charset="0"/>
              <a:buChar char="•"/>
            </a:pPr>
            <a:r>
              <a:rPr lang="pt-BR" sz="1600"/>
              <a:t>Store-and-Forward Switching</a:t>
            </a:r>
          </a:p>
          <a:p>
            <a:pPr rtl="0">
              <a:buFont typeface="Arial" panose="020B0604020202020204" pitchFamily="34" charset="0"/>
              <a:buChar char="•"/>
            </a:pPr>
            <a:r>
              <a:rPr lang="pt-BR" sz="1600"/>
              <a:t>Cut-through Switching</a:t>
            </a:r>
          </a:p>
          <a:p>
            <a:pPr rtl="0">
              <a:buFont typeface="Arial" panose="020B0604020202020204" pitchFamily="34" charset="0"/>
              <a:buChar char="•"/>
            </a:pPr>
            <a:r>
              <a:rPr lang="pt-BR" sz="1600"/>
              <a:t>Fast-Forward Switching</a:t>
            </a:r>
          </a:p>
          <a:p>
            <a:pPr rtl="0">
              <a:buFont typeface="Arial" panose="020B0604020202020204" pitchFamily="34" charset="0"/>
              <a:buChar char="•"/>
            </a:pPr>
            <a:r>
              <a:rPr lang="pt-BR" sz="1600"/>
              <a:t>Fragment-free Switching</a:t>
            </a:r>
          </a:p>
          <a:p>
            <a:pPr rtl="0">
              <a:buFont typeface="Arial" panose="020B0604020202020204" pitchFamily="34" charset="0"/>
              <a:buChar char="•"/>
            </a:pPr>
            <a:r>
              <a:rPr lang="pt-BR" sz="1600"/>
              <a:t>OUI (Organizationally Unique Identifier)</a:t>
            </a:r>
          </a:p>
          <a:p>
            <a:pPr rtl="0">
              <a:buFont typeface="Arial" panose="020B0604020202020204" pitchFamily="34" charset="0"/>
              <a:buChar char="•"/>
            </a:pPr>
            <a:r>
              <a:rPr lang="pt-BR" sz="1600"/>
              <a:t>ARP (Address Resolution Protocol)</a:t>
            </a:r>
          </a:p>
          <a:p>
            <a:pPr rtl="0">
              <a:buFont typeface="Arial" panose="020B0604020202020204" pitchFamily="34" charset="0"/>
              <a:buChar char="•"/>
            </a:pPr>
            <a:r>
              <a:rPr lang="pt-BR" sz="1600"/>
              <a:t>ND (Neighbor Discovery)</a:t>
            </a:r>
          </a:p>
          <a:p>
            <a:pPr rtl="0">
              <a:buFont typeface="Arial" panose="020B0604020202020204" pitchFamily="34" charset="0"/>
              <a:buChar char="•"/>
            </a:pPr>
            <a:r>
              <a:rPr lang="pt-BR" sz="1600"/>
              <a:t>Port-based memory</a:t>
            </a:r>
          </a:p>
          <a:p>
            <a:pPr rtl="0">
              <a:buFont typeface="Arial" panose="020B0604020202020204" pitchFamily="34" charset="0"/>
              <a:buChar char="•"/>
            </a:pPr>
            <a:r>
              <a:rPr lang="pt-BR" sz="1600"/>
              <a:t>Shared memory</a:t>
            </a:r>
          </a:p>
          <a:p>
            <a:pPr rtl="0">
              <a:buFont typeface="Arial" panose="020B0604020202020204" pitchFamily="34" charset="0"/>
              <a:buChar char="•"/>
            </a:pPr>
            <a:r>
              <a:rPr lang="pt-BR" sz="160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7707</TotalTime>
  <Words>4112</Words>
  <Application>Microsoft Office PowerPoint</Application>
  <PresentationFormat>On-screen Show (16:9)</PresentationFormat>
  <Paragraphs>470</Paragraphs>
  <Slides>45</Slides>
  <Notes>43</Notes>
  <HiddenSlides>6</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Default Theme</vt:lpstr>
      <vt:lpstr>Módulo 7: Comutação Ethernet</vt:lpstr>
      <vt:lpstr>Instructor Materials – Module 7 Planning Guide</vt:lpstr>
      <vt:lpstr>O que esperar neste módulo</vt:lpstr>
      <vt:lpstr>O que esperar deste módulo (cont.)</vt:lpstr>
      <vt:lpstr>Check Your Understanding</vt:lpstr>
      <vt:lpstr>Module 7: Activities</vt:lpstr>
      <vt:lpstr>Module 7: Best Practices</vt:lpstr>
      <vt:lpstr>Module 7: Best Practices (Cont.)</vt:lpstr>
      <vt:lpstr>Módulo 7: Comutação Ethernet</vt:lpstr>
      <vt:lpstr>Objetivos do módulo</vt:lpstr>
      <vt:lpstr>7.1 Quadros Ethernet</vt:lpstr>
      <vt:lpstr>Quadro Ethernet  Encapsulamento Ethernet</vt:lpstr>
      <vt:lpstr>Sublcamadasde link de dadosde quadros Ethernet</vt:lpstr>
      <vt:lpstr>Quadro Ethernet  Subcamada MAC</vt:lpstr>
      <vt:lpstr>Quadro Ethernet  Subcamada MAC</vt:lpstr>
      <vt:lpstr>Quadro Ethernet  Campos do quadro Ethernet</vt:lpstr>
      <vt:lpstr>Ethernet Frames Lab - Use o Wireshark para examinar os quadros Ethernet</vt:lpstr>
      <vt:lpstr>7.2 Endereço MAC Ethernet</vt:lpstr>
      <vt:lpstr>Endereços Ethernet MAC  Endereços MAC e hexadecimal</vt:lpstr>
      <vt:lpstr>Endereços Ethernet MAC  Endereços MAC da Ethernet</vt:lpstr>
      <vt:lpstr>Endereços Ethernet MAC  Processamento de Quadros</vt:lpstr>
      <vt:lpstr>Endereços Ethernet MAC  Endereços MAC unicast</vt:lpstr>
      <vt:lpstr>Endereços Ethernet MAC  Endereços MAC broadcast</vt:lpstr>
      <vt:lpstr>Endereços Ethernet MAC  Endereços MAC Multicast</vt:lpstr>
      <vt:lpstr>Endereços Ethernet MAC  Laboratório – Exibição de endereços MAC de dispositivos de rede</vt:lpstr>
      <vt:lpstr>7.3 A tabela de endereços MAC</vt:lpstr>
      <vt:lpstr>A tabela de endereços MAC  Fundamentos do switch</vt:lpstr>
      <vt:lpstr>Aprendizagem e encaminhamento docomutadorde endereços MAC</vt:lpstr>
      <vt:lpstr>Aprendizagem e encaminhamento da tabelade endereços MAC (Contd.) </vt:lpstr>
      <vt:lpstr>A tabela de endereços MAC  Filtragem de quadros</vt:lpstr>
      <vt:lpstr>A tabela de endereços MAC  Demonstração em vídeo - Tabelas de endereço MAC em switches conectados</vt:lpstr>
      <vt:lpstr>A tabela de endereço MAC  Demonstração em vídeo - Envio de um quadro para o gateway padrão</vt:lpstr>
      <vt:lpstr>Endereços Ethernet MAC  Laboratório – Exibição de endereços MAC do switch</vt:lpstr>
      <vt:lpstr>7.4 Velocidades do comutador e métodos de encaminhamento</vt:lpstr>
      <vt:lpstr>Métodos de encaminhamento de switch  Métodos de encaminhamento de quadros nos switches da Cisco</vt:lpstr>
      <vt:lpstr>Métodos de encaminhamento de switch  Switches cut-through</vt:lpstr>
      <vt:lpstr>Velocidades do Switch e métodos de encaminhamento  Buffer de memória em Switches</vt:lpstr>
      <vt:lpstr>Alternar configurações de velocidade e métodos de encaminhamento  Duplex e velocidade</vt:lpstr>
      <vt:lpstr>Alternar configurações de velocidade e métodos de encaminhamento  Duplex e velocidade</vt:lpstr>
      <vt:lpstr>Alternar velocidades e métodos de encaminhamento Auto-MDIX</vt:lpstr>
      <vt:lpstr>7.5 - Módulo Prática e Quiz</vt:lpstr>
      <vt:lpstr>Módulo Prática e Quiz O que aprendi neste módulo?</vt:lpstr>
      <vt:lpstr>Módulo Prática e Quiz O que aprendi neste módulo? (Continuação)</vt:lpstr>
      <vt:lpstr>Module 7: Ethernet Switching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232</cp:revision>
  <dcterms:created xsi:type="dcterms:W3CDTF">2019-10-18T06:21:22Z</dcterms:created>
  <dcterms:modified xsi:type="dcterms:W3CDTF">2020-06-28T23:39:58Z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